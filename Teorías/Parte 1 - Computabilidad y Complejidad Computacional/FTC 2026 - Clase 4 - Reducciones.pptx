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20" r:id="rId2"/>
    <p:sldId id="327" r:id="rId3"/>
    <p:sldId id="456" r:id="rId4"/>
    <p:sldId id="459" r:id="rId5"/>
    <p:sldId id="475" r:id="rId6"/>
    <p:sldId id="458" r:id="rId7"/>
    <p:sldId id="470" r:id="rId8"/>
    <p:sldId id="469" r:id="rId9"/>
    <p:sldId id="479" r:id="rId10"/>
    <p:sldId id="460" r:id="rId11"/>
    <p:sldId id="331" r:id="rId12"/>
    <p:sldId id="461" r:id="rId13"/>
    <p:sldId id="481" r:id="rId14"/>
    <p:sldId id="477" r:id="rId15"/>
    <p:sldId id="476" r:id="rId16"/>
    <p:sldId id="463" r:id="rId17"/>
    <p:sldId id="464" r:id="rId18"/>
    <p:sldId id="465" r:id="rId19"/>
    <p:sldId id="466" r:id="rId20"/>
    <p:sldId id="467" r:id="rId21"/>
    <p:sldId id="468" r:id="rId22"/>
    <p:sldId id="450" r:id="rId23"/>
    <p:sldId id="374" r:id="rId24"/>
    <p:sldId id="480" r:id="rId25"/>
    <p:sldId id="361" r:id="rId26"/>
    <p:sldId id="363" r:id="rId27"/>
    <p:sldId id="368" r:id="rId2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C4170-D3A3-42FF-8AEB-FD2CC1102A4A}" v="178" dt="2026-03-29T12:18:24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99" autoAdjust="0"/>
    <p:restoredTop sz="93277" autoAdjust="0"/>
  </p:normalViewPr>
  <p:slideViewPr>
    <p:cSldViewPr snapToGrid="0">
      <p:cViewPr varScale="1">
        <p:scale>
          <a:sx n="51" d="100"/>
          <a:sy n="51" d="100"/>
        </p:scale>
        <p:origin x="171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undo custSel modSld">
      <pc:chgData name="Ricardo Rosenfeld" userId="29ed646a-75fb-4451-a67b-85738f90665c" providerId="ADAL" clId="{56FAFB6D-07E1-49C8-800A-4AFF6024927D}" dt="2026-03-29T12:18:24.277" v="674"/>
      <pc:docMkLst>
        <pc:docMk/>
      </pc:docMkLst>
      <pc:sldChg chg="addSp delSp modSp mod modAnim">
        <pc:chgData name="Ricardo Rosenfeld" userId="29ed646a-75fb-4451-a67b-85738f90665c" providerId="ADAL" clId="{56FAFB6D-07E1-49C8-800A-4AFF6024927D}" dt="2026-03-29T11:52:59.093" v="464" actId="6549"/>
        <pc:sldMkLst>
          <pc:docMk/>
          <pc:sldMk cId="784918990" sldId="331"/>
        </pc:sldMkLst>
        <pc:spChg chg="mod">
          <ac:chgData name="Ricardo Rosenfeld" userId="29ed646a-75fb-4451-a67b-85738f90665c" providerId="ADAL" clId="{56FAFB6D-07E1-49C8-800A-4AFF6024927D}" dt="2026-03-29T11:52:59.093" v="464" actId="6549"/>
          <ac:spMkLst>
            <pc:docMk/>
            <pc:sldMk cId="784918990" sldId="331"/>
            <ac:spMk id="2" creationId="{DD722F06-C7F6-4217-98FC-726BF6755F96}"/>
          </ac:spMkLst>
        </pc:spChg>
        <pc:spChg chg="add mod">
          <ac:chgData name="Ricardo Rosenfeld" userId="29ed646a-75fb-4451-a67b-85738f90665c" providerId="ADAL" clId="{56FAFB6D-07E1-49C8-800A-4AFF6024927D}" dt="2026-03-29T11:33:37.465" v="378" actId="1076"/>
          <ac:spMkLst>
            <pc:docMk/>
            <pc:sldMk cId="784918990" sldId="331"/>
            <ac:spMk id="6" creationId="{06443143-803C-5B67-C2B8-24B3B1832890}"/>
          </ac:spMkLst>
        </pc:spChg>
        <pc:spChg chg="mod">
          <ac:chgData name="Ricardo Rosenfeld" userId="29ed646a-75fb-4451-a67b-85738f90665c" providerId="ADAL" clId="{56FAFB6D-07E1-49C8-800A-4AFF6024927D}" dt="2026-03-29T11:34:15.449" v="382" actId="1076"/>
          <ac:spMkLst>
            <pc:docMk/>
            <pc:sldMk cId="784918990" sldId="331"/>
            <ac:spMk id="7" creationId="{DB23F8EC-AA49-33C6-7EF0-307ABE557A8D}"/>
          </ac:spMkLst>
        </pc:spChg>
        <pc:spChg chg="mod">
          <ac:chgData name="Ricardo Rosenfeld" userId="29ed646a-75fb-4451-a67b-85738f90665c" providerId="ADAL" clId="{56FAFB6D-07E1-49C8-800A-4AFF6024927D}" dt="2026-03-29T11:40:32.567" v="432" actId="1076"/>
          <ac:spMkLst>
            <pc:docMk/>
            <pc:sldMk cId="784918990" sldId="331"/>
            <ac:spMk id="8" creationId="{8F4539C8-AB14-BD0B-8CBD-8728078E17B2}"/>
          </ac:spMkLst>
        </pc:spChg>
        <pc:spChg chg="mod">
          <ac:chgData name="Ricardo Rosenfeld" userId="29ed646a-75fb-4451-a67b-85738f90665c" providerId="ADAL" clId="{56FAFB6D-07E1-49C8-800A-4AFF6024927D}" dt="2026-03-29T11:34:52.840" v="387" actId="1076"/>
          <ac:spMkLst>
            <pc:docMk/>
            <pc:sldMk cId="784918990" sldId="331"/>
            <ac:spMk id="9" creationId="{4094331C-EE1E-F0CA-CE16-83DC2E18875D}"/>
          </ac:spMkLst>
        </pc:spChg>
        <pc:spChg chg="add mod">
          <ac:chgData name="Ricardo Rosenfeld" userId="29ed646a-75fb-4451-a67b-85738f90665c" providerId="ADAL" clId="{56FAFB6D-07E1-49C8-800A-4AFF6024927D}" dt="2026-03-29T11:34:21.322" v="383" actId="1076"/>
          <ac:spMkLst>
            <pc:docMk/>
            <pc:sldMk cId="784918990" sldId="331"/>
            <ac:spMk id="10" creationId="{5E806D7F-F51F-05B6-74DA-0799B07030EC}"/>
          </ac:spMkLst>
        </pc:spChg>
        <pc:spChg chg="add mod">
          <ac:chgData name="Ricardo Rosenfeld" userId="29ed646a-75fb-4451-a67b-85738f90665c" providerId="ADAL" clId="{56FAFB6D-07E1-49C8-800A-4AFF6024927D}" dt="2026-03-29T11:34:03.650" v="381" actId="1076"/>
          <ac:spMkLst>
            <pc:docMk/>
            <pc:sldMk cId="784918990" sldId="331"/>
            <ac:spMk id="11" creationId="{916F9B24-D35B-7E65-BE33-6621542FE51B}"/>
          </ac:spMkLst>
        </pc:spChg>
        <pc:spChg chg="add del">
          <ac:chgData name="Ricardo Rosenfeld" userId="29ed646a-75fb-4451-a67b-85738f90665c" providerId="ADAL" clId="{56FAFB6D-07E1-49C8-800A-4AFF6024927D}" dt="2026-03-29T11:30:15.575" v="346" actId="22"/>
          <ac:spMkLst>
            <pc:docMk/>
            <pc:sldMk cId="784918990" sldId="331"/>
            <ac:spMk id="13" creationId="{ADC1420E-60B8-1262-A0C5-BA9DBC074E78}"/>
          </ac:spMkLst>
        </pc:spChg>
        <pc:spChg chg="add del mod">
          <ac:chgData name="Ricardo Rosenfeld" userId="29ed646a-75fb-4451-a67b-85738f90665c" providerId="ADAL" clId="{56FAFB6D-07E1-49C8-800A-4AFF6024927D}" dt="2026-03-29T11:31:59.556" v="359" actId="478"/>
          <ac:spMkLst>
            <pc:docMk/>
            <pc:sldMk cId="784918990" sldId="331"/>
            <ac:spMk id="14" creationId="{FBD0E7F2-C46F-FC04-3521-222392A8DC89}"/>
          </ac:spMkLst>
        </pc:spChg>
        <pc:spChg chg="add mod">
          <ac:chgData name="Ricardo Rosenfeld" userId="29ed646a-75fb-4451-a67b-85738f90665c" providerId="ADAL" clId="{56FAFB6D-07E1-49C8-800A-4AFF6024927D}" dt="2026-03-29T11:34:59.444" v="388" actId="1076"/>
          <ac:spMkLst>
            <pc:docMk/>
            <pc:sldMk cId="784918990" sldId="331"/>
            <ac:spMk id="15" creationId="{C020CB8B-838A-8C45-8BEF-87B41FF5C28D}"/>
          </ac:spMkLst>
        </pc:spChg>
        <pc:spChg chg="add mod">
          <ac:chgData name="Ricardo Rosenfeld" userId="29ed646a-75fb-4451-a67b-85738f90665c" providerId="ADAL" clId="{56FAFB6D-07E1-49C8-800A-4AFF6024927D}" dt="2026-03-29T11:34:40.572" v="385" actId="1076"/>
          <ac:spMkLst>
            <pc:docMk/>
            <pc:sldMk cId="784918990" sldId="331"/>
            <ac:spMk id="16" creationId="{CAD7CB3E-CC33-ADE9-0285-B3F5C2F1D2B6}"/>
          </ac:spMkLst>
        </pc:spChg>
        <pc:spChg chg="add mod">
          <ac:chgData name="Ricardo Rosenfeld" userId="29ed646a-75fb-4451-a67b-85738f90665c" providerId="ADAL" clId="{56FAFB6D-07E1-49C8-800A-4AFF6024927D}" dt="2026-03-29T11:52:15.845" v="445" actId="1076"/>
          <ac:spMkLst>
            <pc:docMk/>
            <pc:sldMk cId="784918990" sldId="331"/>
            <ac:spMk id="18" creationId="{8080E63E-5083-A1D3-4F95-A362D6842651}"/>
          </ac:spMkLst>
        </pc:spChg>
        <pc:spChg chg="mod">
          <ac:chgData name="Ricardo Rosenfeld" userId="29ed646a-75fb-4451-a67b-85738f90665c" providerId="ADAL" clId="{56FAFB6D-07E1-49C8-800A-4AFF6024927D}" dt="2026-03-29T11:40:28.316" v="431" actId="1076"/>
          <ac:spMkLst>
            <pc:docMk/>
            <pc:sldMk cId="784918990" sldId="331"/>
            <ac:spMk id="28" creationId="{69F0E238-5FF6-C274-C127-509C850A6637}"/>
          </ac:spMkLst>
        </pc:spChg>
        <pc:spChg chg="mod">
          <ac:chgData name="Ricardo Rosenfeld" userId="29ed646a-75fb-4451-a67b-85738f90665c" providerId="ADAL" clId="{56FAFB6D-07E1-49C8-800A-4AFF6024927D}" dt="2026-03-29T11:33:32.858" v="377" actId="1076"/>
          <ac:spMkLst>
            <pc:docMk/>
            <pc:sldMk cId="784918990" sldId="331"/>
            <ac:spMk id="31" creationId="{B28AC89C-7459-23C8-0128-7C840A16B0D5}"/>
          </ac:spMkLst>
        </pc:spChg>
        <pc:spChg chg="mod">
          <ac:chgData name="Ricardo Rosenfeld" userId="29ed646a-75fb-4451-a67b-85738f90665c" providerId="ADAL" clId="{56FAFB6D-07E1-49C8-800A-4AFF6024927D}" dt="2026-03-29T11:33:44.906" v="379" actId="1076"/>
          <ac:spMkLst>
            <pc:docMk/>
            <pc:sldMk cId="784918990" sldId="331"/>
            <ac:spMk id="33" creationId="{3D74276C-FBFE-16C3-F989-58DA5A214F99}"/>
          </ac:spMkLst>
        </pc:spChg>
        <pc:spChg chg="mod">
          <ac:chgData name="Ricardo Rosenfeld" userId="29ed646a-75fb-4451-a67b-85738f90665c" providerId="ADAL" clId="{56FAFB6D-07E1-49C8-800A-4AFF6024927D}" dt="2026-03-29T11:34:35.331" v="384" actId="1076"/>
          <ac:spMkLst>
            <pc:docMk/>
            <pc:sldMk cId="784918990" sldId="331"/>
            <ac:spMk id="49" creationId="{00166372-4111-CFDB-9D76-3A89D1A9A058}"/>
          </ac:spMkLst>
        </pc:spChg>
      </pc:sldChg>
      <pc:sldChg chg="modAnim">
        <pc:chgData name="Ricardo Rosenfeld" userId="29ed646a-75fb-4451-a67b-85738f90665c" providerId="ADAL" clId="{56FAFB6D-07E1-49C8-800A-4AFF6024927D}" dt="2026-03-29T12:18:24.277" v="674"/>
        <pc:sldMkLst>
          <pc:docMk/>
          <pc:sldMk cId="1950262144" sldId="450"/>
        </pc:sldMkLst>
      </pc:sldChg>
      <pc:sldChg chg="addSp modSp mod modAnim">
        <pc:chgData name="Ricardo Rosenfeld" userId="29ed646a-75fb-4451-a67b-85738f90665c" providerId="ADAL" clId="{56FAFB6D-07E1-49C8-800A-4AFF6024927D}" dt="2026-03-29T10:55:44.163" v="202" actId="20577"/>
        <pc:sldMkLst>
          <pc:docMk/>
          <pc:sldMk cId="1541397340" sldId="456"/>
        </pc:sldMkLst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4" creationId="{4C445719-8F14-736F-9C42-608F6918A3D1}"/>
          </ac:spMkLst>
        </pc:spChg>
        <pc:spChg chg="mod">
          <ac:chgData name="Ricardo Rosenfeld" userId="29ed646a-75fb-4451-a67b-85738f90665c" providerId="ADAL" clId="{56FAFB6D-07E1-49C8-800A-4AFF6024927D}" dt="2026-03-29T10:55:44.163" v="202" actId="20577"/>
          <ac:spMkLst>
            <pc:docMk/>
            <pc:sldMk cId="1541397340" sldId="456"/>
            <ac:spMk id="5" creationId="{202EB979-B210-A4BC-CC7D-FCB03537AA77}"/>
          </ac:spMkLst>
        </pc:spChg>
        <pc:spChg chg="add mod">
          <ac:chgData name="Ricardo Rosenfeld" userId="29ed646a-75fb-4451-a67b-85738f90665c" providerId="ADAL" clId="{56FAFB6D-07E1-49C8-800A-4AFF6024927D}" dt="2026-03-29T10:54:51.993" v="164" actId="1076"/>
          <ac:spMkLst>
            <pc:docMk/>
            <pc:sldMk cId="1541397340" sldId="456"/>
            <ac:spMk id="8" creationId="{202D5988-800E-02AD-77F2-D7D4961C97BD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9" creationId="{E8E75970-C212-3F4C-2B14-9CD21D8CE6E0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10" creationId="{58D6253B-2BD4-B694-1C10-52C33F617CE5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16" creationId="{193C55A7-DDCB-2F7B-9B0A-535AC47C1453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19" creationId="{8FAE8C0D-6199-D0B6-CA4A-5B7F63F9C342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22" creationId="{610C679D-4FF5-B3A2-20EE-D8F5220521A4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24" creationId="{D90ADC84-1B38-A370-EC00-4ACF41EE8564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25" creationId="{293A27EB-819E-BA3E-A690-7CEBB55BEF81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32" creationId="{40A809E2-29AE-8EF5-B5D2-BCE72AAEB360}"/>
          </ac:spMkLst>
        </pc:spChg>
        <pc:spChg chg="mod">
          <ac:chgData name="Ricardo Rosenfeld" userId="29ed646a-75fb-4451-a67b-85738f90665c" providerId="ADAL" clId="{56FAFB6D-07E1-49C8-800A-4AFF6024927D}" dt="2026-03-29T10:54:46.004" v="163" actId="1076"/>
          <ac:spMkLst>
            <pc:docMk/>
            <pc:sldMk cId="1541397340" sldId="456"/>
            <ac:spMk id="42" creationId="{91C54859-8256-B85F-3B99-5F4CE5FFB194}"/>
          </ac:spMkLst>
        </pc:spChg>
      </pc:sldChg>
      <pc:sldChg chg="modSp">
        <pc:chgData name="Ricardo Rosenfeld" userId="29ed646a-75fb-4451-a67b-85738f90665c" providerId="ADAL" clId="{56FAFB6D-07E1-49C8-800A-4AFF6024927D}" dt="2026-03-29T11:13:16.103" v="287" actId="6549"/>
        <pc:sldMkLst>
          <pc:docMk/>
          <pc:sldMk cId="398853415" sldId="458"/>
        </pc:sldMkLst>
        <pc:spChg chg="mod">
          <ac:chgData name="Ricardo Rosenfeld" userId="29ed646a-75fb-4451-a67b-85738f90665c" providerId="ADAL" clId="{56FAFB6D-07E1-49C8-800A-4AFF6024927D}" dt="2026-03-29T11:13:16.103" v="287" actId="6549"/>
          <ac:spMkLst>
            <pc:docMk/>
            <pc:sldMk cId="398853415" sldId="458"/>
            <ac:spMk id="7" creationId="{9A895ACA-80D0-8985-5AAF-FE809060D877}"/>
          </ac:spMkLst>
        </pc:spChg>
      </pc:sldChg>
      <pc:sldChg chg="addSp delSp modSp mod delAnim modAnim">
        <pc:chgData name="Ricardo Rosenfeld" userId="29ed646a-75fb-4451-a67b-85738f90665c" providerId="ADAL" clId="{56FAFB6D-07E1-49C8-800A-4AFF6024927D}" dt="2026-03-29T11:11:25.798" v="277"/>
        <pc:sldMkLst>
          <pc:docMk/>
          <pc:sldMk cId="4183645798" sldId="459"/>
        </pc:sldMkLst>
        <pc:spChg chg="mod">
          <ac:chgData name="Ricardo Rosenfeld" userId="29ed646a-75fb-4451-a67b-85738f90665c" providerId="ADAL" clId="{56FAFB6D-07E1-49C8-800A-4AFF6024927D}" dt="2026-03-29T11:10:33.966" v="270" actId="1076"/>
          <ac:spMkLst>
            <pc:docMk/>
            <pc:sldMk cId="4183645798" sldId="459"/>
            <ac:spMk id="2" creationId="{45AC5172-15EE-9C4D-F60F-096E1D4E949C}"/>
          </ac:spMkLst>
        </pc:spChg>
        <pc:spChg chg="add del mod">
          <ac:chgData name="Ricardo Rosenfeld" userId="29ed646a-75fb-4451-a67b-85738f90665c" providerId="ADAL" clId="{56FAFB6D-07E1-49C8-800A-4AFF6024927D}" dt="2026-03-29T10:59:56.340" v="229" actId="11529"/>
          <ac:spMkLst>
            <pc:docMk/>
            <pc:sldMk cId="4183645798" sldId="459"/>
            <ac:spMk id="11" creationId="{7AB41387-5EB1-FE67-8777-48CCFD94DE21}"/>
          </ac:spMkLst>
        </pc:spChg>
        <pc:spChg chg="mod">
          <ac:chgData name="Ricardo Rosenfeld" userId="29ed646a-75fb-4451-a67b-85738f90665c" providerId="ADAL" clId="{56FAFB6D-07E1-49C8-800A-4AFF6024927D}" dt="2026-03-29T11:04:26.701" v="250" actId="1076"/>
          <ac:spMkLst>
            <pc:docMk/>
            <pc:sldMk cId="4183645798" sldId="459"/>
            <ac:spMk id="23" creationId="{4D511EC2-817F-3001-B2ED-4122C55AEFFF}"/>
          </ac:spMkLst>
        </pc:spChg>
        <pc:spChg chg="mod">
          <ac:chgData name="Ricardo Rosenfeld" userId="29ed646a-75fb-4451-a67b-85738f90665c" providerId="ADAL" clId="{56FAFB6D-07E1-49C8-800A-4AFF6024927D}" dt="2026-03-29T11:00:17.083" v="232" actId="1076"/>
          <ac:spMkLst>
            <pc:docMk/>
            <pc:sldMk cId="4183645798" sldId="459"/>
            <ac:spMk id="191" creationId="{F1A50998-6630-D26D-A504-42285F13D112}"/>
          </ac:spMkLst>
        </pc:spChg>
        <pc:cxnChg chg="add mod">
          <ac:chgData name="Ricardo Rosenfeld" userId="29ed646a-75fb-4451-a67b-85738f90665c" providerId="ADAL" clId="{56FAFB6D-07E1-49C8-800A-4AFF6024927D}" dt="2026-03-29T11:01:12.943" v="241" actId="1076"/>
          <ac:cxnSpMkLst>
            <pc:docMk/>
            <pc:sldMk cId="4183645798" sldId="459"/>
            <ac:cxnSpMk id="33" creationId="{67C36B22-10BA-36A3-8EC1-1062FEE2E31A}"/>
          </ac:cxnSpMkLst>
        </pc:cxnChg>
        <pc:cxnChg chg="add mod">
          <ac:chgData name="Ricardo Rosenfeld" userId="29ed646a-75fb-4451-a67b-85738f90665c" providerId="ADAL" clId="{56FAFB6D-07E1-49C8-800A-4AFF6024927D}" dt="2026-03-29T11:01:23.548" v="243" actId="1076"/>
          <ac:cxnSpMkLst>
            <pc:docMk/>
            <pc:sldMk cId="4183645798" sldId="459"/>
            <ac:cxnSpMk id="40" creationId="{112D342A-5320-E087-AD78-EB2AE125548C}"/>
          </ac:cxnSpMkLst>
        </pc:cxnChg>
        <pc:cxnChg chg="del mod">
          <ac:chgData name="Ricardo Rosenfeld" userId="29ed646a-75fb-4451-a67b-85738f90665c" providerId="ADAL" clId="{56FAFB6D-07E1-49C8-800A-4AFF6024927D}" dt="2026-03-29T11:00:51.770" v="236" actId="478"/>
          <ac:cxnSpMkLst>
            <pc:docMk/>
            <pc:sldMk cId="4183645798" sldId="459"/>
            <ac:cxnSpMk id="183" creationId="{5C6DB1E2-CCE3-F181-D144-38689DF4142C}"/>
          </ac:cxnSpMkLst>
        </pc:cxnChg>
      </pc:sldChg>
      <pc:sldChg chg="modSp">
        <pc:chgData name="Ricardo Rosenfeld" userId="29ed646a-75fb-4451-a67b-85738f90665c" providerId="ADAL" clId="{56FAFB6D-07E1-49C8-800A-4AFF6024927D}" dt="2026-03-29T11:18:13.552" v="316" actId="6549"/>
        <pc:sldMkLst>
          <pc:docMk/>
          <pc:sldMk cId="3691433053" sldId="470"/>
        </pc:sldMkLst>
        <pc:spChg chg="mod">
          <ac:chgData name="Ricardo Rosenfeld" userId="29ed646a-75fb-4451-a67b-85738f90665c" providerId="ADAL" clId="{56FAFB6D-07E1-49C8-800A-4AFF6024927D}" dt="2026-03-29T11:18:13.552" v="316" actId="6549"/>
          <ac:spMkLst>
            <pc:docMk/>
            <pc:sldMk cId="3691433053" sldId="470"/>
            <ac:spMk id="20" creationId="{C4F8E59B-11D3-410E-ACB8-4411D6F0278B}"/>
          </ac:spMkLst>
        </pc:spChg>
      </pc:sldChg>
      <pc:sldChg chg="addSp delSp modSp mod delAnim modAnim">
        <pc:chgData name="Ricardo Rosenfeld" userId="29ed646a-75fb-4451-a67b-85738f90665c" providerId="ADAL" clId="{56FAFB6D-07E1-49C8-800A-4AFF6024927D}" dt="2026-03-29T11:09:15.945" v="267"/>
        <pc:sldMkLst>
          <pc:docMk/>
          <pc:sldMk cId="2040208465" sldId="475"/>
        </pc:sldMkLst>
        <pc:cxnChg chg="add mod">
          <ac:chgData name="Ricardo Rosenfeld" userId="29ed646a-75fb-4451-a67b-85738f90665c" providerId="ADAL" clId="{56FAFB6D-07E1-49C8-800A-4AFF6024927D}" dt="2026-03-29T11:07:30.375" v="257" actId="1076"/>
          <ac:cxnSpMkLst>
            <pc:docMk/>
            <pc:sldMk cId="2040208465" sldId="475"/>
            <ac:cxnSpMk id="33" creationId="{DD2A8CEC-8678-7557-5996-D026C94EB222}"/>
          </ac:cxnSpMkLst>
        </pc:cxnChg>
        <pc:cxnChg chg="add mod">
          <ac:chgData name="Ricardo Rosenfeld" userId="29ed646a-75fb-4451-a67b-85738f90665c" providerId="ADAL" clId="{56FAFB6D-07E1-49C8-800A-4AFF6024927D}" dt="2026-03-29T11:07:42.401" v="259" actId="1076"/>
          <ac:cxnSpMkLst>
            <pc:docMk/>
            <pc:sldMk cId="2040208465" sldId="475"/>
            <ac:cxnSpMk id="45" creationId="{11C700AC-FC86-6BF3-22E8-E9DBF919BC1C}"/>
          </ac:cxnSpMkLst>
        </pc:cxnChg>
        <pc:cxnChg chg="del">
          <ac:chgData name="Ricardo Rosenfeld" userId="29ed646a-75fb-4451-a67b-85738f90665c" providerId="ADAL" clId="{56FAFB6D-07E1-49C8-800A-4AFF6024927D}" dt="2026-03-29T11:07:22.057" v="255" actId="478"/>
          <ac:cxnSpMkLst>
            <pc:docMk/>
            <pc:sldMk cId="2040208465" sldId="475"/>
            <ac:cxnSpMk id="183" creationId="{5C6DB1E2-CCE3-F181-D144-38689DF4142C}"/>
          </ac:cxnSpMkLst>
        </pc:cxnChg>
      </pc:sldChg>
      <pc:sldChg chg="modSp mod">
        <pc:chgData name="Ricardo Rosenfeld" userId="29ed646a-75fb-4451-a67b-85738f90665c" providerId="ADAL" clId="{56FAFB6D-07E1-49C8-800A-4AFF6024927D}" dt="2026-03-29T12:11:35.407" v="670" actId="255"/>
        <pc:sldMkLst>
          <pc:docMk/>
          <pc:sldMk cId="2664051625" sldId="476"/>
        </pc:sldMkLst>
        <pc:spChg chg="mod">
          <ac:chgData name="Ricardo Rosenfeld" userId="29ed646a-75fb-4451-a67b-85738f90665c" providerId="ADAL" clId="{56FAFB6D-07E1-49C8-800A-4AFF6024927D}" dt="2026-03-29T12:07:56.383" v="666" actId="20577"/>
          <ac:spMkLst>
            <pc:docMk/>
            <pc:sldMk cId="2664051625" sldId="476"/>
            <ac:spMk id="3" creationId="{06AB1CF5-16FF-0CF5-5761-D317AB9EC3BA}"/>
          </ac:spMkLst>
        </pc:spChg>
        <pc:spChg chg="mod">
          <ac:chgData name="Ricardo Rosenfeld" userId="29ed646a-75fb-4451-a67b-85738f90665c" providerId="ADAL" clId="{56FAFB6D-07E1-49C8-800A-4AFF6024927D}" dt="2026-03-29T12:10:37.904" v="668" actId="20577"/>
          <ac:spMkLst>
            <pc:docMk/>
            <pc:sldMk cId="2664051625" sldId="476"/>
            <ac:spMk id="4" creationId="{DC8505FB-F212-D0E3-48E3-64BBBF2953A3}"/>
          </ac:spMkLst>
        </pc:spChg>
        <pc:spChg chg="mod">
          <ac:chgData name="Ricardo Rosenfeld" userId="29ed646a-75fb-4451-a67b-85738f90665c" providerId="ADAL" clId="{56FAFB6D-07E1-49C8-800A-4AFF6024927D}" dt="2026-03-29T12:02:58.091" v="486" actId="14100"/>
          <ac:spMkLst>
            <pc:docMk/>
            <pc:sldMk cId="2664051625" sldId="476"/>
            <ac:spMk id="10" creationId="{DDB094DC-FB93-3FA0-2F13-8391CAB12065}"/>
          </ac:spMkLst>
        </pc:spChg>
        <pc:spChg chg="mod">
          <ac:chgData name="Ricardo Rosenfeld" userId="29ed646a-75fb-4451-a67b-85738f90665c" providerId="ADAL" clId="{56FAFB6D-07E1-49C8-800A-4AFF6024927D}" dt="2026-03-29T12:03:41.901" v="491" actId="1076"/>
          <ac:spMkLst>
            <pc:docMk/>
            <pc:sldMk cId="2664051625" sldId="476"/>
            <ac:spMk id="29" creationId="{BB9264EC-4755-1ACC-283F-1502FC6FDE72}"/>
          </ac:spMkLst>
        </pc:spChg>
        <pc:spChg chg="mod">
          <ac:chgData name="Ricardo Rosenfeld" userId="29ed646a-75fb-4451-a67b-85738f90665c" providerId="ADAL" clId="{56FAFB6D-07E1-49C8-800A-4AFF6024927D}" dt="2026-03-29T12:11:35.407" v="670" actId="255"/>
          <ac:spMkLst>
            <pc:docMk/>
            <pc:sldMk cId="2664051625" sldId="476"/>
            <ac:spMk id="30" creationId="{3C1388EF-1748-4E22-AB5F-AB4632482236}"/>
          </ac:spMkLst>
        </pc:spChg>
        <pc:spChg chg="mod">
          <ac:chgData name="Ricardo Rosenfeld" userId="29ed646a-75fb-4451-a67b-85738f90665c" providerId="ADAL" clId="{56FAFB6D-07E1-49C8-800A-4AFF6024927D}" dt="2026-03-29T12:03:31.367" v="490" actId="255"/>
          <ac:spMkLst>
            <pc:docMk/>
            <pc:sldMk cId="2664051625" sldId="476"/>
            <ac:spMk id="36" creationId="{0424C1FB-1160-282C-85E1-046DBC40C1B2}"/>
          </ac:spMkLst>
        </pc:spChg>
        <pc:spChg chg="mod">
          <ac:chgData name="Ricardo Rosenfeld" userId="29ed646a-75fb-4451-a67b-85738f90665c" providerId="ADAL" clId="{56FAFB6D-07E1-49C8-800A-4AFF6024927D}" dt="2026-03-29T12:07:23.043" v="616" actId="14100"/>
          <ac:spMkLst>
            <pc:docMk/>
            <pc:sldMk cId="2664051625" sldId="476"/>
            <ac:spMk id="83" creationId="{E70294E5-600F-4970-9B70-D77626D30FA6}"/>
          </ac:spMkLst>
        </pc:spChg>
      </pc:sldChg>
      <pc:sldChg chg="modAnim">
        <pc:chgData name="Ricardo Rosenfeld" userId="29ed646a-75fb-4451-a67b-85738f90665c" providerId="ADAL" clId="{56FAFB6D-07E1-49C8-800A-4AFF6024927D}" dt="2026-03-29T11:21:59.335" v="325"/>
        <pc:sldMkLst>
          <pc:docMk/>
          <pc:sldMk cId="1497027520" sldId="4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2132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742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0139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5955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8242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C435F7-D700-49C2-9B70-E2E5ADB6D16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9515-092D-45C1-C121-F04C8EB3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49FDDC-FCD8-B9CD-B56D-609302938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547DCB2-5D66-4E78-72F1-16F17AE2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9A5882-83FF-E250-5A1A-199172B2F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C435F7-D700-49C2-9B70-E2E5ADB6D16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011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2945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096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29/03/2026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0" y="2510734"/>
            <a:ext cx="12192000" cy="710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4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Las reducciones</a:t>
            </a: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otros temas de computabilidad</a:t>
            </a: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155488" y="150356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3C22C31-D630-4455-84EC-B1C75C8E56A1}"/>
              </a:ext>
            </a:extLst>
          </p:cNvPr>
          <p:cNvSpPr/>
          <p:nvPr/>
        </p:nvSpPr>
        <p:spPr>
          <a:xfrm>
            <a:off x="266285" y="820053"/>
            <a:ext cx="11462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Hemos probado cómo se ubican algunos primeros lenguajes dentro de la jerarquía de la computabilidad: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5F99B06-71C3-4A1D-8FC0-C48025382244}"/>
              </a:ext>
            </a:extLst>
          </p:cNvPr>
          <p:cNvSpPr/>
          <p:nvPr/>
        </p:nvSpPr>
        <p:spPr>
          <a:xfrm>
            <a:off x="5734421" y="1362967"/>
            <a:ext cx="4363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C296052-3E5B-47E2-9A81-F5C627DA7EC1}"/>
              </a:ext>
            </a:extLst>
          </p:cNvPr>
          <p:cNvSpPr/>
          <p:nvPr/>
        </p:nvSpPr>
        <p:spPr>
          <a:xfrm>
            <a:off x="5767283" y="215867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b="1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CA52BC8-98AF-4173-9BBF-EF323FDC10C2}"/>
              </a:ext>
            </a:extLst>
          </p:cNvPr>
          <p:cNvSpPr/>
          <p:nvPr/>
        </p:nvSpPr>
        <p:spPr>
          <a:xfrm>
            <a:off x="4861599" y="2027243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b="1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59D18FD-B0F7-46C7-83E9-653E3E6536A3}"/>
              </a:ext>
            </a:extLst>
          </p:cNvPr>
          <p:cNvSpPr/>
          <p:nvPr/>
        </p:nvSpPr>
        <p:spPr>
          <a:xfrm>
            <a:off x="6250304" y="2041324"/>
            <a:ext cx="10118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b="1" dirty="0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E890D166-885D-479C-A44F-50D1B721898B}"/>
              </a:ext>
            </a:extLst>
          </p:cNvPr>
          <p:cNvSpPr/>
          <p:nvPr/>
        </p:nvSpPr>
        <p:spPr>
          <a:xfrm>
            <a:off x="4495405" y="1948767"/>
            <a:ext cx="1800897" cy="151596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2BBE8454-BAA4-4F4B-8DA1-2DF558A03306}"/>
              </a:ext>
            </a:extLst>
          </p:cNvPr>
          <p:cNvSpPr/>
          <p:nvPr/>
        </p:nvSpPr>
        <p:spPr>
          <a:xfrm>
            <a:off x="5582322" y="1946298"/>
            <a:ext cx="1926182" cy="151596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B631F67D-A676-49D6-BA64-CC14914360C0}"/>
              </a:ext>
            </a:extLst>
          </p:cNvPr>
          <p:cNvSpPr/>
          <p:nvPr/>
        </p:nvSpPr>
        <p:spPr>
          <a:xfrm>
            <a:off x="4150971" y="1425546"/>
            <a:ext cx="3699086" cy="245807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61581152-E253-4E27-BE21-B963B2A4125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A399356-9B3B-4F1F-9520-A7C73526B0A5}"/>
              </a:ext>
            </a:extLst>
          </p:cNvPr>
          <p:cNvSpPr txBox="1"/>
          <p:nvPr/>
        </p:nvSpPr>
        <p:spPr>
          <a:xfrm>
            <a:off x="266285" y="4706529"/>
            <a:ext cx="116115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Para probar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pertenencia a R y RE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hemos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construido MT.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Para probar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no pertenencia a R y RE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hemos utilizado el método de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diagonalización.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En esta clase, que cierra la parte de computabilidad, vamos a estudiar otro método para probar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no pertenencia a R y 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en general más sencillo que la diagonalización: la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Tx/>
              <a:buChar char="-"/>
            </a:pPr>
            <a:endParaRPr lang="es-AR" sz="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B6805FA-70A7-4230-AA6B-28336F932B0B}"/>
              </a:ext>
            </a:extLst>
          </p:cNvPr>
          <p:cNvCxnSpPr>
            <a:cxnSpLocks/>
          </p:cNvCxnSpPr>
          <p:nvPr/>
        </p:nvCxnSpPr>
        <p:spPr>
          <a:xfrm flipV="1">
            <a:off x="6034586" y="2220558"/>
            <a:ext cx="2532465" cy="533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0ADC10A-D7BC-4CDB-AC18-F4C7778474EF}"/>
              </a:ext>
            </a:extLst>
          </p:cNvPr>
          <p:cNvSpPr txBox="1"/>
          <p:nvPr/>
        </p:nvSpPr>
        <p:spPr>
          <a:xfrm>
            <a:off x="8568712" y="2037794"/>
            <a:ext cx="20695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= {a</a:t>
            </a:r>
            <a:r>
              <a:rPr kumimoji="0" lang="es-AR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kumimoji="0" lang="es-AR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</a:t>
            </a:r>
            <a:r>
              <a:rPr kumimoji="0" lang="es-A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| n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 1}</a:t>
            </a:r>
            <a:endParaRPr lang="es-AR" sz="16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C3A7F8-A6BB-5891-54AC-4FDC3F09F81B}"/>
              </a:ext>
            </a:extLst>
          </p:cNvPr>
          <p:cNvSpPr/>
          <p:nvPr/>
        </p:nvSpPr>
        <p:spPr>
          <a:xfrm>
            <a:off x="249173" y="143605"/>
            <a:ext cx="11833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B6CF805-3D10-5EF3-053B-C48CBBF51553}"/>
              </a:ext>
            </a:extLst>
          </p:cNvPr>
          <p:cNvSpPr/>
          <p:nvPr/>
        </p:nvSpPr>
        <p:spPr>
          <a:xfrm>
            <a:off x="4806035" y="3066714"/>
            <a:ext cx="434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HP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2963098-1E37-4EC4-6436-BF1352005799}"/>
              </a:ext>
            </a:extLst>
          </p:cNvPr>
          <p:cNvCxnSpPr>
            <a:cxnSpLocks/>
          </p:cNvCxnSpPr>
          <p:nvPr/>
        </p:nvCxnSpPr>
        <p:spPr>
          <a:xfrm flipH="1">
            <a:off x="4232107" y="3313437"/>
            <a:ext cx="720092" cy="457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545D7A-605B-06B2-4FD3-612894BDCEE3}"/>
              </a:ext>
            </a:extLst>
          </p:cNvPr>
          <p:cNvSpPr txBox="1"/>
          <p:nvPr/>
        </p:nvSpPr>
        <p:spPr>
          <a:xfrm>
            <a:off x="635558" y="3545064"/>
            <a:ext cx="37480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HP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MX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{(&lt;M&gt;, w) | M para a partir de w}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AR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89A74F-A428-F5D9-7B70-AAE4ACCB27FB}"/>
              </a:ext>
            </a:extLst>
          </p:cNvPr>
          <p:cNvSpPr txBox="1"/>
          <p:nvPr/>
        </p:nvSpPr>
        <p:spPr>
          <a:xfrm>
            <a:off x="5820344" y="2619712"/>
            <a:ext cx="671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sz="1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867631E-3151-2778-31B7-171F7C016378}"/>
              </a:ext>
            </a:extLst>
          </p:cNvPr>
          <p:cNvSpPr/>
          <p:nvPr/>
        </p:nvSpPr>
        <p:spPr>
          <a:xfrm>
            <a:off x="5100504" y="2722638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MX" sz="1400" dirty="0"/>
          </a:p>
          <a:p>
            <a:endParaRPr lang="es-MX" sz="14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72AD573-F202-DE42-F340-D5D086C2CE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52865" y="2882698"/>
            <a:ext cx="1842585" cy="19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605C41-DB36-3981-CCCF-1A46541B7304}"/>
              </a:ext>
            </a:extLst>
          </p:cNvPr>
          <p:cNvSpPr txBox="1"/>
          <p:nvPr/>
        </p:nvSpPr>
        <p:spPr>
          <a:xfrm>
            <a:off x="1131827" y="2713421"/>
            <a:ext cx="21531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AR" sz="16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BE10FA6-25D3-5655-0572-8FB22C53EEF3}"/>
              </a:ext>
            </a:extLst>
          </p:cNvPr>
          <p:cNvSpPr txBox="1"/>
          <p:nvPr/>
        </p:nvSpPr>
        <p:spPr>
          <a:xfrm>
            <a:off x="8595421" y="2287545"/>
            <a:ext cx="1804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por construcción</a:t>
            </a:r>
            <a:endParaRPr lang="es-AR" sz="14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E219A40-758B-C460-314F-D3103C8B0E51}"/>
              </a:ext>
            </a:extLst>
          </p:cNvPr>
          <p:cNvSpPr txBox="1"/>
          <p:nvPr/>
        </p:nvSpPr>
        <p:spPr>
          <a:xfrm>
            <a:off x="1162654" y="2938081"/>
            <a:ext cx="201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por construcción</a:t>
            </a:r>
            <a:endParaRPr lang="es-AR" sz="14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F4976CD-96F9-A68C-7110-5F45D5212DDF}"/>
              </a:ext>
            </a:extLst>
          </p:cNvPr>
          <p:cNvSpPr txBox="1"/>
          <p:nvPr/>
        </p:nvSpPr>
        <p:spPr>
          <a:xfrm>
            <a:off x="658625" y="3776147"/>
            <a:ext cx="2039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por construcción</a:t>
            </a:r>
            <a:endParaRPr lang="es-AR" sz="14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913DDA-2985-C478-1E74-979E1AB90242}"/>
              </a:ext>
            </a:extLst>
          </p:cNvPr>
          <p:cNvSpPr/>
          <p:nvPr/>
        </p:nvSpPr>
        <p:spPr>
          <a:xfrm>
            <a:off x="6443857" y="2722638"/>
            <a:ext cx="401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FA74E5-09C2-20A2-3CAA-138BCC934C82}"/>
              </a:ext>
            </a:extLst>
          </p:cNvPr>
          <p:cNvSpPr/>
          <p:nvPr/>
        </p:nvSpPr>
        <p:spPr>
          <a:xfrm>
            <a:off x="6629747" y="3085696"/>
            <a:ext cx="521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7D3CD85-D79A-0278-A307-23015B8C8382}"/>
              </a:ext>
            </a:extLst>
          </p:cNvPr>
          <p:cNvCxnSpPr>
            <a:cxnSpLocks/>
          </p:cNvCxnSpPr>
          <p:nvPr/>
        </p:nvCxnSpPr>
        <p:spPr>
          <a:xfrm flipV="1">
            <a:off x="6901401" y="2877593"/>
            <a:ext cx="1842585" cy="19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168E7DF5-B72D-504F-4F5C-9A11390F3445}"/>
              </a:ext>
            </a:extLst>
          </p:cNvPr>
          <p:cNvCxnSpPr>
            <a:cxnSpLocks/>
          </p:cNvCxnSpPr>
          <p:nvPr/>
        </p:nvCxnSpPr>
        <p:spPr>
          <a:xfrm>
            <a:off x="6967019" y="3338803"/>
            <a:ext cx="974037" cy="344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682ED8-2CAB-91F3-A9D7-49EEACF62C37}"/>
              </a:ext>
            </a:extLst>
          </p:cNvPr>
          <p:cNvSpPr txBox="1"/>
          <p:nvPr/>
        </p:nvSpPr>
        <p:spPr>
          <a:xfrm>
            <a:off x="8738317" y="2716464"/>
            <a:ext cx="2383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AR" sz="16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13C87D3-273C-F361-FDCB-09CB467DF9BB}"/>
              </a:ext>
            </a:extLst>
          </p:cNvPr>
          <p:cNvSpPr txBox="1"/>
          <p:nvPr/>
        </p:nvSpPr>
        <p:spPr>
          <a:xfrm>
            <a:off x="8738317" y="2962702"/>
            <a:ext cx="2011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por diagonalización</a:t>
            </a:r>
            <a:endParaRPr lang="es-AR" sz="1400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BAB7474-0CF4-FD32-A487-A7844612953B}"/>
              </a:ext>
            </a:extLst>
          </p:cNvPr>
          <p:cNvSpPr txBox="1"/>
          <p:nvPr/>
        </p:nvSpPr>
        <p:spPr>
          <a:xfrm>
            <a:off x="7931193" y="3480673"/>
            <a:ext cx="4092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MX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{(&lt;M&gt;, w) | M no para a partir de w}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AR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453FF17-0D6C-7ED8-690C-F7D47C8DD77E}"/>
              </a:ext>
            </a:extLst>
          </p:cNvPr>
          <p:cNvSpPr txBox="1"/>
          <p:nvPr/>
        </p:nvSpPr>
        <p:spPr>
          <a:xfrm>
            <a:off x="7941056" y="3701254"/>
            <a:ext cx="2039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por diagonalización</a:t>
            </a:r>
            <a:endParaRPr lang="es-AR" sz="1400" b="1" dirty="0"/>
          </a:p>
        </p:txBody>
      </p:sp>
    </p:spTree>
    <p:extLst>
      <p:ext uri="{BB962C8B-B14F-4D97-AF65-F5344CB8AC3E}">
        <p14:creationId xmlns:p14="http://schemas.microsoft.com/office/powerpoint/2010/main" val="334891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0E7DA53A-50AB-463F-82B4-421554541D6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8D657CA-6D72-4743-AB6E-F9912B0C0DC4}"/>
              </a:ext>
            </a:extLst>
          </p:cNvPr>
          <p:cNvSpPr txBox="1"/>
          <p:nvPr/>
        </p:nvSpPr>
        <p:spPr>
          <a:xfrm>
            <a:off x="881623" y="5617444"/>
            <a:ext cx="111391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9C5D70D-2E79-F275-11C4-DC1EE5E7DD3D}"/>
              </a:ext>
            </a:extLst>
          </p:cNvPr>
          <p:cNvSpPr/>
          <p:nvPr/>
        </p:nvSpPr>
        <p:spPr>
          <a:xfrm>
            <a:off x="249172" y="143605"/>
            <a:ext cx="117715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Reducciones de lenguajes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2EB979-B210-A4BC-CC7D-FCB03537AA77}"/>
              </a:ext>
            </a:extLst>
          </p:cNvPr>
          <p:cNvSpPr txBox="1"/>
          <p:nvPr/>
        </p:nvSpPr>
        <p:spPr>
          <a:xfrm>
            <a:off x="270898" y="864990"/>
            <a:ext cx="11039479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 dos lenguajes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reducción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una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función total computable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: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Ʃ*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⟶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Ʃ* (función definida para todas las cadenas de Ʃ* y computable por una MT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), que para toda cadena w: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3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			            si w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			            si w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E8E75970-C212-3F4C-2B14-9CD21D8CE6E0}"/>
              </a:ext>
            </a:extLst>
          </p:cNvPr>
          <p:cNvSpPr/>
          <p:nvPr/>
        </p:nvSpPr>
        <p:spPr>
          <a:xfrm>
            <a:off x="1734364" y="2298186"/>
            <a:ext cx="2150761" cy="247607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58D6253B-2BD4-B694-1C10-52C33F617CE5}"/>
              </a:ext>
            </a:extLst>
          </p:cNvPr>
          <p:cNvSpPr/>
          <p:nvPr/>
        </p:nvSpPr>
        <p:spPr>
          <a:xfrm>
            <a:off x="2161305" y="2894990"/>
            <a:ext cx="1337666" cy="1541381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4409FB23-2009-5CBF-7D59-6FDF4561B4E4}"/>
              </a:ext>
            </a:extLst>
          </p:cNvPr>
          <p:cNvSpPr/>
          <p:nvPr/>
        </p:nvSpPr>
        <p:spPr>
          <a:xfrm>
            <a:off x="6753791" y="2386194"/>
            <a:ext cx="2104769" cy="252339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93C55A7-DDCB-2F7B-9B0A-535AC47C1453}"/>
              </a:ext>
            </a:extLst>
          </p:cNvPr>
          <p:cNvSpPr/>
          <p:nvPr/>
        </p:nvSpPr>
        <p:spPr>
          <a:xfrm>
            <a:off x="2632389" y="2899746"/>
            <a:ext cx="470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FAE8C0D-6199-D0B6-CA4A-5B7F63F9C342}"/>
              </a:ext>
            </a:extLst>
          </p:cNvPr>
          <p:cNvSpPr/>
          <p:nvPr/>
        </p:nvSpPr>
        <p:spPr>
          <a:xfrm>
            <a:off x="2705161" y="3599745"/>
            <a:ext cx="8037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ECCB212-FBA8-5795-9232-D8E605095B9D}"/>
              </a:ext>
            </a:extLst>
          </p:cNvPr>
          <p:cNvSpPr txBox="1"/>
          <p:nvPr/>
        </p:nvSpPr>
        <p:spPr>
          <a:xfrm>
            <a:off x="2569283" y="2310216"/>
            <a:ext cx="7122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sz="3200" dirty="0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610C679D-4FF5-B3A2-20EE-D8F5220521A4}"/>
              </a:ext>
            </a:extLst>
          </p:cNvPr>
          <p:cNvSpPr/>
          <p:nvPr/>
        </p:nvSpPr>
        <p:spPr>
          <a:xfrm>
            <a:off x="7162353" y="3008836"/>
            <a:ext cx="1277956" cy="149246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90ADC84-1B38-A370-EC00-4ACF41EE8564}"/>
              </a:ext>
            </a:extLst>
          </p:cNvPr>
          <p:cNvSpPr txBox="1"/>
          <p:nvPr/>
        </p:nvSpPr>
        <p:spPr>
          <a:xfrm>
            <a:off x="7543190" y="2406542"/>
            <a:ext cx="7122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sz="32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93A27EB-819E-BA3E-A690-7CEBB55BEF81}"/>
              </a:ext>
            </a:extLst>
          </p:cNvPr>
          <p:cNvSpPr/>
          <p:nvPr/>
        </p:nvSpPr>
        <p:spPr>
          <a:xfrm>
            <a:off x="7574758" y="3054888"/>
            <a:ext cx="470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4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E972AFF-750F-3BD8-815C-EC40C5459579}"/>
              </a:ext>
            </a:extLst>
          </p:cNvPr>
          <p:cNvSpPr/>
          <p:nvPr/>
        </p:nvSpPr>
        <p:spPr>
          <a:xfrm>
            <a:off x="7562988" y="3634965"/>
            <a:ext cx="7952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MX" sz="16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7A56618-E2DF-DC53-5220-F1B6F35852FC}"/>
              </a:ext>
            </a:extLst>
          </p:cNvPr>
          <p:cNvSpPr/>
          <p:nvPr/>
        </p:nvSpPr>
        <p:spPr>
          <a:xfrm>
            <a:off x="2730184" y="4406683"/>
            <a:ext cx="8037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F0C98C28-6A76-E9C1-4A64-7D621095725E}"/>
              </a:ext>
            </a:extLst>
          </p:cNvPr>
          <p:cNvCxnSpPr>
            <a:cxnSpLocks/>
          </p:cNvCxnSpPr>
          <p:nvPr/>
        </p:nvCxnSpPr>
        <p:spPr>
          <a:xfrm>
            <a:off x="3068679" y="3789957"/>
            <a:ext cx="136635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0A809E2-29AE-8EF5-B5D2-BCE72AAEB360}"/>
              </a:ext>
            </a:extLst>
          </p:cNvPr>
          <p:cNvSpPr/>
          <p:nvPr/>
        </p:nvSpPr>
        <p:spPr>
          <a:xfrm>
            <a:off x="7595182" y="4482327"/>
            <a:ext cx="8037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MX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445719-8F14-736F-9C42-608F6918A3D1}"/>
              </a:ext>
            </a:extLst>
          </p:cNvPr>
          <p:cNvSpPr/>
          <p:nvPr/>
        </p:nvSpPr>
        <p:spPr>
          <a:xfrm>
            <a:off x="4409844" y="3049850"/>
            <a:ext cx="1916386" cy="1776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1DDCBD3-C3E0-51E1-BF00-BA32C1D388FB}"/>
              </a:ext>
            </a:extLst>
          </p:cNvPr>
          <p:cNvCxnSpPr>
            <a:cxnSpLocks/>
          </p:cNvCxnSpPr>
          <p:nvPr/>
        </p:nvCxnSpPr>
        <p:spPr>
          <a:xfrm>
            <a:off x="3068679" y="4628220"/>
            <a:ext cx="136635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7B6BEF7-ADE5-714D-AAF6-894042A08237}"/>
              </a:ext>
            </a:extLst>
          </p:cNvPr>
          <p:cNvCxnSpPr>
            <a:cxnSpLocks/>
          </p:cNvCxnSpPr>
          <p:nvPr/>
        </p:nvCxnSpPr>
        <p:spPr>
          <a:xfrm>
            <a:off x="6326230" y="3817168"/>
            <a:ext cx="12989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7F63D942-CCF7-750B-0CF2-6E078526745D}"/>
              </a:ext>
            </a:extLst>
          </p:cNvPr>
          <p:cNvCxnSpPr>
            <a:cxnSpLocks/>
          </p:cNvCxnSpPr>
          <p:nvPr/>
        </p:nvCxnSpPr>
        <p:spPr>
          <a:xfrm>
            <a:off x="6326229" y="4643089"/>
            <a:ext cx="12989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1C54859-8256-B85F-3B99-5F4CE5FFB194}"/>
              </a:ext>
            </a:extLst>
          </p:cNvPr>
          <p:cNvSpPr txBox="1"/>
          <p:nvPr/>
        </p:nvSpPr>
        <p:spPr>
          <a:xfrm>
            <a:off x="5084062" y="3605837"/>
            <a:ext cx="9067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3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AEAE6C-9D87-9FAB-ECBC-53612A7E11C8}"/>
              </a:ext>
            </a:extLst>
          </p:cNvPr>
          <p:cNvSpPr txBox="1"/>
          <p:nvPr/>
        </p:nvSpPr>
        <p:spPr>
          <a:xfrm>
            <a:off x="290899" y="5120068"/>
            <a:ext cx="1103947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reducir (relacionar) el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con la idea de construir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que acepte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utilizando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ya conocida que acepta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lugar de construir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de cero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¿A qué técnica de programación se asemeja esto? </a:t>
            </a:r>
            <a:endParaRPr lang="es-AR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notación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expresa que existe una reducción de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AB7E418-376C-3644-D843-C0058C708442}"/>
              </a:ext>
            </a:extLst>
          </p:cNvPr>
          <p:cNvSpPr txBox="1"/>
          <p:nvPr/>
        </p:nvSpPr>
        <p:spPr>
          <a:xfrm>
            <a:off x="5844410" y="5829234"/>
            <a:ext cx="5158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invocación a una subrutina.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2D5988-800E-02AD-77F2-D7D4961C97BD}"/>
              </a:ext>
            </a:extLst>
          </p:cNvPr>
          <p:cNvSpPr txBox="1"/>
          <p:nvPr/>
        </p:nvSpPr>
        <p:spPr>
          <a:xfrm>
            <a:off x="9308052" y="3081086"/>
            <a:ext cx="229110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existe una MT M</a:t>
            </a:r>
            <a:r>
              <a:rPr lang="es-AR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acepta L</a:t>
            </a:r>
            <a:r>
              <a:rPr lang="es-AR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¿existe una MT M</a:t>
            </a:r>
            <a:r>
              <a:rPr lang="es-AR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acepta L</a:t>
            </a:r>
            <a:r>
              <a:rPr lang="es-AR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A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39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10094359" y="105680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AC5172-15EE-9C4D-F60F-096E1D4E949C}"/>
              </a:ext>
            </a:extLst>
          </p:cNvPr>
          <p:cNvSpPr/>
          <p:nvPr/>
        </p:nvSpPr>
        <p:spPr>
          <a:xfrm>
            <a:off x="276986" y="134548"/>
            <a:ext cx="11638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Formalizando la utilidad de las reducciones (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1:</a:t>
            </a:r>
            <a:r>
              <a:rPr lang="es-A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24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2400" b="1" dirty="0">
                <a:solidFill>
                  <a:srgbClr val="0070C0"/>
                </a:solidFill>
              </a:rPr>
              <a:t>∈ </a:t>
            </a:r>
            <a:r>
              <a:rPr lang="es-A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AF3022-65B8-ACA9-5A2F-8B2448AF935D}"/>
              </a:ext>
            </a:extLst>
          </p:cNvPr>
          <p:cNvSpPr/>
          <p:nvPr/>
        </p:nvSpPr>
        <p:spPr>
          <a:xfrm>
            <a:off x="8503991" y="1499501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586440-1E28-3D94-195A-59D072B36CFF}"/>
              </a:ext>
            </a:extLst>
          </p:cNvPr>
          <p:cNvSpPr/>
          <p:nvPr/>
        </p:nvSpPr>
        <p:spPr>
          <a:xfrm>
            <a:off x="9093114" y="1559290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C46D7D8-94B4-ABF4-3AA2-414B82A5AB85}"/>
              </a:ext>
            </a:extLst>
          </p:cNvPr>
          <p:cNvCxnSpPr>
            <a:cxnSpLocks/>
          </p:cNvCxnSpPr>
          <p:nvPr/>
        </p:nvCxnSpPr>
        <p:spPr>
          <a:xfrm>
            <a:off x="8426131" y="181957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7B8C2C2-350F-597A-68F1-B9708D59A378}"/>
              </a:ext>
            </a:extLst>
          </p:cNvPr>
          <p:cNvSpPr/>
          <p:nvPr/>
        </p:nvSpPr>
        <p:spPr>
          <a:xfrm>
            <a:off x="9155981" y="1617598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2ED605-154A-6958-3468-0A56EFD980D9}"/>
              </a:ext>
            </a:extLst>
          </p:cNvPr>
          <p:cNvSpPr/>
          <p:nvPr/>
        </p:nvSpPr>
        <p:spPr>
          <a:xfrm>
            <a:off x="9621124" y="1533597"/>
            <a:ext cx="5277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</a:rPr>
              <a:t>f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(w)</a:t>
            </a:r>
            <a:endParaRPr lang="es-AR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BE7306-0537-5401-C913-6849D633B5CE}"/>
              </a:ext>
            </a:extLst>
          </p:cNvPr>
          <p:cNvSpPr/>
          <p:nvPr/>
        </p:nvSpPr>
        <p:spPr>
          <a:xfrm>
            <a:off x="11165182" y="179377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91BF319-6014-7AA2-6C7D-36874277374E}"/>
              </a:ext>
            </a:extLst>
          </p:cNvPr>
          <p:cNvSpPr/>
          <p:nvPr/>
        </p:nvSpPr>
        <p:spPr>
          <a:xfrm>
            <a:off x="10209542" y="1556272"/>
            <a:ext cx="523605" cy="527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91ED926-CE54-3D1D-2E15-962598F7E0A3}"/>
              </a:ext>
            </a:extLst>
          </p:cNvPr>
          <p:cNvCxnSpPr>
            <a:cxnSpLocks/>
          </p:cNvCxnSpPr>
          <p:nvPr/>
        </p:nvCxnSpPr>
        <p:spPr>
          <a:xfrm>
            <a:off x="9633657" y="1816454"/>
            <a:ext cx="558093" cy="31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3C33734-07FD-7B42-264A-359F62F44BF3}"/>
              </a:ext>
            </a:extLst>
          </p:cNvPr>
          <p:cNvCxnSpPr>
            <a:cxnSpLocks/>
          </p:cNvCxnSpPr>
          <p:nvPr/>
        </p:nvCxnSpPr>
        <p:spPr>
          <a:xfrm flipV="1">
            <a:off x="10761911" y="1600515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24711B0-FF54-154B-E6DE-A2BED9B6664E}"/>
              </a:ext>
            </a:extLst>
          </p:cNvPr>
          <p:cNvSpPr/>
          <p:nvPr/>
        </p:nvSpPr>
        <p:spPr>
          <a:xfrm>
            <a:off x="11174734" y="141189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DB02432-1B14-CD9C-E72C-418CFCF44DE1}"/>
              </a:ext>
            </a:extLst>
          </p:cNvPr>
          <p:cNvSpPr/>
          <p:nvPr/>
        </p:nvSpPr>
        <p:spPr>
          <a:xfrm>
            <a:off x="10191633" y="1602788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DB68E57-597C-C1BC-B075-ED31848BF459}"/>
              </a:ext>
            </a:extLst>
          </p:cNvPr>
          <p:cNvCxnSpPr>
            <a:cxnSpLocks/>
          </p:cNvCxnSpPr>
          <p:nvPr/>
        </p:nvCxnSpPr>
        <p:spPr>
          <a:xfrm>
            <a:off x="10751126" y="1796295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33355CD-266E-AF7F-7878-70179B20402C}"/>
              </a:ext>
            </a:extLst>
          </p:cNvPr>
          <p:cNvSpPr/>
          <p:nvPr/>
        </p:nvSpPr>
        <p:spPr>
          <a:xfrm>
            <a:off x="8890381" y="1409260"/>
            <a:ext cx="2073042" cy="78538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581295C-8A51-7194-4CA6-52BC29DB804F}"/>
              </a:ext>
            </a:extLst>
          </p:cNvPr>
          <p:cNvSpPr/>
          <p:nvPr/>
        </p:nvSpPr>
        <p:spPr>
          <a:xfrm>
            <a:off x="9594125" y="1092720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</a:rPr>
              <a:t>M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8136009-3EFD-0665-87C3-5130EEA54A98}"/>
              </a:ext>
            </a:extLst>
          </p:cNvPr>
          <p:cNvSpPr txBox="1"/>
          <p:nvPr/>
        </p:nvSpPr>
        <p:spPr>
          <a:xfrm>
            <a:off x="372415" y="4241898"/>
            <a:ext cx="1159140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lugar de construir de cero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decidir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se la puede construir a partir de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conocida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decide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(noción de invocación a una subrutina en programación). </a:t>
            </a:r>
          </a:p>
          <a:p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Formalmente: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/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/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O lo mismo: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b="1" dirty="0"/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b="1" dirty="0"/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s-AR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7590E9A-4C1D-01D0-F350-CAAEC92736A9}"/>
              </a:ext>
            </a:extLst>
          </p:cNvPr>
          <p:cNvSpPr/>
          <p:nvPr/>
        </p:nvSpPr>
        <p:spPr>
          <a:xfrm>
            <a:off x="1480500" y="1941845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B60662F3-9928-4422-E49D-0A34D1C8E34E}"/>
              </a:ext>
            </a:extLst>
          </p:cNvPr>
          <p:cNvSpPr/>
          <p:nvPr/>
        </p:nvSpPr>
        <p:spPr>
          <a:xfrm>
            <a:off x="1179699" y="1425647"/>
            <a:ext cx="699789" cy="915413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C056D929-2131-178A-4F73-636C2FDD2898}"/>
              </a:ext>
            </a:extLst>
          </p:cNvPr>
          <p:cNvSpPr/>
          <p:nvPr/>
        </p:nvSpPr>
        <p:spPr>
          <a:xfrm>
            <a:off x="1346443" y="1430060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3B2BB499-D7F1-8640-4E8B-A3129EA38CCA}"/>
              </a:ext>
            </a:extLst>
          </p:cNvPr>
          <p:cNvSpPr/>
          <p:nvPr/>
        </p:nvSpPr>
        <p:spPr>
          <a:xfrm>
            <a:off x="1399336" y="1903102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DBE07F-6F85-1916-BE82-134594DF0CAF}"/>
              </a:ext>
            </a:extLst>
          </p:cNvPr>
          <p:cNvSpPr/>
          <p:nvPr/>
        </p:nvSpPr>
        <p:spPr>
          <a:xfrm>
            <a:off x="2281035" y="1843931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060142F8-983E-88BA-3442-DC397E084DD5}"/>
              </a:ext>
            </a:extLst>
          </p:cNvPr>
          <p:cNvSpPr/>
          <p:nvPr/>
        </p:nvSpPr>
        <p:spPr>
          <a:xfrm>
            <a:off x="3608829" y="1472701"/>
            <a:ext cx="699789" cy="915413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114C48-988D-F2BF-3664-6677ACE3C30E}"/>
              </a:ext>
            </a:extLst>
          </p:cNvPr>
          <p:cNvSpPr/>
          <p:nvPr/>
        </p:nvSpPr>
        <p:spPr>
          <a:xfrm>
            <a:off x="3775573" y="1477114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1908ADA-B203-53F0-DFA5-67D54AFB13FA}"/>
              </a:ext>
            </a:extLst>
          </p:cNvPr>
          <p:cNvSpPr/>
          <p:nvPr/>
        </p:nvSpPr>
        <p:spPr>
          <a:xfrm>
            <a:off x="3732440" y="1928238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8896C00-19C9-6FD6-74CC-5D286CF2D439}"/>
              </a:ext>
            </a:extLst>
          </p:cNvPr>
          <p:cNvSpPr/>
          <p:nvPr/>
        </p:nvSpPr>
        <p:spPr>
          <a:xfrm>
            <a:off x="1418078" y="2314006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D511EC2-817F-3001-B2ED-4122C55AEFFF}"/>
              </a:ext>
            </a:extLst>
          </p:cNvPr>
          <p:cNvSpPr/>
          <p:nvPr/>
        </p:nvSpPr>
        <p:spPr>
          <a:xfrm>
            <a:off x="3741114" y="2350658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3A171B1-DA02-01D5-DD26-D8BDD58F00C8}"/>
              </a:ext>
            </a:extLst>
          </p:cNvPr>
          <p:cNvCxnSpPr>
            <a:cxnSpLocks/>
          </p:cNvCxnSpPr>
          <p:nvPr/>
        </p:nvCxnSpPr>
        <p:spPr>
          <a:xfrm>
            <a:off x="1640759" y="207700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F820611-AD40-FFD9-926F-7B35A9600D04}"/>
              </a:ext>
            </a:extLst>
          </p:cNvPr>
          <p:cNvCxnSpPr>
            <a:cxnSpLocks/>
          </p:cNvCxnSpPr>
          <p:nvPr/>
        </p:nvCxnSpPr>
        <p:spPr>
          <a:xfrm>
            <a:off x="1640759" y="248165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D5C3CE8-1183-3533-8261-994DEAA7A1E7}"/>
              </a:ext>
            </a:extLst>
          </p:cNvPr>
          <p:cNvCxnSpPr>
            <a:cxnSpLocks/>
          </p:cNvCxnSpPr>
          <p:nvPr/>
        </p:nvCxnSpPr>
        <p:spPr>
          <a:xfrm>
            <a:off x="3168022" y="207700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FC80462-27B0-3F18-745D-331013F0F16B}"/>
              </a:ext>
            </a:extLst>
          </p:cNvPr>
          <p:cNvCxnSpPr>
            <a:cxnSpLocks/>
          </p:cNvCxnSpPr>
          <p:nvPr/>
        </p:nvCxnSpPr>
        <p:spPr>
          <a:xfrm>
            <a:off x="3168022" y="248165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C4736CE-408A-8552-D9E2-BC4FF55EF0DF}"/>
              </a:ext>
            </a:extLst>
          </p:cNvPr>
          <p:cNvSpPr/>
          <p:nvPr/>
        </p:nvSpPr>
        <p:spPr>
          <a:xfrm>
            <a:off x="2519362" y="2077002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EEAEAAB-F1F4-177F-F43F-98906E76067E}"/>
              </a:ext>
            </a:extLst>
          </p:cNvPr>
          <p:cNvSpPr txBox="1"/>
          <p:nvPr/>
        </p:nvSpPr>
        <p:spPr>
          <a:xfrm>
            <a:off x="323606" y="2966251"/>
            <a:ext cx="842485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dirty="0"/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/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acepta f(w), 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acepta w.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/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/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rechaza f(w), 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rechaza w.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0" name="Slide Number Placeholder 2">
            <a:extLst>
              <a:ext uri="{FF2B5EF4-FFF2-40B4-BE49-F238E27FC236}">
                <a16:creationId xmlns:a16="http://schemas.microsoft.com/office/drawing/2014/main" id="{71AC8CF2-35D5-74DB-694E-39537683B71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A5F3D84C-BEEC-1450-EEBE-F6D2E2969F10}"/>
              </a:ext>
            </a:extLst>
          </p:cNvPr>
          <p:cNvSpPr/>
          <p:nvPr/>
        </p:nvSpPr>
        <p:spPr>
          <a:xfrm>
            <a:off x="4885756" y="1812500"/>
            <a:ext cx="886987" cy="8675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2A6BF8C0-DE46-F108-7893-AA3EBB3E071A}"/>
              </a:ext>
            </a:extLst>
          </p:cNvPr>
          <p:cNvSpPr/>
          <p:nvPr/>
        </p:nvSpPr>
        <p:spPr>
          <a:xfrm>
            <a:off x="6168119" y="2304704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b="1" dirty="0">
              <a:solidFill>
                <a:srgbClr val="0070C0"/>
              </a:solidFill>
            </a:endParaRPr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4A6EC04B-5BF6-4691-9758-50A5280E52B0}"/>
              </a:ext>
            </a:extLst>
          </p:cNvPr>
          <p:cNvCxnSpPr>
            <a:cxnSpLocks/>
          </p:cNvCxnSpPr>
          <p:nvPr/>
        </p:nvCxnSpPr>
        <p:spPr>
          <a:xfrm flipV="1">
            <a:off x="5764848" y="2111446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AF587D92-8AA2-1AE5-3443-722E948D6982}"/>
              </a:ext>
            </a:extLst>
          </p:cNvPr>
          <p:cNvSpPr/>
          <p:nvPr/>
        </p:nvSpPr>
        <p:spPr>
          <a:xfrm>
            <a:off x="6177671" y="1922824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b="1" dirty="0">
              <a:solidFill>
                <a:srgbClr val="0070C0"/>
              </a:solidFill>
            </a:endParaRPr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34F9B15-F3D7-10AC-B912-46E35F3E3FCD}"/>
              </a:ext>
            </a:extLst>
          </p:cNvPr>
          <p:cNvCxnSpPr>
            <a:cxnSpLocks/>
          </p:cNvCxnSpPr>
          <p:nvPr/>
        </p:nvCxnSpPr>
        <p:spPr>
          <a:xfrm>
            <a:off x="5754063" y="2307226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9211DE63-9D30-678E-4F28-41F38679B9AC}"/>
              </a:ext>
            </a:extLst>
          </p:cNvPr>
          <p:cNvSpPr/>
          <p:nvPr/>
        </p:nvSpPr>
        <p:spPr>
          <a:xfrm>
            <a:off x="5055601" y="2081135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91" name="Diagrama de flujo: conector 190">
            <a:extLst>
              <a:ext uri="{FF2B5EF4-FFF2-40B4-BE49-F238E27FC236}">
                <a16:creationId xmlns:a16="http://schemas.microsoft.com/office/drawing/2014/main" id="{F1A50998-6630-D26D-A504-42285F13D112}"/>
              </a:ext>
            </a:extLst>
          </p:cNvPr>
          <p:cNvSpPr/>
          <p:nvPr/>
        </p:nvSpPr>
        <p:spPr>
          <a:xfrm>
            <a:off x="1018505" y="1084634"/>
            <a:ext cx="1021827" cy="1617510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2" name="Diagrama de flujo: conector 191">
            <a:extLst>
              <a:ext uri="{FF2B5EF4-FFF2-40B4-BE49-F238E27FC236}">
                <a16:creationId xmlns:a16="http://schemas.microsoft.com/office/drawing/2014/main" id="{6AD6ED55-EAFC-48EF-A269-832930D5F736}"/>
              </a:ext>
            </a:extLst>
          </p:cNvPr>
          <p:cNvSpPr/>
          <p:nvPr/>
        </p:nvSpPr>
        <p:spPr>
          <a:xfrm>
            <a:off x="3445962" y="1128733"/>
            <a:ext cx="1021827" cy="163682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0682FA-4F26-4A42-42F0-D47C5E9CEDD4}"/>
              </a:ext>
            </a:extLst>
          </p:cNvPr>
          <p:cNvSpPr txBox="1"/>
          <p:nvPr/>
        </p:nvSpPr>
        <p:spPr>
          <a:xfrm>
            <a:off x="1354876" y="1084633"/>
            <a:ext cx="71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AB487B-B95F-CD93-A502-15CD778A9DF3}"/>
              </a:ext>
            </a:extLst>
          </p:cNvPr>
          <p:cNvSpPr txBox="1"/>
          <p:nvPr/>
        </p:nvSpPr>
        <p:spPr>
          <a:xfrm>
            <a:off x="3755573" y="1126686"/>
            <a:ext cx="71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E6515E-B105-FFA5-4F30-24FDC9B6EAC8}"/>
              </a:ext>
            </a:extLst>
          </p:cNvPr>
          <p:cNvSpPr txBox="1"/>
          <p:nvPr/>
        </p:nvSpPr>
        <p:spPr>
          <a:xfrm>
            <a:off x="8834552" y="2284174"/>
            <a:ext cx="2525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decide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decide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680208-E869-A1D0-3627-586E4BE2ECA9}"/>
              </a:ext>
            </a:extLst>
          </p:cNvPr>
          <p:cNvSpPr/>
          <p:nvPr/>
        </p:nvSpPr>
        <p:spPr>
          <a:xfrm>
            <a:off x="2113279" y="982496"/>
            <a:ext cx="3886443" cy="186452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C9B77F7-70AA-CC9D-9855-54D66CEC9E00}"/>
              </a:ext>
            </a:extLst>
          </p:cNvPr>
          <p:cNvSpPr/>
          <p:nvPr/>
        </p:nvSpPr>
        <p:spPr>
          <a:xfrm>
            <a:off x="3690356" y="351923"/>
            <a:ext cx="5312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</a:t>
            </a:r>
            <a:r>
              <a:rPr lang="es-AR" sz="2000" b="1" dirty="0">
                <a:solidFill>
                  <a:srgbClr val="0070C0"/>
                </a:solidFill>
                <a:latin typeface="Arial" panose="020B0604020202020204" pitchFamily="34" charset="0"/>
              </a:rPr>
              <a:t>M</a:t>
            </a:r>
            <a:r>
              <a:rPr lang="es-AR" sz="20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2000" b="1" dirty="0">
              <a:solidFill>
                <a:srgbClr val="0070C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157C03D-F73F-514B-41AC-44417A33E0B4}"/>
              </a:ext>
            </a:extLst>
          </p:cNvPr>
          <p:cNvSpPr txBox="1"/>
          <p:nvPr/>
        </p:nvSpPr>
        <p:spPr>
          <a:xfrm>
            <a:off x="6999749" y="5198932"/>
            <a:ext cx="3781264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Encontrando una reducción de un lenguaje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no está en R a un lenguaje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 prueba que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tampoco está en R.</a:t>
            </a:r>
            <a:endParaRPr lang="es-AR" b="1" dirty="0">
              <a:solidFill>
                <a:srgbClr val="0070C0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65BDB4D-6212-3105-A851-DB48B2172D0F}"/>
              </a:ext>
            </a:extLst>
          </p:cNvPr>
          <p:cNvCxnSpPr>
            <a:cxnSpLocks/>
          </p:cNvCxnSpPr>
          <p:nvPr/>
        </p:nvCxnSpPr>
        <p:spPr>
          <a:xfrm>
            <a:off x="6168119" y="5994001"/>
            <a:ext cx="7627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7C36B22-10BA-36A3-8EC1-1062FEE2E31A}"/>
              </a:ext>
            </a:extLst>
          </p:cNvPr>
          <p:cNvCxnSpPr>
            <a:cxnSpLocks/>
          </p:cNvCxnSpPr>
          <p:nvPr/>
        </p:nvCxnSpPr>
        <p:spPr>
          <a:xfrm>
            <a:off x="4160033" y="2071225"/>
            <a:ext cx="751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12D342A-5320-E087-AD78-EB2AE125548C}"/>
              </a:ext>
            </a:extLst>
          </p:cNvPr>
          <p:cNvCxnSpPr>
            <a:cxnSpLocks/>
          </p:cNvCxnSpPr>
          <p:nvPr/>
        </p:nvCxnSpPr>
        <p:spPr>
          <a:xfrm>
            <a:off x="4160032" y="2488169"/>
            <a:ext cx="751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4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4" grpId="0" animBg="1"/>
      <p:bldP spid="6" grpId="0"/>
      <p:bldP spid="12" grpId="0"/>
      <p:bldP spid="18" grpId="0"/>
      <p:bldP spid="25" grpId="0" animBg="1"/>
      <p:bldP spid="37" grpId="0"/>
      <p:bldP spid="42" grpId="0"/>
      <p:bldP spid="48" grpId="0" animBg="1"/>
      <p:bldP spid="52" grpId="0"/>
      <p:bldP spid="44" grpId="0"/>
      <p:bldP spid="181" grpId="0" animBg="1"/>
      <p:bldP spid="184" grpId="0"/>
      <p:bldP spid="186" grpId="0"/>
      <p:bldP spid="188" grpId="0"/>
      <p:bldP spid="14" grpId="0"/>
      <p:bldP spid="15" grpId="0" animBg="1"/>
      <p:bldP spid="17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10094359" y="105680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AC5172-15EE-9C4D-F60F-096E1D4E949C}"/>
              </a:ext>
            </a:extLst>
          </p:cNvPr>
          <p:cNvSpPr/>
          <p:nvPr/>
        </p:nvSpPr>
        <p:spPr>
          <a:xfrm>
            <a:off x="276986" y="134548"/>
            <a:ext cx="11638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Formalizando la utilidad de las reducciones (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2:</a:t>
            </a:r>
            <a:r>
              <a:rPr lang="es-A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24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2400" b="1" dirty="0">
                <a:solidFill>
                  <a:srgbClr val="0070C0"/>
                </a:solidFill>
              </a:rPr>
              <a:t>∈ </a:t>
            </a:r>
            <a:r>
              <a:rPr lang="es-AR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AF3022-65B8-ACA9-5A2F-8B2448AF935D}"/>
              </a:ext>
            </a:extLst>
          </p:cNvPr>
          <p:cNvSpPr/>
          <p:nvPr/>
        </p:nvSpPr>
        <p:spPr>
          <a:xfrm>
            <a:off x="8503991" y="1499501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586440-1E28-3D94-195A-59D072B36CFF}"/>
              </a:ext>
            </a:extLst>
          </p:cNvPr>
          <p:cNvSpPr/>
          <p:nvPr/>
        </p:nvSpPr>
        <p:spPr>
          <a:xfrm>
            <a:off x="9093114" y="1559290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C46D7D8-94B4-ABF4-3AA2-414B82A5AB85}"/>
              </a:ext>
            </a:extLst>
          </p:cNvPr>
          <p:cNvCxnSpPr>
            <a:cxnSpLocks/>
          </p:cNvCxnSpPr>
          <p:nvPr/>
        </p:nvCxnSpPr>
        <p:spPr>
          <a:xfrm>
            <a:off x="8426131" y="181957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7B8C2C2-350F-597A-68F1-B9708D59A378}"/>
              </a:ext>
            </a:extLst>
          </p:cNvPr>
          <p:cNvSpPr/>
          <p:nvPr/>
        </p:nvSpPr>
        <p:spPr>
          <a:xfrm>
            <a:off x="9155981" y="1617598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2ED605-154A-6958-3468-0A56EFD980D9}"/>
              </a:ext>
            </a:extLst>
          </p:cNvPr>
          <p:cNvSpPr/>
          <p:nvPr/>
        </p:nvSpPr>
        <p:spPr>
          <a:xfrm>
            <a:off x="9621124" y="1533597"/>
            <a:ext cx="5277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</a:rPr>
              <a:t>f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(w)</a:t>
            </a:r>
            <a:endParaRPr lang="es-AR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BE7306-0537-5401-C913-6849D633B5CE}"/>
              </a:ext>
            </a:extLst>
          </p:cNvPr>
          <p:cNvSpPr/>
          <p:nvPr/>
        </p:nvSpPr>
        <p:spPr>
          <a:xfrm>
            <a:off x="11165182" y="179377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91BF319-6014-7AA2-6C7D-36874277374E}"/>
              </a:ext>
            </a:extLst>
          </p:cNvPr>
          <p:cNvSpPr/>
          <p:nvPr/>
        </p:nvSpPr>
        <p:spPr>
          <a:xfrm>
            <a:off x="10209542" y="1556272"/>
            <a:ext cx="523605" cy="527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91ED926-CE54-3D1D-2E15-962598F7E0A3}"/>
              </a:ext>
            </a:extLst>
          </p:cNvPr>
          <p:cNvCxnSpPr>
            <a:cxnSpLocks/>
          </p:cNvCxnSpPr>
          <p:nvPr/>
        </p:nvCxnSpPr>
        <p:spPr>
          <a:xfrm>
            <a:off x="9633657" y="1816454"/>
            <a:ext cx="558093" cy="31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3C33734-07FD-7B42-264A-359F62F44BF3}"/>
              </a:ext>
            </a:extLst>
          </p:cNvPr>
          <p:cNvCxnSpPr>
            <a:cxnSpLocks/>
          </p:cNvCxnSpPr>
          <p:nvPr/>
        </p:nvCxnSpPr>
        <p:spPr>
          <a:xfrm flipV="1">
            <a:off x="10761911" y="1600515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24711B0-FF54-154B-E6DE-A2BED9B6664E}"/>
              </a:ext>
            </a:extLst>
          </p:cNvPr>
          <p:cNvSpPr/>
          <p:nvPr/>
        </p:nvSpPr>
        <p:spPr>
          <a:xfrm>
            <a:off x="11174734" y="141189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DB02432-1B14-CD9C-E72C-418CFCF44DE1}"/>
              </a:ext>
            </a:extLst>
          </p:cNvPr>
          <p:cNvSpPr/>
          <p:nvPr/>
        </p:nvSpPr>
        <p:spPr>
          <a:xfrm>
            <a:off x="10191633" y="1602788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DB68E57-597C-C1BC-B075-ED31848BF459}"/>
              </a:ext>
            </a:extLst>
          </p:cNvPr>
          <p:cNvCxnSpPr>
            <a:cxnSpLocks/>
          </p:cNvCxnSpPr>
          <p:nvPr/>
        </p:nvCxnSpPr>
        <p:spPr>
          <a:xfrm>
            <a:off x="10751126" y="1796295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33355CD-266E-AF7F-7878-70179B20402C}"/>
              </a:ext>
            </a:extLst>
          </p:cNvPr>
          <p:cNvSpPr/>
          <p:nvPr/>
        </p:nvSpPr>
        <p:spPr>
          <a:xfrm>
            <a:off x="8890381" y="1409260"/>
            <a:ext cx="2073042" cy="78538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581295C-8A51-7194-4CA6-52BC29DB804F}"/>
              </a:ext>
            </a:extLst>
          </p:cNvPr>
          <p:cNvSpPr/>
          <p:nvPr/>
        </p:nvSpPr>
        <p:spPr>
          <a:xfrm>
            <a:off x="9594125" y="1092720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</a:rPr>
              <a:t>M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7590E9A-4C1D-01D0-F350-CAAEC92736A9}"/>
              </a:ext>
            </a:extLst>
          </p:cNvPr>
          <p:cNvSpPr/>
          <p:nvPr/>
        </p:nvSpPr>
        <p:spPr>
          <a:xfrm>
            <a:off x="1480500" y="1941845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B60662F3-9928-4422-E49D-0A34D1C8E34E}"/>
              </a:ext>
            </a:extLst>
          </p:cNvPr>
          <p:cNvSpPr/>
          <p:nvPr/>
        </p:nvSpPr>
        <p:spPr>
          <a:xfrm>
            <a:off x="1179699" y="1425647"/>
            <a:ext cx="699789" cy="915413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C056D929-2131-178A-4F73-636C2FDD2898}"/>
              </a:ext>
            </a:extLst>
          </p:cNvPr>
          <p:cNvSpPr/>
          <p:nvPr/>
        </p:nvSpPr>
        <p:spPr>
          <a:xfrm>
            <a:off x="1346443" y="1430060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3B2BB499-D7F1-8640-4E8B-A3129EA38CCA}"/>
              </a:ext>
            </a:extLst>
          </p:cNvPr>
          <p:cNvSpPr/>
          <p:nvPr/>
        </p:nvSpPr>
        <p:spPr>
          <a:xfrm>
            <a:off x="1399336" y="1903102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DBE07F-6F85-1916-BE82-134594DF0CAF}"/>
              </a:ext>
            </a:extLst>
          </p:cNvPr>
          <p:cNvSpPr/>
          <p:nvPr/>
        </p:nvSpPr>
        <p:spPr>
          <a:xfrm>
            <a:off x="2281035" y="1843931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060142F8-983E-88BA-3442-DC397E084DD5}"/>
              </a:ext>
            </a:extLst>
          </p:cNvPr>
          <p:cNvSpPr/>
          <p:nvPr/>
        </p:nvSpPr>
        <p:spPr>
          <a:xfrm>
            <a:off x="3608829" y="1472701"/>
            <a:ext cx="699789" cy="915413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114C48-988D-F2BF-3664-6677ACE3C30E}"/>
              </a:ext>
            </a:extLst>
          </p:cNvPr>
          <p:cNvSpPr/>
          <p:nvPr/>
        </p:nvSpPr>
        <p:spPr>
          <a:xfrm>
            <a:off x="3775573" y="1477114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1908ADA-B203-53F0-DFA5-67D54AFB13FA}"/>
              </a:ext>
            </a:extLst>
          </p:cNvPr>
          <p:cNvSpPr/>
          <p:nvPr/>
        </p:nvSpPr>
        <p:spPr>
          <a:xfrm>
            <a:off x="3732440" y="1928238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8896C00-19C9-6FD6-74CC-5D286CF2D439}"/>
              </a:ext>
            </a:extLst>
          </p:cNvPr>
          <p:cNvSpPr/>
          <p:nvPr/>
        </p:nvSpPr>
        <p:spPr>
          <a:xfrm>
            <a:off x="1418078" y="2314006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D511EC2-817F-3001-B2ED-4122C55AEFFF}"/>
              </a:ext>
            </a:extLst>
          </p:cNvPr>
          <p:cNvSpPr/>
          <p:nvPr/>
        </p:nvSpPr>
        <p:spPr>
          <a:xfrm>
            <a:off x="3716400" y="2364332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3A171B1-DA02-01D5-DD26-D8BDD58F00C8}"/>
              </a:ext>
            </a:extLst>
          </p:cNvPr>
          <p:cNvCxnSpPr>
            <a:cxnSpLocks/>
          </p:cNvCxnSpPr>
          <p:nvPr/>
        </p:nvCxnSpPr>
        <p:spPr>
          <a:xfrm>
            <a:off x="1640759" y="207700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F820611-AD40-FFD9-926F-7B35A9600D04}"/>
              </a:ext>
            </a:extLst>
          </p:cNvPr>
          <p:cNvCxnSpPr>
            <a:cxnSpLocks/>
          </p:cNvCxnSpPr>
          <p:nvPr/>
        </p:nvCxnSpPr>
        <p:spPr>
          <a:xfrm>
            <a:off x="1640759" y="248165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D5C3CE8-1183-3533-8261-994DEAA7A1E7}"/>
              </a:ext>
            </a:extLst>
          </p:cNvPr>
          <p:cNvCxnSpPr>
            <a:cxnSpLocks/>
          </p:cNvCxnSpPr>
          <p:nvPr/>
        </p:nvCxnSpPr>
        <p:spPr>
          <a:xfrm>
            <a:off x="3168022" y="207700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FC80462-27B0-3F18-745D-331013F0F16B}"/>
              </a:ext>
            </a:extLst>
          </p:cNvPr>
          <p:cNvCxnSpPr>
            <a:cxnSpLocks/>
          </p:cNvCxnSpPr>
          <p:nvPr/>
        </p:nvCxnSpPr>
        <p:spPr>
          <a:xfrm>
            <a:off x="3168022" y="248165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C4736CE-408A-8552-D9E2-BC4FF55EF0DF}"/>
              </a:ext>
            </a:extLst>
          </p:cNvPr>
          <p:cNvSpPr/>
          <p:nvPr/>
        </p:nvSpPr>
        <p:spPr>
          <a:xfrm>
            <a:off x="2519362" y="2077002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EEAEAAB-F1F4-177F-F43F-98906E76067E}"/>
              </a:ext>
            </a:extLst>
          </p:cNvPr>
          <p:cNvSpPr txBox="1"/>
          <p:nvPr/>
        </p:nvSpPr>
        <p:spPr>
          <a:xfrm>
            <a:off x="323605" y="2966251"/>
            <a:ext cx="1182755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dirty="0"/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/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acepta f(w), 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acepta w.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w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/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f(w)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dirty="0"/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rechaza f(w) (puede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loopear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rechaza w (puede </a:t>
            </a:r>
            <a:r>
              <a:rPr lang="es-AR" dirty="0" err="1">
                <a:latin typeface="Arial" panose="020B0604020202020204" pitchFamily="34" charset="0"/>
              </a:rPr>
              <a:t>loopear</a:t>
            </a:r>
            <a:r>
              <a:rPr lang="es-AR" dirty="0">
                <a:latin typeface="Arial" panose="020B0604020202020204" pitchFamily="34" charset="0"/>
              </a:rPr>
              <a:t>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0" name="Slide Number Placeholder 2">
            <a:extLst>
              <a:ext uri="{FF2B5EF4-FFF2-40B4-BE49-F238E27FC236}">
                <a16:creationId xmlns:a16="http://schemas.microsoft.com/office/drawing/2014/main" id="{71AC8CF2-35D5-74DB-694E-39537683B71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81" name="Rectángulo 180">
            <a:extLst>
              <a:ext uri="{FF2B5EF4-FFF2-40B4-BE49-F238E27FC236}">
                <a16:creationId xmlns:a16="http://schemas.microsoft.com/office/drawing/2014/main" id="{A5F3D84C-BEEC-1450-EEBE-F6D2E2969F10}"/>
              </a:ext>
            </a:extLst>
          </p:cNvPr>
          <p:cNvSpPr/>
          <p:nvPr/>
        </p:nvSpPr>
        <p:spPr>
          <a:xfrm>
            <a:off x="4885756" y="1812500"/>
            <a:ext cx="886987" cy="8675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2A6BF8C0-DE46-F108-7893-AA3EBB3E071A}"/>
              </a:ext>
            </a:extLst>
          </p:cNvPr>
          <p:cNvSpPr/>
          <p:nvPr/>
        </p:nvSpPr>
        <p:spPr>
          <a:xfrm>
            <a:off x="6220446" y="2312374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b="1" dirty="0">
              <a:solidFill>
                <a:srgbClr val="0070C0"/>
              </a:solidFill>
            </a:endParaRPr>
          </a:p>
        </p:txBody>
      </p:sp>
      <p:cxnSp>
        <p:nvCxnSpPr>
          <p:cNvPr id="185" name="Conector recto de flecha 184">
            <a:extLst>
              <a:ext uri="{FF2B5EF4-FFF2-40B4-BE49-F238E27FC236}">
                <a16:creationId xmlns:a16="http://schemas.microsoft.com/office/drawing/2014/main" id="{4A6EC04B-5BF6-4691-9758-50A5280E52B0}"/>
              </a:ext>
            </a:extLst>
          </p:cNvPr>
          <p:cNvCxnSpPr>
            <a:cxnSpLocks/>
          </p:cNvCxnSpPr>
          <p:nvPr/>
        </p:nvCxnSpPr>
        <p:spPr>
          <a:xfrm flipV="1">
            <a:off x="5817175" y="2119116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ángulo 185">
            <a:extLst>
              <a:ext uri="{FF2B5EF4-FFF2-40B4-BE49-F238E27FC236}">
                <a16:creationId xmlns:a16="http://schemas.microsoft.com/office/drawing/2014/main" id="{AF587D92-8AA2-1AE5-3443-722E948D6982}"/>
              </a:ext>
            </a:extLst>
          </p:cNvPr>
          <p:cNvSpPr/>
          <p:nvPr/>
        </p:nvSpPr>
        <p:spPr>
          <a:xfrm>
            <a:off x="6229998" y="1930494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b="1" dirty="0">
              <a:solidFill>
                <a:srgbClr val="0070C0"/>
              </a:solidFill>
            </a:endParaRPr>
          </a:p>
        </p:txBody>
      </p: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34F9B15-F3D7-10AC-B912-46E35F3E3FCD}"/>
              </a:ext>
            </a:extLst>
          </p:cNvPr>
          <p:cNvCxnSpPr>
            <a:cxnSpLocks/>
          </p:cNvCxnSpPr>
          <p:nvPr/>
        </p:nvCxnSpPr>
        <p:spPr>
          <a:xfrm>
            <a:off x="5806390" y="2314896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9211DE63-9D30-678E-4F28-41F38679B9AC}"/>
              </a:ext>
            </a:extLst>
          </p:cNvPr>
          <p:cNvSpPr/>
          <p:nvPr/>
        </p:nvSpPr>
        <p:spPr>
          <a:xfrm>
            <a:off x="5055601" y="2081135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91" name="Diagrama de flujo: conector 190">
            <a:extLst>
              <a:ext uri="{FF2B5EF4-FFF2-40B4-BE49-F238E27FC236}">
                <a16:creationId xmlns:a16="http://schemas.microsoft.com/office/drawing/2014/main" id="{F1A50998-6630-D26D-A504-42285F13D112}"/>
              </a:ext>
            </a:extLst>
          </p:cNvPr>
          <p:cNvSpPr/>
          <p:nvPr/>
        </p:nvSpPr>
        <p:spPr>
          <a:xfrm>
            <a:off x="1018505" y="1084634"/>
            <a:ext cx="1021827" cy="1617510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2" name="Diagrama de flujo: conector 191">
            <a:extLst>
              <a:ext uri="{FF2B5EF4-FFF2-40B4-BE49-F238E27FC236}">
                <a16:creationId xmlns:a16="http://schemas.microsoft.com/office/drawing/2014/main" id="{6AD6ED55-EAFC-48EF-A269-832930D5F736}"/>
              </a:ext>
            </a:extLst>
          </p:cNvPr>
          <p:cNvSpPr/>
          <p:nvPr/>
        </p:nvSpPr>
        <p:spPr>
          <a:xfrm>
            <a:off x="3445962" y="1128733"/>
            <a:ext cx="1021827" cy="163682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0682FA-4F26-4A42-42F0-D47C5E9CEDD4}"/>
              </a:ext>
            </a:extLst>
          </p:cNvPr>
          <p:cNvSpPr txBox="1"/>
          <p:nvPr/>
        </p:nvSpPr>
        <p:spPr>
          <a:xfrm>
            <a:off x="1354876" y="1084633"/>
            <a:ext cx="71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AB487B-B95F-CD93-A502-15CD778A9DF3}"/>
              </a:ext>
            </a:extLst>
          </p:cNvPr>
          <p:cNvSpPr txBox="1"/>
          <p:nvPr/>
        </p:nvSpPr>
        <p:spPr>
          <a:xfrm>
            <a:off x="3755573" y="1126686"/>
            <a:ext cx="71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E6515E-B105-FFA5-4F30-24FDC9B6EAC8}"/>
              </a:ext>
            </a:extLst>
          </p:cNvPr>
          <p:cNvSpPr txBox="1"/>
          <p:nvPr/>
        </p:nvSpPr>
        <p:spPr>
          <a:xfrm>
            <a:off x="8834551" y="2284174"/>
            <a:ext cx="3033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acepta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s-AR" dirty="0">
                <a:latin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 acepta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</a:rPr>
              <a:t>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680208-E869-A1D0-3627-586E4BE2ECA9}"/>
              </a:ext>
            </a:extLst>
          </p:cNvPr>
          <p:cNvSpPr/>
          <p:nvPr/>
        </p:nvSpPr>
        <p:spPr>
          <a:xfrm>
            <a:off x="2113279" y="963038"/>
            <a:ext cx="3886443" cy="188397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C9B77F7-70AA-CC9D-9855-54D66CEC9E00}"/>
              </a:ext>
            </a:extLst>
          </p:cNvPr>
          <p:cNvSpPr/>
          <p:nvPr/>
        </p:nvSpPr>
        <p:spPr>
          <a:xfrm>
            <a:off x="3691237" y="345543"/>
            <a:ext cx="5312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</a:t>
            </a:r>
            <a:r>
              <a:rPr lang="es-AR" sz="2000" b="1" dirty="0">
                <a:solidFill>
                  <a:srgbClr val="0070C0"/>
                </a:solidFill>
                <a:latin typeface="Arial" panose="020B0604020202020204" pitchFamily="34" charset="0"/>
              </a:rPr>
              <a:t>M</a:t>
            </a:r>
            <a:r>
              <a:rPr lang="es-AR" sz="20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2000" b="1" dirty="0">
              <a:solidFill>
                <a:srgbClr val="0070C0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EFDC089-26FE-A82B-5AC4-7598BAF7FE55}"/>
              </a:ext>
            </a:extLst>
          </p:cNvPr>
          <p:cNvCxnSpPr>
            <a:cxnSpLocks/>
          </p:cNvCxnSpPr>
          <p:nvPr/>
        </p:nvCxnSpPr>
        <p:spPr>
          <a:xfrm>
            <a:off x="5194533" y="2680057"/>
            <a:ext cx="0" cy="2991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01932D3-924A-7E89-36B8-56374F3636A6}"/>
              </a:ext>
            </a:extLst>
          </p:cNvPr>
          <p:cNvCxnSpPr>
            <a:cxnSpLocks/>
          </p:cNvCxnSpPr>
          <p:nvPr/>
        </p:nvCxnSpPr>
        <p:spPr>
          <a:xfrm>
            <a:off x="5194639" y="2972153"/>
            <a:ext cx="1809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A37E72A-71BC-613D-5C1A-5642B76A38AD}"/>
              </a:ext>
            </a:extLst>
          </p:cNvPr>
          <p:cNvCxnSpPr>
            <a:cxnSpLocks/>
          </p:cNvCxnSpPr>
          <p:nvPr/>
        </p:nvCxnSpPr>
        <p:spPr>
          <a:xfrm flipV="1">
            <a:off x="5375598" y="2680057"/>
            <a:ext cx="0" cy="2913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EE69C53-0002-B14F-1C30-1EC1882E6628}"/>
              </a:ext>
            </a:extLst>
          </p:cNvPr>
          <p:cNvCxnSpPr>
            <a:cxnSpLocks/>
          </p:cNvCxnSpPr>
          <p:nvPr/>
        </p:nvCxnSpPr>
        <p:spPr>
          <a:xfrm>
            <a:off x="10387380" y="2087294"/>
            <a:ext cx="0" cy="2991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FEABE263-02C0-1310-F677-96FE4736F4A2}"/>
              </a:ext>
            </a:extLst>
          </p:cNvPr>
          <p:cNvCxnSpPr>
            <a:cxnSpLocks/>
          </p:cNvCxnSpPr>
          <p:nvPr/>
        </p:nvCxnSpPr>
        <p:spPr>
          <a:xfrm>
            <a:off x="10387486" y="2379390"/>
            <a:ext cx="1809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6367CA4-7F1E-8047-71D4-11E0FAE2AF36}"/>
              </a:ext>
            </a:extLst>
          </p:cNvPr>
          <p:cNvCxnSpPr>
            <a:cxnSpLocks/>
          </p:cNvCxnSpPr>
          <p:nvPr/>
        </p:nvCxnSpPr>
        <p:spPr>
          <a:xfrm flipV="1">
            <a:off x="10568445" y="2087294"/>
            <a:ext cx="0" cy="2913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3BC5DFD-75A8-50D4-3D33-0857F1771960}"/>
              </a:ext>
            </a:extLst>
          </p:cNvPr>
          <p:cNvSpPr txBox="1"/>
          <p:nvPr/>
        </p:nvSpPr>
        <p:spPr>
          <a:xfrm>
            <a:off x="372415" y="4241898"/>
            <a:ext cx="1159140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lugar de construir de cero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aceptar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se la puede construir a partir de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conocida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acepta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(noción de invocación a una subrutina en programación). </a:t>
            </a:r>
          </a:p>
          <a:p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Formalmente: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/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/>
              <a:t>∈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O lo mismo: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b="1" dirty="0"/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</a:t>
            </a:r>
            <a:r>
              <a:rPr lang="es-AR" b="1" dirty="0"/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s-AR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0DAE831-522F-48FF-F6A6-99028D126467}"/>
              </a:ext>
            </a:extLst>
          </p:cNvPr>
          <p:cNvSpPr txBox="1"/>
          <p:nvPr/>
        </p:nvSpPr>
        <p:spPr>
          <a:xfrm>
            <a:off x="7394604" y="5226783"/>
            <a:ext cx="3815782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Encontrando una reducción de un lenguaje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no está en RE a un lenguaje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 prueba que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tampoco está en RE.</a:t>
            </a:r>
            <a:endParaRPr lang="es-AR" b="1" dirty="0">
              <a:solidFill>
                <a:srgbClr val="0070C0"/>
              </a:solidFill>
            </a:endParaRP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965A787-C679-C555-3D95-C3786D320E56}"/>
              </a:ext>
            </a:extLst>
          </p:cNvPr>
          <p:cNvCxnSpPr>
            <a:cxnSpLocks/>
          </p:cNvCxnSpPr>
          <p:nvPr/>
        </p:nvCxnSpPr>
        <p:spPr>
          <a:xfrm>
            <a:off x="6508937" y="6013456"/>
            <a:ext cx="7627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D2A8CEC-8678-7557-5996-D026C94EB222}"/>
              </a:ext>
            </a:extLst>
          </p:cNvPr>
          <p:cNvCxnSpPr>
            <a:cxnSpLocks/>
          </p:cNvCxnSpPr>
          <p:nvPr/>
        </p:nvCxnSpPr>
        <p:spPr>
          <a:xfrm>
            <a:off x="4133757" y="2086339"/>
            <a:ext cx="751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1C700AC-FC86-6BF3-22E8-E9DBF919BC1C}"/>
              </a:ext>
            </a:extLst>
          </p:cNvPr>
          <p:cNvCxnSpPr>
            <a:cxnSpLocks/>
          </p:cNvCxnSpPr>
          <p:nvPr/>
        </p:nvCxnSpPr>
        <p:spPr>
          <a:xfrm>
            <a:off x="4133757" y="2506403"/>
            <a:ext cx="751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20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4" grpId="0" animBg="1"/>
      <p:bldP spid="6" grpId="0"/>
      <p:bldP spid="12" grpId="0"/>
      <p:bldP spid="18" grpId="0"/>
      <p:bldP spid="25" grpId="0" animBg="1"/>
      <p:bldP spid="37" grpId="0"/>
      <p:bldP spid="42" grpId="0"/>
      <p:bldP spid="48" grpId="0" animBg="1"/>
      <p:bldP spid="52" grpId="0"/>
      <p:bldP spid="44" grpId="0"/>
      <p:bldP spid="181" grpId="0" animBg="1"/>
      <p:bldP spid="184" grpId="0"/>
      <p:bldP spid="186" grpId="0"/>
      <p:bldP spid="188" grpId="0"/>
      <p:bldP spid="14" grpId="0"/>
      <p:bldP spid="15" grpId="0" animBg="1"/>
      <p:bldP spid="17" grpId="0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257516" y="608185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0" y="731971"/>
            <a:ext cx="1219200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 = {(&lt;M&gt;, w) | M para a partir de w}   y  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{(&lt;M&gt;, w) | M acepta w}.   </a:t>
            </a:r>
          </a:p>
          <a:p>
            <a:pPr marL="288000"/>
            <a:endParaRPr lang="es-A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        Vamos a probar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HP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Idea general:</a:t>
            </a:r>
            <a:endParaRPr lang="es-MX" dirty="0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C7C897F7-9551-4C24-877E-6974D5DC69E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895ACA-80D0-8985-5AAF-FE809060D877}"/>
              </a:ext>
            </a:extLst>
          </p:cNvPr>
          <p:cNvSpPr txBox="1"/>
          <p:nvPr/>
        </p:nvSpPr>
        <p:spPr>
          <a:xfrm>
            <a:off x="276986" y="3573646"/>
            <a:ext cx="1173780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Reducción: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como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salvo que los estados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se cambian en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por estados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Computabilidad: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copia 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 pero cambiando los estados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por estados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Correctitud:</a:t>
            </a:r>
          </a:p>
          <a:p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HP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para desde w ⟶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w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HP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si (&lt;</a:t>
            </a:r>
            <a:r>
              <a:rPr lang="es-ES" u="sng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u="sng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es una cadena válida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no para desde w ⟶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no para desde w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⟶ 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si (&lt;</a:t>
            </a:r>
            <a:r>
              <a:rPr lang="es-ES" u="sng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u="sng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es una cadena válida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 tampoco es una cadena válida ⟶ (&lt;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9D8BDB-E531-70A4-B4FE-145D12A77878}"/>
              </a:ext>
            </a:extLst>
          </p:cNvPr>
          <p:cNvSpPr txBox="1"/>
          <p:nvPr/>
        </p:nvSpPr>
        <p:spPr>
          <a:xfrm>
            <a:off x="6440088" y="1933467"/>
            <a:ext cx="510752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Sabemos que: si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</a:p>
          <a:p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Así, de HP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HP 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R, probamos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769E1FC5-DD5A-D4D5-1B32-E3E7C02C4FB6}"/>
              </a:ext>
            </a:extLst>
          </p:cNvPr>
          <p:cNvSpPr/>
          <p:nvPr/>
        </p:nvSpPr>
        <p:spPr>
          <a:xfrm>
            <a:off x="1140089" y="1743450"/>
            <a:ext cx="1702251" cy="1140871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2BF50B6-FC92-F98F-E653-8A3C7155F3DE}"/>
              </a:ext>
            </a:extLst>
          </p:cNvPr>
          <p:cNvSpPr/>
          <p:nvPr/>
        </p:nvSpPr>
        <p:spPr>
          <a:xfrm>
            <a:off x="1684880" y="1742112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MX" sz="2400" b="1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4824F8CD-088A-B904-9EE5-99CD6EFFDC52}"/>
              </a:ext>
            </a:extLst>
          </p:cNvPr>
          <p:cNvSpPr/>
          <p:nvPr/>
        </p:nvSpPr>
        <p:spPr>
          <a:xfrm>
            <a:off x="4175988" y="1728689"/>
            <a:ext cx="1713131" cy="1131469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65A461D-CF2A-1BA4-B0AF-973B62E3F7BE}"/>
              </a:ext>
            </a:extLst>
          </p:cNvPr>
          <p:cNvSpPr/>
          <p:nvPr/>
        </p:nvSpPr>
        <p:spPr>
          <a:xfrm>
            <a:off x="4812773" y="1700295"/>
            <a:ext cx="5196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sz="2400" b="1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3A6CDC6-733D-FD03-E434-ECF013708763}"/>
              </a:ext>
            </a:extLst>
          </p:cNvPr>
          <p:cNvSpPr/>
          <p:nvPr/>
        </p:nvSpPr>
        <p:spPr>
          <a:xfrm>
            <a:off x="1409266" y="2387229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7121603-1C8F-E411-B027-EBE439EEB163}"/>
              </a:ext>
            </a:extLst>
          </p:cNvPr>
          <p:cNvSpPr/>
          <p:nvPr/>
        </p:nvSpPr>
        <p:spPr>
          <a:xfrm>
            <a:off x="4512369" y="2369251"/>
            <a:ext cx="12909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BB2AC3-2373-2665-B438-3A73ACF7D3E4}"/>
              </a:ext>
            </a:extLst>
          </p:cNvPr>
          <p:cNvSpPr/>
          <p:nvPr/>
        </p:nvSpPr>
        <p:spPr>
          <a:xfrm>
            <a:off x="3065671" y="2327016"/>
            <a:ext cx="886987" cy="967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68AEBC8-76CA-ACAF-C292-311A9234426F}"/>
              </a:ext>
            </a:extLst>
          </p:cNvPr>
          <p:cNvCxnSpPr>
            <a:cxnSpLocks/>
          </p:cNvCxnSpPr>
          <p:nvPr/>
        </p:nvCxnSpPr>
        <p:spPr>
          <a:xfrm>
            <a:off x="2464390" y="256008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5582D28-CAA5-0D6B-5CAD-6333317EE0E5}"/>
              </a:ext>
            </a:extLst>
          </p:cNvPr>
          <p:cNvCxnSpPr>
            <a:cxnSpLocks/>
          </p:cNvCxnSpPr>
          <p:nvPr/>
        </p:nvCxnSpPr>
        <p:spPr>
          <a:xfrm>
            <a:off x="2449393" y="306096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E7AA3F2-462B-B80A-DD2F-ABF16E839045}"/>
              </a:ext>
            </a:extLst>
          </p:cNvPr>
          <p:cNvCxnSpPr>
            <a:cxnSpLocks/>
          </p:cNvCxnSpPr>
          <p:nvPr/>
        </p:nvCxnSpPr>
        <p:spPr>
          <a:xfrm>
            <a:off x="3952658" y="2560087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7EC3236-69C6-7660-4AAC-9A1F0CB2489B}"/>
              </a:ext>
            </a:extLst>
          </p:cNvPr>
          <p:cNvCxnSpPr>
            <a:cxnSpLocks/>
          </p:cNvCxnSpPr>
          <p:nvPr/>
        </p:nvCxnSpPr>
        <p:spPr>
          <a:xfrm>
            <a:off x="3952658" y="3087435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C5D9408-E737-9C64-7D99-DEAE7DCD95DD}"/>
              </a:ext>
            </a:extLst>
          </p:cNvPr>
          <p:cNvSpPr/>
          <p:nvPr/>
        </p:nvSpPr>
        <p:spPr>
          <a:xfrm>
            <a:off x="3301025" y="2641353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7897AE6-8341-E1F4-F026-0D50E83F5DDB}"/>
              </a:ext>
            </a:extLst>
          </p:cNvPr>
          <p:cNvSpPr/>
          <p:nvPr/>
        </p:nvSpPr>
        <p:spPr>
          <a:xfrm>
            <a:off x="1409266" y="2871086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376ACAB-435E-1EEE-E361-EDAC88687FDD}"/>
              </a:ext>
            </a:extLst>
          </p:cNvPr>
          <p:cNvSpPr/>
          <p:nvPr/>
        </p:nvSpPr>
        <p:spPr>
          <a:xfrm>
            <a:off x="4512369" y="2881717"/>
            <a:ext cx="12909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D14ED2-C7E1-90D5-5B47-2484567AE120}"/>
              </a:ext>
            </a:extLst>
          </p:cNvPr>
          <p:cNvSpPr/>
          <p:nvPr/>
        </p:nvSpPr>
        <p:spPr>
          <a:xfrm>
            <a:off x="276986" y="134548"/>
            <a:ext cx="11638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Ejemplo 1</a:t>
            </a:r>
          </a:p>
        </p:txBody>
      </p:sp>
    </p:spTree>
    <p:extLst>
      <p:ext uri="{BB962C8B-B14F-4D97-AF65-F5344CB8AC3E}">
        <p14:creationId xmlns:p14="http://schemas.microsoft.com/office/powerpoint/2010/main" val="39885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0" y="645098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{&lt;M&gt; | L(M) = Ʃ*}   y  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{(&lt;M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&gt;, &lt;M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&gt;) |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)}.</a:t>
            </a:r>
          </a:p>
          <a:p>
            <a:pPr marL="288000"/>
            <a:endParaRPr lang="es-A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        Vamos a probar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Idea general (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información: se prueba que L</a:t>
            </a:r>
            <a:r>
              <a:rPr lang="es-AR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Reducción: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&lt;T&gt; es una MT que acepta el lenguaje Ʃ*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(¿cómo sería la MT T?)</a:t>
            </a:r>
          </a:p>
          <a:p>
            <a:pPr marL="288000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Computabilidad: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copia &lt;M&gt; y le concatena &lt;T&gt;.</a:t>
            </a:r>
          </a:p>
          <a:p>
            <a:pPr marL="288000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Correctitud:	</a:t>
            </a:r>
          </a:p>
          <a:p>
            <a:pPr marL="288000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025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&lt;M&gt;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L(M) = Ʃ* ⟶ L(M) = L(T) ⟶ (&lt;M&gt;, &lt;T&gt;)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9025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&lt;M&gt; 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si &lt;M&gt; es una cadena válida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9025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L(M)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≠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Ʃ* ⟶ L(M)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≠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L(T) ⟶ (&lt;M&gt;, &lt;T&gt;)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       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si &lt;M&gt; no es una cadena válida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800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(&lt;M&gt;, &lt;T&gt;)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tampoco es una cadena válida ⟶ (&lt;M&gt;, &lt;T&gt;)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D440A073-A8DA-4AAD-843D-F7DF71FD44A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25AAFE-4C47-CC42-F728-961E3AE80687}"/>
              </a:ext>
            </a:extLst>
          </p:cNvPr>
          <p:cNvSpPr txBox="1"/>
          <p:nvPr/>
        </p:nvSpPr>
        <p:spPr>
          <a:xfrm>
            <a:off x="6471680" y="1974714"/>
            <a:ext cx="541683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Sabemos que: Si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 </a:t>
            </a:r>
          </a:p>
          <a:p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Así, de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RE, probamos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E4A030E4-4FAF-D053-7CA6-265BCF41F4C1}"/>
              </a:ext>
            </a:extLst>
          </p:cNvPr>
          <p:cNvSpPr/>
          <p:nvPr/>
        </p:nvSpPr>
        <p:spPr>
          <a:xfrm>
            <a:off x="1147876" y="1703577"/>
            <a:ext cx="1656471" cy="1140871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35ABF8-F08F-5C95-879B-F4B9B5CDE4E6}"/>
              </a:ext>
            </a:extLst>
          </p:cNvPr>
          <p:cNvSpPr/>
          <p:nvPr/>
        </p:nvSpPr>
        <p:spPr>
          <a:xfrm>
            <a:off x="1699661" y="1761266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MX" sz="2400" b="1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0262FA19-5A0E-1267-C3E3-CBC83FD7DA5E}"/>
              </a:ext>
            </a:extLst>
          </p:cNvPr>
          <p:cNvSpPr/>
          <p:nvPr/>
        </p:nvSpPr>
        <p:spPr>
          <a:xfrm>
            <a:off x="4455063" y="1712979"/>
            <a:ext cx="1713131" cy="1131469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0A910A-A451-EBC3-937E-A9B983CCF6CD}"/>
              </a:ext>
            </a:extLst>
          </p:cNvPr>
          <p:cNvSpPr/>
          <p:nvPr/>
        </p:nvSpPr>
        <p:spPr>
          <a:xfrm>
            <a:off x="4985256" y="1766632"/>
            <a:ext cx="6687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endParaRPr lang="es-MX" sz="24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5BE382-7FD5-5D2D-C04B-C6A2651693B2}"/>
              </a:ext>
            </a:extLst>
          </p:cNvPr>
          <p:cNvSpPr/>
          <p:nvPr/>
        </p:nvSpPr>
        <p:spPr>
          <a:xfrm>
            <a:off x="1662041" y="2367328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M&gt;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D44249-3DDE-1D6E-7362-8D69498CC044}"/>
              </a:ext>
            </a:extLst>
          </p:cNvPr>
          <p:cNvSpPr/>
          <p:nvPr/>
        </p:nvSpPr>
        <p:spPr>
          <a:xfrm>
            <a:off x="4791444" y="2353541"/>
            <a:ext cx="15857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&gt;,&lt;T&gt;)</a:t>
            </a:r>
            <a:endParaRPr lang="es-MX" sz="16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F92785-7556-9B84-F66D-BC969F2E7A0E}"/>
              </a:ext>
            </a:extLst>
          </p:cNvPr>
          <p:cNvSpPr/>
          <p:nvPr/>
        </p:nvSpPr>
        <p:spPr>
          <a:xfrm>
            <a:off x="3178105" y="2267785"/>
            <a:ext cx="886987" cy="967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FE07D40-E11C-71C7-7F3C-90FDD0F5F001}"/>
              </a:ext>
            </a:extLst>
          </p:cNvPr>
          <p:cNvCxnSpPr>
            <a:cxnSpLocks/>
          </p:cNvCxnSpPr>
          <p:nvPr/>
        </p:nvCxnSpPr>
        <p:spPr>
          <a:xfrm>
            <a:off x="2250609" y="2531485"/>
            <a:ext cx="9447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D9B177F-CEFD-69F6-80F9-19BD03B4CA09}"/>
              </a:ext>
            </a:extLst>
          </p:cNvPr>
          <p:cNvSpPr/>
          <p:nvPr/>
        </p:nvSpPr>
        <p:spPr>
          <a:xfrm>
            <a:off x="3432999" y="2549436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4636D6B-D82A-73F1-F8A8-AB14244EB1C5}"/>
              </a:ext>
            </a:extLst>
          </p:cNvPr>
          <p:cNvSpPr/>
          <p:nvPr/>
        </p:nvSpPr>
        <p:spPr>
          <a:xfrm>
            <a:off x="1677124" y="2855079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72D2463-4FB5-7A1A-F345-F88DAC873C76}"/>
              </a:ext>
            </a:extLst>
          </p:cNvPr>
          <p:cNvSpPr/>
          <p:nvPr/>
        </p:nvSpPr>
        <p:spPr>
          <a:xfrm>
            <a:off x="4791444" y="2866007"/>
            <a:ext cx="12909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&gt;,&lt;T&gt;)</a:t>
            </a:r>
            <a:endParaRPr lang="es-MX" sz="16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7116D4F7-2DBA-3039-0F19-7DA8852050C2}"/>
              </a:ext>
            </a:extLst>
          </p:cNvPr>
          <p:cNvCxnSpPr>
            <a:cxnSpLocks/>
          </p:cNvCxnSpPr>
          <p:nvPr/>
        </p:nvCxnSpPr>
        <p:spPr>
          <a:xfrm>
            <a:off x="2233341" y="3024356"/>
            <a:ext cx="9447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B8A3A47-2D4A-AD47-55B9-09692AFC99D1}"/>
              </a:ext>
            </a:extLst>
          </p:cNvPr>
          <p:cNvCxnSpPr>
            <a:cxnSpLocks/>
          </p:cNvCxnSpPr>
          <p:nvPr/>
        </p:nvCxnSpPr>
        <p:spPr>
          <a:xfrm flipV="1">
            <a:off x="4065092" y="2531485"/>
            <a:ext cx="726352" cy="1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6282E712-3C2B-7A83-5F90-0BDFD896EB36}"/>
              </a:ext>
            </a:extLst>
          </p:cNvPr>
          <p:cNvSpPr/>
          <p:nvPr/>
        </p:nvSpPr>
        <p:spPr>
          <a:xfrm>
            <a:off x="276986" y="134548"/>
            <a:ext cx="11638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Ejemplo 2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DAA736C-31F8-0B5D-1903-B3D4435E4B4F}"/>
              </a:ext>
            </a:extLst>
          </p:cNvPr>
          <p:cNvCxnSpPr>
            <a:cxnSpLocks/>
          </p:cNvCxnSpPr>
          <p:nvPr/>
        </p:nvCxnSpPr>
        <p:spPr>
          <a:xfrm flipV="1">
            <a:off x="4065092" y="3022392"/>
            <a:ext cx="726352" cy="1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43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67174" y="1081902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07768" y="763254"/>
            <a:ext cx="117192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Reflexividad.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Para todo lenguaje L se cumple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L. </a:t>
            </a:r>
          </a:p>
          <a:p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reducción es la función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identidad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A4BB739-94C6-41CF-ADB2-D0A6DE23BBE5}"/>
              </a:ext>
            </a:extLst>
          </p:cNvPr>
          <p:cNvSpPr/>
          <p:nvPr/>
        </p:nvSpPr>
        <p:spPr>
          <a:xfrm>
            <a:off x="2504857" y="3973358"/>
            <a:ext cx="69657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reducción es la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las dos reducciones.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A9D4754-C864-424C-88EA-784F51786613}"/>
              </a:ext>
            </a:extLst>
          </p:cNvPr>
          <p:cNvSpPr/>
          <p:nvPr/>
        </p:nvSpPr>
        <p:spPr>
          <a:xfrm>
            <a:off x="325628" y="4725687"/>
            <a:ext cx="98494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Otra propiedad: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La reducción es la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2DE66B5E-FDAC-474C-AA9F-DF8D10FCF96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154EA6-2EE8-4D4A-A898-15C84812E735}"/>
              </a:ext>
            </a:extLst>
          </p:cNvPr>
          <p:cNvSpPr/>
          <p:nvPr/>
        </p:nvSpPr>
        <p:spPr>
          <a:xfrm>
            <a:off x="8686673" y="5415277"/>
            <a:ext cx="2976795" cy="769441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se cumple la simetría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 implica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7E955F-1419-F6B6-1FF7-5EEC3C53EEE8}"/>
              </a:ext>
            </a:extLst>
          </p:cNvPr>
          <p:cNvSpPr/>
          <p:nvPr/>
        </p:nvSpPr>
        <p:spPr>
          <a:xfrm>
            <a:off x="249172" y="143605"/>
            <a:ext cx="11647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Algunas propiedades de las reducciones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0E7E63-CF84-7BFE-EB24-0784CEB6BB3A}"/>
              </a:ext>
            </a:extLst>
          </p:cNvPr>
          <p:cNvSpPr txBox="1"/>
          <p:nvPr/>
        </p:nvSpPr>
        <p:spPr>
          <a:xfrm>
            <a:off x="283619" y="2014819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Transitividad.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2FEC0FF-EFE5-3603-DE53-7519A96E616D}"/>
              </a:ext>
            </a:extLst>
          </p:cNvPr>
          <p:cNvSpPr/>
          <p:nvPr/>
        </p:nvSpPr>
        <p:spPr>
          <a:xfrm>
            <a:off x="8728869" y="530622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43C0AC7-5905-51F4-E739-0CB6DB6CE5F6}"/>
              </a:ext>
            </a:extLst>
          </p:cNvPr>
          <p:cNvSpPr/>
          <p:nvPr/>
        </p:nvSpPr>
        <p:spPr>
          <a:xfrm>
            <a:off x="7036463" y="900621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F001DB66-7F0D-FAB3-B6FD-FDAB82AAF154}"/>
              </a:ext>
            </a:extLst>
          </p:cNvPr>
          <p:cNvSpPr/>
          <p:nvPr/>
        </p:nvSpPr>
        <p:spPr>
          <a:xfrm>
            <a:off x="6686784" y="344521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345279A-1558-64D8-BDF3-9F7E4CB8C21B}"/>
              </a:ext>
            </a:extLst>
          </p:cNvPr>
          <p:cNvSpPr/>
          <p:nvPr/>
        </p:nvSpPr>
        <p:spPr>
          <a:xfrm>
            <a:off x="8700196" y="897438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EA8F463A-B552-8A61-633A-61A9C002BB7E}"/>
              </a:ext>
            </a:extLst>
          </p:cNvPr>
          <p:cNvSpPr/>
          <p:nvPr/>
        </p:nvSpPr>
        <p:spPr>
          <a:xfrm>
            <a:off x="8350517" y="341338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24FAA96-14A2-5A53-F0BE-8EF8673B4937}"/>
              </a:ext>
            </a:extLst>
          </p:cNvPr>
          <p:cNvCxnSpPr>
            <a:cxnSpLocks/>
          </p:cNvCxnSpPr>
          <p:nvPr/>
        </p:nvCxnSpPr>
        <p:spPr>
          <a:xfrm>
            <a:off x="7482775" y="1119467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38BC7AD-8A01-5D39-0A2D-5CB198019C28}"/>
              </a:ext>
            </a:extLst>
          </p:cNvPr>
          <p:cNvSpPr/>
          <p:nvPr/>
        </p:nvSpPr>
        <p:spPr>
          <a:xfrm>
            <a:off x="7107004" y="348934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91F3BD9-7858-7528-E7A2-C33238F0EC35}"/>
              </a:ext>
            </a:extLst>
          </p:cNvPr>
          <p:cNvSpPr/>
          <p:nvPr/>
        </p:nvSpPr>
        <p:spPr>
          <a:xfrm>
            <a:off x="8779988" y="340870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A65C22E-7783-3BD9-5224-BC6137B5A567}"/>
              </a:ext>
            </a:extLst>
          </p:cNvPr>
          <p:cNvSpPr/>
          <p:nvPr/>
        </p:nvSpPr>
        <p:spPr>
          <a:xfrm>
            <a:off x="7132915" y="945221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8EE8EC9-213A-F8BD-C759-0C4231E659E6}"/>
              </a:ext>
            </a:extLst>
          </p:cNvPr>
          <p:cNvSpPr/>
          <p:nvPr/>
        </p:nvSpPr>
        <p:spPr>
          <a:xfrm>
            <a:off x="8789106" y="955256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06BEB5B6-BBF6-3AAF-FFBC-7DCD5F881B6F}"/>
              </a:ext>
            </a:extLst>
          </p:cNvPr>
          <p:cNvSpPr txBox="1"/>
          <p:nvPr/>
        </p:nvSpPr>
        <p:spPr>
          <a:xfrm>
            <a:off x="3979897" y="5616439"/>
            <a:ext cx="1177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304B81F-DCE5-DA52-0715-AD4238EF2C71}"/>
              </a:ext>
            </a:extLst>
          </p:cNvPr>
          <p:cNvCxnSpPr>
            <a:cxnSpLocks/>
          </p:cNvCxnSpPr>
          <p:nvPr/>
        </p:nvCxnSpPr>
        <p:spPr>
          <a:xfrm>
            <a:off x="7499793" y="1805596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276654-D700-749E-6384-3264E980D8DA}"/>
              </a:ext>
            </a:extLst>
          </p:cNvPr>
          <p:cNvSpPr/>
          <p:nvPr/>
        </p:nvSpPr>
        <p:spPr>
          <a:xfrm>
            <a:off x="2773510" y="2637587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A7CF450-E773-DF3C-7FF6-805443AA9F68}"/>
              </a:ext>
            </a:extLst>
          </p:cNvPr>
          <p:cNvSpPr/>
          <p:nvPr/>
        </p:nvSpPr>
        <p:spPr>
          <a:xfrm>
            <a:off x="1081104" y="3007586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644AA315-F5D6-A53C-3E10-C6D80A26B2B1}"/>
              </a:ext>
            </a:extLst>
          </p:cNvPr>
          <p:cNvSpPr/>
          <p:nvPr/>
        </p:nvSpPr>
        <p:spPr>
          <a:xfrm>
            <a:off x="731425" y="2451486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671C601-6704-D07C-075E-DA78C24C4F21}"/>
              </a:ext>
            </a:extLst>
          </p:cNvPr>
          <p:cNvSpPr/>
          <p:nvPr/>
        </p:nvSpPr>
        <p:spPr>
          <a:xfrm>
            <a:off x="2744837" y="3004403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76" name="Diagrama de flujo: conector 75">
            <a:extLst>
              <a:ext uri="{FF2B5EF4-FFF2-40B4-BE49-F238E27FC236}">
                <a16:creationId xmlns:a16="http://schemas.microsoft.com/office/drawing/2014/main" id="{748A71DC-C259-1C8D-23B6-FBF4E9EA8E97}"/>
              </a:ext>
            </a:extLst>
          </p:cNvPr>
          <p:cNvSpPr/>
          <p:nvPr/>
        </p:nvSpPr>
        <p:spPr>
          <a:xfrm>
            <a:off x="2395158" y="2448303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30FB3164-2502-7F53-8123-BEE8B553A057}"/>
              </a:ext>
            </a:extLst>
          </p:cNvPr>
          <p:cNvCxnSpPr>
            <a:cxnSpLocks/>
          </p:cNvCxnSpPr>
          <p:nvPr/>
        </p:nvCxnSpPr>
        <p:spPr>
          <a:xfrm>
            <a:off x="1527416" y="3226432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7D348DA7-2230-4C84-A71C-1F3C0CB6C11F}"/>
              </a:ext>
            </a:extLst>
          </p:cNvPr>
          <p:cNvSpPr/>
          <p:nvPr/>
        </p:nvSpPr>
        <p:spPr>
          <a:xfrm>
            <a:off x="1151645" y="2455899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73697DCB-0A2F-0434-2E84-04448B686F80}"/>
              </a:ext>
            </a:extLst>
          </p:cNvPr>
          <p:cNvSpPr/>
          <p:nvPr/>
        </p:nvSpPr>
        <p:spPr>
          <a:xfrm>
            <a:off x="2824629" y="2447835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D1E444E8-FB2A-6E3C-1518-05DE8FC77D70}"/>
              </a:ext>
            </a:extLst>
          </p:cNvPr>
          <p:cNvSpPr/>
          <p:nvPr/>
        </p:nvSpPr>
        <p:spPr>
          <a:xfrm>
            <a:off x="1177556" y="3052186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BD05EC78-F85F-4E9B-48CA-745F3C2163BB}"/>
              </a:ext>
            </a:extLst>
          </p:cNvPr>
          <p:cNvSpPr/>
          <p:nvPr/>
        </p:nvSpPr>
        <p:spPr>
          <a:xfrm>
            <a:off x="2826641" y="3042219"/>
            <a:ext cx="5145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F080E6C8-D221-B63A-71BC-6A562AB51B68}"/>
              </a:ext>
            </a:extLst>
          </p:cNvPr>
          <p:cNvSpPr/>
          <p:nvPr/>
        </p:nvSpPr>
        <p:spPr>
          <a:xfrm>
            <a:off x="6167394" y="2607222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C630FCB0-68FC-3530-A965-6C9103DBBBAF}"/>
              </a:ext>
            </a:extLst>
          </p:cNvPr>
          <p:cNvSpPr/>
          <p:nvPr/>
        </p:nvSpPr>
        <p:spPr>
          <a:xfrm>
            <a:off x="4474988" y="2977221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03" name="Diagrama de flujo: conector 102">
            <a:extLst>
              <a:ext uri="{FF2B5EF4-FFF2-40B4-BE49-F238E27FC236}">
                <a16:creationId xmlns:a16="http://schemas.microsoft.com/office/drawing/2014/main" id="{F01D187D-8F82-013E-2DD8-79588E005D1D}"/>
              </a:ext>
            </a:extLst>
          </p:cNvPr>
          <p:cNvSpPr/>
          <p:nvPr/>
        </p:nvSpPr>
        <p:spPr>
          <a:xfrm>
            <a:off x="4125309" y="2421121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4287E73D-3332-FEA2-374E-B67896414E15}"/>
              </a:ext>
            </a:extLst>
          </p:cNvPr>
          <p:cNvSpPr/>
          <p:nvPr/>
        </p:nvSpPr>
        <p:spPr>
          <a:xfrm>
            <a:off x="6138721" y="2974038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05" name="Diagrama de flujo: conector 104">
            <a:extLst>
              <a:ext uri="{FF2B5EF4-FFF2-40B4-BE49-F238E27FC236}">
                <a16:creationId xmlns:a16="http://schemas.microsoft.com/office/drawing/2014/main" id="{CB1186CF-D9CD-EF52-AE65-7A93152EDA59}"/>
              </a:ext>
            </a:extLst>
          </p:cNvPr>
          <p:cNvSpPr/>
          <p:nvPr/>
        </p:nvSpPr>
        <p:spPr>
          <a:xfrm>
            <a:off x="5789042" y="2417938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AEE5B259-8577-6081-C855-5AC7E0EA3A9A}"/>
              </a:ext>
            </a:extLst>
          </p:cNvPr>
          <p:cNvSpPr/>
          <p:nvPr/>
        </p:nvSpPr>
        <p:spPr>
          <a:xfrm>
            <a:off x="4545529" y="2425534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974BDAD4-D905-EE6D-B72D-7BBD1C4B88A2}"/>
              </a:ext>
            </a:extLst>
          </p:cNvPr>
          <p:cNvSpPr/>
          <p:nvPr/>
        </p:nvSpPr>
        <p:spPr>
          <a:xfrm>
            <a:off x="6218513" y="2417470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F3770EF6-6808-4812-67B7-76E248DA9FFE}"/>
              </a:ext>
            </a:extLst>
          </p:cNvPr>
          <p:cNvSpPr/>
          <p:nvPr/>
        </p:nvSpPr>
        <p:spPr>
          <a:xfrm>
            <a:off x="4574452" y="3020037"/>
            <a:ext cx="4931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B8411BD3-4373-1E77-3E32-B4A391519C9F}"/>
              </a:ext>
            </a:extLst>
          </p:cNvPr>
          <p:cNvSpPr/>
          <p:nvPr/>
        </p:nvSpPr>
        <p:spPr>
          <a:xfrm>
            <a:off x="6278291" y="3021562"/>
            <a:ext cx="5883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w´´</a:t>
            </a:r>
            <a:endParaRPr lang="es-AR" sz="1400" dirty="0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1A4815BF-EB62-F109-F7B8-3B46336507B4}"/>
              </a:ext>
            </a:extLst>
          </p:cNvPr>
          <p:cNvSpPr/>
          <p:nvPr/>
        </p:nvSpPr>
        <p:spPr>
          <a:xfrm>
            <a:off x="10765814" y="2707464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9183B9B4-9AFD-EF95-8BDF-3817F8B3B4DC}"/>
              </a:ext>
            </a:extLst>
          </p:cNvPr>
          <p:cNvSpPr/>
          <p:nvPr/>
        </p:nvSpPr>
        <p:spPr>
          <a:xfrm>
            <a:off x="8490230" y="3045069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29" name="Diagrama de flujo: conector 128">
            <a:extLst>
              <a:ext uri="{FF2B5EF4-FFF2-40B4-BE49-F238E27FC236}">
                <a16:creationId xmlns:a16="http://schemas.microsoft.com/office/drawing/2014/main" id="{B445D2D1-B505-4869-DDF3-CD862972A465}"/>
              </a:ext>
            </a:extLst>
          </p:cNvPr>
          <p:cNvSpPr/>
          <p:nvPr/>
        </p:nvSpPr>
        <p:spPr>
          <a:xfrm>
            <a:off x="8140551" y="2488969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D523C349-5893-77F0-97BF-F526000355AB}"/>
              </a:ext>
            </a:extLst>
          </p:cNvPr>
          <p:cNvSpPr/>
          <p:nvPr/>
        </p:nvSpPr>
        <p:spPr>
          <a:xfrm>
            <a:off x="10737141" y="3074280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31" name="Diagrama de flujo: conector 130">
            <a:extLst>
              <a:ext uri="{FF2B5EF4-FFF2-40B4-BE49-F238E27FC236}">
                <a16:creationId xmlns:a16="http://schemas.microsoft.com/office/drawing/2014/main" id="{C25961DA-9952-3F54-5B37-98ACE2883698}"/>
              </a:ext>
            </a:extLst>
          </p:cNvPr>
          <p:cNvSpPr/>
          <p:nvPr/>
        </p:nvSpPr>
        <p:spPr>
          <a:xfrm>
            <a:off x="10387462" y="2518180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2" name="Conector recto de flecha 131">
            <a:extLst>
              <a:ext uri="{FF2B5EF4-FFF2-40B4-BE49-F238E27FC236}">
                <a16:creationId xmlns:a16="http://schemas.microsoft.com/office/drawing/2014/main" id="{687351DE-6014-6AB4-C11D-AB63AB3DCC7D}"/>
              </a:ext>
            </a:extLst>
          </p:cNvPr>
          <p:cNvCxnSpPr>
            <a:cxnSpLocks/>
          </p:cNvCxnSpPr>
          <p:nvPr/>
        </p:nvCxnSpPr>
        <p:spPr>
          <a:xfrm flipV="1">
            <a:off x="8880693" y="3239894"/>
            <a:ext cx="1936240" cy="240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582E171F-5AB3-013A-24F4-C9F142217C3B}"/>
              </a:ext>
            </a:extLst>
          </p:cNvPr>
          <p:cNvSpPr/>
          <p:nvPr/>
        </p:nvSpPr>
        <p:spPr>
          <a:xfrm>
            <a:off x="8560771" y="2493382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FDDA22EA-195D-6DBC-1B75-F538CB5AFDA0}"/>
              </a:ext>
            </a:extLst>
          </p:cNvPr>
          <p:cNvSpPr/>
          <p:nvPr/>
        </p:nvSpPr>
        <p:spPr>
          <a:xfrm>
            <a:off x="10816933" y="2517712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B3616887-A4FC-2291-ECEA-DD5D66616923}"/>
              </a:ext>
            </a:extLst>
          </p:cNvPr>
          <p:cNvSpPr/>
          <p:nvPr/>
        </p:nvSpPr>
        <p:spPr>
          <a:xfrm>
            <a:off x="8586682" y="3089669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5BC440A4-3A50-8F8C-F52B-06FF98FBA3F5}"/>
              </a:ext>
            </a:extLst>
          </p:cNvPr>
          <p:cNvSpPr txBox="1"/>
          <p:nvPr/>
        </p:nvSpPr>
        <p:spPr>
          <a:xfrm>
            <a:off x="3693367" y="2990631"/>
            <a:ext cx="394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D4168A6B-5276-823E-B054-89686A5A88EF}"/>
              </a:ext>
            </a:extLst>
          </p:cNvPr>
          <p:cNvSpPr txBox="1"/>
          <p:nvPr/>
        </p:nvSpPr>
        <p:spPr>
          <a:xfrm>
            <a:off x="7069237" y="2939849"/>
            <a:ext cx="1177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</a:p>
        </p:txBody>
      </p:sp>
      <p:sp>
        <p:nvSpPr>
          <p:cNvPr id="161" name="Rectángulo 160">
            <a:extLst>
              <a:ext uri="{FF2B5EF4-FFF2-40B4-BE49-F238E27FC236}">
                <a16:creationId xmlns:a16="http://schemas.microsoft.com/office/drawing/2014/main" id="{29D4FBB4-B307-CFE0-68EA-0D766F023BBE}"/>
              </a:ext>
            </a:extLst>
          </p:cNvPr>
          <p:cNvSpPr/>
          <p:nvPr/>
        </p:nvSpPr>
        <p:spPr>
          <a:xfrm>
            <a:off x="2763689" y="5315110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A7DC1C80-C8A5-9382-7418-DE3693C5F064}"/>
              </a:ext>
            </a:extLst>
          </p:cNvPr>
          <p:cNvSpPr/>
          <p:nvPr/>
        </p:nvSpPr>
        <p:spPr>
          <a:xfrm>
            <a:off x="1071283" y="5685109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63" name="Diagrama de flujo: conector 162">
            <a:extLst>
              <a:ext uri="{FF2B5EF4-FFF2-40B4-BE49-F238E27FC236}">
                <a16:creationId xmlns:a16="http://schemas.microsoft.com/office/drawing/2014/main" id="{8FBB3DB1-B6BA-C2FA-62B7-5E5FE3E1C744}"/>
              </a:ext>
            </a:extLst>
          </p:cNvPr>
          <p:cNvSpPr/>
          <p:nvPr/>
        </p:nvSpPr>
        <p:spPr>
          <a:xfrm>
            <a:off x="721604" y="5129009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4" name="Rectángulo 163">
            <a:extLst>
              <a:ext uri="{FF2B5EF4-FFF2-40B4-BE49-F238E27FC236}">
                <a16:creationId xmlns:a16="http://schemas.microsoft.com/office/drawing/2014/main" id="{9C8A7A5A-8B8E-9E7E-7152-ECC47E75B034}"/>
              </a:ext>
            </a:extLst>
          </p:cNvPr>
          <p:cNvSpPr/>
          <p:nvPr/>
        </p:nvSpPr>
        <p:spPr>
          <a:xfrm>
            <a:off x="2735016" y="5681926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65" name="Diagrama de flujo: conector 164">
            <a:extLst>
              <a:ext uri="{FF2B5EF4-FFF2-40B4-BE49-F238E27FC236}">
                <a16:creationId xmlns:a16="http://schemas.microsoft.com/office/drawing/2014/main" id="{C4CEB946-FB3A-2537-6783-2D602FC8D629}"/>
              </a:ext>
            </a:extLst>
          </p:cNvPr>
          <p:cNvSpPr/>
          <p:nvPr/>
        </p:nvSpPr>
        <p:spPr>
          <a:xfrm>
            <a:off x="2385337" y="5125826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7" name="Rectángulo 166">
            <a:extLst>
              <a:ext uri="{FF2B5EF4-FFF2-40B4-BE49-F238E27FC236}">
                <a16:creationId xmlns:a16="http://schemas.microsoft.com/office/drawing/2014/main" id="{4BD67788-0206-44A4-9B5F-C864F387ACB4}"/>
              </a:ext>
            </a:extLst>
          </p:cNvPr>
          <p:cNvSpPr/>
          <p:nvPr/>
        </p:nvSpPr>
        <p:spPr>
          <a:xfrm>
            <a:off x="1141824" y="5133422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68" name="Rectángulo 167">
            <a:extLst>
              <a:ext uri="{FF2B5EF4-FFF2-40B4-BE49-F238E27FC236}">
                <a16:creationId xmlns:a16="http://schemas.microsoft.com/office/drawing/2014/main" id="{B1FE7404-3FC2-06D6-86B4-EF7AD3794721}"/>
              </a:ext>
            </a:extLst>
          </p:cNvPr>
          <p:cNvSpPr/>
          <p:nvPr/>
        </p:nvSpPr>
        <p:spPr>
          <a:xfrm>
            <a:off x="2814808" y="5125358"/>
            <a:ext cx="468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B4080FD5-5212-0AD6-2998-0CDBBE7ACEE3}"/>
              </a:ext>
            </a:extLst>
          </p:cNvPr>
          <p:cNvSpPr/>
          <p:nvPr/>
        </p:nvSpPr>
        <p:spPr>
          <a:xfrm>
            <a:off x="6839812" y="5287786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50ABA0AA-7EBF-476A-E4F6-2A95D22784EA}"/>
              </a:ext>
            </a:extLst>
          </p:cNvPr>
          <p:cNvSpPr/>
          <p:nvPr/>
        </p:nvSpPr>
        <p:spPr>
          <a:xfrm>
            <a:off x="5079277" y="5583911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200" name="Diagrama de flujo: conector 199">
            <a:extLst>
              <a:ext uri="{FF2B5EF4-FFF2-40B4-BE49-F238E27FC236}">
                <a16:creationId xmlns:a16="http://schemas.microsoft.com/office/drawing/2014/main" id="{589BBB00-B31E-0B06-3FAE-0AAA2908AD5D}"/>
              </a:ext>
            </a:extLst>
          </p:cNvPr>
          <p:cNvSpPr/>
          <p:nvPr/>
        </p:nvSpPr>
        <p:spPr>
          <a:xfrm>
            <a:off x="4797727" y="5101685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DE997B90-E0F5-5712-F1E1-CE82499F643E}"/>
              </a:ext>
            </a:extLst>
          </p:cNvPr>
          <p:cNvSpPr/>
          <p:nvPr/>
        </p:nvSpPr>
        <p:spPr>
          <a:xfrm>
            <a:off x="6743010" y="5580728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202" name="Diagrama de flujo: conector 201">
            <a:extLst>
              <a:ext uri="{FF2B5EF4-FFF2-40B4-BE49-F238E27FC236}">
                <a16:creationId xmlns:a16="http://schemas.microsoft.com/office/drawing/2014/main" id="{8BEBF2B0-F75E-E624-0AC9-B40D10B2900A}"/>
              </a:ext>
            </a:extLst>
          </p:cNvPr>
          <p:cNvSpPr/>
          <p:nvPr/>
        </p:nvSpPr>
        <p:spPr>
          <a:xfrm>
            <a:off x="6461460" y="5098502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8" name="Rectángulo 227">
            <a:extLst>
              <a:ext uri="{FF2B5EF4-FFF2-40B4-BE49-F238E27FC236}">
                <a16:creationId xmlns:a16="http://schemas.microsoft.com/office/drawing/2014/main" id="{3EA265D3-0652-2617-CC65-883BC65DF902}"/>
              </a:ext>
            </a:extLst>
          </p:cNvPr>
          <p:cNvSpPr/>
          <p:nvPr/>
        </p:nvSpPr>
        <p:spPr>
          <a:xfrm>
            <a:off x="5120687" y="5154923"/>
            <a:ext cx="636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dirty="0"/>
          </a:p>
        </p:txBody>
      </p:sp>
      <p:sp>
        <p:nvSpPr>
          <p:cNvPr id="229" name="Rectángulo 228">
            <a:extLst>
              <a:ext uri="{FF2B5EF4-FFF2-40B4-BE49-F238E27FC236}">
                <a16:creationId xmlns:a16="http://schemas.microsoft.com/office/drawing/2014/main" id="{8B774F99-3B4F-8B87-3685-1927E21ADBF2}"/>
              </a:ext>
            </a:extLst>
          </p:cNvPr>
          <p:cNvSpPr/>
          <p:nvPr/>
        </p:nvSpPr>
        <p:spPr>
          <a:xfrm>
            <a:off x="6811139" y="5113883"/>
            <a:ext cx="636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35E96E5-7F27-6F8D-4759-480658ED0F44}"/>
              </a:ext>
            </a:extLst>
          </p:cNvPr>
          <p:cNvSpPr/>
          <p:nvPr/>
        </p:nvSpPr>
        <p:spPr>
          <a:xfrm>
            <a:off x="7836996" y="1213906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D694E60-B49D-5DCC-5379-12C033D0BA56}"/>
              </a:ext>
            </a:extLst>
          </p:cNvPr>
          <p:cNvSpPr/>
          <p:nvPr/>
        </p:nvSpPr>
        <p:spPr>
          <a:xfrm>
            <a:off x="7898151" y="1288749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9BA392-3466-981C-FCC7-A18CBBBBF69A}"/>
              </a:ext>
            </a:extLst>
          </p:cNvPr>
          <p:cNvSpPr/>
          <p:nvPr/>
        </p:nvSpPr>
        <p:spPr>
          <a:xfrm>
            <a:off x="7163127" y="1618541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23109C-E305-C3D5-0925-0D98EC379303}"/>
              </a:ext>
            </a:extLst>
          </p:cNvPr>
          <p:cNvSpPr/>
          <p:nvPr/>
        </p:nvSpPr>
        <p:spPr>
          <a:xfrm>
            <a:off x="8817209" y="1642313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E56FD7A-2147-F1E3-983C-344FC0BCC9E5}"/>
              </a:ext>
            </a:extLst>
          </p:cNvPr>
          <p:cNvSpPr/>
          <p:nvPr/>
        </p:nvSpPr>
        <p:spPr>
          <a:xfrm>
            <a:off x="9297674" y="3389868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8E6C8C1-7AA1-5AF8-4856-7DF6D9FDAAAF}"/>
              </a:ext>
            </a:extLst>
          </p:cNvPr>
          <p:cNvSpPr/>
          <p:nvPr/>
        </p:nvSpPr>
        <p:spPr>
          <a:xfrm>
            <a:off x="9358829" y="3464711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87FD3F7-A94B-939F-137A-D680141ABCE7}"/>
              </a:ext>
            </a:extLst>
          </p:cNvPr>
          <p:cNvSpPr/>
          <p:nvPr/>
        </p:nvSpPr>
        <p:spPr>
          <a:xfrm>
            <a:off x="9867608" y="3388537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6ED0FDC-BC82-B15F-8FA1-3A87A8D3CA34}"/>
              </a:ext>
            </a:extLst>
          </p:cNvPr>
          <p:cNvSpPr/>
          <p:nvPr/>
        </p:nvSpPr>
        <p:spPr>
          <a:xfrm>
            <a:off x="9928763" y="3463380"/>
            <a:ext cx="4892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D240D7A-21F5-ECF7-7900-D0752B7A07CE}"/>
              </a:ext>
            </a:extLst>
          </p:cNvPr>
          <p:cNvSpPr/>
          <p:nvPr/>
        </p:nvSpPr>
        <p:spPr>
          <a:xfrm>
            <a:off x="5277857" y="3304377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751D90F-A726-DAC2-DABC-319D07794CC0}"/>
              </a:ext>
            </a:extLst>
          </p:cNvPr>
          <p:cNvSpPr/>
          <p:nvPr/>
        </p:nvSpPr>
        <p:spPr>
          <a:xfrm>
            <a:off x="5339012" y="3379220"/>
            <a:ext cx="4892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283CB12-B118-355A-1FD3-08A7FA3F985C}"/>
              </a:ext>
            </a:extLst>
          </p:cNvPr>
          <p:cNvSpPr/>
          <p:nvPr/>
        </p:nvSpPr>
        <p:spPr>
          <a:xfrm>
            <a:off x="1889121" y="3323025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1288247-E356-8DD5-08AF-BFD33D0351B9}"/>
              </a:ext>
            </a:extLst>
          </p:cNvPr>
          <p:cNvSpPr/>
          <p:nvPr/>
        </p:nvSpPr>
        <p:spPr>
          <a:xfrm>
            <a:off x="1950276" y="3397868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6144871-D879-E9A5-A644-83DEE42B36A7}"/>
              </a:ext>
            </a:extLst>
          </p:cNvPr>
          <p:cNvSpPr/>
          <p:nvPr/>
        </p:nvSpPr>
        <p:spPr>
          <a:xfrm>
            <a:off x="10883273" y="3074281"/>
            <a:ext cx="5623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w´´</a:t>
            </a:r>
            <a:endParaRPr lang="es-AR" sz="1400" dirty="0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DAA7449-1380-38C1-C470-D2245D31199B}"/>
              </a:ext>
            </a:extLst>
          </p:cNvPr>
          <p:cNvCxnSpPr>
            <a:cxnSpLocks/>
          </p:cNvCxnSpPr>
          <p:nvPr/>
        </p:nvCxnSpPr>
        <p:spPr>
          <a:xfrm>
            <a:off x="1521057" y="3922512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6D7FBAC1-8B44-1204-4243-7C80B29CC996}"/>
              </a:ext>
            </a:extLst>
          </p:cNvPr>
          <p:cNvSpPr/>
          <p:nvPr/>
        </p:nvSpPr>
        <p:spPr>
          <a:xfrm>
            <a:off x="1195116" y="3748351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E0CC708-6E15-BA97-36B1-F7AD3C43BA45}"/>
              </a:ext>
            </a:extLst>
          </p:cNvPr>
          <p:cNvSpPr/>
          <p:nvPr/>
        </p:nvSpPr>
        <p:spPr>
          <a:xfrm>
            <a:off x="2836136" y="3757774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51C92C18-460C-ED3D-DF66-5D4E7144ACAC}"/>
              </a:ext>
            </a:extLst>
          </p:cNvPr>
          <p:cNvCxnSpPr>
            <a:cxnSpLocks/>
          </p:cNvCxnSpPr>
          <p:nvPr/>
        </p:nvCxnSpPr>
        <p:spPr>
          <a:xfrm>
            <a:off x="4926502" y="3206074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B7C36E65-7F50-9353-A4E2-8EC03D8E8F0B}"/>
              </a:ext>
            </a:extLst>
          </p:cNvPr>
          <p:cNvCxnSpPr>
            <a:cxnSpLocks/>
          </p:cNvCxnSpPr>
          <p:nvPr/>
        </p:nvCxnSpPr>
        <p:spPr>
          <a:xfrm>
            <a:off x="4946259" y="3857951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84274F8-F074-2018-1F48-8718DC2CB4AF}"/>
              </a:ext>
            </a:extLst>
          </p:cNvPr>
          <p:cNvSpPr/>
          <p:nvPr/>
        </p:nvSpPr>
        <p:spPr>
          <a:xfrm>
            <a:off x="4620318" y="3691426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E37E2C2B-8F26-CC24-62EE-D34D34801FF8}"/>
              </a:ext>
            </a:extLst>
          </p:cNvPr>
          <p:cNvSpPr/>
          <p:nvPr/>
        </p:nvSpPr>
        <p:spPr>
          <a:xfrm>
            <a:off x="6283929" y="3691425"/>
            <a:ext cx="716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w´´</a:t>
            </a:r>
            <a:endParaRPr lang="es-AR" sz="1400" dirty="0"/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F16B61C2-F6E5-18D7-A64A-BAAF37F5936D}"/>
              </a:ext>
            </a:extLst>
          </p:cNvPr>
          <p:cNvCxnSpPr>
            <a:cxnSpLocks/>
          </p:cNvCxnSpPr>
          <p:nvPr/>
        </p:nvCxnSpPr>
        <p:spPr>
          <a:xfrm flipV="1">
            <a:off x="8950439" y="3944961"/>
            <a:ext cx="1936240" cy="240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AE6A8D8-6033-F411-9C21-9F8AC9243DFA}"/>
              </a:ext>
            </a:extLst>
          </p:cNvPr>
          <p:cNvSpPr/>
          <p:nvPr/>
        </p:nvSpPr>
        <p:spPr>
          <a:xfrm>
            <a:off x="8655339" y="3785730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F3AFA8C8-880A-5DCF-3131-CBB95DD3F06A}"/>
              </a:ext>
            </a:extLst>
          </p:cNvPr>
          <p:cNvSpPr/>
          <p:nvPr/>
        </p:nvSpPr>
        <p:spPr>
          <a:xfrm>
            <a:off x="10953019" y="3779348"/>
            <a:ext cx="5623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w´´</a:t>
            </a:r>
            <a:endParaRPr lang="es-AR" sz="1400" dirty="0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E11E9239-D020-4AFF-2373-416EA61CC4DF}"/>
              </a:ext>
            </a:extLst>
          </p:cNvPr>
          <p:cNvCxnSpPr>
            <a:cxnSpLocks/>
          </p:cNvCxnSpPr>
          <p:nvPr/>
        </p:nvCxnSpPr>
        <p:spPr>
          <a:xfrm>
            <a:off x="1552048" y="5838230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1308FB7B-2C48-4323-F996-624FF421C4ED}"/>
              </a:ext>
            </a:extLst>
          </p:cNvPr>
          <p:cNvSpPr/>
          <p:nvPr/>
        </p:nvSpPr>
        <p:spPr>
          <a:xfrm>
            <a:off x="1202188" y="5663984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667E515E-B59B-33A5-22CA-C1C93CBF7236}"/>
              </a:ext>
            </a:extLst>
          </p:cNvPr>
          <p:cNvSpPr/>
          <p:nvPr/>
        </p:nvSpPr>
        <p:spPr>
          <a:xfrm>
            <a:off x="2851273" y="5654017"/>
            <a:ext cx="5145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2A1C068-33F1-48CD-719D-DC83C011D162}"/>
              </a:ext>
            </a:extLst>
          </p:cNvPr>
          <p:cNvSpPr/>
          <p:nvPr/>
        </p:nvSpPr>
        <p:spPr>
          <a:xfrm>
            <a:off x="1881635" y="5987298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1D580A10-6E13-B9E1-4640-B4198F8999A6}"/>
              </a:ext>
            </a:extLst>
          </p:cNvPr>
          <p:cNvSpPr/>
          <p:nvPr/>
        </p:nvSpPr>
        <p:spPr>
          <a:xfrm>
            <a:off x="1942790" y="6062141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DA072011-A86C-3086-608E-38C13393675A}"/>
              </a:ext>
            </a:extLst>
          </p:cNvPr>
          <p:cNvCxnSpPr>
            <a:cxnSpLocks/>
          </p:cNvCxnSpPr>
          <p:nvPr/>
        </p:nvCxnSpPr>
        <p:spPr>
          <a:xfrm>
            <a:off x="1521057" y="6609104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ángulo 82">
            <a:extLst>
              <a:ext uri="{FF2B5EF4-FFF2-40B4-BE49-F238E27FC236}">
                <a16:creationId xmlns:a16="http://schemas.microsoft.com/office/drawing/2014/main" id="{6E4FB203-433D-1A89-4489-C8BF8C0CC84F}"/>
              </a:ext>
            </a:extLst>
          </p:cNvPr>
          <p:cNvSpPr/>
          <p:nvPr/>
        </p:nvSpPr>
        <p:spPr>
          <a:xfrm>
            <a:off x="1195116" y="6434943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F00826BA-78AE-AC02-323F-37D9C1A5FF06}"/>
              </a:ext>
            </a:extLst>
          </p:cNvPr>
          <p:cNvSpPr/>
          <p:nvPr/>
        </p:nvSpPr>
        <p:spPr>
          <a:xfrm>
            <a:off x="2836136" y="6444366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B31B232A-7CCB-1823-F87A-9D22F5BFBEAA}"/>
              </a:ext>
            </a:extLst>
          </p:cNvPr>
          <p:cNvCxnSpPr>
            <a:cxnSpLocks/>
          </p:cNvCxnSpPr>
          <p:nvPr/>
        </p:nvCxnSpPr>
        <p:spPr>
          <a:xfrm>
            <a:off x="5572318" y="5784716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ángulo 87">
            <a:extLst>
              <a:ext uri="{FF2B5EF4-FFF2-40B4-BE49-F238E27FC236}">
                <a16:creationId xmlns:a16="http://schemas.microsoft.com/office/drawing/2014/main" id="{B1E8BAAC-C966-B838-FD44-06953DF915C4}"/>
              </a:ext>
            </a:extLst>
          </p:cNvPr>
          <p:cNvSpPr/>
          <p:nvPr/>
        </p:nvSpPr>
        <p:spPr>
          <a:xfrm>
            <a:off x="5222458" y="5610470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259495F5-9E96-C4C6-4C76-EA1AF187F7E0}"/>
              </a:ext>
            </a:extLst>
          </p:cNvPr>
          <p:cNvSpPr/>
          <p:nvPr/>
        </p:nvSpPr>
        <p:spPr>
          <a:xfrm>
            <a:off x="6871543" y="5600503"/>
            <a:ext cx="5145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57DE9E3D-86FE-BC19-B144-FF62D1AA38A3}"/>
              </a:ext>
            </a:extLst>
          </p:cNvPr>
          <p:cNvSpPr/>
          <p:nvPr/>
        </p:nvSpPr>
        <p:spPr>
          <a:xfrm>
            <a:off x="5965622" y="5923096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047D0F6B-65D7-090E-D297-380C782B2A28}"/>
              </a:ext>
            </a:extLst>
          </p:cNvPr>
          <p:cNvSpPr/>
          <p:nvPr/>
        </p:nvSpPr>
        <p:spPr>
          <a:xfrm>
            <a:off x="6026777" y="5997939"/>
            <a:ext cx="4523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A72AE996-3294-7B0D-21D5-1D49D6918614}"/>
              </a:ext>
            </a:extLst>
          </p:cNvPr>
          <p:cNvCxnSpPr>
            <a:cxnSpLocks/>
          </p:cNvCxnSpPr>
          <p:nvPr/>
        </p:nvCxnSpPr>
        <p:spPr>
          <a:xfrm>
            <a:off x="5541327" y="6555590"/>
            <a:ext cx="13376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 92">
            <a:extLst>
              <a:ext uri="{FF2B5EF4-FFF2-40B4-BE49-F238E27FC236}">
                <a16:creationId xmlns:a16="http://schemas.microsoft.com/office/drawing/2014/main" id="{4B6D63DC-83F8-B0C4-D60A-A5B79FE64EC4}"/>
              </a:ext>
            </a:extLst>
          </p:cNvPr>
          <p:cNvSpPr/>
          <p:nvPr/>
        </p:nvSpPr>
        <p:spPr>
          <a:xfrm>
            <a:off x="5215386" y="6381429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9930BD8B-5806-A6E4-688A-A8340F305529}"/>
              </a:ext>
            </a:extLst>
          </p:cNvPr>
          <p:cNvSpPr/>
          <p:nvPr/>
        </p:nvSpPr>
        <p:spPr>
          <a:xfrm>
            <a:off x="6856406" y="6390852"/>
            <a:ext cx="3901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w´</a:t>
            </a:r>
            <a:endParaRPr lang="es-AR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4D9DB6-3EF9-DF90-8BA9-A97D863F8AC1}"/>
              </a:ext>
            </a:extLst>
          </p:cNvPr>
          <p:cNvSpPr txBox="1"/>
          <p:nvPr/>
        </p:nvSpPr>
        <p:spPr>
          <a:xfrm>
            <a:off x="7247631" y="1846223"/>
            <a:ext cx="222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reducción f(w) = w</a:t>
            </a:r>
            <a:endParaRPr lang="es-AR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624E9E-4463-23DA-FA02-318957B9DF65}"/>
              </a:ext>
            </a:extLst>
          </p:cNvPr>
          <p:cNvSpPr txBox="1"/>
          <p:nvPr/>
        </p:nvSpPr>
        <p:spPr>
          <a:xfrm>
            <a:off x="9085648" y="3998588"/>
            <a:ext cx="2119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reducción g(f(w))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61131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6533537" y="98934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41069" y="5115493"/>
            <a:ext cx="10175115" cy="1610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080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Expresado de otra manera:</a:t>
            </a:r>
          </a:p>
          <a:p>
            <a:pPr marL="177750"/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75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tan o más difícil que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750"/>
            <a:endParaRPr lang="es-AR" sz="1000" b="1" baseline="-25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4250"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R, no puede suceder que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</a:t>
            </a:r>
            <a:endParaRPr lang="es-AR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54250" lvl="1"/>
            <a:endParaRPr lang="es-AR" sz="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54250" lvl="1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RE, no puede suceder que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RE</a:t>
            </a:r>
            <a:endParaRPr lang="es-AR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AC5172-15EE-9C4D-F60F-096E1D4E949C}"/>
              </a:ext>
            </a:extLst>
          </p:cNvPr>
          <p:cNvSpPr/>
          <p:nvPr/>
        </p:nvSpPr>
        <p:spPr>
          <a:xfrm>
            <a:off x="249172" y="143605"/>
            <a:ext cx="116380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Resumiendo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AF3022-65B8-ACA9-5A2F-8B2448AF935D}"/>
              </a:ext>
            </a:extLst>
          </p:cNvPr>
          <p:cNvSpPr/>
          <p:nvPr/>
        </p:nvSpPr>
        <p:spPr>
          <a:xfrm>
            <a:off x="6742448" y="2495585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586440-1E28-3D94-195A-59D072B36CFF}"/>
              </a:ext>
            </a:extLst>
          </p:cNvPr>
          <p:cNvSpPr/>
          <p:nvPr/>
        </p:nvSpPr>
        <p:spPr>
          <a:xfrm>
            <a:off x="7331571" y="2555374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C46D7D8-94B4-ABF4-3AA2-414B82A5AB85}"/>
              </a:ext>
            </a:extLst>
          </p:cNvPr>
          <p:cNvCxnSpPr>
            <a:cxnSpLocks/>
          </p:cNvCxnSpPr>
          <p:nvPr/>
        </p:nvCxnSpPr>
        <p:spPr>
          <a:xfrm>
            <a:off x="6664588" y="281566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7B8C2C2-350F-597A-68F1-B9708D59A378}"/>
              </a:ext>
            </a:extLst>
          </p:cNvPr>
          <p:cNvSpPr/>
          <p:nvPr/>
        </p:nvSpPr>
        <p:spPr>
          <a:xfrm>
            <a:off x="7394438" y="2613682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2ED605-154A-6958-3468-0A56EFD980D9}"/>
              </a:ext>
            </a:extLst>
          </p:cNvPr>
          <p:cNvSpPr/>
          <p:nvPr/>
        </p:nvSpPr>
        <p:spPr>
          <a:xfrm>
            <a:off x="7859581" y="2529681"/>
            <a:ext cx="5277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</a:rPr>
              <a:t>f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(w)</a:t>
            </a:r>
            <a:endParaRPr lang="es-AR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BE7306-0537-5401-C913-6849D633B5CE}"/>
              </a:ext>
            </a:extLst>
          </p:cNvPr>
          <p:cNvSpPr/>
          <p:nvPr/>
        </p:nvSpPr>
        <p:spPr>
          <a:xfrm>
            <a:off x="9403639" y="278985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91BF319-6014-7AA2-6C7D-36874277374E}"/>
              </a:ext>
            </a:extLst>
          </p:cNvPr>
          <p:cNvSpPr/>
          <p:nvPr/>
        </p:nvSpPr>
        <p:spPr>
          <a:xfrm>
            <a:off x="8447999" y="2552356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91ED926-CE54-3D1D-2E15-962598F7E0A3}"/>
              </a:ext>
            </a:extLst>
          </p:cNvPr>
          <p:cNvCxnSpPr>
            <a:cxnSpLocks/>
          </p:cNvCxnSpPr>
          <p:nvPr/>
        </p:nvCxnSpPr>
        <p:spPr>
          <a:xfrm>
            <a:off x="7872114" y="2812538"/>
            <a:ext cx="558093" cy="31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3C33734-07FD-7B42-264A-359F62F44BF3}"/>
              </a:ext>
            </a:extLst>
          </p:cNvPr>
          <p:cNvCxnSpPr>
            <a:cxnSpLocks/>
          </p:cNvCxnSpPr>
          <p:nvPr/>
        </p:nvCxnSpPr>
        <p:spPr>
          <a:xfrm flipV="1">
            <a:off x="9000368" y="2596599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24711B0-FF54-154B-E6DE-A2BED9B6664E}"/>
              </a:ext>
            </a:extLst>
          </p:cNvPr>
          <p:cNvSpPr/>
          <p:nvPr/>
        </p:nvSpPr>
        <p:spPr>
          <a:xfrm>
            <a:off x="9413191" y="240797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DB02432-1B14-CD9C-E72C-418CFCF44DE1}"/>
              </a:ext>
            </a:extLst>
          </p:cNvPr>
          <p:cNvSpPr/>
          <p:nvPr/>
        </p:nvSpPr>
        <p:spPr>
          <a:xfrm>
            <a:off x="8430090" y="2598872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DB68E57-597C-C1BC-B075-ED31848BF459}"/>
              </a:ext>
            </a:extLst>
          </p:cNvPr>
          <p:cNvCxnSpPr>
            <a:cxnSpLocks/>
          </p:cNvCxnSpPr>
          <p:nvPr/>
        </p:nvCxnSpPr>
        <p:spPr>
          <a:xfrm>
            <a:off x="8989583" y="2792379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33355CD-266E-AF7F-7878-70179B20402C}"/>
              </a:ext>
            </a:extLst>
          </p:cNvPr>
          <p:cNvSpPr/>
          <p:nvPr/>
        </p:nvSpPr>
        <p:spPr>
          <a:xfrm>
            <a:off x="7128838" y="2405344"/>
            <a:ext cx="2073042" cy="785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581295C-8A51-7194-4CA6-52BC29DB804F}"/>
              </a:ext>
            </a:extLst>
          </p:cNvPr>
          <p:cNvSpPr/>
          <p:nvPr/>
        </p:nvSpPr>
        <p:spPr>
          <a:xfrm>
            <a:off x="7832582" y="2088804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8136009-3EFD-0665-87C3-5130EEA54A98}"/>
              </a:ext>
            </a:extLst>
          </p:cNvPr>
          <p:cNvSpPr txBox="1"/>
          <p:nvPr/>
        </p:nvSpPr>
        <p:spPr>
          <a:xfrm>
            <a:off x="1691060" y="2024149"/>
            <a:ext cx="445560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Caso 1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entonces (L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R)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O bien, por el contrarrecíproco: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entonces (L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R)</a:t>
            </a:r>
          </a:p>
          <a:p>
            <a:endParaRPr lang="es-AR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93EB60E0-2F90-3690-D940-7E50705BD5B2}"/>
              </a:ext>
            </a:extLst>
          </p:cNvPr>
          <p:cNvSpPr/>
          <p:nvPr/>
        </p:nvSpPr>
        <p:spPr>
          <a:xfrm>
            <a:off x="6795712" y="3831175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CDC46349-447E-8C2A-09AA-5608063E324E}"/>
              </a:ext>
            </a:extLst>
          </p:cNvPr>
          <p:cNvSpPr/>
          <p:nvPr/>
        </p:nvSpPr>
        <p:spPr>
          <a:xfrm>
            <a:off x="7384835" y="3890964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8DE219A2-2773-3A66-3A43-6A3068634F16}"/>
              </a:ext>
            </a:extLst>
          </p:cNvPr>
          <p:cNvCxnSpPr>
            <a:cxnSpLocks/>
          </p:cNvCxnSpPr>
          <p:nvPr/>
        </p:nvCxnSpPr>
        <p:spPr>
          <a:xfrm>
            <a:off x="6717852" y="4151251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19C7E469-9B8E-7FF9-5790-34D4BBF67BF6}"/>
              </a:ext>
            </a:extLst>
          </p:cNvPr>
          <p:cNvSpPr/>
          <p:nvPr/>
        </p:nvSpPr>
        <p:spPr>
          <a:xfrm>
            <a:off x="7447702" y="3949272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51A1778-1056-0975-099C-E2BB818EE52D}"/>
              </a:ext>
            </a:extLst>
          </p:cNvPr>
          <p:cNvSpPr/>
          <p:nvPr/>
        </p:nvSpPr>
        <p:spPr>
          <a:xfrm>
            <a:off x="7933504" y="3872135"/>
            <a:ext cx="5277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sz="1600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0B425B59-5262-C2F5-F227-9B74D708FB16}"/>
              </a:ext>
            </a:extLst>
          </p:cNvPr>
          <p:cNvSpPr/>
          <p:nvPr/>
        </p:nvSpPr>
        <p:spPr>
          <a:xfrm>
            <a:off x="9456903" y="412544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4AFB4EA5-2BCC-7456-0DB3-E15885C22D0E}"/>
              </a:ext>
            </a:extLst>
          </p:cNvPr>
          <p:cNvSpPr/>
          <p:nvPr/>
        </p:nvSpPr>
        <p:spPr>
          <a:xfrm>
            <a:off x="8501263" y="3887946"/>
            <a:ext cx="523605" cy="52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BDF1A5AF-EB11-F088-5070-3215B4C2C153}"/>
              </a:ext>
            </a:extLst>
          </p:cNvPr>
          <p:cNvCxnSpPr>
            <a:cxnSpLocks/>
          </p:cNvCxnSpPr>
          <p:nvPr/>
        </p:nvCxnSpPr>
        <p:spPr>
          <a:xfrm>
            <a:off x="7925378" y="4148128"/>
            <a:ext cx="558093" cy="31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723964C0-C9CC-9DF0-910F-47C57AA1F74F}"/>
              </a:ext>
            </a:extLst>
          </p:cNvPr>
          <p:cNvCxnSpPr>
            <a:cxnSpLocks/>
          </p:cNvCxnSpPr>
          <p:nvPr/>
        </p:nvCxnSpPr>
        <p:spPr>
          <a:xfrm flipV="1">
            <a:off x="9053632" y="3932189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480E6C6-0721-4A7E-5DB3-4D791E89108D}"/>
              </a:ext>
            </a:extLst>
          </p:cNvPr>
          <p:cNvSpPr/>
          <p:nvPr/>
        </p:nvSpPr>
        <p:spPr>
          <a:xfrm>
            <a:off x="9466455" y="374356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159016E7-BE7C-A4CC-3246-B8D7C4DAA2B4}"/>
              </a:ext>
            </a:extLst>
          </p:cNvPr>
          <p:cNvSpPr/>
          <p:nvPr/>
        </p:nvSpPr>
        <p:spPr>
          <a:xfrm>
            <a:off x="8483354" y="3934462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BBF4CE47-C4B0-235C-38A0-F0F8631B5986}"/>
              </a:ext>
            </a:extLst>
          </p:cNvPr>
          <p:cNvCxnSpPr>
            <a:cxnSpLocks/>
          </p:cNvCxnSpPr>
          <p:nvPr/>
        </p:nvCxnSpPr>
        <p:spPr>
          <a:xfrm>
            <a:off x="9042847" y="4127969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A991AFF-64A0-4F82-CF02-CAABDA291CDB}"/>
              </a:ext>
            </a:extLst>
          </p:cNvPr>
          <p:cNvSpPr/>
          <p:nvPr/>
        </p:nvSpPr>
        <p:spPr>
          <a:xfrm>
            <a:off x="7182102" y="3740934"/>
            <a:ext cx="2073042" cy="785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2956CD8E-7023-3547-F087-94ADF084A101}"/>
              </a:ext>
            </a:extLst>
          </p:cNvPr>
          <p:cNvSpPr/>
          <p:nvPr/>
        </p:nvSpPr>
        <p:spPr>
          <a:xfrm>
            <a:off x="7885846" y="3424394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10EDC36-0A45-A033-4EFB-73F1E66F6D04}"/>
              </a:ext>
            </a:extLst>
          </p:cNvPr>
          <p:cNvSpPr txBox="1"/>
          <p:nvPr/>
        </p:nvSpPr>
        <p:spPr>
          <a:xfrm>
            <a:off x="1722551" y="3391590"/>
            <a:ext cx="468058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Caso 2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Si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entonces (L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RE)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O bien, por el contrarrecíproco: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entonces (L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RE)</a:t>
            </a:r>
            <a:endParaRPr lang="es-AR" dirty="0">
              <a:solidFill>
                <a:srgbClr val="0070C0"/>
              </a:solidFill>
            </a:endParaRP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8305AD00-56B5-62E5-CB70-86B738B8FCA1}"/>
              </a:ext>
            </a:extLst>
          </p:cNvPr>
          <p:cNvCxnSpPr>
            <a:cxnSpLocks/>
          </p:cNvCxnSpPr>
          <p:nvPr/>
        </p:nvCxnSpPr>
        <p:spPr>
          <a:xfrm>
            <a:off x="8650772" y="4435491"/>
            <a:ext cx="0" cy="2991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C6547B82-EC5B-B0B3-9078-D5AE849C481F}"/>
              </a:ext>
            </a:extLst>
          </p:cNvPr>
          <p:cNvCxnSpPr>
            <a:cxnSpLocks/>
          </p:cNvCxnSpPr>
          <p:nvPr/>
        </p:nvCxnSpPr>
        <p:spPr>
          <a:xfrm>
            <a:off x="8650878" y="4727587"/>
            <a:ext cx="18095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A348978E-1951-D8BB-78DE-68185596FB42}"/>
              </a:ext>
            </a:extLst>
          </p:cNvPr>
          <p:cNvCxnSpPr>
            <a:cxnSpLocks/>
          </p:cNvCxnSpPr>
          <p:nvPr/>
        </p:nvCxnSpPr>
        <p:spPr>
          <a:xfrm flipV="1">
            <a:off x="8831837" y="4435491"/>
            <a:ext cx="0" cy="2913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Slide Number Placeholder 2">
            <a:extLst>
              <a:ext uri="{FF2B5EF4-FFF2-40B4-BE49-F238E27FC236}">
                <a16:creationId xmlns:a16="http://schemas.microsoft.com/office/drawing/2014/main" id="{9A8E2366-B667-CE57-A799-99C8A444571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542966E8-3A64-44AD-4AA0-9D8AEF62E7A4}"/>
              </a:ext>
            </a:extLst>
          </p:cNvPr>
          <p:cNvSpPr/>
          <p:nvPr/>
        </p:nvSpPr>
        <p:spPr>
          <a:xfrm>
            <a:off x="3760573" y="475331"/>
            <a:ext cx="1568054" cy="1140871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865EDC4-4E3F-CD9A-7334-B3376EE2DDA7}"/>
              </a:ext>
            </a:extLst>
          </p:cNvPr>
          <p:cNvSpPr/>
          <p:nvPr/>
        </p:nvSpPr>
        <p:spPr>
          <a:xfrm>
            <a:off x="4272800" y="534050"/>
            <a:ext cx="486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400" b="1" dirty="0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B326143D-EFD1-4E90-AC90-3EB340598DB2}"/>
              </a:ext>
            </a:extLst>
          </p:cNvPr>
          <p:cNvSpPr/>
          <p:nvPr/>
        </p:nvSpPr>
        <p:spPr>
          <a:xfrm>
            <a:off x="6652998" y="480031"/>
            <a:ext cx="1520610" cy="1131469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6241642-C510-BA2F-13A2-259EE0744B59}"/>
              </a:ext>
            </a:extLst>
          </p:cNvPr>
          <p:cNvSpPr/>
          <p:nvPr/>
        </p:nvSpPr>
        <p:spPr>
          <a:xfrm>
            <a:off x="7140284" y="541639"/>
            <a:ext cx="486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4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32409ED-B09D-EA24-C966-2B216542F1C4}"/>
              </a:ext>
            </a:extLst>
          </p:cNvPr>
          <p:cNvSpPr/>
          <p:nvPr/>
        </p:nvSpPr>
        <p:spPr>
          <a:xfrm>
            <a:off x="4303316" y="1117523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D79FB7F-22C8-5FF0-78A5-E8B9F150C8A1}"/>
              </a:ext>
            </a:extLst>
          </p:cNvPr>
          <p:cNvSpPr/>
          <p:nvPr/>
        </p:nvSpPr>
        <p:spPr>
          <a:xfrm>
            <a:off x="7140284" y="1152602"/>
            <a:ext cx="15857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MX" sz="16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4851167-6096-DF12-01D6-6A29766038AE}"/>
              </a:ext>
            </a:extLst>
          </p:cNvPr>
          <p:cNvSpPr/>
          <p:nvPr/>
        </p:nvSpPr>
        <p:spPr>
          <a:xfrm>
            <a:off x="5563303" y="1076992"/>
            <a:ext cx="886987" cy="967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D3E770F-2F0A-7118-5589-CDFC4F67D3D8}"/>
              </a:ext>
            </a:extLst>
          </p:cNvPr>
          <p:cNvCxnSpPr>
            <a:cxnSpLocks/>
          </p:cNvCxnSpPr>
          <p:nvPr/>
        </p:nvCxnSpPr>
        <p:spPr>
          <a:xfrm>
            <a:off x="4635807" y="1340692"/>
            <a:ext cx="9447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73E74E2-4083-5603-9C95-04C99BD3EB89}"/>
              </a:ext>
            </a:extLst>
          </p:cNvPr>
          <p:cNvSpPr/>
          <p:nvPr/>
        </p:nvSpPr>
        <p:spPr>
          <a:xfrm>
            <a:off x="5818197" y="1358643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21F94A0-BDAB-6FDA-BBE9-03F38982CDA5}"/>
              </a:ext>
            </a:extLst>
          </p:cNvPr>
          <p:cNvSpPr/>
          <p:nvPr/>
        </p:nvSpPr>
        <p:spPr>
          <a:xfrm>
            <a:off x="4318399" y="1605274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5BFDF42-C95D-DF92-827D-CCEF6A9A679A}"/>
              </a:ext>
            </a:extLst>
          </p:cNvPr>
          <p:cNvSpPr/>
          <p:nvPr/>
        </p:nvSpPr>
        <p:spPr>
          <a:xfrm>
            <a:off x="7140284" y="1665068"/>
            <a:ext cx="12909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MX" sz="1600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1DBDA55-FB6C-1E29-BAA1-291E66CCEB9C}"/>
              </a:ext>
            </a:extLst>
          </p:cNvPr>
          <p:cNvCxnSpPr>
            <a:cxnSpLocks/>
          </p:cNvCxnSpPr>
          <p:nvPr/>
        </p:nvCxnSpPr>
        <p:spPr>
          <a:xfrm>
            <a:off x="4618539" y="1833563"/>
            <a:ext cx="94476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19A4774-CBD1-2F3B-CBC4-9A92D18258FE}"/>
              </a:ext>
            </a:extLst>
          </p:cNvPr>
          <p:cNvCxnSpPr>
            <a:cxnSpLocks/>
          </p:cNvCxnSpPr>
          <p:nvPr/>
        </p:nvCxnSpPr>
        <p:spPr>
          <a:xfrm flipV="1">
            <a:off x="6450290" y="1340692"/>
            <a:ext cx="726352" cy="1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1996EA0-FD1A-9B14-566D-ABE8873DB904}"/>
              </a:ext>
            </a:extLst>
          </p:cNvPr>
          <p:cNvCxnSpPr>
            <a:cxnSpLocks/>
          </p:cNvCxnSpPr>
          <p:nvPr/>
        </p:nvCxnSpPr>
        <p:spPr>
          <a:xfrm flipV="1">
            <a:off x="6450290" y="1831599"/>
            <a:ext cx="726352" cy="1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FBC80B5B-D1F0-EB7F-BDCB-37851D6A30EB}"/>
              </a:ext>
            </a:extLst>
          </p:cNvPr>
          <p:cNvSpPr/>
          <p:nvPr/>
        </p:nvSpPr>
        <p:spPr>
          <a:xfrm>
            <a:off x="6795712" y="5486840"/>
            <a:ext cx="2506978" cy="1165676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CC98BC-60C4-A4CA-9476-1121A5700DAF}"/>
              </a:ext>
            </a:extLst>
          </p:cNvPr>
          <p:cNvSpPr txBox="1"/>
          <p:nvPr/>
        </p:nvSpPr>
        <p:spPr>
          <a:xfrm>
            <a:off x="6985436" y="5901966"/>
            <a:ext cx="529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FB2EF8-1126-2998-2F4E-931117746B33}"/>
              </a:ext>
            </a:extLst>
          </p:cNvPr>
          <p:cNvSpPr txBox="1"/>
          <p:nvPr/>
        </p:nvSpPr>
        <p:spPr>
          <a:xfrm>
            <a:off x="8254428" y="5556247"/>
            <a:ext cx="670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587D987-4CDB-F436-00DD-C746AD1B033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7352333" y="5740913"/>
            <a:ext cx="902095" cy="3248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9FB0E4A-0A7A-0E43-E215-B332F57DEDCB}"/>
              </a:ext>
            </a:extLst>
          </p:cNvPr>
          <p:cNvSpPr/>
          <p:nvPr/>
        </p:nvSpPr>
        <p:spPr>
          <a:xfrm>
            <a:off x="7582058" y="5632605"/>
            <a:ext cx="242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</a:t>
            </a:r>
            <a:endParaRPr lang="es-AR" sz="16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0161492-011F-B6E7-30DF-01B6DEC585F4}"/>
              </a:ext>
            </a:extLst>
          </p:cNvPr>
          <p:cNvSpPr txBox="1"/>
          <p:nvPr/>
        </p:nvSpPr>
        <p:spPr>
          <a:xfrm>
            <a:off x="9404962" y="5773421"/>
            <a:ext cx="1697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Resolviendo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 resuelve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6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26A0904-AF05-A376-1452-1657674B25AB}"/>
              </a:ext>
            </a:extLst>
          </p:cNvPr>
          <p:cNvCxnSpPr>
            <a:cxnSpLocks/>
          </p:cNvCxnSpPr>
          <p:nvPr/>
        </p:nvCxnSpPr>
        <p:spPr>
          <a:xfrm>
            <a:off x="8441846" y="5913330"/>
            <a:ext cx="0" cy="274782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9995CCE-E744-7A5B-3B57-FB9922D1F6A5}"/>
              </a:ext>
            </a:extLst>
          </p:cNvPr>
          <p:cNvSpPr txBox="1"/>
          <p:nvPr/>
        </p:nvSpPr>
        <p:spPr>
          <a:xfrm>
            <a:off x="7803380" y="6167290"/>
            <a:ext cx="18672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3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endParaRPr lang="es-AR" sz="1300" b="1" dirty="0">
              <a:solidFill>
                <a:srgbClr val="7030A0"/>
              </a:solidFill>
            </a:endParaRP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84DAA9D-7B85-638A-43B3-AB397B586254}"/>
              </a:ext>
            </a:extLst>
          </p:cNvPr>
          <p:cNvCxnSpPr>
            <a:cxnSpLocks/>
          </p:cNvCxnSpPr>
          <p:nvPr/>
        </p:nvCxnSpPr>
        <p:spPr>
          <a:xfrm flipH="1" flipV="1">
            <a:off x="7363804" y="6202578"/>
            <a:ext cx="439576" cy="13233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7" grpId="0"/>
      <p:bldP spid="38" grpId="0"/>
      <p:bldP spid="39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2010075" y="5430706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4147983" y="2054010"/>
            <a:ext cx="6487871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 es tan o más difícil que cualquier lenguaje de RE.</a:t>
            </a:r>
          </a:p>
          <a:p>
            <a:endParaRPr lang="es-A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Decidiendo HP se decide cualquier lenguaje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Así, si HP estuviera en R, se cumpliría R = RE.</a:t>
            </a:r>
          </a:p>
          <a:p>
            <a:endParaRPr lang="es-AR" sz="11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 identifica la dificultad de la clase RE, es RE-completo. 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6A4250-525F-BA61-BD72-F07CF7E3905F}"/>
              </a:ext>
            </a:extLst>
          </p:cNvPr>
          <p:cNvSpPr/>
          <p:nvPr/>
        </p:nvSpPr>
        <p:spPr>
          <a:xfrm>
            <a:off x="3533902" y="2853945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4F4FEC0-A15C-6FD0-CFBB-31FC76F5A795}"/>
              </a:ext>
            </a:extLst>
          </p:cNvPr>
          <p:cNvSpPr/>
          <p:nvPr/>
        </p:nvSpPr>
        <p:spPr>
          <a:xfrm>
            <a:off x="2006864" y="185483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540A338-E0E2-C926-C245-801B13D5D8C6}"/>
              </a:ext>
            </a:extLst>
          </p:cNvPr>
          <p:cNvSpPr/>
          <p:nvPr/>
        </p:nvSpPr>
        <p:spPr>
          <a:xfrm>
            <a:off x="1772127" y="2132757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B5F5F33-0BD0-7F61-BA10-654827E52D96}"/>
              </a:ext>
            </a:extLst>
          </p:cNvPr>
          <p:cNvSpPr/>
          <p:nvPr/>
        </p:nvSpPr>
        <p:spPr>
          <a:xfrm>
            <a:off x="1608998" y="2449871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C26848E-716F-5751-54D4-D8A94BB0DEA1}"/>
              </a:ext>
            </a:extLst>
          </p:cNvPr>
          <p:cNvSpPr/>
          <p:nvPr/>
        </p:nvSpPr>
        <p:spPr>
          <a:xfrm>
            <a:off x="1996848" y="3530205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8447AF7-4DE3-8E32-1FDF-51D1CC94AB34}"/>
              </a:ext>
            </a:extLst>
          </p:cNvPr>
          <p:cNvSpPr/>
          <p:nvPr/>
        </p:nvSpPr>
        <p:spPr>
          <a:xfrm>
            <a:off x="2428783" y="1678753"/>
            <a:ext cx="683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800" dirty="0"/>
          </a:p>
        </p:txBody>
      </p: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96B81508-1A30-D811-1E65-EFF6309CE199}"/>
              </a:ext>
            </a:extLst>
          </p:cNvPr>
          <p:cNvSpPr/>
          <p:nvPr/>
        </p:nvSpPr>
        <p:spPr>
          <a:xfrm>
            <a:off x="1427160" y="1717126"/>
            <a:ext cx="2573559" cy="2295184"/>
          </a:xfrm>
          <a:prstGeom prst="flowChartConnector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F006258-0D87-8577-132E-41067EE10D6C}"/>
              </a:ext>
            </a:extLst>
          </p:cNvPr>
          <p:cNvCxnSpPr>
            <a:cxnSpLocks/>
          </p:cNvCxnSpPr>
          <p:nvPr/>
        </p:nvCxnSpPr>
        <p:spPr>
          <a:xfrm>
            <a:off x="2334814" y="2205591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B0B681F-D73A-9434-7DFF-2929278EA3B6}"/>
              </a:ext>
            </a:extLst>
          </p:cNvPr>
          <p:cNvCxnSpPr>
            <a:cxnSpLocks/>
          </p:cNvCxnSpPr>
          <p:nvPr/>
        </p:nvCxnSpPr>
        <p:spPr>
          <a:xfrm>
            <a:off x="2156328" y="2449871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33F8384D-5D4B-8193-00DA-14AA2B654BB7}"/>
              </a:ext>
            </a:extLst>
          </p:cNvPr>
          <p:cNvCxnSpPr>
            <a:cxnSpLocks/>
          </p:cNvCxnSpPr>
          <p:nvPr/>
        </p:nvCxnSpPr>
        <p:spPr>
          <a:xfrm>
            <a:off x="2006864" y="2733037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5BA4B804-C6E8-8E2B-902F-3853BC1516AD}"/>
              </a:ext>
            </a:extLst>
          </p:cNvPr>
          <p:cNvCxnSpPr>
            <a:cxnSpLocks/>
          </p:cNvCxnSpPr>
          <p:nvPr/>
        </p:nvCxnSpPr>
        <p:spPr>
          <a:xfrm flipV="1">
            <a:off x="2334814" y="3178043"/>
            <a:ext cx="1199088" cy="5561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761FF0C-0763-C080-BE69-A6DB9B520A12}"/>
              </a:ext>
            </a:extLst>
          </p:cNvPr>
          <p:cNvSpPr/>
          <p:nvPr/>
        </p:nvSpPr>
        <p:spPr>
          <a:xfrm>
            <a:off x="1608998" y="286830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E840797-927C-08B8-53E9-8A9FDE304F21}"/>
              </a:ext>
            </a:extLst>
          </p:cNvPr>
          <p:cNvCxnSpPr>
            <a:cxnSpLocks/>
          </p:cNvCxnSpPr>
          <p:nvPr/>
        </p:nvCxnSpPr>
        <p:spPr>
          <a:xfrm>
            <a:off x="1991503" y="3117086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1F225061-9E83-CADE-3508-503BA795FEBD}"/>
              </a:ext>
            </a:extLst>
          </p:cNvPr>
          <p:cNvCxnSpPr>
            <a:cxnSpLocks/>
          </p:cNvCxnSpPr>
          <p:nvPr/>
        </p:nvCxnSpPr>
        <p:spPr>
          <a:xfrm>
            <a:off x="1778223" y="3247937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C880134-A733-3F75-5EB3-4BB07509C63D}"/>
              </a:ext>
            </a:extLst>
          </p:cNvPr>
          <p:cNvCxnSpPr>
            <a:cxnSpLocks/>
          </p:cNvCxnSpPr>
          <p:nvPr/>
        </p:nvCxnSpPr>
        <p:spPr>
          <a:xfrm rot="120000" flipV="1">
            <a:off x="2458741" y="3802735"/>
            <a:ext cx="895618" cy="5082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9CFA89B-CFAA-A391-1639-3849D771EE7E}"/>
              </a:ext>
            </a:extLst>
          </p:cNvPr>
          <p:cNvSpPr txBox="1"/>
          <p:nvPr/>
        </p:nvSpPr>
        <p:spPr>
          <a:xfrm>
            <a:off x="2533364" y="2069716"/>
            <a:ext cx="441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9EA19D0-EDBC-2584-ABD8-2072CCA6A02B}"/>
              </a:ext>
            </a:extLst>
          </p:cNvPr>
          <p:cNvSpPr txBox="1"/>
          <p:nvPr/>
        </p:nvSpPr>
        <p:spPr>
          <a:xfrm>
            <a:off x="2309359" y="2268296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B03751B5-60A8-00E7-0DD9-744E77E93FAD}"/>
              </a:ext>
            </a:extLst>
          </p:cNvPr>
          <p:cNvSpPr txBox="1"/>
          <p:nvPr/>
        </p:nvSpPr>
        <p:spPr>
          <a:xfrm>
            <a:off x="2174374" y="2815634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DBDC9A8-35B6-54B9-0AB4-44070A4B0EBF}"/>
              </a:ext>
            </a:extLst>
          </p:cNvPr>
          <p:cNvSpPr txBox="1"/>
          <p:nvPr/>
        </p:nvSpPr>
        <p:spPr>
          <a:xfrm>
            <a:off x="2154128" y="2505963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71DD7B97-A95A-5DA0-EC4B-654A7A51F06D}"/>
              </a:ext>
            </a:extLst>
          </p:cNvPr>
          <p:cNvSpPr txBox="1"/>
          <p:nvPr/>
        </p:nvSpPr>
        <p:spPr>
          <a:xfrm>
            <a:off x="2496899" y="3255203"/>
            <a:ext cx="37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32A9B-4759-9CCB-C3BC-358700358DE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CAC191-EAF9-6FBF-BB88-FFEB13D02690}"/>
              </a:ext>
            </a:extLst>
          </p:cNvPr>
          <p:cNvSpPr/>
          <p:nvPr/>
        </p:nvSpPr>
        <p:spPr>
          <a:xfrm>
            <a:off x="249173" y="143605"/>
            <a:ext cx="117202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Otra manera de probar que HP está entre los lenguajes más difíciles de RE</a:t>
            </a:r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8682262-AB09-4271-FA27-8F3C58FA1F0C}"/>
              </a:ext>
            </a:extLst>
          </p:cNvPr>
          <p:cNvSpPr/>
          <p:nvPr/>
        </p:nvSpPr>
        <p:spPr>
          <a:xfrm>
            <a:off x="816713" y="4607801"/>
            <a:ext cx="1415806" cy="159851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5C1E663-CB31-E486-A3CE-857BCAD00897}"/>
              </a:ext>
            </a:extLst>
          </p:cNvPr>
          <p:cNvSpPr/>
          <p:nvPr/>
        </p:nvSpPr>
        <p:spPr>
          <a:xfrm>
            <a:off x="1014092" y="4712741"/>
            <a:ext cx="992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L ∈ RE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7D3F053F-0582-FF88-DCAA-0189DCD027E9}"/>
              </a:ext>
            </a:extLst>
          </p:cNvPr>
          <p:cNvSpPr/>
          <p:nvPr/>
        </p:nvSpPr>
        <p:spPr>
          <a:xfrm>
            <a:off x="2855754" y="4616633"/>
            <a:ext cx="1415806" cy="153311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F4ACCEC-7861-76BA-B4F5-C42CE5A981AA}"/>
              </a:ext>
            </a:extLst>
          </p:cNvPr>
          <p:cNvSpPr/>
          <p:nvPr/>
        </p:nvSpPr>
        <p:spPr>
          <a:xfrm>
            <a:off x="3273008" y="4712741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HP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F6E88A8-AAA1-8994-806D-60130D5F2E36}"/>
              </a:ext>
            </a:extLst>
          </p:cNvPr>
          <p:cNvCxnSpPr>
            <a:cxnSpLocks/>
          </p:cNvCxnSpPr>
          <p:nvPr/>
        </p:nvCxnSpPr>
        <p:spPr>
          <a:xfrm flipV="1">
            <a:off x="1642879" y="5430706"/>
            <a:ext cx="1396149" cy="1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1B3D6FB-00CF-8305-862E-C6E02C150399}"/>
              </a:ext>
            </a:extLst>
          </p:cNvPr>
          <p:cNvSpPr/>
          <p:nvPr/>
        </p:nvSpPr>
        <p:spPr>
          <a:xfrm>
            <a:off x="1306568" y="5246040"/>
            <a:ext cx="1197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8F3B94A4-3029-B35F-222C-EEFA4EC4239C}"/>
              </a:ext>
            </a:extLst>
          </p:cNvPr>
          <p:cNvSpPr/>
          <p:nvPr/>
        </p:nvSpPr>
        <p:spPr>
          <a:xfrm>
            <a:off x="2228784" y="5595545"/>
            <a:ext cx="627543" cy="686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80C86D4-C75C-56DD-7FD0-2BF7B88AEC92}"/>
              </a:ext>
            </a:extLst>
          </p:cNvPr>
          <p:cNvSpPr/>
          <p:nvPr/>
        </p:nvSpPr>
        <p:spPr>
          <a:xfrm>
            <a:off x="2343418" y="5748561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B0B181D-613A-CF16-DAF7-3689DE8121AC}"/>
              </a:ext>
            </a:extLst>
          </p:cNvPr>
          <p:cNvSpPr/>
          <p:nvPr/>
        </p:nvSpPr>
        <p:spPr>
          <a:xfrm>
            <a:off x="1306568" y="6179201"/>
            <a:ext cx="1197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0AD2C50-CA2E-6550-6A61-70C518A20BB7}"/>
              </a:ext>
            </a:extLst>
          </p:cNvPr>
          <p:cNvSpPr txBox="1"/>
          <p:nvPr/>
        </p:nvSpPr>
        <p:spPr>
          <a:xfrm>
            <a:off x="3039028" y="5271144"/>
            <a:ext cx="1541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(&lt;M´&gt;,w)</a:t>
            </a:r>
            <a:endParaRPr lang="es-AR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3BB77972-451D-E7A1-6A3C-CFBC18C4C926}"/>
              </a:ext>
            </a:extLst>
          </p:cNvPr>
          <p:cNvCxnSpPr>
            <a:cxnSpLocks/>
          </p:cNvCxnSpPr>
          <p:nvPr/>
        </p:nvCxnSpPr>
        <p:spPr>
          <a:xfrm flipV="1">
            <a:off x="1660738" y="6371144"/>
            <a:ext cx="1396149" cy="1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6AA506F-5EE0-B610-04DF-FF72C2E493D9}"/>
              </a:ext>
            </a:extLst>
          </p:cNvPr>
          <p:cNvSpPr txBox="1"/>
          <p:nvPr/>
        </p:nvSpPr>
        <p:spPr>
          <a:xfrm>
            <a:off x="3032059" y="6188717"/>
            <a:ext cx="1541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(&lt;M´&gt;,w)</a:t>
            </a:r>
            <a:endParaRPr lang="es-AR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1C9D7D17-3739-C73F-D6FC-721A0CD81815}"/>
              </a:ext>
            </a:extLst>
          </p:cNvPr>
          <p:cNvSpPr txBox="1"/>
          <p:nvPr/>
        </p:nvSpPr>
        <p:spPr>
          <a:xfrm>
            <a:off x="4573400" y="4229029"/>
            <a:ext cx="7395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Sea M una MT que acepta L.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M´ es como M, salvo que desde todo </a:t>
            </a:r>
            <a:r>
              <a:rPr lang="es-A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M se incluye en M´ un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esta manera: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 acepta w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M´ para a partir de w. </a:t>
            </a:r>
            <a:endParaRPr lang="es-AR" sz="18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∉ 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⟶ M rechaza w </a:t>
            </a:r>
            <a:r>
              <a:rPr lang="es-AR" dirty="0"/>
              <a:t>⟶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M´ no para a partir de w.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AB9D8A-E12B-900E-0D19-265993937A90}"/>
              </a:ext>
            </a:extLst>
          </p:cNvPr>
          <p:cNvSpPr txBox="1"/>
          <p:nvPr/>
        </p:nvSpPr>
        <p:spPr>
          <a:xfrm>
            <a:off x="249173" y="703151"/>
            <a:ext cx="11942826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En la clase anterior lo vimos construyendo una MT.</a:t>
            </a:r>
          </a:p>
          <a:p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Lo mismo se puede ver por medio de las reducciones.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 prueba que todo lenguaje L de RE cumple L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HP: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D037DD-F65C-E00F-723D-E50C4BAF96E6}"/>
              </a:ext>
            </a:extLst>
          </p:cNvPr>
          <p:cNvSpPr txBox="1"/>
          <p:nvPr/>
        </p:nvSpPr>
        <p:spPr>
          <a:xfrm>
            <a:off x="1007751" y="4237599"/>
            <a:ext cx="2978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Idea general de la prueba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52530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/>
      <p:bldP spid="19" grpId="0" animBg="1"/>
      <p:bldP spid="39" grpId="0"/>
      <p:bldP spid="42" grpId="0"/>
      <p:bldP spid="48" grpId="0" animBg="1"/>
      <p:bldP spid="50" grpId="0"/>
      <p:bldP spid="52" grpId="0"/>
      <p:bldP spid="53" grpId="0"/>
      <p:bldP spid="62" grpId="0"/>
      <p:bldP spid="6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690017FF-5AEE-4A38-A250-2EC7E8E4091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AD471F5-AA28-438C-BEF5-7E515396915C}"/>
              </a:ext>
            </a:extLst>
          </p:cNvPr>
          <p:cNvSpPr/>
          <p:nvPr/>
        </p:nvSpPr>
        <p:spPr>
          <a:xfrm>
            <a:off x="2829499" y="134073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C00EB7-2D4F-BBBC-118B-A4EFAF5C12D5}"/>
              </a:ext>
            </a:extLst>
          </p:cNvPr>
          <p:cNvSpPr/>
          <p:nvPr/>
        </p:nvSpPr>
        <p:spPr>
          <a:xfrm>
            <a:off x="5926821" y="1875887"/>
            <a:ext cx="520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es-MX" sz="1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9F0E238-5FF6-C274-C127-509C850A6637}"/>
              </a:ext>
            </a:extLst>
          </p:cNvPr>
          <p:cNvSpPr/>
          <p:nvPr/>
        </p:nvSpPr>
        <p:spPr>
          <a:xfrm>
            <a:off x="4284019" y="2175861"/>
            <a:ext cx="5196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MX" sz="1400" b="1" dirty="0">
              <a:solidFill>
                <a:srgbClr val="0070C0"/>
              </a:solidFill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AB2175E-77DD-4616-D961-56F8F61E5511}"/>
              </a:ext>
            </a:extLst>
          </p:cNvPr>
          <p:cNvSpPr/>
          <p:nvPr/>
        </p:nvSpPr>
        <p:spPr>
          <a:xfrm>
            <a:off x="8662721" y="308935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28AC89C-7459-23C8-0128-7C840A16B0D5}"/>
              </a:ext>
            </a:extLst>
          </p:cNvPr>
          <p:cNvSpPr/>
          <p:nvPr/>
        </p:nvSpPr>
        <p:spPr>
          <a:xfrm>
            <a:off x="2897266" y="1794694"/>
            <a:ext cx="434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HP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D74276C-FBFE-16C3-F989-58DA5A214F99}"/>
              </a:ext>
            </a:extLst>
          </p:cNvPr>
          <p:cNvSpPr/>
          <p:nvPr/>
        </p:nvSpPr>
        <p:spPr>
          <a:xfrm>
            <a:off x="3260948" y="1498751"/>
            <a:ext cx="3706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s-AR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1393BDC-8EE0-6542-C3E0-47C49B0CAE9E}"/>
              </a:ext>
            </a:extLst>
          </p:cNvPr>
          <p:cNvSpPr/>
          <p:nvPr/>
        </p:nvSpPr>
        <p:spPr>
          <a:xfrm>
            <a:off x="5580546" y="666825"/>
            <a:ext cx="7534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44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38F50BF-FB0A-C3E6-0595-4EB6C4584DA0}"/>
              </a:ext>
            </a:extLst>
          </p:cNvPr>
          <p:cNvSpPr/>
          <p:nvPr/>
        </p:nvSpPr>
        <p:spPr>
          <a:xfrm>
            <a:off x="5641439" y="1418948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8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5981943-E529-D576-AE2E-3750645C53E5}"/>
              </a:ext>
            </a:extLst>
          </p:cNvPr>
          <p:cNvSpPr/>
          <p:nvPr/>
        </p:nvSpPr>
        <p:spPr>
          <a:xfrm>
            <a:off x="3909563" y="1366762"/>
            <a:ext cx="10098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800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5BBE45A-50C6-29E8-6C37-763074C0932D}"/>
              </a:ext>
            </a:extLst>
          </p:cNvPr>
          <p:cNvSpPr/>
          <p:nvPr/>
        </p:nvSpPr>
        <p:spPr>
          <a:xfrm>
            <a:off x="6581168" y="1391030"/>
            <a:ext cx="1590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800" dirty="0"/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1C305C15-6346-B635-3ED6-AC1E72736672}"/>
              </a:ext>
            </a:extLst>
          </p:cNvPr>
          <p:cNvSpPr/>
          <p:nvPr/>
        </p:nvSpPr>
        <p:spPr>
          <a:xfrm>
            <a:off x="2829499" y="1283318"/>
            <a:ext cx="3673056" cy="137182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52FD0F51-DD4B-E430-B956-F17B22FF6FD6}"/>
              </a:ext>
            </a:extLst>
          </p:cNvPr>
          <p:cNvSpPr/>
          <p:nvPr/>
        </p:nvSpPr>
        <p:spPr>
          <a:xfrm>
            <a:off x="5151100" y="1257189"/>
            <a:ext cx="3850171" cy="134101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Diagrama de flujo: conector 42">
            <a:extLst>
              <a:ext uri="{FF2B5EF4-FFF2-40B4-BE49-F238E27FC236}">
                <a16:creationId xmlns:a16="http://schemas.microsoft.com/office/drawing/2014/main" id="{E78AF5C7-26B1-5255-E178-FDAF785D82C7}"/>
              </a:ext>
            </a:extLst>
          </p:cNvPr>
          <p:cNvSpPr/>
          <p:nvPr/>
        </p:nvSpPr>
        <p:spPr>
          <a:xfrm>
            <a:off x="2273833" y="754433"/>
            <a:ext cx="7381195" cy="237623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0166372-4111-CFDB-9D76-3A89D1A9A058}"/>
              </a:ext>
            </a:extLst>
          </p:cNvPr>
          <p:cNvSpPr/>
          <p:nvPr/>
        </p:nvSpPr>
        <p:spPr>
          <a:xfrm>
            <a:off x="4164473" y="2712108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MX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722F06-C7F6-4217-98FC-726BF6755F96}"/>
              </a:ext>
            </a:extLst>
          </p:cNvPr>
          <p:cNvSpPr txBox="1"/>
          <p:nvPr/>
        </p:nvSpPr>
        <p:spPr>
          <a:xfrm>
            <a:off x="304536" y="3229401"/>
            <a:ext cx="1149760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ACC,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 de accesibilidad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¿El grafo no dirigido G tiene un camino de su primer a su último vértice?</a:t>
            </a:r>
          </a:p>
          <a:p>
            <a:pPr algn="just">
              <a:defRPr/>
            </a:pPr>
            <a:endParaRPr lang="es-AR" sz="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SAT,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 de satisfactibilidad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¿La fórmula booleana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A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endParaRPr lang="es-AR" sz="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 de la parada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¿La MT M para a partir de la cadena de entrada w?</a:t>
            </a:r>
            <a:endParaRPr lang="es-A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endParaRPr lang="es-AR" sz="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s-AR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 de aceptación universal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¿La MT M acepta la cadena de entrada w?</a:t>
            </a:r>
          </a:p>
          <a:p>
            <a:pPr algn="just">
              <a:defRPr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¿El lenguaje aceptado por la MT M es el lenguaje vacío?, es decir:</a:t>
            </a:r>
          </a:p>
          <a:p>
            <a:pPr algn="just">
              <a:defRPr/>
            </a:pPr>
            <a:endParaRPr lang="es-AR" sz="600" dirty="0"/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¿El lenguaje aceptado por la MT M es el lenguaje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</a:rPr>
              <a:t> Ʃ*?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defRPr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 de equivalencia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¿Las MT M y M´ son equivalentes?</a:t>
            </a:r>
          </a:p>
          <a:p>
            <a:pPr algn="just">
              <a:defRPr/>
            </a:pPr>
            <a:endParaRPr lang="es-AR" sz="6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endParaRPr lang="es-AR" sz="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Ɵ,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 de decisión en la lógica de predicados (LP): 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¿La fórmula Ɵ es un teorema de la LP?</a:t>
            </a:r>
          </a:p>
          <a:p>
            <a:pPr algn="just">
              <a:defRPr/>
            </a:pPr>
            <a:endParaRPr lang="es-AR" sz="600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  <a:defRPr/>
            </a:pPr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|= 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problema de decisión en la aritmética</a:t>
            </a:r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¿El enunciado aritmético 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r>
              <a:rPr lang="es-AR" sz="18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verdadero?</a:t>
            </a:r>
            <a:endParaRPr lang="es-AR" sz="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4331C-EE1E-F0CA-CE16-83DC2E18875D}"/>
              </a:ext>
            </a:extLst>
          </p:cNvPr>
          <p:cNvSpPr txBox="1"/>
          <p:nvPr/>
        </p:nvSpPr>
        <p:spPr>
          <a:xfrm>
            <a:off x="6676923" y="2712107"/>
            <a:ext cx="555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s-AR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EQ</a:t>
            </a: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972583-0224-6CC4-1E2A-8F236C446FAB}"/>
              </a:ext>
            </a:extLst>
          </p:cNvPr>
          <p:cNvSpPr/>
          <p:nvPr/>
        </p:nvSpPr>
        <p:spPr>
          <a:xfrm>
            <a:off x="249173" y="143605"/>
            <a:ext cx="11684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Una última mirada a problemas clásicos de la computabilidad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E8C670-4F88-BC26-496A-40100D1EF2F8}"/>
              </a:ext>
            </a:extLst>
          </p:cNvPr>
          <p:cNvSpPr/>
          <p:nvPr/>
        </p:nvSpPr>
        <p:spPr>
          <a:xfrm>
            <a:off x="5271866" y="1869145"/>
            <a:ext cx="4798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/>
              <a:t>ACC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23F8EC-AA49-33C6-7EF0-307ABE557A8D}"/>
              </a:ext>
            </a:extLst>
          </p:cNvPr>
          <p:cNvSpPr txBox="1"/>
          <p:nvPr/>
        </p:nvSpPr>
        <p:spPr>
          <a:xfrm>
            <a:off x="8108481" y="2041458"/>
            <a:ext cx="527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sz="14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es-AR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4539C8-AB14-BD0B-8CBD-8728078E17B2}"/>
              </a:ext>
            </a:extLst>
          </p:cNvPr>
          <p:cNvSpPr txBox="1"/>
          <p:nvPr/>
        </p:nvSpPr>
        <p:spPr>
          <a:xfrm>
            <a:off x="5544890" y="2730051"/>
            <a:ext cx="937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|= </a:t>
            </a:r>
            <a:r>
              <a:rPr lang="es-AR" sz="14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443143-803C-5B67-C2B8-24B3B1832890}"/>
              </a:ext>
            </a:extLst>
          </p:cNvPr>
          <p:cNvSpPr/>
          <p:nvPr/>
        </p:nvSpPr>
        <p:spPr>
          <a:xfrm>
            <a:off x="8458895" y="1793861"/>
            <a:ext cx="521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806D7F-F51F-05B6-74DA-0799B07030EC}"/>
              </a:ext>
            </a:extLst>
          </p:cNvPr>
          <p:cNvSpPr/>
          <p:nvPr/>
        </p:nvSpPr>
        <p:spPr>
          <a:xfrm>
            <a:off x="8108481" y="1436266"/>
            <a:ext cx="457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s-AR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6F9B24-D35B-7E65-BE33-6621542FE51B}"/>
              </a:ext>
            </a:extLst>
          </p:cNvPr>
          <p:cNvSpPr txBox="1"/>
          <p:nvPr/>
        </p:nvSpPr>
        <p:spPr>
          <a:xfrm>
            <a:off x="3260948" y="2090627"/>
            <a:ext cx="527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sz="14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020CB8B-838A-8C45-8BEF-87B41FF5C28D}"/>
              </a:ext>
            </a:extLst>
          </p:cNvPr>
          <p:cNvSpPr txBox="1"/>
          <p:nvPr/>
        </p:nvSpPr>
        <p:spPr>
          <a:xfrm>
            <a:off x="7285818" y="2696944"/>
            <a:ext cx="555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A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</a:t>
            </a:r>
            <a:r>
              <a:rPr kumimoji="0" lang="es-AR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EQ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D7CB3E-CC33-ADE9-0285-B3F5C2F1D2B6}"/>
              </a:ext>
            </a:extLst>
          </p:cNvPr>
          <p:cNvSpPr/>
          <p:nvPr/>
        </p:nvSpPr>
        <p:spPr>
          <a:xfrm>
            <a:off x="4654632" y="2713584"/>
            <a:ext cx="490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080E63E-5083-A1D3-4F95-A362D6842651}"/>
              </a:ext>
            </a:extLst>
          </p:cNvPr>
          <p:cNvSpPr txBox="1"/>
          <p:nvPr/>
        </p:nvSpPr>
        <p:spPr>
          <a:xfrm>
            <a:off x="7841006" y="4694292"/>
            <a:ext cx="3842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{&lt;M&gt; | L(M) =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∅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78491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480000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C9A3-CED9-068A-4A9F-500EC1F0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85708D61-8D2B-A47D-2727-7298D9D64E0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8AEFCA0-3A27-015B-458A-EEBF1B8097EC}"/>
              </a:ext>
            </a:extLst>
          </p:cNvPr>
          <p:cNvSpPr/>
          <p:nvPr/>
        </p:nvSpPr>
        <p:spPr>
          <a:xfrm>
            <a:off x="249173" y="143605"/>
            <a:ext cx="11684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Otros ejemplos clásicos de reducciones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80832A4-B5EA-6EF8-B6F1-DFB891304AFE}"/>
              </a:ext>
            </a:extLst>
          </p:cNvPr>
          <p:cNvSpPr/>
          <p:nvPr/>
        </p:nvSpPr>
        <p:spPr>
          <a:xfrm>
            <a:off x="4025481" y="982217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BF2CF77-32F7-7D6C-551A-246CC4E8D1D7}"/>
              </a:ext>
            </a:extLst>
          </p:cNvPr>
          <p:cNvSpPr/>
          <p:nvPr/>
        </p:nvSpPr>
        <p:spPr>
          <a:xfrm>
            <a:off x="2333075" y="1352216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9DD7F77C-89CA-CAA6-1CDB-E2523F711B6D}"/>
              </a:ext>
            </a:extLst>
          </p:cNvPr>
          <p:cNvSpPr/>
          <p:nvPr/>
        </p:nvSpPr>
        <p:spPr>
          <a:xfrm>
            <a:off x="2013672" y="797885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1E4F54E-478E-BF13-F402-C0A447078097}"/>
              </a:ext>
            </a:extLst>
          </p:cNvPr>
          <p:cNvSpPr/>
          <p:nvPr/>
        </p:nvSpPr>
        <p:spPr>
          <a:xfrm>
            <a:off x="3996808" y="1349033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46A67F17-3037-E23F-B946-38D6A9005777}"/>
              </a:ext>
            </a:extLst>
          </p:cNvPr>
          <p:cNvSpPr/>
          <p:nvPr/>
        </p:nvSpPr>
        <p:spPr>
          <a:xfrm>
            <a:off x="3647129" y="792933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C3D72CB-1724-B191-9C3A-B47962713083}"/>
              </a:ext>
            </a:extLst>
          </p:cNvPr>
          <p:cNvCxnSpPr>
            <a:cxnSpLocks/>
          </p:cNvCxnSpPr>
          <p:nvPr/>
        </p:nvCxnSpPr>
        <p:spPr>
          <a:xfrm>
            <a:off x="3028863" y="1519341"/>
            <a:ext cx="9314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4B50C72-B8F5-5CD6-841D-253565FF15DD}"/>
              </a:ext>
            </a:extLst>
          </p:cNvPr>
          <p:cNvSpPr/>
          <p:nvPr/>
        </p:nvSpPr>
        <p:spPr>
          <a:xfrm>
            <a:off x="3910975" y="1328519"/>
            <a:ext cx="7958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&lt;M´&gt;</a:t>
            </a:r>
            <a:endParaRPr lang="es-AR" sz="16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884D723-DF1B-39C4-FB27-2D18C6B76BFB}"/>
              </a:ext>
            </a:extLst>
          </p:cNvPr>
          <p:cNvSpPr/>
          <p:nvPr/>
        </p:nvSpPr>
        <p:spPr>
          <a:xfrm>
            <a:off x="3133608" y="1665501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895FD37-4552-A25D-413C-3D59A04F9098}"/>
              </a:ext>
            </a:extLst>
          </p:cNvPr>
          <p:cNvSpPr/>
          <p:nvPr/>
        </p:nvSpPr>
        <p:spPr>
          <a:xfrm>
            <a:off x="3194763" y="1740344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2014A95-7AB1-F77D-6399-63A4C8F4A62C}"/>
              </a:ext>
            </a:extLst>
          </p:cNvPr>
          <p:cNvSpPr/>
          <p:nvPr/>
        </p:nvSpPr>
        <p:spPr>
          <a:xfrm>
            <a:off x="2331046" y="885854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A10AB86-199D-B685-7225-9628C6F47768}"/>
              </a:ext>
            </a:extLst>
          </p:cNvPr>
          <p:cNvSpPr/>
          <p:nvPr/>
        </p:nvSpPr>
        <p:spPr>
          <a:xfrm>
            <a:off x="3963721" y="873372"/>
            <a:ext cx="478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MX" b="1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F98839B-F168-DAE7-872F-3292D6587B0A}"/>
              </a:ext>
            </a:extLst>
          </p:cNvPr>
          <p:cNvSpPr/>
          <p:nvPr/>
        </p:nvSpPr>
        <p:spPr>
          <a:xfrm>
            <a:off x="2111806" y="1329994"/>
            <a:ext cx="10218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0A628AD-1030-2990-6156-2D51448622E0}"/>
              </a:ext>
            </a:extLst>
          </p:cNvPr>
          <p:cNvSpPr txBox="1"/>
          <p:nvPr/>
        </p:nvSpPr>
        <p:spPr>
          <a:xfrm>
            <a:off x="249173" y="1186798"/>
            <a:ext cx="1570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1) L</a:t>
            </a:r>
            <a:r>
              <a:rPr kumimoji="0" lang="es-AR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MX" b="1" dirty="0"/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BDD3D3A0-A53F-633A-B098-376845F34F99}"/>
              </a:ext>
            </a:extLst>
          </p:cNvPr>
          <p:cNvCxnSpPr>
            <a:cxnSpLocks/>
          </p:cNvCxnSpPr>
          <p:nvPr/>
        </p:nvCxnSpPr>
        <p:spPr>
          <a:xfrm>
            <a:off x="3028863" y="2288429"/>
            <a:ext cx="9314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D456E13-000B-B95A-FBA5-7BA08C57C048}"/>
              </a:ext>
            </a:extLst>
          </p:cNvPr>
          <p:cNvSpPr/>
          <p:nvPr/>
        </p:nvSpPr>
        <p:spPr>
          <a:xfrm>
            <a:off x="5203020" y="819547"/>
            <a:ext cx="586420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RE, entonces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RE.</a:t>
            </a:r>
          </a:p>
          <a:p>
            <a:endParaRPr lang="es-AR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También se cumple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MX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(se prueba en la clase práctica).</a:t>
            </a:r>
          </a:p>
          <a:p>
            <a:r>
              <a:rPr lang="es-AR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 así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RE.</a:t>
            </a:r>
          </a:p>
          <a:p>
            <a:endParaRPr lang="es-AR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definitiva: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están en </a:t>
            </a:r>
            <a:r>
              <a:rPr lang="es-AR" sz="2000" b="1" dirty="0">
                <a:solidFill>
                  <a:srgbClr val="0070C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(RE </a:t>
            </a:r>
            <a:r>
              <a:rPr lang="es-AR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⋃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CO-RE). </a:t>
            </a:r>
            <a:r>
              <a:rPr lang="es-AR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6335EBF-A242-ABF0-B863-F3A44BFE1090}"/>
              </a:ext>
            </a:extLst>
          </p:cNvPr>
          <p:cNvSpPr/>
          <p:nvPr/>
        </p:nvSpPr>
        <p:spPr>
          <a:xfrm>
            <a:off x="4081483" y="2815601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8CFA9D57-9A7B-B1EE-7AA7-4A1462D6665E}"/>
              </a:ext>
            </a:extLst>
          </p:cNvPr>
          <p:cNvSpPr/>
          <p:nvPr/>
        </p:nvSpPr>
        <p:spPr>
          <a:xfrm>
            <a:off x="2389077" y="3185600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55" name="Diagrama de flujo: conector 54">
            <a:extLst>
              <a:ext uri="{FF2B5EF4-FFF2-40B4-BE49-F238E27FC236}">
                <a16:creationId xmlns:a16="http://schemas.microsoft.com/office/drawing/2014/main" id="{5A325922-CAE5-7C9F-697D-92770B56B3BC}"/>
              </a:ext>
            </a:extLst>
          </p:cNvPr>
          <p:cNvSpPr/>
          <p:nvPr/>
        </p:nvSpPr>
        <p:spPr>
          <a:xfrm>
            <a:off x="2039398" y="2629500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7F77F91-E67D-4908-1DFD-7DC371B3431F}"/>
              </a:ext>
            </a:extLst>
          </p:cNvPr>
          <p:cNvSpPr/>
          <p:nvPr/>
        </p:nvSpPr>
        <p:spPr>
          <a:xfrm>
            <a:off x="4052810" y="3182417"/>
            <a:ext cx="4683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57" name="Diagrama de flujo: conector 56">
            <a:extLst>
              <a:ext uri="{FF2B5EF4-FFF2-40B4-BE49-F238E27FC236}">
                <a16:creationId xmlns:a16="http://schemas.microsoft.com/office/drawing/2014/main" id="{47EBDB15-301E-F230-B223-2074A27D71F2}"/>
              </a:ext>
            </a:extLst>
          </p:cNvPr>
          <p:cNvSpPr/>
          <p:nvPr/>
        </p:nvSpPr>
        <p:spPr>
          <a:xfrm>
            <a:off x="3703131" y="2626317"/>
            <a:ext cx="1150211" cy="1293227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BEA655E6-0E68-DE6E-8AB5-48F6C5380CB3}"/>
              </a:ext>
            </a:extLst>
          </p:cNvPr>
          <p:cNvCxnSpPr>
            <a:cxnSpLocks/>
          </p:cNvCxnSpPr>
          <p:nvPr/>
        </p:nvCxnSpPr>
        <p:spPr>
          <a:xfrm>
            <a:off x="3084865" y="3352725"/>
            <a:ext cx="9314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8A58708-78A5-F47C-452B-F2D594833225}"/>
              </a:ext>
            </a:extLst>
          </p:cNvPr>
          <p:cNvSpPr/>
          <p:nvPr/>
        </p:nvSpPr>
        <p:spPr>
          <a:xfrm>
            <a:off x="3966977" y="3161903"/>
            <a:ext cx="7958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&lt;M´&gt;</a:t>
            </a:r>
            <a:endParaRPr lang="es-AR" sz="1600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32DAB2C4-4939-881E-F2AF-7E6B9F1C6AB4}"/>
              </a:ext>
            </a:extLst>
          </p:cNvPr>
          <p:cNvSpPr/>
          <p:nvPr/>
        </p:nvSpPr>
        <p:spPr>
          <a:xfrm>
            <a:off x="3189610" y="3498885"/>
            <a:ext cx="513522" cy="475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6A2FC79F-B9E2-E928-D8FC-0BF417FD9279}"/>
              </a:ext>
            </a:extLst>
          </p:cNvPr>
          <p:cNvSpPr/>
          <p:nvPr/>
        </p:nvSpPr>
        <p:spPr>
          <a:xfrm>
            <a:off x="3250765" y="3573728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F49FE5D-EC0D-1638-7D9E-85AC57CDDF4D}"/>
              </a:ext>
            </a:extLst>
          </p:cNvPr>
          <p:cNvSpPr/>
          <p:nvPr/>
        </p:nvSpPr>
        <p:spPr>
          <a:xfrm>
            <a:off x="2387048" y="2719238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AF1786B0-20FE-1786-AFFD-7912D0F56D52}"/>
              </a:ext>
            </a:extLst>
          </p:cNvPr>
          <p:cNvSpPr/>
          <p:nvPr/>
        </p:nvSpPr>
        <p:spPr>
          <a:xfrm>
            <a:off x="4019723" y="2706756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es-MX" b="1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3C652D4-C81D-5FB9-BCC0-FE2415B7836C}"/>
              </a:ext>
            </a:extLst>
          </p:cNvPr>
          <p:cNvSpPr/>
          <p:nvPr/>
        </p:nvSpPr>
        <p:spPr>
          <a:xfrm>
            <a:off x="2167808" y="3163378"/>
            <a:ext cx="10218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2454B5F-681D-ED6B-5346-58B62A1F22B4}"/>
              </a:ext>
            </a:extLst>
          </p:cNvPr>
          <p:cNvSpPr txBox="1"/>
          <p:nvPr/>
        </p:nvSpPr>
        <p:spPr>
          <a:xfrm>
            <a:off x="305175" y="3020182"/>
            <a:ext cx="1570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 L</a:t>
            </a:r>
            <a:r>
              <a:rPr kumimoji="0" lang="es-AR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s-MX" b="1" dirty="0"/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C12C238A-709E-D2B2-B771-1A33ABCB92B3}"/>
              </a:ext>
            </a:extLst>
          </p:cNvPr>
          <p:cNvCxnSpPr>
            <a:cxnSpLocks/>
          </p:cNvCxnSpPr>
          <p:nvPr/>
        </p:nvCxnSpPr>
        <p:spPr>
          <a:xfrm>
            <a:off x="3084865" y="4121813"/>
            <a:ext cx="9314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29959CF0-645E-6E63-AACE-203F55CBE168}"/>
              </a:ext>
            </a:extLst>
          </p:cNvPr>
          <p:cNvSpPr/>
          <p:nvPr/>
        </p:nvSpPr>
        <p:spPr>
          <a:xfrm>
            <a:off x="5203020" y="2617677"/>
            <a:ext cx="61079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kumimoji="0" lang="es-A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sz="160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MX" sz="16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RE.</a:t>
            </a:r>
          </a:p>
          <a:p>
            <a:endParaRPr lang="es-AR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 otro lado, probamos antes, por construcción, que 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6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b="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RE</a:t>
            </a:r>
          </a:p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(se puede detectar si 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una MT acepta al menos una cadena).</a:t>
            </a:r>
          </a:p>
          <a:p>
            <a:endParaRPr lang="es-AR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definitiva: </a:t>
            </a:r>
            <a:r>
              <a:rPr lang="es-AR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600" b="1" baseline="300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está en CO-RE y L</a:t>
            </a:r>
            <a:r>
              <a:rPr lang="es-AR" sz="1600" b="1" baseline="-250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está en RE.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0C9046D-BC45-6637-C0E8-41148A0E3169}"/>
              </a:ext>
            </a:extLst>
          </p:cNvPr>
          <p:cNvSpPr/>
          <p:nvPr/>
        </p:nvSpPr>
        <p:spPr>
          <a:xfrm>
            <a:off x="1570312" y="419597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19200BF-410A-D6E9-4DEF-48DDDBE8C256}"/>
              </a:ext>
            </a:extLst>
          </p:cNvPr>
          <p:cNvSpPr/>
          <p:nvPr/>
        </p:nvSpPr>
        <p:spPr>
          <a:xfrm>
            <a:off x="4113165" y="5319582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346DECA-87F1-A31E-09BD-44745FEA114A}"/>
              </a:ext>
            </a:extLst>
          </p:cNvPr>
          <p:cNvSpPr/>
          <p:nvPr/>
        </p:nvSpPr>
        <p:spPr>
          <a:xfrm>
            <a:off x="3217608" y="4877557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66A1A67-121F-EC59-1A14-21C27D2F16FA}"/>
              </a:ext>
            </a:extLst>
          </p:cNvPr>
          <p:cNvSpPr/>
          <p:nvPr/>
        </p:nvSpPr>
        <p:spPr>
          <a:xfrm>
            <a:off x="4606313" y="4891638"/>
            <a:ext cx="10118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b="1" dirty="0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FD91D59-3C3C-4B96-FE56-8D6B871E01DC}"/>
              </a:ext>
            </a:extLst>
          </p:cNvPr>
          <p:cNvSpPr/>
          <p:nvPr/>
        </p:nvSpPr>
        <p:spPr>
          <a:xfrm>
            <a:off x="2493386" y="4799081"/>
            <a:ext cx="2158925" cy="151596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F8CFBA09-589C-298C-D27C-96084FCBA52E}"/>
              </a:ext>
            </a:extLst>
          </p:cNvPr>
          <p:cNvSpPr/>
          <p:nvPr/>
        </p:nvSpPr>
        <p:spPr>
          <a:xfrm>
            <a:off x="3938330" y="4796612"/>
            <a:ext cx="2220287" cy="151596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167D9CB3-A7D6-2129-5B8C-32D7DE678F43}"/>
              </a:ext>
            </a:extLst>
          </p:cNvPr>
          <p:cNvSpPr/>
          <p:nvPr/>
        </p:nvSpPr>
        <p:spPr>
          <a:xfrm>
            <a:off x="2192074" y="4513527"/>
            <a:ext cx="4199860" cy="213639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CF9A17D-EC17-7139-8B5B-B8A77BD8FB4E}"/>
              </a:ext>
            </a:extLst>
          </p:cNvPr>
          <p:cNvSpPr txBox="1"/>
          <p:nvPr/>
        </p:nvSpPr>
        <p:spPr>
          <a:xfrm>
            <a:off x="4099397" y="4551529"/>
            <a:ext cx="463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endParaRPr lang="es-MX" sz="2400" b="1" dirty="0">
              <a:latin typeface="Lucida Calligraphy" panose="03010101010101010101" pitchFamily="66" charset="0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3A4D353-6B81-D601-7351-F7A34CB35089}"/>
              </a:ext>
            </a:extLst>
          </p:cNvPr>
          <p:cNvSpPr/>
          <p:nvPr/>
        </p:nvSpPr>
        <p:spPr>
          <a:xfrm>
            <a:off x="4881768" y="5277667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A726AA7-EEFA-F0D4-375C-FF811A914914}"/>
              </a:ext>
            </a:extLst>
          </p:cNvPr>
          <p:cNvSpPr/>
          <p:nvPr/>
        </p:nvSpPr>
        <p:spPr>
          <a:xfrm>
            <a:off x="3293353" y="5284489"/>
            <a:ext cx="4235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kumimoji="0" lang="es-AR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E35E0FF-7A38-4A7F-717B-8A7ADF1D7A4C}"/>
              </a:ext>
            </a:extLst>
          </p:cNvPr>
          <p:cNvSpPr txBox="1"/>
          <p:nvPr/>
        </p:nvSpPr>
        <p:spPr>
          <a:xfrm>
            <a:off x="3304985" y="5674978"/>
            <a:ext cx="572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AF6E566-B492-2A8E-0E25-581C38546A0C}"/>
              </a:ext>
            </a:extLst>
          </p:cNvPr>
          <p:cNvSpPr txBox="1"/>
          <p:nvPr/>
        </p:nvSpPr>
        <p:spPr>
          <a:xfrm>
            <a:off x="4916673" y="5643450"/>
            <a:ext cx="572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endParaRPr lang="es-AR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D2FA0BB-F68D-8899-3454-7A5E49534DD2}"/>
              </a:ext>
            </a:extLst>
          </p:cNvPr>
          <p:cNvSpPr txBox="1"/>
          <p:nvPr/>
        </p:nvSpPr>
        <p:spPr>
          <a:xfrm>
            <a:off x="4395077" y="6303343"/>
            <a:ext cx="677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B11AAFA-ABBB-3778-6871-17194656462D}"/>
              </a:ext>
            </a:extLst>
          </p:cNvPr>
          <p:cNvSpPr txBox="1"/>
          <p:nvPr/>
        </p:nvSpPr>
        <p:spPr>
          <a:xfrm>
            <a:off x="3656908" y="6297312"/>
            <a:ext cx="677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FAFAA0-36F9-40D3-6C25-B38F060B727E}"/>
              </a:ext>
            </a:extLst>
          </p:cNvPr>
          <p:cNvSpPr txBox="1"/>
          <p:nvPr/>
        </p:nvSpPr>
        <p:spPr>
          <a:xfrm>
            <a:off x="6566769" y="5109533"/>
            <a:ext cx="55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{(&lt;M&gt;, w) | M acepta w}. 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1E4FDF-742F-A04B-F7EE-ACF51AA1D0F9}"/>
              </a:ext>
            </a:extLst>
          </p:cNvPr>
          <p:cNvSpPr txBox="1"/>
          <p:nvPr/>
        </p:nvSpPr>
        <p:spPr>
          <a:xfrm>
            <a:off x="6566769" y="5537477"/>
            <a:ext cx="55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{&lt;M&gt; | L(M) = Ʃ*} 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C005C87-BA72-E410-58CD-A133DC7D389F}"/>
              </a:ext>
            </a:extLst>
          </p:cNvPr>
          <p:cNvSpPr txBox="1"/>
          <p:nvPr/>
        </p:nvSpPr>
        <p:spPr>
          <a:xfrm>
            <a:off x="6566769" y="5965421"/>
            <a:ext cx="55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{&lt;M&gt; | L(M) =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∅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016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0E7DA53A-50AB-463F-82B4-421554541D6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C1388EF-1748-4E22-AB5F-AB4632482236}"/>
              </a:ext>
            </a:extLst>
          </p:cNvPr>
          <p:cNvSpPr/>
          <p:nvPr/>
        </p:nvSpPr>
        <p:spPr>
          <a:xfrm>
            <a:off x="608008" y="5085213"/>
            <a:ext cx="11106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Sabemos que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implica (L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R ⟶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R). Por lo tanto,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HP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E70294E5-600F-4970-9B70-D77626D30FA6}"/>
              </a:ext>
            </a:extLst>
          </p:cNvPr>
          <p:cNvSpPr txBox="1"/>
          <p:nvPr/>
        </p:nvSpPr>
        <p:spPr>
          <a:xfrm>
            <a:off x="608008" y="5702032"/>
            <a:ext cx="10656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</a:rPr>
              <a:t>La lógica de predicados es indecidible, porque el </a:t>
            </a:r>
            <a:r>
              <a:rPr lang="es-AR" b="1" i="1" dirty="0" err="1">
                <a:solidFill>
                  <a:srgbClr val="0070C0"/>
                </a:solidFill>
                <a:latin typeface="Arial" panose="020B0604020202020204" pitchFamily="34" charset="0"/>
              </a:rPr>
              <a:t>halting</a:t>
            </a:r>
            <a:r>
              <a:rPr lang="es-AR" b="1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s-AR" b="1" i="1" dirty="0" err="1">
                <a:solidFill>
                  <a:srgbClr val="0070C0"/>
                </a:solidFill>
                <a:latin typeface="Arial" panose="020B0604020202020204" pitchFamily="34" charset="0"/>
              </a:rPr>
              <a:t>problem</a:t>
            </a:r>
            <a:r>
              <a:rPr lang="es-AR" b="1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</a:rPr>
              <a:t>es indecidible.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AB1CF5-16FF-0CF5-5761-D317AB9EC3BA}"/>
              </a:ext>
            </a:extLst>
          </p:cNvPr>
          <p:cNvSpPr/>
          <p:nvPr/>
        </p:nvSpPr>
        <p:spPr>
          <a:xfrm>
            <a:off x="204139" y="184706"/>
            <a:ext cx="10483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Prueba de 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indecibilidad</a:t>
            </a: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en la lógica de predicados (Turing, 1936)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8505FB-F212-D0E3-48E3-64BBBF2953A3}"/>
              </a:ext>
            </a:extLst>
          </p:cNvPr>
          <p:cNvSpPr txBox="1"/>
          <p:nvPr/>
        </p:nvSpPr>
        <p:spPr>
          <a:xfrm>
            <a:off x="252214" y="1888204"/>
            <a:ext cx="3896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de HP a </a:t>
            </a:r>
            <a:r>
              <a:rPr lang="es-AR" sz="1800" u="sng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18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35FC5373-D1FC-5A38-CBA0-7EB3D909187A}"/>
              </a:ext>
            </a:extLst>
          </p:cNvPr>
          <p:cNvSpPr/>
          <p:nvPr/>
        </p:nvSpPr>
        <p:spPr>
          <a:xfrm>
            <a:off x="4122320" y="1120086"/>
            <a:ext cx="1678085" cy="2000276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B9264EC-4755-1ACC-283F-1502FC6FDE72}"/>
              </a:ext>
            </a:extLst>
          </p:cNvPr>
          <p:cNvSpPr/>
          <p:nvPr/>
        </p:nvSpPr>
        <p:spPr>
          <a:xfrm>
            <a:off x="4655028" y="1310643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MX" sz="2400" dirty="0"/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EBF018A3-3C7A-DEE8-D2E1-365321EA0C32}"/>
              </a:ext>
            </a:extLst>
          </p:cNvPr>
          <p:cNvSpPr/>
          <p:nvPr/>
        </p:nvSpPr>
        <p:spPr>
          <a:xfrm>
            <a:off x="6895021" y="1155968"/>
            <a:ext cx="1678085" cy="2000276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424C1FB-1160-282C-85E1-046DBC40C1B2}"/>
              </a:ext>
            </a:extLst>
          </p:cNvPr>
          <p:cNvSpPr/>
          <p:nvPr/>
        </p:nvSpPr>
        <p:spPr>
          <a:xfrm>
            <a:off x="7368991" y="1322925"/>
            <a:ext cx="760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|– </a:t>
            </a:r>
            <a:r>
              <a:rPr lang="es-AR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MX" sz="24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3061207-9293-F5EE-26EF-0E46FFAA32D5}"/>
              </a:ext>
            </a:extLst>
          </p:cNvPr>
          <p:cNvCxnSpPr>
            <a:cxnSpLocks/>
          </p:cNvCxnSpPr>
          <p:nvPr/>
        </p:nvCxnSpPr>
        <p:spPr>
          <a:xfrm flipV="1">
            <a:off x="5515631" y="2157032"/>
            <a:ext cx="1975405" cy="14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65CCC71-DD8C-3990-814A-5FC49E4231AE}"/>
              </a:ext>
            </a:extLst>
          </p:cNvPr>
          <p:cNvSpPr/>
          <p:nvPr/>
        </p:nvSpPr>
        <p:spPr>
          <a:xfrm>
            <a:off x="4439073" y="1971284"/>
            <a:ext cx="10445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endParaRPr lang="es-MX" sz="16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1598EF7-DF18-D1F8-2822-1D77021DAF86}"/>
              </a:ext>
            </a:extLst>
          </p:cNvPr>
          <p:cNvCxnSpPr>
            <a:cxnSpLocks/>
          </p:cNvCxnSpPr>
          <p:nvPr/>
        </p:nvCxnSpPr>
        <p:spPr>
          <a:xfrm flipV="1">
            <a:off x="5514261" y="3295356"/>
            <a:ext cx="1975405" cy="14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A63D390D-3D57-94FE-48AF-A070F7F5D7CD}"/>
              </a:ext>
            </a:extLst>
          </p:cNvPr>
          <p:cNvSpPr/>
          <p:nvPr/>
        </p:nvSpPr>
        <p:spPr>
          <a:xfrm>
            <a:off x="5863361" y="2342771"/>
            <a:ext cx="968704" cy="809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5F7301-996C-D333-7CE9-DF5B5FF582C5}"/>
              </a:ext>
            </a:extLst>
          </p:cNvPr>
          <p:cNvSpPr/>
          <p:nvPr/>
        </p:nvSpPr>
        <p:spPr>
          <a:xfrm>
            <a:off x="6161130" y="2547980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0517F4-589D-6246-AB23-62B963BDF814}"/>
              </a:ext>
            </a:extLst>
          </p:cNvPr>
          <p:cNvSpPr/>
          <p:nvPr/>
        </p:nvSpPr>
        <p:spPr>
          <a:xfrm>
            <a:off x="4481234" y="3135751"/>
            <a:ext cx="10330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endParaRPr lang="es-MX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83794E-5409-9135-1086-21F0780949AF}"/>
              </a:ext>
            </a:extLst>
          </p:cNvPr>
          <p:cNvSpPr txBox="1"/>
          <p:nvPr/>
        </p:nvSpPr>
        <p:spPr>
          <a:xfrm>
            <a:off x="1874874" y="3646747"/>
            <a:ext cx="84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para a partir de w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 una fórmula demostrable en la lógica de predicados.</a:t>
            </a:r>
            <a:endParaRPr lang="es-AR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697C9E-0CC7-247A-5A61-15905744D019}"/>
              </a:ext>
            </a:extLst>
          </p:cNvPr>
          <p:cNvSpPr txBox="1"/>
          <p:nvPr/>
        </p:nvSpPr>
        <p:spPr>
          <a:xfrm>
            <a:off x="7523016" y="1986829"/>
            <a:ext cx="462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3F2060B-DB8C-DF79-C732-D2ED06CF989C}"/>
              </a:ext>
            </a:extLst>
          </p:cNvPr>
          <p:cNvSpPr txBox="1"/>
          <p:nvPr/>
        </p:nvSpPr>
        <p:spPr>
          <a:xfrm>
            <a:off x="7550550" y="3148588"/>
            <a:ext cx="4623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Ɵ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313316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0E7DA53A-50AB-463F-82B4-421554541D6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C1388EF-1748-4E22-AB5F-AB4632482236}"/>
              </a:ext>
            </a:extLst>
          </p:cNvPr>
          <p:cNvSpPr/>
          <p:nvPr/>
        </p:nvSpPr>
        <p:spPr>
          <a:xfrm>
            <a:off x="664660" y="5074608"/>
            <a:ext cx="11097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Sabemos que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implica (L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 ⟶ 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RE). Por lo tanto,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HP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|=</a:t>
            </a:r>
            <a:r>
              <a:rPr lang="es-AR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r>
              <a:rPr lang="es-AR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E70294E5-600F-4970-9B70-D77626D30FA6}"/>
              </a:ext>
            </a:extLst>
          </p:cNvPr>
          <p:cNvSpPr txBox="1"/>
          <p:nvPr/>
        </p:nvSpPr>
        <p:spPr>
          <a:xfrm>
            <a:off x="664659" y="5686452"/>
            <a:ext cx="10583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</a:rPr>
              <a:t>La aritmética no es computable, porque el complemento del </a:t>
            </a:r>
            <a:r>
              <a:rPr lang="es-AR" b="1" i="1" dirty="0" err="1">
                <a:solidFill>
                  <a:srgbClr val="0070C0"/>
                </a:solidFill>
                <a:latin typeface="Arial" panose="020B0604020202020204" pitchFamily="34" charset="0"/>
              </a:rPr>
              <a:t>halting</a:t>
            </a:r>
            <a:r>
              <a:rPr lang="es-AR" b="1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s-AR" b="1" i="1" dirty="0" err="1">
                <a:solidFill>
                  <a:srgbClr val="0070C0"/>
                </a:solidFill>
                <a:latin typeface="Arial" panose="020B0604020202020204" pitchFamily="34" charset="0"/>
              </a:rPr>
              <a:t>problem</a:t>
            </a:r>
            <a:r>
              <a:rPr lang="es-AR" b="1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</a:rPr>
              <a:t>no es computable.</a:t>
            </a:r>
            <a:endParaRPr lang="es-AR" b="1" dirty="0">
              <a:solidFill>
                <a:srgbClr val="0070C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AB1CF5-16FF-0CF5-5761-D317AB9EC3BA}"/>
              </a:ext>
            </a:extLst>
          </p:cNvPr>
          <p:cNvSpPr/>
          <p:nvPr/>
        </p:nvSpPr>
        <p:spPr>
          <a:xfrm>
            <a:off x="204139" y="184706"/>
            <a:ext cx="119250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Prueba de no computabilidad de la aritmética (alternativa a la prueba de Gödel)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8505FB-F212-D0E3-48E3-64BBBF2953A3}"/>
              </a:ext>
            </a:extLst>
          </p:cNvPr>
          <p:cNvSpPr txBox="1"/>
          <p:nvPr/>
        </p:nvSpPr>
        <p:spPr>
          <a:xfrm>
            <a:off x="252214" y="1888204"/>
            <a:ext cx="3896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de HP</a:t>
            </a:r>
            <a:r>
              <a:rPr lang="es-AR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|=</a:t>
            </a:r>
            <a:r>
              <a:rPr lang="es-AR" sz="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u="sng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35FC5373-D1FC-5A38-CBA0-7EB3D909187A}"/>
              </a:ext>
            </a:extLst>
          </p:cNvPr>
          <p:cNvSpPr/>
          <p:nvPr/>
        </p:nvSpPr>
        <p:spPr>
          <a:xfrm>
            <a:off x="4122320" y="1120086"/>
            <a:ext cx="1678085" cy="2000276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B9264EC-4755-1ACC-283F-1502FC6FDE72}"/>
              </a:ext>
            </a:extLst>
          </p:cNvPr>
          <p:cNvSpPr/>
          <p:nvPr/>
        </p:nvSpPr>
        <p:spPr>
          <a:xfrm>
            <a:off x="4581290" y="1292586"/>
            <a:ext cx="760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2400" dirty="0"/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EBF018A3-3C7A-DEE8-D2E1-365321EA0C32}"/>
              </a:ext>
            </a:extLst>
          </p:cNvPr>
          <p:cNvSpPr/>
          <p:nvPr/>
        </p:nvSpPr>
        <p:spPr>
          <a:xfrm>
            <a:off x="6895021" y="1155968"/>
            <a:ext cx="1678085" cy="2000276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424C1FB-1160-282C-85E1-046DBC40C1B2}"/>
              </a:ext>
            </a:extLst>
          </p:cNvPr>
          <p:cNvSpPr/>
          <p:nvPr/>
        </p:nvSpPr>
        <p:spPr>
          <a:xfrm>
            <a:off x="7237841" y="1312909"/>
            <a:ext cx="982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|=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sz="24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3061207-9293-F5EE-26EF-0E46FFAA32D5}"/>
              </a:ext>
            </a:extLst>
          </p:cNvPr>
          <p:cNvCxnSpPr>
            <a:cxnSpLocks/>
          </p:cNvCxnSpPr>
          <p:nvPr/>
        </p:nvCxnSpPr>
        <p:spPr>
          <a:xfrm flipV="1">
            <a:off x="5503947" y="2148889"/>
            <a:ext cx="1975405" cy="14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65CCC71-DD8C-3990-814A-5FC49E4231AE}"/>
              </a:ext>
            </a:extLst>
          </p:cNvPr>
          <p:cNvSpPr/>
          <p:nvPr/>
        </p:nvSpPr>
        <p:spPr>
          <a:xfrm>
            <a:off x="4464713" y="1971440"/>
            <a:ext cx="10392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endParaRPr lang="es-MX" sz="16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3E357C5-8AB3-9B05-FA02-8EE74C49C7C7}"/>
              </a:ext>
            </a:extLst>
          </p:cNvPr>
          <p:cNvSpPr txBox="1"/>
          <p:nvPr/>
        </p:nvSpPr>
        <p:spPr>
          <a:xfrm>
            <a:off x="7502894" y="1979612"/>
            <a:ext cx="462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sz="1600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1598EF7-DF18-D1F8-2822-1D77021DAF86}"/>
              </a:ext>
            </a:extLst>
          </p:cNvPr>
          <p:cNvCxnSpPr>
            <a:cxnSpLocks/>
          </p:cNvCxnSpPr>
          <p:nvPr/>
        </p:nvCxnSpPr>
        <p:spPr>
          <a:xfrm flipV="1">
            <a:off x="5536527" y="3313173"/>
            <a:ext cx="1975405" cy="14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A63D390D-3D57-94FE-48AF-A070F7F5D7CD}"/>
              </a:ext>
            </a:extLst>
          </p:cNvPr>
          <p:cNvSpPr/>
          <p:nvPr/>
        </p:nvSpPr>
        <p:spPr>
          <a:xfrm>
            <a:off x="5863361" y="2356395"/>
            <a:ext cx="968704" cy="809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5F7301-996C-D333-7CE9-DF5B5FF582C5}"/>
              </a:ext>
            </a:extLst>
          </p:cNvPr>
          <p:cNvSpPr/>
          <p:nvPr/>
        </p:nvSpPr>
        <p:spPr>
          <a:xfrm>
            <a:off x="6161130" y="2561604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0517F4-589D-6246-AB23-62B963BDF814}"/>
              </a:ext>
            </a:extLst>
          </p:cNvPr>
          <p:cNvSpPr/>
          <p:nvPr/>
        </p:nvSpPr>
        <p:spPr>
          <a:xfrm>
            <a:off x="4514726" y="3136650"/>
            <a:ext cx="10218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 w)</a:t>
            </a:r>
            <a:endParaRPr lang="es-MX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670B3F-AC5A-3315-0815-876A44EB8339}"/>
              </a:ext>
            </a:extLst>
          </p:cNvPr>
          <p:cNvSpPr txBox="1"/>
          <p:nvPr/>
        </p:nvSpPr>
        <p:spPr>
          <a:xfrm>
            <a:off x="7544640" y="3145584"/>
            <a:ext cx="462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endParaRPr lang="es-AR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DB094DC-FB93-3FA0-2F13-8391CAB12065}"/>
              </a:ext>
            </a:extLst>
          </p:cNvPr>
          <p:cNvSpPr txBox="1"/>
          <p:nvPr/>
        </p:nvSpPr>
        <p:spPr>
          <a:xfrm>
            <a:off x="2647638" y="3604645"/>
            <a:ext cx="7886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no para a partir de w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es un enunciado verdadero de la aritmética.</a:t>
            </a:r>
            <a:endParaRPr lang="es-AR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51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49173" y="1061018"/>
            <a:ext cx="11512332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AUTÓMATAS FINITOS (AF)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cinta de sólo lectura.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Sólo movimiento a la derecha.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Conjunto F de estados finales.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Cuando alcanza el símbolo B (blanco), el AF para, y acepta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el estado alcanzado es un estado final.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AF constituye un tipo de algoritmo muy utilizado. Por ejemplo: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análisis sintáctico a nivel palabra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los compiladores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x, 10, =, +,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las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inspecciones de código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el control de calidad del software.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DFF78C2-00F2-4BA6-A7D1-7097A0BDA16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590FDA-B37F-88B7-90F2-9E525F4D6F8C}"/>
              </a:ext>
            </a:extLst>
          </p:cNvPr>
          <p:cNvSpPr/>
          <p:nvPr/>
        </p:nvSpPr>
        <p:spPr>
          <a:xfrm>
            <a:off x="249173" y="143605"/>
            <a:ext cx="117202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Máquinas de Turing restringidas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F65A5-021F-3772-1819-0E3AC74D37DE}"/>
              </a:ext>
            </a:extLst>
          </p:cNvPr>
          <p:cNvSpPr/>
          <p:nvPr/>
        </p:nvSpPr>
        <p:spPr>
          <a:xfrm>
            <a:off x="5531300" y="1833908"/>
            <a:ext cx="2129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2CE6D2-3C16-87D4-81D9-245C4D4330C4}"/>
              </a:ext>
            </a:extLst>
          </p:cNvPr>
          <p:cNvSpPr/>
          <p:nvPr/>
        </p:nvSpPr>
        <p:spPr>
          <a:xfrm>
            <a:off x="5863911" y="1840322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2210A23-1FD6-78B5-40A6-DE94878FD7B6}"/>
              </a:ext>
            </a:extLst>
          </p:cNvPr>
          <p:cNvSpPr/>
          <p:nvPr/>
        </p:nvSpPr>
        <p:spPr>
          <a:xfrm flipH="1">
            <a:off x="6223771" y="1833908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7130ED2-DEAA-E7B8-4BB2-90E03B8BBD29}"/>
              </a:ext>
            </a:extLst>
          </p:cNvPr>
          <p:cNvSpPr/>
          <p:nvPr/>
        </p:nvSpPr>
        <p:spPr>
          <a:xfrm>
            <a:off x="6584595" y="1828052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4BD100BE-BE80-E0F6-5335-2EF94B8836E2}"/>
              </a:ext>
            </a:extLst>
          </p:cNvPr>
          <p:cNvSpPr/>
          <p:nvPr/>
        </p:nvSpPr>
        <p:spPr>
          <a:xfrm>
            <a:off x="5491674" y="1791207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503657D-BBB8-1BD7-0D67-6F8691A6BF04}"/>
              </a:ext>
            </a:extLst>
          </p:cNvPr>
          <p:cNvCxnSpPr>
            <a:cxnSpLocks/>
          </p:cNvCxnSpPr>
          <p:nvPr/>
        </p:nvCxnSpPr>
        <p:spPr>
          <a:xfrm>
            <a:off x="5839296" y="1788983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B480D01-F8D4-41D7-F583-7A7F71ACEDEA}"/>
              </a:ext>
            </a:extLst>
          </p:cNvPr>
          <p:cNvCxnSpPr>
            <a:cxnSpLocks/>
          </p:cNvCxnSpPr>
          <p:nvPr/>
        </p:nvCxnSpPr>
        <p:spPr>
          <a:xfrm>
            <a:off x="6191578" y="1790374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51AE16D-3781-3173-E844-9F0A1A32BD72}"/>
              </a:ext>
            </a:extLst>
          </p:cNvPr>
          <p:cNvCxnSpPr>
            <a:cxnSpLocks/>
          </p:cNvCxnSpPr>
          <p:nvPr/>
        </p:nvCxnSpPr>
        <p:spPr>
          <a:xfrm>
            <a:off x="6553528" y="1783959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CB53388-525B-7CC4-277F-69FC6D4C3E32}"/>
              </a:ext>
            </a:extLst>
          </p:cNvPr>
          <p:cNvSpPr/>
          <p:nvPr/>
        </p:nvSpPr>
        <p:spPr>
          <a:xfrm>
            <a:off x="6947583" y="2657440"/>
            <a:ext cx="373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q</a:t>
            </a:r>
            <a:endParaRPr lang="es-MX" b="1" dirty="0"/>
          </a:p>
        </p:txBody>
      </p:sp>
      <p:sp>
        <p:nvSpPr>
          <p:cNvPr id="14" name="Diagrama de flujo: proceso 13">
            <a:extLst>
              <a:ext uri="{FF2B5EF4-FFF2-40B4-BE49-F238E27FC236}">
                <a16:creationId xmlns:a16="http://schemas.microsoft.com/office/drawing/2014/main" id="{7A95429A-8B2B-B75A-5F02-F749772C7580}"/>
              </a:ext>
            </a:extLst>
          </p:cNvPr>
          <p:cNvSpPr/>
          <p:nvPr/>
        </p:nvSpPr>
        <p:spPr>
          <a:xfrm>
            <a:off x="6899809" y="2645410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8BDABC-0493-296D-DB78-D75E8D695011}"/>
              </a:ext>
            </a:extLst>
          </p:cNvPr>
          <p:cNvCxnSpPr>
            <a:cxnSpLocks/>
          </p:cNvCxnSpPr>
          <p:nvPr/>
        </p:nvCxnSpPr>
        <p:spPr>
          <a:xfrm flipV="1">
            <a:off x="7081438" y="2258247"/>
            <a:ext cx="42345" cy="377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55A8697-42D2-11A9-FBBB-19D371C9902F}"/>
              </a:ext>
            </a:extLst>
          </p:cNvPr>
          <p:cNvSpPr/>
          <p:nvPr/>
        </p:nvSpPr>
        <p:spPr>
          <a:xfrm>
            <a:off x="7295992" y="1834397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b="1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F7AE0C1-48CF-5824-4EDD-FA66042D1E82}"/>
              </a:ext>
            </a:extLst>
          </p:cNvPr>
          <p:cNvSpPr/>
          <p:nvPr/>
        </p:nvSpPr>
        <p:spPr>
          <a:xfrm flipH="1">
            <a:off x="7653509" y="1826659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6C99940-A39F-C9E4-E89E-84CB9532867D}"/>
              </a:ext>
            </a:extLst>
          </p:cNvPr>
          <p:cNvSpPr/>
          <p:nvPr/>
        </p:nvSpPr>
        <p:spPr>
          <a:xfrm>
            <a:off x="8007801" y="1829267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43" name="Diagrama de flujo: proceso 42">
            <a:extLst>
              <a:ext uri="{FF2B5EF4-FFF2-40B4-BE49-F238E27FC236}">
                <a16:creationId xmlns:a16="http://schemas.microsoft.com/office/drawing/2014/main" id="{D01E108D-668E-59A8-F535-8BE1E2AAB0F8}"/>
              </a:ext>
            </a:extLst>
          </p:cNvPr>
          <p:cNvSpPr/>
          <p:nvPr/>
        </p:nvSpPr>
        <p:spPr>
          <a:xfrm>
            <a:off x="6915565" y="179548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1CD2609-BD7D-854C-0204-560DC75742CC}"/>
              </a:ext>
            </a:extLst>
          </p:cNvPr>
          <p:cNvCxnSpPr>
            <a:cxnSpLocks/>
          </p:cNvCxnSpPr>
          <p:nvPr/>
        </p:nvCxnSpPr>
        <p:spPr>
          <a:xfrm>
            <a:off x="7269035" y="1781735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EB120D14-B502-FB85-50C4-559BF93DE972}"/>
              </a:ext>
            </a:extLst>
          </p:cNvPr>
          <p:cNvCxnSpPr>
            <a:cxnSpLocks/>
          </p:cNvCxnSpPr>
          <p:nvPr/>
        </p:nvCxnSpPr>
        <p:spPr>
          <a:xfrm>
            <a:off x="7621317" y="178312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34B256A-69D8-2B55-3802-6A2FE32CF0BD}"/>
              </a:ext>
            </a:extLst>
          </p:cNvPr>
          <p:cNvCxnSpPr>
            <a:cxnSpLocks/>
          </p:cNvCxnSpPr>
          <p:nvPr/>
        </p:nvCxnSpPr>
        <p:spPr>
          <a:xfrm>
            <a:off x="7983267" y="1776711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ED00327-F784-3231-E1FA-03E5DB036FA1}"/>
              </a:ext>
            </a:extLst>
          </p:cNvPr>
          <p:cNvSpPr/>
          <p:nvPr/>
        </p:nvSpPr>
        <p:spPr>
          <a:xfrm>
            <a:off x="6919808" y="1829267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endParaRPr lang="es-MX" b="1" dirty="0"/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4F1C62D8-C7C6-9BF1-CC1B-6A22E73631C0}"/>
              </a:ext>
            </a:extLst>
          </p:cNvPr>
          <p:cNvCxnSpPr>
            <a:cxnSpLocks/>
          </p:cNvCxnSpPr>
          <p:nvPr/>
        </p:nvCxnSpPr>
        <p:spPr>
          <a:xfrm>
            <a:off x="5504322" y="2447099"/>
            <a:ext cx="28305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74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49425" y="286190"/>
            <a:ext cx="115555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 = {q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},     </a:t>
            </a:r>
            <a:r>
              <a:rPr lang="es-AR" sz="18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{0, 1},     Estado inicial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    F = {q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lvl="0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1.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1)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		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1)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3.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4.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5.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1)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		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6.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1)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	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7.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8.  δ(q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0) = 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CF90DD1-E21C-4D50-8C85-33DA0BF0A57C}"/>
              </a:ext>
            </a:extLst>
          </p:cNvPr>
          <p:cNvSpPr/>
          <p:nvPr/>
        </p:nvSpPr>
        <p:spPr>
          <a:xfrm>
            <a:off x="5030864" y="3531373"/>
            <a:ext cx="45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0AE386-6684-443E-8E44-CBC0184BFA7A}"/>
              </a:ext>
            </a:extLst>
          </p:cNvPr>
          <p:cNvSpPr/>
          <p:nvPr/>
        </p:nvSpPr>
        <p:spPr>
          <a:xfrm>
            <a:off x="7045319" y="3531373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B4D244-471D-4F89-9C56-8770F3E1A2DB}"/>
              </a:ext>
            </a:extLst>
          </p:cNvPr>
          <p:cNvSpPr/>
          <p:nvPr/>
        </p:nvSpPr>
        <p:spPr>
          <a:xfrm>
            <a:off x="6169265" y="3391782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0B927C-A621-4C34-B90D-949E11D0010A}"/>
              </a:ext>
            </a:extLst>
          </p:cNvPr>
          <p:cNvSpPr/>
          <p:nvPr/>
        </p:nvSpPr>
        <p:spPr>
          <a:xfrm>
            <a:off x="6180852" y="3878878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C29994-028F-4191-9D34-CA47DC9C6215}"/>
              </a:ext>
            </a:extLst>
          </p:cNvPr>
          <p:cNvSpPr/>
          <p:nvPr/>
        </p:nvSpPr>
        <p:spPr>
          <a:xfrm>
            <a:off x="6191001" y="5159361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7625FB-FEEA-4FCB-BF9C-0FDDD79A76A0}"/>
              </a:ext>
            </a:extLst>
          </p:cNvPr>
          <p:cNvSpPr/>
          <p:nvPr/>
        </p:nvSpPr>
        <p:spPr>
          <a:xfrm>
            <a:off x="4863949" y="436701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752B60-45CA-47C7-ABD9-525B48C56275}"/>
              </a:ext>
            </a:extLst>
          </p:cNvPr>
          <p:cNvSpPr/>
          <p:nvPr/>
        </p:nvSpPr>
        <p:spPr>
          <a:xfrm>
            <a:off x="5301944" y="436701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4C88716-60E0-44BF-B6A5-B4CC678F85B9}"/>
              </a:ext>
            </a:extLst>
          </p:cNvPr>
          <p:cNvSpPr/>
          <p:nvPr/>
        </p:nvSpPr>
        <p:spPr>
          <a:xfrm>
            <a:off x="6887015" y="437231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3EF314-18BA-4C8A-8835-A009A9EA26F8}"/>
              </a:ext>
            </a:extLst>
          </p:cNvPr>
          <p:cNvSpPr/>
          <p:nvPr/>
        </p:nvSpPr>
        <p:spPr>
          <a:xfrm>
            <a:off x="7333984" y="437629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MX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017FBEE-F668-489F-8D75-2F0E92B3CB84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4470462" y="3223727"/>
            <a:ext cx="567820" cy="3331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821AC7-89C1-4EDB-8135-128FB94BB946}"/>
              </a:ext>
            </a:extLst>
          </p:cNvPr>
          <p:cNvSpPr/>
          <p:nvPr/>
        </p:nvSpPr>
        <p:spPr>
          <a:xfrm>
            <a:off x="370474" y="4305040"/>
            <a:ext cx="40050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Diagrama de transición de estados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ejecución arranca desde la flecha. 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estados con doble contorno son los estados finales.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A1CEDC9-5CA0-46BC-B288-B8AA502683EE}"/>
              </a:ext>
            </a:extLst>
          </p:cNvPr>
          <p:cNvSpPr/>
          <p:nvPr/>
        </p:nvSpPr>
        <p:spPr>
          <a:xfrm>
            <a:off x="7983619" y="4263487"/>
            <a:ext cx="38849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AF descripto acepta todas las cadenas de 1 y 0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una cantidad par de 1 y una cantidad par de 0.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5F03D94E-0E99-4890-87BD-3AA07192DE01}"/>
              </a:ext>
            </a:extLst>
          </p:cNvPr>
          <p:cNvSpPr/>
          <p:nvPr/>
        </p:nvSpPr>
        <p:spPr>
          <a:xfrm>
            <a:off x="5001197" y="352454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2A87C24E-0E21-49D2-959D-EC0D04D07B65}"/>
              </a:ext>
            </a:extLst>
          </p:cNvPr>
          <p:cNvSpPr/>
          <p:nvPr/>
        </p:nvSpPr>
        <p:spPr>
          <a:xfrm>
            <a:off x="7014780" y="3521135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Diagrama de flujo: conector 43">
            <a:extLst>
              <a:ext uri="{FF2B5EF4-FFF2-40B4-BE49-F238E27FC236}">
                <a16:creationId xmlns:a16="http://schemas.microsoft.com/office/drawing/2014/main" id="{7930E107-0A46-445C-ABFC-DC31E49BB57F}"/>
              </a:ext>
            </a:extLst>
          </p:cNvPr>
          <p:cNvSpPr/>
          <p:nvPr/>
        </p:nvSpPr>
        <p:spPr>
          <a:xfrm>
            <a:off x="4955500" y="3474630"/>
            <a:ext cx="565268" cy="56176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D8D1A98-5020-43C9-87AF-532982E3B4DA}"/>
              </a:ext>
            </a:extLst>
          </p:cNvPr>
          <p:cNvCxnSpPr>
            <a:cxnSpLocks/>
          </p:cNvCxnSpPr>
          <p:nvPr/>
        </p:nvCxnSpPr>
        <p:spPr>
          <a:xfrm>
            <a:off x="5540961" y="3900705"/>
            <a:ext cx="14894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B5CB878-2772-470D-BC02-B4FA7CF8742D}"/>
              </a:ext>
            </a:extLst>
          </p:cNvPr>
          <p:cNvCxnSpPr>
            <a:cxnSpLocks/>
          </p:cNvCxnSpPr>
          <p:nvPr/>
        </p:nvCxnSpPr>
        <p:spPr>
          <a:xfrm flipH="1">
            <a:off x="5520768" y="3722518"/>
            <a:ext cx="14885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4ACAAFA-C4CF-4939-85BE-936623919318}"/>
              </a:ext>
            </a:extLst>
          </p:cNvPr>
          <p:cNvSpPr/>
          <p:nvPr/>
        </p:nvSpPr>
        <p:spPr>
          <a:xfrm>
            <a:off x="5052550" y="5328638"/>
            <a:ext cx="45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D482CA3B-D3AD-46A8-AF0D-ED4C71F6B320}"/>
              </a:ext>
            </a:extLst>
          </p:cNvPr>
          <p:cNvSpPr/>
          <p:nvPr/>
        </p:nvSpPr>
        <p:spPr>
          <a:xfrm>
            <a:off x="7030431" y="5339442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C79F8D8-0F86-453D-8C26-796B42359BFE}"/>
              </a:ext>
            </a:extLst>
          </p:cNvPr>
          <p:cNvSpPr/>
          <p:nvPr/>
        </p:nvSpPr>
        <p:spPr>
          <a:xfrm>
            <a:off x="6212488" y="5651482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58" name="Diagrama de flujo: conector 57">
            <a:extLst>
              <a:ext uri="{FF2B5EF4-FFF2-40B4-BE49-F238E27FC236}">
                <a16:creationId xmlns:a16="http://schemas.microsoft.com/office/drawing/2014/main" id="{D9D26320-5A8F-4E66-B4E9-DAE559568E6B}"/>
              </a:ext>
            </a:extLst>
          </p:cNvPr>
          <p:cNvSpPr/>
          <p:nvPr/>
        </p:nvSpPr>
        <p:spPr>
          <a:xfrm>
            <a:off x="5020402" y="531120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Diagrama de flujo: conector 58">
            <a:extLst>
              <a:ext uri="{FF2B5EF4-FFF2-40B4-BE49-F238E27FC236}">
                <a16:creationId xmlns:a16="http://schemas.microsoft.com/office/drawing/2014/main" id="{6D986635-386F-4D13-BF35-25038497A108}"/>
              </a:ext>
            </a:extLst>
          </p:cNvPr>
          <p:cNvSpPr/>
          <p:nvPr/>
        </p:nvSpPr>
        <p:spPr>
          <a:xfrm>
            <a:off x="6999700" y="5295508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CAA73F18-35D5-4F17-9C58-A4E95F41A2DC}"/>
              </a:ext>
            </a:extLst>
          </p:cNvPr>
          <p:cNvCxnSpPr>
            <a:cxnSpLocks/>
          </p:cNvCxnSpPr>
          <p:nvPr/>
        </p:nvCxnSpPr>
        <p:spPr>
          <a:xfrm>
            <a:off x="5488064" y="5646271"/>
            <a:ext cx="15252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B017518A-1EB8-4227-9C3C-C7A333F00B8A}"/>
              </a:ext>
            </a:extLst>
          </p:cNvPr>
          <p:cNvCxnSpPr>
            <a:cxnSpLocks/>
          </p:cNvCxnSpPr>
          <p:nvPr/>
        </p:nvCxnSpPr>
        <p:spPr>
          <a:xfrm flipH="1">
            <a:off x="5441988" y="5436307"/>
            <a:ext cx="1573077" cy="91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96A91A9C-A3F8-4E0B-A2A3-5601262831AB}"/>
              </a:ext>
            </a:extLst>
          </p:cNvPr>
          <p:cNvCxnSpPr>
            <a:cxnSpLocks/>
          </p:cNvCxnSpPr>
          <p:nvPr/>
        </p:nvCxnSpPr>
        <p:spPr>
          <a:xfrm flipH="1" flipV="1">
            <a:off x="5340067" y="4036392"/>
            <a:ext cx="10868" cy="12748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9E9E4B5C-355B-4F10-BD24-D2B6724EF5E8}"/>
              </a:ext>
            </a:extLst>
          </p:cNvPr>
          <p:cNvCxnSpPr>
            <a:cxnSpLocks/>
          </p:cNvCxnSpPr>
          <p:nvPr/>
        </p:nvCxnSpPr>
        <p:spPr>
          <a:xfrm>
            <a:off x="5109700" y="4002100"/>
            <a:ext cx="0" cy="1342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12B6008D-AE7D-4033-9789-2730D4CE0AB9}"/>
              </a:ext>
            </a:extLst>
          </p:cNvPr>
          <p:cNvCxnSpPr>
            <a:cxnSpLocks/>
          </p:cNvCxnSpPr>
          <p:nvPr/>
        </p:nvCxnSpPr>
        <p:spPr>
          <a:xfrm flipV="1">
            <a:off x="7385062" y="3936113"/>
            <a:ext cx="8839" cy="14016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EAB0A120-C9E4-46AD-90D0-FC2D82399BE8}"/>
              </a:ext>
            </a:extLst>
          </p:cNvPr>
          <p:cNvCxnSpPr>
            <a:cxnSpLocks/>
          </p:cNvCxnSpPr>
          <p:nvPr/>
        </p:nvCxnSpPr>
        <p:spPr>
          <a:xfrm>
            <a:off x="7133763" y="3972779"/>
            <a:ext cx="0" cy="13422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AB9E3A3-EC30-A05E-1748-220E6E4F2CC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5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94072" y="322916"/>
            <a:ext cx="1143333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Algunas características de los AF</a:t>
            </a:r>
          </a:p>
          <a:p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AF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siempre paran.</a:t>
            </a:r>
          </a:p>
          <a:p>
            <a:endParaRPr lang="es-A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Aceptan un tipo limitado de cadenas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(no tienen memoria).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pueden aceptar cadenas con igual cantidad de 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y b,  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pueden chequear si una cadena es un palíndromo, etc.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general,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pueden calcular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lenguajes que aceptan los AF se llaman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regulares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tipo 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diferencia de las MT generales,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siempre se puede decidir si un AF:</a:t>
            </a:r>
          </a:p>
          <a:p>
            <a:pPr algn="just"/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7100" lvl="1"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Acepta una cadena w.</a:t>
            </a:r>
          </a:p>
          <a:p>
            <a:pPr marL="3771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el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.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71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el lenguaje Ʃ*.</a:t>
            </a:r>
          </a:p>
          <a:p>
            <a:pPr marL="3771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equivalente a otro.</a:t>
            </a:r>
          </a:p>
          <a:p>
            <a:pPr marL="3771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 marL="377100" lvl="1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endParaRPr lang="es-A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11304E6-10A1-0067-0CDB-F332CF532CC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794D42-6857-275A-5B1B-3680DEECCDD0}"/>
              </a:ext>
            </a:extLst>
          </p:cNvPr>
          <p:cNvSpPr/>
          <p:nvPr/>
        </p:nvSpPr>
        <p:spPr>
          <a:xfrm>
            <a:off x="9292863" y="1741347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tipo 3</a:t>
            </a:r>
            <a:endParaRPr lang="es-MX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6FE0B6-29AA-02F0-4E98-209BE44D63DF}"/>
              </a:ext>
            </a:extLst>
          </p:cNvPr>
          <p:cNvSpPr/>
          <p:nvPr/>
        </p:nvSpPr>
        <p:spPr>
          <a:xfrm>
            <a:off x="9292863" y="1372016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tipo 2</a:t>
            </a:r>
            <a:endParaRPr lang="es-MX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410B090-1DE0-7A9A-D86D-7B5E924C44C4}"/>
              </a:ext>
            </a:extLst>
          </p:cNvPr>
          <p:cNvSpPr/>
          <p:nvPr/>
        </p:nvSpPr>
        <p:spPr>
          <a:xfrm>
            <a:off x="9254091" y="604575"/>
            <a:ext cx="755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32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9D4E1073-4692-5999-A06D-D211EC3780F5}"/>
              </a:ext>
            </a:extLst>
          </p:cNvPr>
          <p:cNvSpPr/>
          <p:nvPr/>
        </p:nvSpPr>
        <p:spPr>
          <a:xfrm>
            <a:off x="8350971" y="1296596"/>
            <a:ext cx="2688062" cy="2800402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BF9D89A4-7545-DEEB-221F-BA83AF622942}"/>
              </a:ext>
            </a:extLst>
          </p:cNvPr>
          <p:cNvSpPr/>
          <p:nvPr/>
        </p:nvSpPr>
        <p:spPr>
          <a:xfrm>
            <a:off x="8922556" y="2187147"/>
            <a:ext cx="1654139" cy="172420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850B234F-989E-F5A9-85D4-FEDD18D8657B}"/>
              </a:ext>
            </a:extLst>
          </p:cNvPr>
          <p:cNvSpPr/>
          <p:nvPr/>
        </p:nvSpPr>
        <p:spPr>
          <a:xfrm>
            <a:off x="7632208" y="497328"/>
            <a:ext cx="4095194" cy="374797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F2B78D-1C84-BEC2-AB5E-5D34ACE0FD52}"/>
              </a:ext>
            </a:extLst>
          </p:cNvPr>
          <p:cNvSpPr/>
          <p:nvPr/>
        </p:nvSpPr>
        <p:spPr>
          <a:xfrm>
            <a:off x="9428822" y="1426353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AB32993-3DBF-D623-521F-77275A460E53}"/>
              </a:ext>
            </a:extLst>
          </p:cNvPr>
          <p:cNvSpPr/>
          <p:nvPr/>
        </p:nvSpPr>
        <p:spPr>
          <a:xfrm>
            <a:off x="9155176" y="2756861"/>
            <a:ext cx="11888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Lenguajes</a:t>
            </a:r>
          </a:p>
          <a:p>
            <a:pPr algn="ctr"/>
            <a:r>
              <a:rPr lang="es-AR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regulares</a:t>
            </a:r>
            <a:endParaRPr lang="es-MX" sz="1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07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43805" y="197344"/>
            <a:ext cx="1160518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AUTÓMATAS CON PILA (AP)</a:t>
            </a: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primera cinta de entrada de sólo lectura.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segunda cinta de lectura/escritura que se comporta como una pila.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un paso se pueden procesar las dos cintas.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la cinta de entrada siempre se va a la derecha.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Cuando alcanza el símbolo B (blanco) en la cinta de entrada, el AP para y acepta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la pila está vacía.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Problemas típicos que resuelve un AP: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Análisis sintáctico a nivel instrucción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los compiladores.</a:t>
            </a: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Evaluación de expresiones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la ejecución de programas.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42900" algn="just">
              <a:buFont typeface="Courier New" panose="02070309020205020404" pitchFamily="49" charset="0"/>
              <a:buChar char="o"/>
            </a:pPr>
            <a:endParaRPr lang="es-A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4C8A76-AEEA-3014-88DD-B92E0AFA1999}"/>
              </a:ext>
            </a:extLst>
          </p:cNvPr>
          <p:cNvSpPr/>
          <p:nvPr/>
        </p:nvSpPr>
        <p:spPr>
          <a:xfrm>
            <a:off x="8336724" y="4145348"/>
            <a:ext cx="2466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 0 1 a 1 0 b c 1 a 0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7963A9B-EF3A-648F-C94F-AE7C080DF2BB}"/>
              </a:ext>
            </a:extLst>
          </p:cNvPr>
          <p:cNvSpPr/>
          <p:nvPr/>
        </p:nvSpPr>
        <p:spPr>
          <a:xfrm>
            <a:off x="11218989" y="5536681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896789-BE30-9C97-5997-DDCDD0F6C167}"/>
              </a:ext>
            </a:extLst>
          </p:cNvPr>
          <p:cNvSpPr/>
          <p:nvPr/>
        </p:nvSpPr>
        <p:spPr>
          <a:xfrm>
            <a:off x="11185328" y="518939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4254B39-84B9-6053-1D54-113223301865}"/>
              </a:ext>
            </a:extLst>
          </p:cNvPr>
          <p:cNvSpPr/>
          <p:nvPr/>
        </p:nvSpPr>
        <p:spPr>
          <a:xfrm>
            <a:off x="11176540" y="4834821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7375EC-F729-EE5D-8240-7292D91D3E7A}"/>
              </a:ext>
            </a:extLst>
          </p:cNvPr>
          <p:cNvSpPr/>
          <p:nvPr/>
        </p:nvSpPr>
        <p:spPr>
          <a:xfrm>
            <a:off x="11151811" y="4514030"/>
            <a:ext cx="35137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50DF0B3-98EB-E0FA-7FA0-A1487553E9E7}"/>
              </a:ext>
            </a:extLst>
          </p:cNvPr>
          <p:cNvCxnSpPr>
            <a:cxnSpLocks/>
          </p:cNvCxnSpPr>
          <p:nvPr/>
        </p:nvCxnSpPr>
        <p:spPr>
          <a:xfrm flipV="1">
            <a:off x="9620005" y="5041338"/>
            <a:ext cx="1516533" cy="7290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F2A254A-BDD5-B443-F52C-96F31CAACBD4}"/>
              </a:ext>
            </a:extLst>
          </p:cNvPr>
          <p:cNvCxnSpPr>
            <a:cxnSpLocks/>
          </p:cNvCxnSpPr>
          <p:nvPr/>
        </p:nvCxnSpPr>
        <p:spPr>
          <a:xfrm flipV="1">
            <a:off x="11145923" y="4350670"/>
            <a:ext cx="0" cy="15270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563327F-DB38-E8BF-E687-FC674F680B16}"/>
              </a:ext>
            </a:extLst>
          </p:cNvPr>
          <p:cNvCxnSpPr>
            <a:cxnSpLocks/>
          </p:cNvCxnSpPr>
          <p:nvPr/>
        </p:nvCxnSpPr>
        <p:spPr>
          <a:xfrm>
            <a:off x="8384071" y="4136501"/>
            <a:ext cx="2402641" cy="17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03E82C7-DEDD-7B60-A98F-6CFAB450CA9D}"/>
              </a:ext>
            </a:extLst>
          </p:cNvPr>
          <p:cNvCxnSpPr>
            <a:cxnSpLocks/>
          </p:cNvCxnSpPr>
          <p:nvPr/>
        </p:nvCxnSpPr>
        <p:spPr>
          <a:xfrm flipV="1">
            <a:off x="9600614" y="4505183"/>
            <a:ext cx="412419" cy="12869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F21BAF5-6E1C-237F-9BE6-76B7C457398A}"/>
              </a:ext>
            </a:extLst>
          </p:cNvPr>
          <p:cNvCxnSpPr>
            <a:cxnSpLocks/>
          </p:cNvCxnSpPr>
          <p:nvPr/>
        </p:nvCxnSpPr>
        <p:spPr>
          <a:xfrm>
            <a:off x="8384071" y="3888898"/>
            <a:ext cx="24201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574347F6-6638-57E7-2A77-22076BFDFB1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2C6B163-CFAF-BF6A-6B88-DEC48C61843A}"/>
              </a:ext>
            </a:extLst>
          </p:cNvPr>
          <p:cNvSpPr txBox="1"/>
          <p:nvPr/>
        </p:nvSpPr>
        <p:spPr>
          <a:xfrm>
            <a:off x="8298279" y="4480877"/>
            <a:ext cx="2044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ntrada</a:t>
            </a:r>
            <a:endParaRPr lang="es-AR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8DD8823-EF8B-BF46-ADFC-3B6F2D2328A8}"/>
              </a:ext>
            </a:extLst>
          </p:cNvPr>
          <p:cNvSpPr txBox="1"/>
          <p:nvPr/>
        </p:nvSpPr>
        <p:spPr>
          <a:xfrm>
            <a:off x="11143604" y="5890771"/>
            <a:ext cx="786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ila</a:t>
            </a:r>
            <a:endParaRPr lang="es-AR" sz="1400" dirty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12D9FBE-8C10-3E51-33B7-A4007E9FB092}"/>
              </a:ext>
            </a:extLst>
          </p:cNvPr>
          <p:cNvCxnSpPr>
            <a:cxnSpLocks/>
          </p:cNvCxnSpPr>
          <p:nvPr/>
        </p:nvCxnSpPr>
        <p:spPr>
          <a:xfrm>
            <a:off x="8402045" y="4496336"/>
            <a:ext cx="2402641" cy="17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6737036-7407-1BCA-B923-98952BD1B71F}"/>
              </a:ext>
            </a:extLst>
          </p:cNvPr>
          <p:cNvCxnSpPr>
            <a:cxnSpLocks/>
          </p:cNvCxnSpPr>
          <p:nvPr/>
        </p:nvCxnSpPr>
        <p:spPr>
          <a:xfrm flipV="1">
            <a:off x="11575264" y="4378926"/>
            <a:ext cx="0" cy="15270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83FA65B-3266-7F2D-F283-4D5A34AECB20}"/>
              </a:ext>
            </a:extLst>
          </p:cNvPr>
          <p:cNvSpPr/>
          <p:nvPr/>
        </p:nvSpPr>
        <p:spPr>
          <a:xfrm>
            <a:off x="9477687" y="5770634"/>
            <a:ext cx="373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q</a:t>
            </a:r>
            <a:endParaRPr lang="es-MX" b="1" dirty="0"/>
          </a:p>
        </p:txBody>
      </p:sp>
      <p:sp>
        <p:nvSpPr>
          <p:cNvPr id="30" name="Diagrama de flujo: proceso 29">
            <a:extLst>
              <a:ext uri="{FF2B5EF4-FFF2-40B4-BE49-F238E27FC236}">
                <a16:creationId xmlns:a16="http://schemas.microsoft.com/office/drawing/2014/main" id="{DB017EF6-BA63-37DE-8C8F-D9EFC48B7EF3}"/>
              </a:ext>
            </a:extLst>
          </p:cNvPr>
          <p:cNvSpPr/>
          <p:nvPr/>
        </p:nvSpPr>
        <p:spPr>
          <a:xfrm>
            <a:off x="9463259" y="5792135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5E7164B-F9C4-FA85-49F4-E72C5EC9C781}"/>
              </a:ext>
            </a:extLst>
          </p:cNvPr>
          <p:cNvCxnSpPr>
            <a:cxnSpLocks/>
          </p:cNvCxnSpPr>
          <p:nvPr/>
        </p:nvCxnSpPr>
        <p:spPr>
          <a:xfrm>
            <a:off x="11145923" y="5872468"/>
            <a:ext cx="4376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62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C31391D-A8BB-465E-8422-D34B001A0CD6}"/>
              </a:ext>
            </a:extLst>
          </p:cNvPr>
          <p:cNvSpPr/>
          <p:nvPr/>
        </p:nvSpPr>
        <p:spPr>
          <a:xfrm>
            <a:off x="304800" y="200613"/>
            <a:ext cx="11582400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Reconocimiento de palíndromos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waw</a:t>
            </a:r>
            <a:r>
              <a:rPr lang="es-AR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tales que w tiene símbolos 0 y 1 y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la inversa de w. </a:t>
            </a:r>
          </a:p>
          <a:p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Supongamos la entrada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001a100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8D433A-FD3F-4DF1-9041-B328EB7C3C82}"/>
              </a:ext>
            </a:extLst>
          </p:cNvPr>
          <p:cNvSpPr/>
          <p:nvPr/>
        </p:nvSpPr>
        <p:spPr>
          <a:xfrm>
            <a:off x="2173408" y="122096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51BDEF-2BBB-4FF3-8B91-6F3373F14518}"/>
              </a:ext>
            </a:extLst>
          </p:cNvPr>
          <p:cNvSpPr/>
          <p:nvPr/>
        </p:nvSpPr>
        <p:spPr>
          <a:xfrm>
            <a:off x="5784088" y="122096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4C1183C-4B71-49D4-8CFD-AD47D61DD78D}"/>
              </a:ext>
            </a:extLst>
          </p:cNvPr>
          <p:cNvSpPr/>
          <p:nvPr/>
        </p:nvSpPr>
        <p:spPr>
          <a:xfrm>
            <a:off x="9462550" y="122096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F69B1E7-F89C-4A2A-B237-241F08E97DE0}"/>
              </a:ext>
            </a:extLst>
          </p:cNvPr>
          <p:cNvSpPr/>
          <p:nvPr/>
        </p:nvSpPr>
        <p:spPr>
          <a:xfrm>
            <a:off x="2350550" y="315486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1216EF-EA22-40F9-AD14-80389B243BD1}"/>
              </a:ext>
            </a:extLst>
          </p:cNvPr>
          <p:cNvSpPr/>
          <p:nvPr/>
        </p:nvSpPr>
        <p:spPr>
          <a:xfrm>
            <a:off x="5979284" y="315486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2E8D7AC-0BFD-4268-8CAA-3B5FD8952C02}"/>
              </a:ext>
            </a:extLst>
          </p:cNvPr>
          <p:cNvSpPr/>
          <p:nvPr/>
        </p:nvSpPr>
        <p:spPr>
          <a:xfrm>
            <a:off x="9462550" y="3154863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E5327A0-74CC-4B9E-B56A-ADBA30F6AD09}"/>
              </a:ext>
            </a:extLst>
          </p:cNvPr>
          <p:cNvSpPr/>
          <p:nvPr/>
        </p:nvSpPr>
        <p:spPr>
          <a:xfrm>
            <a:off x="2350550" y="49828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4B15839-281E-47D6-81FB-D64AB4BE1FCF}"/>
              </a:ext>
            </a:extLst>
          </p:cNvPr>
          <p:cNvSpPr/>
          <p:nvPr/>
        </p:nvSpPr>
        <p:spPr>
          <a:xfrm>
            <a:off x="5979284" y="49828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991BFC2-6713-4DB5-BAB3-D5963AB9ED23}"/>
              </a:ext>
            </a:extLst>
          </p:cNvPr>
          <p:cNvSpPr/>
          <p:nvPr/>
        </p:nvSpPr>
        <p:spPr>
          <a:xfrm>
            <a:off x="9462550" y="4982887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001a100 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22A70AC-AE38-4567-A380-E71DC2909037}"/>
              </a:ext>
            </a:extLst>
          </p:cNvPr>
          <p:cNvSpPr/>
          <p:nvPr/>
        </p:nvSpPr>
        <p:spPr>
          <a:xfrm>
            <a:off x="3657326" y="201066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5C7D08B-7BD5-4A3D-AA41-45FA3DA09957}"/>
              </a:ext>
            </a:extLst>
          </p:cNvPr>
          <p:cNvSpPr/>
          <p:nvPr/>
        </p:nvSpPr>
        <p:spPr>
          <a:xfrm>
            <a:off x="7251863" y="2025176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FD6234A-524E-4D00-B1F8-A0F64D5BB45D}"/>
              </a:ext>
            </a:extLst>
          </p:cNvPr>
          <p:cNvSpPr/>
          <p:nvPr/>
        </p:nvSpPr>
        <p:spPr>
          <a:xfrm>
            <a:off x="7251863" y="177557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D158E3C-DE10-4EBC-86BE-1C57D52DA55D}"/>
              </a:ext>
            </a:extLst>
          </p:cNvPr>
          <p:cNvSpPr/>
          <p:nvPr/>
        </p:nvSpPr>
        <p:spPr>
          <a:xfrm>
            <a:off x="10859171" y="2018520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768703F-7989-4A0D-8FCE-5A3D749F091D}"/>
              </a:ext>
            </a:extLst>
          </p:cNvPr>
          <p:cNvSpPr/>
          <p:nvPr/>
        </p:nvSpPr>
        <p:spPr>
          <a:xfrm>
            <a:off x="10861246" y="172858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33A22B6-8DBD-409D-A4E9-3D60FE0EA87B}"/>
              </a:ext>
            </a:extLst>
          </p:cNvPr>
          <p:cNvSpPr/>
          <p:nvPr/>
        </p:nvSpPr>
        <p:spPr>
          <a:xfrm>
            <a:off x="10859171" y="145641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80AA4BC-4899-41E3-B453-002D8C74E924}"/>
              </a:ext>
            </a:extLst>
          </p:cNvPr>
          <p:cNvSpPr/>
          <p:nvPr/>
        </p:nvSpPr>
        <p:spPr>
          <a:xfrm>
            <a:off x="3699477" y="3945781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916516C-75EE-421D-9882-44E268562E17}"/>
              </a:ext>
            </a:extLst>
          </p:cNvPr>
          <p:cNvSpPr/>
          <p:nvPr/>
        </p:nvSpPr>
        <p:spPr>
          <a:xfrm>
            <a:off x="3688469" y="366287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3D63D6D-17A3-43C5-AE18-250F84410200}"/>
              </a:ext>
            </a:extLst>
          </p:cNvPr>
          <p:cNvSpPr/>
          <p:nvPr/>
        </p:nvSpPr>
        <p:spPr>
          <a:xfrm>
            <a:off x="3688469" y="3413057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7F87FAD-BAC3-4CD7-8C95-84936ED67A3D}"/>
              </a:ext>
            </a:extLst>
          </p:cNvPr>
          <p:cNvSpPr/>
          <p:nvPr/>
        </p:nvSpPr>
        <p:spPr>
          <a:xfrm>
            <a:off x="3688469" y="316497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BAE7D2B6-5447-40EE-8BC4-4A7BE51A2ABF}"/>
              </a:ext>
            </a:extLst>
          </p:cNvPr>
          <p:cNvSpPr/>
          <p:nvPr/>
        </p:nvSpPr>
        <p:spPr>
          <a:xfrm>
            <a:off x="7264687" y="392479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6EDEE25-E065-491A-9DB5-8F666F1B42CE}"/>
              </a:ext>
            </a:extLst>
          </p:cNvPr>
          <p:cNvSpPr/>
          <p:nvPr/>
        </p:nvSpPr>
        <p:spPr>
          <a:xfrm>
            <a:off x="7251863" y="369945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06837BE-D16A-448C-A53B-A21C9698450B}"/>
              </a:ext>
            </a:extLst>
          </p:cNvPr>
          <p:cNvSpPr/>
          <p:nvPr/>
        </p:nvSpPr>
        <p:spPr>
          <a:xfrm>
            <a:off x="7251863" y="347130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CCDDDBE-F377-481E-8D00-9220447D0B22}"/>
              </a:ext>
            </a:extLst>
          </p:cNvPr>
          <p:cNvSpPr/>
          <p:nvPr/>
        </p:nvSpPr>
        <p:spPr>
          <a:xfrm>
            <a:off x="7251863" y="323812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D3C4E7F-5DED-4034-AB1D-A6F4DB79B4A4}"/>
              </a:ext>
            </a:extLst>
          </p:cNvPr>
          <p:cNvSpPr/>
          <p:nvPr/>
        </p:nvSpPr>
        <p:spPr>
          <a:xfrm>
            <a:off x="10876007" y="3939538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571EFC6-A932-4B9B-8E4E-E3248BECBE8C}"/>
              </a:ext>
            </a:extLst>
          </p:cNvPr>
          <p:cNvSpPr/>
          <p:nvPr/>
        </p:nvSpPr>
        <p:spPr>
          <a:xfrm>
            <a:off x="10859171" y="368070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2F3D672-355D-49B4-9770-147ACBC29263}"/>
              </a:ext>
            </a:extLst>
          </p:cNvPr>
          <p:cNvSpPr/>
          <p:nvPr/>
        </p:nvSpPr>
        <p:spPr>
          <a:xfrm>
            <a:off x="10846347" y="3453517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77FDA08-A264-4F69-AB0B-B037A7314E2A}"/>
              </a:ext>
            </a:extLst>
          </p:cNvPr>
          <p:cNvSpPr/>
          <p:nvPr/>
        </p:nvSpPr>
        <p:spPr>
          <a:xfrm>
            <a:off x="3668804" y="5729409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902119F-69F9-4314-A1DD-0F10B77AEB9B}"/>
              </a:ext>
            </a:extLst>
          </p:cNvPr>
          <p:cNvSpPr/>
          <p:nvPr/>
        </p:nvSpPr>
        <p:spPr>
          <a:xfrm>
            <a:off x="3655980" y="548061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EA3E935-2293-43CB-8756-3A1C0721FE11}"/>
              </a:ext>
            </a:extLst>
          </p:cNvPr>
          <p:cNvSpPr/>
          <p:nvPr/>
        </p:nvSpPr>
        <p:spPr>
          <a:xfrm>
            <a:off x="7264687" y="5729409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715DB74-F01A-4962-8AEA-3DFDA21F75B7}"/>
              </a:ext>
            </a:extLst>
          </p:cNvPr>
          <p:cNvSpPr/>
          <p:nvPr/>
        </p:nvSpPr>
        <p:spPr>
          <a:xfrm>
            <a:off x="2477967" y="1961778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MX" sz="2000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EB6CE31-8FC1-429B-9AFA-19871A3517CD}"/>
              </a:ext>
            </a:extLst>
          </p:cNvPr>
          <p:cNvSpPr/>
          <p:nvPr/>
        </p:nvSpPr>
        <p:spPr>
          <a:xfrm>
            <a:off x="6107059" y="1961778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MX" sz="2000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3E2BF31-18FF-4FCE-9BDA-45F483055CA4}"/>
              </a:ext>
            </a:extLst>
          </p:cNvPr>
          <p:cNvSpPr/>
          <p:nvPr/>
        </p:nvSpPr>
        <p:spPr>
          <a:xfrm>
            <a:off x="9830750" y="1982434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MX" sz="2000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80CBC68-AE58-454D-BDAD-91B591DB90AF}"/>
              </a:ext>
            </a:extLst>
          </p:cNvPr>
          <p:cNvSpPr/>
          <p:nvPr/>
        </p:nvSpPr>
        <p:spPr>
          <a:xfrm>
            <a:off x="2657215" y="3866223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MX" sz="200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3FA31180-C258-4A87-943F-596C4A44A06D}"/>
              </a:ext>
            </a:extLst>
          </p:cNvPr>
          <p:cNvSpPr/>
          <p:nvPr/>
        </p:nvSpPr>
        <p:spPr>
          <a:xfrm>
            <a:off x="6216262" y="3868872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000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47DBE16-5D0E-45DD-B543-F6F1C14D6536}"/>
              </a:ext>
            </a:extLst>
          </p:cNvPr>
          <p:cNvSpPr/>
          <p:nvPr/>
        </p:nvSpPr>
        <p:spPr>
          <a:xfrm>
            <a:off x="9815370" y="3899189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000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4901A97-7027-401A-A7A6-CAFEFE92B252}"/>
              </a:ext>
            </a:extLst>
          </p:cNvPr>
          <p:cNvSpPr/>
          <p:nvPr/>
        </p:nvSpPr>
        <p:spPr>
          <a:xfrm>
            <a:off x="2688922" y="5658397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000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48DF55A3-C4EB-47F3-8726-E63F78BB5DF7}"/>
              </a:ext>
            </a:extLst>
          </p:cNvPr>
          <p:cNvSpPr/>
          <p:nvPr/>
        </p:nvSpPr>
        <p:spPr>
          <a:xfrm>
            <a:off x="6318014" y="5658397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000" dirty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BF9610D0-A83B-4427-89E9-CC7C50F2DD4E}"/>
              </a:ext>
            </a:extLst>
          </p:cNvPr>
          <p:cNvSpPr/>
          <p:nvPr/>
        </p:nvSpPr>
        <p:spPr>
          <a:xfrm>
            <a:off x="9809709" y="5658397"/>
            <a:ext cx="421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000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6F268E0-3C4D-484E-97B4-6A655798A25B}"/>
              </a:ext>
            </a:extLst>
          </p:cNvPr>
          <p:cNvCxnSpPr>
            <a:cxnSpLocks/>
          </p:cNvCxnSpPr>
          <p:nvPr/>
        </p:nvCxnSpPr>
        <p:spPr>
          <a:xfrm flipH="1" flipV="1">
            <a:off x="2343624" y="1614359"/>
            <a:ext cx="313591" cy="41081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029939E7-C01A-4F0F-A07B-2E79A03B366E}"/>
              </a:ext>
            </a:extLst>
          </p:cNvPr>
          <p:cNvCxnSpPr>
            <a:cxnSpLocks/>
          </p:cNvCxnSpPr>
          <p:nvPr/>
        </p:nvCxnSpPr>
        <p:spPr>
          <a:xfrm flipH="1" flipV="1">
            <a:off x="6079418" y="1629104"/>
            <a:ext cx="238596" cy="3967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A701252F-76EF-40DF-9361-8718E3A237CF}"/>
              </a:ext>
            </a:extLst>
          </p:cNvPr>
          <p:cNvCxnSpPr>
            <a:cxnSpLocks/>
          </p:cNvCxnSpPr>
          <p:nvPr/>
        </p:nvCxnSpPr>
        <p:spPr>
          <a:xfrm flipH="1" flipV="1">
            <a:off x="9885947" y="1657470"/>
            <a:ext cx="156796" cy="4293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1FE8753-3ACA-47E4-93A9-1B3DF49CBBB9}"/>
              </a:ext>
            </a:extLst>
          </p:cNvPr>
          <p:cNvCxnSpPr>
            <a:cxnSpLocks/>
          </p:cNvCxnSpPr>
          <p:nvPr/>
        </p:nvCxnSpPr>
        <p:spPr>
          <a:xfrm flipV="1">
            <a:off x="10020664" y="3582492"/>
            <a:ext cx="210953" cy="38034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343EF924-6B13-462C-B896-2D2726CBA3AA}"/>
              </a:ext>
            </a:extLst>
          </p:cNvPr>
          <p:cNvCxnSpPr>
            <a:cxnSpLocks/>
          </p:cNvCxnSpPr>
          <p:nvPr/>
        </p:nvCxnSpPr>
        <p:spPr>
          <a:xfrm flipV="1">
            <a:off x="2840656" y="3574225"/>
            <a:ext cx="34248" cy="3607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489EBFA7-9620-4261-87D6-EAB29B3ABFEC}"/>
              </a:ext>
            </a:extLst>
          </p:cNvPr>
          <p:cNvCxnSpPr>
            <a:cxnSpLocks/>
          </p:cNvCxnSpPr>
          <p:nvPr/>
        </p:nvCxnSpPr>
        <p:spPr>
          <a:xfrm flipV="1">
            <a:off x="6467159" y="3544060"/>
            <a:ext cx="172400" cy="3502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5E43B49A-0E03-4FF3-B248-A15B731844AF}"/>
              </a:ext>
            </a:extLst>
          </p:cNvPr>
          <p:cNvCxnSpPr>
            <a:cxnSpLocks/>
          </p:cNvCxnSpPr>
          <p:nvPr/>
        </p:nvCxnSpPr>
        <p:spPr>
          <a:xfrm flipV="1">
            <a:off x="2981365" y="5402550"/>
            <a:ext cx="269637" cy="3427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263634FE-DCAB-4A46-8129-F15648038AD6}"/>
              </a:ext>
            </a:extLst>
          </p:cNvPr>
          <p:cNvCxnSpPr>
            <a:cxnSpLocks/>
          </p:cNvCxnSpPr>
          <p:nvPr/>
        </p:nvCxnSpPr>
        <p:spPr>
          <a:xfrm flipV="1">
            <a:off x="6521155" y="5397361"/>
            <a:ext cx="518489" cy="2783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A520B4CE-3D28-40CF-B706-FF1596E34F04}"/>
              </a:ext>
            </a:extLst>
          </p:cNvPr>
          <p:cNvCxnSpPr>
            <a:cxnSpLocks/>
          </p:cNvCxnSpPr>
          <p:nvPr/>
        </p:nvCxnSpPr>
        <p:spPr>
          <a:xfrm flipV="1">
            <a:off x="10020664" y="5387102"/>
            <a:ext cx="538883" cy="2988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4F88D869-2197-49ED-8354-5E55B7C3AA72}"/>
              </a:ext>
            </a:extLst>
          </p:cNvPr>
          <p:cNvSpPr/>
          <p:nvPr/>
        </p:nvSpPr>
        <p:spPr>
          <a:xfrm>
            <a:off x="4052601" y="1366279"/>
            <a:ext cx="24417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,0,Z)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,CZ)</a:t>
            </a:r>
            <a:endParaRPr lang="es-MX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011BCF-F446-4901-B19B-FB67F1F7E357}"/>
              </a:ext>
            </a:extLst>
          </p:cNvPr>
          <p:cNvSpPr/>
          <p:nvPr/>
        </p:nvSpPr>
        <p:spPr>
          <a:xfrm>
            <a:off x="7634370" y="1389341"/>
            <a:ext cx="1696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,0,C)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,CC)</a:t>
            </a:r>
            <a:endParaRPr lang="es-MX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A252DA-A7B7-400C-8823-B314F3BF45F4}"/>
              </a:ext>
            </a:extLst>
          </p:cNvPr>
          <p:cNvSpPr/>
          <p:nvPr/>
        </p:nvSpPr>
        <p:spPr>
          <a:xfrm>
            <a:off x="477110" y="3191663"/>
            <a:ext cx="1696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,1,C)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,UC)</a:t>
            </a:r>
            <a:endParaRPr lang="es-MX" sz="1400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78E9C65-3EA8-4931-A41D-570B35499211}"/>
              </a:ext>
            </a:extLst>
          </p:cNvPr>
          <p:cNvSpPr/>
          <p:nvPr/>
        </p:nvSpPr>
        <p:spPr>
          <a:xfrm>
            <a:off x="4099573" y="3204921"/>
            <a:ext cx="15664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,a,U)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,U)</a:t>
            </a:r>
            <a:endParaRPr lang="es-MX" sz="14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100D8A8C-7203-4CF4-B65A-DFFACB80FB6D}"/>
              </a:ext>
            </a:extLst>
          </p:cNvPr>
          <p:cNvSpPr/>
          <p:nvPr/>
        </p:nvSpPr>
        <p:spPr>
          <a:xfrm>
            <a:off x="7787715" y="3221179"/>
            <a:ext cx="1526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,1,U)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,λ)</a:t>
            </a:r>
            <a:endParaRPr lang="es-MX" sz="1400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5558E51-DF5A-409F-A65D-D07EA0BBC33E}"/>
              </a:ext>
            </a:extLst>
          </p:cNvPr>
          <p:cNvSpPr/>
          <p:nvPr/>
        </p:nvSpPr>
        <p:spPr>
          <a:xfrm>
            <a:off x="545754" y="5032911"/>
            <a:ext cx="1526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,0,C)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,λ)</a:t>
            </a:r>
            <a:endParaRPr lang="es-MX" sz="1400" dirty="0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7144413A-1349-490C-8540-B37B2F327430}"/>
              </a:ext>
            </a:extLst>
          </p:cNvPr>
          <p:cNvSpPr/>
          <p:nvPr/>
        </p:nvSpPr>
        <p:spPr>
          <a:xfrm>
            <a:off x="4102387" y="5051937"/>
            <a:ext cx="1526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,0,C)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,λ)</a:t>
            </a:r>
            <a:endParaRPr lang="es-MX" sz="1400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F553B75-23C0-4464-A964-F2EF9923FC77}"/>
              </a:ext>
            </a:extLst>
          </p:cNvPr>
          <p:cNvSpPr/>
          <p:nvPr/>
        </p:nvSpPr>
        <p:spPr>
          <a:xfrm>
            <a:off x="7820768" y="5113735"/>
            <a:ext cx="1526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,B,Z) = (q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,λ)</a:t>
            </a:r>
            <a:endParaRPr lang="es-MX" sz="1400" dirty="0"/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F38A4EC-37B7-4609-8AB5-034DA4830CDA}"/>
              </a:ext>
            </a:extLst>
          </p:cNvPr>
          <p:cNvCxnSpPr>
            <a:cxnSpLocks/>
          </p:cNvCxnSpPr>
          <p:nvPr/>
        </p:nvCxnSpPr>
        <p:spPr>
          <a:xfrm>
            <a:off x="2153685" y="1220960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28D9273F-47E3-4D2E-AA4E-1CCB0579E428}"/>
              </a:ext>
            </a:extLst>
          </p:cNvPr>
          <p:cNvCxnSpPr>
            <a:cxnSpLocks/>
          </p:cNvCxnSpPr>
          <p:nvPr/>
        </p:nvCxnSpPr>
        <p:spPr>
          <a:xfrm>
            <a:off x="2173408" y="1565030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35775CEC-8E02-485D-9D30-CA685BFB80CD}"/>
              </a:ext>
            </a:extLst>
          </p:cNvPr>
          <p:cNvCxnSpPr>
            <a:cxnSpLocks/>
          </p:cNvCxnSpPr>
          <p:nvPr/>
        </p:nvCxnSpPr>
        <p:spPr>
          <a:xfrm flipV="1">
            <a:off x="7264687" y="3224975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46AA4EFE-D478-4411-A4DF-7D24221EB892}"/>
              </a:ext>
            </a:extLst>
          </p:cNvPr>
          <p:cNvCxnSpPr>
            <a:cxnSpLocks/>
          </p:cNvCxnSpPr>
          <p:nvPr/>
        </p:nvCxnSpPr>
        <p:spPr>
          <a:xfrm flipV="1">
            <a:off x="7577593" y="3250117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6342223B-F213-4220-802A-5DE445DF134E}"/>
              </a:ext>
            </a:extLst>
          </p:cNvPr>
          <p:cNvCxnSpPr>
            <a:cxnSpLocks/>
          </p:cNvCxnSpPr>
          <p:nvPr/>
        </p:nvCxnSpPr>
        <p:spPr>
          <a:xfrm flipV="1">
            <a:off x="3691911" y="1301046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B10E38D9-9ABE-4463-BC3C-D0B7782FEEBD}"/>
              </a:ext>
            </a:extLst>
          </p:cNvPr>
          <p:cNvCxnSpPr>
            <a:cxnSpLocks/>
          </p:cNvCxnSpPr>
          <p:nvPr/>
        </p:nvCxnSpPr>
        <p:spPr>
          <a:xfrm flipV="1">
            <a:off x="3983056" y="1316168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2861027-872B-4683-BB91-B1894C8722C7}"/>
              </a:ext>
            </a:extLst>
          </p:cNvPr>
          <p:cNvCxnSpPr>
            <a:cxnSpLocks/>
          </p:cNvCxnSpPr>
          <p:nvPr/>
        </p:nvCxnSpPr>
        <p:spPr>
          <a:xfrm>
            <a:off x="5681677" y="1551609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A897E6CC-B3A9-47B0-A8AA-D1B5CA248738}"/>
              </a:ext>
            </a:extLst>
          </p:cNvPr>
          <p:cNvCxnSpPr>
            <a:cxnSpLocks/>
          </p:cNvCxnSpPr>
          <p:nvPr/>
        </p:nvCxnSpPr>
        <p:spPr>
          <a:xfrm>
            <a:off x="5681677" y="1256632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D6B4808F-1229-45D9-AF41-B10B70AF4CF1}"/>
              </a:ext>
            </a:extLst>
          </p:cNvPr>
          <p:cNvCxnSpPr>
            <a:cxnSpLocks/>
          </p:cNvCxnSpPr>
          <p:nvPr/>
        </p:nvCxnSpPr>
        <p:spPr>
          <a:xfrm flipV="1">
            <a:off x="7264687" y="1389341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D185E7A6-C3CB-4462-852C-E93B6DEBA886}"/>
              </a:ext>
            </a:extLst>
          </p:cNvPr>
          <p:cNvCxnSpPr>
            <a:cxnSpLocks/>
          </p:cNvCxnSpPr>
          <p:nvPr/>
        </p:nvCxnSpPr>
        <p:spPr>
          <a:xfrm flipV="1">
            <a:off x="7567782" y="1392326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DA8FC4C4-4E4C-4B1E-83F7-4E450F733049}"/>
              </a:ext>
            </a:extLst>
          </p:cNvPr>
          <p:cNvCxnSpPr>
            <a:cxnSpLocks/>
          </p:cNvCxnSpPr>
          <p:nvPr/>
        </p:nvCxnSpPr>
        <p:spPr>
          <a:xfrm flipV="1">
            <a:off x="10889689" y="1316168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5EDE7ED4-D960-419B-A0CE-019E11BA208B}"/>
              </a:ext>
            </a:extLst>
          </p:cNvPr>
          <p:cNvCxnSpPr>
            <a:cxnSpLocks/>
          </p:cNvCxnSpPr>
          <p:nvPr/>
        </p:nvCxnSpPr>
        <p:spPr>
          <a:xfrm flipV="1">
            <a:off x="11161838" y="1350501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713986D7-86BF-4A28-9EE8-682F224D5E9C}"/>
              </a:ext>
            </a:extLst>
          </p:cNvPr>
          <p:cNvCxnSpPr>
            <a:cxnSpLocks/>
          </p:cNvCxnSpPr>
          <p:nvPr/>
        </p:nvCxnSpPr>
        <p:spPr>
          <a:xfrm flipV="1">
            <a:off x="3691911" y="3190715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2AE643FD-A22C-447F-9B8D-5A30ACEE51B8}"/>
              </a:ext>
            </a:extLst>
          </p:cNvPr>
          <p:cNvCxnSpPr>
            <a:cxnSpLocks/>
          </p:cNvCxnSpPr>
          <p:nvPr/>
        </p:nvCxnSpPr>
        <p:spPr>
          <a:xfrm flipV="1">
            <a:off x="4039847" y="3190715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9F1FE95E-CD78-45C5-9BC5-31336FA14759}"/>
              </a:ext>
            </a:extLst>
          </p:cNvPr>
          <p:cNvCxnSpPr>
            <a:cxnSpLocks/>
          </p:cNvCxnSpPr>
          <p:nvPr/>
        </p:nvCxnSpPr>
        <p:spPr>
          <a:xfrm flipV="1">
            <a:off x="10863184" y="3269891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F0EC3241-BD40-4BEA-904C-385B13840F48}"/>
              </a:ext>
            </a:extLst>
          </p:cNvPr>
          <p:cNvCxnSpPr>
            <a:cxnSpLocks/>
          </p:cNvCxnSpPr>
          <p:nvPr/>
        </p:nvCxnSpPr>
        <p:spPr>
          <a:xfrm flipV="1">
            <a:off x="11172918" y="3289969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36A98C87-251B-492B-B857-852F34E19729}"/>
              </a:ext>
            </a:extLst>
          </p:cNvPr>
          <p:cNvCxnSpPr>
            <a:cxnSpLocks/>
          </p:cNvCxnSpPr>
          <p:nvPr/>
        </p:nvCxnSpPr>
        <p:spPr>
          <a:xfrm flipV="1">
            <a:off x="3688469" y="5054734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0E56AE96-5E46-4199-AE56-F733E5BC011C}"/>
              </a:ext>
            </a:extLst>
          </p:cNvPr>
          <p:cNvCxnSpPr>
            <a:cxnSpLocks/>
          </p:cNvCxnSpPr>
          <p:nvPr/>
        </p:nvCxnSpPr>
        <p:spPr>
          <a:xfrm flipV="1">
            <a:off x="3983056" y="5091694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BBC2C579-611C-467E-BF47-F405D2F3E980}"/>
              </a:ext>
            </a:extLst>
          </p:cNvPr>
          <p:cNvCxnSpPr>
            <a:cxnSpLocks/>
          </p:cNvCxnSpPr>
          <p:nvPr/>
        </p:nvCxnSpPr>
        <p:spPr>
          <a:xfrm flipV="1">
            <a:off x="7264687" y="5051937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C19962ED-6335-4A88-913B-42696960D224}"/>
              </a:ext>
            </a:extLst>
          </p:cNvPr>
          <p:cNvCxnSpPr>
            <a:cxnSpLocks/>
          </p:cNvCxnSpPr>
          <p:nvPr/>
        </p:nvCxnSpPr>
        <p:spPr>
          <a:xfrm flipV="1">
            <a:off x="7577593" y="5056766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FB82CFBD-9918-4F85-B1EA-EAC7AA2FD37A}"/>
              </a:ext>
            </a:extLst>
          </p:cNvPr>
          <p:cNvCxnSpPr>
            <a:cxnSpLocks/>
          </p:cNvCxnSpPr>
          <p:nvPr/>
        </p:nvCxnSpPr>
        <p:spPr>
          <a:xfrm flipV="1">
            <a:off x="10893131" y="5091694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66DF5EA9-D2D5-475F-818D-2477832DA3A2}"/>
              </a:ext>
            </a:extLst>
          </p:cNvPr>
          <p:cNvCxnSpPr>
            <a:cxnSpLocks/>
          </p:cNvCxnSpPr>
          <p:nvPr/>
        </p:nvCxnSpPr>
        <p:spPr>
          <a:xfrm flipV="1">
            <a:off x="11224373" y="5091694"/>
            <a:ext cx="0" cy="1044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044E9DA2-695C-4762-90E3-FFB10D072529}"/>
              </a:ext>
            </a:extLst>
          </p:cNvPr>
          <p:cNvCxnSpPr>
            <a:cxnSpLocks/>
          </p:cNvCxnSpPr>
          <p:nvPr/>
        </p:nvCxnSpPr>
        <p:spPr>
          <a:xfrm>
            <a:off x="9437570" y="1551440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1ED9F132-C788-4BB0-B5FF-744EC9E2ADE3}"/>
              </a:ext>
            </a:extLst>
          </p:cNvPr>
          <p:cNvCxnSpPr>
            <a:cxnSpLocks/>
          </p:cNvCxnSpPr>
          <p:nvPr/>
        </p:nvCxnSpPr>
        <p:spPr>
          <a:xfrm>
            <a:off x="9437569" y="1256632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90004B62-87AD-49C0-BF4C-ADFE75184602}"/>
              </a:ext>
            </a:extLst>
          </p:cNvPr>
          <p:cNvCxnSpPr>
            <a:cxnSpLocks/>
          </p:cNvCxnSpPr>
          <p:nvPr/>
        </p:nvCxnSpPr>
        <p:spPr>
          <a:xfrm>
            <a:off x="2257560" y="3471309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0A1E32AC-F544-4CC8-AF25-0058CBC29E50}"/>
              </a:ext>
            </a:extLst>
          </p:cNvPr>
          <p:cNvCxnSpPr>
            <a:cxnSpLocks/>
          </p:cNvCxnSpPr>
          <p:nvPr/>
        </p:nvCxnSpPr>
        <p:spPr>
          <a:xfrm>
            <a:off x="2257559" y="3190715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DDEDD441-217A-41EB-A5D8-3FD8EF6305B4}"/>
              </a:ext>
            </a:extLst>
          </p:cNvPr>
          <p:cNvCxnSpPr>
            <a:cxnSpLocks/>
          </p:cNvCxnSpPr>
          <p:nvPr/>
        </p:nvCxnSpPr>
        <p:spPr>
          <a:xfrm>
            <a:off x="5870281" y="3471309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91CC2F37-CAC3-4917-918D-049368AA6F99}"/>
              </a:ext>
            </a:extLst>
          </p:cNvPr>
          <p:cNvCxnSpPr>
            <a:cxnSpLocks/>
          </p:cNvCxnSpPr>
          <p:nvPr/>
        </p:nvCxnSpPr>
        <p:spPr>
          <a:xfrm>
            <a:off x="5877053" y="3177125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4183E77D-FC42-4756-AE0E-2C1CDB2F86E0}"/>
              </a:ext>
            </a:extLst>
          </p:cNvPr>
          <p:cNvCxnSpPr>
            <a:cxnSpLocks/>
          </p:cNvCxnSpPr>
          <p:nvPr/>
        </p:nvCxnSpPr>
        <p:spPr>
          <a:xfrm>
            <a:off x="9398924" y="3471309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6D0FB247-F49F-43D3-9371-AA30DC712C44}"/>
              </a:ext>
            </a:extLst>
          </p:cNvPr>
          <p:cNvCxnSpPr>
            <a:cxnSpLocks/>
          </p:cNvCxnSpPr>
          <p:nvPr/>
        </p:nvCxnSpPr>
        <p:spPr>
          <a:xfrm>
            <a:off x="9398923" y="3176787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110E9D97-D0FB-4895-B086-04BDA54DA4D1}"/>
              </a:ext>
            </a:extLst>
          </p:cNvPr>
          <p:cNvCxnSpPr>
            <a:cxnSpLocks/>
          </p:cNvCxnSpPr>
          <p:nvPr/>
        </p:nvCxnSpPr>
        <p:spPr>
          <a:xfrm>
            <a:off x="2274684" y="5322163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B20CD950-E78C-463A-9508-C64E2F578C34}"/>
              </a:ext>
            </a:extLst>
          </p:cNvPr>
          <p:cNvCxnSpPr>
            <a:cxnSpLocks/>
          </p:cNvCxnSpPr>
          <p:nvPr/>
        </p:nvCxnSpPr>
        <p:spPr>
          <a:xfrm>
            <a:off x="2274683" y="4982887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FFBC531E-21E5-4C06-B509-0E278A228F73}"/>
              </a:ext>
            </a:extLst>
          </p:cNvPr>
          <p:cNvCxnSpPr>
            <a:cxnSpLocks/>
          </p:cNvCxnSpPr>
          <p:nvPr/>
        </p:nvCxnSpPr>
        <p:spPr>
          <a:xfrm>
            <a:off x="5877053" y="5321825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4BEC541A-1BD5-4A09-B667-DFE6B91BC1B4}"/>
              </a:ext>
            </a:extLst>
          </p:cNvPr>
          <p:cNvCxnSpPr>
            <a:cxnSpLocks/>
          </p:cNvCxnSpPr>
          <p:nvPr/>
        </p:nvCxnSpPr>
        <p:spPr>
          <a:xfrm>
            <a:off x="5877053" y="4982887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51F49D7F-9E56-4E80-9818-66651658A155}"/>
              </a:ext>
            </a:extLst>
          </p:cNvPr>
          <p:cNvCxnSpPr>
            <a:cxnSpLocks/>
          </p:cNvCxnSpPr>
          <p:nvPr/>
        </p:nvCxnSpPr>
        <p:spPr>
          <a:xfrm>
            <a:off x="9406060" y="5321825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37CF6F26-32B6-4E01-9827-C55686B4B2EC}"/>
              </a:ext>
            </a:extLst>
          </p:cNvPr>
          <p:cNvCxnSpPr>
            <a:cxnSpLocks/>
          </p:cNvCxnSpPr>
          <p:nvPr/>
        </p:nvCxnSpPr>
        <p:spPr>
          <a:xfrm>
            <a:off x="9398922" y="5011843"/>
            <a:ext cx="11661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lecha: a la derecha 117">
            <a:extLst>
              <a:ext uri="{FF2B5EF4-FFF2-40B4-BE49-F238E27FC236}">
                <a16:creationId xmlns:a16="http://schemas.microsoft.com/office/drawing/2014/main" id="{D9221336-A558-46A4-9E95-67DE61FB902F}"/>
              </a:ext>
            </a:extLst>
          </p:cNvPr>
          <p:cNvSpPr/>
          <p:nvPr/>
        </p:nvSpPr>
        <p:spPr>
          <a:xfrm>
            <a:off x="4564797" y="1641076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9" name="Flecha: a la derecha 118">
            <a:extLst>
              <a:ext uri="{FF2B5EF4-FFF2-40B4-BE49-F238E27FC236}">
                <a16:creationId xmlns:a16="http://schemas.microsoft.com/office/drawing/2014/main" id="{97BD46D2-C1F3-4F14-9F2A-784D947B2B05}"/>
              </a:ext>
            </a:extLst>
          </p:cNvPr>
          <p:cNvSpPr/>
          <p:nvPr/>
        </p:nvSpPr>
        <p:spPr>
          <a:xfrm>
            <a:off x="8211805" y="1660275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0" name="Flecha: a la derecha 119">
            <a:extLst>
              <a:ext uri="{FF2B5EF4-FFF2-40B4-BE49-F238E27FC236}">
                <a16:creationId xmlns:a16="http://schemas.microsoft.com/office/drawing/2014/main" id="{4C8B2B94-47D2-481A-8BBE-7C1DBD4F3D02}"/>
              </a:ext>
            </a:extLst>
          </p:cNvPr>
          <p:cNvSpPr/>
          <p:nvPr/>
        </p:nvSpPr>
        <p:spPr>
          <a:xfrm>
            <a:off x="4559097" y="3476892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1" name="Flecha: a la derecha 120">
            <a:extLst>
              <a:ext uri="{FF2B5EF4-FFF2-40B4-BE49-F238E27FC236}">
                <a16:creationId xmlns:a16="http://schemas.microsoft.com/office/drawing/2014/main" id="{8379D33D-4BD6-4016-988C-2425588DE7B8}"/>
              </a:ext>
            </a:extLst>
          </p:cNvPr>
          <p:cNvSpPr/>
          <p:nvPr/>
        </p:nvSpPr>
        <p:spPr>
          <a:xfrm>
            <a:off x="8213689" y="3476971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2" name="Flecha: a la derecha 121">
            <a:extLst>
              <a:ext uri="{FF2B5EF4-FFF2-40B4-BE49-F238E27FC236}">
                <a16:creationId xmlns:a16="http://schemas.microsoft.com/office/drawing/2014/main" id="{8691C66E-86C7-4703-AA47-85A2F3B4BB3E}"/>
              </a:ext>
            </a:extLst>
          </p:cNvPr>
          <p:cNvSpPr/>
          <p:nvPr/>
        </p:nvSpPr>
        <p:spPr>
          <a:xfrm>
            <a:off x="4505562" y="5310062"/>
            <a:ext cx="978408" cy="54394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3" name="Flecha: a la derecha 122">
            <a:extLst>
              <a:ext uri="{FF2B5EF4-FFF2-40B4-BE49-F238E27FC236}">
                <a16:creationId xmlns:a16="http://schemas.microsoft.com/office/drawing/2014/main" id="{B1BDA8E7-4390-4879-8F69-3701886B1AF6}"/>
              </a:ext>
            </a:extLst>
          </p:cNvPr>
          <p:cNvSpPr/>
          <p:nvPr/>
        </p:nvSpPr>
        <p:spPr>
          <a:xfrm>
            <a:off x="8216178" y="5397361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4" name="Flecha: a la derecha 123">
            <a:extLst>
              <a:ext uri="{FF2B5EF4-FFF2-40B4-BE49-F238E27FC236}">
                <a16:creationId xmlns:a16="http://schemas.microsoft.com/office/drawing/2014/main" id="{9395A1B7-4B1D-4422-8DEA-89214CAF2EEF}"/>
              </a:ext>
            </a:extLst>
          </p:cNvPr>
          <p:cNvSpPr/>
          <p:nvPr/>
        </p:nvSpPr>
        <p:spPr>
          <a:xfrm>
            <a:off x="861532" y="3463712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5" name="Flecha: a la derecha 124">
            <a:extLst>
              <a:ext uri="{FF2B5EF4-FFF2-40B4-BE49-F238E27FC236}">
                <a16:creationId xmlns:a16="http://schemas.microsoft.com/office/drawing/2014/main" id="{CDC91C91-EDC4-4488-B62B-A05C4A46B9C4}"/>
              </a:ext>
            </a:extLst>
          </p:cNvPr>
          <p:cNvSpPr/>
          <p:nvPr/>
        </p:nvSpPr>
        <p:spPr>
          <a:xfrm>
            <a:off x="859668" y="5310062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EA67ECDC-DC9B-40E6-A2A4-7E2052B46C8C}"/>
              </a:ext>
            </a:extLst>
          </p:cNvPr>
          <p:cNvSpPr/>
          <p:nvPr/>
        </p:nvSpPr>
        <p:spPr>
          <a:xfrm>
            <a:off x="2072134" y="2341517"/>
            <a:ext cx="22989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/>
              <a:t>configuración inicial</a:t>
            </a:r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151E55D5-9D72-4207-AA18-8ABA37767622}"/>
              </a:ext>
            </a:extLst>
          </p:cNvPr>
          <p:cNvSpPr/>
          <p:nvPr/>
        </p:nvSpPr>
        <p:spPr>
          <a:xfrm>
            <a:off x="9427884" y="6143925"/>
            <a:ext cx="22887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i="1" dirty="0"/>
              <a:t>configuración final</a:t>
            </a:r>
          </a:p>
        </p:txBody>
      </p:sp>
      <p:sp>
        <p:nvSpPr>
          <p:cNvPr id="126" name="Slide Number Placeholder 2">
            <a:extLst>
              <a:ext uri="{FF2B5EF4-FFF2-40B4-BE49-F238E27FC236}">
                <a16:creationId xmlns:a16="http://schemas.microsoft.com/office/drawing/2014/main" id="{EE8C979E-C78C-4F54-A195-57C2387D7E0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769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8" grpId="0"/>
      <p:bldP spid="53" grpId="0"/>
      <p:bldP spid="62" grpId="0"/>
      <p:bldP spid="66" grpId="0"/>
      <p:bldP spid="68" grpId="0"/>
      <p:bldP spid="70" grpId="0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06606" y="180824"/>
            <a:ext cx="11453004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u="sng" dirty="0">
                <a:latin typeface="Arial" panose="020B0604020202020204" pitchFamily="34" charset="0"/>
                <a:cs typeface="Arial" panose="020B0604020202020204" pitchFamily="34" charset="0"/>
              </a:rPr>
              <a:t>Algunas características de los AP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AP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siempre paran.</a:t>
            </a:r>
          </a:p>
          <a:p>
            <a:pPr algn="just"/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lenguajes que aceptan se llaman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libres de contexto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tipo 2.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diferencia de las MT generales,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siempre se puede decidir si un AP: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Acepta una cadena w.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el lenguaje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.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761C8-3224-4BFA-8260-F03B86E7E85F}"/>
              </a:ext>
            </a:extLst>
          </p:cNvPr>
          <p:cNvSpPr/>
          <p:nvPr/>
        </p:nvSpPr>
        <p:spPr>
          <a:xfrm>
            <a:off x="9519030" y="4193857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tipo 3</a:t>
            </a:r>
            <a:endParaRPr lang="es-MX" sz="16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7FEA4E-0BF5-477D-AFF8-41C93121D2A2}"/>
              </a:ext>
            </a:extLst>
          </p:cNvPr>
          <p:cNvSpPr/>
          <p:nvPr/>
        </p:nvSpPr>
        <p:spPr>
          <a:xfrm>
            <a:off x="9519030" y="3824526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tipo 2</a:t>
            </a:r>
            <a:endParaRPr lang="es-MX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9861C0-E95E-4FA0-A3F1-08C25A52DA29}"/>
              </a:ext>
            </a:extLst>
          </p:cNvPr>
          <p:cNvSpPr/>
          <p:nvPr/>
        </p:nvSpPr>
        <p:spPr>
          <a:xfrm>
            <a:off x="9519030" y="3478349"/>
            <a:ext cx="686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tipo 1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60BAA7-A6D8-4C88-8E59-20FFB6D96F63}"/>
              </a:ext>
            </a:extLst>
          </p:cNvPr>
          <p:cNvSpPr/>
          <p:nvPr/>
        </p:nvSpPr>
        <p:spPr>
          <a:xfrm>
            <a:off x="8863025" y="2450337"/>
            <a:ext cx="755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32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3200" dirty="0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D3650392-DE9B-4B82-A130-FBEDF7F66294}"/>
              </a:ext>
            </a:extLst>
          </p:cNvPr>
          <p:cNvSpPr/>
          <p:nvPr/>
        </p:nvSpPr>
        <p:spPr>
          <a:xfrm>
            <a:off x="7634650" y="3066564"/>
            <a:ext cx="3212086" cy="3452794"/>
          </a:xfrm>
          <a:prstGeom prst="flowChartConnector">
            <a:avLst/>
          </a:prstGeom>
          <a:solidFill>
            <a:schemeClr val="accent4">
              <a:lumMod val="20000"/>
              <a:lumOff val="80000"/>
            </a:schemeClr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DFA81BE4-EE94-49A2-98D7-1ECA7F4E75DD}"/>
              </a:ext>
            </a:extLst>
          </p:cNvPr>
          <p:cNvSpPr/>
          <p:nvPr/>
        </p:nvSpPr>
        <p:spPr>
          <a:xfrm>
            <a:off x="7102550" y="2421540"/>
            <a:ext cx="4338084" cy="42091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9119F4-F9C7-4438-AC1A-B1A0C3C21D49}"/>
              </a:ext>
            </a:extLst>
          </p:cNvPr>
          <p:cNvSpPr/>
          <p:nvPr/>
        </p:nvSpPr>
        <p:spPr>
          <a:xfrm>
            <a:off x="9038437" y="3066564"/>
            <a:ext cx="4443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800" dirty="0"/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5969A8F6-B1EF-40F9-AD20-41010636048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CE3FB1B4-D3AB-DE1B-56FC-F39308534EAF}"/>
              </a:ext>
            </a:extLst>
          </p:cNvPr>
          <p:cNvSpPr/>
          <p:nvPr/>
        </p:nvSpPr>
        <p:spPr>
          <a:xfrm>
            <a:off x="7968654" y="3589784"/>
            <a:ext cx="2644048" cy="282341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C9FE7C7A-D520-7A13-9DF8-7EC5CABF2203}"/>
              </a:ext>
            </a:extLst>
          </p:cNvPr>
          <p:cNvSpPr/>
          <p:nvPr/>
        </p:nvSpPr>
        <p:spPr>
          <a:xfrm>
            <a:off x="8387740" y="4163079"/>
            <a:ext cx="1785091" cy="2144061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83173C54-D868-1ACC-9A3D-58897245132F}"/>
              </a:ext>
            </a:extLst>
          </p:cNvPr>
          <p:cNvSpPr/>
          <p:nvPr/>
        </p:nvSpPr>
        <p:spPr>
          <a:xfrm>
            <a:off x="8673613" y="4726332"/>
            <a:ext cx="1213343" cy="1466801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A88E4B-FDB8-BE8A-CDF2-B6F9A444102D}"/>
              </a:ext>
            </a:extLst>
          </p:cNvPr>
          <p:cNvSpPr/>
          <p:nvPr/>
        </p:nvSpPr>
        <p:spPr>
          <a:xfrm>
            <a:off x="8628683" y="5307127"/>
            <a:ext cx="13032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3</a:t>
            </a:r>
            <a:endParaRPr lang="es-MX" sz="1600" b="1" dirty="0">
              <a:solidFill>
                <a:srgbClr val="00B050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240B5D-4FF3-5CE0-CB91-7EFCB2097B74}"/>
              </a:ext>
            </a:extLst>
          </p:cNvPr>
          <p:cNvSpPr/>
          <p:nvPr/>
        </p:nvSpPr>
        <p:spPr>
          <a:xfrm>
            <a:off x="8180489" y="4356326"/>
            <a:ext cx="2120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2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52BE5D3-3D93-FC4C-F78B-B1D27F5FCD18}"/>
              </a:ext>
            </a:extLst>
          </p:cNvPr>
          <p:cNvSpPr/>
          <p:nvPr/>
        </p:nvSpPr>
        <p:spPr>
          <a:xfrm>
            <a:off x="8609012" y="3756162"/>
            <a:ext cx="13032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1</a:t>
            </a:r>
            <a:endParaRPr lang="es-MX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C00DDC7-3B1C-6848-299A-BCD528C5C80D}"/>
              </a:ext>
            </a:extLst>
          </p:cNvPr>
          <p:cNvSpPr txBox="1"/>
          <p:nvPr/>
        </p:nvSpPr>
        <p:spPr>
          <a:xfrm>
            <a:off x="608508" y="3949145"/>
            <a:ext cx="4538813" cy="166199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Jerarquía de lenguajes de Chomsky:</a:t>
            </a:r>
          </a:p>
          <a:p>
            <a:pPr algn="just"/>
            <a:endParaRPr lang="es-AR" sz="3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tipo 0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recursivamente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enumerables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tipo 1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sensibles al contexto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tipo 2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libres de contexto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tipo 3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regulares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16957F-E8BF-50BB-C61A-213106559500}"/>
              </a:ext>
            </a:extLst>
          </p:cNvPr>
          <p:cNvSpPr txBox="1"/>
          <p:nvPr/>
        </p:nvSpPr>
        <p:spPr>
          <a:xfrm>
            <a:off x="6269337" y="5665940"/>
            <a:ext cx="134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autómatas</a:t>
            </a:r>
          </a:p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finitos</a:t>
            </a:r>
            <a:endParaRPr lang="es-AR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3C3BE95-4D9F-8777-BD37-99C327C1A2CB}"/>
              </a:ext>
            </a:extLst>
          </p:cNvPr>
          <p:cNvSpPr txBox="1"/>
          <p:nvPr/>
        </p:nvSpPr>
        <p:spPr>
          <a:xfrm>
            <a:off x="5956862" y="4911943"/>
            <a:ext cx="134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autómatas</a:t>
            </a:r>
          </a:p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pila</a:t>
            </a:r>
            <a:endParaRPr lang="es-AR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5F2CCB5-9C28-BFCE-4290-BD6AF9BD7F25}"/>
              </a:ext>
            </a:extLst>
          </p:cNvPr>
          <p:cNvSpPr txBox="1"/>
          <p:nvPr/>
        </p:nvSpPr>
        <p:spPr>
          <a:xfrm>
            <a:off x="5014277" y="2636243"/>
            <a:ext cx="1972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máquinas de Turing generales</a:t>
            </a:r>
            <a:endParaRPr lang="es-AR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6BA9C4B-429A-FD14-0557-3E2FBE59865E}"/>
              </a:ext>
            </a:extLst>
          </p:cNvPr>
          <p:cNvCxnSpPr>
            <a:cxnSpLocks/>
          </p:cNvCxnSpPr>
          <p:nvPr/>
        </p:nvCxnSpPr>
        <p:spPr>
          <a:xfrm>
            <a:off x="7378991" y="6012711"/>
            <a:ext cx="19441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989D009-B3B1-3E54-ED86-9CFEA88D4DC3}"/>
              </a:ext>
            </a:extLst>
          </p:cNvPr>
          <p:cNvCxnSpPr>
            <a:cxnSpLocks/>
          </p:cNvCxnSpPr>
          <p:nvPr/>
        </p:nvCxnSpPr>
        <p:spPr>
          <a:xfrm rot="-60000">
            <a:off x="7102550" y="5302730"/>
            <a:ext cx="150646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2841BDD-46BA-342E-B65E-3E63F8E521FA}"/>
              </a:ext>
            </a:extLst>
          </p:cNvPr>
          <p:cNvCxnSpPr>
            <a:cxnSpLocks/>
          </p:cNvCxnSpPr>
          <p:nvPr/>
        </p:nvCxnSpPr>
        <p:spPr>
          <a:xfrm rot="60000" flipV="1">
            <a:off x="6793616" y="2873752"/>
            <a:ext cx="1835067" cy="38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F878453-F089-DCB1-5849-3DDD109C490D}"/>
              </a:ext>
            </a:extLst>
          </p:cNvPr>
          <p:cNvSpPr txBox="1"/>
          <p:nvPr/>
        </p:nvSpPr>
        <p:spPr>
          <a:xfrm>
            <a:off x="5558860" y="3539779"/>
            <a:ext cx="14544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autómatas</a:t>
            </a:r>
          </a:p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linealmente</a:t>
            </a:r>
          </a:p>
          <a:p>
            <a:pPr algn="ctr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acotados</a:t>
            </a:r>
            <a:endParaRPr lang="es-AR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6DEE0EB-20AD-474B-C6DE-075E6FA8D4D6}"/>
              </a:ext>
            </a:extLst>
          </p:cNvPr>
          <p:cNvCxnSpPr>
            <a:cxnSpLocks/>
          </p:cNvCxnSpPr>
          <p:nvPr/>
        </p:nvCxnSpPr>
        <p:spPr>
          <a:xfrm rot="60000" flipV="1">
            <a:off x="6954021" y="3993202"/>
            <a:ext cx="1835067" cy="381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303A231-0ED9-9076-7281-505E55A04413}"/>
              </a:ext>
            </a:extLst>
          </p:cNvPr>
          <p:cNvCxnSpPr>
            <a:cxnSpLocks/>
          </p:cNvCxnSpPr>
          <p:nvPr/>
        </p:nvCxnSpPr>
        <p:spPr>
          <a:xfrm>
            <a:off x="6771841" y="2899971"/>
            <a:ext cx="1856842" cy="6342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68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12" grpId="0" animBg="1"/>
      <p:bldP spid="18" grpId="0" animBg="1"/>
      <p:bldP spid="2" grpId="0"/>
      <p:bldP spid="4" grpId="0" animBg="1"/>
      <p:bldP spid="8" grpId="0" animBg="1"/>
      <p:bldP spid="9" grpId="0" animBg="1"/>
      <p:bldP spid="11" grpId="0"/>
      <p:bldP spid="13" grpId="0"/>
      <p:bldP spid="14" grpId="0"/>
      <p:bldP spid="17" grpId="0" animBg="1"/>
      <p:bldP spid="22" grpId="0"/>
      <p:bldP spid="24" grpId="0"/>
      <p:bldP spid="25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42234" y="938303"/>
            <a:ext cx="11849766" cy="5360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Todo lenguaje L de RE se puede enumerar: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Sea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que acepta L. Vamos a construir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genera L: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Hacer n := 1.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Generar todas las cadenas de longitud a lo sumo n en el orden canónico.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cada cadena generada ejecutar a lo sumo n pasos de la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Si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acepta, imprimir la cadena.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Hacer n := n + 1 y volver al paso 2.</a:t>
            </a:r>
          </a:p>
          <a:p>
            <a:pPr marL="800100" lvl="1" indent="-342900" algn="just">
              <a:buFont typeface="+mj-lt"/>
              <a:buAutoNum type="arabicPeriod"/>
            </a:pPr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¿Las cadenas quedan en orden canónico? ¿Se pueden repetir? ¿Se puede evitar que se repitan?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3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Todo lenguaje L de R se puede enumerar en el orden canónico: </a:t>
            </a: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Sea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que decide L. Vamos a construir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genera L en el orden canónico: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Generar la primera cadena en el orden canónico.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Ejecutar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sobre la cadena generada. Si acepta, imprimirla.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Generar la siguiente cadena en el orden canónico y volver al paso 2.</a:t>
            </a:r>
          </a:p>
          <a:p>
            <a:pPr marL="800100" lvl="1" indent="-342900" algn="just">
              <a:buFont typeface="+mj-lt"/>
              <a:buAutoNum type="arabicPeriod"/>
            </a:pPr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Dada una MT que enumera un lenguaje, se puede construir otra MT que lo acepta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DFF78C2-00F2-4BA6-A7D1-7097A0BDA16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668666-A724-4F68-4B01-709F91CB333D}"/>
              </a:ext>
            </a:extLst>
          </p:cNvPr>
          <p:cNvSpPr/>
          <p:nvPr/>
        </p:nvSpPr>
        <p:spPr>
          <a:xfrm>
            <a:off x="249173" y="143605"/>
            <a:ext cx="116005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Enumeración de los lenguajes recursivamente </a:t>
            </a:r>
            <a:r>
              <a:rPr lang="es-MX" sz="24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enumerables</a:t>
            </a:r>
            <a:endParaRPr lang="es-MX" sz="2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26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338A9C1-F37A-45C6-86D3-1939EDCFF1C5}"/>
              </a:ext>
            </a:extLst>
          </p:cNvPr>
          <p:cNvSpPr/>
          <p:nvPr/>
        </p:nvSpPr>
        <p:spPr>
          <a:xfrm>
            <a:off x="1079398" y="200188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D45EE77-D26F-4FA9-8756-512514831E1B}"/>
              </a:ext>
            </a:extLst>
          </p:cNvPr>
          <p:cNvCxnSpPr>
            <a:cxnSpLocks/>
          </p:cNvCxnSpPr>
          <p:nvPr/>
        </p:nvCxnSpPr>
        <p:spPr>
          <a:xfrm>
            <a:off x="2019250" y="2139712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5694490A-0805-4F02-89F5-BE66F187E89A}"/>
              </a:ext>
            </a:extLst>
          </p:cNvPr>
          <p:cNvSpPr txBox="1">
            <a:spLocks/>
          </p:cNvSpPr>
          <p:nvPr/>
        </p:nvSpPr>
        <p:spPr>
          <a:xfrm>
            <a:off x="1091999" y="233600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   M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A052D8D-D206-42B8-9415-6149E1246CAA}"/>
              </a:ext>
            </a:extLst>
          </p:cNvPr>
          <p:cNvCxnSpPr>
            <a:cxnSpLocks/>
          </p:cNvCxnSpPr>
          <p:nvPr/>
        </p:nvCxnSpPr>
        <p:spPr>
          <a:xfrm>
            <a:off x="2009335" y="2419098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B9807CBF-DD9E-44A1-9725-65BE89D7088C}"/>
              </a:ext>
            </a:extLst>
          </p:cNvPr>
          <p:cNvSpPr txBox="1">
            <a:spLocks/>
          </p:cNvSpPr>
          <p:nvPr/>
        </p:nvSpPr>
        <p:spPr>
          <a:xfrm>
            <a:off x="3125857" y="2336002"/>
            <a:ext cx="990373" cy="274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oráculo de L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C4364BBF-7EEE-4C59-9CFF-2F96FB827BB0}"/>
              </a:ext>
            </a:extLst>
          </p:cNvPr>
          <p:cNvSpPr txBox="1">
            <a:spLocks/>
          </p:cNvSpPr>
          <p:nvPr/>
        </p:nvSpPr>
        <p:spPr>
          <a:xfrm>
            <a:off x="2104963" y="2478297"/>
            <a:ext cx="914400" cy="247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. . . . . . .</a:t>
            </a:r>
          </a:p>
        </p:txBody>
      </p: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9B2F30CA-73FE-4431-BB09-A07615D0CA13}"/>
              </a:ext>
            </a:extLst>
          </p:cNvPr>
          <p:cNvCxnSpPr>
            <a:cxnSpLocks/>
          </p:cNvCxnSpPr>
          <p:nvPr/>
        </p:nvCxnSpPr>
        <p:spPr>
          <a:xfrm flipH="1">
            <a:off x="1993798" y="2223774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19F02FEC-C18D-4BCA-90B5-36E838C87314}"/>
              </a:ext>
            </a:extLst>
          </p:cNvPr>
          <p:cNvSpPr/>
          <p:nvPr/>
        </p:nvSpPr>
        <p:spPr>
          <a:xfrm>
            <a:off x="3137325" y="2000530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EB15D0CC-C163-4C8B-8258-3229C4EBF238}"/>
              </a:ext>
            </a:extLst>
          </p:cNvPr>
          <p:cNvCxnSpPr>
            <a:cxnSpLocks/>
          </p:cNvCxnSpPr>
          <p:nvPr/>
        </p:nvCxnSpPr>
        <p:spPr>
          <a:xfrm flipH="1">
            <a:off x="1975460" y="2494214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3814FF8E-AA71-41D4-9877-098A18DCED1A}"/>
              </a:ext>
            </a:extLst>
          </p:cNvPr>
          <p:cNvCxnSpPr>
            <a:cxnSpLocks/>
          </p:cNvCxnSpPr>
          <p:nvPr/>
        </p:nvCxnSpPr>
        <p:spPr>
          <a:xfrm flipH="1">
            <a:off x="1993798" y="2876889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0CD72AA5-5AFB-48AB-A350-D75B572A1F63}"/>
              </a:ext>
            </a:extLst>
          </p:cNvPr>
          <p:cNvCxnSpPr>
            <a:cxnSpLocks/>
          </p:cNvCxnSpPr>
          <p:nvPr/>
        </p:nvCxnSpPr>
        <p:spPr>
          <a:xfrm>
            <a:off x="2015692" y="2811555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ángulo 75">
            <a:extLst>
              <a:ext uri="{FF2B5EF4-FFF2-40B4-BE49-F238E27FC236}">
                <a16:creationId xmlns:a16="http://schemas.microsoft.com/office/drawing/2014/main" id="{8A25C210-B916-4DBE-B63F-32344D169119}"/>
              </a:ext>
            </a:extLst>
          </p:cNvPr>
          <p:cNvSpPr/>
          <p:nvPr/>
        </p:nvSpPr>
        <p:spPr>
          <a:xfrm>
            <a:off x="198769" y="736510"/>
            <a:ext cx="1147974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Las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Turing-reducciones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generalizan las reducciones descriptas antes (conocidas como m-reducciones).</a:t>
            </a:r>
          </a:p>
          <a:p>
            <a:pPr algn="just"/>
            <a:endParaRPr lang="es-AR" sz="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definen en términos de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MT con oráculo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(Turing, 1939):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4D6F1D72-FAEF-4B6A-92EA-5BF53D8F9CA7}"/>
              </a:ext>
            </a:extLst>
          </p:cNvPr>
          <p:cNvSpPr/>
          <p:nvPr/>
        </p:nvSpPr>
        <p:spPr>
          <a:xfrm>
            <a:off x="2151274" y="1515949"/>
            <a:ext cx="9928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MT M</a:t>
            </a:r>
            <a:r>
              <a:rPr lang="es-AR" sz="2000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BA7535C7-1A45-4C2B-A6B0-F562719A5753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2A4FA12-3256-422F-A2FA-3C646E0429FC}"/>
              </a:ext>
            </a:extLst>
          </p:cNvPr>
          <p:cNvSpPr txBox="1"/>
          <p:nvPr/>
        </p:nvSpPr>
        <p:spPr>
          <a:xfrm>
            <a:off x="2427917" y="1920964"/>
            <a:ext cx="324385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s-AR" sz="1000" baseline="-25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s-MX" sz="10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628EEFD-BD7C-4BC6-B3D0-6134F45FB5E6}"/>
              </a:ext>
            </a:extLst>
          </p:cNvPr>
          <p:cNvSpPr txBox="1"/>
          <p:nvPr/>
        </p:nvSpPr>
        <p:spPr>
          <a:xfrm>
            <a:off x="2438494" y="2205680"/>
            <a:ext cx="324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s-AR" sz="1000" baseline="-25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s-MX" sz="10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06053EA-D026-482A-8688-266F535324BC}"/>
              </a:ext>
            </a:extLst>
          </p:cNvPr>
          <p:cNvSpPr txBox="1"/>
          <p:nvPr/>
        </p:nvSpPr>
        <p:spPr>
          <a:xfrm>
            <a:off x="2438493" y="2607126"/>
            <a:ext cx="324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s-AR" sz="100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endParaRPr lang="es-MX" sz="10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8209D1-969E-D581-A66C-0719B16BE415}"/>
              </a:ext>
            </a:extLst>
          </p:cNvPr>
          <p:cNvSpPr/>
          <p:nvPr/>
        </p:nvSpPr>
        <p:spPr>
          <a:xfrm>
            <a:off x="249171" y="143605"/>
            <a:ext cx="82598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Turing-reducciones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2936F1D-C0A7-53B2-C38D-C1130222D697}"/>
              </a:ext>
            </a:extLst>
          </p:cNvPr>
          <p:cNvSpPr/>
          <p:nvPr/>
        </p:nvSpPr>
        <p:spPr>
          <a:xfrm>
            <a:off x="166151" y="4306663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5CC5D88-2E41-5EA1-E27B-855375DCC1EA}"/>
              </a:ext>
            </a:extLst>
          </p:cNvPr>
          <p:cNvCxnSpPr>
            <a:cxnSpLocks/>
          </p:cNvCxnSpPr>
          <p:nvPr/>
        </p:nvCxnSpPr>
        <p:spPr>
          <a:xfrm flipV="1">
            <a:off x="428796" y="2428681"/>
            <a:ext cx="655194" cy="7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708E708C-6B7F-E27E-3671-4650FDEF4523}"/>
              </a:ext>
            </a:extLst>
          </p:cNvPr>
          <p:cNvSpPr/>
          <p:nvPr/>
        </p:nvSpPr>
        <p:spPr>
          <a:xfrm>
            <a:off x="594285" y="2203775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200" dirty="0"/>
              <a:t>w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8D674E8-197B-2E35-C56B-CAA0EE1EAB3B}"/>
              </a:ext>
            </a:extLst>
          </p:cNvPr>
          <p:cNvCxnSpPr>
            <a:cxnSpLocks/>
          </p:cNvCxnSpPr>
          <p:nvPr/>
        </p:nvCxnSpPr>
        <p:spPr>
          <a:xfrm>
            <a:off x="1515330" y="2938686"/>
            <a:ext cx="0" cy="3460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A9D869-848C-CAD1-1107-759CF80C307E}"/>
              </a:ext>
            </a:extLst>
          </p:cNvPr>
          <p:cNvSpPr/>
          <p:nvPr/>
        </p:nvSpPr>
        <p:spPr>
          <a:xfrm>
            <a:off x="943112" y="1858740"/>
            <a:ext cx="3347559" cy="121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839FBB-6AED-87C4-177B-9C190F94F7E5}"/>
              </a:ext>
            </a:extLst>
          </p:cNvPr>
          <p:cNvSpPr txBox="1"/>
          <p:nvPr/>
        </p:nvSpPr>
        <p:spPr>
          <a:xfrm>
            <a:off x="4408633" y="1934571"/>
            <a:ext cx="69841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MT M cuenta con un oráculo del lenguaje L, dispositivo capaz de responder en un paso si una cadena v pertenece o no pertenece a 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MT y el oráculo en conjunto se denotan con </a:t>
            </a:r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="1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puede invocar al oráculo cero o más veces.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963D69-D633-5EAB-3777-67AC97C93626}"/>
              </a:ext>
            </a:extLst>
          </p:cNvPr>
          <p:cNvSpPr txBox="1"/>
          <p:nvPr/>
        </p:nvSpPr>
        <p:spPr>
          <a:xfrm>
            <a:off x="1508915" y="3141142"/>
            <a:ext cx="3020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espuesta (sí / no / </a:t>
            </a:r>
            <a:r>
              <a:rPr lang="es-AR" sz="1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</a:t>
            </a:r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BABFB4-E70B-B589-9EA5-B328698ED93B}"/>
              </a:ext>
            </a:extLst>
          </p:cNvPr>
          <p:cNvSpPr txBox="1"/>
          <p:nvPr/>
        </p:nvSpPr>
        <p:spPr>
          <a:xfrm>
            <a:off x="198769" y="3534320"/>
            <a:ext cx="1192935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 define que existe una Turing-reducción de L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 L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s-AR" sz="1800" b="1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sii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existe una MT con or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áculo de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que decide L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endParaRPr lang="es-ES" sz="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 ejemplo, se prueba que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que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Esto significa que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 </a:t>
            </a:r>
            <a:r>
              <a:rPr lang="es-AR" sz="1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sii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R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En este marco, se dice que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ES" b="1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son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recursivamente equivalentes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s-AR" sz="6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propiedad de ser recursivamente equivalente determina una jerarquía de la computabilidad distinta de la que describimos antes. Se define en términos de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grados de Turing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Diagrama de flujo: conector 57">
            <a:extLst>
              <a:ext uri="{FF2B5EF4-FFF2-40B4-BE49-F238E27FC236}">
                <a16:creationId xmlns:a16="http://schemas.microsoft.com/office/drawing/2014/main" id="{C381576A-CB42-0419-40D0-528772878D3B}"/>
              </a:ext>
            </a:extLst>
          </p:cNvPr>
          <p:cNvSpPr/>
          <p:nvPr/>
        </p:nvSpPr>
        <p:spPr>
          <a:xfrm>
            <a:off x="5383329" y="6039788"/>
            <a:ext cx="787521" cy="53953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B87572AC-E47D-141C-EA23-37B523B5E8A7}"/>
              </a:ext>
            </a:extLst>
          </p:cNvPr>
          <p:cNvSpPr/>
          <p:nvPr/>
        </p:nvSpPr>
        <p:spPr>
          <a:xfrm>
            <a:off x="7469846" y="5925095"/>
            <a:ext cx="2078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Grado de Turing</a:t>
            </a:r>
            <a:endParaRPr lang="es-MX" sz="1600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ABEF0F7D-5BBB-D65F-DBFA-5B091BF26E98}"/>
              </a:ext>
            </a:extLst>
          </p:cNvPr>
          <p:cNvCxnSpPr>
            <a:cxnSpLocks/>
          </p:cNvCxnSpPr>
          <p:nvPr/>
        </p:nvCxnSpPr>
        <p:spPr>
          <a:xfrm>
            <a:off x="6170850" y="6094372"/>
            <a:ext cx="12989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Diagrama de flujo: conector 64">
            <a:extLst>
              <a:ext uri="{FF2B5EF4-FFF2-40B4-BE49-F238E27FC236}">
                <a16:creationId xmlns:a16="http://schemas.microsoft.com/office/drawing/2014/main" id="{11D6724D-5153-00D2-03CC-F85A5DC1C7A8}"/>
              </a:ext>
            </a:extLst>
          </p:cNvPr>
          <p:cNvSpPr/>
          <p:nvPr/>
        </p:nvSpPr>
        <p:spPr>
          <a:xfrm>
            <a:off x="5127591" y="5925095"/>
            <a:ext cx="1298995" cy="70972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Diagrama de flujo: conector 65">
            <a:extLst>
              <a:ext uri="{FF2B5EF4-FFF2-40B4-BE49-F238E27FC236}">
                <a16:creationId xmlns:a16="http://schemas.microsoft.com/office/drawing/2014/main" id="{93FAD7F3-3740-1DD1-B0E7-131B237957D7}"/>
              </a:ext>
            </a:extLst>
          </p:cNvPr>
          <p:cNvSpPr/>
          <p:nvPr/>
        </p:nvSpPr>
        <p:spPr>
          <a:xfrm>
            <a:off x="4909444" y="5779023"/>
            <a:ext cx="1735287" cy="88689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160D068-76ED-6B63-B524-C9DE88F4522E}"/>
              </a:ext>
            </a:extLst>
          </p:cNvPr>
          <p:cNvSpPr txBox="1"/>
          <p:nvPr/>
        </p:nvSpPr>
        <p:spPr>
          <a:xfrm>
            <a:off x="5153995" y="5373790"/>
            <a:ext cx="1569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..............</a:t>
            </a:r>
            <a:endParaRPr lang="es-AR" sz="2400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C4907C63-3982-BD30-4F28-743706FD035B}"/>
              </a:ext>
            </a:extLst>
          </p:cNvPr>
          <p:cNvSpPr/>
          <p:nvPr/>
        </p:nvSpPr>
        <p:spPr>
          <a:xfrm>
            <a:off x="4723506" y="5339493"/>
            <a:ext cx="2169635" cy="136714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0DEB73-0108-6D16-65F6-9C01C91A32CA}"/>
              </a:ext>
            </a:extLst>
          </p:cNvPr>
          <p:cNvSpPr/>
          <p:nvPr/>
        </p:nvSpPr>
        <p:spPr>
          <a:xfrm>
            <a:off x="5637443" y="5303131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221577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8386F-5CA8-F06D-CE29-7B81A2F8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B44FA4C3-2F1D-5993-5FE6-1E810C7E7A6F}"/>
              </a:ext>
            </a:extLst>
          </p:cNvPr>
          <p:cNvSpPr txBox="1">
            <a:spLocks/>
          </p:cNvSpPr>
          <p:nvPr/>
        </p:nvSpPr>
        <p:spPr>
          <a:xfrm>
            <a:off x="0" y="2510734"/>
            <a:ext cx="12192000" cy="710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4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96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94072" y="201349"/>
            <a:ext cx="11897928" cy="666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Ejemplo de reducción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MX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Sea el problema: dada una MT M,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¿acaso M acepta todas las cadenas de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El lenguaje que representa el problema, sabemos, es: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= {&lt;M&gt; | L(M) = Ʃ*}. Probaremos con una reducción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R. </a:t>
            </a:r>
          </a:p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Ejercicio: Intuitivamente, ¿puede ser L</a:t>
            </a:r>
            <a:r>
              <a:rPr lang="es-AR" sz="1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R?. Más aún,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¿puede ser L</a:t>
            </a:r>
            <a:r>
              <a:rPr lang="es-AR" sz="1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RE?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Usaremos: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si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y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R, entonces 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∉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R. 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Así, hay que e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ncontrar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una reducción de la forma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modo tal que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R. Elegimos como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el lenguaje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Reducción:</a:t>
            </a:r>
          </a:p>
          <a:p>
            <a:endParaRPr lang="es-A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Definimos: f((&lt;M&gt;,w)) = &lt;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&gt;, tal que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es una MT que:</a:t>
            </a:r>
          </a:p>
          <a:p>
            <a:endParaRPr lang="es-E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a) Reemplaza su entrada por w.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b) Ejecuta M sobre w.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c) Acepta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M acepta. </a:t>
            </a: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Computabilidad:</a:t>
            </a:r>
          </a:p>
          <a:p>
            <a:endParaRPr lang="es-A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Existe una MT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que computa f: g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enera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&gt;, agregando al código &lt;M&gt; un fragmento inicial que borra su entrada y la reemplaza por w.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Correctitud:</a:t>
            </a:r>
          </a:p>
          <a:p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(&lt;M&gt;, w)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⟶ M acepta w ⟶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acepta todas sus entradas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⟶ L(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 = Ʃ* ⟶ &lt;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(&lt;M&gt;, w)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⟶ </a:t>
            </a:r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caso cadena válida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rechaza w ⟶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rechaza todas sus entradas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⟶ L(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Ʃ* ⟶ &lt;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 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	            </a:t>
            </a:r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caso cadena no válida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tampoco es una cadena válida ⟶ L(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Ʃ* ⟶ &lt;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 ∉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E324723-A79E-4734-B351-ACFCA729C1B8}"/>
              </a:ext>
            </a:extLst>
          </p:cNvPr>
          <p:cNvSpPr/>
          <p:nvPr/>
        </p:nvSpPr>
        <p:spPr>
          <a:xfrm>
            <a:off x="10453215" y="-403892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281FEA39-BDFF-4A31-A627-7B729F4BE8CA}"/>
              </a:ext>
            </a:extLst>
          </p:cNvPr>
          <p:cNvSpPr/>
          <p:nvPr/>
        </p:nvSpPr>
        <p:spPr>
          <a:xfrm>
            <a:off x="8822674" y="2662199"/>
            <a:ext cx="1444634" cy="124768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839DFC66-3F96-43E6-8EE4-0CD038B5556C}"/>
              </a:ext>
            </a:extLst>
          </p:cNvPr>
          <p:cNvSpPr/>
          <p:nvPr/>
        </p:nvSpPr>
        <p:spPr>
          <a:xfrm>
            <a:off x="6096000" y="2712379"/>
            <a:ext cx="1627940" cy="118951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FCF2019-F3A8-4B28-9E03-857000499994}"/>
              </a:ext>
            </a:extLst>
          </p:cNvPr>
          <p:cNvCxnSpPr>
            <a:cxnSpLocks/>
          </p:cNvCxnSpPr>
          <p:nvPr/>
        </p:nvCxnSpPr>
        <p:spPr>
          <a:xfrm>
            <a:off x="7393549" y="4051555"/>
            <a:ext cx="18544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5F1C123E-CE1E-4178-B5F1-1BB4DE99739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6E38F11-77D3-F81F-3DA1-E1A5B73FBE39}"/>
              </a:ext>
            </a:extLst>
          </p:cNvPr>
          <p:cNvSpPr/>
          <p:nvPr/>
        </p:nvSpPr>
        <p:spPr>
          <a:xfrm>
            <a:off x="6420999" y="3233091"/>
            <a:ext cx="9396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&gt;,w)</a:t>
            </a:r>
            <a:endParaRPr lang="es-MX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D02DC3-FDCD-9CAA-D93F-7851351399D6}"/>
              </a:ext>
            </a:extLst>
          </p:cNvPr>
          <p:cNvSpPr/>
          <p:nvPr/>
        </p:nvSpPr>
        <p:spPr>
          <a:xfrm>
            <a:off x="9219421" y="3241982"/>
            <a:ext cx="6960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&lt;M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22785C9-E0A9-2EDE-E28D-684D4185BB92}"/>
              </a:ext>
            </a:extLst>
          </p:cNvPr>
          <p:cNvCxnSpPr>
            <a:cxnSpLocks/>
          </p:cNvCxnSpPr>
          <p:nvPr/>
        </p:nvCxnSpPr>
        <p:spPr>
          <a:xfrm>
            <a:off x="7371047" y="3416523"/>
            <a:ext cx="18544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8CA6CBD3-E58F-E241-6522-C32A223FDBBF}"/>
              </a:ext>
            </a:extLst>
          </p:cNvPr>
          <p:cNvSpPr/>
          <p:nvPr/>
        </p:nvSpPr>
        <p:spPr>
          <a:xfrm>
            <a:off x="6689449" y="2744575"/>
            <a:ext cx="4651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sz="20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DC5809-D2ED-B24E-B493-21DAFD3B04F4}"/>
              </a:ext>
            </a:extLst>
          </p:cNvPr>
          <p:cNvSpPr/>
          <p:nvPr/>
        </p:nvSpPr>
        <p:spPr>
          <a:xfrm>
            <a:off x="9311594" y="2711867"/>
            <a:ext cx="5116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MX" sz="20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0CD9AA-B2B3-30C9-75C7-982A797ACF3F}"/>
              </a:ext>
            </a:extLst>
          </p:cNvPr>
          <p:cNvSpPr/>
          <p:nvPr/>
        </p:nvSpPr>
        <p:spPr>
          <a:xfrm>
            <a:off x="8012146" y="3571647"/>
            <a:ext cx="507726" cy="330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B9F46D-371F-8451-11DC-79D338B738B8}"/>
              </a:ext>
            </a:extLst>
          </p:cNvPr>
          <p:cNvSpPr/>
          <p:nvPr/>
        </p:nvSpPr>
        <p:spPr>
          <a:xfrm>
            <a:off x="8067503" y="3563335"/>
            <a:ext cx="4523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257639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64173" y="227594"/>
            <a:ext cx="1174597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No simetría de las reducciones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Las reducciones en general no cumplen la propiedad de simetría:</a:t>
            </a:r>
          </a:p>
          <a:p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Sea cualquier lenguaje L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∈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R. Y sea M una MT que decide L.</a:t>
            </a: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Por un lado, no se cumple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</a:t>
            </a: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Pero por otro lado, sí se cumple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9F7EBD-BC58-480C-A10A-C8CE8F78DA13}"/>
              </a:ext>
            </a:extLst>
          </p:cNvPr>
          <p:cNvSpPr/>
          <p:nvPr/>
        </p:nvSpPr>
        <p:spPr>
          <a:xfrm>
            <a:off x="3910036" y="3082111"/>
            <a:ext cx="468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sz="2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3371C5-3E44-42BE-B3AB-B6E4266F3E5D}"/>
              </a:ext>
            </a:extLst>
          </p:cNvPr>
          <p:cNvSpPr/>
          <p:nvPr/>
        </p:nvSpPr>
        <p:spPr>
          <a:xfrm>
            <a:off x="6344476" y="3079181"/>
            <a:ext cx="5196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MX" sz="2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A3DA39-1B80-45CC-ABC1-CB23A98A48E3}"/>
              </a:ext>
            </a:extLst>
          </p:cNvPr>
          <p:cNvSpPr/>
          <p:nvPr/>
        </p:nvSpPr>
        <p:spPr>
          <a:xfrm>
            <a:off x="6159621" y="3594073"/>
            <a:ext cx="9396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(&lt;M&gt;,w)</a:t>
            </a:r>
            <a:endParaRPr lang="es-MX" sz="16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9C98F9F-E836-42A0-9C30-ABDBEC460B4B}"/>
              </a:ext>
            </a:extLst>
          </p:cNvPr>
          <p:cNvSpPr/>
          <p:nvPr/>
        </p:nvSpPr>
        <p:spPr>
          <a:xfrm>
            <a:off x="3910036" y="3564393"/>
            <a:ext cx="3321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84446155-CBD7-4F59-B329-F4C26E94729F}"/>
              </a:ext>
            </a:extLst>
          </p:cNvPr>
          <p:cNvSpPr/>
          <p:nvPr/>
        </p:nvSpPr>
        <p:spPr>
          <a:xfrm>
            <a:off x="3335288" y="3028360"/>
            <a:ext cx="1521880" cy="1672603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0618F434-3E04-4F42-9410-CFA4D101A7B7}"/>
              </a:ext>
            </a:extLst>
          </p:cNvPr>
          <p:cNvSpPr/>
          <p:nvPr/>
        </p:nvSpPr>
        <p:spPr>
          <a:xfrm>
            <a:off x="5748649" y="3028360"/>
            <a:ext cx="1574316" cy="1672595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C872490-1E39-4189-AB73-36621553DF86}"/>
              </a:ext>
            </a:extLst>
          </p:cNvPr>
          <p:cNvCxnSpPr>
            <a:cxnSpLocks/>
          </p:cNvCxnSpPr>
          <p:nvPr/>
        </p:nvCxnSpPr>
        <p:spPr>
          <a:xfrm>
            <a:off x="4277180" y="4906753"/>
            <a:ext cx="195935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28631C32-6EA4-41E4-804C-F70E9469C7E9}"/>
              </a:ext>
            </a:extLst>
          </p:cNvPr>
          <p:cNvCxnSpPr>
            <a:cxnSpLocks/>
          </p:cNvCxnSpPr>
          <p:nvPr/>
        </p:nvCxnSpPr>
        <p:spPr>
          <a:xfrm>
            <a:off x="4198058" y="3754935"/>
            <a:ext cx="203847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lide Number Placeholder 2">
            <a:extLst>
              <a:ext uri="{FF2B5EF4-FFF2-40B4-BE49-F238E27FC236}">
                <a16:creationId xmlns:a16="http://schemas.microsoft.com/office/drawing/2014/main" id="{C9986E5F-D170-493C-88E9-A20F9CEB809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CC3471-1EFB-66F9-FFA0-ABF1069FC4FF}"/>
              </a:ext>
            </a:extLst>
          </p:cNvPr>
          <p:cNvSpPr/>
          <p:nvPr/>
        </p:nvSpPr>
        <p:spPr>
          <a:xfrm>
            <a:off x="4963043" y="4062596"/>
            <a:ext cx="679731" cy="536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BD5037-BF8A-39BF-A5A3-C5DDB3F13083}"/>
              </a:ext>
            </a:extLst>
          </p:cNvPr>
          <p:cNvSpPr/>
          <p:nvPr/>
        </p:nvSpPr>
        <p:spPr>
          <a:xfrm>
            <a:off x="5111936" y="4154805"/>
            <a:ext cx="4457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87FE26-7565-0100-96A6-DCC6B74EF34D}"/>
              </a:ext>
            </a:extLst>
          </p:cNvPr>
          <p:cNvSpPr txBox="1"/>
          <p:nvPr/>
        </p:nvSpPr>
        <p:spPr>
          <a:xfrm>
            <a:off x="879090" y="5421885"/>
            <a:ext cx="1078807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existe una MT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que, dada una cadena w, le concatena a la izquierda el código &lt;M&gt;</a:t>
            </a:r>
          </a:p>
          <a:p>
            <a:pPr algn="ctr"/>
            <a:endParaRPr lang="es-AR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Correctitud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w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L </a:t>
            </a:r>
            <a:r>
              <a:rPr lang="es-AR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 acepta w </a:t>
            </a:r>
            <a:r>
              <a:rPr lang="es-AR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sii</a:t>
            </a:r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(&lt;M&gt;, w) ∈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s-AR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8AEC290-D839-006F-AE79-5B26FAF5A49A}"/>
              </a:ext>
            </a:extLst>
          </p:cNvPr>
          <p:cNvSpPr txBox="1"/>
          <p:nvPr/>
        </p:nvSpPr>
        <p:spPr>
          <a:xfrm>
            <a:off x="879090" y="3724042"/>
            <a:ext cx="1841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Reducción:</a:t>
            </a:r>
          </a:p>
        </p:txBody>
      </p:sp>
    </p:spTree>
    <p:extLst>
      <p:ext uri="{BB962C8B-B14F-4D97-AF65-F5344CB8AC3E}">
        <p14:creationId xmlns:p14="http://schemas.microsoft.com/office/powerpoint/2010/main" val="1998383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54863" y="222602"/>
            <a:ext cx="11482274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Simetría de las reducciones dentro de la clase R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particular, en R se cumple que las reducciones son simétricas (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sin considerar los lenguajes especiales Ʃ* y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otras palabras, en el marco de la computabilidad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todos los lenguajes de R tienen la misma dificultad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La prueba es la siguiente:</a:t>
            </a:r>
          </a:p>
          <a:p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Sean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distintos de Ʃ*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.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Sean a ∈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  b ∉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Y sean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dos MT que deciden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respectivamente.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Veamos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	Reducción:</a:t>
            </a:r>
          </a:p>
          <a:p>
            <a:pPr marL="342900" indent="-342900">
              <a:buAutoNum type="arabicPeriod"/>
            </a:pPr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	        f(w) = a si w ∈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	        f(w) = b si w ∉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	Computabilidad:</a:t>
            </a:r>
          </a:p>
          <a:p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	        Dada w, la MT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que computa f ejecuta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sobre w,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 	        si acepta w genera </a:t>
            </a:r>
            <a:r>
              <a:rPr lang="es-ES" sz="16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y si rechaza w genera b. </a:t>
            </a: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	Correctitud:</a:t>
            </a:r>
          </a:p>
          <a:p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	        w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∈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f(w) ∈ L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73A30B2-1DD5-4445-9B40-139F52974177}"/>
              </a:ext>
            </a:extLst>
          </p:cNvPr>
          <p:cNvSpPr/>
          <p:nvPr/>
        </p:nvSpPr>
        <p:spPr>
          <a:xfrm>
            <a:off x="4674069" y="2884160"/>
            <a:ext cx="486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24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D88E361-7366-4F0B-AAFE-EE119E68D6C4}"/>
              </a:ext>
            </a:extLst>
          </p:cNvPr>
          <p:cNvSpPr/>
          <p:nvPr/>
        </p:nvSpPr>
        <p:spPr>
          <a:xfrm>
            <a:off x="7069810" y="2876840"/>
            <a:ext cx="486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24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B79CF40-1CDD-4E94-96E1-C9FA680A8BF3}"/>
              </a:ext>
            </a:extLst>
          </p:cNvPr>
          <p:cNvSpPr/>
          <p:nvPr/>
        </p:nvSpPr>
        <p:spPr>
          <a:xfrm>
            <a:off x="7126501" y="401400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1B0EF7A-776D-4EBD-BCB6-C9AAA1B53208}"/>
              </a:ext>
            </a:extLst>
          </p:cNvPr>
          <p:cNvSpPr/>
          <p:nvPr/>
        </p:nvSpPr>
        <p:spPr>
          <a:xfrm>
            <a:off x="4734429" y="3310701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8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ADD37C5-A4DD-48AC-8F52-18BFAEA78D1F}"/>
              </a:ext>
            </a:extLst>
          </p:cNvPr>
          <p:cNvSpPr/>
          <p:nvPr/>
        </p:nvSpPr>
        <p:spPr>
          <a:xfrm>
            <a:off x="4750068" y="396462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8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75F197B-FC8C-40E5-BDA9-94B97DDFD2DA}"/>
              </a:ext>
            </a:extLst>
          </p:cNvPr>
          <p:cNvSpPr/>
          <p:nvPr/>
        </p:nvSpPr>
        <p:spPr>
          <a:xfrm>
            <a:off x="7126501" y="333850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0BF1F1E5-0E30-4001-99D0-CBC071F7894D}"/>
              </a:ext>
            </a:extLst>
          </p:cNvPr>
          <p:cNvSpPr/>
          <p:nvPr/>
        </p:nvSpPr>
        <p:spPr>
          <a:xfrm>
            <a:off x="4147480" y="2819897"/>
            <a:ext cx="1506611" cy="1151020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B0CD719D-6F43-42C8-9B60-04935F6C6479}"/>
              </a:ext>
            </a:extLst>
          </p:cNvPr>
          <p:cNvSpPr/>
          <p:nvPr/>
        </p:nvSpPr>
        <p:spPr>
          <a:xfrm>
            <a:off x="6575680" y="2819897"/>
            <a:ext cx="1568612" cy="116718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FDE168C2-8243-4AF0-8929-BEE075A1508A}"/>
              </a:ext>
            </a:extLst>
          </p:cNvPr>
          <p:cNvCxnSpPr>
            <a:cxnSpLocks/>
          </p:cNvCxnSpPr>
          <p:nvPr/>
        </p:nvCxnSpPr>
        <p:spPr>
          <a:xfrm>
            <a:off x="5076768" y="4204810"/>
            <a:ext cx="1992850" cy="183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174CCB8-321D-4D8A-8E1D-5B073D23C530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5085807" y="3495367"/>
            <a:ext cx="2040694" cy="278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2F9137F5-CF60-4C6D-9A2B-265AD3AF4AF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53F275F-26D9-41FC-EACF-8FB042855374}"/>
              </a:ext>
            </a:extLst>
          </p:cNvPr>
          <p:cNvSpPr/>
          <p:nvPr/>
        </p:nvSpPr>
        <p:spPr>
          <a:xfrm>
            <a:off x="5736516" y="3594336"/>
            <a:ext cx="679731" cy="5362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EB4A8DF-70CC-C8CF-6380-35CDFF1642A3}"/>
              </a:ext>
            </a:extLst>
          </p:cNvPr>
          <p:cNvSpPr/>
          <p:nvPr/>
        </p:nvSpPr>
        <p:spPr>
          <a:xfrm>
            <a:off x="5901516" y="3689306"/>
            <a:ext cx="4457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5795794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5736</TotalTime>
  <Words>4388</Words>
  <Application>Microsoft Office PowerPoint</Application>
  <PresentationFormat>Panorámica</PresentationFormat>
  <Paragraphs>859</Paragraphs>
  <Slides>27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 New</vt:lpstr>
      <vt:lpstr>Lucida Calligraphy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725</cp:revision>
  <dcterms:created xsi:type="dcterms:W3CDTF">2017-11-26T15:39:57Z</dcterms:created>
  <dcterms:modified xsi:type="dcterms:W3CDTF">2026-03-29T12:18:30Z</dcterms:modified>
</cp:coreProperties>
</file>