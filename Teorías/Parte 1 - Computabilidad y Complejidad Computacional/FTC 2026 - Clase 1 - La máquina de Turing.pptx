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455" r:id="rId2"/>
    <p:sldId id="414" r:id="rId3"/>
    <p:sldId id="412" r:id="rId4"/>
    <p:sldId id="417" r:id="rId5"/>
    <p:sldId id="413" r:id="rId6"/>
    <p:sldId id="488" r:id="rId7"/>
    <p:sldId id="404" r:id="rId8"/>
    <p:sldId id="419" r:id="rId9"/>
    <p:sldId id="447" r:id="rId10"/>
    <p:sldId id="453" r:id="rId11"/>
    <p:sldId id="454" r:id="rId12"/>
    <p:sldId id="426" r:id="rId13"/>
    <p:sldId id="490" r:id="rId14"/>
    <p:sldId id="452" r:id="rId15"/>
    <p:sldId id="445" r:id="rId16"/>
    <p:sldId id="492" r:id="rId17"/>
    <p:sldId id="421" r:id="rId18"/>
    <p:sldId id="493" r:id="rId19"/>
    <p:sldId id="422" r:id="rId20"/>
    <p:sldId id="423" r:id="rId21"/>
    <p:sldId id="489" r:id="rId22"/>
    <p:sldId id="491" r:id="rId23"/>
    <p:sldId id="424" r:id="rId24"/>
    <p:sldId id="425" r:id="rId25"/>
    <p:sldId id="427" r:id="rId26"/>
    <p:sldId id="429" r:id="rId27"/>
    <p:sldId id="430" r:id="rId28"/>
    <p:sldId id="433" r:id="rId29"/>
    <p:sldId id="434" r:id="rId30"/>
    <p:sldId id="435" r:id="rId31"/>
    <p:sldId id="439" r:id="rId32"/>
    <p:sldId id="446" r:id="rId33"/>
    <p:sldId id="494" r:id="rId34"/>
    <p:sldId id="444" r:id="rId35"/>
    <p:sldId id="495" r:id="rId36"/>
    <p:sldId id="440" r:id="rId37"/>
    <p:sldId id="442" r:id="rId38"/>
    <p:sldId id="408" r:id="rId39"/>
    <p:sldId id="443" r:id="rId4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ardo Rosenfeld" initials="RR" lastIdx="1" clrIdx="0">
    <p:extLst>
      <p:ext uri="{19B8F6BF-5375-455C-9EA6-DF929625EA0E}">
        <p15:presenceInfo xmlns:p15="http://schemas.microsoft.com/office/powerpoint/2012/main" userId="S::rrosenfeld@pragmaconsultores.net::60a3a891-5940-4f3e-8fcb-08ad60f8a1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F774AB-23EA-4BB6-BCE9-A37643F30487}" v="79" dt="2026-03-01T13:20:10.7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01" autoAdjust="0"/>
    <p:restoredTop sz="93557" autoAdjust="0"/>
  </p:normalViewPr>
  <p:slideViewPr>
    <p:cSldViewPr snapToGrid="0">
      <p:cViewPr varScale="1">
        <p:scale>
          <a:sx n="51" d="100"/>
          <a:sy n="51" d="100"/>
        </p:scale>
        <p:origin x="1716" y="264"/>
      </p:cViewPr>
      <p:guideLst/>
    </p:cSldViewPr>
  </p:slideViewPr>
  <p:outlineViewPr>
    <p:cViewPr>
      <p:scale>
        <a:sx n="33" d="100"/>
        <a:sy n="33" d="100"/>
      </p:scale>
      <p:origin x="0" y="-37295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24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ardo Rosenfeld" userId="29ed646a-75fb-4451-a67b-85738f90665c" providerId="ADAL" clId="{56FAFB6D-07E1-49C8-800A-4AFF6024927D}"/>
    <pc:docChg chg="undo redo custSel modSld">
      <pc:chgData name="Ricardo Rosenfeld" userId="29ed646a-75fb-4451-a67b-85738f90665c" providerId="ADAL" clId="{56FAFB6D-07E1-49C8-800A-4AFF6024927D}" dt="2026-03-01T14:47:02.273" v="1635" actId="20577"/>
      <pc:docMkLst>
        <pc:docMk/>
      </pc:docMkLst>
      <pc:sldChg chg="modSp mod">
        <pc:chgData name="Ricardo Rosenfeld" userId="29ed646a-75fb-4451-a67b-85738f90665c" providerId="ADAL" clId="{56FAFB6D-07E1-49C8-800A-4AFF6024927D}" dt="2026-03-01T12:40:47.819" v="969" actId="20577"/>
        <pc:sldMkLst>
          <pc:docMk/>
          <pc:sldMk cId="1701942141" sldId="404"/>
        </pc:sldMkLst>
        <pc:spChg chg="mod">
          <ac:chgData name="Ricardo Rosenfeld" userId="29ed646a-75fb-4451-a67b-85738f90665c" providerId="ADAL" clId="{56FAFB6D-07E1-49C8-800A-4AFF6024927D}" dt="2026-03-01T12:40:47.819" v="969" actId="20577"/>
          <ac:spMkLst>
            <pc:docMk/>
            <pc:sldMk cId="1701942141" sldId="404"/>
            <ac:spMk id="8" creationId="{1D18FE9E-D03C-76C6-4697-D3A1C27B5E6D}"/>
          </ac:spMkLst>
        </pc:spChg>
      </pc:sldChg>
      <pc:sldChg chg="modSp mod">
        <pc:chgData name="Ricardo Rosenfeld" userId="29ed646a-75fb-4451-a67b-85738f90665c" providerId="ADAL" clId="{56FAFB6D-07E1-49C8-800A-4AFF6024927D}" dt="2026-03-01T14:01:39.377" v="1548" actId="1076"/>
        <pc:sldMkLst>
          <pc:docMk/>
          <pc:sldMk cId="4170160363" sldId="408"/>
        </pc:sldMkLst>
        <pc:spChg chg="mod">
          <ac:chgData name="Ricardo Rosenfeld" userId="29ed646a-75fb-4451-a67b-85738f90665c" providerId="ADAL" clId="{56FAFB6D-07E1-49C8-800A-4AFF6024927D}" dt="2026-03-01T14:01:39.377" v="1548" actId="1076"/>
          <ac:spMkLst>
            <pc:docMk/>
            <pc:sldMk cId="4170160363" sldId="408"/>
            <ac:spMk id="7" creationId="{EC917F4E-6CC8-6B06-B12A-5C7544DEBCA4}"/>
          </ac:spMkLst>
        </pc:spChg>
      </pc:sldChg>
      <pc:sldChg chg="modSp mod">
        <pc:chgData name="Ricardo Rosenfeld" userId="29ed646a-75fb-4451-a67b-85738f90665c" providerId="ADAL" clId="{56FAFB6D-07E1-49C8-800A-4AFF6024927D}" dt="2026-03-01T12:28:51.742" v="692" actId="20577"/>
        <pc:sldMkLst>
          <pc:docMk/>
          <pc:sldMk cId="1316656260" sldId="412"/>
        </pc:sldMkLst>
        <pc:spChg chg="mod">
          <ac:chgData name="Ricardo Rosenfeld" userId="29ed646a-75fb-4451-a67b-85738f90665c" providerId="ADAL" clId="{56FAFB6D-07E1-49C8-800A-4AFF6024927D}" dt="2026-03-01T12:28:51.742" v="692" actId="20577"/>
          <ac:spMkLst>
            <pc:docMk/>
            <pc:sldMk cId="1316656260" sldId="412"/>
            <ac:spMk id="3" creationId="{2709DC6A-370B-4C61-BD83-D8C5489E5B28}"/>
          </ac:spMkLst>
        </pc:spChg>
      </pc:sldChg>
      <pc:sldChg chg="modSp mod">
        <pc:chgData name="Ricardo Rosenfeld" userId="29ed646a-75fb-4451-a67b-85738f90665c" providerId="ADAL" clId="{56FAFB6D-07E1-49C8-800A-4AFF6024927D}" dt="2026-03-01T12:38:03.915" v="927" actId="14100"/>
        <pc:sldMkLst>
          <pc:docMk/>
          <pc:sldMk cId="1383170789" sldId="413"/>
        </pc:sldMkLst>
        <pc:spChg chg="mod">
          <ac:chgData name="Ricardo Rosenfeld" userId="29ed646a-75fb-4451-a67b-85738f90665c" providerId="ADAL" clId="{56FAFB6D-07E1-49C8-800A-4AFF6024927D}" dt="2026-03-01T12:38:03.915" v="927" actId="14100"/>
          <ac:spMkLst>
            <pc:docMk/>
            <pc:sldMk cId="1383170789" sldId="413"/>
            <ac:spMk id="2" creationId="{1DD83989-B27D-E6C0-D318-5147650F7F09}"/>
          </ac:spMkLst>
        </pc:spChg>
      </pc:sldChg>
      <pc:sldChg chg="modSp mod">
        <pc:chgData name="Ricardo Rosenfeld" userId="29ed646a-75fb-4451-a67b-85738f90665c" providerId="ADAL" clId="{56FAFB6D-07E1-49C8-800A-4AFF6024927D}" dt="2026-03-01T12:11:20.752" v="309" actId="20577"/>
        <pc:sldMkLst>
          <pc:docMk/>
          <pc:sldMk cId="2913088785" sldId="414"/>
        </pc:sldMkLst>
        <pc:spChg chg="mod">
          <ac:chgData name="Ricardo Rosenfeld" userId="29ed646a-75fb-4451-a67b-85738f90665c" providerId="ADAL" clId="{56FAFB6D-07E1-49C8-800A-4AFF6024927D}" dt="2026-03-01T12:11:20.752" v="309" actId="20577"/>
          <ac:spMkLst>
            <pc:docMk/>
            <pc:sldMk cId="2913088785" sldId="414"/>
            <ac:spMk id="3" creationId="{2709DC6A-370B-4C61-BD83-D8C5489E5B28}"/>
          </ac:spMkLst>
        </pc:spChg>
      </pc:sldChg>
      <pc:sldChg chg="modSp mod">
        <pc:chgData name="Ricardo Rosenfeld" userId="29ed646a-75fb-4451-a67b-85738f90665c" providerId="ADAL" clId="{56FAFB6D-07E1-49C8-800A-4AFF6024927D}" dt="2026-03-01T12:35:18.328" v="859" actId="947"/>
        <pc:sldMkLst>
          <pc:docMk/>
          <pc:sldMk cId="3276884013" sldId="417"/>
        </pc:sldMkLst>
        <pc:spChg chg="mod">
          <ac:chgData name="Ricardo Rosenfeld" userId="29ed646a-75fb-4451-a67b-85738f90665c" providerId="ADAL" clId="{56FAFB6D-07E1-49C8-800A-4AFF6024927D}" dt="2026-03-01T12:35:18.328" v="859" actId="947"/>
          <ac:spMkLst>
            <pc:docMk/>
            <pc:sldMk cId="3276884013" sldId="417"/>
            <ac:spMk id="18" creationId="{5B340E55-7149-403A-9239-BB49ED042B00}"/>
          </ac:spMkLst>
        </pc:spChg>
        <pc:spChg chg="mod">
          <ac:chgData name="Ricardo Rosenfeld" userId="29ed646a-75fb-4451-a67b-85738f90665c" providerId="ADAL" clId="{56FAFB6D-07E1-49C8-800A-4AFF6024927D}" dt="2026-03-01T12:31:52.379" v="789" actId="1076"/>
          <ac:spMkLst>
            <pc:docMk/>
            <pc:sldMk cId="3276884013" sldId="417"/>
            <ac:spMk id="48" creationId="{A81443A1-051B-44AB-A7F8-CE7F6DFFF18B}"/>
          </ac:spMkLst>
        </pc:spChg>
        <pc:cxnChg chg="mod">
          <ac:chgData name="Ricardo Rosenfeld" userId="29ed646a-75fb-4451-a67b-85738f90665c" providerId="ADAL" clId="{56FAFB6D-07E1-49C8-800A-4AFF6024927D}" dt="2026-03-01T12:31:30.205" v="788" actId="14100"/>
          <ac:cxnSpMkLst>
            <pc:docMk/>
            <pc:sldMk cId="3276884013" sldId="417"/>
            <ac:cxnSpMk id="3" creationId="{0F93FA8C-10C1-4391-BD9D-A3BDF166F32C}"/>
          </ac:cxnSpMkLst>
        </pc:cxnChg>
      </pc:sldChg>
      <pc:sldChg chg="modSp mod">
        <pc:chgData name="Ricardo Rosenfeld" userId="29ed646a-75fb-4451-a67b-85738f90665c" providerId="ADAL" clId="{56FAFB6D-07E1-49C8-800A-4AFF6024927D}" dt="2026-03-01T12:46:05.758" v="1024" actId="1076"/>
        <pc:sldMkLst>
          <pc:docMk/>
          <pc:sldMk cId="3357474557" sldId="419"/>
        </pc:sldMkLst>
        <pc:spChg chg="mod">
          <ac:chgData name="Ricardo Rosenfeld" userId="29ed646a-75fb-4451-a67b-85738f90665c" providerId="ADAL" clId="{56FAFB6D-07E1-49C8-800A-4AFF6024927D}" dt="2026-03-01T12:45:01.876" v="1009" actId="947"/>
          <ac:spMkLst>
            <pc:docMk/>
            <pc:sldMk cId="3357474557" sldId="419"/>
            <ac:spMk id="3" creationId="{2709DC6A-370B-4C61-BD83-D8C5489E5B28}"/>
          </ac:spMkLst>
        </pc:spChg>
        <pc:spChg chg="mod">
          <ac:chgData name="Ricardo Rosenfeld" userId="29ed646a-75fb-4451-a67b-85738f90665c" providerId="ADAL" clId="{56FAFB6D-07E1-49C8-800A-4AFF6024927D}" dt="2026-03-01T12:46:05.758" v="1024" actId="1076"/>
          <ac:spMkLst>
            <pc:docMk/>
            <pc:sldMk cId="3357474557" sldId="419"/>
            <ac:spMk id="10" creationId="{51DD5F4E-9588-9ECD-66DD-E452701C2E1D}"/>
          </ac:spMkLst>
        </pc:spChg>
        <pc:cxnChg chg="mod">
          <ac:chgData name="Ricardo Rosenfeld" userId="29ed646a-75fb-4451-a67b-85738f90665c" providerId="ADAL" clId="{56FAFB6D-07E1-49C8-800A-4AFF6024927D}" dt="2026-03-01T12:46:00.287" v="1023" actId="1076"/>
          <ac:cxnSpMkLst>
            <pc:docMk/>
            <pc:sldMk cId="3357474557" sldId="419"/>
            <ac:cxnSpMk id="9" creationId="{C42FBF68-EDFA-0633-A606-DF777BE35438}"/>
          </ac:cxnSpMkLst>
        </pc:cxnChg>
      </pc:sldChg>
      <pc:sldChg chg="modSp mod">
        <pc:chgData name="Ricardo Rosenfeld" userId="29ed646a-75fb-4451-a67b-85738f90665c" providerId="ADAL" clId="{56FAFB6D-07E1-49C8-800A-4AFF6024927D}" dt="2026-03-01T12:59:30.437" v="1090" actId="14100"/>
        <pc:sldMkLst>
          <pc:docMk/>
          <pc:sldMk cId="1915644856" sldId="423"/>
        </pc:sldMkLst>
        <pc:spChg chg="mod">
          <ac:chgData name="Ricardo Rosenfeld" userId="29ed646a-75fb-4451-a67b-85738f90665c" providerId="ADAL" clId="{56FAFB6D-07E1-49C8-800A-4AFF6024927D}" dt="2026-03-01T12:59:30.437" v="1090" actId="14100"/>
          <ac:spMkLst>
            <pc:docMk/>
            <pc:sldMk cId="1915644856" sldId="423"/>
            <ac:spMk id="5" creationId="{312BB281-DE9F-D1C3-B78D-73B25B42F4FD}"/>
          </ac:spMkLst>
        </pc:spChg>
      </pc:sldChg>
      <pc:sldChg chg="modSp mod">
        <pc:chgData name="Ricardo Rosenfeld" userId="29ed646a-75fb-4451-a67b-85738f90665c" providerId="ADAL" clId="{56FAFB6D-07E1-49C8-800A-4AFF6024927D}" dt="2026-03-01T13:04:01.537" v="1116" actId="1076"/>
        <pc:sldMkLst>
          <pc:docMk/>
          <pc:sldMk cId="3160538917" sldId="424"/>
        </pc:sldMkLst>
        <pc:spChg chg="mod">
          <ac:chgData name="Ricardo Rosenfeld" userId="29ed646a-75fb-4451-a67b-85738f90665c" providerId="ADAL" clId="{56FAFB6D-07E1-49C8-800A-4AFF6024927D}" dt="2026-03-01T13:04:01.537" v="1116" actId="1076"/>
          <ac:spMkLst>
            <pc:docMk/>
            <pc:sldMk cId="3160538917" sldId="424"/>
            <ac:spMk id="4" creationId="{FA8EB76A-42D7-4FB6-A353-0BD8FBB68B1E}"/>
          </ac:spMkLst>
        </pc:spChg>
        <pc:spChg chg="mod">
          <ac:chgData name="Ricardo Rosenfeld" userId="29ed646a-75fb-4451-a67b-85738f90665c" providerId="ADAL" clId="{56FAFB6D-07E1-49C8-800A-4AFF6024927D}" dt="2026-03-01T13:03:27.923" v="1115" actId="14100"/>
          <ac:spMkLst>
            <pc:docMk/>
            <pc:sldMk cId="3160538917" sldId="424"/>
            <ac:spMk id="6" creationId="{F6ACB1A3-6D02-61F7-7E08-CA69245B5858}"/>
          </ac:spMkLst>
        </pc:spChg>
      </pc:sldChg>
      <pc:sldChg chg="modSp mod">
        <pc:chgData name="Ricardo Rosenfeld" userId="29ed646a-75fb-4451-a67b-85738f90665c" providerId="ADAL" clId="{56FAFB6D-07E1-49C8-800A-4AFF6024927D}" dt="2026-03-01T13:09:16.540" v="1136" actId="20577"/>
        <pc:sldMkLst>
          <pc:docMk/>
          <pc:sldMk cId="88570970" sldId="425"/>
        </pc:sldMkLst>
        <pc:spChg chg="mod">
          <ac:chgData name="Ricardo Rosenfeld" userId="29ed646a-75fb-4451-a67b-85738f90665c" providerId="ADAL" clId="{56FAFB6D-07E1-49C8-800A-4AFF6024927D}" dt="2026-03-01T13:09:16.540" v="1136" actId="20577"/>
          <ac:spMkLst>
            <pc:docMk/>
            <pc:sldMk cId="88570970" sldId="425"/>
            <ac:spMk id="3" creationId="{2709DC6A-370B-4C61-BD83-D8C5489E5B28}"/>
          </ac:spMkLst>
        </pc:spChg>
      </pc:sldChg>
      <pc:sldChg chg="modSp mod">
        <pc:chgData name="Ricardo Rosenfeld" userId="29ed646a-75fb-4451-a67b-85738f90665c" providerId="ADAL" clId="{56FAFB6D-07E1-49C8-800A-4AFF6024927D}" dt="2026-03-01T12:51:30.050" v="1030" actId="113"/>
        <pc:sldMkLst>
          <pc:docMk/>
          <pc:sldMk cId="4236672009" sldId="426"/>
        </pc:sldMkLst>
        <pc:spChg chg="mod">
          <ac:chgData name="Ricardo Rosenfeld" userId="29ed646a-75fb-4451-a67b-85738f90665c" providerId="ADAL" clId="{56FAFB6D-07E1-49C8-800A-4AFF6024927D}" dt="2026-03-01T12:51:30.050" v="1030" actId="113"/>
          <ac:spMkLst>
            <pc:docMk/>
            <pc:sldMk cId="4236672009" sldId="426"/>
            <ac:spMk id="3" creationId="{2709DC6A-370B-4C61-BD83-D8C5489E5B28}"/>
          </ac:spMkLst>
        </pc:spChg>
      </pc:sldChg>
      <pc:sldChg chg="addSp modSp mod modAnim">
        <pc:chgData name="Ricardo Rosenfeld" userId="29ed646a-75fb-4451-a67b-85738f90665c" providerId="ADAL" clId="{56FAFB6D-07E1-49C8-800A-4AFF6024927D}" dt="2026-03-01T13:15:01.237" v="1214" actId="20577"/>
        <pc:sldMkLst>
          <pc:docMk/>
          <pc:sldMk cId="1107189737" sldId="429"/>
        </pc:sldMkLst>
        <pc:spChg chg="add mod">
          <ac:chgData name="Ricardo Rosenfeld" userId="29ed646a-75fb-4451-a67b-85738f90665c" providerId="ADAL" clId="{56FAFB6D-07E1-49C8-800A-4AFF6024927D}" dt="2026-03-01T13:10:30.584" v="1172"/>
          <ac:spMkLst>
            <pc:docMk/>
            <pc:sldMk cId="1107189737" sldId="429"/>
            <ac:spMk id="2" creationId="{DFC4348A-D4FA-6A08-CC0F-AF5098317D32}"/>
          </ac:spMkLst>
        </pc:spChg>
        <pc:spChg chg="mod">
          <ac:chgData name="Ricardo Rosenfeld" userId="29ed646a-75fb-4451-a67b-85738f90665c" providerId="ADAL" clId="{56FAFB6D-07E1-49C8-800A-4AFF6024927D}" dt="2026-03-01T13:09:27.608" v="1138" actId="1076"/>
          <ac:spMkLst>
            <pc:docMk/>
            <pc:sldMk cId="1107189737" sldId="429"/>
            <ac:spMk id="3" creationId="{DC211241-8E1A-476F-A2EF-87D34FEAE0D6}"/>
          </ac:spMkLst>
        </pc:spChg>
        <pc:spChg chg="mod">
          <ac:chgData name="Ricardo Rosenfeld" userId="29ed646a-75fb-4451-a67b-85738f90665c" providerId="ADAL" clId="{56FAFB6D-07E1-49C8-800A-4AFF6024927D}" dt="2026-03-01T13:09:27.608" v="1138" actId="1076"/>
          <ac:spMkLst>
            <pc:docMk/>
            <pc:sldMk cId="1107189737" sldId="429"/>
            <ac:spMk id="5" creationId="{FD87B8A9-150C-4677-9E28-8559D4B536CE}"/>
          </ac:spMkLst>
        </pc:spChg>
        <pc:spChg chg="mod">
          <ac:chgData name="Ricardo Rosenfeld" userId="29ed646a-75fb-4451-a67b-85738f90665c" providerId="ADAL" clId="{56FAFB6D-07E1-49C8-800A-4AFF6024927D}" dt="2026-03-01T13:15:01.237" v="1214" actId="20577"/>
          <ac:spMkLst>
            <pc:docMk/>
            <pc:sldMk cId="1107189737" sldId="429"/>
            <ac:spMk id="7" creationId="{864EFD85-E882-41BF-B3C6-F53A558D1A10}"/>
          </ac:spMkLst>
        </pc:spChg>
      </pc:sldChg>
      <pc:sldChg chg="modSp mod">
        <pc:chgData name="Ricardo Rosenfeld" userId="29ed646a-75fb-4451-a67b-85738f90665c" providerId="ADAL" clId="{56FAFB6D-07E1-49C8-800A-4AFF6024927D}" dt="2026-03-01T13:14:05.921" v="1194" actId="20577"/>
        <pc:sldMkLst>
          <pc:docMk/>
          <pc:sldMk cId="830693477" sldId="430"/>
        </pc:sldMkLst>
        <pc:spChg chg="mod">
          <ac:chgData name="Ricardo Rosenfeld" userId="29ed646a-75fb-4451-a67b-85738f90665c" providerId="ADAL" clId="{56FAFB6D-07E1-49C8-800A-4AFF6024927D}" dt="2026-03-01T13:14:05.921" v="1194" actId="20577"/>
          <ac:spMkLst>
            <pc:docMk/>
            <pc:sldMk cId="830693477" sldId="430"/>
            <ac:spMk id="5" creationId="{7A924693-243E-4AE3-AA7A-B43BAD7049A8}"/>
          </ac:spMkLst>
        </pc:spChg>
      </pc:sldChg>
      <pc:sldChg chg="modSp mod">
        <pc:chgData name="Ricardo Rosenfeld" userId="29ed646a-75fb-4451-a67b-85738f90665c" providerId="ADAL" clId="{56FAFB6D-07E1-49C8-800A-4AFF6024927D}" dt="2026-03-01T13:17:28.057" v="1241" actId="6549"/>
        <pc:sldMkLst>
          <pc:docMk/>
          <pc:sldMk cId="2233368033" sldId="435"/>
        </pc:sldMkLst>
        <pc:spChg chg="mod">
          <ac:chgData name="Ricardo Rosenfeld" userId="29ed646a-75fb-4451-a67b-85738f90665c" providerId="ADAL" clId="{56FAFB6D-07E1-49C8-800A-4AFF6024927D}" dt="2026-03-01T13:17:28.057" v="1241" actId="6549"/>
          <ac:spMkLst>
            <pc:docMk/>
            <pc:sldMk cId="2233368033" sldId="435"/>
            <ac:spMk id="8" creationId="{B6C96967-42A2-4FC7-9B38-85A57EEA0663}"/>
          </ac:spMkLst>
        </pc:spChg>
      </pc:sldChg>
      <pc:sldChg chg="modSp mod">
        <pc:chgData name="Ricardo Rosenfeld" userId="29ed646a-75fb-4451-a67b-85738f90665c" providerId="ADAL" clId="{56FAFB6D-07E1-49C8-800A-4AFF6024927D}" dt="2026-03-01T13:47:19.640" v="1508" actId="6549"/>
        <pc:sldMkLst>
          <pc:docMk/>
          <pc:sldMk cId="2276704565" sldId="440"/>
        </pc:sldMkLst>
        <pc:spChg chg="mod">
          <ac:chgData name="Ricardo Rosenfeld" userId="29ed646a-75fb-4451-a67b-85738f90665c" providerId="ADAL" clId="{56FAFB6D-07E1-49C8-800A-4AFF6024927D}" dt="2026-03-01T13:47:19.640" v="1508" actId="6549"/>
          <ac:spMkLst>
            <pc:docMk/>
            <pc:sldMk cId="2276704565" sldId="440"/>
            <ac:spMk id="4" creationId="{AFCA550E-EF27-4409-AA79-CC690A3BC54D}"/>
          </ac:spMkLst>
        </pc:spChg>
      </pc:sldChg>
      <pc:sldChg chg="modSp mod">
        <pc:chgData name="Ricardo Rosenfeld" userId="29ed646a-75fb-4451-a67b-85738f90665c" providerId="ADAL" clId="{56FAFB6D-07E1-49C8-800A-4AFF6024927D}" dt="2026-03-01T13:57:59.592" v="1514" actId="6549"/>
        <pc:sldMkLst>
          <pc:docMk/>
          <pc:sldMk cId="1925679021" sldId="442"/>
        </pc:sldMkLst>
        <pc:spChg chg="mod">
          <ac:chgData name="Ricardo Rosenfeld" userId="29ed646a-75fb-4451-a67b-85738f90665c" providerId="ADAL" clId="{56FAFB6D-07E1-49C8-800A-4AFF6024927D}" dt="2026-03-01T13:48:19.361" v="1512" actId="20577"/>
          <ac:spMkLst>
            <pc:docMk/>
            <pc:sldMk cId="1925679021" sldId="442"/>
            <ac:spMk id="2" creationId="{33953C9E-0CD2-4A9A-97C6-4599EDE885B7}"/>
          </ac:spMkLst>
        </pc:spChg>
        <pc:graphicFrameChg chg="modGraphic">
          <ac:chgData name="Ricardo Rosenfeld" userId="29ed646a-75fb-4451-a67b-85738f90665c" providerId="ADAL" clId="{56FAFB6D-07E1-49C8-800A-4AFF6024927D}" dt="2026-03-01T13:57:59.592" v="1514" actId="6549"/>
          <ac:graphicFrameMkLst>
            <pc:docMk/>
            <pc:sldMk cId="1925679021" sldId="442"/>
            <ac:graphicFrameMk id="5" creationId="{6965FEE0-806F-42AF-BC52-AC090B084A5D}"/>
          </ac:graphicFrameMkLst>
        </pc:graphicFrameChg>
      </pc:sldChg>
      <pc:sldChg chg="modSp mod">
        <pc:chgData name="Ricardo Rosenfeld" userId="29ed646a-75fb-4451-a67b-85738f90665c" providerId="ADAL" clId="{56FAFB6D-07E1-49C8-800A-4AFF6024927D}" dt="2026-03-01T14:03:24.151" v="1611" actId="20577"/>
        <pc:sldMkLst>
          <pc:docMk/>
          <pc:sldMk cId="2645501379" sldId="443"/>
        </pc:sldMkLst>
        <pc:spChg chg="mod">
          <ac:chgData name="Ricardo Rosenfeld" userId="29ed646a-75fb-4451-a67b-85738f90665c" providerId="ADAL" clId="{56FAFB6D-07E1-49C8-800A-4AFF6024927D}" dt="2026-03-01T14:03:24.151" v="1611" actId="20577"/>
          <ac:spMkLst>
            <pc:docMk/>
            <pc:sldMk cId="2645501379" sldId="443"/>
            <ac:spMk id="9" creationId="{A6BEB63C-D0DE-BB3B-7234-0C0B529F2102}"/>
          </ac:spMkLst>
        </pc:spChg>
      </pc:sldChg>
      <pc:sldChg chg="addSp modSp mod">
        <pc:chgData name="Ricardo Rosenfeld" userId="29ed646a-75fb-4451-a67b-85738f90665c" providerId="ADAL" clId="{56FAFB6D-07E1-49C8-800A-4AFF6024927D}" dt="2026-03-01T13:27:32.377" v="1306" actId="1035"/>
        <pc:sldMkLst>
          <pc:docMk/>
          <pc:sldMk cId="3306439804" sldId="444"/>
        </pc:sldMkLst>
        <pc:spChg chg="add mod">
          <ac:chgData name="Ricardo Rosenfeld" userId="29ed646a-75fb-4451-a67b-85738f90665c" providerId="ADAL" clId="{56FAFB6D-07E1-49C8-800A-4AFF6024927D}" dt="2026-03-01T13:27:32.377" v="1306" actId="1035"/>
          <ac:spMkLst>
            <pc:docMk/>
            <pc:sldMk cId="3306439804" sldId="444"/>
            <ac:spMk id="10" creationId="{F53EBE7A-F6AA-7D01-C44A-B75A32DE7145}"/>
          </ac:spMkLst>
        </pc:spChg>
      </pc:sldChg>
      <pc:sldChg chg="modSp mod">
        <pc:chgData name="Ricardo Rosenfeld" userId="29ed646a-75fb-4451-a67b-85738f90665c" providerId="ADAL" clId="{56FAFB6D-07E1-49C8-800A-4AFF6024927D}" dt="2026-03-01T12:55:58.610" v="1041" actId="20577"/>
        <pc:sldMkLst>
          <pc:docMk/>
          <pc:sldMk cId="1844291468" sldId="445"/>
        </pc:sldMkLst>
        <pc:spChg chg="mod">
          <ac:chgData name="Ricardo Rosenfeld" userId="29ed646a-75fb-4451-a67b-85738f90665c" providerId="ADAL" clId="{56FAFB6D-07E1-49C8-800A-4AFF6024927D}" dt="2026-03-01T12:55:58.610" v="1041" actId="20577"/>
          <ac:spMkLst>
            <pc:docMk/>
            <pc:sldMk cId="1844291468" sldId="445"/>
            <ac:spMk id="62" creationId="{C795E0A0-3FAC-4720-956E-4F48B07BC7C9}"/>
          </ac:spMkLst>
        </pc:spChg>
      </pc:sldChg>
      <pc:sldChg chg="modSp mod">
        <pc:chgData name="Ricardo Rosenfeld" userId="29ed646a-75fb-4451-a67b-85738f90665c" providerId="ADAL" clId="{56FAFB6D-07E1-49C8-800A-4AFF6024927D}" dt="2026-03-01T12:49:36.687" v="1029" actId="113"/>
        <pc:sldMkLst>
          <pc:docMk/>
          <pc:sldMk cId="109902721" sldId="453"/>
        </pc:sldMkLst>
        <pc:spChg chg="mod">
          <ac:chgData name="Ricardo Rosenfeld" userId="29ed646a-75fb-4451-a67b-85738f90665c" providerId="ADAL" clId="{56FAFB6D-07E1-49C8-800A-4AFF6024927D}" dt="2026-03-01T12:49:36.687" v="1029" actId="113"/>
          <ac:spMkLst>
            <pc:docMk/>
            <pc:sldMk cId="109902721" sldId="453"/>
            <ac:spMk id="3" creationId="{2709DC6A-370B-4C61-BD83-D8C5489E5B28}"/>
          </ac:spMkLst>
        </pc:spChg>
      </pc:sldChg>
      <pc:sldChg chg="modSp mod">
        <pc:chgData name="Ricardo Rosenfeld" userId="29ed646a-75fb-4451-a67b-85738f90665c" providerId="ADAL" clId="{56FAFB6D-07E1-49C8-800A-4AFF6024927D}" dt="2026-03-01T12:06:19.780" v="230" actId="20577"/>
        <pc:sldMkLst>
          <pc:docMk/>
          <pc:sldMk cId="3427009205" sldId="455"/>
        </pc:sldMkLst>
        <pc:spChg chg="mod">
          <ac:chgData name="Ricardo Rosenfeld" userId="29ed646a-75fb-4451-a67b-85738f90665c" providerId="ADAL" clId="{56FAFB6D-07E1-49C8-800A-4AFF6024927D}" dt="2026-03-01T11:59:20.498" v="1" actId="6549"/>
          <ac:spMkLst>
            <pc:docMk/>
            <pc:sldMk cId="3427009205" sldId="455"/>
            <ac:spMk id="2" creationId="{E341BC72-17CA-45A8-561E-473966B4E17C}"/>
          </ac:spMkLst>
        </pc:spChg>
        <pc:spChg chg="mod">
          <ac:chgData name="Ricardo Rosenfeld" userId="29ed646a-75fb-4451-a67b-85738f90665c" providerId="ADAL" clId="{56FAFB6D-07E1-49C8-800A-4AFF6024927D}" dt="2026-03-01T12:06:15.552" v="228" actId="20577"/>
          <ac:spMkLst>
            <pc:docMk/>
            <pc:sldMk cId="3427009205" sldId="455"/>
            <ac:spMk id="3" creationId="{0D976F20-3319-7628-EB95-A2F3A725978B}"/>
          </ac:spMkLst>
        </pc:spChg>
        <pc:spChg chg="mod">
          <ac:chgData name="Ricardo Rosenfeld" userId="29ed646a-75fb-4451-a67b-85738f90665c" providerId="ADAL" clId="{56FAFB6D-07E1-49C8-800A-4AFF6024927D}" dt="2026-03-01T12:06:19.780" v="230" actId="20577"/>
          <ac:spMkLst>
            <pc:docMk/>
            <pc:sldMk cId="3427009205" sldId="455"/>
            <ac:spMk id="4" creationId="{C011DECC-3368-1464-D589-A8D2A44FFD60}"/>
          </ac:spMkLst>
        </pc:spChg>
      </pc:sldChg>
      <pc:sldChg chg="modSp mod">
        <pc:chgData name="Ricardo Rosenfeld" userId="29ed646a-75fb-4451-a67b-85738f90665c" providerId="ADAL" clId="{56FAFB6D-07E1-49C8-800A-4AFF6024927D}" dt="2026-03-01T14:47:02.273" v="1635" actId="20577"/>
        <pc:sldMkLst>
          <pc:docMk/>
          <pc:sldMk cId="1091802914" sldId="494"/>
        </pc:sldMkLst>
        <pc:spChg chg="mod">
          <ac:chgData name="Ricardo Rosenfeld" userId="29ed646a-75fb-4451-a67b-85738f90665c" providerId="ADAL" clId="{56FAFB6D-07E1-49C8-800A-4AFF6024927D}" dt="2026-03-01T14:47:02.273" v="1635" actId="20577"/>
          <ac:spMkLst>
            <pc:docMk/>
            <pc:sldMk cId="1091802914" sldId="494"/>
            <ac:spMk id="3" creationId="{2709DC6A-370B-4C61-BD83-D8C5489E5B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2C0A43-6D99-469E-A2A4-986F5A96B2D7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435F7-D700-49C2-9B70-E2E5ADB6D1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0643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83906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5530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33163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7861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20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7819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4531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2236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463482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C435F7-D700-49C2-9B70-E2E5ADB6D160}" type="slidenum">
              <a:rPr lang="es-MX" smtClean="0"/>
              <a:t>25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775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CDFD8-3B47-47B7-9D98-9CB28ED50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351C29-88F1-404A-88B5-AAFB933E7A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BC8192-3085-40EC-A245-5C222F32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50C20B-B4AC-430A-8313-A3F7BDC0A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EC49BD-1E18-4D92-9D24-7398DB0B1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0067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A5222-7243-4A2A-81E0-EFD4A97B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3C6E81-EB0F-46DA-9E5A-667EA14DB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4B5F33-4F19-4979-8255-DD785CEE8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CF551B-D411-43D5-91E0-D1144B10A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56BA24-B1EE-4DB2-AAFD-AD6642DD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414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3B8AA-8824-42FA-95BA-B9BAD6FE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287F06-1F1F-4003-BCAA-C7B601E3F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5B110-FFCF-43EE-8AF6-DE5B2842C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FA215F-73F9-4C6E-B7EC-68488086B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422D6C-A7D6-41A9-B84A-4E190D85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355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FB367-926C-43A9-9CEC-6BFEFCAE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F9C402-E080-471C-8FDA-676B5D640B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815C77-D3F1-4F59-98FC-1C12D5B4B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8C8DE3-9740-42F7-A75D-5AD79151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716250-9E7E-4B4A-AE00-7A405C6D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3BA5F8-1996-419B-A547-BE167DD4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4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8EFD3-DE5B-46CC-9A55-EF83087C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F83A4CA-2CD6-4D12-8680-E55BE1714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C9E483-322E-42AA-BEE2-AD348AC5B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F3C280-1532-430A-A567-C1C468DBBA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4D677A-924C-4D3E-B367-07331BECA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6C1839-3F71-4941-BB2A-B44CB6C3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48C015-22B0-416F-BEC7-42EFB85FF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1FEA894-61ED-4AAB-83DF-19C01EE8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287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2AE01-3088-4313-9007-6B1AADB4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8D9A49-CAAC-4CB1-ACA6-6F6062D94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D9D4133-9FCA-44D8-9FB8-A4815F3F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75C298-54F6-456C-BB16-F0563630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5178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F9DFC64-5151-420C-9730-DFDC83B98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E318C4-3FDF-4018-950C-7C6F8C171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66FD2A-6527-4E5F-AEBF-BBA1707F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8880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F2E8B-3206-4383-8645-1E3D162F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6BBE06-46BA-4FCC-8B18-70C154D44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08D200-9C17-459D-ACBF-27E79A38C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7C25193-0668-4B1D-A8B6-F7470675A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19D8AA-90EA-4DD2-96E0-DD955B230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25CA9F-E879-43AA-AD1E-ACD887D0F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3086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79DCD-B27A-4406-864E-7743DAE48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8978869-74E6-47DC-AC53-E00D971CBD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51CC178-2CF6-4746-8D87-0BE4A1418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54E583-6800-4663-AEED-581E24070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BADE39-CE1A-4FC8-8AD1-81EF7E965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DA765A-B094-4517-B235-3111B61D9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8904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5CDAE-BB5E-4D14-AE23-9F3A1DFB3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87F080C-030B-457D-B014-6848697ED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364F5B-EDB7-4A6D-A2E0-4F7F9A64D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08DB3E-AF17-4955-B8AD-62C820EC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044975-9D39-4C1F-B3B4-4CCA8D25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277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F821CC-7EFE-4705-8EA8-DA07D2712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2395BA9-E5AE-49B3-8968-DE994CFEE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489C8F-14CF-4605-98D3-14728A878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19C36-9E90-4794-91ED-E9B11DB74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F57C4B-6B87-4FB3-8B36-5FD7C552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7821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2D14711-40D9-47D6-9B41-0B8DB28C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E733F8-BEB9-48ED-96E8-B4B2409DE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247027-680B-4EDC-9484-D8AF07737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B3A0A-650C-414D-9908-5E3669971B9E}" type="datetimeFigureOut">
              <a:rPr lang="es-MX" smtClean="0"/>
              <a:t>08/03/2026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D6DD88-B1BE-4D9D-AF16-6C219E6B7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6D8EA2-8AC1-4530-9585-CCC8E40F1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DD8FF-C72E-4442-BAE2-DC052BCCF8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8655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1BC72-17CA-45A8-561E-473966B4E17C}"/>
              </a:ext>
            </a:extLst>
          </p:cNvPr>
          <p:cNvSpPr txBox="1">
            <a:spLocks/>
          </p:cNvSpPr>
          <p:nvPr/>
        </p:nvSpPr>
        <p:spPr>
          <a:xfrm>
            <a:off x="0" y="363496"/>
            <a:ext cx="12294704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FUNDAMENTOS DE TEORÍA DE LA COMPUTACIÓN 2026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D976F20-3319-7628-EB95-A2F3A725978B}"/>
              </a:ext>
            </a:extLst>
          </p:cNvPr>
          <p:cNvSpPr txBox="1">
            <a:spLocks/>
          </p:cNvSpPr>
          <p:nvPr/>
        </p:nvSpPr>
        <p:spPr>
          <a:xfrm>
            <a:off x="0" y="1359865"/>
            <a:ext cx="10940407" cy="21577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20000"/>
            <a:r>
              <a:rPr lang="es-MX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Parte 1. Teoría de la Computación</a:t>
            </a:r>
          </a:p>
          <a:p>
            <a:pPr marL="720000"/>
            <a:endParaRPr lang="es-MX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PROF. RICARDO ROSENFELD</a:t>
            </a:r>
          </a:p>
          <a:p>
            <a:pPr marL="720000"/>
            <a:endParaRPr lang="es-MX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     Computabilidad (4 clases)</a:t>
            </a:r>
          </a:p>
          <a:p>
            <a:pPr marL="720000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     Complejidad Computacional (3 clases)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011DECC-3368-1464-D589-A8D2A44FFD60}"/>
              </a:ext>
            </a:extLst>
          </p:cNvPr>
          <p:cNvSpPr txBox="1">
            <a:spLocks/>
          </p:cNvSpPr>
          <p:nvPr/>
        </p:nvSpPr>
        <p:spPr>
          <a:xfrm>
            <a:off x="0" y="4342848"/>
            <a:ext cx="13026393" cy="1560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20000"/>
            <a:r>
              <a:rPr lang="es-MX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Parte 2. Lógica, Verificación de Programas e Inteligencia Artificial</a:t>
            </a:r>
          </a:p>
          <a:p>
            <a:pPr marL="720000"/>
            <a:endParaRPr lang="es-MX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/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PROF. CLAUDIA PONS</a:t>
            </a:r>
          </a:p>
          <a:p>
            <a:pPr marL="720000"/>
            <a:endParaRPr lang="es-MX" sz="18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20000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     Lógica (4 clases)</a:t>
            </a:r>
          </a:p>
          <a:p>
            <a:pPr marL="720000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     Verificación de Programas (1 clase). Prof. Ricardo Rosenfeld</a:t>
            </a:r>
          </a:p>
          <a:p>
            <a:pPr marL="720000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     Inteligencia Artificial (2 clases)</a:t>
            </a:r>
          </a:p>
        </p:txBody>
      </p:sp>
    </p:spTree>
    <p:extLst>
      <p:ext uri="{BB962C8B-B14F-4D97-AF65-F5344CB8AC3E}">
        <p14:creationId xmlns:p14="http://schemas.microsoft.com/office/powerpoint/2010/main" val="3427009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5" y="955627"/>
            <a:ext cx="11414879" cy="560697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Plantel docente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Ricardo Rosenfeld (clases teóricas 1 a 7 y 12), Claudia Pons (clases teóricas 8 a 11 y 13 a 14).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Leandro Mendoza, Pedro Dal Bianco, Matías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Manzín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Jeremías Salsamendi (clases prácticas 1 a 14).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Horarios y aulas 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Teoría: lunes de 14 a 16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hs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 Aula 10B.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Práctica: martes de 19 a 21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hs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 Aula 10A.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Consultas eventuales: viernes de 19 a 21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hs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 Aula 10B.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Estructura de la materia y calendario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u="sng" dirty="0">
                <a:latin typeface="Arial" panose="020B0604020202020204" pitchFamily="34" charset="0"/>
                <a:cs typeface="Arial" panose="020B0604020202020204" pitchFamily="34" charset="0"/>
              </a:rPr>
              <a:t>Parte 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 7 clases de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computabilidad y complejidad computacional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(1er examen promocional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5 de mayo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u="sng" dirty="0">
                <a:latin typeface="Arial" panose="020B0604020202020204" pitchFamily="34" charset="0"/>
                <a:cs typeface="Arial" panose="020B0604020202020204" pitchFamily="34" charset="0"/>
              </a:rPr>
              <a:t>Parte 2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 7 clases de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lógica, verificación de programas e </a:t>
            </a:r>
            <a:r>
              <a:rPr lang="es-A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artif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(1er examen promocional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7 de julio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2dos exámenes promocionales de las partes 1 y 2 (los que no aprobaron):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3 y 4 de agosto,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respectivamente.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Trabajos prácticos semanales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Se recomienda trabajar en parejas. No se entregan, pero se recomienda hacerlos para llegar bien entrenados al examen (¡y para aprender!).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Consultas</a:t>
            </a:r>
          </a:p>
          <a:p>
            <a:pPr marL="0" lvl="1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Presencial en las clases prácticas, y virtual durante toda la semana (7x24) a través de la plataforma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IDEAS.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7F6FE0F8-E303-4ECC-A21F-7CE5C22A0CA0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156F8B9-4974-4442-AC24-8EBA2B30045C}"/>
              </a:ext>
            </a:extLst>
          </p:cNvPr>
          <p:cNvSpPr txBox="1">
            <a:spLocks/>
          </p:cNvSpPr>
          <p:nvPr/>
        </p:nvSpPr>
        <p:spPr>
          <a:xfrm>
            <a:off x="473959" y="295399"/>
            <a:ext cx="7057596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Datos generales de la materia</a:t>
            </a:r>
          </a:p>
        </p:txBody>
      </p:sp>
    </p:spTree>
    <p:extLst>
      <p:ext uri="{BB962C8B-B14F-4D97-AF65-F5344CB8AC3E}">
        <p14:creationId xmlns:p14="http://schemas.microsoft.com/office/powerpoint/2010/main" val="291308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91" y="721431"/>
            <a:ext cx="11715909" cy="5348796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MX" sz="36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MX" sz="7200" b="1" u="sng" dirty="0">
                <a:latin typeface="Arial" panose="020B0604020202020204" pitchFamily="34" charset="0"/>
                <a:cs typeface="Arial" panose="020B0604020202020204" pitchFamily="34" charset="0"/>
              </a:rPr>
              <a:t>Plataforma IDEAS (inscribirse los que aún no lo han hecho)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MX" sz="12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s-AR" sz="7200" dirty="0">
                <a:latin typeface="Arial" panose="020B0604020202020204" pitchFamily="34" charset="0"/>
                <a:cs typeface="Arial" panose="020B0604020202020204" pitchFamily="34" charset="0"/>
              </a:rPr>
              <a:t>Carpeta de Materiales y Actividades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s-AR" sz="6800" dirty="0">
                <a:latin typeface="Arial" panose="020B0604020202020204" pitchFamily="34" charset="0"/>
                <a:cs typeface="Arial" panose="020B0604020202020204" pitchFamily="34" charset="0"/>
              </a:rPr>
              <a:t>Plan de la Materia (contenidos)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s-AR" sz="6800" dirty="0">
                <a:latin typeface="Arial" panose="020B0604020202020204" pitchFamily="34" charset="0"/>
                <a:cs typeface="Arial" panose="020B0604020202020204" pitchFamily="34" charset="0"/>
              </a:rPr>
              <a:t>Libros y Apuntes (libros de cabecera)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Tx/>
              <a:buChar char="-"/>
            </a:pPr>
            <a:r>
              <a:rPr lang="es-AR" sz="6800" dirty="0">
                <a:latin typeface="Arial" panose="020B0604020202020204" pitchFamily="34" charset="0"/>
                <a:cs typeface="Arial" panose="020B0604020202020204" pitchFamily="34" charset="0"/>
              </a:rPr>
              <a:t>Clases y Trabajos Prácticos (clases, artículos de interés y trabajos prácticos)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A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A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AR" sz="7200" b="1" dirty="0">
                <a:latin typeface="Arial" panose="020B0604020202020204" pitchFamily="34" charset="0"/>
                <a:cs typeface="Arial" panose="020B0604020202020204" pitchFamily="34" charset="0"/>
              </a:rPr>
              <a:t>Libros de cabecera (en la Plataforma IDEAS)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AR" sz="7200" dirty="0">
                <a:latin typeface="Arial" panose="020B0604020202020204" pitchFamily="34" charset="0"/>
                <a:cs typeface="Arial" panose="020B0604020202020204" pitchFamily="34" charset="0"/>
              </a:rPr>
              <a:t>   Rosenfeld. 2026. Computabilidad y Complejidad Computacional. EDULP.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AR" sz="7200" dirty="0">
                <a:latin typeface="Arial" panose="020B0604020202020204" pitchFamily="34" charset="0"/>
                <a:cs typeface="Arial" panose="020B0604020202020204" pitchFamily="34" charset="0"/>
              </a:rPr>
              <a:t>   Rosenfeld. 2024. Verificación de Programas. Programas Secuenciales y Concurrentes. EDULP.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A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AR" sz="7200" b="1" dirty="0">
                <a:latin typeface="Arial" panose="020B0604020202020204" pitchFamily="34" charset="0"/>
                <a:cs typeface="Arial" panose="020B0604020202020204" pitchFamily="34" charset="0"/>
              </a:rPr>
              <a:t>Algunos libros complementarios (en la Biblioteca de la Facultad)</a:t>
            </a:r>
            <a:endParaRPr lang="es-MX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Hopcroft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7200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Ullman. 1979.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Automata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Theory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Computation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. Prentice-Hall.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Sipser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. 1997. Introduction to the Theory of Computation. PWS Publishing.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  Lewis &amp; Papadimitriou. 1998. Elements of the theory of computation. Prentice-Hall.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Bovet &amp; Crescenzi. 1994. Introduction to the theory of complexity. Prentice-Hall. 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Papadimitriou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. 1995.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Computational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Complexity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. Addison-Wesley.</a:t>
            </a:r>
            <a:endParaRPr lang="es-MX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MX" sz="7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MX" sz="7200" dirty="0" err="1">
                <a:latin typeface="Arial" panose="020B0604020202020204" pitchFamily="34" charset="0"/>
                <a:cs typeface="Arial" panose="020B0604020202020204" pitchFamily="34" charset="0"/>
              </a:rPr>
              <a:t>Arora</a:t>
            </a:r>
            <a:r>
              <a:rPr lang="es-MX" sz="7200" dirty="0">
                <a:latin typeface="Arial" panose="020B0604020202020204" pitchFamily="34" charset="0"/>
                <a:cs typeface="Arial" panose="020B0604020202020204" pitchFamily="34" charset="0"/>
              </a:rPr>
              <a:t> &amp; Barak. 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2007.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Computational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Complexity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: A Modern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Approach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7200" dirty="0">
                <a:latin typeface="Arial" panose="020B0604020202020204" pitchFamily="34" charset="0"/>
                <a:cs typeface="Arial" panose="020B0604020202020204" pitchFamily="34" charset="0"/>
              </a:rPr>
              <a:t>Princeton Univ.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  Goldreich. 2008. Computational complexity: a conceptual perspective. Cambridge University Press.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  Moore &amp; Mertens. 2011. The Nature of Computation. Oxford University Press.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s-MX" sz="72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MX" sz="7200" dirty="0" err="1">
                <a:latin typeface="Arial" panose="020B0604020202020204" pitchFamily="34" charset="0"/>
                <a:cs typeface="Arial" panose="020B0604020202020204" pitchFamily="34" charset="0"/>
              </a:rPr>
              <a:t>Francez</a:t>
            </a:r>
            <a:r>
              <a:rPr lang="es-MX" sz="7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1992.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7200" dirty="0" err="1">
                <a:latin typeface="Arial" panose="020B0604020202020204" pitchFamily="34" charset="0"/>
                <a:cs typeface="Arial" panose="020B0604020202020204" pitchFamily="34" charset="0"/>
              </a:rPr>
              <a:t>Verification</a:t>
            </a:r>
            <a:r>
              <a:rPr lang="es-ES" sz="7200" dirty="0">
                <a:latin typeface="Arial" panose="020B0604020202020204" pitchFamily="34" charset="0"/>
                <a:cs typeface="Arial" panose="020B0604020202020204" pitchFamily="34" charset="0"/>
              </a:rPr>
              <a:t>. Addison-Wesley.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  Apt &amp;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Olderog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. 1997. Verification of Sequential and Concurrent Programs. </a:t>
            </a:r>
            <a:r>
              <a:rPr lang="es-AR" sz="7200" dirty="0">
                <a:latin typeface="Arial" panose="020B0604020202020204" pitchFamily="34" charset="0"/>
                <a:cs typeface="Arial" panose="020B0604020202020204" pitchFamily="34" charset="0"/>
              </a:rPr>
              <a:t>Springer.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s-MX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s-AR" sz="6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MX" sz="6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AR" sz="6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endParaRPr lang="es-AR" sz="6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endParaRPr lang="es-AR" sz="6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6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6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2B0A29D5-41A0-4875-AD8A-806CDF66F411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6E52141-3879-A8D2-BF3B-499C5FF67184}"/>
              </a:ext>
            </a:extLst>
          </p:cNvPr>
          <p:cNvSpPr txBox="1">
            <a:spLocks/>
          </p:cNvSpPr>
          <p:nvPr/>
        </p:nvSpPr>
        <p:spPr>
          <a:xfrm>
            <a:off x="473959" y="295399"/>
            <a:ext cx="7057596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Material de la Parte 1</a:t>
            </a:r>
          </a:p>
        </p:txBody>
      </p:sp>
    </p:spTree>
    <p:extLst>
      <p:ext uri="{BB962C8B-B14F-4D97-AF65-F5344CB8AC3E}">
        <p14:creationId xmlns:p14="http://schemas.microsoft.com/office/powerpoint/2010/main" val="1316656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DEFC08E2-7C2F-4B32-A832-D09D88B7F99D}"/>
              </a:ext>
            </a:extLst>
          </p:cNvPr>
          <p:cNvSpPr txBox="1">
            <a:spLocks/>
          </p:cNvSpPr>
          <p:nvPr/>
        </p:nvSpPr>
        <p:spPr>
          <a:xfrm>
            <a:off x="8962192" y="2548151"/>
            <a:ext cx="1903711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PROGRAMACIÓN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34846CF-79E0-4565-8F66-D2532AB3E717}"/>
              </a:ext>
            </a:extLst>
          </p:cNvPr>
          <p:cNvSpPr txBox="1">
            <a:spLocks/>
          </p:cNvSpPr>
          <p:nvPr/>
        </p:nvSpPr>
        <p:spPr>
          <a:xfrm>
            <a:off x="928867" y="1844975"/>
            <a:ext cx="2342827" cy="335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B4DF858-D81D-40E8-9AC8-1F6707B38E66}"/>
              </a:ext>
            </a:extLst>
          </p:cNvPr>
          <p:cNvSpPr txBox="1">
            <a:spLocks/>
          </p:cNvSpPr>
          <p:nvPr/>
        </p:nvSpPr>
        <p:spPr>
          <a:xfrm>
            <a:off x="1345124" y="3976283"/>
            <a:ext cx="1531752" cy="314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3D10A8A-FA0E-4A50-8CCF-45CAD2EAAC6D}"/>
              </a:ext>
            </a:extLst>
          </p:cNvPr>
          <p:cNvSpPr txBox="1">
            <a:spLocks/>
          </p:cNvSpPr>
          <p:nvPr/>
        </p:nvSpPr>
        <p:spPr>
          <a:xfrm>
            <a:off x="1176149" y="2630840"/>
            <a:ext cx="190371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computables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5B340E55-7149-403A-9239-BB49ED042B00}"/>
              </a:ext>
            </a:extLst>
          </p:cNvPr>
          <p:cNvSpPr txBox="1">
            <a:spLocks/>
          </p:cNvSpPr>
          <p:nvPr/>
        </p:nvSpPr>
        <p:spPr>
          <a:xfrm>
            <a:off x="-1497351" y="836015"/>
            <a:ext cx="8156260" cy="2966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VIAJE POR EL UNIVERSO DE LOS PROBLEMAS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AC1A369-691F-4B21-889B-03A9642184B7}"/>
              </a:ext>
            </a:extLst>
          </p:cNvPr>
          <p:cNvSpPr txBox="1">
            <a:spLocks/>
          </p:cNvSpPr>
          <p:nvPr/>
        </p:nvSpPr>
        <p:spPr>
          <a:xfrm>
            <a:off x="8223050" y="3258100"/>
            <a:ext cx="1482025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6B8E1159-26CC-4034-B7B8-DBF4C6D960D6}"/>
              </a:ext>
            </a:extLst>
          </p:cNvPr>
          <p:cNvSpPr txBox="1">
            <a:spLocks/>
          </p:cNvSpPr>
          <p:nvPr/>
        </p:nvSpPr>
        <p:spPr>
          <a:xfrm>
            <a:off x="9868838" y="3269130"/>
            <a:ext cx="1616198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PROGRAMA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34A7B003-79AF-4319-86B9-1DFC15F2C078}"/>
              </a:ext>
            </a:extLst>
          </p:cNvPr>
          <p:cNvSpPr txBox="1">
            <a:spLocks/>
          </p:cNvSpPr>
          <p:nvPr/>
        </p:nvSpPr>
        <p:spPr>
          <a:xfrm>
            <a:off x="8955672" y="4038120"/>
            <a:ext cx="1903711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VERIFICACIÓN</a:t>
            </a: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B19267E4-34B5-454D-97C7-5404278D23EE}"/>
              </a:ext>
            </a:extLst>
          </p:cNvPr>
          <p:cNvSpPr txBox="1">
            <a:spLocks/>
          </p:cNvSpPr>
          <p:nvPr/>
        </p:nvSpPr>
        <p:spPr>
          <a:xfrm>
            <a:off x="4497768" y="5425995"/>
            <a:ext cx="3061253" cy="610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Complejidad Computacional</a:t>
            </a:r>
          </a:p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(años 1960) 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14B05FC4-CCAA-41D1-BB04-1CFEDB7A8E6F}"/>
              </a:ext>
            </a:extLst>
          </p:cNvPr>
          <p:cNvSpPr txBox="1">
            <a:spLocks/>
          </p:cNvSpPr>
          <p:nvPr/>
        </p:nvSpPr>
        <p:spPr>
          <a:xfrm>
            <a:off x="1152524" y="5330839"/>
            <a:ext cx="1823971" cy="76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Computabilidad</a:t>
            </a:r>
          </a:p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(años 1930)</a:t>
            </a: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44C9B35C-DDCB-4E49-A58B-9E1729A96F7C}"/>
              </a:ext>
            </a:extLst>
          </p:cNvPr>
          <p:cNvSpPr txBox="1">
            <a:spLocks/>
          </p:cNvSpPr>
          <p:nvPr/>
        </p:nvSpPr>
        <p:spPr>
          <a:xfrm>
            <a:off x="8466183" y="5603643"/>
            <a:ext cx="2761964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Correctitud de Programas </a:t>
            </a:r>
          </a:p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(años 1970)</a:t>
            </a:r>
          </a:p>
          <a:p>
            <a:pPr algn="ctr"/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ED064D08-76F6-439F-B4C7-729846132ED9}"/>
              </a:ext>
            </a:extLst>
          </p:cNvPr>
          <p:cNvSpPr/>
          <p:nvPr/>
        </p:nvSpPr>
        <p:spPr>
          <a:xfrm>
            <a:off x="239303" y="1611593"/>
            <a:ext cx="3650414" cy="378273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FB5DABD9-24C2-4684-BA13-F8546430DEF8}"/>
              </a:ext>
            </a:extLst>
          </p:cNvPr>
          <p:cNvSpPr/>
          <p:nvPr/>
        </p:nvSpPr>
        <p:spPr>
          <a:xfrm>
            <a:off x="867524" y="2463580"/>
            <a:ext cx="2464161" cy="27605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CD79543B-325B-4BD1-B2EB-34B25EC7506B}"/>
              </a:ext>
            </a:extLst>
          </p:cNvPr>
          <p:cNvSpPr/>
          <p:nvPr/>
        </p:nvSpPr>
        <p:spPr>
          <a:xfrm>
            <a:off x="1355611" y="3213768"/>
            <a:ext cx="1564358" cy="185975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CF2F158-29E9-4139-9489-AA130AEA817D}"/>
              </a:ext>
            </a:extLst>
          </p:cNvPr>
          <p:cNvCxnSpPr>
            <a:cxnSpLocks/>
          </p:cNvCxnSpPr>
          <p:nvPr/>
        </p:nvCxnSpPr>
        <p:spPr>
          <a:xfrm>
            <a:off x="400881" y="1884689"/>
            <a:ext cx="1736909" cy="18421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iagrama de flujo: conector 34">
            <a:extLst>
              <a:ext uri="{FF2B5EF4-FFF2-40B4-BE49-F238E27FC236}">
                <a16:creationId xmlns:a16="http://schemas.microsoft.com/office/drawing/2014/main" id="{FF8C9024-7FF0-42FD-A5A6-424C3C1709B8}"/>
              </a:ext>
            </a:extLst>
          </p:cNvPr>
          <p:cNvSpPr/>
          <p:nvPr/>
        </p:nvSpPr>
        <p:spPr>
          <a:xfrm>
            <a:off x="8120517" y="1596172"/>
            <a:ext cx="3307739" cy="375782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C7830507-9E6D-418A-B46F-228290446FB6}"/>
              </a:ext>
            </a:extLst>
          </p:cNvPr>
          <p:cNvSpPr/>
          <p:nvPr/>
        </p:nvSpPr>
        <p:spPr>
          <a:xfrm>
            <a:off x="4243404" y="1611593"/>
            <a:ext cx="3488800" cy="375782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Diagrama de flujo: conector 38">
            <a:extLst>
              <a:ext uri="{FF2B5EF4-FFF2-40B4-BE49-F238E27FC236}">
                <a16:creationId xmlns:a16="http://schemas.microsoft.com/office/drawing/2014/main" id="{90802000-EB08-4194-9A2D-C0698521D28D}"/>
              </a:ext>
            </a:extLst>
          </p:cNvPr>
          <p:cNvSpPr/>
          <p:nvPr/>
        </p:nvSpPr>
        <p:spPr>
          <a:xfrm>
            <a:off x="8547064" y="3096476"/>
            <a:ext cx="817216" cy="78265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56EFF3E2-5AE7-46A3-B24D-356BD9D22AF1}"/>
              </a:ext>
            </a:extLst>
          </p:cNvPr>
          <p:cNvSpPr/>
          <p:nvPr/>
        </p:nvSpPr>
        <p:spPr>
          <a:xfrm>
            <a:off x="10268329" y="3096476"/>
            <a:ext cx="817216" cy="78265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CB95C7E-1F6D-4499-A95F-5DD91C426013}"/>
              </a:ext>
            </a:extLst>
          </p:cNvPr>
          <p:cNvCxnSpPr>
            <a:cxnSpLocks/>
          </p:cNvCxnSpPr>
          <p:nvPr/>
        </p:nvCxnSpPr>
        <p:spPr>
          <a:xfrm>
            <a:off x="8536749" y="2929885"/>
            <a:ext cx="25575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22C3208-0999-412E-BFF8-63D185682304}"/>
              </a:ext>
            </a:extLst>
          </p:cNvPr>
          <p:cNvCxnSpPr>
            <a:cxnSpLocks/>
          </p:cNvCxnSpPr>
          <p:nvPr/>
        </p:nvCxnSpPr>
        <p:spPr>
          <a:xfrm flipV="1">
            <a:off x="1906439" y="1677911"/>
            <a:ext cx="3579885" cy="15754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6B5C373-AEFF-42CB-8618-121532DD9E78}"/>
              </a:ext>
            </a:extLst>
          </p:cNvPr>
          <p:cNvCxnSpPr>
            <a:cxnSpLocks/>
            <a:endCxn id="37" idx="4"/>
          </p:cNvCxnSpPr>
          <p:nvPr/>
        </p:nvCxnSpPr>
        <p:spPr>
          <a:xfrm>
            <a:off x="2085009" y="5086243"/>
            <a:ext cx="3902795" cy="28317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FD3E59ED-66BA-46A7-9882-D7C201C897D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0F93FA8C-10C1-4391-BD9D-A3BDF166F32C}"/>
              </a:ext>
            </a:extLst>
          </p:cNvPr>
          <p:cNvCxnSpPr>
            <a:cxnSpLocks/>
          </p:cNvCxnSpPr>
          <p:nvPr/>
        </p:nvCxnSpPr>
        <p:spPr>
          <a:xfrm>
            <a:off x="239303" y="6325461"/>
            <a:ext cx="1175380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A81443A1-051B-44AB-A7F8-CE7F6DFFF18B}"/>
              </a:ext>
            </a:extLst>
          </p:cNvPr>
          <p:cNvSpPr txBox="1"/>
          <p:nvPr/>
        </p:nvSpPr>
        <p:spPr>
          <a:xfrm>
            <a:off x="1242730" y="6333159"/>
            <a:ext cx="111441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Matemáticas (lógica, probabilidades, estadística, teoría de números, álgebra, teoría de grafos, etc.)</a:t>
            </a:r>
            <a:endParaRPr lang="es-AR" sz="1600" b="1" dirty="0">
              <a:solidFill>
                <a:srgbClr val="0070C0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16D423C-42E7-FF5C-49A4-59A8F3E53929}"/>
              </a:ext>
            </a:extLst>
          </p:cNvPr>
          <p:cNvSpPr/>
          <p:nvPr/>
        </p:nvSpPr>
        <p:spPr>
          <a:xfrm>
            <a:off x="143710" y="287875"/>
            <a:ext cx="478590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de la Parte 1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9DE9D5D9-37CC-0B12-55A2-5C7BDF32A9BA}"/>
              </a:ext>
            </a:extLst>
          </p:cNvPr>
          <p:cNvSpPr txBox="1">
            <a:spLocks/>
          </p:cNvSpPr>
          <p:nvPr/>
        </p:nvSpPr>
        <p:spPr>
          <a:xfrm>
            <a:off x="4429791" y="2681814"/>
            <a:ext cx="3142407" cy="349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intratables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(sin algoritmos eficientes)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1727ECE5-CE72-159A-EF02-8DD0AEDB6C78}"/>
              </a:ext>
            </a:extLst>
          </p:cNvPr>
          <p:cNvCxnSpPr>
            <a:cxnSpLocks/>
          </p:cNvCxnSpPr>
          <p:nvPr/>
        </p:nvCxnSpPr>
        <p:spPr>
          <a:xfrm flipV="1">
            <a:off x="5942739" y="5360515"/>
            <a:ext cx="3665011" cy="1564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206587C2-069B-DF3C-3E11-9C53C8D055D9}"/>
              </a:ext>
            </a:extLst>
          </p:cNvPr>
          <p:cNvCxnSpPr>
            <a:cxnSpLocks/>
          </p:cNvCxnSpPr>
          <p:nvPr/>
        </p:nvCxnSpPr>
        <p:spPr>
          <a:xfrm rot="60000" flipV="1">
            <a:off x="4223310" y="3480108"/>
            <a:ext cx="3541866" cy="78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679818C3-178C-F2DE-734B-EAA219876F55}"/>
              </a:ext>
            </a:extLst>
          </p:cNvPr>
          <p:cNvCxnSpPr>
            <a:cxnSpLocks/>
          </p:cNvCxnSpPr>
          <p:nvPr/>
        </p:nvCxnSpPr>
        <p:spPr>
          <a:xfrm rot="10800000">
            <a:off x="8527978" y="4056604"/>
            <a:ext cx="25575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0ED7C92B-A9B1-9C59-FDA0-70A1DFC0CA8B}"/>
              </a:ext>
            </a:extLst>
          </p:cNvPr>
          <p:cNvSpPr txBox="1">
            <a:spLocks/>
          </p:cNvSpPr>
          <p:nvPr/>
        </p:nvSpPr>
        <p:spPr>
          <a:xfrm>
            <a:off x="4298529" y="3944582"/>
            <a:ext cx="3435642" cy="4024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(con algoritmos eficientes)</a:t>
            </a:r>
          </a:p>
        </p:txBody>
      </p:sp>
      <p:sp>
        <p:nvSpPr>
          <p:cNvPr id="7" name="Bocadillo nube: nube 6">
            <a:extLst>
              <a:ext uri="{FF2B5EF4-FFF2-40B4-BE49-F238E27FC236}">
                <a16:creationId xmlns:a16="http://schemas.microsoft.com/office/drawing/2014/main" id="{5A64235B-E3B2-19AA-33A2-B0263739933D}"/>
              </a:ext>
            </a:extLst>
          </p:cNvPr>
          <p:cNvSpPr/>
          <p:nvPr/>
        </p:nvSpPr>
        <p:spPr>
          <a:xfrm>
            <a:off x="4972834" y="121196"/>
            <a:ext cx="7075456" cy="1367389"/>
          </a:xfrm>
          <a:prstGeom prst="cloud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1A99133-5711-E6DB-5FB5-359423296CA2}"/>
              </a:ext>
            </a:extLst>
          </p:cNvPr>
          <p:cNvSpPr/>
          <p:nvPr/>
        </p:nvSpPr>
        <p:spPr>
          <a:xfrm>
            <a:off x="6982518" y="1420885"/>
            <a:ext cx="488516" cy="334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Flecha: hacia arriba 23">
            <a:extLst>
              <a:ext uri="{FF2B5EF4-FFF2-40B4-BE49-F238E27FC236}">
                <a16:creationId xmlns:a16="http://schemas.microsoft.com/office/drawing/2014/main" id="{2E9D9703-0954-4E3E-DE97-C78546C92F22}"/>
              </a:ext>
            </a:extLst>
          </p:cNvPr>
          <p:cNvSpPr/>
          <p:nvPr/>
        </p:nvSpPr>
        <p:spPr>
          <a:xfrm>
            <a:off x="11540868" y="1087222"/>
            <a:ext cx="507422" cy="5051952"/>
          </a:xfrm>
          <a:prstGeom prst="up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B4B2707-9987-4C0B-E968-CD7BE63994E9}"/>
              </a:ext>
            </a:extLst>
          </p:cNvPr>
          <p:cNvSpPr txBox="1"/>
          <p:nvPr/>
        </p:nvSpPr>
        <p:spPr>
          <a:xfrm>
            <a:off x="5708517" y="247116"/>
            <a:ext cx="56564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oncurrencia, objetos, </a:t>
            </a:r>
            <a:r>
              <a:rPr lang="es-MX" sz="1800" dirty="0" err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800" dirty="0" err="1">
                <a:latin typeface="Arial" panose="020B0604020202020204" pitchFamily="34" charset="0"/>
                <a:cs typeface="Arial" panose="020B0604020202020204" pitchFamily="34" charset="0"/>
              </a:rPr>
              <a:t>checking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, clave pública,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icrocomputadoras, internet, computación gráfica, nube, </a:t>
            </a:r>
            <a:r>
              <a:rPr lang="es-MX" sz="1800" u="sng" dirty="0">
                <a:latin typeface="Arial" panose="020B0604020202020204" pitchFamily="34" charset="0"/>
                <a:cs typeface="Arial" panose="020B0604020202020204" pitchFamily="34" charset="0"/>
              </a:rPr>
              <a:t>computación cuántica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sz="1800" u="sng" dirty="0">
                <a:latin typeface="Arial" panose="020B0604020202020204" pitchFamily="34" charset="0"/>
                <a:cs typeface="Arial" panose="020B0604020202020204" pitchFamily="34" charset="0"/>
              </a:rPr>
              <a:t>inteligencia artificial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, etc. </a:t>
            </a:r>
            <a:endParaRPr lang="es-AR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045F6BB-D0FE-81E2-998D-4CAE753AC226}"/>
              </a:ext>
            </a:extLst>
          </p:cNvPr>
          <p:cNvCxnSpPr>
            <a:cxnSpLocks/>
          </p:cNvCxnSpPr>
          <p:nvPr/>
        </p:nvCxnSpPr>
        <p:spPr>
          <a:xfrm flipV="1">
            <a:off x="5749751" y="1608661"/>
            <a:ext cx="3765148" cy="443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688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4" grpId="0" animBg="1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32BC6A3-ECB3-4578-B110-1B63CA50D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323172" cy="6858000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AB7D091-4796-4E00-9A81-E094A37CC88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607A2807-F1AA-481D-9638-9E794F5D5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2424" y="1440514"/>
            <a:ext cx="5572432" cy="556670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Viaje de ida (primeros años de la carrera)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Algoritmos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Estructuras de datos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Lenguajes de programación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Arquitecturas de computadoras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Paradigmas de programación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Matemáticas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Etc.</a:t>
            </a:r>
          </a:p>
          <a:p>
            <a:pPr marL="0" indent="0">
              <a:buNone/>
            </a:pPr>
            <a:endParaRPr lang="es-AR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Viaje de vuelta (últimos años, con más madurez)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Profundización en fundamentos de la computación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u="sng" dirty="0">
                <a:latin typeface="Arial" panose="020B0604020202020204" pitchFamily="34" charset="0"/>
                <a:cs typeface="Arial" panose="020B0604020202020204" pitchFamily="34" charset="0"/>
              </a:rPr>
              <a:t>Foco en algorítmica, eficiencia y verificación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Autómatas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Lenguajes formales	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Lógica, combinatoria, conjuntos, grafos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Diagonalización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Reducciones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Pruebas	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Especificaciones formales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Etc.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D83989-B27D-E6C0-D318-5147650F7F09}"/>
              </a:ext>
            </a:extLst>
          </p:cNvPr>
          <p:cNvSpPr txBox="1">
            <a:spLocks/>
          </p:cNvSpPr>
          <p:nvPr/>
        </p:nvSpPr>
        <p:spPr>
          <a:xfrm>
            <a:off x="6702424" y="427133"/>
            <a:ext cx="5113175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de la Parte 1</a:t>
            </a:r>
          </a:p>
          <a:p>
            <a:pPr algn="ctr"/>
            <a:endParaRPr lang="es-MX" sz="1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VIAJE DEL ALUMNO</a:t>
            </a:r>
          </a:p>
        </p:txBody>
      </p:sp>
      <p:sp>
        <p:nvSpPr>
          <p:cNvPr id="7" name="Flecha: hacia la izquierda 6">
            <a:extLst>
              <a:ext uri="{FF2B5EF4-FFF2-40B4-BE49-F238E27FC236}">
                <a16:creationId xmlns:a16="http://schemas.microsoft.com/office/drawing/2014/main" id="{A016B3BD-F0CA-0B9C-A485-BC7FF998FE7F}"/>
              </a:ext>
            </a:extLst>
          </p:cNvPr>
          <p:cNvSpPr/>
          <p:nvPr/>
        </p:nvSpPr>
        <p:spPr>
          <a:xfrm>
            <a:off x="6023594" y="4768904"/>
            <a:ext cx="978408" cy="484632"/>
          </a:xfrm>
          <a:prstGeom prst="lef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83170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4778682C-8B7B-4498-97BA-C4AD58A340C8}"/>
              </a:ext>
            </a:extLst>
          </p:cNvPr>
          <p:cNvSpPr/>
          <p:nvPr/>
        </p:nvSpPr>
        <p:spPr>
          <a:xfrm>
            <a:off x="5659165" y="4668006"/>
            <a:ext cx="2872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es-MX" sz="1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251514A-06D7-4385-BB77-6B4FFD84F6CC}"/>
              </a:ext>
            </a:extLst>
          </p:cNvPr>
          <p:cNvSpPr/>
          <p:nvPr/>
        </p:nvSpPr>
        <p:spPr>
          <a:xfrm>
            <a:off x="4362943" y="3450972"/>
            <a:ext cx="57579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NP</a:t>
            </a:r>
            <a:endParaRPr lang="es-MX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8F08001-844A-4A49-849A-DC9E5CBED394}"/>
              </a:ext>
            </a:extLst>
          </p:cNvPr>
          <p:cNvSpPr/>
          <p:nvPr/>
        </p:nvSpPr>
        <p:spPr>
          <a:xfrm>
            <a:off x="5406300" y="5115319"/>
            <a:ext cx="93504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3663" algn="l"/>
              </a:tabLst>
            </a:pPr>
            <a:r>
              <a:rPr lang="es-MX" sz="1000" dirty="0">
                <a:latin typeface="Arial" panose="020B0604020202020204" pitchFamily="34" charset="0"/>
                <a:cs typeface="Arial" panose="020B0604020202020204" pitchFamily="34" charset="0"/>
              </a:rPr>
              <a:t>LOGSPACE</a:t>
            </a:r>
          </a:p>
        </p:txBody>
      </p:sp>
      <p:sp>
        <p:nvSpPr>
          <p:cNvPr id="21" name="Diagrama de flujo: conector 20">
            <a:extLst>
              <a:ext uri="{FF2B5EF4-FFF2-40B4-BE49-F238E27FC236}">
                <a16:creationId xmlns:a16="http://schemas.microsoft.com/office/drawing/2014/main" id="{68AC02BC-B8B8-4E04-88CD-75AB3F9F1EDE}"/>
              </a:ext>
            </a:extLst>
          </p:cNvPr>
          <p:cNvSpPr/>
          <p:nvPr/>
        </p:nvSpPr>
        <p:spPr>
          <a:xfrm rot="-1080000">
            <a:off x="4418595" y="2077079"/>
            <a:ext cx="2192785" cy="3635170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Diagrama de flujo: conector 22">
            <a:extLst>
              <a:ext uri="{FF2B5EF4-FFF2-40B4-BE49-F238E27FC236}">
                <a16:creationId xmlns:a16="http://schemas.microsoft.com/office/drawing/2014/main" id="{FACF8594-FE64-4EA0-84B2-536B5FC46746}"/>
              </a:ext>
            </a:extLst>
          </p:cNvPr>
          <p:cNvSpPr/>
          <p:nvPr/>
        </p:nvSpPr>
        <p:spPr>
          <a:xfrm>
            <a:off x="5219486" y="4510578"/>
            <a:ext cx="1201508" cy="1059657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E2903B5A-1BCF-4954-B554-2C108F7A95FA}"/>
              </a:ext>
            </a:extLst>
          </p:cNvPr>
          <p:cNvSpPr/>
          <p:nvPr/>
        </p:nvSpPr>
        <p:spPr>
          <a:xfrm>
            <a:off x="5390158" y="4965582"/>
            <a:ext cx="831678" cy="516316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80EA6396-F0D6-4D71-A528-F4DDAB7F015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1" name="Diagrama de flujo: conector 30">
            <a:extLst>
              <a:ext uri="{FF2B5EF4-FFF2-40B4-BE49-F238E27FC236}">
                <a16:creationId xmlns:a16="http://schemas.microsoft.com/office/drawing/2014/main" id="{46C8C557-6DBB-49E6-888B-32AC1739D93F}"/>
              </a:ext>
            </a:extLst>
          </p:cNvPr>
          <p:cNvSpPr/>
          <p:nvPr/>
        </p:nvSpPr>
        <p:spPr>
          <a:xfrm rot="3540000">
            <a:off x="5739951" y="2330870"/>
            <a:ext cx="2183471" cy="3916917"/>
          </a:xfrm>
          <a:prstGeom prst="flowChartConnector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1BBCA5C-9FAC-4934-9A3E-510480745F43}"/>
              </a:ext>
            </a:extLst>
          </p:cNvPr>
          <p:cNvSpPr/>
          <p:nvPr/>
        </p:nvSpPr>
        <p:spPr>
          <a:xfrm>
            <a:off x="7223389" y="4165878"/>
            <a:ext cx="109356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CO-NP</a:t>
            </a:r>
            <a:endParaRPr lang="es-MX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Diagrama de flujo: conector 32">
            <a:extLst>
              <a:ext uri="{FF2B5EF4-FFF2-40B4-BE49-F238E27FC236}">
                <a16:creationId xmlns:a16="http://schemas.microsoft.com/office/drawing/2014/main" id="{3766048B-F1BA-4BD6-836B-A02D93E47D6A}"/>
              </a:ext>
            </a:extLst>
          </p:cNvPr>
          <p:cNvSpPr/>
          <p:nvPr/>
        </p:nvSpPr>
        <p:spPr>
          <a:xfrm rot="900000">
            <a:off x="7292375" y="2964146"/>
            <a:ext cx="1337737" cy="79642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Diagrama de flujo: conector 33">
            <a:extLst>
              <a:ext uri="{FF2B5EF4-FFF2-40B4-BE49-F238E27FC236}">
                <a16:creationId xmlns:a16="http://schemas.microsoft.com/office/drawing/2014/main" id="{05C764CE-D14B-45E6-B8FC-23FE5D7251DE}"/>
              </a:ext>
            </a:extLst>
          </p:cNvPr>
          <p:cNvSpPr/>
          <p:nvPr/>
        </p:nvSpPr>
        <p:spPr>
          <a:xfrm rot="-600000">
            <a:off x="4495204" y="2136190"/>
            <a:ext cx="1297719" cy="829274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F447088-A9B2-43A9-9F08-F31FEADBEEFD}"/>
              </a:ext>
            </a:extLst>
          </p:cNvPr>
          <p:cNvSpPr/>
          <p:nvPr/>
        </p:nvSpPr>
        <p:spPr>
          <a:xfrm>
            <a:off x="4881685" y="2430549"/>
            <a:ext cx="5084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NPC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342A1B2-A94D-4E5A-8EF3-33662211FD84}"/>
              </a:ext>
            </a:extLst>
          </p:cNvPr>
          <p:cNvSpPr/>
          <p:nvPr/>
        </p:nvSpPr>
        <p:spPr>
          <a:xfrm>
            <a:off x="7560061" y="3197191"/>
            <a:ext cx="7906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CO-NPC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Diagrama de flujo: conector 38">
            <a:extLst>
              <a:ext uri="{FF2B5EF4-FFF2-40B4-BE49-F238E27FC236}">
                <a16:creationId xmlns:a16="http://schemas.microsoft.com/office/drawing/2014/main" id="{8C3F03BE-36E1-440B-9DF7-382D3D389409}"/>
              </a:ext>
            </a:extLst>
          </p:cNvPr>
          <p:cNvSpPr/>
          <p:nvPr/>
        </p:nvSpPr>
        <p:spPr>
          <a:xfrm>
            <a:off x="3699586" y="1818619"/>
            <a:ext cx="5026812" cy="4369972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328B7F2E-DD97-4E39-BD64-95F26F74A4F5}"/>
              </a:ext>
            </a:extLst>
          </p:cNvPr>
          <p:cNvSpPr/>
          <p:nvPr/>
        </p:nvSpPr>
        <p:spPr>
          <a:xfrm>
            <a:off x="6248181" y="2287834"/>
            <a:ext cx="130503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PSPACE</a:t>
            </a:r>
            <a:endParaRPr lang="es-MX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Diagrama de flujo: conector 40">
            <a:extLst>
              <a:ext uri="{FF2B5EF4-FFF2-40B4-BE49-F238E27FC236}">
                <a16:creationId xmlns:a16="http://schemas.microsoft.com/office/drawing/2014/main" id="{C743DB8B-1393-4376-971D-422F960E86F3}"/>
              </a:ext>
            </a:extLst>
          </p:cNvPr>
          <p:cNvSpPr/>
          <p:nvPr/>
        </p:nvSpPr>
        <p:spPr>
          <a:xfrm>
            <a:off x="2979676" y="1551390"/>
            <a:ext cx="6496984" cy="4786023"/>
          </a:xfrm>
          <a:prstGeom prst="flowChartConnector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27CE794E-9DE0-4AB4-B217-11F83EAAF251}"/>
              </a:ext>
            </a:extLst>
          </p:cNvPr>
          <p:cNvSpPr/>
          <p:nvPr/>
        </p:nvSpPr>
        <p:spPr>
          <a:xfrm flipH="1">
            <a:off x="3092114" y="3143281"/>
            <a:ext cx="76045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s-AR" sz="2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XP</a:t>
            </a:r>
            <a:endParaRPr lang="es-MX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E1FCBB-E5C6-F497-5049-3706910CC0F1}"/>
              </a:ext>
            </a:extLst>
          </p:cNvPr>
          <p:cNvSpPr/>
          <p:nvPr/>
        </p:nvSpPr>
        <p:spPr>
          <a:xfrm>
            <a:off x="5177000" y="3297169"/>
            <a:ext cx="4411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NPI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38BB2ED-D253-26AA-2B27-F6486725DCAF}"/>
              </a:ext>
            </a:extLst>
          </p:cNvPr>
          <p:cNvSpPr/>
          <p:nvPr/>
        </p:nvSpPr>
        <p:spPr>
          <a:xfrm>
            <a:off x="6797701" y="3730647"/>
            <a:ext cx="7232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2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CO-NPI</a:t>
            </a:r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909B3AB8-CFCE-6844-E166-A2D0A2398E13}"/>
              </a:ext>
            </a:extLst>
          </p:cNvPr>
          <p:cNvSpPr/>
          <p:nvPr/>
        </p:nvSpPr>
        <p:spPr>
          <a:xfrm>
            <a:off x="4603863" y="3837456"/>
            <a:ext cx="2397862" cy="2211244"/>
          </a:xfrm>
          <a:prstGeom prst="flowChartConnector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Diagrama de flujo: conector 3">
            <a:extLst>
              <a:ext uri="{FF2B5EF4-FFF2-40B4-BE49-F238E27FC236}">
                <a16:creationId xmlns:a16="http://schemas.microsoft.com/office/drawing/2014/main" id="{16147EF8-BFD8-70A1-817D-0AB06EF9CF50}"/>
              </a:ext>
            </a:extLst>
          </p:cNvPr>
          <p:cNvSpPr/>
          <p:nvPr/>
        </p:nvSpPr>
        <p:spPr>
          <a:xfrm>
            <a:off x="4808535" y="4196503"/>
            <a:ext cx="2070551" cy="1696409"/>
          </a:xfrm>
          <a:prstGeom prst="flowChartConnector">
            <a:avLst/>
          </a:prstGeom>
          <a:noFill/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64DA5D3-1246-4884-38FD-EDA14157C2EB}"/>
              </a:ext>
            </a:extLst>
          </p:cNvPr>
          <p:cNvSpPr/>
          <p:nvPr/>
        </p:nvSpPr>
        <p:spPr>
          <a:xfrm>
            <a:off x="5538114" y="3890639"/>
            <a:ext cx="5287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BQP</a:t>
            </a:r>
            <a:endParaRPr lang="es-MX" sz="1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BB7ED8B-8A72-C15E-CDD6-B8B57D9DE972}"/>
              </a:ext>
            </a:extLst>
          </p:cNvPr>
          <p:cNvSpPr/>
          <p:nvPr/>
        </p:nvSpPr>
        <p:spPr>
          <a:xfrm>
            <a:off x="5556562" y="4222068"/>
            <a:ext cx="5004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2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BPP</a:t>
            </a:r>
            <a:endParaRPr lang="es-MX" sz="12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8218F61-C222-1749-1177-EB5984022E05}"/>
              </a:ext>
            </a:extLst>
          </p:cNvPr>
          <p:cNvSpPr/>
          <p:nvPr/>
        </p:nvSpPr>
        <p:spPr>
          <a:xfrm>
            <a:off x="2262909" y="1004948"/>
            <a:ext cx="7934036" cy="5443363"/>
          </a:xfrm>
          <a:prstGeom prst="ellipse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C46D4C8-FDAB-3B3B-148A-C62189BCC402}"/>
              </a:ext>
            </a:extLst>
          </p:cNvPr>
          <p:cNvSpPr/>
          <p:nvPr/>
        </p:nvSpPr>
        <p:spPr>
          <a:xfrm>
            <a:off x="4991573" y="1124696"/>
            <a:ext cx="30863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problemas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decidibles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24E394FD-157D-F32C-6BE1-A23F396D2940}"/>
              </a:ext>
            </a:extLst>
          </p:cNvPr>
          <p:cNvSpPr/>
          <p:nvPr/>
        </p:nvSpPr>
        <p:spPr>
          <a:xfrm>
            <a:off x="2060828" y="520587"/>
            <a:ext cx="8506691" cy="607933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37515CD-5D7D-20C4-F270-05AED9D23840}"/>
              </a:ext>
            </a:extLst>
          </p:cNvPr>
          <p:cNvSpPr/>
          <p:nvPr/>
        </p:nvSpPr>
        <p:spPr>
          <a:xfrm>
            <a:off x="4880214" y="613671"/>
            <a:ext cx="27359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problemas computables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5670DE6A-1E11-EEF0-004A-6A81F9FC4CB6}"/>
              </a:ext>
            </a:extLst>
          </p:cNvPr>
          <p:cNvSpPr/>
          <p:nvPr/>
        </p:nvSpPr>
        <p:spPr>
          <a:xfrm>
            <a:off x="1792978" y="138473"/>
            <a:ext cx="9013567" cy="66146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C470603-A6E2-8F10-6656-D6CBC3E970DB}"/>
              </a:ext>
            </a:extLst>
          </p:cNvPr>
          <p:cNvSpPr/>
          <p:nvPr/>
        </p:nvSpPr>
        <p:spPr>
          <a:xfrm>
            <a:off x="5390158" y="184175"/>
            <a:ext cx="16555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</p:txBody>
      </p: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2C5E6736-C8C0-AE27-5C43-0B43BB3D0663}"/>
              </a:ext>
            </a:extLst>
          </p:cNvPr>
          <p:cNvCxnSpPr>
            <a:cxnSpLocks/>
          </p:cNvCxnSpPr>
          <p:nvPr/>
        </p:nvCxnSpPr>
        <p:spPr>
          <a:xfrm>
            <a:off x="6309273" y="5336790"/>
            <a:ext cx="3167387" cy="68546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9F7F7DF-7D83-BA89-E350-DD652AD7868D}"/>
              </a:ext>
            </a:extLst>
          </p:cNvPr>
          <p:cNvSpPr/>
          <p:nvPr/>
        </p:nvSpPr>
        <p:spPr>
          <a:xfrm>
            <a:off x="9248410" y="5725534"/>
            <a:ext cx="28087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problemas tratables</a:t>
            </a:r>
          </a:p>
          <a:p>
            <a:pPr algn="ctr"/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con máquinas clásicas</a:t>
            </a:r>
            <a:endParaRPr lang="es-MX" sz="1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163BB5CA-076F-9586-86E1-DBB28927E3C5}"/>
              </a:ext>
            </a:extLst>
          </p:cNvPr>
          <p:cNvCxnSpPr>
            <a:cxnSpLocks/>
          </p:cNvCxnSpPr>
          <p:nvPr/>
        </p:nvCxnSpPr>
        <p:spPr>
          <a:xfrm flipH="1">
            <a:off x="2495616" y="5073432"/>
            <a:ext cx="2108247" cy="233178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B0FDB35-2420-47AA-5049-6C6220E11A93}"/>
              </a:ext>
            </a:extLst>
          </p:cNvPr>
          <p:cNvSpPr/>
          <p:nvPr/>
        </p:nvSpPr>
        <p:spPr>
          <a:xfrm>
            <a:off x="-115721" y="5044402"/>
            <a:ext cx="286693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problemas tratables</a:t>
            </a:r>
          </a:p>
          <a:p>
            <a:pPr algn="ctr"/>
            <a:r>
              <a:rPr lang="es-ES" sz="16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con máquinas cuánticas</a:t>
            </a:r>
            <a:endParaRPr lang="es-MX" sz="16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EA92712-DBE9-171B-D976-4182B7565B2C}"/>
              </a:ext>
            </a:extLst>
          </p:cNvPr>
          <p:cNvSpPr/>
          <p:nvPr/>
        </p:nvSpPr>
        <p:spPr>
          <a:xfrm>
            <a:off x="239303" y="274826"/>
            <a:ext cx="33902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de la Parte 1</a:t>
            </a:r>
          </a:p>
          <a:p>
            <a:r>
              <a:rPr lang="es-MX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(clases 1 a 7)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84A97589-6D58-DB25-1DED-43079F33605D}"/>
              </a:ext>
            </a:extLst>
          </p:cNvPr>
          <p:cNvCxnSpPr>
            <a:cxnSpLocks/>
          </p:cNvCxnSpPr>
          <p:nvPr/>
        </p:nvCxnSpPr>
        <p:spPr>
          <a:xfrm flipH="1">
            <a:off x="2990235" y="5484447"/>
            <a:ext cx="1974579" cy="662257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C8100BF4-8DEA-57A5-5C29-68D9CD01918B}"/>
              </a:ext>
            </a:extLst>
          </p:cNvPr>
          <p:cNvSpPr/>
          <p:nvPr/>
        </p:nvSpPr>
        <p:spPr>
          <a:xfrm>
            <a:off x="343325" y="5875237"/>
            <a:ext cx="29183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problemas tratables</a:t>
            </a:r>
          </a:p>
          <a:p>
            <a:pPr algn="ctr"/>
            <a:r>
              <a:rPr lang="es-ES" sz="16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con máquinas aleatorias (algoritmos probabilísticos)</a:t>
            </a:r>
            <a:endParaRPr lang="es-MX" sz="16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3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ipse 6">
            <a:extLst>
              <a:ext uri="{FF2B5EF4-FFF2-40B4-BE49-F238E27FC236}">
                <a16:creationId xmlns:a16="http://schemas.microsoft.com/office/drawing/2014/main" id="{3DF15832-601A-4595-8031-7293C0ADEA32}"/>
              </a:ext>
            </a:extLst>
          </p:cNvPr>
          <p:cNvSpPr/>
          <p:nvPr/>
        </p:nvSpPr>
        <p:spPr>
          <a:xfrm>
            <a:off x="7436501" y="5132059"/>
            <a:ext cx="641685" cy="37566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42916BD-8951-40D0-B959-52B6F269556B}"/>
              </a:ext>
            </a:extLst>
          </p:cNvPr>
          <p:cNvSpPr/>
          <p:nvPr/>
        </p:nvSpPr>
        <p:spPr>
          <a:xfrm>
            <a:off x="262164" y="528429"/>
            <a:ext cx="11952696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	   				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{x ≥ 0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&gt; 0}</a:t>
            </a: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	   			     </a:t>
            </a:r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s-AR" sz="16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::  c := 0 ; r := x ;</a:t>
            </a: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				</a:t>
            </a:r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y</a:t>
            </a: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				do r := r – y ;</a:t>
            </a: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			     c := c + 1</a:t>
            </a: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				</a:t>
            </a:r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od</a:t>
            </a:r>
            <a:endParaRPr lang="es-A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	    				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{x = y . c + r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 &lt; y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 ≥ 0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endParaRPr lang="es-MX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1.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x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x ≥ 0} r := x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0}				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2.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0 + x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x ≥ 0} c := 0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x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x ≥ 0}				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3.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0 + x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x ≥ 0} c := 0 ; r := x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0}			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4. (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0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0)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0 + x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x ≥ 0)				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5. {x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0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0} c := 0 ; r := x {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}				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6.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(c + 1)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0} c := c + 1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0}				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7.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(c + 1) + (r – y)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– y ≥ 0} r := r – y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(c + 1)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0}	  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8.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(c + 1) + (r – y)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– y ≥ 0} r := r – y ; c := c + 1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0}        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9. (x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y)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(c + 1) + (r – y)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– y ≥ 0)		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10. {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r ≥ y} r := r – y ; c := c + 1 {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}        	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11. {x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0}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y do r := r – y ; c := c + 1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od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{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¬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≥ y)}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12. {x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0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0} c := 0 ; r := x ;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y do r := r – y ; c := c + 1 </a:t>
            </a:r>
            <a:r>
              <a:rPr lang="es-AR" sz="1600" dirty="0" err="1">
                <a:latin typeface="Arial" panose="020B0604020202020204" pitchFamily="34" charset="0"/>
                <a:cs typeface="Arial" panose="020B0604020202020204" pitchFamily="34" charset="0"/>
              </a:rPr>
              <a:t>od</a:t>
            </a:r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 {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¬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≥ y)}		</a:t>
            </a:r>
          </a:p>
          <a:p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13. (x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¬</a:t>
            </a: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(r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≥ y))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(x = y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c + r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&lt; y 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 r ≥ 0)				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14. 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{x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0}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c := 0 ; r := x ; </a:t>
            </a:r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r </a:t>
            </a: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s-AR" sz="1600" b="1" dirty="0">
                <a:latin typeface="Arial" panose="020B0604020202020204" pitchFamily="34" charset="0"/>
                <a:cs typeface="Arial" panose="020B0604020202020204" pitchFamily="34" charset="0"/>
              </a:rPr>
              <a:t> y do r := r – y ; c := c + 1 </a:t>
            </a:r>
            <a:r>
              <a:rPr lang="es-A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od</a:t>
            </a:r>
            <a:r>
              <a:rPr lang="es-AR" sz="1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= y . c + r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 &lt; y 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 ≥ 0}</a:t>
            </a: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7C27BF85-DD3A-47C4-AA6E-130DE37C9B0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6BDF309-6035-0C13-01D3-14A59AFEBD90}"/>
              </a:ext>
            </a:extLst>
          </p:cNvPr>
          <p:cNvSpPr/>
          <p:nvPr/>
        </p:nvSpPr>
        <p:spPr>
          <a:xfrm>
            <a:off x="239304" y="274826"/>
            <a:ext cx="329902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de la Parte 1 (clase 14)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218B61B-A430-E1BF-075A-CB80BE6A088B}"/>
              </a:ext>
            </a:extLst>
          </p:cNvPr>
          <p:cNvSpPr/>
          <p:nvPr/>
        </p:nvSpPr>
        <p:spPr>
          <a:xfrm>
            <a:off x="6334944" y="1044267"/>
            <a:ext cx="37604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programa de división entre x e y</a:t>
            </a:r>
            <a:endParaRPr lang="es-MX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D18FE9E-D03C-76C6-4697-D3A1C27B5E6D}"/>
              </a:ext>
            </a:extLst>
          </p:cNvPr>
          <p:cNvSpPr/>
          <p:nvPr/>
        </p:nvSpPr>
        <p:spPr>
          <a:xfrm>
            <a:off x="5825232" y="3551497"/>
            <a:ext cx="52864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prueba del programa usando lógica (de Hoare)</a:t>
            </a:r>
            <a:endParaRPr lang="es-MX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942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25" y="869255"/>
            <a:ext cx="11875149" cy="5508148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Comienzos del siglo XX.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Búsqueda de un esquema mecánico para demostrar todas las verdades matemáticas (D. Hilbert).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MX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1931.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Hay verdades matemáticas que no se pueden demostrar mecánicamente (K. Gödel).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1936.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Hay enunciados matemáticos que no se puede decidir mecánicamente si son verdaderos o falsos (A. </a:t>
            </a:r>
            <a:r>
              <a:rPr lang="es-MX" sz="1800" dirty="0" err="1">
                <a:latin typeface="Arial" panose="020B0604020202020204" pitchFamily="34" charset="0"/>
                <a:cs typeface="Arial" panose="020B0604020202020204" pitchFamily="34" charset="0"/>
              </a:rPr>
              <a:t>Church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, A. Turing). </a:t>
            </a:r>
            <a:r>
              <a:rPr lang="es-MX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Origen de la computación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. Máquina de Turing como modelo de computación.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Años 1940.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Primeras computadoras.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Años 1960. </a:t>
            </a:r>
            <a:r>
              <a:rPr lang="es-MX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Origen de la complejidad computacional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. Problemas fáciles y difíciles en términos de tiempo y espacio. Evolución: algoritmos probabilísticos y cuánticos, pruebas interactivas, inteligencia artificial, etc.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Años 1970. </a:t>
            </a:r>
            <a:r>
              <a:rPr lang="es-MX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Origen de la correctitud de programas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(verificación formal, semántica de lenguajes). Evolución: verificación </a:t>
            </a:r>
            <a:r>
              <a:rPr lang="es-MX" sz="1800" dirty="0" err="1">
                <a:latin typeface="Arial" panose="020B0604020202020204" pitchFamily="34" charset="0"/>
                <a:cs typeface="Arial" panose="020B0604020202020204" pitchFamily="34" charset="0"/>
              </a:rPr>
              <a:t>semi-automática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 (con asistencia), verificación automática (</a:t>
            </a:r>
            <a:r>
              <a:rPr lang="es-MX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r>
              <a:rPr lang="es-MX" sz="1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checking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), etc.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660387F-2528-4270-9D69-14E300E70D0A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1" i="0" u="none" strike="noStrike" kern="1200" cap="none" spc="0" normalizeH="0" baseline="0" noProof="0" dirty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t>0</a:t>
            </a: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0172992-8B7C-6EFB-8085-2C7C9B153298}"/>
              </a:ext>
            </a:extLst>
          </p:cNvPr>
          <p:cNvSpPr/>
          <p:nvPr/>
        </p:nvSpPr>
        <p:spPr>
          <a:xfrm>
            <a:off x="239304" y="274826"/>
            <a:ext cx="90733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Introducción de la Parte 1 (algunos hitos históricos)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2A3B9E4-BEA6-92DB-59AA-6ED91E208C31}"/>
              </a:ext>
            </a:extLst>
          </p:cNvPr>
          <p:cNvSpPr txBox="1">
            <a:spLocks/>
          </p:cNvSpPr>
          <p:nvPr/>
        </p:nvSpPr>
        <p:spPr>
          <a:xfrm>
            <a:off x="5303799" y="5423537"/>
            <a:ext cx="1720070" cy="6102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Complejidad</a:t>
            </a:r>
          </a:p>
          <a:p>
            <a:pPr algn="ctr"/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Computacional</a:t>
            </a:r>
          </a:p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(años 1960) 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2421A89-B4B0-5E05-B009-BF684757132C}"/>
              </a:ext>
            </a:extLst>
          </p:cNvPr>
          <p:cNvSpPr txBox="1">
            <a:spLocks/>
          </p:cNvSpPr>
          <p:nvPr/>
        </p:nvSpPr>
        <p:spPr>
          <a:xfrm>
            <a:off x="3241632" y="5359966"/>
            <a:ext cx="1823971" cy="76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Computabilidad</a:t>
            </a:r>
          </a:p>
          <a:p>
            <a:pPr algn="ctr"/>
            <a:endParaRPr lang="es-MX" sz="13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(años 1930)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B1DF3A8-8998-E272-85F1-62B30C6050A8}"/>
              </a:ext>
            </a:extLst>
          </p:cNvPr>
          <p:cNvSpPr txBox="1">
            <a:spLocks/>
          </p:cNvSpPr>
          <p:nvPr/>
        </p:nvSpPr>
        <p:spPr>
          <a:xfrm>
            <a:off x="7383987" y="5533947"/>
            <a:ext cx="1669728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Correctitud de Programas </a:t>
            </a:r>
          </a:p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(años 1970)</a:t>
            </a:r>
          </a:p>
          <a:p>
            <a:pPr algn="ctr"/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42FBF68-EDFA-0633-A606-DF777BE35438}"/>
              </a:ext>
            </a:extLst>
          </p:cNvPr>
          <p:cNvCxnSpPr>
            <a:cxnSpLocks/>
          </p:cNvCxnSpPr>
          <p:nvPr/>
        </p:nvCxnSpPr>
        <p:spPr>
          <a:xfrm flipV="1">
            <a:off x="1661282" y="6402737"/>
            <a:ext cx="9005104" cy="298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DD5F4E-9588-9ECD-66DD-E452701C2E1D}"/>
              </a:ext>
            </a:extLst>
          </p:cNvPr>
          <p:cNvSpPr txBox="1"/>
          <p:nvPr/>
        </p:nvSpPr>
        <p:spPr>
          <a:xfrm>
            <a:off x="5562732" y="6417651"/>
            <a:ext cx="2656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Matemáticas</a:t>
            </a:r>
            <a:endParaRPr lang="es-AR" sz="1400" b="1" dirty="0">
              <a:solidFill>
                <a:srgbClr val="0070C0"/>
              </a:solidFill>
            </a:endParaRPr>
          </a:p>
        </p:txBody>
      </p:sp>
      <p:sp>
        <p:nvSpPr>
          <p:cNvPr id="11" name="Diagrama de flujo: conector 10">
            <a:extLst>
              <a:ext uri="{FF2B5EF4-FFF2-40B4-BE49-F238E27FC236}">
                <a16:creationId xmlns:a16="http://schemas.microsoft.com/office/drawing/2014/main" id="{4496C85E-8649-EE71-FBBB-A8A9E42D1EB0}"/>
              </a:ext>
            </a:extLst>
          </p:cNvPr>
          <p:cNvSpPr/>
          <p:nvPr/>
        </p:nvSpPr>
        <p:spPr>
          <a:xfrm>
            <a:off x="5217132" y="5240436"/>
            <a:ext cx="1900126" cy="94407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400"/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C1BD207F-201E-5035-54A4-95B9E4BFDA62}"/>
              </a:ext>
            </a:extLst>
          </p:cNvPr>
          <p:cNvSpPr/>
          <p:nvPr/>
        </p:nvSpPr>
        <p:spPr>
          <a:xfrm>
            <a:off x="7268788" y="5205902"/>
            <a:ext cx="1900126" cy="94407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400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6A4D49E4-44A0-3DEE-3033-037DDEAFA1FE}"/>
              </a:ext>
            </a:extLst>
          </p:cNvPr>
          <p:cNvSpPr/>
          <p:nvPr/>
        </p:nvSpPr>
        <p:spPr>
          <a:xfrm>
            <a:off x="3252144" y="5246950"/>
            <a:ext cx="1813459" cy="944073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1400"/>
          </a:p>
        </p:txBody>
      </p:sp>
    </p:spTree>
    <p:extLst>
      <p:ext uri="{BB962C8B-B14F-4D97-AF65-F5344CB8AC3E}">
        <p14:creationId xmlns:p14="http://schemas.microsoft.com/office/powerpoint/2010/main" val="3357474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1BC72-17CA-45A8-561E-473966B4E17C}"/>
              </a:ext>
            </a:extLst>
          </p:cNvPr>
          <p:cNvSpPr txBox="1">
            <a:spLocks/>
          </p:cNvSpPr>
          <p:nvPr/>
        </p:nvSpPr>
        <p:spPr>
          <a:xfrm>
            <a:off x="1524065" y="2430835"/>
            <a:ext cx="8809543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teórica 1</a:t>
            </a:r>
          </a:p>
          <a:p>
            <a:pPr algn="ctr"/>
            <a:endParaRPr lang="es-MX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La máquina de Turing</a:t>
            </a:r>
          </a:p>
        </p:txBody>
      </p:sp>
    </p:spTree>
    <p:extLst>
      <p:ext uri="{BB962C8B-B14F-4D97-AF65-F5344CB8AC3E}">
        <p14:creationId xmlns:p14="http://schemas.microsoft.com/office/powerpoint/2010/main" val="2244434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79" y="959590"/>
            <a:ext cx="11608031" cy="589841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 </a:t>
            </a:r>
            <a:r>
              <a:rPr lang="es-AR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conjunto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 una colección de </a:t>
            </a:r>
            <a:r>
              <a:rPr lang="es-AR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elementos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5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Por ejemplo, A = {a, b, c} es un conjunto de tres elementos: </a:t>
            </a:r>
            <a:r>
              <a:rPr lang="es-AR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b y c. Se dice que </a:t>
            </a:r>
            <a:r>
              <a:rPr lang="es-AR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pertenece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 </a:t>
            </a:r>
            <a:r>
              <a:rPr lang="es-A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s-ES" sz="1800" b="1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∈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</a:t>
            </a:r>
          </a:p>
          <a:p>
            <a:pPr marL="226800" algn="just">
              <a:lnSpc>
                <a:spcPct val="100000"/>
              </a:lnSpc>
              <a:spcBef>
                <a:spcPts val="0"/>
              </a:spcBef>
            </a:pPr>
            <a:endParaRPr lang="es-AR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Dos conjuntos A y B son 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iguales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= B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si tienen los mismos elementos.</a:t>
            </a: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5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Por ejemplo, {casa, árbol, cielo} = {árbol, cielo, casa}.</a:t>
            </a: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25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 conjunto A es un </a:t>
            </a:r>
            <a:r>
              <a:rPr lang="es-AR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subconjunto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de un conjunto B o está </a:t>
            </a:r>
            <a:r>
              <a:rPr lang="es-AR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incluido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en B (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si los elementos de A pertenecen a B, y está incluido </a:t>
            </a:r>
            <a:r>
              <a:rPr lang="es-AR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estrictamente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en B (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si A 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 y A 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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B.</a:t>
            </a:r>
            <a:endParaRPr lang="es-AR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5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</a:rPr>
              <a:t>     Por ejemplo, {1, 2}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 {1, 2, 3, 5}. Y también se cumple </a:t>
            </a: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</a:rPr>
              <a:t>{1, 2}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 {1, 2, 3, 5}. </a:t>
            </a: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26800" algn="just">
              <a:lnSpc>
                <a:spcPct val="100000"/>
              </a:lnSpc>
              <a:spcBef>
                <a:spcPts val="0"/>
              </a:spcBef>
            </a:pPr>
            <a:endParaRPr lang="es-AR" sz="25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Dados dos conjuntos A y B</a:t>
            </a: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 </a:t>
            </a:r>
            <a:r>
              <a:rPr lang="es-AR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intersección</a:t>
            </a:r>
            <a:r>
              <a:rPr lang="es-AR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s-ES" sz="1800" b="1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⋂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es el conjunto de los elementos que están en A 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en B, </a:t>
            </a: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 </a:t>
            </a:r>
            <a:r>
              <a:rPr lang="es-AR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unión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</a:t>
            </a:r>
            <a:r>
              <a:rPr lang="es-ES" sz="1800" b="1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⋃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es el conjunto de los elementos que están en A 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en B, </a:t>
            </a: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 su 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diferencia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 – B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es el conjunto de los elementos que están en A 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 no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están en B. </a:t>
            </a: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5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Por ejemplo, </a:t>
            </a: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</a:rPr>
              <a:t>{1, 2, 3, 4, 5}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⋂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{4, 5, 6} =</a:t>
            </a: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</a:rPr>
              <a:t> {4, 5}, </a:t>
            </a: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</a:rPr>
              <a:t>		 {1, 2, 3, 4, 5}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s-ES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⋃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{4, 5, 6} =</a:t>
            </a: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</a:rPr>
              <a:t> {1, 2, 3, 4, 5, 6}, </a:t>
            </a:r>
          </a:p>
          <a:p>
            <a:pPr marL="2268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	 {1, 2, 3, 4, 5}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– {4, 5, 6} = {1, 2, 3}.</a:t>
            </a: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F9999B7-D98C-4FBE-8454-C67950B3D5E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5D1AF0-EBC2-EA31-0994-8798A86DA34F}"/>
              </a:ext>
            </a:extLst>
          </p:cNvPr>
          <p:cNvSpPr txBox="1">
            <a:spLocks/>
          </p:cNvSpPr>
          <p:nvPr/>
        </p:nvSpPr>
        <p:spPr>
          <a:xfrm>
            <a:off x="301879" y="91086"/>
            <a:ext cx="10097483" cy="8685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Repaso de algunos conceptos matemáticos básicos</a:t>
            </a:r>
          </a:p>
        </p:txBody>
      </p:sp>
    </p:spTree>
    <p:extLst>
      <p:ext uri="{BB962C8B-B14F-4D97-AF65-F5344CB8AC3E}">
        <p14:creationId xmlns:p14="http://schemas.microsoft.com/office/powerpoint/2010/main" val="109902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879" y="959590"/>
            <a:ext cx="11608031" cy="5375699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Una </a:t>
            </a:r>
            <a:r>
              <a:rPr lang="es-AR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función 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 un conjunto A </a:t>
            </a:r>
            <a:r>
              <a:rPr lang="es-A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un conjunto B (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 : A 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</a:t>
            </a:r>
            <a:r>
              <a:rPr lang="es-AR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es un conjunto de pares (a, b), con a </a:t>
            </a:r>
            <a:r>
              <a:rPr lang="es-E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∈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 y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 </a:t>
            </a:r>
            <a:r>
              <a:rPr lang="es-E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∈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B, 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tales que a lo sumo existe un par (a, b) para todo a </a:t>
            </a:r>
            <a:r>
              <a:rPr lang="es-E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∈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f(a) = b expresa que el par (a, b) pertenece a la función f.</a:t>
            </a: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</a:rPr>
              <a:t>Por ejemplo, si A = {1, 2, 3, 4} y B = 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{m, </a:t>
            </a: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n, o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}, </a:t>
            </a: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entonces {(1, m), (2, n), (3, n)} es una función f de A </a:t>
            </a:r>
            <a:r>
              <a:rPr lang="es-A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B,</a:t>
            </a: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que también se puede definir así: f(1) = m, f(2) = n, f(3) = n.</a:t>
            </a: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Gráficamente: </a:t>
            </a: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5200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6800" indent="0" algn="just">
              <a:lnSpc>
                <a:spcPct val="100000"/>
              </a:lnSpc>
              <a:spcBef>
                <a:spcPts val="63"/>
              </a:spcBef>
              <a:buNone/>
            </a:pP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El conjunto A es el </a:t>
            </a:r>
            <a:r>
              <a:rPr lang="es-AR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dominio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y el conjunto B es el </a:t>
            </a:r>
            <a:r>
              <a:rPr lang="es-AR" sz="18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codominio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 la función f.</a:t>
            </a:r>
          </a:p>
          <a:p>
            <a:pPr marL="226800" indent="0" algn="just">
              <a:lnSpc>
                <a:spcPct val="100000"/>
              </a:lnSpc>
              <a:spcBef>
                <a:spcPts val="63"/>
              </a:spcBef>
              <a:buNone/>
            </a:pP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f es inyectiva si no llegan dos flechas a un mismo elemento de B.</a:t>
            </a:r>
          </a:p>
          <a:p>
            <a:pPr marL="226800" indent="0" algn="just">
              <a:lnSpc>
                <a:spcPct val="100000"/>
              </a:lnSpc>
              <a:spcBef>
                <a:spcPts val="63"/>
              </a:spcBef>
              <a:buNone/>
            </a:pP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f es </a:t>
            </a:r>
            <a:r>
              <a:rPr lang="es-AR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suryectiva</a:t>
            </a: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si llegan flechas a todos los elementos de B.</a:t>
            </a:r>
          </a:p>
          <a:p>
            <a:pPr marL="226800" indent="0" algn="just">
              <a:lnSpc>
                <a:spcPct val="100000"/>
              </a:lnSpc>
              <a:spcBef>
                <a:spcPts val="63"/>
              </a:spcBef>
              <a:buNone/>
            </a:pP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- f es biyectiva si es inyectiva y </a:t>
            </a:r>
            <a:r>
              <a:rPr lang="es-AR" sz="1800" dirty="0" err="1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suryectiva</a:t>
            </a:r>
            <a:r>
              <a:rPr lang="es-AR" sz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  </a:t>
            </a:r>
            <a:endParaRPr lang="es-AR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F9999B7-D98C-4FBE-8454-C67950B3D5E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4871829-F06F-4CAF-E6B1-EB80DDED589F}"/>
              </a:ext>
            </a:extLst>
          </p:cNvPr>
          <p:cNvSpPr txBox="1">
            <a:spLocks/>
          </p:cNvSpPr>
          <p:nvPr/>
        </p:nvSpPr>
        <p:spPr>
          <a:xfrm>
            <a:off x="301879" y="91086"/>
            <a:ext cx="11714630" cy="8685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Repaso de algunos conceptos matemáticos básicos (continuación)</a:t>
            </a:r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2E7E9C9C-9BBC-7225-154A-54096DAF24E1}"/>
              </a:ext>
            </a:extLst>
          </p:cNvPr>
          <p:cNvSpPr/>
          <p:nvPr/>
        </p:nvSpPr>
        <p:spPr>
          <a:xfrm>
            <a:off x="3298258" y="3429000"/>
            <a:ext cx="1337666" cy="154138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4BC4DA-7B43-D814-6AAD-4A5532E9A8F1}"/>
              </a:ext>
            </a:extLst>
          </p:cNvPr>
          <p:cNvSpPr/>
          <p:nvPr/>
        </p:nvSpPr>
        <p:spPr>
          <a:xfrm>
            <a:off x="3769342" y="3433756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sz="24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275204-7876-BB44-EB60-56844EBE3265}"/>
              </a:ext>
            </a:extLst>
          </p:cNvPr>
          <p:cNvSpPr/>
          <p:nvPr/>
        </p:nvSpPr>
        <p:spPr>
          <a:xfrm>
            <a:off x="3810956" y="3796791"/>
            <a:ext cx="2670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sz="1600" dirty="0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F1ECAB78-2A17-88BD-6072-536D325E4F9A}"/>
              </a:ext>
            </a:extLst>
          </p:cNvPr>
          <p:cNvSpPr/>
          <p:nvPr/>
        </p:nvSpPr>
        <p:spPr>
          <a:xfrm>
            <a:off x="5973861" y="3454837"/>
            <a:ext cx="1277956" cy="154138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19749E7-1E8F-9319-BC72-9525C57051A3}"/>
              </a:ext>
            </a:extLst>
          </p:cNvPr>
          <p:cNvSpPr/>
          <p:nvPr/>
        </p:nvSpPr>
        <p:spPr>
          <a:xfrm>
            <a:off x="6417914" y="3454837"/>
            <a:ext cx="389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sz="2400" dirty="0"/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0DE7806D-3AA5-8065-E04A-76443E937C8E}"/>
              </a:ext>
            </a:extLst>
          </p:cNvPr>
          <p:cNvCxnSpPr>
            <a:cxnSpLocks/>
          </p:cNvCxnSpPr>
          <p:nvPr/>
        </p:nvCxnSpPr>
        <p:spPr>
          <a:xfrm flipV="1">
            <a:off x="4078013" y="3973065"/>
            <a:ext cx="2291984" cy="306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D671168-9B8B-86AE-BCB2-56D5D67FF88A}"/>
              </a:ext>
            </a:extLst>
          </p:cNvPr>
          <p:cNvSpPr/>
          <p:nvPr/>
        </p:nvSpPr>
        <p:spPr>
          <a:xfrm>
            <a:off x="6444531" y="3811637"/>
            <a:ext cx="2670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endParaRPr lang="es-MX" sz="1600" dirty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F495B40-5D0A-6878-F255-822BB765718E}"/>
              </a:ext>
            </a:extLst>
          </p:cNvPr>
          <p:cNvSpPr/>
          <p:nvPr/>
        </p:nvSpPr>
        <p:spPr>
          <a:xfrm>
            <a:off x="3827225" y="4031891"/>
            <a:ext cx="2670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sz="1600" dirty="0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2D8EA5A5-B40B-3843-AD8D-76397727CBC4}"/>
              </a:ext>
            </a:extLst>
          </p:cNvPr>
          <p:cNvCxnSpPr>
            <a:cxnSpLocks/>
          </p:cNvCxnSpPr>
          <p:nvPr/>
        </p:nvCxnSpPr>
        <p:spPr>
          <a:xfrm flipV="1">
            <a:off x="4094282" y="4189980"/>
            <a:ext cx="2291984" cy="306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81E602E-02D4-7C21-7164-75D6026B4237}"/>
              </a:ext>
            </a:extLst>
          </p:cNvPr>
          <p:cNvSpPr/>
          <p:nvPr/>
        </p:nvSpPr>
        <p:spPr>
          <a:xfrm>
            <a:off x="6453840" y="4011922"/>
            <a:ext cx="2670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sz="1600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AE3A483-3049-E7C4-ED66-769C6785B70E}"/>
              </a:ext>
            </a:extLst>
          </p:cNvPr>
          <p:cNvSpPr/>
          <p:nvPr/>
        </p:nvSpPr>
        <p:spPr>
          <a:xfrm>
            <a:off x="3824526" y="4311619"/>
            <a:ext cx="2670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sz="1600" dirty="0"/>
          </a:p>
        </p:txBody>
      </p: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94E35473-7D76-F3E0-D09C-369EA540FC30}"/>
              </a:ext>
            </a:extLst>
          </p:cNvPr>
          <p:cNvCxnSpPr>
            <a:cxnSpLocks/>
          </p:cNvCxnSpPr>
          <p:nvPr/>
        </p:nvCxnSpPr>
        <p:spPr>
          <a:xfrm flipV="1">
            <a:off x="4084973" y="4175703"/>
            <a:ext cx="2250019" cy="30269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85D46FBF-B33A-0158-994E-C24506274CAD}"/>
              </a:ext>
            </a:extLst>
          </p:cNvPr>
          <p:cNvSpPr/>
          <p:nvPr/>
        </p:nvSpPr>
        <p:spPr>
          <a:xfrm>
            <a:off x="3836338" y="4568032"/>
            <a:ext cx="2670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sz="1600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FB89115-1CBD-07A0-09B5-398007C5DA6F}"/>
              </a:ext>
            </a:extLst>
          </p:cNvPr>
          <p:cNvSpPr/>
          <p:nvPr/>
        </p:nvSpPr>
        <p:spPr>
          <a:xfrm>
            <a:off x="6479310" y="4229478"/>
            <a:ext cx="2670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MX" sz="16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5089DC-D07A-9D91-B5CB-7CD4FC44BCBA}"/>
              </a:ext>
            </a:extLst>
          </p:cNvPr>
          <p:cNvSpPr txBox="1"/>
          <p:nvPr/>
        </p:nvSpPr>
        <p:spPr>
          <a:xfrm>
            <a:off x="5148622" y="3670817"/>
            <a:ext cx="274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165211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5" y="945758"/>
            <a:ext cx="11675753" cy="5773094"/>
          </a:xfrm>
        </p:spPr>
        <p:txBody>
          <a:bodyPr>
            <a:normAutofit/>
          </a:bodyPr>
          <a:lstStyle/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s-AR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alfabeto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es un conjunto finito de símbolos.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Por ejemplo, Ʃ = {a, b, c} es un alfabeto de tres símbolos.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s-AR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lenguaje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con alfabeto Ʃ es un conjunto de cadenas finitas de símbolos de Ʃ.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Por ejemplo, si Ʃ = {a, b, c}, un lenguaje L con alfabeto Ʃ es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b,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ababab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ccb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}.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>
              <a:lnSpc>
                <a:spcPct val="100000"/>
              </a:lnSpc>
              <a:spcBef>
                <a:spcPts val="0"/>
              </a:spcBef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Operaciones típicas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entre lenguajes (las mismas que entre conjuntos):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Por ejemplo, si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ab,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} y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= {ab,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aabb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aaabbb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aaaabbbb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}, </a:t>
            </a:r>
          </a:p>
          <a:p>
            <a:pPr marL="2520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20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⋂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= {ab}.  </a:t>
            </a:r>
          </a:p>
          <a:p>
            <a:pPr marL="2520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20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ab,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aabb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aaabbb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aaaabbbb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}.</a:t>
            </a:r>
          </a:p>
          <a:p>
            <a:pPr marL="2520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520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ba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}.</a:t>
            </a:r>
          </a:p>
          <a:p>
            <a:pPr marL="25200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>
              <a:lnSpc>
                <a:spcPct val="100000"/>
              </a:lnSpc>
              <a:spcBef>
                <a:spcPts val="0"/>
              </a:spcBef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Otra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operación típica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es el </a:t>
            </a:r>
            <a:r>
              <a:rPr lang="es-AR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complemento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 El complemento de un lenguaje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con respecto a otro lenguaje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que lo incluye, es el lenguaje formado por las cadenas de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–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Por ejemplo, si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= {a,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} y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= {a,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…},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entonces el complemento de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con respecto a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es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C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= {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aaaaa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…}.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F9999B7-D98C-4FBE-8454-C67950B3D5E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07AEF8-C148-2A22-B90F-7F64F92252A5}"/>
              </a:ext>
            </a:extLst>
          </p:cNvPr>
          <p:cNvSpPr txBox="1">
            <a:spLocks/>
          </p:cNvSpPr>
          <p:nvPr/>
        </p:nvSpPr>
        <p:spPr>
          <a:xfrm>
            <a:off x="301879" y="91086"/>
            <a:ext cx="11549466" cy="8685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Repaso de algunos conceptos matemáticos básicos (continuación)</a:t>
            </a:r>
          </a:p>
        </p:txBody>
      </p:sp>
    </p:spTree>
    <p:extLst>
      <p:ext uri="{BB962C8B-B14F-4D97-AF65-F5344CB8AC3E}">
        <p14:creationId xmlns:p14="http://schemas.microsoft.com/office/powerpoint/2010/main" val="4236672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4" y="1005222"/>
            <a:ext cx="11566423" cy="5564544"/>
          </a:xfrm>
        </p:spPr>
        <p:txBody>
          <a:bodyPr>
            <a:normAutofit/>
          </a:bodyPr>
          <a:lstStyle/>
          <a:p>
            <a:pPr marL="252000" algn="just">
              <a:lnSpc>
                <a:spcPct val="110000"/>
              </a:lnSpc>
              <a:spcBef>
                <a:spcPts val="0"/>
              </a:spcBef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 </a:t>
            </a:r>
            <a:r>
              <a:rPr lang="es-E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grafo</a:t>
            </a:r>
            <a:r>
              <a:rPr lang="es-E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 un par (V, E), tal que V es un conjunto de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vértices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 E es un conjunto de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arcos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2340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5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340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5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2680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Por ejemplo, el </a:t>
            </a:r>
            <a:r>
              <a:rPr lang="es-ES" sz="1800" dirty="0">
                <a:latin typeface="Arial" panose="020B0604020202020204" pitchFamily="34" charset="0"/>
                <a:ea typeface="Times New Roman" panose="02020603050405020304" pitchFamily="18" charset="0"/>
              </a:rPr>
              <a:t>siguiente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grafo tiene 10 vértices y 11 arcos.</a:t>
            </a:r>
          </a:p>
          <a:p>
            <a:pPr marL="22680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5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340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340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5200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endParaRPr lang="es-ES" sz="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8ADF098-8210-D4A3-8BEF-0AEE45F075F7}"/>
              </a:ext>
            </a:extLst>
          </p:cNvPr>
          <p:cNvSpPr txBox="1">
            <a:spLocks/>
          </p:cNvSpPr>
          <p:nvPr/>
        </p:nvSpPr>
        <p:spPr>
          <a:xfrm>
            <a:off x="301879" y="91086"/>
            <a:ext cx="11566423" cy="8685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Repaso de algunos conceptos matemáticos básicos (continuación)</a:t>
            </a:r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C15B1BB8-BAF4-AE4F-F4BF-2A40BCEBF5F0}"/>
              </a:ext>
            </a:extLst>
          </p:cNvPr>
          <p:cNvSpPr/>
          <p:nvPr/>
        </p:nvSpPr>
        <p:spPr>
          <a:xfrm>
            <a:off x="3684285" y="3251024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3EBCA5AC-B7B3-4821-0BF4-880F0CC48BF7}"/>
              </a:ext>
            </a:extLst>
          </p:cNvPr>
          <p:cNvSpPr/>
          <p:nvPr/>
        </p:nvSpPr>
        <p:spPr>
          <a:xfrm>
            <a:off x="1958806" y="3251024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Diagrama de flujo: conector 6">
            <a:extLst>
              <a:ext uri="{FF2B5EF4-FFF2-40B4-BE49-F238E27FC236}">
                <a16:creationId xmlns:a16="http://schemas.microsoft.com/office/drawing/2014/main" id="{768DC29E-2A06-4927-116B-7863FE6F99B9}"/>
              </a:ext>
            </a:extLst>
          </p:cNvPr>
          <p:cNvSpPr/>
          <p:nvPr/>
        </p:nvSpPr>
        <p:spPr>
          <a:xfrm>
            <a:off x="3082706" y="448225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DDBF104E-47F6-DEBD-5897-94943FBBFECE}"/>
              </a:ext>
            </a:extLst>
          </p:cNvPr>
          <p:cNvSpPr/>
          <p:nvPr/>
        </p:nvSpPr>
        <p:spPr>
          <a:xfrm>
            <a:off x="2854106" y="2277396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5C9686F7-8B53-AFB8-A323-D6A02728965E}"/>
              </a:ext>
            </a:extLst>
          </p:cNvPr>
          <p:cNvSpPr/>
          <p:nvPr/>
        </p:nvSpPr>
        <p:spPr>
          <a:xfrm>
            <a:off x="5181164" y="3479624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Diagrama de flujo: conector 9">
            <a:extLst>
              <a:ext uri="{FF2B5EF4-FFF2-40B4-BE49-F238E27FC236}">
                <a16:creationId xmlns:a16="http://schemas.microsoft.com/office/drawing/2014/main" id="{E8F04CFC-B79B-8751-B3FC-2422C4333ACA}"/>
              </a:ext>
            </a:extLst>
          </p:cNvPr>
          <p:cNvSpPr/>
          <p:nvPr/>
        </p:nvSpPr>
        <p:spPr>
          <a:xfrm>
            <a:off x="4546142" y="2233606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D0CD583-3B72-D5EC-4F2D-4EF7F4478BD6}"/>
              </a:ext>
            </a:extLst>
          </p:cNvPr>
          <p:cNvCxnSpPr>
            <a:stCxn id="6" idx="5"/>
            <a:endCxn id="7" idx="1"/>
          </p:cNvCxnSpPr>
          <p:nvPr/>
        </p:nvCxnSpPr>
        <p:spPr>
          <a:xfrm>
            <a:off x="2349051" y="3641269"/>
            <a:ext cx="800610" cy="907942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D435CB3-A9D0-383C-C2C8-B026036F1133}"/>
              </a:ext>
            </a:extLst>
          </p:cNvPr>
          <p:cNvCxnSpPr>
            <a:stCxn id="13" idx="5"/>
            <a:endCxn id="14" idx="2"/>
          </p:cNvCxnSpPr>
          <p:nvPr/>
        </p:nvCxnSpPr>
        <p:spPr>
          <a:xfrm>
            <a:off x="2421126" y="5514289"/>
            <a:ext cx="805959" cy="3383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05C59F74-0A4C-A509-8E46-6724020CD690}"/>
              </a:ext>
            </a:extLst>
          </p:cNvPr>
          <p:cNvSpPr/>
          <p:nvPr/>
        </p:nvSpPr>
        <p:spPr>
          <a:xfrm>
            <a:off x="2030881" y="5124044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Diagrama de flujo: conector 13">
            <a:extLst>
              <a:ext uri="{FF2B5EF4-FFF2-40B4-BE49-F238E27FC236}">
                <a16:creationId xmlns:a16="http://schemas.microsoft.com/office/drawing/2014/main" id="{8202D9D0-CDB7-6947-7240-0CC2ADE7EC9F}"/>
              </a:ext>
            </a:extLst>
          </p:cNvPr>
          <p:cNvSpPr/>
          <p:nvPr/>
        </p:nvSpPr>
        <p:spPr>
          <a:xfrm>
            <a:off x="3227085" y="5624014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0EC0EAE8-7655-5A58-BCEF-E55E3E42EEC5}"/>
              </a:ext>
            </a:extLst>
          </p:cNvPr>
          <p:cNvSpPr/>
          <p:nvPr/>
        </p:nvSpPr>
        <p:spPr>
          <a:xfrm>
            <a:off x="4790919" y="531670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00814C03-B749-798C-A32B-F75F20CF8A32}"/>
              </a:ext>
            </a:extLst>
          </p:cNvPr>
          <p:cNvSpPr/>
          <p:nvPr/>
        </p:nvSpPr>
        <p:spPr>
          <a:xfrm>
            <a:off x="4295525" y="404797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A439223C-E9F2-AC11-6DA4-53D3F0DD38CA}"/>
              </a:ext>
            </a:extLst>
          </p:cNvPr>
          <p:cNvCxnSpPr>
            <a:endCxn id="14" idx="0"/>
          </p:cNvCxnSpPr>
          <p:nvPr/>
        </p:nvCxnSpPr>
        <p:spPr>
          <a:xfrm>
            <a:off x="3311306" y="4955654"/>
            <a:ext cx="144379" cy="6683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F283D1D-83D7-5E2A-5127-1CD9D16F9025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2441466" y="4872501"/>
            <a:ext cx="708195" cy="3360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4459148E-8635-59F0-DBEE-6AF158B5BBA7}"/>
              </a:ext>
            </a:extLst>
          </p:cNvPr>
          <p:cNvCxnSpPr>
            <a:endCxn id="15" idx="1"/>
          </p:cNvCxnSpPr>
          <p:nvPr/>
        </p:nvCxnSpPr>
        <p:spPr>
          <a:xfrm>
            <a:off x="3489162" y="4810500"/>
            <a:ext cx="1368712" cy="573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5DB5549-012D-29D9-7E79-BD3E3A76D182}"/>
              </a:ext>
            </a:extLst>
          </p:cNvPr>
          <p:cNvCxnSpPr>
            <a:endCxn id="10" idx="2"/>
          </p:cNvCxnSpPr>
          <p:nvPr/>
        </p:nvCxnSpPr>
        <p:spPr>
          <a:xfrm flipV="1">
            <a:off x="3290640" y="2462206"/>
            <a:ext cx="1255502" cy="450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261D4910-F6EE-696B-B1CA-60C70132F2FE}"/>
              </a:ext>
            </a:extLst>
          </p:cNvPr>
          <p:cNvCxnSpPr>
            <a:endCxn id="9" idx="2"/>
          </p:cNvCxnSpPr>
          <p:nvPr/>
        </p:nvCxnSpPr>
        <p:spPr>
          <a:xfrm>
            <a:off x="4141485" y="3483635"/>
            <a:ext cx="1039679" cy="22458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D5526BC9-2D16-6553-6F33-8AEA0C2D0C38}"/>
              </a:ext>
            </a:extLst>
          </p:cNvPr>
          <p:cNvCxnSpPr>
            <a:endCxn id="2" idx="2"/>
          </p:cNvCxnSpPr>
          <p:nvPr/>
        </p:nvCxnSpPr>
        <p:spPr>
          <a:xfrm>
            <a:off x="2426906" y="3439904"/>
            <a:ext cx="1257379" cy="3972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E06E293-A926-8B48-E8D9-DBB3A5BAAA1E}"/>
              </a:ext>
            </a:extLst>
          </p:cNvPr>
          <p:cNvCxnSpPr>
            <a:endCxn id="2" idx="1"/>
          </p:cNvCxnSpPr>
          <p:nvPr/>
        </p:nvCxnSpPr>
        <p:spPr>
          <a:xfrm>
            <a:off x="3227085" y="2708901"/>
            <a:ext cx="524155" cy="609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44647770-CCBC-2B03-F3B6-6BA20EA48A87}"/>
              </a:ext>
            </a:extLst>
          </p:cNvPr>
          <p:cNvCxnSpPr>
            <a:endCxn id="16" idx="2"/>
          </p:cNvCxnSpPr>
          <p:nvPr/>
        </p:nvCxnSpPr>
        <p:spPr>
          <a:xfrm flipV="1">
            <a:off x="3536940" y="4276579"/>
            <a:ext cx="758585" cy="342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3901E484-C6DC-C2A0-8CF8-8F6F010AEE92}"/>
              </a:ext>
            </a:extLst>
          </p:cNvPr>
          <p:cNvCxnSpPr>
            <a:endCxn id="9" idx="1"/>
          </p:cNvCxnSpPr>
          <p:nvPr/>
        </p:nvCxnSpPr>
        <p:spPr>
          <a:xfrm>
            <a:off x="4872174" y="2688155"/>
            <a:ext cx="375945" cy="85842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47EBDE7-5BE3-B789-041A-57B4BE7A2F11}"/>
              </a:ext>
            </a:extLst>
          </p:cNvPr>
          <p:cNvSpPr/>
          <p:nvPr/>
        </p:nvSpPr>
        <p:spPr>
          <a:xfrm>
            <a:off x="3311306" y="5698889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213F16A-B866-AF99-83D2-210FE0DA3DC1}"/>
              </a:ext>
            </a:extLst>
          </p:cNvPr>
          <p:cNvSpPr/>
          <p:nvPr/>
        </p:nvSpPr>
        <p:spPr>
          <a:xfrm>
            <a:off x="4561742" y="2270108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7A7C162-4591-9125-FC11-1EFBAA30A61A}"/>
              </a:ext>
            </a:extLst>
          </p:cNvPr>
          <p:cNvSpPr/>
          <p:nvPr/>
        </p:nvSpPr>
        <p:spPr>
          <a:xfrm>
            <a:off x="2109589" y="514177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7C46FB8-950E-3F39-F4C9-79FD24361FE0}"/>
              </a:ext>
            </a:extLst>
          </p:cNvPr>
          <p:cNvSpPr/>
          <p:nvPr/>
        </p:nvSpPr>
        <p:spPr>
          <a:xfrm>
            <a:off x="3154223" y="450565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690037C-24CD-7CB2-91C0-DC72E104251A}"/>
              </a:ext>
            </a:extLst>
          </p:cNvPr>
          <p:cNvSpPr/>
          <p:nvPr/>
        </p:nvSpPr>
        <p:spPr>
          <a:xfrm>
            <a:off x="3751240" y="327193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57E295F-1FA1-C192-491B-FD9BD1DE58B4}"/>
              </a:ext>
            </a:extLst>
          </p:cNvPr>
          <p:cNvSpPr/>
          <p:nvPr/>
        </p:nvSpPr>
        <p:spPr>
          <a:xfrm>
            <a:off x="2032826" y="326148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A126B54-9BFB-F355-B518-429640535E07}"/>
              </a:ext>
            </a:extLst>
          </p:cNvPr>
          <p:cNvSpPr/>
          <p:nvPr/>
        </p:nvSpPr>
        <p:spPr>
          <a:xfrm>
            <a:off x="2921764" y="2291186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92115EB2-AD20-62F5-A788-4BA51A23BA93}"/>
              </a:ext>
            </a:extLst>
          </p:cNvPr>
          <p:cNvSpPr/>
          <p:nvPr/>
        </p:nvSpPr>
        <p:spPr>
          <a:xfrm>
            <a:off x="5248119" y="3546579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ABC42DE-4086-2904-6B38-EFC08E2093ED}"/>
              </a:ext>
            </a:extLst>
          </p:cNvPr>
          <p:cNvSpPr/>
          <p:nvPr/>
        </p:nvSpPr>
        <p:spPr>
          <a:xfrm>
            <a:off x="4367672" y="4036468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482AFD44-1A8B-2892-3096-26A067D8CEA2}"/>
              </a:ext>
            </a:extLst>
          </p:cNvPr>
          <p:cNvSpPr/>
          <p:nvPr/>
        </p:nvSpPr>
        <p:spPr>
          <a:xfrm>
            <a:off x="4863066" y="5329557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0CFC9528-04C9-6CE2-590E-33F58C339553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72B6427-A666-DE6C-592D-0367466986AA}"/>
              </a:ext>
            </a:extLst>
          </p:cNvPr>
          <p:cNvSpPr txBox="1"/>
          <p:nvPr/>
        </p:nvSpPr>
        <p:spPr>
          <a:xfrm>
            <a:off x="5877132" y="3533791"/>
            <a:ext cx="5687747" cy="2201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2550" indent="-285750" algn="just">
              <a:lnSpc>
                <a:spcPct val="110000"/>
              </a:lnSpc>
              <a:spcBef>
                <a:spcPts val="0"/>
              </a:spcBef>
              <a:buFontTx/>
              <a:buChar char="-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Vértices como 1 y 2 son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adyacentes.</a:t>
            </a:r>
          </a:p>
          <a:p>
            <a:pPr marL="512550" indent="-285750" algn="just">
              <a:lnSpc>
                <a:spcPct val="110000"/>
              </a:lnSpc>
              <a:spcBef>
                <a:spcPts val="0"/>
              </a:spcBef>
              <a:buFontTx/>
              <a:buChar char="-"/>
            </a:pPr>
            <a:endParaRPr lang="es-E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512550" indent="-285750" algn="just">
              <a:lnSpc>
                <a:spcPct val="110000"/>
              </a:lnSpc>
              <a:spcBef>
                <a:spcPts val="0"/>
              </a:spcBef>
              <a:buFontTx/>
              <a:buChar char="-"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Arcos como (1, 2) y (2, 3) son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adyacentes.</a:t>
            </a:r>
          </a:p>
          <a:p>
            <a:pPr marL="512550" indent="-285750" algn="just">
              <a:lnSpc>
                <a:spcPct val="110000"/>
              </a:lnSpc>
              <a:spcBef>
                <a:spcPts val="0"/>
              </a:spcBef>
              <a:buFontTx/>
              <a:buChar char="-"/>
            </a:pPr>
            <a:endParaRPr lang="es-E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512550" indent="-285750" algn="just">
              <a:lnSpc>
                <a:spcPct val="110000"/>
              </a:lnSpc>
              <a:spcBef>
                <a:spcPts val="0"/>
              </a:spcBef>
              <a:buFontTx/>
              <a:buChar char="-"/>
            </a:pPr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</a:rPr>
              <a:t>La secuencia de vértices (1, 2, 3, 6, 7, 9, 10), o de arcos (1, 2), (2, 3), (3, 6), (6, 7), (7, 9), (9, 10), es un </a:t>
            </a:r>
            <a:r>
              <a:rPr lang="es-ES" b="1" dirty="0">
                <a:latin typeface="Arial" panose="020B0604020202020204" pitchFamily="34" charset="0"/>
                <a:ea typeface="Times New Roman" panose="02020603050405020304" pitchFamily="18" charset="0"/>
              </a:rPr>
              <a:t>camino </a:t>
            </a:r>
            <a:r>
              <a:rPr lang="es-ES" dirty="0">
                <a:latin typeface="Arial" panose="020B0604020202020204" pitchFamily="34" charset="0"/>
                <a:ea typeface="Times New Roman" panose="02020603050405020304" pitchFamily="18" charset="0"/>
              </a:rPr>
              <a:t>del vértice 1 al vértice 10.</a:t>
            </a: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162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98" y="793035"/>
            <a:ext cx="11566423" cy="5564544"/>
          </a:xfrm>
        </p:spPr>
        <p:txBody>
          <a:bodyPr>
            <a:normAutofit lnSpcReduction="10000"/>
          </a:bodyPr>
          <a:lstStyle/>
          <a:p>
            <a:pPr marL="252000" algn="just">
              <a:lnSpc>
                <a:spcPct val="110000"/>
              </a:lnSpc>
              <a:spcBef>
                <a:spcPts val="0"/>
              </a:spcBef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Una </a:t>
            </a:r>
            <a:r>
              <a:rPr lang="es-E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fórmula booleana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 una fórmula lógica que se obtiene combinando </a:t>
            </a:r>
            <a:r>
              <a:rPr lang="es-E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variables booleanas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de valor de verdad </a:t>
            </a:r>
            <a:r>
              <a:rPr lang="es-E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verdadero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(V) o </a:t>
            </a:r>
            <a:r>
              <a:rPr lang="es-E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falso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(F), con los operadores lógicos </a:t>
            </a:r>
            <a:r>
              <a:rPr lang="es-E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and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), </a:t>
            </a:r>
            <a:r>
              <a:rPr lang="es-ES" sz="1800" b="1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or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y </a:t>
            </a:r>
            <a:r>
              <a:rPr lang="es-ES" sz="1800" b="1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not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¬).</a:t>
            </a:r>
          </a:p>
          <a:p>
            <a:pPr marL="2340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1800" b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5200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Por ejemplo,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φ = (x</a:t>
            </a:r>
            <a:r>
              <a:rPr lang="es-ES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x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¬x</a:t>
            </a:r>
            <a:r>
              <a:rPr lang="es-ES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 una fórmula booleana.</a:t>
            </a:r>
          </a:p>
          <a:p>
            <a:pPr marL="25200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algn="just">
              <a:lnSpc>
                <a:spcPct val="110000"/>
              </a:lnSpc>
              <a:spcBef>
                <a:spcPts val="0"/>
              </a:spcBef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El significado de los operadores lógicos es el siguiente: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5200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φ = x</a:t>
            </a:r>
            <a:r>
              <a:rPr lang="es-ES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x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 verdadera </a:t>
            </a:r>
            <a:r>
              <a:rPr lang="es-ES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sii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x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x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son verdaderas </a:t>
            </a:r>
          </a:p>
          <a:p>
            <a:pPr marL="25200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φ = x</a:t>
            </a:r>
            <a:r>
              <a:rPr lang="es-ES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x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 verdadera </a:t>
            </a:r>
            <a:r>
              <a:rPr lang="es-ES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sii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x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x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son verdaderas</a:t>
            </a:r>
            <a:endParaRPr lang="es-ES" sz="18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5200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φ = ¬x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es verdadera </a:t>
            </a:r>
            <a:r>
              <a:rPr lang="es-E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sii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x es falsa</a:t>
            </a:r>
          </a:p>
          <a:p>
            <a:pPr marL="25200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5200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	Por ejemplo, dada la fórmula booleana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φ = (x</a:t>
            </a:r>
            <a:r>
              <a:rPr lang="es-ES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x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¬x</a:t>
            </a:r>
            <a:r>
              <a:rPr lang="es-ES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),</a:t>
            </a:r>
          </a:p>
          <a:p>
            <a:pPr marL="25200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800" dirty="0"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 x</a:t>
            </a:r>
            <a:r>
              <a:rPr lang="es-ES" sz="1800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V y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 F, entonces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φ resulta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verdadera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(V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F)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¬V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¬F) = (V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F)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(F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= V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 V =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V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 marL="25200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800" dirty="0">
                <a:latin typeface="Arial" panose="020B0604020202020204" pitchFamily="34" charset="0"/>
                <a:ea typeface="Times New Roman" panose="02020603050405020304" pitchFamily="18" charset="0"/>
              </a:rPr>
              <a:t>	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 si x</a:t>
            </a:r>
            <a:r>
              <a:rPr lang="es-ES" sz="1800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= V y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ES" sz="1800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= V, entonces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φ resulta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falsa</a:t>
            </a:r>
            <a:r>
              <a:rPr lang="es-ES" sz="1800" dirty="0"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  (V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V)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¬V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¬V) = (V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V)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(F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= V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  F =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F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  <a:p>
            <a:pPr marL="25200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1800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52000" algn="just">
              <a:lnSpc>
                <a:spcPct val="110000"/>
              </a:lnSpc>
              <a:spcBef>
                <a:spcPts val="0"/>
              </a:spcBef>
            </a:pP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Una fórmula booleana 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φ 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 </a:t>
            </a:r>
            <a:r>
              <a:rPr lang="es-ES" sz="180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satisfactible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si existe al menos una asignación de valores de verdad que la evalúa verdadera. Por ejemplo, la fórmula anterior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φ = (x</a:t>
            </a:r>
            <a:r>
              <a:rPr lang="es-ES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x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ES" sz="1800" b="1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¬x</a:t>
            </a:r>
            <a:r>
              <a:rPr lang="es-ES" sz="1800" b="1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es </a:t>
            </a:r>
            <a:r>
              <a:rPr lang="es-E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satisfactible</a:t>
            </a:r>
            <a:r>
              <a:rPr lang="es-E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En cambio, la fórmula</a:t>
            </a:r>
          </a:p>
          <a:p>
            <a:pPr marL="2340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s-E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   φ = (x</a:t>
            </a:r>
            <a:r>
              <a:rPr lang="es-ES" sz="1800" b="1" baseline="-25000" dirty="0"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x</a:t>
            </a:r>
            <a:r>
              <a:rPr lang="es-ES" sz="1800" b="1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s-E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¬</a:t>
            </a:r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es-ES" sz="1800" b="1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1</a:t>
            </a:r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¬x</a:t>
            </a:r>
            <a:r>
              <a:rPr lang="es-ES" sz="1800" b="1" baseline="-25000" dirty="0"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s-E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) no es </a:t>
            </a:r>
            <a:r>
              <a:rPr lang="es-ES" sz="1800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satisfactible</a:t>
            </a:r>
            <a:r>
              <a:rPr lang="es-ES" sz="1800" dirty="0"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s-E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252000" algn="just">
              <a:lnSpc>
                <a:spcPct val="110000"/>
              </a:lnSpc>
              <a:spcBef>
                <a:spcPts val="0"/>
              </a:spcBef>
            </a:pPr>
            <a:endParaRPr lang="es-ES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endParaRPr lang="es-ES" sz="8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F9999B7-D98C-4FBE-8454-C67950B3D5E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8ADF098-8210-D4A3-8BEF-0AEE45F075F7}"/>
              </a:ext>
            </a:extLst>
          </p:cNvPr>
          <p:cNvSpPr txBox="1">
            <a:spLocks/>
          </p:cNvSpPr>
          <p:nvPr/>
        </p:nvSpPr>
        <p:spPr>
          <a:xfrm>
            <a:off x="301879" y="91086"/>
            <a:ext cx="11751576" cy="8685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Repaso de algunos conceptos matemáticos básicos (continuación)</a:t>
            </a:r>
          </a:p>
        </p:txBody>
      </p:sp>
    </p:spTree>
    <p:extLst>
      <p:ext uri="{BB962C8B-B14F-4D97-AF65-F5344CB8AC3E}">
        <p14:creationId xmlns:p14="http://schemas.microsoft.com/office/powerpoint/2010/main" val="782233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ángulo 61">
            <a:extLst>
              <a:ext uri="{FF2B5EF4-FFF2-40B4-BE49-F238E27FC236}">
                <a16:creationId xmlns:a16="http://schemas.microsoft.com/office/drawing/2014/main" id="{C795E0A0-3FAC-4720-956E-4F48B07BC7C9}"/>
              </a:ext>
            </a:extLst>
          </p:cNvPr>
          <p:cNvSpPr/>
          <p:nvPr/>
        </p:nvSpPr>
        <p:spPr>
          <a:xfrm>
            <a:off x="239304" y="736750"/>
            <a:ext cx="1195146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Modelización muy simple de una computadora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aceptada universalmente para estudiar la computabilidad y la complejidad computacional de los problemas.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Ejemplo.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MT M que resuelve el problema de la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suma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de dos números naturales (enteros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 0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00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 se comporta de esta manera a partir de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todo par de números naturales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0" name="Slide Number Placeholder 2">
            <a:extLst>
              <a:ext uri="{FF2B5EF4-FFF2-40B4-BE49-F238E27FC236}">
                <a16:creationId xmlns:a16="http://schemas.microsoft.com/office/drawing/2014/main" id="{44F2E4EE-50DB-44CB-8EAF-55D9852039B5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0F111726-01C9-404D-A602-790787DB2839}"/>
              </a:ext>
            </a:extLst>
          </p:cNvPr>
          <p:cNvSpPr/>
          <p:nvPr/>
        </p:nvSpPr>
        <p:spPr>
          <a:xfrm>
            <a:off x="239304" y="274826"/>
            <a:ext cx="1139412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Máquina de Turing (MT). Generalidades.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881456-F217-6DE6-60E7-4D94D9C24622}"/>
              </a:ext>
            </a:extLst>
          </p:cNvPr>
          <p:cNvSpPr/>
          <p:nvPr/>
        </p:nvSpPr>
        <p:spPr>
          <a:xfrm>
            <a:off x="5668277" y="3013255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4CC77F8-DED4-5AF2-8D68-644601AAA827}"/>
              </a:ext>
            </a:extLst>
          </p:cNvPr>
          <p:cNvSpPr txBox="1">
            <a:spLocks/>
          </p:cNvSpPr>
          <p:nvPr/>
        </p:nvSpPr>
        <p:spPr>
          <a:xfrm>
            <a:off x="4084062" y="3164766"/>
            <a:ext cx="2605610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(2, 3)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ABE4500B-5710-F04A-785F-E969FD8EF3FE}"/>
              </a:ext>
            </a:extLst>
          </p:cNvPr>
          <p:cNvSpPr txBox="1">
            <a:spLocks/>
          </p:cNvSpPr>
          <p:nvPr/>
        </p:nvSpPr>
        <p:spPr>
          <a:xfrm>
            <a:off x="7604072" y="3174174"/>
            <a:ext cx="3600398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59BDA6E-56A1-D1D5-A7AB-7124D65659FD}"/>
              </a:ext>
            </a:extLst>
          </p:cNvPr>
          <p:cNvSpPr txBox="1">
            <a:spLocks/>
          </p:cNvSpPr>
          <p:nvPr/>
        </p:nvSpPr>
        <p:spPr>
          <a:xfrm>
            <a:off x="5715420" y="2752946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MT M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AA70FA3-50AF-C4D7-D194-D838D4339C05}"/>
              </a:ext>
            </a:extLst>
          </p:cNvPr>
          <p:cNvCxnSpPr>
            <a:cxnSpLocks/>
          </p:cNvCxnSpPr>
          <p:nvPr/>
        </p:nvCxnSpPr>
        <p:spPr>
          <a:xfrm>
            <a:off x="3107322" y="3466251"/>
            <a:ext cx="25609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7A397F6-1314-51E5-151E-CC05AA014BB5}"/>
              </a:ext>
            </a:extLst>
          </p:cNvPr>
          <p:cNvCxnSpPr>
            <a:cxnSpLocks/>
          </p:cNvCxnSpPr>
          <p:nvPr/>
        </p:nvCxnSpPr>
        <p:spPr>
          <a:xfrm>
            <a:off x="6582677" y="3470455"/>
            <a:ext cx="25609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4A31E47-C633-B19B-21C6-7AF638379460}"/>
              </a:ext>
            </a:extLst>
          </p:cNvPr>
          <p:cNvSpPr/>
          <p:nvPr/>
        </p:nvSpPr>
        <p:spPr>
          <a:xfrm>
            <a:off x="5668277" y="4362126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C2436DE3-F680-1525-3429-B8721163EB8C}"/>
              </a:ext>
            </a:extLst>
          </p:cNvPr>
          <p:cNvSpPr txBox="1">
            <a:spLocks/>
          </p:cNvSpPr>
          <p:nvPr/>
        </p:nvSpPr>
        <p:spPr>
          <a:xfrm>
            <a:off x="3977067" y="4513636"/>
            <a:ext cx="2605610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(12, 45)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14B30C20-A27E-4DFD-2187-BFAE5ABA3A75}"/>
              </a:ext>
            </a:extLst>
          </p:cNvPr>
          <p:cNvSpPr txBox="1">
            <a:spLocks/>
          </p:cNvSpPr>
          <p:nvPr/>
        </p:nvSpPr>
        <p:spPr>
          <a:xfrm>
            <a:off x="7604072" y="4523045"/>
            <a:ext cx="3600398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57</a:t>
            </a: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FB45394F-E917-99AC-D40E-EA8C8AA19968}"/>
              </a:ext>
            </a:extLst>
          </p:cNvPr>
          <p:cNvSpPr txBox="1">
            <a:spLocks/>
          </p:cNvSpPr>
          <p:nvPr/>
        </p:nvSpPr>
        <p:spPr>
          <a:xfrm>
            <a:off x="5715420" y="4101817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MT M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FD946124-E5A2-1F3A-468E-489FA20AC373}"/>
              </a:ext>
            </a:extLst>
          </p:cNvPr>
          <p:cNvCxnSpPr>
            <a:cxnSpLocks/>
          </p:cNvCxnSpPr>
          <p:nvPr/>
        </p:nvCxnSpPr>
        <p:spPr>
          <a:xfrm>
            <a:off x="3107322" y="4815122"/>
            <a:ext cx="25609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6EE0A30E-8AC9-910C-BEAD-99E5145F8CB2}"/>
              </a:ext>
            </a:extLst>
          </p:cNvPr>
          <p:cNvCxnSpPr>
            <a:cxnSpLocks/>
          </p:cNvCxnSpPr>
          <p:nvPr/>
        </p:nvCxnSpPr>
        <p:spPr>
          <a:xfrm>
            <a:off x="6582677" y="4819326"/>
            <a:ext cx="25609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291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iagrama de flujo: conector 46">
            <a:extLst>
              <a:ext uri="{FF2B5EF4-FFF2-40B4-BE49-F238E27FC236}">
                <a16:creationId xmlns:a16="http://schemas.microsoft.com/office/drawing/2014/main" id="{12AB9BB4-1DAF-4A4C-A1C4-4ED01BEC9F4A}"/>
              </a:ext>
            </a:extLst>
          </p:cNvPr>
          <p:cNvSpPr/>
          <p:nvPr/>
        </p:nvSpPr>
        <p:spPr>
          <a:xfrm>
            <a:off x="8330175" y="2244220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Diagrama de flujo: conector 47">
            <a:extLst>
              <a:ext uri="{FF2B5EF4-FFF2-40B4-BE49-F238E27FC236}">
                <a16:creationId xmlns:a16="http://schemas.microsoft.com/office/drawing/2014/main" id="{CD8CE771-3031-4388-A8F6-FF3EC467CAC4}"/>
              </a:ext>
            </a:extLst>
          </p:cNvPr>
          <p:cNvSpPr/>
          <p:nvPr/>
        </p:nvSpPr>
        <p:spPr>
          <a:xfrm>
            <a:off x="6604696" y="2244220"/>
            <a:ext cx="457200" cy="457200"/>
          </a:xfrm>
          <a:prstGeom prst="flowChartConnector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9" name="Diagrama de flujo: conector 48">
            <a:extLst>
              <a:ext uri="{FF2B5EF4-FFF2-40B4-BE49-F238E27FC236}">
                <a16:creationId xmlns:a16="http://schemas.microsoft.com/office/drawing/2014/main" id="{787BF2C7-CABD-4FCB-8727-EBB5D5749992}"/>
              </a:ext>
            </a:extLst>
          </p:cNvPr>
          <p:cNvSpPr/>
          <p:nvPr/>
        </p:nvSpPr>
        <p:spPr>
          <a:xfrm>
            <a:off x="8200943" y="398680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2" name="Diagrama de flujo: conector 51">
            <a:extLst>
              <a:ext uri="{FF2B5EF4-FFF2-40B4-BE49-F238E27FC236}">
                <a16:creationId xmlns:a16="http://schemas.microsoft.com/office/drawing/2014/main" id="{D0244AE2-D27D-46FE-8147-646A4D88BCCE}"/>
              </a:ext>
            </a:extLst>
          </p:cNvPr>
          <p:cNvSpPr/>
          <p:nvPr/>
        </p:nvSpPr>
        <p:spPr>
          <a:xfrm>
            <a:off x="7499996" y="1270592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3" name="Diagrama de flujo: conector 52">
            <a:extLst>
              <a:ext uri="{FF2B5EF4-FFF2-40B4-BE49-F238E27FC236}">
                <a16:creationId xmlns:a16="http://schemas.microsoft.com/office/drawing/2014/main" id="{D1758112-D08C-4FEC-B8D9-CC8FCFC500A7}"/>
              </a:ext>
            </a:extLst>
          </p:cNvPr>
          <p:cNvSpPr/>
          <p:nvPr/>
        </p:nvSpPr>
        <p:spPr>
          <a:xfrm>
            <a:off x="9827054" y="2472820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0" name="Diagrama de flujo: conector 79">
            <a:extLst>
              <a:ext uri="{FF2B5EF4-FFF2-40B4-BE49-F238E27FC236}">
                <a16:creationId xmlns:a16="http://schemas.microsoft.com/office/drawing/2014/main" id="{0703C7AC-F3CA-4978-B4C8-09D0EDAB38D8}"/>
              </a:ext>
            </a:extLst>
          </p:cNvPr>
          <p:cNvSpPr/>
          <p:nvPr/>
        </p:nvSpPr>
        <p:spPr>
          <a:xfrm>
            <a:off x="9192032" y="1226802"/>
            <a:ext cx="457200" cy="457200"/>
          </a:xfrm>
          <a:prstGeom prst="flowChartConnector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B04156B-D2B0-4619-8A07-0628DF00798B}"/>
              </a:ext>
            </a:extLst>
          </p:cNvPr>
          <p:cNvSpPr/>
          <p:nvPr/>
        </p:nvSpPr>
        <p:spPr>
          <a:xfrm>
            <a:off x="2569202" y="1426325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60B7C20A-6175-4886-AC43-CEDDE8CA5DEF}"/>
              </a:ext>
            </a:extLst>
          </p:cNvPr>
          <p:cNvCxnSpPr>
            <a:cxnSpLocks/>
          </p:cNvCxnSpPr>
          <p:nvPr/>
        </p:nvCxnSpPr>
        <p:spPr>
          <a:xfrm>
            <a:off x="1438048" y="1890322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D8F23AEC-FE70-4B2B-A685-CB5670CDA480}"/>
              </a:ext>
            </a:extLst>
          </p:cNvPr>
          <p:cNvCxnSpPr>
            <a:cxnSpLocks/>
          </p:cNvCxnSpPr>
          <p:nvPr/>
        </p:nvCxnSpPr>
        <p:spPr>
          <a:xfrm>
            <a:off x="3483602" y="1914385"/>
            <a:ext cx="147029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ángulo 84">
            <a:extLst>
              <a:ext uri="{FF2B5EF4-FFF2-40B4-BE49-F238E27FC236}">
                <a16:creationId xmlns:a16="http://schemas.microsoft.com/office/drawing/2014/main" id="{B01BEB68-9AD8-4028-B762-57AB6313DD95}"/>
              </a:ext>
            </a:extLst>
          </p:cNvPr>
          <p:cNvSpPr/>
          <p:nvPr/>
        </p:nvSpPr>
        <p:spPr>
          <a:xfrm>
            <a:off x="1875263" y="1532667"/>
            <a:ext cx="449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DD5D8605-49AB-4A0D-B4BC-A120B85B2AAC}"/>
              </a:ext>
            </a:extLst>
          </p:cNvPr>
          <p:cNvSpPr/>
          <p:nvPr/>
        </p:nvSpPr>
        <p:spPr>
          <a:xfrm>
            <a:off x="3571926" y="1560359"/>
            <a:ext cx="14855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(1, 2, 3, 5) 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88" name="Rectángulo 87">
            <a:extLst>
              <a:ext uri="{FF2B5EF4-FFF2-40B4-BE49-F238E27FC236}">
                <a16:creationId xmlns:a16="http://schemas.microsoft.com/office/drawing/2014/main" id="{E767066C-CEA8-43BD-9953-46C3CB2D1DC4}"/>
              </a:ext>
            </a:extLst>
          </p:cNvPr>
          <p:cNvSpPr/>
          <p:nvPr/>
        </p:nvSpPr>
        <p:spPr>
          <a:xfrm>
            <a:off x="2663819" y="1114155"/>
            <a:ext cx="770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MT M</a:t>
            </a:r>
          </a:p>
        </p:txBody>
      </p:sp>
      <p:sp>
        <p:nvSpPr>
          <p:cNvPr id="90" name="Rectángulo 89">
            <a:extLst>
              <a:ext uri="{FF2B5EF4-FFF2-40B4-BE49-F238E27FC236}">
                <a16:creationId xmlns:a16="http://schemas.microsoft.com/office/drawing/2014/main" id="{5F872964-8A23-418E-AC3E-6274DE24FDC3}"/>
              </a:ext>
            </a:extLst>
          </p:cNvPr>
          <p:cNvSpPr/>
          <p:nvPr/>
        </p:nvSpPr>
        <p:spPr>
          <a:xfrm>
            <a:off x="226409" y="197346"/>
            <a:ext cx="11495918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Otro ejemplo.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MT M que resuelve el problema de encontrar en un grafo no dirigido un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camino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del vértice inicial al vértice final (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de búsqueda,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como el del ejemplo anterior):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70000"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Cuando no hay solución, la MT M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responde no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0" name="Diagrama de flujo: conector 99">
            <a:extLst>
              <a:ext uri="{FF2B5EF4-FFF2-40B4-BE49-F238E27FC236}">
                <a16:creationId xmlns:a16="http://schemas.microsoft.com/office/drawing/2014/main" id="{2D05BCCA-898D-4F17-8418-F38A41422B22}"/>
              </a:ext>
            </a:extLst>
          </p:cNvPr>
          <p:cNvSpPr/>
          <p:nvPr/>
        </p:nvSpPr>
        <p:spPr>
          <a:xfrm>
            <a:off x="7077043" y="4525284"/>
            <a:ext cx="457200" cy="457200"/>
          </a:xfrm>
          <a:prstGeom prst="flowChartConnector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1" name="Diagrama de flujo: conector 100">
            <a:extLst>
              <a:ext uri="{FF2B5EF4-FFF2-40B4-BE49-F238E27FC236}">
                <a16:creationId xmlns:a16="http://schemas.microsoft.com/office/drawing/2014/main" id="{10A445A3-2876-4D9D-A806-C19AB73C12F3}"/>
              </a:ext>
            </a:extLst>
          </p:cNvPr>
          <p:cNvSpPr/>
          <p:nvPr/>
        </p:nvSpPr>
        <p:spPr>
          <a:xfrm>
            <a:off x="8345322" y="5128564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3" name="Diagrama de flujo: conector 102">
            <a:extLst>
              <a:ext uri="{FF2B5EF4-FFF2-40B4-BE49-F238E27FC236}">
                <a16:creationId xmlns:a16="http://schemas.microsoft.com/office/drawing/2014/main" id="{0F038DE3-B9B7-4183-AB75-CDF00126BFF2}"/>
              </a:ext>
            </a:extLst>
          </p:cNvPr>
          <p:cNvSpPr/>
          <p:nvPr/>
        </p:nvSpPr>
        <p:spPr>
          <a:xfrm>
            <a:off x="9909156" y="482125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4" name="Diagrama de flujo: conector 103">
            <a:extLst>
              <a:ext uri="{FF2B5EF4-FFF2-40B4-BE49-F238E27FC236}">
                <a16:creationId xmlns:a16="http://schemas.microsoft.com/office/drawing/2014/main" id="{CEADD292-83B1-4127-95ED-F79597B9DC97}"/>
              </a:ext>
            </a:extLst>
          </p:cNvPr>
          <p:cNvSpPr/>
          <p:nvPr/>
        </p:nvSpPr>
        <p:spPr>
          <a:xfrm>
            <a:off x="9168932" y="519495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05" name="Conector recto 104">
            <a:extLst>
              <a:ext uri="{FF2B5EF4-FFF2-40B4-BE49-F238E27FC236}">
                <a16:creationId xmlns:a16="http://schemas.microsoft.com/office/drawing/2014/main" id="{1058F782-8546-4CDC-BDF4-D84A5091AE85}"/>
              </a:ext>
            </a:extLst>
          </p:cNvPr>
          <p:cNvCxnSpPr>
            <a:endCxn id="101" idx="0"/>
          </p:cNvCxnSpPr>
          <p:nvPr/>
        </p:nvCxnSpPr>
        <p:spPr>
          <a:xfrm>
            <a:off x="8429543" y="4460204"/>
            <a:ext cx="144379" cy="6683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ector recto 105">
            <a:extLst>
              <a:ext uri="{FF2B5EF4-FFF2-40B4-BE49-F238E27FC236}">
                <a16:creationId xmlns:a16="http://schemas.microsoft.com/office/drawing/2014/main" id="{B9FBDC73-B028-4E3C-AF81-D67CF0B9F9BD}"/>
              </a:ext>
            </a:extLst>
          </p:cNvPr>
          <p:cNvCxnSpPr>
            <a:cxnSpLocks/>
          </p:cNvCxnSpPr>
          <p:nvPr/>
        </p:nvCxnSpPr>
        <p:spPr>
          <a:xfrm flipV="1">
            <a:off x="7559703" y="4338171"/>
            <a:ext cx="678993" cy="374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389BAF60-3FB2-4F6B-8C84-7D0414913101}"/>
              </a:ext>
            </a:extLst>
          </p:cNvPr>
          <p:cNvCxnSpPr>
            <a:endCxn id="103" idx="1"/>
          </p:cNvCxnSpPr>
          <p:nvPr/>
        </p:nvCxnSpPr>
        <p:spPr>
          <a:xfrm>
            <a:off x="8607399" y="4315050"/>
            <a:ext cx="1368712" cy="573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recto 108">
            <a:extLst>
              <a:ext uri="{FF2B5EF4-FFF2-40B4-BE49-F238E27FC236}">
                <a16:creationId xmlns:a16="http://schemas.microsoft.com/office/drawing/2014/main" id="{73D4EB8E-CD2A-4118-8365-33B41D26F21D}"/>
              </a:ext>
            </a:extLst>
          </p:cNvPr>
          <p:cNvCxnSpPr>
            <a:cxnSpLocks/>
            <a:endCxn id="80" idx="2"/>
          </p:cNvCxnSpPr>
          <p:nvPr/>
        </p:nvCxnSpPr>
        <p:spPr>
          <a:xfrm flipV="1">
            <a:off x="7936530" y="1455402"/>
            <a:ext cx="1255502" cy="450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cto 109">
            <a:extLst>
              <a:ext uri="{FF2B5EF4-FFF2-40B4-BE49-F238E27FC236}">
                <a16:creationId xmlns:a16="http://schemas.microsoft.com/office/drawing/2014/main" id="{4514A672-4BB1-46CA-A12D-E8602FF651EA}"/>
              </a:ext>
            </a:extLst>
          </p:cNvPr>
          <p:cNvCxnSpPr>
            <a:endCxn id="53" idx="2"/>
          </p:cNvCxnSpPr>
          <p:nvPr/>
        </p:nvCxnSpPr>
        <p:spPr>
          <a:xfrm>
            <a:off x="8787375" y="2476831"/>
            <a:ext cx="1039679" cy="22458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A4B42B62-C7FE-4520-93D9-A854AE145FD8}"/>
              </a:ext>
            </a:extLst>
          </p:cNvPr>
          <p:cNvCxnSpPr>
            <a:endCxn id="47" idx="2"/>
          </p:cNvCxnSpPr>
          <p:nvPr/>
        </p:nvCxnSpPr>
        <p:spPr>
          <a:xfrm>
            <a:off x="7072796" y="2433100"/>
            <a:ext cx="1257379" cy="3972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1523C574-3EB3-4E24-96CE-F60FFCF6B057}"/>
              </a:ext>
            </a:extLst>
          </p:cNvPr>
          <p:cNvCxnSpPr>
            <a:endCxn id="47" idx="1"/>
          </p:cNvCxnSpPr>
          <p:nvPr/>
        </p:nvCxnSpPr>
        <p:spPr>
          <a:xfrm>
            <a:off x="7872975" y="1702097"/>
            <a:ext cx="524155" cy="609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5E5FAE61-A83D-4C4A-81D5-AB98903FE291}"/>
              </a:ext>
            </a:extLst>
          </p:cNvPr>
          <p:cNvCxnSpPr>
            <a:endCxn id="53" idx="1"/>
          </p:cNvCxnSpPr>
          <p:nvPr/>
        </p:nvCxnSpPr>
        <p:spPr>
          <a:xfrm>
            <a:off x="9518064" y="1681351"/>
            <a:ext cx="375945" cy="85842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4C4E6E9-CCA1-4BB0-BBA0-3AAA4C87E83D}"/>
              </a:ext>
            </a:extLst>
          </p:cNvPr>
          <p:cNvSpPr/>
          <p:nvPr/>
        </p:nvSpPr>
        <p:spPr>
          <a:xfrm>
            <a:off x="8429543" y="5203439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54E073D-392B-45C1-9DBF-1E5E0B25B302}"/>
              </a:ext>
            </a:extLst>
          </p:cNvPr>
          <p:cNvSpPr/>
          <p:nvPr/>
        </p:nvSpPr>
        <p:spPr>
          <a:xfrm>
            <a:off x="9280356" y="126941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6" name="Rectángulo 115">
            <a:extLst>
              <a:ext uri="{FF2B5EF4-FFF2-40B4-BE49-F238E27FC236}">
                <a16:creationId xmlns:a16="http://schemas.microsoft.com/office/drawing/2014/main" id="{F9586FC7-0681-47F7-97C0-C7A072F51ABB}"/>
              </a:ext>
            </a:extLst>
          </p:cNvPr>
          <p:cNvSpPr/>
          <p:nvPr/>
        </p:nvSpPr>
        <p:spPr>
          <a:xfrm>
            <a:off x="8003891" y="950418"/>
            <a:ext cx="1039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grafo 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1F8A676-CF65-7DAB-89ED-CBE1777A78BF}"/>
              </a:ext>
            </a:extLst>
          </p:cNvPr>
          <p:cNvSpPr/>
          <p:nvPr/>
        </p:nvSpPr>
        <p:spPr>
          <a:xfrm>
            <a:off x="6681799" y="2299071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5D4B3B-4DCA-C06F-B0CA-88698AB431BF}"/>
              </a:ext>
            </a:extLst>
          </p:cNvPr>
          <p:cNvSpPr/>
          <p:nvPr/>
        </p:nvSpPr>
        <p:spPr>
          <a:xfrm>
            <a:off x="8429543" y="2330762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3B6ABA1-C0BF-C509-E7D7-BC5F8B95D64B}"/>
              </a:ext>
            </a:extLst>
          </p:cNvPr>
          <p:cNvSpPr/>
          <p:nvPr/>
        </p:nvSpPr>
        <p:spPr>
          <a:xfrm>
            <a:off x="9900834" y="252657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82B36D-E147-919B-9CBA-60F2F4E4FC3C}"/>
              </a:ext>
            </a:extLst>
          </p:cNvPr>
          <p:cNvSpPr/>
          <p:nvPr/>
        </p:nvSpPr>
        <p:spPr>
          <a:xfrm>
            <a:off x="7604992" y="13309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B4BB745-5E4D-5F9B-15B7-AF90A9B97194}"/>
              </a:ext>
            </a:extLst>
          </p:cNvPr>
          <p:cNvSpPr/>
          <p:nvPr/>
        </p:nvSpPr>
        <p:spPr>
          <a:xfrm>
            <a:off x="2591499" y="424580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9A765DD-0759-99C1-98C9-0B76A06D9A96}"/>
              </a:ext>
            </a:extLst>
          </p:cNvPr>
          <p:cNvCxnSpPr>
            <a:cxnSpLocks/>
          </p:cNvCxnSpPr>
          <p:nvPr/>
        </p:nvCxnSpPr>
        <p:spPr>
          <a:xfrm>
            <a:off x="1460345" y="4709806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BA45307A-BDD5-3622-CDD3-4A6AD1EEE463}"/>
              </a:ext>
            </a:extLst>
          </p:cNvPr>
          <p:cNvCxnSpPr>
            <a:cxnSpLocks/>
          </p:cNvCxnSpPr>
          <p:nvPr/>
        </p:nvCxnSpPr>
        <p:spPr>
          <a:xfrm>
            <a:off x="3505899" y="4733869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A312930-4F6D-6798-AA04-60645D4E8B0A}"/>
              </a:ext>
            </a:extLst>
          </p:cNvPr>
          <p:cNvSpPr/>
          <p:nvPr/>
        </p:nvSpPr>
        <p:spPr>
          <a:xfrm>
            <a:off x="1913737" y="4338171"/>
            <a:ext cx="449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41EDCE0-BFF5-4872-0C46-AF6E8ACB708C}"/>
              </a:ext>
            </a:extLst>
          </p:cNvPr>
          <p:cNvSpPr/>
          <p:nvPr/>
        </p:nvSpPr>
        <p:spPr>
          <a:xfrm>
            <a:off x="3794872" y="4364537"/>
            <a:ext cx="23180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B90C0C0-0689-C2B6-CC05-B5D5AA52BE2D}"/>
              </a:ext>
            </a:extLst>
          </p:cNvPr>
          <p:cNvSpPr/>
          <p:nvPr/>
        </p:nvSpPr>
        <p:spPr>
          <a:xfrm>
            <a:off x="2686116" y="3933639"/>
            <a:ext cx="770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MT M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23293DF-1155-4546-9E10-2115AC188849}"/>
              </a:ext>
            </a:extLst>
          </p:cNvPr>
          <p:cNvSpPr/>
          <p:nvPr/>
        </p:nvSpPr>
        <p:spPr>
          <a:xfrm>
            <a:off x="7163617" y="4599995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183E85E-4D4F-2E20-58F8-1C4D5AE90811}"/>
              </a:ext>
            </a:extLst>
          </p:cNvPr>
          <p:cNvSpPr/>
          <p:nvPr/>
        </p:nvSpPr>
        <p:spPr>
          <a:xfrm>
            <a:off x="8294030" y="4061517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8FD64D4-1421-1AE7-D152-96E6F69CA1A7}"/>
              </a:ext>
            </a:extLst>
          </p:cNvPr>
          <p:cNvSpPr/>
          <p:nvPr/>
        </p:nvSpPr>
        <p:spPr>
          <a:xfrm>
            <a:off x="9262376" y="5247545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172466C-62E2-7659-2A9F-F6F3ED42FB21}"/>
              </a:ext>
            </a:extLst>
          </p:cNvPr>
          <p:cNvSpPr/>
          <p:nvPr/>
        </p:nvSpPr>
        <p:spPr>
          <a:xfrm>
            <a:off x="9987312" y="4915529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5" name="Diagrama de flujo: conector 24">
            <a:extLst>
              <a:ext uri="{FF2B5EF4-FFF2-40B4-BE49-F238E27FC236}">
                <a16:creationId xmlns:a16="http://schemas.microsoft.com/office/drawing/2014/main" id="{7F94BF5F-1167-DE74-F05E-396A814A6A95}"/>
              </a:ext>
            </a:extLst>
          </p:cNvPr>
          <p:cNvSpPr/>
          <p:nvPr/>
        </p:nvSpPr>
        <p:spPr>
          <a:xfrm>
            <a:off x="10342945" y="5578553"/>
            <a:ext cx="457200" cy="457200"/>
          </a:xfrm>
          <a:prstGeom prst="flowChartConnector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26E6B38-3178-F553-37F8-9A2A12E1ADB7}"/>
              </a:ext>
            </a:extLst>
          </p:cNvPr>
          <p:cNvSpPr/>
          <p:nvPr/>
        </p:nvSpPr>
        <p:spPr>
          <a:xfrm>
            <a:off x="10421101" y="5672824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3B3E28E2-9D94-3469-1A6C-46E958958409}"/>
              </a:ext>
            </a:extLst>
          </p:cNvPr>
          <p:cNvCxnSpPr>
            <a:cxnSpLocks/>
          </p:cNvCxnSpPr>
          <p:nvPr/>
        </p:nvCxnSpPr>
        <p:spPr>
          <a:xfrm>
            <a:off x="9639872" y="5492286"/>
            <a:ext cx="688966" cy="250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B9EE8B7-513A-CFB2-B890-FDE3A3A8CD7C}"/>
              </a:ext>
            </a:extLst>
          </p:cNvPr>
          <p:cNvSpPr/>
          <p:nvPr/>
        </p:nvSpPr>
        <p:spPr>
          <a:xfrm>
            <a:off x="8105826" y="3499420"/>
            <a:ext cx="1039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grafo 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lide Number Placeholder 2">
            <a:extLst>
              <a:ext uri="{FF2B5EF4-FFF2-40B4-BE49-F238E27FC236}">
                <a16:creationId xmlns:a16="http://schemas.microsoft.com/office/drawing/2014/main" id="{780A257A-C804-C785-A73F-27646F42D11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3A32AD5-13EE-D575-CE6F-CB8856EFFEDD}"/>
              </a:ext>
            </a:extLst>
          </p:cNvPr>
          <p:cNvSpPr txBox="1"/>
          <p:nvPr/>
        </p:nvSpPr>
        <p:spPr>
          <a:xfrm>
            <a:off x="226409" y="2400798"/>
            <a:ext cx="6192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0000"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Cuando hay solución, la MT M devuelve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alguna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C2D5E9-497F-BF11-FAE8-B7F12E5A38A2}"/>
              </a:ext>
            </a:extLst>
          </p:cNvPr>
          <p:cNvSpPr txBox="1"/>
          <p:nvPr/>
        </p:nvSpPr>
        <p:spPr>
          <a:xfrm>
            <a:off x="3586432" y="6064179"/>
            <a:ext cx="6190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general consideraremos grafos no dirigidos.</a:t>
            </a:r>
          </a:p>
        </p:txBody>
      </p:sp>
    </p:spTree>
    <p:extLst>
      <p:ext uri="{BB962C8B-B14F-4D97-AF65-F5344CB8AC3E}">
        <p14:creationId xmlns:p14="http://schemas.microsoft.com/office/powerpoint/2010/main" val="619919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8B2A258D-CE9C-4D51-B4E3-9FC924972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1" y="2127324"/>
            <a:ext cx="4726983" cy="2386739"/>
          </a:xfrm>
        </p:spPr>
      </p:pic>
      <p:pic>
        <p:nvPicPr>
          <p:cNvPr id="11" name="Marcador de contenido 9">
            <a:extLst>
              <a:ext uri="{FF2B5EF4-FFF2-40B4-BE49-F238E27FC236}">
                <a16:creationId xmlns:a16="http://schemas.microsoft.com/office/drawing/2014/main" id="{B8AFB7E0-697D-4C24-8D69-46520B280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75" y="2340181"/>
            <a:ext cx="4726983" cy="2386739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718EDCF5-ADAC-4D5A-8B55-324643738DF5}"/>
              </a:ext>
            </a:extLst>
          </p:cNvPr>
          <p:cNvSpPr/>
          <p:nvPr/>
        </p:nvSpPr>
        <p:spPr>
          <a:xfrm>
            <a:off x="224584" y="199207"/>
            <a:ext cx="11588475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Otro ejemplo.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Problema similar al anterior, pero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más simple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: MT M que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decide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si un grafo tiene un camino del vértice inicial al vértice final (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de decisión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 En este tipo de problemas, la MT sólo responde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sí o no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acepta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rechaza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su entrada).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EF097A6-03F3-43C0-AAF8-1E3393F0C45F}"/>
              </a:ext>
            </a:extLst>
          </p:cNvPr>
          <p:cNvSpPr/>
          <p:nvPr/>
        </p:nvSpPr>
        <p:spPr>
          <a:xfrm>
            <a:off x="2665707" y="3663294"/>
            <a:ext cx="2584209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φ</a:t>
            </a:r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F2AC083-6CFD-4F42-A568-43293120AA0E}"/>
              </a:ext>
            </a:extLst>
          </p:cNvPr>
          <p:cNvSpPr/>
          <p:nvPr/>
        </p:nvSpPr>
        <p:spPr>
          <a:xfrm>
            <a:off x="1514823" y="2950176"/>
            <a:ext cx="360897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175F0704-CDD2-4B6F-A3CA-C52A1727F0E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19A8B31F-4A3C-6AA6-E26C-A2AD78B8E8FB}"/>
              </a:ext>
            </a:extLst>
          </p:cNvPr>
          <p:cNvSpPr/>
          <p:nvPr/>
        </p:nvSpPr>
        <p:spPr>
          <a:xfrm>
            <a:off x="8330175" y="2244220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5A512A3B-1F66-21F9-4BA2-76B54CDAA1B6}"/>
              </a:ext>
            </a:extLst>
          </p:cNvPr>
          <p:cNvSpPr/>
          <p:nvPr/>
        </p:nvSpPr>
        <p:spPr>
          <a:xfrm>
            <a:off x="6604696" y="2244220"/>
            <a:ext cx="457200" cy="457200"/>
          </a:xfrm>
          <a:prstGeom prst="flowChartConnector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Diagrama de flujo: conector 7">
            <a:extLst>
              <a:ext uri="{FF2B5EF4-FFF2-40B4-BE49-F238E27FC236}">
                <a16:creationId xmlns:a16="http://schemas.microsoft.com/office/drawing/2014/main" id="{DA8F51C9-FFD0-7658-D72E-3C5EEC14A377}"/>
              </a:ext>
            </a:extLst>
          </p:cNvPr>
          <p:cNvSpPr/>
          <p:nvPr/>
        </p:nvSpPr>
        <p:spPr>
          <a:xfrm>
            <a:off x="7499996" y="1270592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Diagrama de flujo: conector 8">
            <a:extLst>
              <a:ext uri="{FF2B5EF4-FFF2-40B4-BE49-F238E27FC236}">
                <a16:creationId xmlns:a16="http://schemas.microsoft.com/office/drawing/2014/main" id="{60E61A75-EE33-900B-12EA-4E97ADF1A57D}"/>
              </a:ext>
            </a:extLst>
          </p:cNvPr>
          <p:cNvSpPr/>
          <p:nvPr/>
        </p:nvSpPr>
        <p:spPr>
          <a:xfrm>
            <a:off x="9827054" y="2472820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Diagrama de flujo: conector 11">
            <a:extLst>
              <a:ext uri="{FF2B5EF4-FFF2-40B4-BE49-F238E27FC236}">
                <a16:creationId xmlns:a16="http://schemas.microsoft.com/office/drawing/2014/main" id="{4D9961DB-0339-3AA8-716D-EB504CD924E6}"/>
              </a:ext>
            </a:extLst>
          </p:cNvPr>
          <p:cNvSpPr/>
          <p:nvPr/>
        </p:nvSpPr>
        <p:spPr>
          <a:xfrm>
            <a:off x="9192032" y="1226802"/>
            <a:ext cx="457200" cy="457200"/>
          </a:xfrm>
          <a:prstGeom prst="flowChartConnector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FCD491EC-2111-4A85-4D4B-6D305BF58295}"/>
              </a:ext>
            </a:extLst>
          </p:cNvPr>
          <p:cNvCxnSpPr>
            <a:endCxn id="12" idx="2"/>
          </p:cNvCxnSpPr>
          <p:nvPr/>
        </p:nvCxnSpPr>
        <p:spPr>
          <a:xfrm flipV="1">
            <a:off x="7936530" y="1455402"/>
            <a:ext cx="1255502" cy="450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8A0F1A2C-7303-658B-CD78-CF1073244E57}"/>
              </a:ext>
            </a:extLst>
          </p:cNvPr>
          <p:cNvCxnSpPr>
            <a:endCxn id="9" idx="2"/>
          </p:cNvCxnSpPr>
          <p:nvPr/>
        </p:nvCxnSpPr>
        <p:spPr>
          <a:xfrm>
            <a:off x="8787375" y="2476831"/>
            <a:ext cx="1039679" cy="22458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CF8AD651-FE2A-3FF2-F006-62CAF66FA990}"/>
              </a:ext>
            </a:extLst>
          </p:cNvPr>
          <p:cNvCxnSpPr>
            <a:endCxn id="5" idx="2"/>
          </p:cNvCxnSpPr>
          <p:nvPr/>
        </p:nvCxnSpPr>
        <p:spPr>
          <a:xfrm>
            <a:off x="7072796" y="2433100"/>
            <a:ext cx="1257379" cy="3972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4E5EF1E9-6CA1-3DA1-069D-708EE13FAB68}"/>
              </a:ext>
            </a:extLst>
          </p:cNvPr>
          <p:cNvCxnSpPr>
            <a:endCxn id="5" idx="1"/>
          </p:cNvCxnSpPr>
          <p:nvPr/>
        </p:nvCxnSpPr>
        <p:spPr>
          <a:xfrm>
            <a:off x="7872975" y="1702097"/>
            <a:ext cx="524155" cy="6090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CC91028C-4B70-8E9A-F190-A45EE5AFD889}"/>
              </a:ext>
            </a:extLst>
          </p:cNvPr>
          <p:cNvCxnSpPr>
            <a:endCxn id="9" idx="1"/>
          </p:cNvCxnSpPr>
          <p:nvPr/>
        </p:nvCxnSpPr>
        <p:spPr>
          <a:xfrm>
            <a:off x="9518064" y="1681351"/>
            <a:ext cx="375945" cy="858424"/>
          </a:xfrm>
          <a:prstGeom prst="line">
            <a:avLst/>
          </a:prstGeom>
          <a:ln w="63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ángulo 57">
            <a:extLst>
              <a:ext uri="{FF2B5EF4-FFF2-40B4-BE49-F238E27FC236}">
                <a16:creationId xmlns:a16="http://schemas.microsoft.com/office/drawing/2014/main" id="{8320A5D7-D6A4-9921-FF1C-CAE9954356BD}"/>
              </a:ext>
            </a:extLst>
          </p:cNvPr>
          <p:cNvSpPr/>
          <p:nvPr/>
        </p:nvSpPr>
        <p:spPr>
          <a:xfrm>
            <a:off x="9280356" y="1269411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5298D70-0667-6E68-D8FB-F7EBD0B93448}"/>
              </a:ext>
            </a:extLst>
          </p:cNvPr>
          <p:cNvSpPr/>
          <p:nvPr/>
        </p:nvSpPr>
        <p:spPr>
          <a:xfrm>
            <a:off x="8003891" y="950418"/>
            <a:ext cx="1039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grafo 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6EF7C5F4-B52B-3A93-1567-FCA20301871E}"/>
              </a:ext>
            </a:extLst>
          </p:cNvPr>
          <p:cNvSpPr/>
          <p:nvPr/>
        </p:nvSpPr>
        <p:spPr>
          <a:xfrm>
            <a:off x="6681799" y="2299071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56E1CC4C-558D-2ADE-EDB0-40ECC7EC87C4}"/>
              </a:ext>
            </a:extLst>
          </p:cNvPr>
          <p:cNvSpPr/>
          <p:nvPr/>
        </p:nvSpPr>
        <p:spPr>
          <a:xfrm>
            <a:off x="8429543" y="2330762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9AA86D08-7234-DD93-7E82-C70032A6AEB0}"/>
              </a:ext>
            </a:extLst>
          </p:cNvPr>
          <p:cNvSpPr/>
          <p:nvPr/>
        </p:nvSpPr>
        <p:spPr>
          <a:xfrm>
            <a:off x="9900834" y="252657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6FD75A36-6F83-7F39-2F72-7309011B076F}"/>
              </a:ext>
            </a:extLst>
          </p:cNvPr>
          <p:cNvSpPr/>
          <p:nvPr/>
        </p:nvSpPr>
        <p:spPr>
          <a:xfrm>
            <a:off x="7604992" y="13309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D3E7F343-F147-B040-F63C-4875E96A25A7}"/>
              </a:ext>
            </a:extLst>
          </p:cNvPr>
          <p:cNvSpPr/>
          <p:nvPr/>
        </p:nvSpPr>
        <p:spPr>
          <a:xfrm>
            <a:off x="2569202" y="1426325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2" name="Conector recto de flecha 71">
            <a:extLst>
              <a:ext uri="{FF2B5EF4-FFF2-40B4-BE49-F238E27FC236}">
                <a16:creationId xmlns:a16="http://schemas.microsoft.com/office/drawing/2014/main" id="{31ADF46E-4A94-D873-E4BE-56A21D597FE6}"/>
              </a:ext>
            </a:extLst>
          </p:cNvPr>
          <p:cNvCxnSpPr>
            <a:cxnSpLocks/>
          </p:cNvCxnSpPr>
          <p:nvPr/>
        </p:nvCxnSpPr>
        <p:spPr>
          <a:xfrm>
            <a:off x="1438048" y="1890322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ángulo 73">
            <a:extLst>
              <a:ext uri="{FF2B5EF4-FFF2-40B4-BE49-F238E27FC236}">
                <a16:creationId xmlns:a16="http://schemas.microsoft.com/office/drawing/2014/main" id="{4BD689A5-22FC-B93A-8AF5-A86971E932D1}"/>
              </a:ext>
            </a:extLst>
          </p:cNvPr>
          <p:cNvSpPr/>
          <p:nvPr/>
        </p:nvSpPr>
        <p:spPr>
          <a:xfrm>
            <a:off x="1875263" y="1532667"/>
            <a:ext cx="449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4C7822CF-F1D9-7111-721F-8EB742B59D46}"/>
              </a:ext>
            </a:extLst>
          </p:cNvPr>
          <p:cNvSpPr/>
          <p:nvPr/>
        </p:nvSpPr>
        <p:spPr>
          <a:xfrm>
            <a:off x="3794872" y="1553484"/>
            <a:ext cx="14855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</a:p>
        </p:txBody>
      </p:sp>
      <p:sp>
        <p:nvSpPr>
          <p:cNvPr id="76" name="Rectángulo 75">
            <a:extLst>
              <a:ext uri="{FF2B5EF4-FFF2-40B4-BE49-F238E27FC236}">
                <a16:creationId xmlns:a16="http://schemas.microsoft.com/office/drawing/2014/main" id="{C5572DF3-24C9-E6C5-4F1A-3B3B140A991C}"/>
              </a:ext>
            </a:extLst>
          </p:cNvPr>
          <p:cNvSpPr/>
          <p:nvPr/>
        </p:nvSpPr>
        <p:spPr>
          <a:xfrm>
            <a:off x="2663819" y="1114155"/>
            <a:ext cx="770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MT M</a:t>
            </a:r>
          </a:p>
        </p:txBody>
      </p:sp>
      <p:sp>
        <p:nvSpPr>
          <p:cNvPr id="77" name="Rectángulo 76">
            <a:extLst>
              <a:ext uri="{FF2B5EF4-FFF2-40B4-BE49-F238E27FC236}">
                <a16:creationId xmlns:a16="http://schemas.microsoft.com/office/drawing/2014/main" id="{25F5B01D-3ACF-E741-C091-FAB153F39998}"/>
              </a:ext>
            </a:extLst>
          </p:cNvPr>
          <p:cNvSpPr/>
          <p:nvPr/>
        </p:nvSpPr>
        <p:spPr>
          <a:xfrm>
            <a:off x="2591499" y="424580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8" name="Conector recto de flecha 77">
            <a:extLst>
              <a:ext uri="{FF2B5EF4-FFF2-40B4-BE49-F238E27FC236}">
                <a16:creationId xmlns:a16="http://schemas.microsoft.com/office/drawing/2014/main" id="{5F002A4E-C3AE-611D-D6E5-5A557003A950}"/>
              </a:ext>
            </a:extLst>
          </p:cNvPr>
          <p:cNvCxnSpPr>
            <a:cxnSpLocks/>
          </p:cNvCxnSpPr>
          <p:nvPr/>
        </p:nvCxnSpPr>
        <p:spPr>
          <a:xfrm>
            <a:off x="1460345" y="4709806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de flecha 78">
            <a:extLst>
              <a:ext uri="{FF2B5EF4-FFF2-40B4-BE49-F238E27FC236}">
                <a16:creationId xmlns:a16="http://schemas.microsoft.com/office/drawing/2014/main" id="{9D7FC1BC-9602-660B-1E70-A74F09DE537A}"/>
              </a:ext>
            </a:extLst>
          </p:cNvPr>
          <p:cNvCxnSpPr>
            <a:cxnSpLocks/>
          </p:cNvCxnSpPr>
          <p:nvPr/>
        </p:nvCxnSpPr>
        <p:spPr>
          <a:xfrm>
            <a:off x="3505899" y="4733869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AB671C14-BB54-E237-4C2C-B4962BD8F955}"/>
              </a:ext>
            </a:extLst>
          </p:cNvPr>
          <p:cNvSpPr/>
          <p:nvPr/>
        </p:nvSpPr>
        <p:spPr>
          <a:xfrm>
            <a:off x="1913737" y="4338171"/>
            <a:ext cx="4491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5992F98C-E819-A34F-4831-C02729E5CD28}"/>
              </a:ext>
            </a:extLst>
          </p:cNvPr>
          <p:cNvSpPr/>
          <p:nvPr/>
        </p:nvSpPr>
        <p:spPr>
          <a:xfrm>
            <a:off x="3794872" y="4364537"/>
            <a:ext cx="23180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028DE455-F03B-AD2B-A7FD-33D42C05AC38}"/>
              </a:ext>
            </a:extLst>
          </p:cNvPr>
          <p:cNvSpPr/>
          <p:nvPr/>
        </p:nvSpPr>
        <p:spPr>
          <a:xfrm>
            <a:off x="2686116" y="3933639"/>
            <a:ext cx="770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MT M</a:t>
            </a:r>
          </a:p>
        </p:txBody>
      </p:sp>
      <p:cxnSp>
        <p:nvCxnSpPr>
          <p:cNvPr id="85" name="Conector recto de flecha 84">
            <a:extLst>
              <a:ext uri="{FF2B5EF4-FFF2-40B4-BE49-F238E27FC236}">
                <a16:creationId xmlns:a16="http://schemas.microsoft.com/office/drawing/2014/main" id="{BF8BC233-0874-D0BD-8DAD-9EE3A519A335}"/>
              </a:ext>
            </a:extLst>
          </p:cNvPr>
          <p:cNvCxnSpPr>
            <a:cxnSpLocks/>
          </p:cNvCxnSpPr>
          <p:nvPr/>
        </p:nvCxnSpPr>
        <p:spPr>
          <a:xfrm>
            <a:off x="3505899" y="1890322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Diagrama de flujo: conector 85">
            <a:extLst>
              <a:ext uri="{FF2B5EF4-FFF2-40B4-BE49-F238E27FC236}">
                <a16:creationId xmlns:a16="http://schemas.microsoft.com/office/drawing/2014/main" id="{52E1CA69-A8E3-4EDE-4B50-EEF578648F21}"/>
              </a:ext>
            </a:extLst>
          </p:cNvPr>
          <p:cNvSpPr/>
          <p:nvPr/>
        </p:nvSpPr>
        <p:spPr>
          <a:xfrm>
            <a:off x="8200943" y="398680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7" name="Diagrama de flujo: conector 86">
            <a:extLst>
              <a:ext uri="{FF2B5EF4-FFF2-40B4-BE49-F238E27FC236}">
                <a16:creationId xmlns:a16="http://schemas.microsoft.com/office/drawing/2014/main" id="{32F27F23-3643-F572-0841-D60AD3F5928A}"/>
              </a:ext>
            </a:extLst>
          </p:cNvPr>
          <p:cNvSpPr/>
          <p:nvPr/>
        </p:nvSpPr>
        <p:spPr>
          <a:xfrm>
            <a:off x="7077043" y="4525284"/>
            <a:ext cx="457200" cy="457200"/>
          </a:xfrm>
          <a:prstGeom prst="flowChartConnector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8" name="Diagrama de flujo: conector 87">
            <a:extLst>
              <a:ext uri="{FF2B5EF4-FFF2-40B4-BE49-F238E27FC236}">
                <a16:creationId xmlns:a16="http://schemas.microsoft.com/office/drawing/2014/main" id="{405F6F25-60B4-7D94-A16F-89818695CFF6}"/>
              </a:ext>
            </a:extLst>
          </p:cNvPr>
          <p:cNvSpPr/>
          <p:nvPr/>
        </p:nvSpPr>
        <p:spPr>
          <a:xfrm>
            <a:off x="8345322" y="5128564"/>
            <a:ext cx="457200" cy="45720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9" name="Diagrama de flujo: conector 88">
            <a:extLst>
              <a:ext uri="{FF2B5EF4-FFF2-40B4-BE49-F238E27FC236}">
                <a16:creationId xmlns:a16="http://schemas.microsoft.com/office/drawing/2014/main" id="{3DDDF84A-A555-86EE-7D68-118D507CBAA9}"/>
              </a:ext>
            </a:extLst>
          </p:cNvPr>
          <p:cNvSpPr/>
          <p:nvPr/>
        </p:nvSpPr>
        <p:spPr>
          <a:xfrm>
            <a:off x="9909156" y="4821258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0" name="Diagrama de flujo: conector 89">
            <a:extLst>
              <a:ext uri="{FF2B5EF4-FFF2-40B4-BE49-F238E27FC236}">
                <a16:creationId xmlns:a16="http://schemas.microsoft.com/office/drawing/2014/main" id="{0FB401C5-932A-6289-E15E-12811F5648B8}"/>
              </a:ext>
            </a:extLst>
          </p:cNvPr>
          <p:cNvSpPr/>
          <p:nvPr/>
        </p:nvSpPr>
        <p:spPr>
          <a:xfrm>
            <a:off x="9168932" y="5194959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A98EF385-23D8-A6AF-0D11-5330B8AFF666}"/>
              </a:ext>
            </a:extLst>
          </p:cNvPr>
          <p:cNvCxnSpPr>
            <a:endCxn id="88" idx="0"/>
          </p:cNvCxnSpPr>
          <p:nvPr/>
        </p:nvCxnSpPr>
        <p:spPr>
          <a:xfrm>
            <a:off x="8429543" y="4460204"/>
            <a:ext cx="144379" cy="6683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652664A4-8DD2-4885-AD3D-B7688875F357}"/>
              </a:ext>
            </a:extLst>
          </p:cNvPr>
          <p:cNvCxnSpPr/>
          <p:nvPr/>
        </p:nvCxnSpPr>
        <p:spPr>
          <a:xfrm flipV="1">
            <a:off x="7559703" y="4315050"/>
            <a:ext cx="703930" cy="398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508E8A1E-B0F1-588F-F358-4D1FA79AC701}"/>
              </a:ext>
            </a:extLst>
          </p:cNvPr>
          <p:cNvCxnSpPr>
            <a:endCxn id="89" idx="1"/>
          </p:cNvCxnSpPr>
          <p:nvPr/>
        </p:nvCxnSpPr>
        <p:spPr>
          <a:xfrm>
            <a:off x="8607399" y="4315050"/>
            <a:ext cx="1368712" cy="5731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ángulo 93">
            <a:extLst>
              <a:ext uri="{FF2B5EF4-FFF2-40B4-BE49-F238E27FC236}">
                <a16:creationId xmlns:a16="http://schemas.microsoft.com/office/drawing/2014/main" id="{0AA50FD7-7588-5CCD-0AE5-D7A5027677E0}"/>
              </a:ext>
            </a:extLst>
          </p:cNvPr>
          <p:cNvSpPr/>
          <p:nvPr/>
        </p:nvSpPr>
        <p:spPr>
          <a:xfrm>
            <a:off x="8429543" y="5203439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5" name="Rectángulo 94">
            <a:extLst>
              <a:ext uri="{FF2B5EF4-FFF2-40B4-BE49-F238E27FC236}">
                <a16:creationId xmlns:a16="http://schemas.microsoft.com/office/drawing/2014/main" id="{A52947E3-D78C-5444-C26B-9C7F08E151AA}"/>
              </a:ext>
            </a:extLst>
          </p:cNvPr>
          <p:cNvSpPr/>
          <p:nvPr/>
        </p:nvSpPr>
        <p:spPr>
          <a:xfrm>
            <a:off x="7163617" y="4599995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6" name="Rectángulo 95">
            <a:extLst>
              <a:ext uri="{FF2B5EF4-FFF2-40B4-BE49-F238E27FC236}">
                <a16:creationId xmlns:a16="http://schemas.microsoft.com/office/drawing/2014/main" id="{7ED86F2E-A8EE-8A36-0975-AFA6747CB22E}"/>
              </a:ext>
            </a:extLst>
          </p:cNvPr>
          <p:cNvSpPr/>
          <p:nvPr/>
        </p:nvSpPr>
        <p:spPr>
          <a:xfrm>
            <a:off x="8294030" y="4061517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7" name="Rectángulo 96">
            <a:extLst>
              <a:ext uri="{FF2B5EF4-FFF2-40B4-BE49-F238E27FC236}">
                <a16:creationId xmlns:a16="http://schemas.microsoft.com/office/drawing/2014/main" id="{7C054FC0-15B6-4BA6-4C17-B9FA29A0185C}"/>
              </a:ext>
            </a:extLst>
          </p:cNvPr>
          <p:cNvSpPr/>
          <p:nvPr/>
        </p:nvSpPr>
        <p:spPr>
          <a:xfrm>
            <a:off x="9262376" y="5247545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8" name="Rectángulo 97">
            <a:extLst>
              <a:ext uri="{FF2B5EF4-FFF2-40B4-BE49-F238E27FC236}">
                <a16:creationId xmlns:a16="http://schemas.microsoft.com/office/drawing/2014/main" id="{C2F5A1E1-7543-C6B6-18AB-6FAF01AA9AD6}"/>
              </a:ext>
            </a:extLst>
          </p:cNvPr>
          <p:cNvSpPr/>
          <p:nvPr/>
        </p:nvSpPr>
        <p:spPr>
          <a:xfrm>
            <a:off x="9987312" y="4915529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9" name="Diagrama de flujo: conector 98">
            <a:extLst>
              <a:ext uri="{FF2B5EF4-FFF2-40B4-BE49-F238E27FC236}">
                <a16:creationId xmlns:a16="http://schemas.microsoft.com/office/drawing/2014/main" id="{93B4C715-7F48-2B83-36F7-F7A585F18291}"/>
              </a:ext>
            </a:extLst>
          </p:cNvPr>
          <p:cNvSpPr/>
          <p:nvPr/>
        </p:nvSpPr>
        <p:spPr>
          <a:xfrm>
            <a:off x="10342945" y="5578553"/>
            <a:ext cx="457200" cy="457200"/>
          </a:xfrm>
          <a:prstGeom prst="flowChartConnector">
            <a:avLst/>
          </a:prstGeom>
          <a:solidFill>
            <a:schemeClr val="bg1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017A666D-CF2D-48B0-4387-334EB6A66577}"/>
              </a:ext>
            </a:extLst>
          </p:cNvPr>
          <p:cNvSpPr/>
          <p:nvPr/>
        </p:nvSpPr>
        <p:spPr>
          <a:xfrm>
            <a:off x="10421101" y="5672824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F23F883C-B6D7-1604-7AA2-DE2B3BAA63DC}"/>
              </a:ext>
            </a:extLst>
          </p:cNvPr>
          <p:cNvCxnSpPr>
            <a:cxnSpLocks/>
          </p:cNvCxnSpPr>
          <p:nvPr/>
        </p:nvCxnSpPr>
        <p:spPr>
          <a:xfrm>
            <a:off x="9639872" y="5492286"/>
            <a:ext cx="688966" cy="250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7F95C7F3-01D8-5179-68E6-8342795E48C0}"/>
              </a:ext>
            </a:extLst>
          </p:cNvPr>
          <p:cNvSpPr/>
          <p:nvPr/>
        </p:nvSpPr>
        <p:spPr>
          <a:xfrm>
            <a:off x="8105826" y="3499420"/>
            <a:ext cx="1039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grafo 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350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8B2A258D-CE9C-4D51-B4E3-9FC924972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94" y="2155758"/>
            <a:ext cx="4726983" cy="2386739"/>
          </a:xfrm>
        </p:spPr>
      </p:pic>
      <p:pic>
        <p:nvPicPr>
          <p:cNvPr id="11" name="Marcador de contenido 9">
            <a:extLst>
              <a:ext uri="{FF2B5EF4-FFF2-40B4-BE49-F238E27FC236}">
                <a16:creationId xmlns:a16="http://schemas.microsoft.com/office/drawing/2014/main" id="{B8AFB7E0-697D-4C24-8D69-46520B280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235" y="2320890"/>
            <a:ext cx="4726983" cy="2386739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718EDCF5-ADAC-4D5A-8B55-324643738DF5}"/>
              </a:ext>
            </a:extLst>
          </p:cNvPr>
          <p:cNvSpPr/>
          <p:nvPr/>
        </p:nvSpPr>
        <p:spPr>
          <a:xfrm>
            <a:off x="224584" y="199207"/>
            <a:ext cx="112209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Otro ejemplo.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MT M que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decide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si una fórmula booleana es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satisfactible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(otro ejemplo de 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 de decisión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EF097A6-03F3-43C0-AAF8-1E3393F0C45F}"/>
              </a:ext>
            </a:extLst>
          </p:cNvPr>
          <p:cNvSpPr/>
          <p:nvPr/>
        </p:nvSpPr>
        <p:spPr>
          <a:xfrm>
            <a:off x="2665707" y="3663294"/>
            <a:ext cx="2584209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φ</a:t>
            </a:r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F2AC083-6CFD-4F42-A568-43293120AA0E}"/>
              </a:ext>
            </a:extLst>
          </p:cNvPr>
          <p:cNvSpPr/>
          <p:nvPr/>
        </p:nvSpPr>
        <p:spPr>
          <a:xfrm>
            <a:off x="1514823" y="2950176"/>
            <a:ext cx="360897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175F0704-CDD2-4B6F-A3CA-C52A1727F0E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pic>
        <p:nvPicPr>
          <p:cNvPr id="5" name="Marcador de contenido 9">
            <a:extLst>
              <a:ext uri="{FF2B5EF4-FFF2-40B4-BE49-F238E27FC236}">
                <a16:creationId xmlns:a16="http://schemas.microsoft.com/office/drawing/2014/main" id="{50871412-D88F-9C2B-95E3-D9A533A9C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311" y="2127324"/>
            <a:ext cx="4726983" cy="2386739"/>
          </a:xfrm>
          <a:prstGeom prst="rect">
            <a:avLst/>
          </a:prstGeom>
        </p:spPr>
      </p:pic>
      <p:pic>
        <p:nvPicPr>
          <p:cNvPr id="6" name="Marcador de contenido 9">
            <a:extLst>
              <a:ext uri="{FF2B5EF4-FFF2-40B4-BE49-F238E27FC236}">
                <a16:creationId xmlns:a16="http://schemas.microsoft.com/office/drawing/2014/main" id="{CBCBE01D-CF96-7912-BAAF-1BFC699D4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75" y="2340181"/>
            <a:ext cx="4726983" cy="2386739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8661FED-D8B5-FD2D-DC3A-6C446526792E}"/>
              </a:ext>
            </a:extLst>
          </p:cNvPr>
          <p:cNvSpPr/>
          <p:nvPr/>
        </p:nvSpPr>
        <p:spPr>
          <a:xfrm>
            <a:off x="2665707" y="3663294"/>
            <a:ext cx="2584209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/>
              <a:t>φ</a:t>
            </a:r>
            <a:endParaRPr lang="es-MX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0B910E8-471C-E189-D399-CBCF62513213}"/>
              </a:ext>
            </a:extLst>
          </p:cNvPr>
          <p:cNvSpPr/>
          <p:nvPr/>
        </p:nvSpPr>
        <p:spPr>
          <a:xfrm>
            <a:off x="1514823" y="2950176"/>
            <a:ext cx="360897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597731-7205-2C91-FE7C-980BA5ECFDBD}"/>
              </a:ext>
            </a:extLst>
          </p:cNvPr>
          <p:cNvSpPr/>
          <p:nvPr/>
        </p:nvSpPr>
        <p:spPr>
          <a:xfrm>
            <a:off x="2569202" y="1426325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26A789B8-D2A0-A3AE-A1BB-A4BCD4FE3FFB}"/>
              </a:ext>
            </a:extLst>
          </p:cNvPr>
          <p:cNvCxnSpPr>
            <a:cxnSpLocks/>
          </p:cNvCxnSpPr>
          <p:nvPr/>
        </p:nvCxnSpPr>
        <p:spPr>
          <a:xfrm>
            <a:off x="1438048" y="1890322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7C4B8CD-1D0B-7552-3D5A-B8E30144F7AD}"/>
              </a:ext>
            </a:extLst>
          </p:cNvPr>
          <p:cNvSpPr/>
          <p:nvPr/>
        </p:nvSpPr>
        <p:spPr>
          <a:xfrm>
            <a:off x="1875263" y="1532667"/>
            <a:ext cx="4828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CEB249C-39BE-4B11-18CC-2F9715E82E97}"/>
              </a:ext>
            </a:extLst>
          </p:cNvPr>
          <p:cNvSpPr/>
          <p:nvPr/>
        </p:nvSpPr>
        <p:spPr>
          <a:xfrm>
            <a:off x="3794872" y="1553484"/>
            <a:ext cx="14855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92135A6-EA8B-3148-3641-A7E9752E73CC}"/>
              </a:ext>
            </a:extLst>
          </p:cNvPr>
          <p:cNvSpPr/>
          <p:nvPr/>
        </p:nvSpPr>
        <p:spPr>
          <a:xfrm>
            <a:off x="2663819" y="1114155"/>
            <a:ext cx="770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MT M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B742950-FA14-4E0E-1F5B-D914A5CB1B47}"/>
              </a:ext>
            </a:extLst>
          </p:cNvPr>
          <p:cNvSpPr/>
          <p:nvPr/>
        </p:nvSpPr>
        <p:spPr>
          <a:xfrm>
            <a:off x="2591499" y="424580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20E15B2-9290-14BA-17B6-CB7DF3560873}"/>
              </a:ext>
            </a:extLst>
          </p:cNvPr>
          <p:cNvCxnSpPr>
            <a:cxnSpLocks/>
          </p:cNvCxnSpPr>
          <p:nvPr/>
        </p:nvCxnSpPr>
        <p:spPr>
          <a:xfrm>
            <a:off x="1460345" y="4709806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468DC79E-B714-56BA-874F-C8D627AD15EC}"/>
              </a:ext>
            </a:extLst>
          </p:cNvPr>
          <p:cNvCxnSpPr>
            <a:cxnSpLocks/>
          </p:cNvCxnSpPr>
          <p:nvPr/>
        </p:nvCxnSpPr>
        <p:spPr>
          <a:xfrm>
            <a:off x="3505899" y="4733869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C24555C-434F-4D95-78ED-DF7CEA841B32}"/>
              </a:ext>
            </a:extLst>
          </p:cNvPr>
          <p:cNvSpPr/>
          <p:nvPr/>
        </p:nvSpPr>
        <p:spPr>
          <a:xfrm>
            <a:off x="1913737" y="4338171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3595A1C-28AF-C7E8-7889-0C8015D782FE}"/>
              </a:ext>
            </a:extLst>
          </p:cNvPr>
          <p:cNvSpPr/>
          <p:nvPr/>
        </p:nvSpPr>
        <p:spPr>
          <a:xfrm>
            <a:off x="2686116" y="3933639"/>
            <a:ext cx="770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MT M</a:t>
            </a:r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9525B6C1-1542-0A60-766B-903FBED46263}"/>
              </a:ext>
            </a:extLst>
          </p:cNvPr>
          <p:cNvCxnSpPr>
            <a:cxnSpLocks/>
          </p:cNvCxnSpPr>
          <p:nvPr/>
        </p:nvCxnSpPr>
        <p:spPr>
          <a:xfrm>
            <a:off x="3505899" y="1890322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F269669-FDD0-6679-06F9-A1E648FF48BE}"/>
              </a:ext>
            </a:extLst>
          </p:cNvPr>
          <p:cNvSpPr/>
          <p:nvPr/>
        </p:nvSpPr>
        <p:spPr>
          <a:xfrm>
            <a:off x="3891591" y="4375430"/>
            <a:ext cx="14855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4FA580B8-C34C-1F33-A892-F1DBCF10FF34}"/>
              </a:ext>
            </a:extLst>
          </p:cNvPr>
          <p:cNvSpPr txBox="1"/>
          <p:nvPr/>
        </p:nvSpPr>
        <p:spPr>
          <a:xfrm>
            <a:off x="5520294" y="1278377"/>
            <a:ext cx="599812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φ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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(x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ejemplo, la asignación </a:t>
            </a:r>
            <a:r>
              <a:rPr lang="es-AR" dirty="0">
                <a:latin typeface="Lucida Calligraphy" panose="03010101010101010101" pitchFamily="66" charset="0"/>
                <a:cs typeface="Arial" panose="020B0604020202020204" pitchFamily="34" charset="0"/>
              </a:rPr>
              <a:t>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= (V, F, V, V) satisface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s-AR" sz="12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(x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	         </a:t>
            </a:r>
            <a:r>
              <a:rPr lang="es-E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s-ES" sz="12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s-E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s-E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</a:t>
            </a:r>
            <a:r>
              <a:rPr lang="es-ES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s-ES" sz="1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s-ES" sz="1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es-ES" sz="1400" b="1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</a:t>
            </a:r>
            <a:r>
              <a:rPr lang="es-E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</a:t>
            </a:r>
            <a:r>
              <a:rPr lang="es-ES" sz="1000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</a:t>
            </a:r>
            <a:endParaRPr lang="es-ES" sz="1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EC207FE-BB3C-6A06-A7E8-97E6BDE802CB}"/>
              </a:ext>
            </a:extLst>
          </p:cNvPr>
          <p:cNvSpPr txBox="1"/>
          <p:nvPr/>
        </p:nvSpPr>
        <p:spPr>
          <a:xfrm>
            <a:off x="5594502" y="4206257"/>
            <a:ext cx="4261388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φ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b="1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¬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endParaRPr lang="es-AR" b="1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No existe asignación que satisfaga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AR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=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¬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V    </a:t>
            </a:r>
            <a:r>
              <a:rPr lang="es-A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  </a:t>
            </a:r>
            <a:r>
              <a:rPr lang="es-A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</a:p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AR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sz="1400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s-AR" sz="1000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23546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2558E67-5AAF-42DD-BDE9-EE238F7A15E7}"/>
              </a:ext>
            </a:extLst>
          </p:cNvPr>
          <p:cNvSpPr/>
          <p:nvPr/>
        </p:nvSpPr>
        <p:spPr>
          <a:xfrm>
            <a:off x="263905" y="247779"/>
            <a:ext cx="11549404" cy="6647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Vamos a considerar en general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problemas de decisión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no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problemas de búsqueda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Por lo tanto, las máquinas de Turing sólo van a responder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sí o no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(van a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aceptar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rechazar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Así se simplifican las descripciones pero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sin perder generalidad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 esta visión, una MT M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acepta o reconoce un lenguaje:</a:t>
            </a:r>
          </a:p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lenguaje formado por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las cadenas que M acepta.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Vamos a denotar con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L(M)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 lenguaje que acepta la MT M.</a:t>
            </a: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Por ejemplo: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 En el problema de los grafos,</a:t>
            </a:r>
          </a:p>
          <a:p>
            <a:pPr algn="just"/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	L(M) = {G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…},</a:t>
            </a:r>
          </a:p>
          <a:p>
            <a:pPr algn="just"/>
            <a:endParaRPr lang="es-ES" sz="12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donde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 un grafo con un camino del primero al último vértice.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En el problema de las fórmulas booleanas,</a:t>
            </a:r>
          </a:p>
          <a:p>
            <a:pPr algn="just"/>
            <a:endParaRPr lang="es-ES" sz="12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L(M) = {φ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…},</a:t>
            </a:r>
          </a:p>
          <a:p>
            <a:pPr algn="just"/>
            <a:endParaRPr lang="es-ES" sz="12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donde φ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es una fórmula booleana </a:t>
            </a:r>
            <a:r>
              <a:rPr lang="es-ES" dirty="0" err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satisfactible</a:t>
            </a:r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D57F477-0F3E-4923-6F91-7479BBD1661A}"/>
              </a:ext>
            </a:extLst>
          </p:cNvPr>
          <p:cNvSpPr/>
          <p:nvPr/>
        </p:nvSpPr>
        <p:spPr>
          <a:xfrm>
            <a:off x="11022949" y="1526663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AB7ACF5-CA16-24D5-0CA0-7611AAB53EBB}"/>
              </a:ext>
            </a:extLst>
          </p:cNvPr>
          <p:cNvSpPr/>
          <p:nvPr/>
        </p:nvSpPr>
        <p:spPr>
          <a:xfrm>
            <a:off x="11047589" y="2524309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5C50EF3-FC39-F12A-B9D5-DBBF583612D0}"/>
              </a:ext>
            </a:extLst>
          </p:cNvPr>
          <p:cNvSpPr/>
          <p:nvPr/>
        </p:nvSpPr>
        <p:spPr>
          <a:xfrm>
            <a:off x="9062098" y="186072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C2694D9-6E45-B984-C2C0-CE71A012D9E3}"/>
              </a:ext>
            </a:extLst>
          </p:cNvPr>
          <p:cNvCxnSpPr>
            <a:cxnSpLocks/>
          </p:cNvCxnSpPr>
          <p:nvPr/>
        </p:nvCxnSpPr>
        <p:spPr>
          <a:xfrm>
            <a:off x="7930944" y="2324726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3C5521B7-5AF2-0AD2-4BFC-4D43B5D6EFEB}"/>
              </a:ext>
            </a:extLst>
          </p:cNvPr>
          <p:cNvCxnSpPr>
            <a:cxnSpLocks/>
          </p:cNvCxnSpPr>
          <p:nvPr/>
        </p:nvCxnSpPr>
        <p:spPr>
          <a:xfrm>
            <a:off x="9976498" y="2348789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ítulo 1">
            <a:extLst>
              <a:ext uri="{FF2B5EF4-FFF2-40B4-BE49-F238E27FC236}">
                <a16:creationId xmlns:a16="http://schemas.microsoft.com/office/drawing/2014/main" id="{B8D29F99-8A58-173A-DA58-662F4FECB717}"/>
              </a:ext>
            </a:extLst>
          </p:cNvPr>
          <p:cNvSpPr txBox="1">
            <a:spLocks/>
          </p:cNvSpPr>
          <p:nvPr/>
        </p:nvSpPr>
        <p:spPr>
          <a:xfrm>
            <a:off x="8339422" y="2067375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9B643FA3-4140-62BF-3CD2-83B4C98129FA}"/>
              </a:ext>
            </a:extLst>
          </p:cNvPr>
          <p:cNvCxnSpPr>
            <a:cxnSpLocks/>
          </p:cNvCxnSpPr>
          <p:nvPr/>
        </p:nvCxnSpPr>
        <p:spPr>
          <a:xfrm flipV="1">
            <a:off x="9979407" y="1679977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ítulo 1">
            <a:extLst>
              <a:ext uri="{FF2B5EF4-FFF2-40B4-BE49-F238E27FC236}">
                <a16:creationId xmlns:a16="http://schemas.microsoft.com/office/drawing/2014/main" id="{B0F2E069-E1BF-9655-B505-8C97101673EA}"/>
              </a:ext>
            </a:extLst>
          </p:cNvPr>
          <p:cNvSpPr txBox="1">
            <a:spLocks/>
          </p:cNvSpPr>
          <p:nvPr/>
        </p:nvSpPr>
        <p:spPr>
          <a:xfrm>
            <a:off x="9345011" y="1580789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511165F2-8FA6-9B99-BE80-37B2E36DB9A0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0816F9C-D1DF-4CC1-2B92-ECF0B0D894C7}"/>
              </a:ext>
            </a:extLst>
          </p:cNvPr>
          <p:cNvSpPr/>
          <p:nvPr/>
        </p:nvSpPr>
        <p:spPr>
          <a:xfrm>
            <a:off x="7591814" y="1459345"/>
            <a:ext cx="4221495" cy="27986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1C76FCD-4464-55E4-173A-E6ABF90919D7}"/>
              </a:ext>
            </a:extLst>
          </p:cNvPr>
          <p:cNvSpPr txBox="1"/>
          <p:nvPr/>
        </p:nvSpPr>
        <p:spPr>
          <a:xfrm>
            <a:off x="7591814" y="3076181"/>
            <a:ext cx="45789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Genéricamente, dada una cadena w:</a:t>
            </a:r>
          </a:p>
          <a:p>
            <a:pPr algn="just"/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 w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ES" sz="1800" dirty="0">
                <a:solidFill>
                  <a:srgbClr val="000000"/>
                </a:solidFill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∈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L(M), M responde sí (acepta w); </a:t>
            </a:r>
          </a:p>
          <a:p>
            <a:pPr algn="just"/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AR" sz="18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Cambria Math" panose="02040503050406030204" pitchFamily="18" charset="0"/>
              </a:rPr>
              <a:t>∉</a:t>
            </a:r>
            <a:r>
              <a:rPr lang="es-E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L(M), M responde no (rechaza w).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9FED56C-97B3-8269-CD51-2C0E1D3C103B}"/>
              </a:ext>
            </a:extLst>
          </p:cNvPr>
          <p:cNvSpPr txBox="1"/>
          <p:nvPr/>
        </p:nvSpPr>
        <p:spPr>
          <a:xfrm>
            <a:off x="7591814" y="5293595"/>
            <a:ext cx="421764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Por lo tanto, hasta nuevo aviso,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vamos a utilizar las palabras</a:t>
            </a:r>
          </a:p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lenguaje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indistintamente.   </a:t>
            </a:r>
          </a:p>
        </p:txBody>
      </p:sp>
    </p:spTree>
    <p:extLst>
      <p:ext uri="{BB962C8B-B14F-4D97-AF65-F5344CB8AC3E}">
        <p14:creationId xmlns:p14="http://schemas.microsoft.com/office/powerpoint/2010/main" val="2054216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1D35130-054E-4C8F-A8EF-AD55DED45254}"/>
              </a:ext>
            </a:extLst>
          </p:cNvPr>
          <p:cNvSpPr/>
          <p:nvPr/>
        </p:nvSpPr>
        <p:spPr>
          <a:xfrm>
            <a:off x="296260" y="184878"/>
            <a:ext cx="110500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¡MALA NOTICIA!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El caso más general de MT corresponde al siguiente esquema: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C21AE52-B65B-46F4-9177-0EE17E22F8A1}"/>
              </a:ext>
            </a:extLst>
          </p:cNvPr>
          <p:cNvSpPr/>
          <p:nvPr/>
        </p:nvSpPr>
        <p:spPr>
          <a:xfrm>
            <a:off x="389799" y="2868731"/>
            <a:ext cx="1180219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 decir: si w pertenece a L(M), M responde sí, y si w no pertenece a L(M), en el mejor de los casos M responde no, pero en el peor de los casos M no responde nada porque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no para, “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loopea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Lamentablemente, existen problemas que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sólo cuentan con MT de este tipo.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7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problemas computables no </a:t>
            </a:r>
            <a:r>
              <a:rPr lang="es-MX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(los que vimos antes son 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problemas computables </a:t>
            </a:r>
            <a:r>
              <a:rPr lang="es-MX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Ejemplo clásico: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el problema de decidir si un programa P para (</a:t>
            </a:r>
            <a:r>
              <a:rPr lang="es-MX" b="1" i="1" dirty="0" err="1">
                <a:latin typeface="Arial" panose="020B0604020202020204" pitchFamily="34" charset="0"/>
                <a:cs typeface="Arial" panose="020B0604020202020204" pitchFamily="34" charset="0"/>
              </a:rPr>
              <a:t>halting</a:t>
            </a:r>
            <a:r>
              <a:rPr lang="es-MX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b="1" i="1" dirty="0" err="1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/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224A37D-E160-4A9A-9C59-80BA6FC0B1F3}"/>
              </a:ext>
            </a:extLst>
          </p:cNvPr>
          <p:cNvSpPr/>
          <p:nvPr/>
        </p:nvSpPr>
        <p:spPr>
          <a:xfrm>
            <a:off x="7178100" y="1008668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BB49413-327C-4339-A677-F265C131480A}"/>
              </a:ext>
            </a:extLst>
          </p:cNvPr>
          <p:cNvSpPr/>
          <p:nvPr/>
        </p:nvSpPr>
        <p:spPr>
          <a:xfrm>
            <a:off x="5821307" y="2470127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ECD3993-902E-404B-93DA-C03FD65F5A38}"/>
              </a:ext>
            </a:extLst>
          </p:cNvPr>
          <p:cNvCxnSpPr>
            <a:cxnSpLocks/>
          </p:cNvCxnSpPr>
          <p:nvPr/>
        </p:nvCxnSpPr>
        <p:spPr>
          <a:xfrm>
            <a:off x="5518639" y="2274028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9C57667-28AE-4371-B3CB-6EE5B58DEE98}"/>
              </a:ext>
            </a:extLst>
          </p:cNvPr>
          <p:cNvCxnSpPr>
            <a:cxnSpLocks/>
          </p:cNvCxnSpPr>
          <p:nvPr/>
        </p:nvCxnSpPr>
        <p:spPr>
          <a:xfrm flipV="1">
            <a:off x="5518639" y="2672632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C091093-7E4B-4330-B69F-5C47E1E07BAD}"/>
              </a:ext>
            </a:extLst>
          </p:cNvPr>
          <p:cNvCxnSpPr>
            <a:cxnSpLocks/>
          </p:cNvCxnSpPr>
          <p:nvPr/>
        </p:nvCxnSpPr>
        <p:spPr>
          <a:xfrm flipV="1">
            <a:off x="5867807" y="2274028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BB8C065-E23A-48D8-998C-A3E96E12769F}"/>
              </a:ext>
            </a:extLst>
          </p:cNvPr>
          <p:cNvSpPr/>
          <p:nvPr/>
        </p:nvSpPr>
        <p:spPr>
          <a:xfrm>
            <a:off x="7202740" y="2006314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D5A7D9C-B10E-46CB-B08A-B7D34A59C100}"/>
              </a:ext>
            </a:extLst>
          </p:cNvPr>
          <p:cNvSpPr/>
          <p:nvPr/>
        </p:nvSpPr>
        <p:spPr>
          <a:xfrm>
            <a:off x="5217249" y="1342734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3942463-6BCF-40CA-AE6B-B53CB8DA2A27}"/>
              </a:ext>
            </a:extLst>
          </p:cNvPr>
          <p:cNvCxnSpPr>
            <a:cxnSpLocks/>
          </p:cNvCxnSpPr>
          <p:nvPr/>
        </p:nvCxnSpPr>
        <p:spPr>
          <a:xfrm>
            <a:off x="4086095" y="1806731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A13E2897-3F9C-4F34-93F0-11766CE3A503}"/>
              </a:ext>
            </a:extLst>
          </p:cNvPr>
          <p:cNvCxnSpPr>
            <a:cxnSpLocks/>
          </p:cNvCxnSpPr>
          <p:nvPr/>
        </p:nvCxnSpPr>
        <p:spPr>
          <a:xfrm>
            <a:off x="6131649" y="1830794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1">
            <a:extLst>
              <a:ext uri="{FF2B5EF4-FFF2-40B4-BE49-F238E27FC236}">
                <a16:creationId xmlns:a16="http://schemas.microsoft.com/office/drawing/2014/main" id="{5B5ED512-FEF3-48E4-A744-8F56CAD38D43}"/>
              </a:ext>
            </a:extLst>
          </p:cNvPr>
          <p:cNvSpPr txBox="1">
            <a:spLocks/>
          </p:cNvSpPr>
          <p:nvPr/>
        </p:nvSpPr>
        <p:spPr>
          <a:xfrm>
            <a:off x="4494573" y="1549380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82283CA4-C7A0-414D-93E0-225926F6FA21}"/>
              </a:ext>
            </a:extLst>
          </p:cNvPr>
          <p:cNvCxnSpPr>
            <a:cxnSpLocks/>
          </p:cNvCxnSpPr>
          <p:nvPr/>
        </p:nvCxnSpPr>
        <p:spPr>
          <a:xfrm flipV="1">
            <a:off x="6134558" y="1161982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ítulo 1">
            <a:extLst>
              <a:ext uri="{FF2B5EF4-FFF2-40B4-BE49-F238E27FC236}">
                <a16:creationId xmlns:a16="http://schemas.microsoft.com/office/drawing/2014/main" id="{160DE5F1-A817-4370-BB0F-FEA5034C3451}"/>
              </a:ext>
            </a:extLst>
          </p:cNvPr>
          <p:cNvSpPr txBox="1">
            <a:spLocks/>
          </p:cNvSpPr>
          <p:nvPr/>
        </p:nvSpPr>
        <p:spPr>
          <a:xfrm>
            <a:off x="5500162" y="1062794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544D8F07-11D6-4954-A757-905FB8FBF8F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77EE9C-7D4A-3D8C-A667-28A65274D0E6}"/>
              </a:ext>
            </a:extLst>
          </p:cNvPr>
          <p:cNvSpPr/>
          <p:nvPr/>
        </p:nvSpPr>
        <p:spPr>
          <a:xfrm>
            <a:off x="4378912" y="4879085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E02FF7D-0340-2D73-4357-1E62D360C6E6}"/>
              </a:ext>
            </a:extLst>
          </p:cNvPr>
          <p:cNvSpPr/>
          <p:nvPr/>
        </p:nvSpPr>
        <p:spPr>
          <a:xfrm>
            <a:off x="3022119" y="634054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6407E02-CB8E-E2CF-E42D-9778A73EA986}"/>
              </a:ext>
            </a:extLst>
          </p:cNvPr>
          <p:cNvCxnSpPr>
            <a:cxnSpLocks/>
          </p:cNvCxnSpPr>
          <p:nvPr/>
        </p:nvCxnSpPr>
        <p:spPr>
          <a:xfrm>
            <a:off x="2719451" y="6144445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1EAAF48-327C-4D73-5F56-274A4902778A}"/>
              </a:ext>
            </a:extLst>
          </p:cNvPr>
          <p:cNvCxnSpPr>
            <a:cxnSpLocks/>
          </p:cNvCxnSpPr>
          <p:nvPr/>
        </p:nvCxnSpPr>
        <p:spPr>
          <a:xfrm flipV="1">
            <a:off x="2719451" y="6543049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07F9C81-5149-73E6-9A7C-4D429D372459}"/>
              </a:ext>
            </a:extLst>
          </p:cNvPr>
          <p:cNvCxnSpPr>
            <a:cxnSpLocks/>
          </p:cNvCxnSpPr>
          <p:nvPr/>
        </p:nvCxnSpPr>
        <p:spPr>
          <a:xfrm flipV="1">
            <a:off x="3068619" y="6144445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3E6DAEE-0E89-7F46-6B44-B9F5AA19646A}"/>
              </a:ext>
            </a:extLst>
          </p:cNvPr>
          <p:cNvSpPr/>
          <p:nvPr/>
        </p:nvSpPr>
        <p:spPr>
          <a:xfrm>
            <a:off x="4403552" y="587673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524F2CE-DCDF-51BE-9479-D3BC151F399A}"/>
              </a:ext>
            </a:extLst>
          </p:cNvPr>
          <p:cNvSpPr/>
          <p:nvPr/>
        </p:nvSpPr>
        <p:spPr>
          <a:xfrm>
            <a:off x="2418061" y="521315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5F5AB6A-3219-0A76-495D-C619E81C504F}"/>
              </a:ext>
            </a:extLst>
          </p:cNvPr>
          <p:cNvCxnSpPr>
            <a:cxnSpLocks/>
          </p:cNvCxnSpPr>
          <p:nvPr/>
        </p:nvCxnSpPr>
        <p:spPr>
          <a:xfrm>
            <a:off x="1286907" y="5677148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A60699F9-EC99-406F-F617-E54C5DC9E01E}"/>
              </a:ext>
            </a:extLst>
          </p:cNvPr>
          <p:cNvCxnSpPr>
            <a:cxnSpLocks/>
          </p:cNvCxnSpPr>
          <p:nvPr/>
        </p:nvCxnSpPr>
        <p:spPr>
          <a:xfrm>
            <a:off x="3332461" y="5701211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ítulo 1">
            <a:extLst>
              <a:ext uri="{FF2B5EF4-FFF2-40B4-BE49-F238E27FC236}">
                <a16:creationId xmlns:a16="http://schemas.microsoft.com/office/drawing/2014/main" id="{C1C8FEB5-0DD8-EF36-EA9B-6A8F3092553C}"/>
              </a:ext>
            </a:extLst>
          </p:cNvPr>
          <p:cNvSpPr txBox="1">
            <a:spLocks/>
          </p:cNvSpPr>
          <p:nvPr/>
        </p:nvSpPr>
        <p:spPr>
          <a:xfrm>
            <a:off x="1695385" y="5419797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D3122DA-96F7-D764-91F6-A4B8E586250E}"/>
              </a:ext>
            </a:extLst>
          </p:cNvPr>
          <p:cNvCxnSpPr>
            <a:cxnSpLocks/>
          </p:cNvCxnSpPr>
          <p:nvPr/>
        </p:nvCxnSpPr>
        <p:spPr>
          <a:xfrm flipV="1">
            <a:off x="3335370" y="5032399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ítulo 1">
            <a:extLst>
              <a:ext uri="{FF2B5EF4-FFF2-40B4-BE49-F238E27FC236}">
                <a16:creationId xmlns:a16="http://schemas.microsoft.com/office/drawing/2014/main" id="{1BEE066E-FBF9-85E4-C4F9-0E9027AE254E}"/>
              </a:ext>
            </a:extLst>
          </p:cNvPr>
          <p:cNvSpPr txBox="1">
            <a:spLocks/>
          </p:cNvSpPr>
          <p:nvPr/>
        </p:nvSpPr>
        <p:spPr>
          <a:xfrm>
            <a:off x="2700974" y="4933211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2BB281-DE9F-D1C3-B78D-73B25B42F4FD}"/>
              </a:ext>
            </a:extLst>
          </p:cNvPr>
          <p:cNvSpPr txBox="1"/>
          <p:nvPr/>
        </p:nvSpPr>
        <p:spPr>
          <a:xfrm>
            <a:off x="5016561" y="4879085"/>
            <a:ext cx="719104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mejor MT M posible:</a:t>
            </a:r>
          </a:p>
          <a:p>
            <a:endParaRPr lang="es-MX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 P para, responde sí.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Si P no para, responde no o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loopea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según cuál sea el programa P.</a:t>
            </a:r>
          </a:p>
          <a:p>
            <a:endParaRPr lang="es-MX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 decir, en este caso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no existe una MT M que pare siempre.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915644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1D35130-054E-4C8F-A8EF-AD55DED45254}"/>
              </a:ext>
            </a:extLst>
          </p:cNvPr>
          <p:cNvSpPr/>
          <p:nvPr/>
        </p:nvSpPr>
        <p:spPr>
          <a:xfrm>
            <a:off x="410669" y="148234"/>
            <a:ext cx="1105009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¡PEOR NOTICIA!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Existen problemas que directamente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no tienen MT que los resuelvan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C21AE52-B65B-46F4-9177-0EE17E22F8A1}"/>
              </a:ext>
            </a:extLst>
          </p:cNvPr>
          <p:cNvSpPr/>
          <p:nvPr/>
        </p:nvSpPr>
        <p:spPr>
          <a:xfrm>
            <a:off x="429609" y="3111836"/>
            <a:ext cx="11781331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 decir: dichos problemas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ni siquiera cuentan con MT M que respondan sí en todos los casos positivos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(que es lo mínimo que se puede esperar de una MT).    </a:t>
            </a:r>
          </a:p>
          <a:p>
            <a:endParaRPr lang="es-MX" sz="7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 problemas no computables.</a:t>
            </a:r>
          </a:p>
          <a:p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Ejemplo clásico: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el problema de decidir la equivalencia de dos programas P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y P</a:t>
            </a:r>
            <a:r>
              <a:rPr lang="es-AR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224A37D-E160-4A9A-9C59-80BA6FC0B1F3}"/>
              </a:ext>
            </a:extLst>
          </p:cNvPr>
          <p:cNvSpPr/>
          <p:nvPr/>
        </p:nvSpPr>
        <p:spPr>
          <a:xfrm>
            <a:off x="7178100" y="1182841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BB49413-327C-4339-A677-F265C131480A}"/>
              </a:ext>
            </a:extLst>
          </p:cNvPr>
          <p:cNvSpPr/>
          <p:nvPr/>
        </p:nvSpPr>
        <p:spPr>
          <a:xfrm>
            <a:off x="5821307" y="2644300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ECD3993-902E-404B-93DA-C03FD65F5A38}"/>
              </a:ext>
            </a:extLst>
          </p:cNvPr>
          <p:cNvCxnSpPr>
            <a:cxnSpLocks/>
          </p:cNvCxnSpPr>
          <p:nvPr/>
        </p:nvCxnSpPr>
        <p:spPr>
          <a:xfrm>
            <a:off x="5518639" y="2448201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9C57667-28AE-4371-B3CB-6EE5B58DEE98}"/>
              </a:ext>
            </a:extLst>
          </p:cNvPr>
          <p:cNvCxnSpPr>
            <a:cxnSpLocks/>
          </p:cNvCxnSpPr>
          <p:nvPr/>
        </p:nvCxnSpPr>
        <p:spPr>
          <a:xfrm flipV="1">
            <a:off x="5518639" y="2846805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C091093-7E4B-4330-B69F-5C47E1E07BAD}"/>
              </a:ext>
            </a:extLst>
          </p:cNvPr>
          <p:cNvCxnSpPr>
            <a:cxnSpLocks/>
          </p:cNvCxnSpPr>
          <p:nvPr/>
        </p:nvCxnSpPr>
        <p:spPr>
          <a:xfrm flipV="1">
            <a:off x="5867807" y="2448201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BB8C065-E23A-48D8-998C-A3E96E12769F}"/>
              </a:ext>
            </a:extLst>
          </p:cNvPr>
          <p:cNvSpPr/>
          <p:nvPr/>
        </p:nvSpPr>
        <p:spPr>
          <a:xfrm>
            <a:off x="7202740" y="2180487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D5A7D9C-B10E-46CB-B08A-B7D34A59C100}"/>
              </a:ext>
            </a:extLst>
          </p:cNvPr>
          <p:cNvSpPr/>
          <p:nvPr/>
        </p:nvSpPr>
        <p:spPr>
          <a:xfrm>
            <a:off x="5217249" y="1516907"/>
            <a:ext cx="914400" cy="9144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3942463-6BCF-40CA-AE6B-B53CB8DA2A27}"/>
              </a:ext>
            </a:extLst>
          </p:cNvPr>
          <p:cNvCxnSpPr>
            <a:cxnSpLocks/>
          </p:cNvCxnSpPr>
          <p:nvPr/>
        </p:nvCxnSpPr>
        <p:spPr>
          <a:xfrm>
            <a:off x="4086095" y="1980904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A13E2897-3F9C-4F34-93F0-11766CE3A503}"/>
              </a:ext>
            </a:extLst>
          </p:cNvPr>
          <p:cNvCxnSpPr>
            <a:cxnSpLocks/>
          </p:cNvCxnSpPr>
          <p:nvPr/>
        </p:nvCxnSpPr>
        <p:spPr>
          <a:xfrm>
            <a:off x="6131649" y="2004967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ítulo 1">
            <a:extLst>
              <a:ext uri="{FF2B5EF4-FFF2-40B4-BE49-F238E27FC236}">
                <a16:creationId xmlns:a16="http://schemas.microsoft.com/office/drawing/2014/main" id="{5B5ED512-FEF3-48E4-A744-8F56CAD38D43}"/>
              </a:ext>
            </a:extLst>
          </p:cNvPr>
          <p:cNvSpPr txBox="1">
            <a:spLocks/>
          </p:cNvSpPr>
          <p:nvPr/>
        </p:nvSpPr>
        <p:spPr>
          <a:xfrm>
            <a:off x="4494573" y="1723553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82283CA4-C7A0-414D-93E0-225926F6FA21}"/>
              </a:ext>
            </a:extLst>
          </p:cNvPr>
          <p:cNvCxnSpPr>
            <a:cxnSpLocks/>
          </p:cNvCxnSpPr>
          <p:nvPr/>
        </p:nvCxnSpPr>
        <p:spPr>
          <a:xfrm flipV="1">
            <a:off x="6134558" y="1336155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ítulo 1">
            <a:extLst>
              <a:ext uri="{FF2B5EF4-FFF2-40B4-BE49-F238E27FC236}">
                <a16:creationId xmlns:a16="http://schemas.microsoft.com/office/drawing/2014/main" id="{160DE5F1-A817-4370-BB0F-FEA5034C3451}"/>
              </a:ext>
            </a:extLst>
          </p:cNvPr>
          <p:cNvSpPr txBox="1">
            <a:spLocks/>
          </p:cNvSpPr>
          <p:nvPr/>
        </p:nvSpPr>
        <p:spPr>
          <a:xfrm>
            <a:off x="5500162" y="1236967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544D8F07-11D6-4954-A757-905FB8FBF8F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77EE9C-7D4A-3D8C-A667-28A65274D0E6}"/>
              </a:ext>
            </a:extLst>
          </p:cNvPr>
          <p:cNvSpPr/>
          <p:nvPr/>
        </p:nvSpPr>
        <p:spPr>
          <a:xfrm>
            <a:off x="4683923" y="4878975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sí 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E02FF7D-0340-2D73-4357-1E62D360C6E6}"/>
              </a:ext>
            </a:extLst>
          </p:cNvPr>
          <p:cNvSpPr/>
          <p:nvPr/>
        </p:nvSpPr>
        <p:spPr>
          <a:xfrm>
            <a:off x="3327130" y="6340434"/>
            <a:ext cx="6206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</a:t>
            </a:r>
            <a:endParaRPr lang="es-MX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6407E02-CB8E-E2CF-E42D-9778A73EA986}"/>
              </a:ext>
            </a:extLst>
          </p:cNvPr>
          <p:cNvCxnSpPr>
            <a:cxnSpLocks/>
          </p:cNvCxnSpPr>
          <p:nvPr/>
        </p:nvCxnSpPr>
        <p:spPr>
          <a:xfrm>
            <a:off x="3024462" y="6144335"/>
            <a:ext cx="0" cy="3986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1EAAF48-327C-4D73-5F56-274A4902778A}"/>
              </a:ext>
            </a:extLst>
          </p:cNvPr>
          <p:cNvCxnSpPr>
            <a:cxnSpLocks/>
          </p:cNvCxnSpPr>
          <p:nvPr/>
        </p:nvCxnSpPr>
        <p:spPr>
          <a:xfrm flipV="1">
            <a:off x="3024462" y="6542939"/>
            <a:ext cx="349168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407F9C81-5149-73E6-9A7C-4D429D372459}"/>
              </a:ext>
            </a:extLst>
          </p:cNvPr>
          <p:cNvCxnSpPr>
            <a:cxnSpLocks/>
          </p:cNvCxnSpPr>
          <p:nvPr/>
        </p:nvCxnSpPr>
        <p:spPr>
          <a:xfrm flipV="1">
            <a:off x="3373630" y="6144335"/>
            <a:ext cx="0" cy="3986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3E6DAEE-0E89-7F46-6B44-B9F5AA19646A}"/>
              </a:ext>
            </a:extLst>
          </p:cNvPr>
          <p:cNvSpPr/>
          <p:nvPr/>
        </p:nvSpPr>
        <p:spPr>
          <a:xfrm>
            <a:off x="4708563" y="5876621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endParaRPr lang="es-MX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524F2CE-DCDF-51BE-9479-D3BC151F399A}"/>
              </a:ext>
            </a:extLst>
          </p:cNvPr>
          <p:cNvSpPr/>
          <p:nvPr/>
        </p:nvSpPr>
        <p:spPr>
          <a:xfrm>
            <a:off x="2723072" y="5213041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5F5AB6A-3219-0A76-495D-C619E81C504F}"/>
              </a:ext>
            </a:extLst>
          </p:cNvPr>
          <p:cNvCxnSpPr>
            <a:cxnSpLocks/>
          </p:cNvCxnSpPr>
          <p:nvPr/>
        </p:nvCxnSpPr>
        <p:spPr>
          <a:xfrm>
            <a:off x="1591918" y="5677038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A60699F9-EC99-406F-F617-E54C5DC9E01E}"/>
              </a:ext>
            </a:extLst>
          </p:cNvPr>
          <p:cNvCxnSpPr>
            <a:cxnSpLocks/>
          </p:cNvCxnSpPr>
          <p:nvPr/>
        </p:nvCxnSpPr>
        <p:spPr>
          <a:xfrm>
            <a:off x="3637472" y="5701101"/>
            <a:ext cx="1130523" cy="360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D3122DA-96F7-D764-91F6-A4B8E586250E}"/>
              </a:ext>
            </a:extLst>
          </p:cNvPr>
          <p:cNvCxnSpPr>
            <a:cxnSpLocks/>
          </p:cNvCxnSpPr>
          <p:nvPr/>
        </p:nvCxnSpPr>
        <p:spPr>
          <a:xfrm flipV="1">
            <a:off x="3640381" y="5032289"/>
            <a:ext cx="1060980" cy="6648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ítulo 1">
            <a:extLst>
              <a:ext uri="{FF2B5EF4-FFF2-40B4-BE49-F238E27FC236}">
                <a16:creationId xmlns:a16="http://schemas.microsoft.com/office/drawing/2014/main" id="{1BEE066E-FBF9-85E4-C4F9-0E9027AE254E}"/>
              </a:ext>
            </a:extLst>
          </p:cNvPr>
          <p:cNvSpPr txBox="1">
            <a:spLocks/>
          </p:cNvSpPr>
          <p:nvPr/>
        </p:nvSpPr>
        <p:spPr>
          <a:xfrm>
            <a:off x="3005985" y="4933101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sp>
        <p:nvSpPr>
          <p:cNvPr id="5" name="Signo de multiplicación 4">
            <a:extLst>
              <a:ext uri="{FF2B5EF4-FFF2-40B4-BE49-F238E27FC236}">
                <a16:creationId xmlns:a16="http://schemas.microsoft.com/office/drawing/2014/main" id="{DBCE2A10-73D9-6F22-82D2-02E30361DC47}"/>
              </a:ext>
            </a:extLst>
          </p:cNvPr>
          <p:cNvSpPr/>
          <p:nvPr/>
        </p:nvSpPr>
        <p:spPr>
          <a:xfrm>
            <a:off x="4566637" y="1539370"/>
            <a:ext cx="2314074" cy="904174"/>
          </a:xfrm>
          <a:prstGeom prst="mathMultiply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BEEBC3B-DB76-56CD-512A-6A41A663BEA7}"/>
              </a:ext>
            </a:extLst>
          </p:cNvPr>
          <p:cNvSpPr txBox="1"/>
          <p:nvPr/>
        </p:nvSpPr>
        <p:spPr>
          <a:xfrm>
            <a:off x="1710199" y="5307706"/>
            <a:ext cx="1131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(P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P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igno de multiplicación 34">
            <a:extLst>
              <a:ext uri="{FF2B5EF4-FFF2-40B4-BE49-F238E27FC236}">
                <a16:creationId xmlns:a16="http://schemas.microsoft.com/office/drawing/2014/main" id="{79A56F80-99BC-A0EE-337C-36CCCEA6B2C5}"/>
              </a:ext>
            </a:extLst>
          </p:cNvPr>
          <p:cNvSpPr/>
          <p:nvPr/>
        </p:nvSpPr>
        <p:spPr>
          <a:xfrm>
            <a:off x="2098721" y="5218437"/>
            <a:ext cx="2314074" cy="904174"/>
          </a:xfrm>
          <a:prstGeom prst="mathMultiply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607CD39-ACC3-3CE8-309E-9E1B1A3879B9}"/>
              </a:ext>
            </a:extLst>
          </p:cNvPr>
          <p:cNvSpPr txBox="1"/>
          <p:nvPr/>
        </p:nvSpPr>
        <p:spPr>
          <a:xfrm>
            <a:off x="5518639" y="4948260"/>
            <a:ext cx="56402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No existe ni siquiera una MT que responda sí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para todos los casos en que P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sea equivalente a P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(lo mínimo que se puede pedir),</a:t>
            </a:r>
          </a:p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 por eso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este problema no es computable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42712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DEFC08E2-7C2F-4B32-A832-D09D88B7F99D}"/>
              </a:ext>
            </a:extLst>
          </p:cNvPr>
          <p:cNvSpPr txBox="1">
            <a:spLocks/>
          </p:cNvSpPr>
          <p:nvPr/>
        </p:nvSpPr>
        <p:spPr>
          <a:xfrm>
            <a:off x="9571868" y="2313495"/>
            <a:ext cx="1903711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PROGRAMACIÓN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34846CF-79E0-4565-8F66-D2532AB3E717}"/>
              </a:ext>
            </a:extLst>
          </p:cNvPr>
          <p:cNvSpPr txBox="1">
            <a:spLocks/>
          </p:cNvSpPr>
          <p:nvPr/>
        </p:nvSpPr>
        <p:spPr>
          <a:xfrm>
            <a:off x="1538543" y="1610319"/>
            <a:ext cx="2342827" cy="335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problemas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B4DF858-D81D-40E8-9AC8-1F6707B38E66}"/>
              </a:ext>
            </a:extLst>
          </p:cNvPr>
          <p:cNvSpPr txBox="1">
            <a:spLocks/>
          </p:cNvSpPr>
          <p:nvPr/>
        </p:nvSpPr>
        <p:spPr>
          <a:xfrm>
            <a:off x="1954800" y="3741627"/>
            <a:ext cx="1531752" cy="3144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decidibles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63D10A8A-FA0E-4A50-8CCF-45CAD2EAAC6D}"/>
              </a:ext>
            </a:extLst>
          </p:cNvPr>
          <p:cNvSpPr txBox="1">
            <a:spLocks/>
          </p:cNvSpPr>
          <p:nvPr/>
        </p:nvSpPr>
        <p:spPr>
          <a:xfrm>
            <a:off x="1785825" y="2396184"/>
            <a:ext cx="1903711" cy="3401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computables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CAC1A369-691F-4B21-889B-03A9642184B7}"/>
              </a:ext>
            </a:extLst>
          </p:cNvPr>
          <p:cNvSpPr txBox="1">
            <a:spLocks/>
          </p:cNvSpPr>
          <p:nvPr/>
        </p:nvSpPr>
        <p:spPr>
          <a:xfrm>
            <a:off x="8832726" y="3023444"/>
            <a:ext cx="1482025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6B8E1159-26CC-4034-B7B8-DBF4C6D960D6}"/>
              </a:ext>
            </a:extLst>
          </p:cNvPr>
          <p:cNvSpPr txBox="1">
            <a:spLocks/>
          </p:cNvSpPr>
          <p:nvPr/>
        </p:nvSpPr>
        <p:spPr>
          <a:xfrm>
            <a:off x="10478514" y="3034474"/>
            <a:ext cx="1616198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PROGRAMA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34A7B003-79AF-4319-86B9-1DFC15F2C078}"/>
              </a:ext>
            </a:extLst>
          </p:cNvPr>
          <p:cNvSpPr txBox="1">
            <a:spLocks/>
          </p:cNvSpPr>
          <p:nvPr/>
        </p:nvSpPr>
        <p:spPr>
          <a:xfrm>
            <a:off x="9565348" y="3803464"/>
            <a:ext cx="1903711" cy="4260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VERIFICACIÓN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14B05FC4-CCAA-41D1-BB04-1CFEDB7A8E6F}"/>
              </a:ext>
            </a:extLst>
          </p:cNvPr>
          <p:cNvSpPr txBox="1">
            <a:spLocks/>
          </p:cNvSpPr>
          <p:nvPr/>
        </p:nvSpPr>
        <p:spPr>
          <a:xfrm>
            <a:off x="1773690" y="803358"/>
            <a:ext cx="1823971" cy="76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Computabilidad</a:t>
            </a: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ED064D08-76F6-439F-B4C7-729846132ED9}"/>
              </a:ext>
            </a:extLst>
          </p:cNvPr>
          <p:cNvSpPr/>
          <p:nvPr/>
        </p:nvSpPr>
        <p:spPr>
          <a:xfrm>
            <a:off x="868678" y="1348604"/>
            <a:ext cx="3650414" cy="3782733"/>
          </a:xfrm>
          <a:prstGeom prst="flowChartConnector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FB5DABD9-24C2-4684-BA13-F8546430DEF8}"/>
              </a:ext>
            </a:extLst>
          </p:cNvPr>
          <p:cNvSpPr/>
          <p:nvPr/>
        </p:nvSpPr>
        <p:spPr>
          <a:xfrm>
            <a:off x="1477200" y="2228924"/>
            <a:ext cx="2464161" cy="276051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Diagrama de flujo: conector 12">
            <a:extLst>
              <a:ext uri="{FF2B5EF4-FFF2-40B4-BE49-F238E27FC236}">
                <a16:creationId xmlns:a16="http://schemas.microsoft.com/office/drawing/2014/main" id="{CD79543B-325B-4BD1-B2EB-34B25EC7506B}"/>
              </a:ext>
            </a:extLst>
          </p:cNvPr>
          <p:cNvSpPr/>
          <p:nvPr/>
        </p:nvSpPr>
        <p:spPr>
          <a:xfrm>
            <a:off x="1965287" y="2979112"/>
            <a:ext cx="1564358" cy="1859759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Diagrama de flujo: conector 34">
            <a:extLst>
              <a:ext uri="{FF2B5EF4-FFF2-40B4-BE49-F238E27FC236}">
                <a16:creationId xmlns:a16="http://schemas.microsoft.com/office/drawing/2014/main" id="{FF8C9024-7FF0-42FD-A5A6-424C3C1709B8}"/>
              </a:ext>
            </a:extLst>
          </p:cNvPr>
          <p:cNvSpPr/>
          <p:nvPr/>
        </p:nvSpPr>
        <p:spPr>
          <a:xfrm>
            <a:off x="8730193" y="1361516"/>
            <a:ext cx="3307739" cy="375782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7" name="Diagrama de flujo: conector 36">
            <a:extLst>
              <a:ext uri="{FF2B5EF4-FFF2-40B4-BE49-F238E27FC236}">
                <a16:creationId xmlns:a16="http://schemas.microsoft.com/office/drawing/2014/main" id="{C7830507-9E6D-418A-B46F-228290446FB6}"/>
              </a:ext>
            </a:extLst>
          </p:cNvPr>
          <p:cNvSpPr/>
          <p:nvPr/>
        </p:nvSpPr>
        <p:spPr>
          <a:xfrm>
            <a:off x="4853080" y="1376937"/>
            <a:ext cx="3488800" cy="3757821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Diagrama de flujo: conector 38">
            <a:extLst>
              <a:ext uri="{FF2B5EF4-FFF2-40B4-BE49-F238E27FC236}">
                <a16:creationId xmlns:a16="http://schemas.microsoft.com/office/drawing/2014/main" id="{90802000-EB08-4194-9A2D-C0698521D28D}"/>
              </a:ext>
            </a:extLst>
          </p:cNvPr>
          <p:cNvSpPr/>
          <p:nvPr/>
        </p:nvSpPr>
        <p:spPr>
          <a:xfrm>
            <a:off x="9156740" y="2861820"/>
            <a:ext cx="817216" cy="78265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Diagrama de flujo: conector 39">
            <a:extLst>
              <a:ext uri="{FF2B5EF4-FFF2-40B4-BE49-F238E27FC236}">
                <a16:creationId xmlns:a16="http://schemas.microsoft.com/office/drawing/2014/main" id="{56EFF3E2-5AE7-46A3-B24D-356BD9D22AF1}"/>
              </a:ext>
            </a:extLst>
          </p:cNvPr>
          <p:cNvSpPr/>
          <p:nvPr/>
        </p:nvSpPr>
        <p:spPr>
          <a:xfrm>
            <a:off x="10878005" y="2861820"/>
            <a:ext cx="817216" cy="78265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4CB95C7E-1F6D-4499-A95F-5DD91C426013}"/>
              </a:ext>
            </a:extLst>
          </p:cNvPr>
          <p:cNvCxnSpPr>
            <a:cxnSpLocks/>
          </p:cNvCxnSpPr>
          <p:nvPr/>
        </p:nvCxnSpPr>
        <p:spPr>
          <a:xfrm>
            <a:off x="9146425" y="2695229"/>
            <a:ext cx="25575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722C3208-0999-412E-BFF8-63D185682304}"/>
              </a:ext>
            </a:extLst>
          </p:cNvPr>
          <p:cNvCxnSpPr>
            <a:cxnSpLocks/>
          </p:cNvCxnSpPr>
          <p:nvPr/>
        </p:nvCxnSpPr>
        <p:spPr>
          <a:xfrm flipV="1">
            <a:off x="2516115" y="1443255"/>
            <a:ext cx="3579885" cy="15754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B6B5C373-AEFF-42CB-8618-121532DD9E78}"/>
              </a:ext>
            </a:extLst>
          </p:cNvPr>
          <p:cNvCxnSpPr>
            <a:cxnSpLocks/>
            <a:endCxn id="37" idx="4"/>
          </p:cNvCxnSpPr>
          <p:nvPr/>
        </p:nvCxnSpPr>
        <p:spPr>
          <a:xfrm>
            <a:off x="2694685" y="4851587"/>
            <a:ext cx="3902795" cy="28317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FD3E59ED-66BA-46A7-9882-D7C201C897D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9DE9D5D9-37CC-0B12-55A2-5C7BDF32A9BA}"/>
              </a:ext>
            </a:extLst>
          </p:cNvPr>
          <p:cNvSpPr txBox="1">
            <a:spLocks/>
          </p:cNvSpPr>
          <p:nvPr/>
        </p:nvSpPr>
        <p:spPr>
          <a:xfrm>
            <a:off x="5039467" y="2447158"/>
            <a:ext cx="3142407" cy="349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intratables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(sin algoritmos eficientes)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01CC5A15-846A-03B1-3032-451A72CEF091}"/>
              </a:ext>
            </a:extLst>
          </p:cNvPr>
          <p:cNvCxnSpPr>
            <a:cxnSpLocks/>
            <a:endCxn id="35" idx="0"/>
          </p:cNvCxnSpPr>
          <p:nvPr/>
        </p:nvCxnSpPr>
        <p:spPr>
          <a:xfrm flipV="1">
            <a:off x="6618915" y="1361516"/>
            <a:ext cx="3765148" cy="443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1727ECE5-CE72-159A-EF02-8DD0AEDB6C78}"/>
              </a:ext>
            </a:extLst>
          </p:cNvPr>
          <p:cNvCxnSpPr>
            <a:cxnSpLocks/>
          </p:cNvCxnSpPr>
          <p:nvPr/>
        </p:nvCxnSpPr>
        <p:spPr>
          <a:xfrm flipV="1">
            <a:off x="6552415" y="5125859"/>
            <a:ext cx="3665011" cy="1564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206587C2-069B-DF3C-3E11-9C53C8D055D9}"/>
              </a:ext>
            </a:extLst>
          </p:cNvPr>
          <p:cNvCxnSpPr>
            <a:cxnSpLocks/>
          </p:cNvCxnSpPr>
          <p:nvPr/>
        </p:nvCxnSpPr>
        <p:spPr>
          <a:xfrm rot="60000" flipV="1">
            <a:off x="4832986" y="3245452"/>
            <a:ext cx="3541866" cy="782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de flecha 81">
            <a:extLst>
              <a:ext uri="{FF2B5EF4-FFF2-40B4-BE49-F238E27FC236}">
                <a16:creationId xmlns:a16="http://schemas.microsoft.com/office/drawing/2014/main" id="{679818C3-178C-F2DE-734B-EAA219876F55}"/>
              </a:ext>
            </a:extLst>
          </p:cNvPr>
          <p:cNvCxnSpPr>
            <a:cxnSpLocks/>
          </p:cNvCxnSpPr>
          <p:nvPr/>
        </p:nvCxnSpPr>
        <p:spPr>
          <a:xfrm rot="10800000">
            <a:off x="9137654" y="3821948"/>
            <a:ext cx="255756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0ED7C92B-A9B1-9C59-FDA0-70A1DFC0CA8B}"/>
              </a:ext>
            </a:extLst>
          </p:cNvPr>
          <p:cNvSpPr txBox="1">
            <a:spLocks/>
          </p:cNvSpPr>
          <p:nvPr/>
        </p:nvSpPr>
        <p:spPr>
          <a:xfrm>
            <a:off x="4908205" y="3709926"/>
            <a:ext cx="3435642" cy="4024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problemas tratables</a:t>
            </a:r>
          </a:p>
          <a:p>
            <a:pPr algn="ctr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(con algoritmos eficientes)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56DCBF0-002A-8C7D-A63F-49F73EDDC801}"/>
              </a:ext>
            </a:extLst>
          </p:cNvPr>
          <p:cNvSpPr/>
          <p:nvPr/>
        </p:nvSpPr>
        <p:spPr>
          <a:xfrm>
            <a:off x="410668" y="148235"/>
            <a:ext cx="114580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CLASES 1 A 4: LO COMPUTABLE Y LO DECIDIBLE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13281BE0-53DE-398D-4328-6367F8C34E30}"/>
              </a:ext>
            </a:extLst>
          </p:cNvPr>
          <p:cNvSpPr txBox="1">
            <a:spLocks/>
          </p:cNvSpPr>
          <p:nvPr/>
        </p:nvSpPr>
        <p:spPr>
          <a:xfrm>
            <a:off x="4448359" y="814594"/>
            <a:ext cx="4104370" cy="76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Complejidad computacional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34EEFCC4-E187-B19E-DD62-F9342691E322}"/>
              </a:ext>
            </a:extLst>
          </p:cNvPr>
          <p:cNvSpPr txBox="1">
            <a:spLocks/>
          </p:cNvSpPr>
          <p:nvPr/>
        </p:nvSpPr>
        <p:spPr>
          <a:xfrm>
            <a:off x="8108136" y="816350"/>
            <a:ext cx="4104370" cy="769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Verificación de programas</a:t>
            </a:r>
          </a:p>
        </p:txBody>
      </p:sp>
      <p:sp>
        <p:nvSpPr>
          <p:cNvPr id="14" name="Flecha: hacia abajo 13">
            <a:extLst>
              <a:ext uri="{FF2B5EF4-FFF2-40B4-BE49-F238E27FC236}">
                <a16:creationId xmlns:a16="http://schemas.microsoft.com/office/drawing/2014/main" id="{8D67896E-226F-88C1-6A7F-28794B1799CC}"/>
              </a:ext>
            </a:extLst>
          </p:cNvPr>
          <p:cNvSpPr/>
          <p:nvPr/>
        </p:nvSpPr>
        <p:spPr>
          <a:xfrm>
            <a:off x="2376155" y="591272"/>
            <a:ext cx="484632" cy="463749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5CF9C0E3-DE11-6E09-8F4C-6CAA7192FAAB}"/>
              </a:ext>
            </a:extLst>
          </p:cNvPr>
          <p:cNvCxnSpPr>
            <a:cxnSpLocks/>
          </p:cNvCxnSpPr>
          <p:nvPr/>
        </p:nvCxnSpPr>
        <p:spPr>
          <a:xfrm>
            <a:off x="1097552" y="3034474"/>
            <a:ext cx="24398" cy="34900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F6B12B91-7D39-EB8E-7CFA-8E3DF2BEE9DE}"/>
              </a:ext>
            </a:extLst>
          </p:cNvPr>
          <p:cNvSpPr txBox="1"/>
          <p:nvPr/>
        </p:nvSpPr>
        <p:spPr>
          <a:xfrm>
            <a:off x="1194703" y="6310052"/>
            <a:ext cx="1023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No cuentan con MT que los resuelvan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(no resuelven ni siquiera todos los casos positivos)</a:t>
            </a:r>
            <a:endParaRPr lang="es-AR" dirty="0"/>
          </a:p>
        </p:txBody>
      </p: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14C3FCD6-8404-8A0D-5509-C078F67E74F1}"/>
              </a:ext>
            </a:extLst>
          </p:cNvPr>
          <p:cNvCxnSpPr>
            <a:cxnSpLocks/>
          </p:cNvCxnSpPr>
          <p:nvPr/>
        </p:nvCxnSpPr>
        <p:spPr>
          <a:xfrm>
            <a:off x="1764612" y="3821947"/>
            <a:ext cx="53604" cy="23350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39778E8-92AA-F3F3-9E46-391E0A416838}"/>
              </a:ext>
            </a:extLst>
          </p:cNvPr>
          <p:cNvSpPr txBox="1"/>
          <p:nvPr/>
        </p:nvSpPr>
        <p:spPr>
          <a:xfrm>
            <a:off x="1833159" y="5947758"/>
            <a:ext cx="10508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Cuentan con MT que los resuelven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parcialmente (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con algunos casos negativos pueden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loopear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s-AR" dirty="0"/>
          </a:p>
        </p:txBody>
      </p: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8D4F0B21-5CD9-C68B-8061-8F37A593A84D}"/>
              </a:ext>
            </a:extLst>
          </p:cNvPr>
          <p:cNvCxnSpPr>
            <a:cxnSpLocks/>
          </p:cNvCxnSpPr>
          <p:nvPr/>
        </p:nvCxnSpPr>
        <p:spPr>
          <a:xfrm>
            <a:off x="2444705" y="4436778"/>
            <a:ext cx="36588" cy="13227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59B9518-517B-BBD0-3822-E4CA3A193D71}"/>
              </a:ext>
            </a:extLst>
          </p:cNvPr>
          <p:cNvSpPr txBox="1"/>
          <p:nvPr/>
        </p:nvSpPr>
        <p:spPr>
          <a:xfrm>
            <a:off x="2516115" y="5550195"/>
            <a:ext cx="93526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Cuentan con MT que los resuelven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totalmente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(casos positivos y negativos)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65974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E3AA14D9-DF81-4C24-AAE5-ADED7133B4C4}"/>
              </a:ext>
            </a:extLst>
          </p:cNvPr>
          <p:cNvSpPr/>
          <p:nvPr/>
        </p:nvSpPr>
        <p:spPr>
          <a:xfrm>
            <a:off x="3759485" y="2093651"/>
            <a:ext cx="10385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cabezal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699D692-38E5-45FB-A3B0-2CB64889631F}"/>
              </a:ext>
            </a:extLst>
          </p:cNvPr>
          <p:cNvSpPr/>
          <p:nvPr/>
        </p:nvSpPr>
        <p:spPr>
          <a:xfrm>
            <a:off x="1877284" y="2778810"/>
            <a:ext cx="190629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unidad de control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5B9370B4-AE50-46B3-9865-E56923084EF0}"/>
              </a:ext>
            </a:extLst>
          </p:cNvPr>
          <p:cNvSpPr/>
          <p:nvPr/>
        </p:nvSpPr>
        <p:spPr>
          <a:xfrm>
            <a:off x="3827222" y="2755888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MX" dirty="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5E1D00EE-3179-42B2-98D4-A5A2B3B6E522}"/>
              </a:ext>
            </a:extLst>
          </p:cNvPr>
          <p:cNvSpPr/>
          <p:nvPr/>
        </p:nvSpPr>
        <p:spPr>
          <a:xfrm>
            <a:off x="872621" y="4757783"/>
            <a:ext cx="2129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es-MX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EF77EE6-A594-44A1-BB80-2F5012D2F7D0}"/>
              </a:ext>
            </a:extLst>
          </p:cNvPr>
          <p:cNvSpPr/>
          <p:nvPr/>
        </p:nvSpPr>
        <p:spPr>
          <a:xfrm>
            <a:off x="1202168" y="4749377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20C0536-76F2-4437-B9FC-C5D6385315FF}"/>
              </a:ext>
            </a:extLst>
          </p:cNvPr>
          <p:cNvSpPr/>
          <p:nvPr/>
        </p:nvSpPr>
        <p:spPr>
          <a:xfrm flipH="1">
            <a:off x="1565092" y="4757783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FAC085C-13BC-49A7-ABFB-1C667E9F36F4}"/>
              </a:ext>
            </a:extLst>
          </p:cNvPr>
          <p:cNvSpPr/>
          <p:nvPr/>
        </p:nvSpPr>
        <p:spPr>
          <a:xfrm>
            <a:off x="1916036" y="4742497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5D0582B-9568-4527-9DC8-8411517ABC4E}"/>
              </a:ext>
            </a:extLst>
          </p:cNvPr>
          <p:cNvSpPr/>
          <p:nvPr/>
        </p:nvSpPr>
        <p:spPr>
          <a:xfrm>
            <a:off x="1408639" y="5777100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MX" dirty="0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7EA27C04-E56C-424F-8610-B104F1989016}"/>
              </a:ext>
            </a:extLst>
          </p:cNvPr>
          <p:cNvSpPr/>
          <p:nvPr/>
        </p:nvSpPr>
        <p:spPr>
          <a:xfrm>
            <a:off x="2051657" y="6178761"/>
            <a:ext cx="19672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un paso de la MT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90E1DF3A-D096-4689-830D-65E742E00625}"/>
              </a:ext>
            </a:extLst>
          </p:cNvPr>
          <p:cNvSpPr/>
          <p:nvPr/>
        </p:nvSpPr>
        <p:spPr>
          <a:xfrm>
            <a:off x="3251413" y="859566"/>
            <a:ext cx="7232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cinta 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678B1F58-4520-4CDE-B50F-E84FFD992D87}"/>
              </a:ext>
            </a:extLst>
          </p:cNvPr>
          <p:cNvSpPr/>
          <p:nvPr/>
        </p:nvSpPr>
        <p:spPr>
          <a:xfrm>
            <a:off x="2668888" y="1742769"/>
            <a:ext cx="10089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símbolo </a:t>
            </a:r>
          </a:p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corriente</a:t>
            </a:r>
            <a:endParaRPr lang="es-MX" sz="1600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625D7015-B627-486B-B97C-1650DE40A130}"/>
              </a:ext>
            </a:extLst>
          </p:cNvPr>
          <p:cNvSpPr/>
          <p:nvPr/>
        </p:nvSpPr>
        <p:spPr>
          <a:xfrm>
            <a:off x="4209710" y="2648166"/>
            <a:ext cx="11055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estado corriente</a:t>
            </a:r>
            <a:endParaRPr lang="es-MX" sz="16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A4C7E2E-6147-4D48-9363-F7433D1F48C6}"/>
              </a:ext>
            </a:extLst>
          </p:cNvPr>
          <p:cNvSpPr/>
          <p:nvPr/>
        </p:nvSpPr>
        <p:spPr>
          <a:xfrm>
            <a:off x="239304" y="274826"/>
            <a:ext cx="75360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y funcionamiento de una MT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D68499B-7D73-4C35-B776-FAD0DD6E44D3}"/>
              </a:ext>
            </a:extLst>
          </p:cNvPr>
          <p:cNvSpPr/>
          <p:nvPr/>
        </p:nvSpPr>
        <p:spPr>
          <a:xfrm>
            <a:off x="303117" y="3568953"/>
            <a:ext cx="54372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 un paso, una MT puede: modificar el estado corriente, modificar el símbolo corriente, y moverse un lugar a la derecha o a la izquierda. Por ejemplo: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A8EB76A-42D7-4FB6-A353-0BD8FBB68B1E}"/>
              </a:ext>
            </a:extLst>
          </p:cNvPr>
          <p:cNvSpPr/>
          <p:nvPr/>
        </p:nvSpPr>
        <p:spPr>
          <a:xfrm>
            <a:off x="6587584" y="2369655"/>
            <a:ext cx="4995598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Tesis de </a:t>
            </a:r>
            <a:r>
              <a:rPr lang="es-MX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Church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-Turing</a:t>
            </a:r>
          </a:p>
          <a:p>
            <a:pPr algn="just"/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Todo dispositivo computacional físicamente realizable puede ser simulado por una MT.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4A508F4-8C15-4173-8303-341188FB2328}"/>
              </a:ext>
            </a:extLst>
          </p:cNvPr>
          <p:cNvSpPr/>
          <p:nvPr/>
        </p:nvSpPr>
        <p:spPr>
          <a:xfrm>
            <a:off x="6420025" y="3565335"/>
            <a:ext cx="531015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Al inicio, la entrada se delimita por blancos, y el cabezal apunta al primer símbolo de la izquierda: </a:t>
            </a:r>
          </a:p>
        </p:txBody>
      </p:sp>
      <p:sp>
        <p:nvSpPr>
          <p:cNvPr id="48" name="Título 1">
            <a:extLst>
              <a:ext uri="{FF2B5EF4-FFF2-40B4-BE49-F238E27FC236}">
                <a16:creationId xmlns:a16="http://schemas.microsoft.com/office/drawing/2014/main" id="{26DFF0F0-73CC-4216-ADE6-9E1265EEA62C}"/>
              </a:ext>
            </a:extLst>
          </p:cNvPr>
          <p:cNvSpPr txBox="1">
            <a:spLocks/>
          </p:cNvSpPr>
          <p:nvPr/>
        </p:nvSpPr>
        <p:spPr>
          <a:xfrm>
            <a:off x="1313764" y="1234417"/>
            <a:ext cx="4530903" cy="4621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a      B       t       n       +      B     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      5      c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B82DB5D1-63E1-4BAF-A7A3-D5B39C7A36A9}"/>
              </a:ext>
            </a:extLst>
          </p:cNvPr>
          <p:cNvSpPr/>
          <p:nvPr/>
        </p:nvSpPr>
        <p:spPr>
          <a:xfrm>
            <a:off x="1225891" y="1204193"/>
            <a:ext cx="4618809" cy="492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552B3AD5-9197-4CC0-B6C5-9C3D74063186}"/>
              </a:ext>
            </a:extLst>
          </p:cNvPr>
          <p:cNvCxnSpPr>
            <a:cxnSpLocks/>
          </p:cNvCxnSpPr>
          <p:nvPr/>
        </p:nvCxnSpPr>
        <p:spPr>
          <a:xfrm>
            <a:off x="1716128" y="1195315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1CFBEE1D-2EBD-4B2C-B94A-1DB328191F8B}"/>
              </a:ext>
            </a:extLst>
          </p:cNvPr>
          <p:cNvCxnSpPr>
            <a:cxnSpLocks/>
          </p:cNvCxnSpPr>
          <p:nvPr/>
        </p:nvCxnSpPr>
        <p:spPr>
          <a:xfrm>
            <a:off x="2221455" y="1204193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EC00E3DA-3A72-4B73-971C-AA5AB0B7E926}"/>
              </a:ext>
            </a:extLst>
          </p:cNvPr>
          <p:cNvCxnSpPr>
            <a:cxnSpLocks/>
          </p:cNvCxnSpPr>
          <p:nvPr/>
        </p:nvCxnSpPr>
        <p:spPr>
          <a:xfrm>
            <a:off x="2766886" y="1204193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89C2C4EB-CB7D-4437-89B3-F7EE434B1566}"/>
              </a:ext>
            </a:extLst>
          </p:cNvPr>
          <p:cNvCxnSpPr>
            <a:cxnSpLocks/>
          </p:cNvCxnSpPr>
          <p:nvPr/>
        </p:nvCxnSpPr>
        <p:spPr>
          <a:xfrm>
            <a:off x="3264191" y="1204193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E3BFA7C6-9AD1-4347-8A4A-B777F5EE8F28}"/>
              </a:ext>
            </a:extLst>
          </p:cNvPr>
          <p:cNvCxnSpPr>
            <a:cxnSpLocks/>
          </p:cNvCxnSpPr>
          <p:nvPr/>
        </p:nvCxnSpPr>
        <p:spPr>
          <a:xfrm>
            <a:off x="3761496" y="1204193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>
            <a:extLst>
              <a:ext uri="{FF2B5EF4-FFF2-40B4-BE49-F238E27FC236}">
                <a16:creationId xmlns:a16="http://schemas.microsoft.com/office/drawing/2014/main" id="{08468F48-D1CF-4530-A4D2-8E43CB547FB2}"/>
              </a:ext>
            </a:extLst>
          </p:cNvPr>
          <p:cNvCxnSpPr>
            <a:cxnSpLocks/>
          </p:cNvCxnSpPr>
          <p:nvPr/>
        </p:nvCxnSpPr>
        <p:spPr>
          <a:xfrm>
            <a:off x="4258802" y="1223590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2880D8EF-AEAE-4976-AC8C-9C23CD6E3F1C}"/>
              </a:ext>
            </a:extLst>
          </p:cNvPr>
          <p:cNvCxnSpPr>
            <a:cxnSpLocks/>
          </p:cNvCxnSpPr>
          <p:nvPr/>
        </p:nvCxnSpPr>
        <p:spPr>
          <a:xfrm>
            <a:off x="4802552" y="1204193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58">
            <a:extLst>
              <a:ext uri="{FF2B5EF4-FFF2-40B4-BE49-F238E27FC236}">
                <a16:creationId xmlns:a16="http://schemas.microsoft.com/office/drawing/2014/main" id="{0EB134F5-0E82-46CF-9A8A-DEA14F829285}"/>
              </a:ext>
            </a:extLst>
          </p:cNvPr>
          <p:cNvCxnSpPr>
            <a:cxnSpLocks/>
          </p:cNvCxnSpPr>
          <p:nvPr/>
        </p:nvCxnSpPr>
        <p:spPr>
          <a:xfrm>
            <a:off x="5317580" y="1195315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grama de flujo: proceso 8">
            <a:extLst>
              <a:ext uri="{FF2B5EF4-FFF2-40B4-BE49-F238E27FC236}">
                <a16:creationId xmlns:a16="http://schemas.microsoft.com/office/drawing/2014/main" id="{78B97933-FBBF-4CF9-BA9C-4F8513BBAE38}"/>
              </a:ext>
            </a:extLst>
          </p:cNvPr>
          <p:cNvSpPr/>
          <p:nvPr/>
        </p:nvSpPr>
        <p:spPr>
          <a:xfrm>
            <a:off x="3761496" y="2700943"/>
            <a:ext cx="444358" cy="462963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979EED2-95BE-4BC9-8BAF-1B6B2381C66C}"/>
              </a:ext>
            </a:extLst>
          </p:cNvPr>
          <p:cNvCxnSpPr>
            <a:cxnSpLocks/>
            <a:stCxn id="9" idx="0"/>
            <a:endCxn id="51" idx="2"/>
          </p:cNvCxnSpPr>
          <p:nvPr/>
        </p:nvCxnSpPr>
        <p:spPr>
          <a:xfrm flipH="1" flipV="1">
            <a:off x="3535296" y="1696521"/>
            <a:ext cx="448379" cy="10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ángulo 64">
            <a:extLst>
              <a:ext uri="{FF2B5EF4-FFF2-40B4-BE49-F238E27FC236}">
                <a16:creationId xmlns:a16="http://schemas.microsoft.com/office/drawing/2014/main" id="{2E14B2F9-C5D9-4623-A288-7F0E7C9A691B}"/>
              </a:ext>
            </a:extLst>
          </p:cNvPr>
          <p:cNvSpPr/>
          <p:nvPr/>
        </p:nvSpPr>
        <p:spPr>
          <a:xfrm>
            <a:off x="5840264" y="1164525"/>
            <a:ext cx="747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….. </a:t>
            </a:r>
            <a:endParaRPr lang="es-MX" sz="2400" b="1" dirty="0"/>
          </a:p>
        </p:txBody>
      </p:sp>
      <p:sp>
        <p:nvSpPr>
          <p:cNvPr id="66" name="Rectángulo 65">
            <a:extLst>
              <a:ext uri="{FF2B5EF4-FFF2-40B4-BE49-F238E27FC236}">
                <a16:creationId xmlns:a16="http://schemas.microsoft.com/office/drawing/2014/main" id="{4BFE2BD6-1DCB-4366-8404-FBF355E20E10}"/>
              </a:ext>
            </a:extLst>
          </p:cNvPr>
          <p:cNvSpPr/>
          <p:nvPr/>
        </p:nvSpPr>
        <p:spPr>
          <a:xfrm>
            <a:off x="583348" y="1151301"/>
            <a:ext cx="7473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….. </a:t>
            </a:r>
            <a:endParaRPr lang="es-MX" sz="2400" b="1" dirty="0"/>
          </a:p>
        </p:txBody>
      </p:sp>
      <p:sp>
        <p:nvSpPr>
          <p:cNvPr id="67" name="Diagrama de flujo: proceso 66">
            <a:extLst>
              <a:ext uri="{FF2B5EF4-FFF2-40B4-BE49-F238E27FC236}">
                <a16:creationId xmlns:a16="http://schemas.microsoft.com/office/drawing/2014/main" id="{7B8E9104-F70D-4CC1-910B-5E54E8002067}"/>
              </a:ext>
            </a:extLst>
          </p:cNvPr>
          <p:cNvSpPr/>
          <p:nvPr/>
        </p:nvSpPr>
        <p:spPr>
          <a:xfrm>
            <a:off x="832995" y="4715082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45F3C792-3C83-4769-94B7-722F4D539A82}"/>
              </a:ext>
            </a:extLst>
          </p:cNvPr>
          <p:cNvCxnSpPr>
            <a:cxnSpLocks/>
          </p:cNvCxnSpPr>
          <p:nvPr/>
        </p:nvCxnSpPr>
        <p:spPr>
          <a:xfrm>
            <a:off x="1180617" y="4712858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C359CBFE-EE9F-4A3D-880B-698419AABFF1}"/>
              </a:ext>
            </a:extLst>
          </p:cNvPr>
          <p:cNvCxnSpPr>
            <a:cxnSpLocks/>
          </p:cNvCxnSpPr>
          <p:nvPr/>
        </p:nvCxnSpPr>
        <p:spPr>
          <a:xfrm>
            <a:off x="1532899" y="4714249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059ACD6B-151A-4D4B-B7AE-EF8084B447B6}"/>
              </a:ext>
            </a:extLst>
          </p:cNvPr>
          <p:cNvCxnSpPr>
            <a:cxnSpLocks/>
          </p:cNvCxnSpPr>
          <p:nvPr/>
        </p:nvCxnSpPr>
        <p:spPr>
          <a:xfrm>
            <a:off x="1894849" y="4707834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ángulo 78">
            <a:extLst>
              <a:ext uri="{FF2B5EF4-FFF2-40B4-BE49-F238E27FC236}">
                <a16:creationId xmlns:a16="http://schemas.microsoft.com/office/drawing/2014/main" id="{92EBC302-684E-4042-800D-048CAC8341CD}"/>
              </a:ext>
            </a:extLst>
          </p:cNvPr>
          <p:cNvSpPr/>
          <p:nvPr/>
        </p:nvSpPr>
        <p:spPr>
          <a:xfrm>
            <a:off x="3786475" y="4735611"/>
            <a:ext cx="2129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es-MX" dirty="0"/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5CEFE871-C582-41F2-B6DC-F5022870ADA0}"/>
              </a:ext>
            </a:extLst>
          </p:cNvPr>
          <p:cNvSpPr/>
          <p:nvPr/>
        </p:nvSpPr>
        <p:spPr>
          <a:xfrm>
            <a:off x="4119086" y="4742025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endParaRPr lang="es-MX" b="1" dirty="0"/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E81857C2-40B1-4230-A20B-A62138BA1BA5}"/>
              </a:ext>
            </a:extLst>
          </p:cNvPr>
          <p:cNvSpPr/>
          <p:nvPr/>
        </p:nvSpPr>
        <p:spPr>
          <a:xfrm flipH="1">
            <a:off x="4478946" y="4735611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dirty="0"/>
          </a:p>
        </p:txBody>
      </p:sp>
      <p:sp>
        <p:nvSpPr>
          <p:cNvPr id="82" name="Rectángulo 81">
            <a:extLst>
              <a:ext uri="{FF2B5EF4-FFF2-40B4-BE49-F238E27FC236}">
                <a16:creationId xmlns:a16="http://schemas.microsoft.com/office/drawing/2014/main" id="{229135C1-47E7-48BC-BDD6-180A7AB73875}"/>
              </a:ext>
            </a:extLst>
          </p:cNvPr>
          <p:cNvSpPr/>
          <p:nvPr/>
        </p:nvSpPr>
        <p:spPr>
          <a:xfrm>
            <a:off x="4829890" y="4720325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83" name="Diagrama de flujo: proceso 82">
            <a:extLst>
              <a:ext uri="{FF2B5EF4-FFF2-40B4-BE49-F238E27FC236}">
                <a16:creationId xmlns:a16="http://schemas.microsoft.com/office/drawing/2014/main" id="{0E1C6216-7F6B-4E76-97DD-0C7E3BEBEFA7}"/>
              </a:ext>
            </a:extLst>
          </p:cNvPr>
          <p:cNvSpPr/>
          <p:nvPr/>
        </p:nvSpPr>
        <p:spPr>
          <a:xfrm>
            <a:off x="3746849" y="4692910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01D4976D-CBA0-412E-AA8B-09A06A9A90B6}"/>
              </a:ext>
            </a:extLst>
          </p:cNvPr>
          <p:cNvCxnSpPr>
            <a:cxnSpLocks/>
          </p:cNvCxnSpPr>
          <p:nvPr/>
        </p:nvCxnSpPr>
        <p:spPr>
          <a:xfrm>
            <a:off x="4094471" y="4690686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34870FD3-CEC0-4962-9E11-1B63BBC00B54}"/>
              </a:ext>
            </a:extLst>
          </p:cNvPr>
          <p:cNvCxnSpPr>
            <a:cxnSpLocks/>
          </p:cNvCxnSpPr>
          <p:nvPr/>
        </p:nvCxnSpPr>
        <p:spPr>
          <a:xfrm>
            <a:off x="4446753" y="4692077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BA6A88A7-D751-4A6B-8E14-E5CB6C4E6E58}"/>
              </a:ext>
            </a:extLst>
          </p:cNvPr>
          <p:cNvCxnSpPr>
            <a:cxnSpLocks/>
          </p:cNvCxnSpPr>
          <p:nvPr/>
        </p:nvCxnSpPr>
        <p:spPr>
          <a:xfrm>
            <a:off x="4808703" y="4685662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iagrama de flujo: proceso 86">
            <a:extLst>
              <a:ext uri="{FF2B5EF4-FFF2-40B4-BE49-F238E27FC236}">
                <a16:creationId xmlns:a16="http://schemas.microsoft.com/office/drawing/2014/main" id="{E115B088-20B4-4EDD-B060-2AB6F15D59C4}"/>
              </a:ext>
            </a:extLst>
          </p:cNvPr>
          <p:cNvSpPr/>
          <p:nvPr/>
        </p:nvSpPr>
        <p:spPr>
          <a:xfrm>
            <a:off x="1366644" y="5777100"/>
            <a:ext cx="402675" cy="41614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88" name="Conector recto de flecha 87">
            <a:extLst>
              <a:ext uri="{FF2B5EF4-FFF2-40B4-BE49-F238E27FC236}">
                <a16:creationId xmlns:a16="http://schemas.microsoft.com/office/drawing/2014/main" id="{C4482BDE-0296-4153-8AAE-0FD3AE209E77}"/>
              </a:ext>
            </a:extLst>
          </p:cNvPr>
          <p:cNvCxnSpPr>
            <a:cxnSpLocks/>
          </p:cNvCxnSpPr>
          <p:nvPr/>
        </p:nvCxnSpPr>
        <p:spPr>
          <a:xfrm flipH="1" flipV="1">
            <a:off x="1327904" y="5177063"/>
            <a:ext cx="248934" cy="5857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ángulo 91">
            <a:extLst>
              <a:ext uri="{FF2B5EF4-FFF2-40B4-BE49-F238E27FC236}">
                <a16:creationId xmlns:a16="http://schemas.microsoft.com/office/drawing/2014/main" id="{CF73CBA4-F2B8-4980-AAE4-3CA995D51F53}"/>
              </a:ext>
            </a:extLst>
          </p:cNvPr>
          <p:cNvSpPr/>
          <p:nvPr/>
        </p:nvSpPr>
        <p:spPr>
          <a:xfrm>
            <a:off x="4371537" y="5729695"/>
            <a:ext cx="3738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q</a:t>
            </a:r>
            <a:r>
              <a:rPr lang="es-MX" b="1" dirty="0"/>
              <a:t>´</a:t>
            </a:r>
          </a:p>
        </p:txBody>
      </p:sp>
      <p:sp>
        <p:nvSpPr>
          <p:cNvPr id="93" name="Diagrama de flujo: proceso 92">
            <a:extLst>
              <a:ext uri="{FF2B5EF4-FFF2-40B4-BE49-F238E27FC236}">
                <a16:creationId xmlns:a16="http://schemas.microsoft.com/office/drawing/2014/main" id="{4446D5C8-6407-4E7D-BE8C-3840155EEC84}"/>
              </a:ext>
            </a:extLst>
          </p:cNvPr>
          <p:cNvSpPr/>
          <p:nvPr/>
        </p:nvSpPr>
        <p:spPr>
          <a:xfrm>
            <a:off x="4323763" y="5717665"/>
            <a:ext cx="402675" cy="41614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94" name="Conector recto de flecha 93">
            <a:extLst>
              <a:ext uri="{FF2B5EF4-FFF2-40B4-BE49-F238E27FC236}">
                <a16:creationId xmlns:a16="http://schemas.microsoft.com/office/drawing/2014/main" id="{89B2D0C7-41D4-4B29-B81B-ECB520DD3222}"/>
              </a:ext>
            </a:extLst>
          </p:cNvPr>
          <p:cNvCxnSpPr>
            <a:cxnSpLocks/>
            <a:stCxn id="93" idx="0"/>
          </p:cNvCxnSpPr>
          <p:nvPr/>
        </p:nvCxnSpPr>
        <p:spPr>
          <a:xfrm flipV="1">
            <a:off x="4525101" y="5159915"/>
            <a:ext cx="137648" cy="5577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ángulo 98">
            <a:extLst>
              <a:ext uri="{FF2B5EF4-FFF2-40B4-BE49-F238E27FC236}">
                <a16:creationId xmlns:a16="http://schemas.microsoft.com/office/drawing/2014/main" id="{33CAFE6D-CEA7-44D4-A33B-BB0DA034DE1A}"/>
              </a:ext>
            </a:extLst>
          </p:cNvPr>
          <p:cNvSpPr/>
          <p:nvPr/>
        </p:nvSpPr>
        <p:spPr>
          <a:xfrm>
            <a:off x="2212470" y="4622707"/>
            <a:ext cx="747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….. </a:t>
            </a:r>
            <a:endParaRPr lang="es-MX" sz="2400" b="1" dirty="0"/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16D11B01-3973-407D-92C1-5946822EE56B}"/>
              </a:ext>
            </a:extLst>
          </p:cNvPr>
          <p:cNvSpPr/>
          <p:nvPr/>
        </p:nvSpPr>
        <p:spPr>
          <a:xfrm>
            <a:off x="212410" y="4643278"/>
            <a:ext cx="747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….. </a:t>
            </a:r>
            <a:endParaRPr lang="es-MX" sz="2400" b="1" dirty="0"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F014C72C-EC38-40F8-97B6-D9D28D12F91B}"/>
              </a:ext>
            </a:extLst>
          </p:cNvPr>
          <p:cNvSpPr/>
          <p:nvPr/>
        </p:nvSpPr>
        <p:spPr>
          <a:xfrm>
            <a:off x="3140510" y="4622706"/>
            <a:ext cx="747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….. </a:t>
            </a:r>
            <a:endParaRPr lang="es-MX" sz="2400" b="1" dirty="0"/>
          </a:p>
        </p:txBody>
      </p:sp>
      <p:sp>
        <p:nvSpPr>
          <p:cNvPr id="102" name="Rectángulo 101">
            <a:extLst>
              <a:ext uri="{FF2B5EF4-FFF2-40B4-BE49-F238E27FC236}">
                <a16:creationId xmlns:a16="http://schemas.microsoft.com/office/drawing/2014/main" id="{339BC276-F290-4D01-811B-E60DB80FCDCD}"/>
              </a:ext>
            </a:extLst>
          </p:cNvPr>
          <p:cNvSpPr/>
          <p:nvPr/>
        </p:nvSpPr>
        <p:spPr>
          <a:xfrm>
            <a:off x="5124444" y="4620599"/>
            <a:ext cx="747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….. </a:t>
            </a:r>
            <a:endParaRPr lang="es-MX" sz="2400" b="1" dirty="0"/>
          </a:p>
        </p:txBody>
      </p:sp>
      <p:sp>
        <p:nvSpPr>
          <p:cNvPr id="103" name="Flecha: a la derecha 102">
            <a:extLst>
              <a:ext uri="{FF2B5EF4-FFF2-40B4-BE49-F238E27FC236}">
                <a16:creationId xmlns:a16="http://schemas.microsoft.com/office/drawing/2014/main" id="{C446B9BF-99CD-4167-9E5C-CD2391304EE2}"/>
              </a:ext>
            </a:extLst>
          </p:cNvPr>
          <p:cNvSpPr/>
          <p:nvPr/>
        </p:nvSpPr>
        <p:spPr>
          <a:xfrm>
            <a:off x="2509176" y="5346689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9" name="Título 1">
            <a:extLst>
              <a:ext uri="{FF2B5EF4-FFF2-40B4-BE49-F238E27FC236}">
                <a16:creationId xmlns:a16="http://schemas.microsoft.com/office/drawing/2014/main" id="{03D94088-EEB9-455E-A8B7-9BC4770EC513}"/>
              </a:ext>
            </a:extLst>
          </p:cNvPr>
          <p:cNvSpPr txBox="1">
            <a:spLocks/>
          </p:cNvSpPr>
          <p:nvPr/>
        </p:nvSpPr>
        <p:spPr>
          <a:xfrm>
            <a:off x="6856199" y="4694054"/>
            <a:ext cx="4530903" cy="4621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B      a      </a:t>
            </a:r>
            <a:r>
              <a:rPr lang="es-MX" sz="18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       b     c      b      a      </a:t>
            </a:r>
            <a:r>
              <a:rPr lang="es-MX" sz="18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      B          </a:t>
            </a:r>
          </a:p>
        </p:txBody>
      </p:sp>
      <p:sp>
        <p:nvSpPr>
          <p:cNvPr id="110" name="Rectángulo 109">
            <a:extLst>
              <a:ext uri="{FF2B5EF4-FFF2-40B4-BE49-F238E27FC236}">
                <a16:creationId xmlns:a16="http://schemas.microsoft.com/office/drawing/2014/main" id="{C64C375D-D176-4215-B7B7-C09EAD6329A8}"/>
              </a:ext>
            </a:extLst>
          </p:cNvPr>
          <p:cNvSpPr/>
          <p:nvPr/>
        </p:nvSpPr>
        <p:spPr>
          <a:xfrm>
            <a:off x="6768326" y="4663830"/>
            <a:ext cx="4618809" cy="492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1" name="Conector recto 110">
            <a:extLst>
              <a:ext uri="{FF2B5EF4-FFF2-40B4-BE49-F238E27FC236}">
                <a16:creationId xmlns:a16="http://schemas.microsoft.com/office/drawing/2014/main" id="{1BA2E8E8-3927-4A56-AB8A-9A3DCEA6D5C3}"/>
              </a:ext>
            </a:extLst>
          </p:cNvPr>
          <p:cNvCxnSpPr>
            <a:cxnSpLocks/>
          </p:cNvCxnSpPr>
          <p:nvPr/>
        </p:nvCxnSpPr>
        <p:spPr>
          <a:xfrm>
            <a:off x="7258563" y="4654952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3D9C7EC3-70DD-45A5-8B4F-E62072C5A428}"/>
              </a:ext>
            </a:extLst>
          </p:cNvPr>
          <p:cNvCxnSpPr>
            <a:cxnSpLocks/>
          </p:cNvCxnSpPr>
          <p:nvPr/>
        </p:nvCxnSpPr>
        <p:spPr>
          <a:xfrm>
            <a:off x="7763890" y="4663830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ector recto 112">
            <a:extLst>
              <a:ext uri="{FF2B5EF4-FFF2-40B4-BE49-F238E27FC236}">
                <a16:creationId xmlns:a16="http://schemas.microsoft.com/office/drawing/2014/main" id="{8C639EA5-8BE1-4CCA-835E-58EDE7E3D420}"/>
              </a:ext>
            </a:extLst>
          </p:cNvPr>
          <p:cNvCxnSpPr>
            <a:cxnSpLocks/>
          </p:cNvCxnSpPr>
          <p:nvPr/>
        </p:nvCxnSpPr>
        <p:spPr>
          <a:xfrm>
            <a:off x="8309321" y="4663830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113">
            <a:extLst>
              <a:ext uri="{FF2B5EF4-FFF2-40B4-BE49-F238E27FC236}">
                <a16:creationId xmlns:a16="http://schemas.microsoft.com/office/drawing/2014/main" id="{1DE7A91B-7EF2-4153-B95A-7FBDEB8E43F6}"/>
              </a:ext>
            </a:extLst>
          </p:cNvPr>
          <p:cNvCxnSpPr>
            <a:cxnSpLocks/>
          </p:cNvCxnSpPr>
          <p:nvPr/>
        </p:nvCxnSpPr>
        <p:spPr>
          <a:xfrm>
            <a:off x="8806626" y="4663830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recto 114">
            <a:extLst>
              <a:ext uri="{FF2B5EF4-FFF2-40B4-BE49-F238E27FC236}">
                <a16:creationId xmlns:a16="http://schemas.microsoft.com/office/drawing/2014/main" id="{53D34FE0-A262-47F5-9347-198FAE27F54E}"/>
              </a:ext>
            </a:extLst>
          </p:cNvPr>
          <p:cNvCxnSpPr>
            <a:cxnSpLocks/>
          </p:cNvCxnSpPr>
          <p:nvPr/>
        </p:nvCxnSpPr>
        <p:spPr>
          <a:xfrm>
            <a:off x="9303931" y="4663830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A6E42936-8266-403B-8BC3-F506A6DC2252}"/>
              </a:ext>
            </a:extLst>
          </p:cNvPr>
          <p:cNvCxnSpPr>
            <a:cxnSpLocks/>
          </p:cNvCxnSpPr>
          <p:nvPr/>
        </p:nvCxnSpPr>
        <p:spPr>
          <a:xfrm>
            <a:off x="9801237" y="4683227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116">
            <a:extLst>
              <a:ext uri="{FF2B5EF4-FFF2-40B4-BE49-F238E27FC236}">
                <a16:creationId xmlns:a16="http://schemas.microsoft.com/office/drawing/2014/main" id="{340BD51F-BC96-4F60-ACB3-082ECB87CBCB}"/>
              </a:ext>
            </a:extLst>
          </p:cNvPr>
          <p:cNvCxnSpPr>
            <a:cxnSpLocks/>
          </p:cNvCxnSpPr>
          <p:nvPr/>
        </p:nvCxnSpPr>
        <p:spPr>
          <a:xfrm>
            <a:off x="10344987" y="4663830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117">
            <a:extLst>
              <a:ext uri="{FF2B5EF4-FFF2-40B4-BE49-F238E27FC236}">
                <a16:creationId xmlns:a16="http://schemas.microsoft.com/office/drawing/2014/main" id="{A8FB2DD2-7526-4C7A-9E9C-3E98F6B7E481}"/>
              </a:ext>
            </a:extLst>
          </p:cNvPr>
          <p:cNvCxnSpPr>
            <a:cxnSpLocks/>
          </p:cNvCxnSpPr>
          <p:nvPr/>
        </p:nvCxnSpPr>
        <p:spPr>
          <a:xfrm>
            <a:off x="10860015" y="4654952"/>
            <a:ext cx="0" cy="5012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Diagrama de flujo: proceso 118">
            <a:extLst>
              <a:ext uri="{FF2B5EF4-FFF2-40B4-BE49-F238E27FC236}">
                <a16:creationId xmlns:a16="http://schemas.microsoft.com/office/drawing/2014/main" id="{8D344FF1-4CDB-4ACF-A5D5-A4BC12E054D9}"/>
              </a:ext>
            </a:extLst>
          </p:cNvPr>
          <p:cNvSpPr/>
          <p:nvPr/>
        </p:nvSpPr>
        <p:spPr>
          <a:xfrm>
            <a:off x="9303931" y="6160580"/>
            <a:ext cx="444358" cy="462963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20" name="Conector recto de flecha 119">
            <a:extLst>
              <a:ext uri="{FF2B5EF4-FFF2-40B4-BE49-F238E27FC236}">
                <a16:creationId xmlns:a16="http://schemas.microsoft.com/office/drawing/2014/main" id="{9EE1D6B6-B469-4ACF-82C0-02FF8B95E68F}"/>
              </a:ext>
            </a:extLst>
          </p:cNvPr>
          <p:cNvCxnSpPr>
            <a:cxnSpLocks/>
            <a:stCxn id="119" idx="0"/>
          </p:cNvCxnSpPr>
          <p:nvPr/>
        </p:nvCxnSpPr>
        <p:spPr>
          <a:xfrm flipH="1" flipV="1">
            <a:off x="7470355" y="5163360"/>
            <a:ext cx="2055755" cy="9972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244E8A4B-77C2-43A9-9491-594501140C46}"/>
              </a:ext>
            </a:extLst>
          </p:cNvPr>
          <p:cNvSpPr/>
          <p:nvPr/>
        </p:nvSpPr>
        <p:spPr>
          <a:xfrm>
            <a:off x="11393077" y="4652339"/>
            <a:ext cx="747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….. </a:t>
            </a:r>
            <a:endParaRPr lang="es-MX" sz="2400" b="1" dirty="0"/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E9F24B0B-ABF6-4A5F-9758-86AAA4DF5F38}"/>
              </a:ext>
            </a:extLst>
          </p:cNvPr>
          <p:cNvSpPr/>
          <p:nvPr/>
        </p:nvSpPr>
        <p:spPr>
          <a:xfrm>
            <a:off x="6125783" y="4610938"/>
            <a:ext cx="7473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….. </a:t>
            </a:r>
            <a:endParaRPr lang="es-MX" sz="2400" b="1" dirty="0"/>
          </a:p>
        </p:txBody>
      </p:sp>
      <p:sp>
        <p:nvSpPr>
          <p:cNvPr id="132" name="Rectángulo 131">
            <a:extLst>
              <a:ext uri="{FF2B5EF4-FFF2-40B4-BE49-F238E27FC236}">
                <a16:creationId xmlns:a16="http://schemas.microsoft.com/office/drawing/2014/main" id="{0CCA4C24-884C-48A5-A69E-6B4CC8D12B6E}"/>
              </a:ext>
            </a:extLst>
          </p:cNvPr>
          <p:cNvSpPr/>
          <p:nvPr/>
        </p:nvSpPr>
        <p:spPr>
          <a:xfrm>
            <a:off x="8109717" y="4275922"/>
            <a:ext cx="29824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cadena de entrada</a:t>
            </a:r>
          </a:p>
        </p:txBody>
      </p:sp>
      <p:sp>
        <p:nvSpPr>
          <p:cNvPr id="133" name="Rectángulo 132">
            <a:extLst>
              <a:ext uri="{FF2B5EF4-FFF2-40B4-BE49-F238E27FC236}">
                <a16:creationId xmlns:a16="http://schemas.microsoft.com/office/drawing/2014/main" id="{C6D805A9-EBF4-4368-9414-12EAAC5251B6}"/>
              </a:ext>
            </a:extLst>
          </p:cNvPr>
          <p:cNvSpPr/>
          <p:nvPr/>
        </p:nvSpPr>
        <p:spPr>
          <a:xfrm>
            <a:off x="10892821" y="5148828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blancos</a:t>
            </a:r>
          </a:p>
        </p:txBody>
      </p:sp>
      <p:sp>
        <p:nvSpPr>
          <p:cNvPr id="134" name="Rectángulo 133">
            <a:extLst>
              <a:ext uri="{FF2B5EF4-FFF2-40B4-BE49-F238E27FC236}">
                <a16:creationId xmlns:a16="http://schemas.microsoft.com/office/drawing/2014/main" id="{4A2F9EE8-759F-459F-AE5C-82F1A2BBCC32}"/>
              </a:ext>
            </a:extLst>
          </p:cNvPr>
          <p:cNvSpPr/>
          <p:nvPr/>
        </p:nvSpPr>
        <p:spPr>
          <a:xfrm>
            <a:off x="6298594" y="5135407"/>
            <a:ext cx="9797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blancos</a:t>
            </a:r>
          </a:p>
        </p:txBody>
      </p:sp>
      <p:sp>
        <p:nvSpPr>
          <p:cNvPr id="135" name="Rectángulo 134">
            <a:extLst>
              <a:ext uri="{FF2B5EF4-FFF2-40B4-BE49-F238E27FC236}">
                <a16:creationId xmlns:a16="http://schemas.microsoft.com/office/drawing/2014/main" id="{302E45DA-B46A-45C4-8F9F-822D35C477D5}"/>
              </a:ext>
            </a:extLst>
          </p:cNvPr>
          <p:cNvSpPr/>
          <p:nvPr/>
        </p:nvSpPr>
        <p:spPr>
          <a:xfrm>
            <a:off x="8249432" y="5142029"/>
            <a:ext cx="2345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entrada w =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aabcbaa</a:t>
            </a:r>
            <a:endParaRPr lang="es-MX" dirty="0"/>
          </a:p>
        </p:txBody>
      </p:sp>
      <p:sp>
        <p:nvSpPr>
          <p:cNvPr id="136" name="Rectángulo 135">
            <a:extLst>
              <a:ext uri="{FF2B5EF4-FFF2-40B4-BE49-F238E27FC236}">
                <a16:creationId xmlns:a16="http://schemas.microsoft.com/office/drawing/2014/main" id="{D9E3DA7F-3F00-4792-81CD-3313B2E605E9}"/>
              </a:ext>
            </a:extLst>
          </p:cNvPr>
          <p:cNvSpPr/>
          <p:nvPr/>
        </p:nvSpPr>
        <p:spPr>
          <a:xfrm>
            <a:off x="9749003" y="6189625"/>
            <a:ext cx="1582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estado inicial </a:t>
            </a:r>
            <a:endParaRPr lang="es-MX" dirty="0"/>
          </a:p>
        </p:txBody>
      </p:sp>
      <p:sp>
        <p:nvSpPr>
          <p:cNvPr id="74" name="Slide Number Placeholder 2">
            <a:extLst>
              <a:ext uri="{FF2B5EF4-FFF2-40B4-BE49-F238E27FC236}">
                <a16:creationId xmlns:a16="http://schemas.microsoft.com/office/drawing/2014/main" id="{8FE1EE57-CA72-4314-8F27-B8D3F90737F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689A702-AA5B-DF34-E17B-DC725EE97DF4}"/>
              </a:ext>
            </a:extLst>
          </p:cNvPr>
          <p:cNvSpPr txBox="1"/>
          <p:nvPr/>
        </p:nvSpPr>
        <p:spPr>
          <a:xfrm>
            <a:off x="9323727" y="6189625"/>
            <a:ext cx="439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es-AR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6ACB1A3-6D02-61F7-7E08-CA69245B5858}"/>
              </a:ext>
            </a:extLst>
          </p:cNvPr>
          <p:cNvSpPr/>
          <p:nvPr/>
        </p:nvSpPr>
        <p:spPr>
          <a:xfrm>
            <a:off x="6407739" y="1034848"/>
            <a:ext cx="54648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La cinta es infinita en ambos extremos y almacena símbolos de un alfabeto finito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Γ. La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unidad de control tiene siempre un estado de un conjunto finito de estados Q.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0538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97" y="299544"/>
            <a:ext cx="11225048" cy="62700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Formalmente, una MT M es una tupla (Q, </a:t>
            </a:r>
            <a:r>
              <a:rPr lang="es-AR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Γ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, δ, q</a:t>
            </a:r>
            <a:r>
              <a:rPr lang="es-AR" sz="1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0" indent="0">
              <a:buNone/>
            </a:pPr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Q es el conjunto finito de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estados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de M.</a:t>
            </a:r>
          </a:p>
          <a:p>
            <a:pPr marL="0" indent="0">
              <a:buNone/>
            </a:pPr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Γ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es el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alfabeto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(conjunto finito de símbolos) de M.</a:t>
            </a:r>
          </a:p>
          <a:p>
            <a:pPr marL="0" indent="0"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Γ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incluye al símbolo blanco B.</a:t>
            </a:r>
          </a:p>
          <a:p>
            <a:pPr marL="0" indent="0"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Las cadenas de entrada no admiten blancos.</a:t>
            </a:r>
          </a:p>
          <a:p>
            <a:pPr marL="0" indent="0">
              <a:buNone/>
            </a:pPr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es el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estado inicial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de M.</a:t>
            </a:r>
          </a:p>
          <a:p>
            <a:pPr marL="0" indent="0">
              <a:buNone/>
            </a:pPr>
            <a:endParaRPr lang="es-MX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son los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estados finales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de M (de aceptación y de rechazo).</a:t>
            </a:r>
          </a:p>
          <a:p>
            <a:pPr marL="0" indent="0">
              <a:buNone/>
            </a:pPr>
            <a:endParaRPr lang="es-A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δ es la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función de transición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de M (especifica su comportamiento):</a:t>
            </a:r>
          </a:p>
          <a:p>
            <a:pPr marL="0" indent="0">
              <a:buNone/>
            </a:pPr>
            <a:endParaRPr lang="es-MX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  Dado un estado corriente de Q, y un símbolo corriente de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Γ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la MT M: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  - pasa eventualmente a un nuevo estado de Q,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  - modifica eventualmente el símbolo corriente de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Γ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  - y se mueve un lugar a la derecha (R), a la izquierda (L), o no se mueve (S).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  La máquina para, si en algún momento alcanza el estado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23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endParaRPr lang="es-MX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8D63EF-74C6-46F1-8F02-BD84E44FF302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95B02E-8239-4E5C-9165-B11FA59866D3}"/>
              </a:ext>
            </a:extLst>
          </p:cNvPr>
          <p:cNvSpPr/>
          <p:nvPr/>
        </p:nvSpPr>
        <p:spPr>
          <a:xfrm>
            <a:off x="8366420" y="2801510"/>
            <a:ext cx="2935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D2FBADB-18E3-4584-8B57-7EAFB1C1AD4E}"/>
              </a:ext>
            </a:extLst>
          </p:cNvPr>
          <p:cNvSpPr/>
          <p:nvPr/>
        </p:nvSpPr>
        <p:spPr>
          <a:xfrm>
            <a:off x="8706822" y="2779912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FDD9366-23BD-4846-8822-2271E0AE00C7}"/>
              </a:ext>
            </a:extLst>
          </p:cNvPr>
          <p:cNvSpPr/>
          <p:nvPr/>
        </p:nvSpPr>
        <p:spPr>
          <a:xfrm flipH="1">
            <a:off x="9069746" y="2788318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3D4A30D-7009-4FCA-B650-A44C001C753C}"/>
              </a:ext>
            </a:extLst>
          </p:cNvPr>
          <p:cNvSpPr/>
          <p:nvPr/>
        </p:nvSpPr>
        <p:spPr>
          <a:xfrm>
            <a:off x="9420690" y="2773032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AD31A05-1346-4B83-B8C7-9844236EAE91}"/>
              </a:ext>
            </a:extLst>
          </p:cNvPr>
          <p:cNvSpPr/>
          <p:nvPr/>
        </p:nvSpPr>
        <p:spPr>
          <a:xfrm>
            <a:off x="8913293" y="3807635"/>
            <a:ext cx="312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MX" dirty="0"/>
          </a:p>
        </p:txBody>
      </p:sp>
      <p:sp>
        <p:nvSpPr>
          <p:cNvPr id="10" name="Diagrama de flujo: proceso 9">
            <a:extLst>
              <a:ext uri="{FF2B5EF4-FFF2-40B4-BE49-F238E27FC236}">
                <a16:creationId xmlns:a16="http://schemas.microsoft.com/office/drawing/2014/main" id="{EB328C9A-35F4-49AE-95F3-5C88AD2D58B1}"/>
              </a:ext>
            </a:extLst>
          </p:cNvPr>
          <p:cNvSpPr/>
          <p:nvPr/>
        </p:nvSpPr>
        <p:spPr>
          <a:xfrm>
            <a:off x="8337649" y="2745617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59FC9C5-7D22-40FF-BE4E-E157CC985401}"/>
              </a:ext>
            </a:extLst>
          </p:cNvPr>
          <p:cNvCxnSpPr>
            <a:cxnSpLocks/>
          </p:cNvCxnSpPr>
          <p:nvPr/>
        </p:nvCxnSpPr>
        <p:spPr>
          <a:xfrm>
            <a:off x="8685271" y="2743393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F65BB322-3F64-4E40-897F-978DE79AE93E}"/>
              </a:ext>
            </a:extLst>
          </p:cNvPr>
          <p:cNvCxnSpPr>
            <a:cxnSpLocks/>
          </p:cNvCxnSpPr>
          <p:nvPr/>
        </p:nvCxnSpPr>
        <p:spPr>
          <a:xfrm>
            <a:off x="9037553" y="2744784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E585ABC-C8ED-4E4A-A0C0-4A592F6E2CBF}"/>
              </a:ext>
            </a:extLst>
          </p:cNvPr>
          <p:cNvCxnSpPr>
            <a:cxnSpLocks/>
          </p:cNvCxnSpPr>
          <p:nvPr/>
        </p:nvCxnSpPr>
        <p:spPr>
          <a:xfrm>
            <a:off x="9399503" y="2738369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4181906-F3FE-4142-A00D-2E0B5F045797}"/>
              </a:ext>
            </a:extLst>
          </p:cNvPr>
          <p:cNvSpPr/>
          <p:nvPr/>
        </p:nvSpPr>
        <p:spPr>
          <a:xfrm>
            <a:off x="10151837" y="2773392"/>
            <a:ext cx="4726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lang="es-MX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F68419-42E5-420E-BAE2-845672CCF7C2}"/>
              </a:ext>
            </a:extLst>
          </p:cNvPr>
          <p:cNvSpPr/>
          <p:nvPr/>
        </p:nvSpPr>
        <p:spPr>
          <a:xfrm>
            <a:off x="10481487" y="2785179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endParaRPr lang="es-MX" b="1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955E1DF-3E1C-4809-8B4F-FF63F963B8C2}"/>
              </a:ext>
            </a:extLst>
          </p:cNvPr>
          <p:cNvSpPr/>
          <p:nvPr/>
        </p:nvSpPr>
        <p:spPr>
          <a:xfrm flipH="1">
            <a:off x="10841347" y="2778765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0AAAC05-025C-440D-B0AE-656FB22C8924}"/>
              </a:ext>
            </a:extLst>
          </p:cNvPr>
          <p:cNvSpPr/>
          <p:nvPr/>
        </p:nvSpPr>
        <p:spPr>
          <a:xfrm>
            <a:off x="11192291" y="2763479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MX" dirty="0"/>
          </a:p>
        </p:txBody>
      </p:sp>
      <p:sp>
        <p:nvSpPr>
          <p:cNvPr id="18" name="Diagrama de flujo: proceso 17">
            <a:extLst>
              <a:ext uri="{FF2B5EF4-FFF2-40B4-BE49-F238E27FC236}">
                <a16:creationId xmlns:a16="http://schemas.microsoft.com/office/drawing/2014/main" id="{58E2648B-04FF-48CC-88AE-EDCCAE8D3ED6}"/>
              </a:ext>
            </a:extLst>
          </p:cNvPr>
          <p:cNvSpPr/>
          <p:nvPr/>
        </p:nvSpPr>
        <p:spPr>
          <a:xfrm>
            <a:off x="10109250" y="2736064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07426BA-3569-44DF-8330-30BE15026037}"/>
              </a:ext>
            </a:extLst>
          </p:cNvPr>
          <p:cNvCxnSpPr>
            <a:cxnSpLocks/>
          </p:cNvCxnSpPr>
          <p:nvPr/>
        </p:nvCxnSpPr>
        <p:spPr>
          <a:xfrm>
            <a:off x="10456872" y="2733840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4F0AF79-DCE7-4D38-ABD0-41361EE409F7}"/>
              </a:ext>
            </a:extLst>
          </p:cNvPr>
          <p:cNvCxnSpPr>
            <a:cxnSpLocks/>
          </p:cNvCxnSpPr>
          <p:nvPr/>
        </p:nvCxnSpPr>
        <p:spPr>
          <a:xfrm>
            <a:off x="10809154" y="2735231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35296FE6-62F7-43D6-AFC3-1DDCD4443E1B}"/>
              </a:ext>
            </a:extLst>
          </p:cNvPr>
          <p:cNvCxnSpPr>
            <a:cxnSpLocks/>
          </p:cNvCxnSpPr>
          <p:nvPr/>
        </p:nvCxnSpPr>
        <p:spPr>
          <a:xfrm>
            <a:off x="11171104" y="2728816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Diagrama de flujo: proceso 21">
            <a:extLst>
              <a:ext uri="{FF2B5EF4-FFF2-40B4-BE49-F238E27FC236}">
                <a16:creationId xmlns:a16="http://schemas.microsoft.com/office/drawing/2014/main" id="{A1AC4358-87E4-426F-AA25-F37841E46BC8}"/>
              </a:ext>
            </a:extLst>
          </p:cNvPr>
          <p:cNvSpPr/>
          <p:nvPr/>
        </p:nvSpPr>
        <p:spPr>
          <a:xfrm>
            <a:off x="8871298" y="3807635"/>
            <a:ext cx="402675" cy="41614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46F9DE1B-EB78-449C-B57E-DD1FCB387B13}"/>
              </a:ext>
            </a:extLst>
          </p:cNvPr>
          <p:cNvCxnSpPr>
            <a:cxnSpLocks/>
          </p:cNvCxnSpPr>
          <p:nvPr/>
        </p:nvCxnSpPr>
        <p:spPr>
          <a:xfrm flipH="1" flipV="1">
            <a:off x="8832558" y="3207598"/>
            <a:ext cx="248934" cy="5857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E4FA594-3669-4FB1-A742-333C15E0467D}"/>
              </a:ext>
            </a:extLst>
          </p:cNvPr>
          <p:cNvSpPr/>
          <p:nvPr/>
        </p:nvSpPr>
        <p:spPr>
          <a:xfrm>
            <a:off x="10733938" y="3772849"/>
            <a:ext cx="3738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/>
              <a:t>q</a:t>
            </a:r>
            <a:r>
              <a:rPr lang="es-MX" b="1" dirty="0"/>
              <a:t>´</a:t>
            </a:r>
          </a:p>
        </p:txBody>
      </p:sp>
      <p:sp>
        <p:nvSpPr>
          <p:cNvPr id="25" name="Diagrama de flujo: proceso 24">
            <a:extLst>
              <a:ext uri="{FF2B5EF4-FFF2-40B4-BE49-F238E27FC236}">
                <a16:creationId xmlns:a16="http://schemas.microsoft.com/office/drawing/2014/main" id="{22D4F245-EA68-4C2C-AF03-C3B9580E5A62}"/>
              </a:ext>
            </a:extLst>
          </p:cNvPr>
          <p:cNvSpPr/>
          <p:nvPr/>
        </p:nvSpPr>
        <p:spPr>
          <a:xfrm>
            <a:off x="10686164" y="3760819"/>
            <a:ext cx="402675" cy="416148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4CD7A5C2-F4A5-4D5F-B6DB-DF20A67AC999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10887502" y="3203069"/>
            <a:ext cx="137648" cy="5577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lecha: a la derecha 30">
            <a:extLst>
              <a:ext uri="{FF2B5EF4-FFF2-40B4-BE49-F238E27FC236}">
                <a16:creationId xmlns:a16="http://schemas.microsoft.com/office/drawing/2014/main" id="{E9E48A76-00AC-4BC8-871C-557E065FD483}"/>
              </a:ext>
            </a:extLst>
          </p:cNvPr>
          <p:cNvSpPr/>
          <p:nvPr/>
        </p:nvSpPr>
        <p:spPr>
          <a:xfrm>
            <a:off x="9475311" y="3323003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AA26649-3FE7-4D18-872B-AA1339F2A2A2}"/>
              </a:ext>
            </a:extLst>
          </p:cNvPr>
          <p:cNvSpPr txBox="1"/>
          <p:nvPr/>
        </p:nvSpPr>
        <p:spPr>
          <a:xfrm>
            <a:off x="8412930" y="1839770"/>
            <a:ext cx="3103170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Ejemplo de transición de M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s-AR" sz="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δ(q, a) = (q´, a’, R)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1C8678C-370F-616E-2256-B463CF8ADFB0}"/>
              </a:ext>
            </a:extLst>
          </p:cNvPr>
          <p:cNvSpPr/>
          <p:nvPr/>
        </p:nvSpPr>
        <p:spPr>
          <a:xfrm>
            <a:off x="8186921" y="1777644"/>
            <a:ext cx="3500582" cy="26003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8570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741" y="397199"/>
            <a:ext cx="11287443" cy="634264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s-AR" sz="3800" b="1" dirty="0">
                <a:latin typeface="Arial" panose="020B0604020202020204" pitchFamily="34" charset="0"/>
                <a:cs typeface="Arial" panose="020B0604020202020204" pitchFamily="34" charset="0"/>
              </a:rPr>
              <a:t>Ejemplo de construcción de una MT</a:t>
            </a:r>
          </a:p>
          <a:p>
            <a:pPr marL="0" indent="0">
              <a:buNone/>
            </a:pPr>
            <a:endParaRPr lang="es-MX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2900" u="sng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: decidir si una cadena de símbolos </a:t>
            </a:r>
            <a:r>
              <a:rPr lang="es-AR" sz="29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 y b tiene la forma ab, o bien </a:t>
            </a:r>
            <a:r>
              <a:rPr lang="es-AR" sz="2900" dirty="0" err="1">
                <a:latin typeface="Arial" panose="020B0604020202020204" pitchFamily="34" charset="0"/>
                <a:cs typeface="Arial" panose="020B0604020202020204" pitchFamily="34" charset="0"/>
              </a:rPr>
              <a:t>aabb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, o bien </a:t>
            </a:r>
            <a:r>
              <a:rPr lang="es-AR" sz="2900" dirty="0" err="1">
                <a:latin typeface="Arial" panose="020B0604020202020204" pitchFamily="34" charset="0"/>
                <a:cs typeface="Arial" panose="020B0604020202020204" pitchFamily="34" charset="0"/>
              </a:rPr>
              <a:t>aaabbb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, o bien </a:t>
            </a:r>
            <a:r>
              <a:rPr lang="es-AR" sz="2900" dirty="0" err="1">
                <a:latin typeface="Arial" panose="020B0604020202020204" pitchFamily="34" charset="0"/>
                <a:cs typeface="Arial" panose="020B0604020202020204" pitchFamily="34" charset="0"/>
              </a:rPr>
              <a:t>aaaabbbb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, … </a:t>
            </a:r>
          </a:p>
          <a:p>
            <a:pPr marL="0" indent="0">
              <a:buNone/>
            </a:pPr>
            <a:endParaRPr lang="es-A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Vamos a construir una MT M que resuelva el problema, es decir, tal que L(M) = {</a:t>
            </a:r>
            <a:r>
              <a:rPr lang="es-AR" sz="29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29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29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29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 | n </a:t>
            </a:r>
            <a:r>
              <a:rPr lang="es-ES" sz="2900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 1}.</a:t>
            </a:r>
            <a:endParaRPr lang="es-AR" sz="2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AR" sz="2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buAutoNum type="arabicPeriod"/>
            </a:pPr>
            <a:r>
              <a:rPr lang="es-AR" sz="2900" b="1" dirty="0">
                <a:latin typeface="Arial" panose="020B0604020202020204" pitchFamily="34" charset="0"/>
                <a:cs typeface="Arial" panose="020B0604020202020204" pitchFamily="34" charset="0"/>
              </a:rPr>
              <a:t>Idea General. 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Un posible algoritmo podría ser, dada una cadena de entrada w, marcar el primer símbolo </a:t>
            </a:r>
            <a:r>
              <a:rPr lang="es-AR" sz="29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, luego el primer símbolo b, luego el segundo símbolo </a:t>
            </a:r>
            <a:r>
              <a:rPr lang="es-AR" sz="29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, luego el segundo símbolo b, y así hasta detectar al final si las cantidades son iguales, o si por la mitad aparecen otros símbolos, o si el orden de los </a:t>
            </a:r>
            <a:r>
              <a:rPr lang="es-AR" sz="2900" i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y los b no es el correcto. 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s-AR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        Por ejemplo, si w = </a:t>
            </a:r>
            <a:r>
              <a:rPr lang="es-AR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aaaaabbbbb</a:t>
            </a:r>
            <a:r>
              <a:rPr lang="es-AR" sz="29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M haría: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ES" sz="21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s-AR" sz="2900" dirty="0" err="1">
                <a:latin typeface="Arial" panose="020B0604020202020204" pitchFamily="34" charset="0"/>
                <a:cs typeface="Arial" panose="020B0604020202020204" pitchFamily="34" charset="0"/>
              </a:rPr>
              <a:t>aaaaabbbbb</a:t>
            </a:r>
            <a:endParaRPr lang="es-AR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AR" sz="2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α</a:t>
            </a:r>
            <a:r>
              <a:rPr lang="es-AR" sz="2900" dirty="0" err="1">
                <a:latin typeface="Arial" panose="020B0604020202020204" pitchFamily="34" charset="0"/>
                <a:cs typeface="Arial" panose="020B0604020202020204" pitchFamily="34" charset="0"/>
              </a:rPr>
              <a:t>aaaabbbbb</a:t>
            </a:r>
            <a:endParaRPr lang="es-AR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AR" sz="2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α</a:t>
            </a:r>
            <a:r>
              <a:rPr lang="es-AR" sz="2900" dirty="0" err="1">
                <a:latin typeface="Arial" panose="020B0604020202020204" pitchFamily="34" charset="0"/>
                <a:cs typeface="Arial" panose="020B0604020202020204" pitchFamily="34" charset="0"/>
              </a:rPr>
              <a:t>aaaa</a:t>
            </a:r>
            <a:r>
              <a:rPr lang="es-AR" sz="2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bbbb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αα</a:t>
            </a:r>
            <a:r>
              <a:rPr lang="es-AR" sz="2900" dirty="0" err="1">
                <a:latin typeface="Arial" panose="020B0604020202020204" pitchFamily="34" charset="0"/>
                <a:cs typeface="Arial" panose="020B0604020202020204" pitchFamily="34" charset="0"/>
              </a:rPr>
              <a:t>aaa</a:t>
            </a:r>
            <a:r>
              <a:rPr lang="es-AR" sz="2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bbbb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αα</a:t>
            </a:r>
            <a:r>
              <a:rPr lang="es-AR" sz="2900" dirty="0" err="1">
                <a:latin typeface="Arial" panose="020B0604020202020204" pitchFamily="34" charset="0"/>
                <a:cs typeface="Arial" panose="020B0604020202020204" pitchFamily="34" charset="0"/>
              </a:rPr>
              <a:t>aaa</a:t>
            </a:r>
            <a:r>
              <a:rPr lang="es-AR" sz="2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ββ</a:t>
            </a: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bbb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900" dirty="0">
                <a:latin typeface="Arial" panose="020B0604020202020204" pitchFamily="34" charset="0"/>
                <a:cs typeface="Arial" panose="020B0604020202020204" pitchFamily="34" charset="0"/>
              </a:rPr>
              <a:t>		……………..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9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αααααβββββ</a:t>
            </a:r>
            <a:endParaRPr lang="es-MX" sz="29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MX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MX" sz="2600" dirty="0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s-MX" sz="2900" dirty="0">
                <a:latin typeface="Arial" panose="020B0604020202020204" pitchFamily="34" charset="0"/>
                <a:cs typeface="Arial" panose="020B0604020202020204" pitchFamily="34" charset="0"/>
              </a:rPr>
              <a:t>En este caso, la MT M acepta w.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6E19316-660E-45D7-B48E-E25B52350B5F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D45F751-E96C-7684-33C9-A09A29BEB85C}"/>
              </a:ext>
            </a:extLst>
          </p:cNvPr>
          <p:cNvSpPr/>
          <p:nvPr/>
        </p:nvSpPr>
        <p:spPr>
          <a:xfrm>
            <a:off x="9288657" y="4074112"/>
            <a:ext cx="42832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sí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8BE2FCA-F65C-82CD-9A8D-04A2EC2C0EB2}"/>
              </a:ext>
            </a:extLst>
          </p:cNvPr>
          <p:cNvSpPr/>
          <p:nvPr/>
        </p:nvSpPr>
        <p:spPr>
          <a:xfrm>
            <a:off x="7995587" y="3951657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CCCBD40-9F8B-7204-F1DC-2A019A8EE159}"/>
              </a:ext>
            </a:extLst>
          </p:cNvPr>
          <p:cNvCxnSpPr>
            <a:cxnSpLocks/>
          </p:cNvCxnSpPr>
          <p:nvPr/>
        </p:nvCxnSpPr>
        <p:spPr>
          <a:xfrm>
            <a:off x="6864433" y="4415654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1">
            <a:extLst>
              <a:ext uri="{FF2B5EF4-FFF2-40B4-BE49-F238E27FC236}">
                <a16:creationId xmlns:a16="http://schemas.microsoft.com/office/drawing/2014/main" id="{5DD20875-E156-439D-3AD8-01296CE56A22}"/>
              </a:ext>
            </a:extLst>
          </p:cNvPr>
          <p:cNvSpPr txBox="1">
            <a:spLocks/>
          </p:cNvSpPr>
          <p:nvPr/>
        </p:nvSpPr>
        <p:spPr>
          <a:xfrm>
            <a:off x="6802329" y="4138644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w =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aaabbb</a:t>
            </a:r>
            <a:endParaRPr lang="es-MX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8129FADE-9772-82B8-BA66-B15672FAB272}"/>
              </a:ext>
            </a:extLst>
          </p:cNvPr>
          <p:cNvSpPr txBox="1">
            <a:spLocks/>
          </p:cNvSpPr>
          <p:nvPr/>
        </p:nvSpPr>
        <p:spPr>
          <a:xfrm>
            <a:off x="8278500" y="3671717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DBAFB0D-D572-81EB-FC63-CD201ECCBFBE}"/>
              </a:ext>
            </a:extLst>
          </p:cNvPr>
          <p:cNvCxnSpPr>
            <a:cxnSpLocks/>
          </p:cNvCxnSpPr>
          <p:nvPr/>
        </p:nvCxnSpPr>
        <p:spPr>
          <a:xfrm>
            <a:off x="8937241" y="4401401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884BFCD-E997-CB34-20DC-0A51FBDFC624}"/>
              </a:ext>
            </a:extLst>
          </p:cNvPr>
          <p:cNvSpPr/>
          <p:nvPr/>
        </p:nvSpPr>
        <p:spPr>
          <a:xfrm>
            <a:off x="9288656" y="5399078"/>
            <a:ext cx="5398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MX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F7556B4-6B25-A411-E447-346E2C4A1316}"/>
              </a:ext>
            </a:extLst>
          </p:cNvPr>
          <p:cNvSpPr/>
          <p:nvPr/>
        </p:nvSpPr>
        <p:spPr>
          <a:xfrm>
            <a:off x="7995587" y="5276623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6AA3DE41-8CED-45C6-D080-C0952F557458}"/>
              </a:ext>
            </a:extLst>
          </p:cNvPr>
          <p:cNvCxnSpPr>
            <a:cxnSpLocks/>
          </p:cNvCxnSpPr>
          <p:nvPr/>
        </p:nvCxnSpPr>
        <p:spPr>
          <a:xfrm>
            <a:off x="6864433" y="5740620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ítulo 1">
            <a:extLst>
              <a:ext uri="{FF2B5EF4-FFF2-40B4-BE49-F238E27FC236}">
                <a16:creationId xmlns:a16="http://schemas.microsoft.com/office/drawing/2014/main" id="{14420EE5-3D2C-4F85-3D05-9197F26EACA1}"/>
              </a:ext>
            </a:extLst>
          </p:cNvPr>
          <p:cNvSpPr txBox="1">
            <a:spLocks/>
          </p:cNvSpPr>
          <p:nvPr/>
        </p:nvSpPr>
        <p:spPr>
          <a:xfrm>
            <a:off x="6802329" y="5463610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w = </a:t>
            </a:r>
            <a:r>
              <a:rPr lang="es-MX" sz="1500" dirty="0" err="1">
                <a:latin typeface="Arial" panose="020B0604020202020204" pitchFamily="34" charset="0"/>
                <a:cs typeface="Arial" panose="020B0604020202020204" pitchFamily="34" charset="0"/>
              </a:rPr>
              <a:t>aabbba</a:t>
            </a:r>
            <a:endParaRPr lang="es-MX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3C13873E-C1A7-40F7-E066-29CED316414B}"/>
              </a:ext>
            </a:extLst>
          </p:cNvPr>
          <p:cNvSpPr txBox="1">
            <a:spLocks/>
          </p:cNvSpPr>
          <p:nvPr/>
        </p:nvSpPr>
        <p:spPr>
          <a:xfrm>
            <a:off x="8278500" y="4996683"/>
            <a:ext cx="820113" cy="31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2C5578E-A5F5-3FC4-B2C7-7A76EF33F547}"/>
              </a:ext>
            </a:extLst>
          </p:cNvPr>
          <p:cNvCxnSpPr>
            <a:cxnSpLocks/>
          </p:cNvCxnSpPr>
          <p:nvPr/>
        </p:nvCxnSpPr>
        <p:spPr>
          <a:xfrm>
            <a:off x="8937241" y="5726367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DEC786F-FFC9-BA63-7EB2-856A913DD8D7}"/>
              </a:ext>
            </a:extLst>
          </p:cNvPr>
          <p:cNvSpPr txBox="1"/>
          <p:nvPr/>
        </p:nvSpPr>
        <p:spPr>
          <a:xfrm>
            <a:off x="7430010" y="3226964"/>
            <a:ext cx="2145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Otros ejemplos: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3956816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211241-8E1A-476F-A2EF-87D34FEAE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9472" y="2144962"/>
            <a:ext cx="2475187" cy="395655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δ(q</a:t>
            </a:r>
            <a:r>
              <a:rPr lang="es-AR" sz="21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a) =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a) =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β) =</a:t>
            </a:r>
          </a:p>
          <a:p>
            <a:pPr marL="514350" indent="-514350">
              <a:buAutoNum type="arabicPeriod"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a) =</a:t>
            </a:r>
          </a:p>
          <a:p>
            <a:pPr marL="514350" indent="-514350">
              <a:buAutoNum type="arabicPeriod"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b) =</a:t>
            </a:r>
          </a:p>
          <a:p>
            <a:pPr marL="514350" indent="-514350">
              <a:buAutoNum type="arabicPeriod"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β) =</a:t>
            </a:r>
          </a:p>
          <a:p>
            <a:pPr marL="514350" indent="-514350">
              <a:buAutoNum type="arabicPeriod"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a) =</a:t>
            </a:r>
          </a:p>
          <a:p>
            <a:pPr marL="514350" indent="-514350">
              <a:buAutoNum type="arabicPeriod"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α) =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β) =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β) =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B) =</a:t>
            </a:r>
          </a:p>
          <a:p>
            <a:pPr marL="0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04A059-A7A2-442F-A68D-5C14D38154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71631" y="2144962"/>
            <a:ext cx="1192104" cy="520620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α, R)</a:t>
            </a:r>
          </a:p>
          <a:p>
            <a:pPr marL="0" indent="0">
              <a:buNone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α, R)</a:t>
            </a:r>
          </a:p>
          <a:p>
            <a:pPr marL="0" indent="0">
              <a:buNone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β, R)  </a:t>
            </a:r>
          </a:p>
          <a:p>
            <a:pPr marL="0" indent="0">
              <a:buNone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a, R) </a:t>
            </a:r>
          </a:p>
          <a:p>
            <a:pPr marL="0" indent="0">
              <a:buNone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β, L)</a:t>
            </a:r>
          </a:p>
          <a:p>
            <a:pPr marL="0" indent="0">
              <a:buNone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β, R) </a:t>
            </a:r>
          </a:p>
          <a:p>
            <a:pPr marL="0" indent="0">
              <a:buNone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a, L)</a:t>
            </a:r>
          </a:p>
          <a:p>
            <a:pPr marL="0" indent="0">
              <a:buNone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α, R) </a:t>
            </a:r>
          </a:p>
          <a:p>
            <a:pPr marL="0" indent="0">
              <a:buNone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β, L)</a:t>
            </a:r>
          </a:p>
          <a:p>
            <a:pPr marL="0" indent="0">
              <a:buNone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β, R) </a:t>
            </a:r>
          </a:p>
          <a:p>
            <a:pPr marL="0" indent="0">
              <a:buNone/>
            </a:pP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1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21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2100" dirty="0">
                <a:latin typeface="Arial" panose="020B0604020202020204" pitchFamily="34" charset="0"/>
                <a:cs typeface="Arial" panose="020B0604020202020204" pitchFamily="34" charset="0"/>
              </a:rPr>
              <a:t>, B, S)</a:t>
            </a:r>
          </a:p>
          <a:p>
            <a:pPr marL="0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>
              <a:buNone/>
            </a:pPr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s-MX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87B8A9-150C-4677-9E28-8559D4B536CE}"/>
              </a:ext>
            </a:extLst>
          </p:cNvPr>
          <p:cNvSpPr/>
          <p:nvPr/>
        </p:nvSpPr>
        <p:spPr>
          <a:xfrm>
            <a:off x="6400451" y="1620542"/>
            <a:ext cx="2863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Función de transición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64EFD85-E882-41BF-B3C6-F53A558D1A10}"/>
              </a:ext>
            </a:extLst>
          </p:cNvPr>
          <p:cNvSpPr/>
          <p:nvPr/>
        </p:nvSpPr>
        <p:spPr>
          <a:xfrm>
            <a:off x="4675773" y="6071934"/>
            <a:ext cx="67917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Los pares omitidos corresponden a los rechazos (estado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Por ejemplo, los pares (q</a:t>
            </a:r>
            <a:r>
              <a:rPr lang="es-AR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b) y (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, c). 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F2A9EDF-1125-4399-A096-1A65FEB79E2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C88A6BEC-8EED-4AD1-B97B-9CCC6A047CE7}"/>
              </a:ext>
            </a:extLst>
          </p:cNvPr>
          <p:cNvSpPr txBox="1">
            <a:spLocks/>
          </p:cNvSpPr>
          <p:nvPr/>
        </p:nvSpPr>
        <p:spPr>
          <a:xfrm>
            <a:off x="504497" y="299545"/>
            <a:ext cx="5168515" cy="6362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2"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Construcción de la MT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Definición de la MT M = (Q,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Γ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δ, q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MX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Estados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Q = {q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: estado inicial (M busca una </a:t>
            </a:r>
            <a:r>
              <a:rPr lang="es-AR" sz="18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)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: M busca una </a:t>
            </a:r>
            <a:r>
              <a:rPr lang="es-AR" sz="1800" i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: M busca una b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: M vuelve a buscar otra </a:t>
            </a:r>
            <a:r>
              <a:rPr lang="es-AR" sz="18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: no hay más </a:t>
            </a:r>
            <a:r>
              <a:rPr lang="es-AR" sz="1800" i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AR" sz="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Alfabeto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Γ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= {a, b, …, z, α, β, B}</a:t>
            </a:r>
            <a:endParaRPr lang="es-MX" sz="18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E12B324-B827-430F-96D8-C84F4E9C4C52}"/>
              </a:ext>
            </a:extLst>
          </p:cNvPr>
          <p:cNvSpPr txBox="1"/>
          <p:nvPr/>
        </p:nvSpPr>
        <p:spPr>
          <a:xfrm>
            <a:off x="2388612" y="4824994"/>
            <a:ext cx="1586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aaabbb</a:t>
            </a:r>
            <a:endParaRPr lang="es-AR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3073FA5-885D-4C57-8A2C-2EF4A22151BF}"/>
              </a:ext>
            </a:extLst>
          </p:cNvPr>
          <p:cNvSpPr txBox="1"/>
          <p:nvPr/>
        </p:nvSpPr>
        <p:spPr>
          <a:xfrm>
            <a:off x="2388612" y="5082684"/>
            <a:ext cx="1586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aabbb</a:t>
            </a:r>
            <a:endParaRPr lang="es-AR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F09A006-4272-413B-8626-6CD262DF21E0}"/>
              </a:ext>
            </a:extLst>
          </p:cNvPr>
          <p:cNvSpPr txBox="1"/>
          <p:nvPr/>
        </p:nvSpPr>
        <p:spPr>
          <a:xfrm>
            <a:off x="2388612" y="5352988"/>
            <a:ext cx="1586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aa</a:t>
            </a:r>
            <a:r>
              <a:rPr lang="es-AR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  <a:endParaRPr lang="es-AR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94BB1E5-04A4-4FC4-A90E-5E0EF3B6EF73}"/>
              </a:ext>
            </a:extLst>
          </p:cNvPr>
          <p:cNvSpPr txBox="1"/>
          <p:nvPr/>
        </p:nvSpPr>
        <p:spPr>
          <a:xfrm>
            <a:off x="2388612" y="5599031"/>
            <a:ext cx="1586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αα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bb</a:t>
            </a:r>
            <a:endParaRPr lang="es-AR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E5C2762-2368-4B99-9655-64682715F645}"/>
              </a:ext>
            </a:extLst>
          </p:cNvPr>
          <p:cNvSpPr txBox="1"/>
          <p:nvPr/>
        </p:nvSpPr>
        <p:spPr>
          <a:xfrm>
            <a:off x="2391158" y="5859221"/>
            <a:ext cx="1016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αα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ββ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AR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42042D2-0C9F-4243-A890-7BF8377F9FD8}"/>
              </a:ext>
            </a:extLst>
          </p:cNvPr>
          <p:cNvSpPr txBox="1"/>
          <p:nvPr/>
        </p:nvSpPr>
        <p:spPr>
          <a:xfrm>
            <a:off x="2391158" y="6115378"/>
            <a:ext cx="1016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αααββ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AR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1580183-A1FA-4E77-B652-3B2792DE039F}"/>
              </a:ext>
            </a:extLst>
          </p:cNvPr>
          <p:cNvSpPr txBox="1"/>
          <p:nvPr/>
        </p:nvSpPr>
        <p:spPr>
          <a:xfrm>
            <a:off x="2391158" y="6358694"/>
            <a:ext cx="1016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αααβββ</a:t>
            </a:r>
            <a:endParaRPr lang="es-AR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F8110DC-D29F-4977-BD6A-D780BB35F81A}"/>
              </a:ext>
            </a:extLst>
          </p:cNvPr>
          <p:cNvSpPr/>
          <p:nvPr/>
        </p:nvSpPr>
        <p:spPr>
          <a:xfrm>
            <a:off x="469574" y="5152461"/>
            <a:ext cx="19719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Ayuda memoria 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del algoritmo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aaabbb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10718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97" y="299545"/>
            <a:ext cx="11225048" cy="58774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/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MX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E3FAC82-3F40-4036-A014-D94E67394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219709"/>
              </p:ext>
            </p:extLst>
          </p:nvPr>
        </p:nvGraphicFramePr>
        <p:xfrm>
          <a:off x="783099" y="980587"/>
          <a:ext cx="9676012" cy="489682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29613">
                  <a:extLst>
                    <a:ext uri="{9D8B030D-6E8A-4147-A177-3AD203B41FA5}">
                      <a16:colId xmlns:a16="http://schemas.microsoft.com/office/drawing/2014/main" val="1089229846"/>
                    </a:ext>
                  </a:extLst>
                </a:gridCol>
                <a:gridCol w="1758461">
                  <a:extLst>
                    <a:ext uri="{9D8B030D-6E8A-4147-A177-3AD203B41FA5}">
                      <a16:colId xmlns:a16="http://schemas.microsoft.com/office/drawing/2014/main" val="132940636"/>
                    </a:ext>
                  </a:extLst>
                </a:gridCol>
                <a:gridCol w="1702191">
                  <a:extLst>
                    <a:ext uri="{9D8B030D-6E8A-4147-A177-3AD203B41FA5}">
                      <a16:colId xmlns:a16="http://schemas.microsoft.com/office/drawing/2014/main" val="1342472196"/>
                    </a:ext>
                  </a:extLst>
                </a:gridCol>
                <a:gridCol w="1730326">
                  <a:extLst>
                    <a:ext uri="{9D8B030D-6E8A-4147-A177-3AD203B41FA5}">
                      <a16:colId xmlns:a16="http://schemas.microsoft.com/office/drawing/2014/main" val="2921439190"/>
                    </a:ext>
                  </a:extLst>
                </a:gridCol>
                <a:gridCol w="1885071">
                  <a:extLst>
                    <a:ext uri="{9D8B030D-6E8A-4147-A177-3AD203B41FA5}">
                      <a16:colId xmlns:a16="http://schemas.microsoft.com/office/drawing/2014/main" val="575944550"/>
                    </a:ext>
                  </a:extLst>
                </a:gridCol>
                <a:gridCol w="1670350">
                  <a:extLst>
                    <a:ext uri="{9D8B030D-6E8A-4147-A177-3AD203B41FA5}">
                      <a16:colId xmlns:a16="http://schemas.microsoft.com/office/drawing/2014/main" val="1887259909"/>
                    </a:ext>
                  </a:extLst>
                </a:gridCol>
              </a:tblGrid>
              <a:tr h="53131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MX" sz="18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s-MX" sz="18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α </a:t>
                      </a:r>
                      <a:endParaRPr lang="es-MX" sz="18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8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β</a:t>
                      </a:r>
                      <a:endParaRPr lang="es-MX" sz="18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s-MX" sz="18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607311"/>
                  </a:ext>
                </a:extLst>
              </a:tr>
              <a:tr h="7846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s-MX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α, R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484332"/>
                  </a:ext>
                </a:extLst>
              </a:tr>
              <a:tr h="78779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MX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α, R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β, R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MX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189266"/>
                  </a:ext>
                </a:extLst>
              </a:tr>
              <a:tr h="9310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s-MX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R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β, L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β, R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486067"/>
                  </a:ext>
                </a:extLst>
              </a:tr>
              <a:tr h="9310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endParaRPr lang="es-MX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a, L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α, R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</a:t>
                      </a: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β, L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5189124"/>
                  </a:ext>
                </a:extLst>
              </a:tr>
              <a:tr h="93102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endParaRPr lang="es-MX" sz="18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b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="0" baseline="-25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lang="es-AR" sz="18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 β, R</a:t>
                      </a:r>
                      <a:endParaRPr lang="es-MX" sz="18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b="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="0" baseline="-25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s-AR" sz="1800" b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 B, S</a:t>
                      </a:r>
                      <a:endParaRPr lang="es-MX" sz="1800" b="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780701"/>
                  </a:ext>
                </a:extLst>
              </a:tr>
            </a:tbl>
          </a:graphicData>
        </a:graphic>
      </p:graphicFrame>
      <p:sp>
        <p:nvSpPr>
          <p:cNvPr id="4" name="Rectángulo 3">
            <a:extLst>
              <a:ext uri="{FF2B5EF4-FFF2-40B4-BE49-F238E27FC236}">
                <a16:creationId xmlns:a16="http://schemas.microsoft.com/office/drawing/2014/main" id="{FDD42365-1B22-4FB3-BEAA-0884E96F62F8}"/>
              </a:ext>
            </a:extLst>
          </p:cNvPr>
          <p:cNvSpPr/>
          <p:nvPr/>
        </p:nvSpPr>
        <p:spPr>
          <a:xfrm>
            <a:off x="2080133" y="386376"/>
            <a:ext cx="75440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Forma alternativa (tabular) para describir la función de transición δ</a:t>
            </a:r>
            <a:endParaRPr lang="es-MX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A924693-243E-4AE3-AA7A-B43BAD7049A8}"/>
              </a:ext>
            </a:extLst>
          </p:cNvPr>
          <p:cNvSpPr/>
          <p:nvPr/>
        </p:nvSpPr>
        <p:spPr>
          <a:xfrm>
            <a:off x="2011491" y="6019686"/>
            <a:ext cx="96760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Las celdas en blanco representan los casos de rechazo (estado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EB7F2D59-F9C3-4A72-8A2C-85F6C4A5605A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D34A164-1E01-1656-4E33-5C71351FB2CE}"/>
              </a:ext>
            </a:extLst>
          </p:cNvPr>
          <p:cNvSpPr txBox="1"/>
          <p:nvPr/>
        </p:nvSpPr>
        <p:spPr>
          <a:xfrm>
            <a:off x="10459111" y="1080386"/>
            <a:ext cx="1174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…………</a:t>
            </a:r>
            <a:endParaRPr lang="es-AR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0AD358-F678-6BDD-A64E-D68DCC08E747}"/>
              </a:ext>
            </a:extLst>
          </p:cNvPr>
          <p:cNvSpPr txBox="1"/>
          <p:nvPr/>
        </p:nvSpPr>
        <p:spPr>
          <a:xfrm>
            <a:off x="10446573" y="1774030"/>
            <a:ext cx="1174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…………</a:t>
            </a:r>
            <a:endParaRPr lang="es-AR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4E2CE3E-9F8C-8F74-D423-815942B0A74D}"/>
              </a:ext>
            </a:extLst>
          </p:cNvPr>
          <p:cNvSpPr txBox="1"/>
          <p:nvPr/>
        </p:nvSpPr>
        <p:spPr>
          <a:xfrm>
            <a:off x="10446573" y="2467674"/>
            <a:ext cx="1174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…………</a:t>
            </a:r>
            <a:endParaRPr lang="es-AR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C4969B9-35C5-D094-BF43-B9B32168E6E8}"/>
              </a:ext>
            </a:extLst>
          </p:cNvPr>
          <p:cNvSpPr txBox="1"/>
          <p:nvPr/>
        </p:nvSpPr>
        <p:spPr>
          <a:xfrm>
            <a:off x="10446572" y="3294233"/>
            <a:ext cx="1174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…………</a:t>
            </a:r>
            <a:endParaRPr lang="es-AR" b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7D1F622-D63A-421E-74D7-9DB793759195}"/>
              </a:ext>
            </a:extLst>
          </p:cNvPr>
          <p:cNvSpPr txBox="1"/>
          <p:nvPr/>
        </p:nvSpPr>
        <p:spPr>
          <a:xfrm>
            <a:off x="10459111" y="4272342"/>
            <a:ext cx="1174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…………</a:t>
            </a:r>
            <a:endParaRPr lang="es-AR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8DD428B-FEA2-4554-87E8-9C9EF80C4D62}"/>
              </a:ext>
            </a:extLst>
          </p:cNvPr>
          <p:cNvSpPr txBox="1"/>
          <p:nvPr/>
        </p:nvSpPr>
        <p:spPr>
          <a:xfrm>
            <a:off x="10439805" y="5150652"/>
            <a:ext cx="1174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…………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830693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B6C96967-42A2-4FC7-9B38-85A57EEA0663}"/>
              </a:ext>
            </a:extLst>
          </p:cNvPr>
          <p:cNvSpPr txBox="1">
            <a:spLocks/>
          </p:cNvSpPr>
          <p:nvPr/>
        </p:nvSpPr>
        <p:spPr>
          <a:xfrm>
            <a:off x="301879" y="91086"/>
            <a:ext cx="10097483" cy="8685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5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Otro modelo de MT: MT con varias cintas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6070040-9A4C-451F-AF3A-894926FE6C43}"/>
              </a:ext>
            </a:extLst>
          </p:cNvPr>
          <p:cNvSpPr/>
          <p:nvPr/>
        </p:nvSpPr>
        <p:spPr>
          <a:xfrm>
            <a:off x="6096000" y="5682975"/>
            <a:ext cx="1954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unidad de control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28328C0-1BF5-42BC-8D54-7CDF227DEFB8}"/>
              </a:ext>
            </a:extLst>
          </p:cNvPr>
          <p:cNvCxnSpPr>
            <a:cxnSpLocks/>
          </p:cNvCxnSpPr>
          <p:nvPr/>
        </p:nvCxnSpPr>
        <p:spPr>
          <a:xfrm>
            <a:off x="2690031" y="1211761"/>
            <a:ext cx="61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E5392CE-64F4-4F7E-A7A1-BF31F4361C7E}"/>
              </a:ext>
            </a:extLst>
          </p:cNvPr>
          <p:cNvCxnSpPr>
            <a:cxnSpLocks/>
          </p:cNvCxnSpPr>
          <p:nvPr/>
        </p:nvCxnSpPr>
        <p:spPr>
          <a:xfrm>
            <a:off x="2690031" y="1456341"/>
            <a:ext cx="61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73F3F2F-1B93-4875-9F80-47DC0CAF3D4D}"/>
              </a:ext>
            </a:extLst>
          </p:cNvPr>
          <p:cNvSpPr/>
          <p:nvPr/>
        </p:nvSpPr>
        <p:spPr>
          <a:xfrm>
            <a:off x="5336391" y="2927834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cinta 3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BA88E5C6-286B-4D3C-8E58-2B737476501E}"/>
              </a:ext>
            </a:extLst>
          </p:cNvPr>
          <p:cNvSpPr/>
          <p:nvPr/>
        </p:nvSpPr>
        <p:spPr>
          <a:xfrm>
            <a:off x="5525146" y="5628128"/>
            <a:ext cx="570854" cy="522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94084422-CB46-45D0-8AD5-76145E6D1A38}"/>
              </a:ext>
            </a:extLst>
          </p:cNvPr>
          <p:cNvCxnSpPr>
            <a:cxnSpLocks/>
          </p:cNvCxnSpPr>
          <p:nvPr/>
        </p:nvCxnSpPr>
        <p:spPr>
          <a:xfrm flipH="1" flipV="1">
            <a:off x="3331029" y="4442913"/>
            <a:ext cx="2539182" cy="119612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F1F986BF-A69A-4D78-B8EE-837555C26553}"/>
              </a:ext>
            </a:extLst>
          </p:cNvPr>
          <p:cNvSpPr/>
          <p:nvPr/>
        </p:nvSpPr>
        <p:spPr>
          <a:xfrm>
            <a:off x="2867943" y="1430179"/>
            <a:ext cx="10615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cabezal 1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25D3621B-CEB3-438A-A351-3D7444710EC3}"/>
              </a:ext>
            </a:extLst>
          </p:cNvPr>
          <p:cNvSpPr/>
          <p:nvPr/>
        </p:nvSpPr>
        <p:spPr>
          <a:xfrm>
            <a:off x="7094556" y="2321235"/>
            <a:ext cx="10615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cabezal 2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6141D4F-B858-415A-BD47-A81EAF2BD7B9}"/>
              </a:ext>
            </a:extLst>
          </p:cNvPr>
          <p:cNvSpPr/>
          <p:nvPr/>
        </p:nvSpPr>
        <p:spPr>
          <a:xfrm>
            <a:off x="5633633" y="3141751"/>
            <a:ext cx="15402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53ACEB66-1502-46EA-AA37-53EB0E554BCB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1F34D9-363B-A270-D2D3-94071AEAD182}"/>
              </a:ext>
            </a:extLst>
          </p:cNvPr>
          <p:cNvSpPr/>
          <p:nvPr/>
        </p:nvSpPr>
        <p:spPr>
          <a:xfrm>
            <a:off x="5316144" y="1163846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cinta 1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AAF10CC-2DEE-FB32-3878-792788754565}"/>
              </a:ext>
            </a:extLst>
          </p:cNvPr>
          <p:cNvCxnSpPr>
            <a:cxnSpLocks/>
          </p:cNvCxnSpPr>
          <p:nvPr/>
        </p:nvCxnSpPr>
        <p:spPr>
          <a:xfrm>
            <a:off x="2690031" y="2059695"/>
            <a:ext cx="61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1BF6E75-E080-5D11-4E71-821D652C3CE8}"/>
              </a:ext>
            </a:extLst>
          </p:cNvPr>
          <p:cNvCxnSpPr>
            <a:cxnSpLocks/>
          </p:cNvCxnSpPr>
          <p:nvPr/>
        </p:nvCxnSpPr>
        <p:spPr>
          <a:xfrm>
            <a:off x="2690031" y="2298469"/>
            <a:ext cx="61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CD164F8-2A2E-F7CD-CF0D-90CD1AB8890E}"/>
              </a:ext>
            </a:extLst>
          </p:cNvPr>
          <p:cNvSpPr/>
          <p:nvPr/>
        </p:nvSpPr>
        <p:spPr>
          <a:xfrm>
            <a:off x="5316144" y="2014447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cinta 2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36C925A1-6F8A-F688-45FC-76AD1F1C99DA}"/>
              </a:ext>
            </a:extLst>
          </p:cNvPr>
          <p:cNvCxnSpPr>
            <a:cxnSpLocks/>
          </p:cNvCxnSpPr>
          <p:nvPr/>
        </p:nvCxnSpPr>
        <p:spPr>
          <a:xfrm>
            <a:off x="2690031" y="2947156"/>
            <a:ext cx="61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44CB706-5A2B-A633-014D-079621D344AC}"/>
              </a:ext>
            </a:extLst>
          </p:cNvPr>
          <p:cNvCxnSpPr>
            <a:cxnSpLocks/>
          </p:cNvCxnSpPr>
          <p:nvPr/>
        </p:nvCxnSpPr>
        <p:spPr>
          <a:xfrm>
            <a:off x="2690031" y="3228612"/>
            <a:ext cx="61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1E4EDE8-9F00-EC42-604A-CCDBD0BF48E3}"/>
              </a:ext>
            </a:extLst>
          </p:cNvPr>
          <p:cNvSpPr/>
          <p:nvPr/>
        </p:nvSpPr>
        <p:spPr>
          <a:xfrm>
            <a:off x="5353789" y="4128718"/>
            <a:ext cx="8114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cinta K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978E771-1A01-7D0B-364F-F6D2D2D221BF}"/>
              </a:ext>
            </a:extLst>
          </p:cNvPr>
          <p:cNvCxnSpPr>
            <a:cxnSpLocks/>
          </p:cNvCxnSpPr>
          <p:nvPr/>
        </p:nvCxnSpPr>
        <p:spPr>
          <a:xfrm>
            <a:off x="2690031" y="4157146"/>
            <a:ext cx="61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758E7D93-F91A-23C7-5038-F3AE2AB65C66}"/>
              </a:ext>
            </a:extLst>
          </p:cNvPr>
          <p:cNvCxnSpPr>
            <a:cxnSpLocks/>
          </p:cNvCxnSpPr>
          <p:nvPr/>
        </p:nvCxnSpPr>
        <p:spPr>
          <a:xfrm>
            <a:off x="2690031" y="4400518"/>
            <a:ext cx="61952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45F33F71-DBFF-E757-D344-33FA1AB463AE}"/>
              </a:ext>
            </a:extLst>
          </p:cNvPr>
          <p:cNvCxnSpPr>
            <a:cxnSpLocks/>
          </p:cNvCxnSpPr>
          <p:nvPr/>
        </p:nvCxnSpPr>
        <p:spPr>
          <a:xfrm flipH="1" flipV="1">
            <a:off x="2745008" y="1456341"/>
            <a:ext cx="3082249" cy="41676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7229B90E-8765-89C0-5F27-4B8E99C50E94}"/>
              </a:ext>
            </a:extLst>
          </p:cNvPr>
          <p:cNvCxnSpPr>
            <a:cxnSpLocks/>
          </p:cNvCxnSpPr>
          <p:nvPr/>
        </p:nvCxnSpPr>
        <p:spPr>
          <a:xfrm flipV="1">
            <a:off x="5830401" y="2329314"/>
            <a:ext cx="1264155" cy="32713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0AC5F6FC-A4F8-0498-48FC-40C2F1A0EE11}"/>
              </a:ext>
            </a:extLst>
          </p:cNvPr>
          <p:cNvCxnSpPr>
            <a:cxnSpLocks/>
          </p:cNvCxnSpPr>
          <p:nvPr/>
        </p:nvCxnSpPr>
        <p:spPr>
          <a:xfrm flipV="1">
            <a:off x="5839023" y="3256036"/>
            <a:ext cx="2919813" cy="2359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47">
            <a:extLst>
              <a:ext uri="{FF2B5EF4-FFF2-40B4-BE49-F238E27FC236}">
                <a16:creationId xmlns:a16="http://schemas.microsoft.com/office/drawing/2014/main" id="{709F5BBD-8915-73E9-9B09-B4B299D6824D}"/>
              </a:ext>
            </a:extLst>
          </p:cNvPr>
          <p:cNvSpPr/>
          <p:nvPr/>
        </p:nvSpPr>
        <p:spPr>
          <a:xfrm>
            <a:off x="7459164" y="3222711"/>
            <a:ext cx="106150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cabezal 3</a:t>
            </a: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4EAAC112-5260-1C4A-7B7E-A6C839D139DF}"/>
              </a:ext>
            </a:extLst>
          </p:cNvPr>
          <p:cNvSpPr/>
          <p:nvPr/>
        </p:nvSpPr>
        <p:spPr>
          <a:xfrm>
            <a:off x="2494034" y="4487017"/>
            <a:ext cx="10839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cabezal K</a:t>
            </a:r>
          </a:p>
        </p:txBody>
      </p:sp>
    </p:spTree>
    <p:extLst>
      <p:ext uri="{BB962C8B-B14F-4D97-AF65-F5344CB8AC3E}">
        <p14:creationId xmlns:p14="http://schemas.microsoft.com/office/powerpoint/2010/main" val="3026041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97" y="299545"/>
            <a:ext cx="11225048" cy="587741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/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B4CE75-E4BB-4D97-A8A8-5DB082F42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769" y="289679"/>
            <a:ext cx="11464503" cy="627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AR" altLang="es-MX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Características generales de una MT con varias cintas: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MX" altLang="es-MX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primera cinta contiene la entrada</a:t>
            </a:r>
            <a:r>
              <a:rPr kumimoji="0" lang="es-AR" altLang="es-MX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s-AR" altLang="es-MX" sz="1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MT </a:t>
            </a:r>
            <a:r>
              <a:rPr kumimoji="0" lang="es-AR" altLang="es-MX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 un solo paso 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puede</a:t>
            </a:r>
            <a:r>
              <a:rPr lang="es-AR" altLang="es-MX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modificar el estado corriente,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los símbolos corrientes de todas las cintas,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y moverse distinto en cada cinta. Más en detalle, en un paso: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altLang="es-MX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altLang="es-MX" sz="9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1. L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ee un estado y una tupla de símbolos (los apuntados por los cabezales).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AR" altLang="es-MX" sz="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2. M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odifica eventualmente el estado corriente.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AR" altLang="es-MX" sz="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3. M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odifica eventualmente los </a:t>
            </a: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símbolos corrientes de las cintas.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AR" altLang="es-MX" sz="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MX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	4. S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 mueve independientemente en cada cinta (a la derecha, a la izquierda, o no se mueve).</a:t>
            </a: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s-A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Por ejemplo, para el caso de 3 cintas, </a:t>
            </a: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   una transición podría ser: </a:t>
            </a: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	                   </a:t>
            </a: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     δ(q, (a, b, c)) = (q’, (a, R), (b’, L), (c´, S))</a:t>
            </a:r>
          </a:p>
          <a:p>
            <a:pPr marL="0"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AR" altLang="es-MX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F4E56BCF-2CD3-48F4-9072-1B6AF0869246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6B1F201-FC49-4F23-B217-C6A96DF4E8FB}"/>
              </a:ext>
            </a:extLst>
          </p:cNvPr>
          <p:cNvCxnSpPr>
            <a:cxnSpLocks/>
          </p:cNvCxnSpPr>
          <p:nvPr/>
        </p:nvCxnSpPr>
        <p:spPr>
          <a:xfrm>
            <a:off x="5954104" y="4674016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C150C46-C5FB-4F6A-8425-88AD1D03E2A4}"/>
              </a:ext>
            </a:extLst>
          </p:cNvPr>
          <p:cNvCxnSpPr>
            <a:cxnSpLocks/>
          </p:cNvCxnSpPr>
          <p:nvPr/>
        </p:nvCxnSpPr>
        <p:spPr>
          <a:xfrm>
            <a:off x="5954104" y="4882399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7A2541B-B609-4DC3-8648-DC7FF5A3E232}"/>
              </a:ext>
            </a:extLst>
          </p:cNvPr>
          <p:cNvCxnSpPr>
            <a:cxnSpLocks/>
          </p:cNvCxnSpPr>
          <p:nvPr/>
        </p:nvCxnSpPr>
        <p:spPr>
          <a:xfrm>
            <a:off x="5954104" y="5276825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48772D1-EB11-48F5-BEE9-886657E7EFE5}"/>
              </a:ext>
            </a:extLst>
          </p:cNvPr>
          <p:cNvCxnSpPr>
            <a:cxnSpLocks/>
          </p:cNvCxnSpPr>
          <p:nvPr/>
        </p:nvCxnSpPr>
        <p:spPr>
          <a:xfrm>
            <a:off x="5954104" y="5485208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570CB70-3FD4-4686-AB3E-F121970F7CBF}"/>
              </a:ext>
            </a:extLst>
          </p:cNvPr>
          <p:cNvCxnSpPr>
            <a:cxnSpLocks/>
          </p:cNvCxnSpPr>
          <p:nvPr/>
        </p:nvCxnSpPr>
        <p:spPr>
          <a:xfrm>
            <a:off x="5954104" y="5804987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DBCB330-D327-48A9-9882-88F970A34A1D}"/>
              </a:ext>
            </a:extLst>
          </p:cNvPr>
          <p:cNvCxnSpPr>
            <a:cxnSpLocks/>
          </p:cNvCxnSpPr>
          <p:nvPr/>
        </p:nvCxnSpPr>
        <p:spPr>
          <a:xfrm>
            <a:off x="5954104" y="6013370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44A8241-587A-42C7-A98A-4D214CAC4C3D}"/>
              </a:ext>
            </a:extLst>
          </p:cNvPr>
          <p:cNvSpPr/>
          <p:nvPr/>
        </p:nvSpPr>
        <p:spPr>
          <a:xfrm>
            <a:off x="6873459" y="6290232"/>
            <a:ext cx="304165" cy="346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04C2895-8B2B-49F7-9DA6-0BC119BE6B43}"/>
              </a:ext>
            </a:extLst>
          </p:cNvPr>
          <p:cNvSpPr txBox="1"/>
          <p:nvPr/>
        </p:nvSpPr>
        <p:spPr>
          <a:xfrm flipH="1">
            <a:off x="6863334" y="6265242"/>
            <a:ext cx="628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AR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0A23973-F287-4466-B676-0DFF4C5C5121}"/>
              </a:ext>
            </a:extLst>
          </p:cNvPr>
          <p:cNvSpPr txBox="1"/>
          <p:nvPr/>
        </p:nvSpPr>
        <p:spPr>
          <a:xfrm>
            <a:off x="6370818" y="4592896"/>
            <a:ext cx="251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AR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A40B351-78EE-4C25-AE7F-7963FADA2AB0}"/>
              </a:ext>
            </a:extLst>
          </p:cNvPr>
          <p:cNvSpPr txBox="1"/>
          <p:nvPr/>
        </p:nvSpPr>
        <p:spPr>
          <a:xfrm>
            <a:off x="7726867" y="5202178"/>
            <a:ext cx="251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AR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4BB55DB-B35A-4D7F-8267-1CCA24C8AA65}"/>
              </a:ext>
            </a:extLst>
          </p:cNvPr>
          <p:cNvSpPr txBox="1"/>
          <p:nvPr/>
        </p:nvSpPr>
        <p:spPr>
          <a:xfrm>
            <a:off x="5960329" y="5727156"/>
            <a:ext cx="251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AR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CB182686-43E3-4724-A74A-DFEEAF2AD9C1}"/>
              </a:ext>
            </a:extLst>
          </p:cNvPr>
          <p:cNvCxnSpPr>
            <a:cxnSpLocks/>
            <a:stCxn id="14" idx="3"/>
          </p:cNvCxnSpPr>
          <p:nvPr/>
        </p:nvCxnSpPr>
        <p:spPr>
          <a:xfrm flipH="1" flipV="1">
            <a:off x="6144507" y="6038465"/>
            <a:ext cx="718827" cy="4114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B3177782-CF32-4ED4-A7FF-76D29ED7BA73}"/>
              </a:ext>
            </a:extLst>
          </p:cNvPr>
          <p:cNvCxnSpPr>
            <a:cxnSpLocks/>
          </p:cNvCxnSpPr>
          <p:nvPr/>
        </p:nvCxnSpPr>
        <p:spPr>
          <a:xfrm flipH="1" flipV="1">
            <a:off x="6511182" y="4902174"/>
            <a:ext cx="477601" cy="13824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50F15C90-13DA-40B1-A061-4582A25E4CD2}"/>
              </a:ext>
            </a:extLst>
          </p:cNvPr>
          <p:cNvCxnSpPr>
            <a:cxnSpLocks/>
          </p:cNvCxnSpPr>
          <p:nvPr/>
        </p:nvCxnSpPr>
        <p:spPr>
          <a:xfrm flipV="1">
            <a:off x="7053737" y="5485208"/>
            <a:ext cx="834118" cy="7993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7198C54D-CD3E-41F1-95EF-A596B9054CF2}"/>
              </a:ext>
            </a:extLst>
          </p:cNvPr>
          <p:cNvCxnSpPr>
            <a:cxnSpLocks/>
          </p:cNvCxnSpPr>
          <p:nvPr/>
        </p:nvCxnSpPr>
        <p:spPr>
          <a:xfrm>
            <a:off x="9154917" y="4674016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7F3EF72F-3CF0-4818-950A-1326230743EB}"/>
              </a:ext>
            </a:extLst>
          </p:cNvPr>
          <p:cNvCxnSpPr>
            <a:cxnSpLocks/>
          </p:cNvCxnSpPr>
          <p:nvPr/>
        </p:nvCxnSpPr>
        <p:spPr>
          <a:xfrm>
            <a:off x="9154917" y="4882399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6B477BFD-9FD8-4428-86FF-69690672C426}"/>
              </a:ext>
            </a:extLst>
          </p:cNvPr>
          <p:cNvCxnSpPr>
            <a:cxnSpLocks/>
          </p:cNvCxnSpPr>
          <p:nvPr/>
        </p:nvCxnSpPr>
        <p:spPr>
          <a:xfrm>
            <a:off x="9154917" y="5276825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463A2F6-6623-416D-9700-2F0A36C0E4B7}"/>
              </a:ext>
            </a:extLst>
          </p:cNvPr>
          <p:cNvCxnSpPr>
            <a:cxnSpLocks/>
          </p:cNvCxnSpPr>
          <p:nvPr/>
        </p:nvCxnSpPr>
        <p:spPr>
          <a:xfrm>
            <a:off x="9154917" y="5485208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D66C297D-3E0D-4895-8661-D693EC4C824D}"/>
              </a:ext>
            </a:extLst>
          </p:cNvPr>
          <p:cNvCxnSpPr>
            <a:cxnSpLocks/>
          </p:cNvCxnSpPr>
          <p:nvPr/>
        </p:nvCxnSpPr>
        <p:spPr>
          <a:xfrm>
            <a:off x="9154917" y="5804987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A23824FA-2AA3-434B-A017-DF05AA91E56D}"/>
              </a:ext>
            </a:extLst>
          </p:cNvPr>
          <p:cNvCxnSpPr>
            <a:cxnSpLocks/>
          </p:cNvCxnSpPr>
          <p:nvPr/>
        </p:nvCxnSpPr>
        <p:spPr>
          <a:xfrm>
            <a:off x="9154917" y="6013370"/>
            <a:ext cx="214287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2DC3FC-8906-419B-96F2-DE9E658CDFE1}"/>
              </a:ext>
            </a:extLst>
          </p:cNvPr>
          <p:cNvSpPr/>
          <p:nvPr/>
        </p:nvSpPr>
        <p:spPr>
          <a:xfrm>
            <a:off x="10074272" y="6290232"/>
            <a:ext cx="304165" cy="3464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88C8FF6-1367-4F85-8C16-CE1B2A55D2FF}"/>
              </a:ext>
            </a:extLst>
          </p:cNvPr>
          <p:cNvSpPr txBox="1"/>
          <p:nvPr/>
        </p:nvSpPr>
        <p:spPr>
          <a:xfrm flipH="1">
            <a:off x="10064147" y="6265242"/>
            <a:ext cx="6285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´</a:t>
            </a:r>
            <a:endParaRPr lang="es-AR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AA2C286-E750-4560-9C9C-54C16EDE502B}"/>
              </a:ext>
            </a:extLst>
          </p:cNvPr>
          <p:cNvSpPr txBox="1"/>
          <p:nvPr/>
        </p:nvSpPr>
        <p:spPr>
          <a:xfrm>
            <a:off x="9571631" y="4592896"/>
            <a:ext cx="251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AR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B512CBF-4DB8-49E3-B5B5-B5EF639F5885}"/>
              </a:ext>
            </a:extLst>
          </p:cNvPr>
          <p:cNvSpPr txBox="1"/>
          <p:nvPr/>
        </p:nvSpPr>
        <p:spPr>
          <a:xfrm>
            <a:off x="10927680" y="5202178"/>
            <a:ext cx="435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b´</a:t>
            </a:r>
            <a:endParaRPr lang="es-AR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ACE95B7-846C-4AA0-B5ED-486B4A27199D}"/>
              </a:ext>
            </a:extLst>
          </p:cNvPr>
          <p:cNvSpPr txBox="1"/>
          <p:nvPr/>
        </p:nvSpPr>
        <p:spPr>
          <a:xfrm>
            <a:off x="9180534" y="5739545"/>
            <a:ext cx="447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c´</a:t>
            </a:r>
            <a:endParaRPr lang="es-AR" dirty="0"/>
          </a:p>
        </p:txBody>
      </p: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A15A0010-343D-406F-A9A7-E85C982F5E8E}"/>
              </a:ext>
            </a:extLst>
          </p:cNvPr>
          <p:cNvCxnSpPr>
            <a:cxnSpLocks/>
            <a:stCxn id="36" idx="3"/>
          </p:cNvCxnSpPr>
          <p:nvPr/>
        </p:nvCxnSpPr>
        <p:spPr>
          <a:xfrm flipH="1" flipV="1">
            <a:off x="9345320" y="6038465"/>
            <a:ext cx="718827" cy="41144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1BC964C7-BB9B-49C0-8C2F-A578B1E77905}"/>
              </a:ext>
            </a:extLst>
          </p:cNvPr>
          <p:cNvCxnSpPr>
            <a:cxnSpLocks/>
          </p:cNvCxnSpPr>
          <p:nvPr/>
        </p:nvCxnSpPr>
        <p:spPr>
          <a:xfrm flipH="1" flipV="1">
            <a:off x="10030874" y="4882399"/>
            <a:ext cx="158722" cy="14022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3B75E279-31C3-4BF8-9CE4-D448B3E2048F}"/>
              </a:ext>
            </a:extLst>
          </p:cNvPr>
          <p:cNvCxnSpPr>
            <a:cxnSpLocks/>
          </p:cNvCxnSpPr>
          <p:nvPr/>
        </p:nvCxnSpPr>
        <p:spPr>
          <a:xfrm flipV="1">
            <a:off x="10254550" y="5485208"/>
            <a:ext cx="528424" cy="819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echa: a la derecha 46">
            <a:extLst>
              <a:ext uri="{FF2B5EF4-FFF2-40B4-BE49-F238E27FC236}">
                <a16:creationId xmlns:a16="http://schemas.microsoft.com/office/drawing/2014/main" id="{EBB50D9C-4588-4852-96F3-4549DC5780EE}"/>
              </a:ext>
            </a:extLst>
          </p:cNvPr>
          <p:cNvSpPr/>
          <p:nvPr/>
        </p:nvSpPr>
        <p:spPr>
          <a:xfrm>
            <a:off x="8273103" y="5190188"/>
            <a:ext cx="694902" cy="38132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Título 1">
            <a:extLst>
              <a:ext uri="{FF2B5EF4-FFF2-40B4-BE49-F238E27FC236}">
                <a16:creationId xmlns:a16="http://schemas.microsoft.com/office/drawing/2014/main" id="{71C5DE59-43A7-4814-AAF2-2EE0A59AEF9B}"/>
              </a:ext>
            </a:extLst>
          </p:cNvPr>
          <p:cNvSpPr txBox="1">
            <a:spLocks/>
          </p:cNvSpPr>
          <p:nvPr/>
        </p:nvSpPr>
        <p:spPr>
          <a:xfrm>
            <a:off x="7469899" y="530994"/>
            <a:ext cx="4379373" cy="161058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Teorema</a:t>
            </a:r>
            <a:endParaRPr lang="es-MX" sz="3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Para toda MT M</a:t>
            </a:r>
            <a:r>
              <a:rPr lang="es-AR" sz="1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sz="1800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 varias cintas,</a:t>
            </a:r>
          </a:p>
          <a:p>
            <a:pPr algn="just"/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existe una MT M</a:t>
            </a:r>
            <a:r>
              <a:rPr lang="es-AR" sz="1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800" b="1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equivalente (acepta</a:t>
            </a:r>
          </a:p>
          <a:p>
            <a:pPr algn="just"/>
            <a:r>
              <a:rPr lang="es-ES" sz="18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el mismo lenguaje) con una cinta (ver idea de prueba en la hoja siguiente). </a:t>
            </a:r>
          </a:p>
        </p:txBody>
      </p:sp>
    </p:spTree>
    <p:extLst>
      <p:ext uri="{BB962C8B-B14F-4D97-AF65-F5344CB8AC3E}">
        <p14:creationId xmlns:p14="http://schemas.microsoft.com/office/powerpoint/2010/main" val="314053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build="allAtOnce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B6C96967-42A2-4FC7-9B38-85A57EEA0663}"/>
              </a:ext>
            </a:extLst>
          </p:cNvPr>
          <p:cNvSpPr txBox="1">
            <a:spLocks/>
          </p:cNvSpPr>
          <p:nvPr/>
        </p:nvSpPr>
        <p:spPr>
          <a:xfrm>
            <a:off x="530154" y="606904"/>
            <a:ext cx="11250809" cy="993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200" b="1" dirty="0">
                <a:latin typeface="Arial" panose="020B0604020202020204" pitchFamily="34" charset="0"/>
                <a:cs typeface="Arial" panose="020B0604020202020204" pitchFamily="34" charset="0"/>
              </a:rPr>
              <a:t>Simulación de una MT con varias cintas mediante una MT con 1 cinta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Aunque no es intuitivo, las MT con varias cintas </a:t>
            </a: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no aceptan más lenguajes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que las MT con 1 cinta (lo que hace una MT con K cintas lo puede hacer una MT con 1 cinta - aunque en más pasos -).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MX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Idea de prueba con 2 cintas: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93FB450-AEE6-44FB-8F7B-8079280E0F8B}"/>
              </a:ext>
            </a:extLst>
          </p:cNvPr>
          <p:cNvSpPr/>
          <p:nvPr/>
        </p:nvSpPr>
        <p:spPr>
          <a:xfrm>
            <a:off x="3060562" y="1751771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cinta 1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49F90FD-BA46-4E63-8777-27C465B8EC94}"/>
              </a:ext>
            </a:extLst>
          </p:cNvPr>
          <p:cNvSpPr/>
          <p:nvPr/>
        </p:nvSpPr>
        <p:spPr>
          <a:xfrm>
            <a:off x="382613" y="5475090"/>
            <a:ext cx="11250813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Idea general: uso de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cintas con pistas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En el ejemplo, las 2 cintas de M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se simulan con 1 cinta con 4 pistas de M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(sus celdas almacenan 4-tuplas de símbolos, para los contenidos y los cabezales).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 prueba que h pasos de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ES" baseline="-25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se pueden simular con unos h</a:t>
            </a:r>
            <a:r>
              <a:rPr lang="es-AR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pasos de M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MX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retardo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cuadrático</a:t>
            </a:r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 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4C253B-D03B-43C3-9486-80762899CA2A}"/>
              </a:ext>
            </a:extLst>
          </p:cNvPr>
          <p:cNvSpPr/>
          <p:nvPr/>
        </p:nvSpPr>
        <p:spPr>
          <a:xfrm>
            <a:off x="1378312" y="2589723"/>
            <a:ext cx="12002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MT M</a:t>
            </a:r>
            <a:r>
              <a:rPr lang="es-A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endParaRPr lang="es-MX" sz="2000" b="1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42351B3-B41B-4FDC-8CC0-B3E02EA648F7}"/>
              </a:ext>
            </a:extLst>
          </p:cNvPr>
          <p:cNvSpPr/>
          <p:nvPr/>
        </p:nvSpPr>
        <p:spPr>
          <a:xfrm>
            <a:off x="9446333" y="2592543"/>
            <a:ext cx="1064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MT M</a:t>
            </a:r>
            <a:r>
              <a:rPr lang="es-AR" sz="20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endParaRPr lang="es-MX" sz="2000" b="1" dirty="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1308EC67-B0D5-4E00-B034-F4EFF22667BC}"/>
              </a:ext>
            </a:extLst>
          </p:cNvPr>
          <p:cNvSpPr/>
          <p:nvPr/>
        </p:nvSpPr>
        <p:spPr>
          <a:xfrm>
            <a:off x="3081749" y="2132738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b="1" dirty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FC6B678-C207-4EBC-9E06-58BFADF8FD30}"/>
              </a:ext>
            </a:extLst>
          </p:cNvPr>
          <p:cNvSpPr/>
          <p:nvPr/>
        </p:nvSpPr>
        <p:spPr>
          <a:xfrm flipH="1">
            <a:off x="3446950" y="2142345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73A14B3B-2D80-4EB6-B0BB-F036488A613F}"/>
              </a:ext>
            </a:extLst>
          </p:cNvPr>
          <p:cNvSpPr/>
          <p:nvPr/>
        </p:nvSpPr>
        <p:spPr>
          <a:xfrm>
            <a:off x="3795981" y="2142345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dirty="0"/>
          </a:p>
        </p:txBody>
      </p:sp>
      <p:sp>
        <p:nvSpPr>
          <p:cNvPr id="35" name="Diagrama de flujo: proceso 34">
            <a:extLst>
              <a:ext uri="{FF2B5EF4-FFF2-40B4-BE49-F238E27FC236}">
                <a16:creationId xmlns:a16="http://schemas.microsoft.com/office/drawing/2014/main" id="{C78A1DA4-B89A-4060-8498-68E434F7F490}"/>
              </a:ext>
            </a:extLst>
          </p:cNvPr>
          <p:cNvSpPr/>
          <p:nvPr/>
        </p:nvSpPr>
        <p:spPr>
          <a:xfrm>
            <a:off x="2712940" y="2114930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71FFE10F-CD29-4F13-9A56-1FA1EFC63358}"/>
              </a:ext>
            </a:extLst>
          </p:cNvPr>
          <p:cNvCxnSpPr>
            <a:cxnSpLocks/>
          </p:cNvCxnSpPr>
          <p:nvPr/>
        </p:nvCxnSpPr>
        <p:spPr>
          <a:xfrm>
            <a:off x="3060562" y="2112706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D2D3D7EB-DA1D-446D-9F15-EE3B9CDB7FB6}"/>
              </a:ext>
            </a:extLst>
          </p:cNvPr>
          <p:cNvCxnSpPr>
            <a:cxnSpLocks/>
          </p:cNvCxnSpPr>
          <p:nvPr/>
        </p:nvCxnSpPr>
        <p:spPr>
          <a:xfrm>
            <a:off x="3412844" y="2114097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E08970D4-F6C5-45E6-9DA8-99F9C443E112}"/>
              </a:ext>
            </a:extLst>
          </p:cNvPr>
          <p:cNvCxnSpPr>
            <a:cxnSpLocks/>
          </p:cNvCxnSpPr>
          <p:nvPr/>
        </p:nvCxnSpPr>
        <p:spPr>
          <a:xfrm>
            <a:off x="3774794" y="2107682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F5322B2-9BEE-491D-8B60-0C62B896A03C}"/>
              </a:ext>
            </a:extLst>
          </p:cNvPr>
          <p:cNvSpPr/>
          <p:nvPr/>
        </p:nvSpPr>
        <p:spPr>
          <a:xfrm>
            <a:off x="2737204" y="2142345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b="1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12693F34-A7C4-4D2C-8009-2671B86D224E}"/>
              </a:ext>
            </a:extLst>
          </p:cNvPr>
          <p:cNvSpPr/>
          <p:nvPr/>
        </p:nvSpPr>
        <p:spPr>
          <a:xfrm>
            <a:off x="4132260" y="2057951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4340C1C-754D-46EB-A774-A770B8B37512}"/>
              </a:ext>
            </a:extLst>
          </p:cNvPr>
          <p:cNvSpPr/>
          <p:nvPr/>
        </p:nvSpPr>
        <p:spPr>
          <a:xfrm>
            <a:off x="2381880" y="2040404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99D3EAF4-6507-425B-AA8E-C1E7B1ECBC55}"/>
              </a:ext>
            </a:extLst>
          </p:cNvPr>
          <p:cNvSpPr/>
          <p:nvPr/>
        </p:nvSpPr>
        <p:spPr>
          <a:xfrm>
            <a:off x="3100183" y="3089928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s-MX" b="1" dirty="0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DE1852AC-4C49-40D4-B9B1-A75C544C0769}"/>
              </a:ext>
            </a:extLst>
          </p:cNvPr>
          <p:cNvSpPr/>
          <p:nvPr/>
        </p:nvSpPr>
        <p:spPr>
          <a:xfrm flipH="1">
            <a:off x="3465384" y="3099535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s-MX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C1F7C26-1314-4B35-8D2A-F611D44D6DB8}"/>
              </a:ext>
            </a:extLst>
          </p:cNvPr>
          <p:cNvSpPr/>
          <p:nvPr/>
        </p:nvSpPr>
        <p:spPr>
          <a:xfrm>
            <a:off x="3814415" y="3099535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dirty="0"/>
          </a:p>
        </p:txBody>
      </p:sp>
      <p:sp>
        <p:nvSpPr>
          <p:cNvPr id="45" name="Diagrama de flujo: proceso 44">
            <a:extLst>
              <a:ext uri="{FF2B5EF4-FFF2-40B4-BE49-F238E27FC236}">
                <a16:creationId xmlns:a16="http://schemas.microsoft.com/office/drawing/2014/main" id="{11D14757-2D2A-440D-ACBA-3869A28726CC}"/>
              </a:ext>
            </a:extLst>
          </p:cNvPr>
          <p:cNvSpPr/>
          <p:nvPr/>
        </p:nvSpPr>
        <p:spPr>
          <a:xfrm>
            <a:off x="2731374" y="3072120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A188E797-728B-4B09-9FBE-9AE1AEA9F216}"/>
              </a:ext>
            </a:extLst>
          </p:cNvPr>
          <p:cNvCxnSpPr>
            <a:cxnSpLocks/>
          </p:cNvCxnSpPr>
          <p:nvPr/>
        </p:nvCxnSpPr>
        <p:spPr>
          <a:xfrm>
            <a:off x="3078996" y="3069896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7F307582-A8BB-4281-BF13-59E42B4C5CD4}"/>
              </a:ext>
            </a:extLst>
          </p:cNvPr>
          <p:cNvCxnSpPr>
            <a:cxnSpLocks/>
          </p:cNvCxnSpPr>
          <p:nvPr/>
        </p:nvCxnSpPr>
        <p:spPr>
          <a:xfrm>
            <a:off x="3431278" y="3071287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363C3104-6079-4A56-A02D-C8D5EE4A32CC}"/>
              </a:ext>
            </a:extLst>
          </p:cNvPr>
          <p:cNvCxnSpPr>
            <a:cxnSpLocks/>
          </p:cNvCxnSpPr>
          <p:nvPr/>
        </p:nvCxnSpPr>
        <p:spPr>
          <a:xfrm>
            <a:off x="3793228" y="3064872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ángulo 48">
            <a:extLst>
              <a:ext uri="{FF2B5EF4-FFF2-40B4-BE49-F238E27FC236}">
                <a16:creationId xmlns:a16="http://schemas.microsoft.com/office/drawing/2014/main" id="{9EF84174-CA12-449C-81ED-FED67D698267}"/>
              </a:ext>
            </a:extLst>
          </p:cNvPr>
          <p:cNvSpPr/>
          <p:nvPr/>
        </p:nvSpPr>
        <p:spPr>
          <a:xfrm>
            <a:off x="2755638" y="3099535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s-MX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96787967-E785-44F6-9B44-E16D74DC2BE0}"/>
              </a:ext>
            </a:extLst>
          </p:cNvPr>
          <p:cNvSpPr/>
          <p:nvPr/>
        </p:nvSpPr>
        <p:spPr>
          <a:xfrm>
            <a:off x="4103050" y="2966860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EE77DDF7-EF65-4792-9077-3371E0326C90}"/>
              </a:ext>
            </a:extLst>
          </p:cNvPr>
          <p:cNvSpPr/>
          <p:nvPr/>
        </p:nvSpPr>
        <p:spPr>
          <a:xfrm>
            <a:off x="2414184" y="2983471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9AFA0ED6-7E06-4AB5-B0F8-2D4FD168ACC1}"/>
              </a:ext>
            </a:extLst>
          </p:cNvPr>
          <p:cNvSpPr/>
          <p:nvPr/>
        </p:nvSpPr>
        <p:spPr>
          <a:xfrm>
            <a:off x="3218338" y="4836311"/>
            <a:ext cx="570854" cy="522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B6B9BAEA-6794-4BEF-B1A2-FFA3B3F3E4A2}"/>
              </a:ext>
            </a:extLst>
          </p:cNvPr>
          <p:cNvCxnSpPr>
            <a:cxnSpLocks/>
            <a:stCxn id="52" idx="0"/>
            <a:endCxn id="39" idx="2"/>
          </p:cNvCxnSpPr>
          <p:nvPr/>
        </p:nvCxnSpPr>
        <p:spPr>
          <a:xfrm flipH="1" flipV="1">
            <a:off x="2932129" y="2511677"/>
            <a:ext cx="571636" cy="23246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14FAB994-E2B5-4DA5-9903-5DCD199256EB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3503765" y="3534101"/>
            <a:ext cx="119688" cy="1302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ángulo 57">
            <a:extLst>
              <a:ext uri="{FF2B5EF4-FFF2-40B4-BE49-F238E27FC236}">
                <a16:creationId xmlns:a16="http://schemas.microsoft.com/office/drawing/2014/main" id="{C6B48F81-5EA4-4A7F-8572-37C9A359E482}"/>
              </a:ext>
            </a:extLst>
          </p:cNvPr>
          <p:cNvSpPr/>
          <p:nvPr/>
        </p:nvSpPr>
        <p:spPr>
          <a:xfrm>
            <a:off x="3364517" y="4921334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MX" dirty="0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8E90CDA5-1C18-4DBA-ACB0-14A8DD2A49EB}"/>
              </a:ext>
            </a:extLst>
          </p:cNvPr>
          <p:cNvSpPr/>
          <p:nvPr/>
        </p:nvSpPr>
        <p:spPr>
          <a:xfrm>
            <a:off x="7404618" y="2140677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b="1" dirty="0"/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08833A79-2C46-40E8-89C4-BA59D49EB084}"/>
              </a:ext>
            </a:extLst>
          </p:cNvPr>
          <p:cNvSpPr/>
          <p:nvPr/>
        </p:nvSpPr>
        <p:spPr>
          <a:xfrm flipH="1">
            <a:off x="7769819" y="2150284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MX" dirty="0"/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7A5C0EF5-35A7-459E-8C20-9789487A255A}"/>
              </a:ext>
            </a:extLst>
          </p:cNvPr>
          <p:cNvSpPr/>
          <p:nvPr/>
        </p:nvSpPr>
        <p:spPr>
          <a:xfrm>
            <a:off x="8118850" y="2150284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es-MX" dirty="0"/>
          </a:p>
        </p:txBody>
      </p:sp>
      <p:sp>
        <p:nvSpPr>
          <p:cNvPr id="66" name="Diagrama de flujo: proceso 65">
            <a:extLst>
              <a:ext uri="{FF2B5EF4-FFF2-40B4-BE49-F238E27FC236}">
                <a16:creationId xmlns:a16="http://schemas.microsoft.com/office/drawing/2014/main" id="{7FF3035D-5A66-4989-84DE-80E5B314B7D0}"/>
              </a:ext>
            </a:extLst>
          </p:cNvPr>
          <p:cNvSpPr/>
          <p:nvPr/>
        </p:nvSpPr>
        <p:spPr>
          <a:xfrm>
            <a:off x="7035809" y="2122869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1BA647C3-E19D-4F3F-A80D-8826EDF9A89C}"/>
              </a:ext>
            </a:extLst>
          </p:cNvPr>
          <p:cNvCxnSpPr>
            <a:cxnSpLocks/>
          </p:cNvCxnSpPr>
          <p:nvPr/>
        </p:nvCxnSpPr>
        <p:spPr>
          <a:xfrm>
            <a:off x="7383431" y="2120645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C74DC620-6CC7-45AC-8476-095457584401}"/>
              </a:ext>
            </a:extLst>
          </p:cNvPr>
          <p:cNvCxnSpPr>
            <a:cxnSpLocks/>
          </p:cNvCxnSpPr>
          <p:nvPr/>
        </p:nvCxnSpPr>
        <p:spPr>
          <a:xfrm>
            <a:off x="7735713" y="2122036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02949A55-BA6D-4049-9EE8-A53A7C136F94}"/>
              </a:ext>
            </a:extLst>
          </p:cNvPr>
          <p:cNvCxnSpPr>
            <a:cxnSpLocks/>
          </p:cNvCxnSpPr>
          <p:nvPr/>
        </p:nvCxnSpPr>
        <p:spPr>
          <a:xfrm>
            <a:off x="8097663" y="2115621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ángulo 69">
            <a:extLst>
              <a:ext uri="{FF2B5EF4-FFF2-40B4-BE49-F238E27FC236}">
                <a16:creationId xmlns:a16="http://schemas.microsoft.com/office/drawing/2014/main" id="{175BBB33-41D2-4C82-987C-266CA7DA6419}"/>
              </a:ext>
            </a:extLst>
          </p:cNvPr>
          <p:cNvSpPr/>
          <p:nvPr/>
        </p:nvSpPr>
        <p:spPr>
          <a:xfrm>
            <a:off x="7060073" y="2150284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b="1" dirty="0"/>
          </a:p>
        </p:txBody>
      </p:sp>
      <p:sp>
        <p:nvSpPr>
          <p:cNvPr id="76" name="Diagrama de flujo: proceso 75">
            <a:extLst>
              <a:ext uri="{FF2B5EF4-FFF2-40B4-BE49-F238E27FC236}">
                <a16:creationId xmlns:a16="http://schemas.microsoft.com/office/drawing/2014/main" id="{890732DC-AF1C-426E-BDCB-2991E215DB08}"/>
              </a:ext>
            </a:extLst>
          </p:cNvPr>
          <p:cNvSpPr/>
          <p:nvPr/>
        </p:nvSpPr>
        <p:spPr>
          <a:xfrm>
            <a:off x="7031704" y="2586626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D9AAC4CC-84BE-4620-AF6A-8A7342956535}"/>
              </a:ext>
            </a:extLst>
          </p:cNvPr>
          <p:cNvCxnSpPr>
            <a:cxnSpLocks/>
          </p:cNvCxnSpPr>
          <p:nvPr/>
        </p:nvCxnSpPr>
        <p:spPr>
          <a:xfrm>
            <a:off x="7379326" y="2584402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cto 77">
            <a:extLst>
              <a:ext uri="{FF2B5EF4-FFF2-40B4-BE49-F238E27FC236}">
                <a16:creationId xmlns:a16="http://schemas.microsoft.com/office/drawing/2014/main" id="{4A2406AD-B1DC-412B-9424-41923B96F070}"/>
              </a:ext>
            </a:extLst>
          </p:cNvPr>
          <p:cNvCxnSpPr>
            <a:cxnSpLocks/>
          </p:cNvCxnSpPr>
          <p:nvPr/>
        </p:nvCxnSpPr>
        <p:spPr>
          <a:xfrm>
            <a:off x="7731608" y="2585793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336938FE-743A-4EF7-B521-0C0981C8EDD7}"/>
              </a:ext>
            </a:extLst>
          </p:cNvPr>
          <p:cNvCxnSpPr>
            <a:cxnSpLocks/>
          </p:cNvCxnSpPr>
          <p:nvPr/>
        </p:nvCxnSpPr>
        <p:spPr>
          <a:xfrm>
            <a:off x="8093558" y="2579378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ángulo 79">
            <a:extLst>
              <a:ext uri="{FF2B5EF4-FFF2-40B4-BE49-F238E27FC236}">
                <a16:creationId xmlns:a16="http://schemas.microsoft.com/office/drawing/2014/main" id="{D68C0F00-8847-410D-904D-B7438BA22A27}"/>
              </a:ext>
            </a:extLst>
          </p:cNvPr>
          <p:cNvSpPr/>
          <p:nvPr/>
        </p:nvSpPr>
        <p:spPr>
          <a:xfrm>
            <a:off x="7055968" y="2614041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s-MX" b="1" dirty="0"/>
          </a:p>
        </p:txBody>
      </p:sp>
      <p:sp>
        <p:nvSpPr>
          <p:cNvPr id="121" name="Rectángulo 120">
            <a:extLst>
              <a:ext uri="{FF2B5EF4-FFF2-40B4-BE49-F238E27FC236}">
                <a16:creationId xmlns:a16="http://schemas.microsoft.com/office/drawing/2014/main" id="{573185EE-346E-47F8-BD08-79FD136570AB}"/>
              </a:ext>
            </a:extLst>
          </p:cNvPr>
          <p:cNvSpPr/>
          <p:nvPr/>
        </p:nvSpPr>
        <p:spPr>
          <a:xfrm>
            <a:off x="7400513" y="3066568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lang="es-MX" b="1" dirty="0"/>
          </a:p>
        </p:txBody>
      </p:sp>
      <p:sp>
        <p:nvSpPr>
          <p:cNvPr id="122" name="Rectángulo 121">
            <a:extLst>
              <a:ext uri="{FF2B5EF4-FFF2-40B4-BE49-F238E27FC236}">
                <a16:creationId xmlns:a16="http://schemas.microsoft.com/office/drawing/2014/main" id="{6EC79D11-95BC-47E8-9E41-011F3421B16B}"/>
              </a:ext>
            </a:extLst>
          </p:cNvPr>
          <p:cNvSpPr/>
          <p:nvPr/>
        </p:nvSpPr>
        <p:spPr>
          <a:xfrm flipH="1">
            <a:off x="7765714" y="3076175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s-MX" dirty="0"/>
          </a:p>
        </p:txBody>
      </p:sp>
      <p:sp>
        <p:nvSpPr>
          <p:cNvPr id="123" name="Rectángulo 122">
            <a:extLst>
              <a:ext uri="{FF2B5EF4-FFF2-40B4-BE49-F238E27FC236}">
                <a16:creationId xmlns:a16="http://schemas.microsoft.com/office/drawing/2014/main" id="{CB98FABF-BBD3-42A3-970B-E94B81285D13}"/>
              </a:ext>
            </a:extLst>
          </p:cNvPr>
          <p:cNvSpPr/>
          <p:nvPr/>
        </p:nvSpPr>
        <p:spPr>
          <a:xfrm>
            <a:off x="8114745" y="3076175"/>
            <a:ext cx="4055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dirty="0"/>
          </a:p>
        </p:txBody>
      </p:sp>
      <p:sp>
        <p:nvSpPr>
          <p:cNvPr id="124" name="Diagrama de flujo: proceso 123">
            <a:extLst>
              <a:ext uri="{FF2B5EF4-FFF2-40B4-BE49-F238E27FC236}">
                <a16:creationId xmlns:a16="http://schemas.microsoft.com/office/drawing/2014/main" id="{73E78E02-C039-4A2E-9518-084B224D7BEF}"/>
              </a:ext>
            </a:extLst>
          </p:cNvPr>
          <p:cNvSpPr/>
          <p:nvPr/>
        </p:nvSpPr>
        <p:spPr>
          <a:xfrm>
            <a:off x="7031704" y="3048760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2F8729BE-442F-442F-ACCB-B12A3E91A916}"/>
              </a:ext>
            </a:extLst>
          </p:cNvPr>
          <p:cNvCxnSpPr>
            <a:cxnSpLocks/>
          </p:cNvCxnSpPr>
          <p:nvPr/>
        </p:nvCxnSpPr>
        <p:spPr>
          <a:xfrm>
            <a:off x="7379326" y="3046536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cto 125">
            <a:extLst>
              <a:ext uri="{FF2B5EF4-FFF2-40B4-BE49-F238E27FC236}">
                <a16:creationId xmlns:a16="http://schemas.microsoft.com/office/drawing/2014/main" id="{B9B7D561-FB25-4AD8-B5A9-7E49A15394D2}"/>
              </a:ext>
            </a:extLst>
          </p:cNvPr>
          <p:cNvCxnSpPr>
            <a:cxnSpLocks/>
          </p:cNvCxnSpPr>
          <p:nvPr/>
        </p:nvCxnSpPr>
        <p:spPr>
          <a:xfrm>
            <a:off x="7731608" y="3047927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ángulo 126">
            <a:extLst>
              <a:ext uri="{FF2B5EF4-FFF2-40B4-BE49-F238E27FC236}">
                <a16:creationId xmlns:a16="http://schemas.microsoft.com/office/drawing/2014/main" id="{342E56E0-C96C-490B-BA76-4A20750DFAFA}"/>
              </a:ext>
            </a:extLst>
          </p:cNvPr>
          <p:cNvSpPr/>
          <p:nvPr/>
        </p:nvSpPr>
        <p:spPr>
          <a:xfrm>
            <a:off x="7055968" y="3076175"/>
            <a:ext cx="389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z</a:t>
            </a:r>
            <a:endParaRPr lang="es-MX" b="1" dirty="0"/>
          </a:p>
        </p:txBody>
      </p:sp>
      <p:sp>
        <p:nvSpPr>
          <p:cNvPr id="129" name="Rectángulo 128">
            <a:extLst>
              <a:ext uri="{FF2B5EF4-FFF2-40B4-BE49-F238E27FC236}">
                <a16:creationId xmlns:a16="http://schemas.microsoft.com/office/drawing/2014/main" id="{B663C323-2BFB-41CB-90D6-8A293AB5DBC2}"/>
              </a:ext>
            </a:extLst>
          </p:cNvPr>
          <p:cNvSpPr/>
          <p:nvPr/>
        </p:nvSpPr>
        <p:spPr>
          <a:xfrm flipH="1">
            <a:off x="7765714" y="3526597"/>
            <a:ext cx="5132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lang="es-MX" dirty="0"/>
          </a:p>
        </p:txBody>
      </p:sp>
      <p:sp>
        <p:nvSpPr>
          <p:cNvPr id="131" name="Diagrama de flujo: proceso 130">
            <a:extLst>
              <a:ext uri="{FF2B5EF4-FFF2-40B4-BE49-F238E27FC236}">
                <a16:creationId xmlns:a16="http://schemas.microsoft.com/office/drawing/2014/main" id="{99490389-D6CD-4A0B-829C-3424DC363FF7}"/>
              </a:ext>
            </a:extLst>
          </p:cNvPr>
          <p:cNvSpPr/>
          <p:nvPr/>
        </p:nvSpPr>
        <p:spPr>
          <a:xfrm>
            <a:off x="7031704" y="3499182"/>
            <a:ext cx="1419320" cy="454975"/>
          </a:xfrm>
          <a:prstGeom prst="flowChart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2" name="Conector recto 131">
            <a:extLst>
              <a:ext uri="{FF2B5EF4-FFF2-40B4-BE49-F238E27FC236}">
                <a16:creationId xmlns:a16="http://schemas.microsoft.com/office/drawing/2014/main" id="{C4BD1319-0979-41E3-BFAF-6E216CE7FB7A}"/>
              </a:ext>
            </a:extLst>
          </p:cNvPr>
          <p:cNvCxnSpPr>
            <a:cxnSpLocks/>
          </p:cNvCxnSpPr>
          <p:nvPr/>
        </p:nvCxnSpPr>
        <p:spPr>
          <a:xfrm>
            <a:off x="7379326" y="3496958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ector recto 132">
            <a:extLst>
              <a:ext uri="{FF2B5EF4-FFF2-40B4-BE49-F238E27FC236}">
                <a16:creationId xmlns:a16="http://schemas.microsoft.com/office/drawing/2014/main" id="{2A8ED347-D743-4A88-B074-C41731320265}"/>
              </a:ext>
            </a:extLst>
          </p:cNvPr>
          <p:cNvCxnSpPr>
            <a:cxnSpLocks/>
          </p:cNvCxnSpPr>
          <p:nvPr/>
        </p:nvCxnSpPr>
        <p:spPr>
          <a:xfrm>
            <a:off x="7731608" y="3498349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ángulo 138">
            <a:extLst>
              <a:ext uri="{FF2B5EF4-FFF2-40B4-BE49-F238E27FC236}">
                <a16:creationId xmlns:a16="http://schemas.microsoft.com/office/drawing/2014/main" id="{5C680EDD-CE15-4F40-B131-0E809DA8EA89}"/>
              </a:ext>
            </a:extLst>
          </p:cNvPr>
          <p:cNvSpPr/>
          <p:nvPr/>
        </p:nvSpPr>
        <p:spPr>
          <a:xfrm>
            <a:off x="6669422" y="2742933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sp>
        <p:nvSpPr>
          <p:cNvPr id="140" name="Rectángulo 139">
            <a:extLst>
              <a:ext uri="{FF2B5EF4-FFF2-40B4-BE49-F238E27FC236}">
                <a16:creationId xmlns:a16="http://schemas.microsoft.com/office/drawing/2014/main" id="{59F7FCC2-412F-4123-9064-45D13AFC262A}"/>
              </a:ext>
            </a:extLst>
          </p:cNvPr>
          <p:cNvSpPr/>
          <p:nvPr/>
        </p:nvSpPr>
        <p:spPr>
          <a:xfrm>
            <a:off x="8496240" y="2730701"/>
            <a:ext cx="3828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.. </a:t>
            </a:r>
            <a:endParaRPr lang="es-MX" sz="2400" b="1" dirty="0"/>
          </a:p>
        </p:txBody>
      </p:sp>
      <p:cxnSp>
        <p:nvCxnSpPr>
          <p:cNvPr id="143" name="Conector recto 142">
            <a:extLst>
              <a:ext uri="{FF2B5EF4-FFF2-40B4-BE49-F238E27FC236}">
                <a16:creationId xmlns:a16="http://schemas.microsoft.com/office/drawing/2014/main" id="{57433F97-6A26-4B28-8E43-1AA9996D6B3F}"/>
              </a:ext>
            </a:extLst>
          </p:cNvPr>
          <p:cNvCxnSpPr>
            <a:cxnSpLocks/>
          </p:cNvCxnSpPr>
          <p:nvPr/>
        </p:nvCxnSpPr>
        <p:spPr>
          <a:xfrm>
            <a:off x="8093558" y="3041632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FBD01087-A08D-4220-8D95-4D72A07F1042}"/>
              </a:ext>
            </a:extLst>
          </p:cNvPr>
          <p:cNvCxnSpPr>
            <a:cxnSpLocks/>
          </p:cNvCxnSpPr>
          <p:nvPr/>
        </p:nvCxnSpPr>
        <p:spPr>
          <a:xfrm>
            <a:off x="8093558" y="3504032"/>
            <a:ext cx="0" cy="4692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Rectángulo 144">
            <a:extLst>
              <a:ext uri="{FF2B5EF4-FFF2-40B4-BE49-F238E27FC236}">
                <a16:creationId xmlns:a16="http://schemas.microsoft.com/office/drawing/2014/main" id="{208CEA83-C74D-4512-8FF2-F436B8B7D4AE}"/>
              </a:ext>
            </a:extLst>
          </p:cNvPr>
          <p:cNvSpPr/>
          <p:nvPr/>
        </p:nvSpPr>
        <p:spPr>
          <a:xfrm>
            <a:off x="7619535" y="4827850"/>
            <a:ext cx="570854" cy="522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6" name="Rectángulo 145">
            <a:extLst>
              <a:ext uri="{FF2B5EF4-FFF2-40B4-BE49-F238E27FC236}">
                <a16:creationId xmlns:a16="http://schemas.microsoft.com/office/drawing/2014/main" id="{9A800070-95B9-43CA-B11C-FE7B73CB79A6}"/>
              </a:ext>
            </a:extLst>
          </p:cNvPr>
          <p:cNvSpPr/>
          <p:nvPr/>
        </p:nvSpPr>
        <p:spPr>
          <a:xfrm>
            <a:off x="7765714" y="491287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endParaRPr lang="es-MX" dirty="0"/>
          </a:p>
        </p:txBody>
      </p:sp>
      <p:cxnSp>
        <p:nvCxnSpPr>
          <p:cNvPr id="147" name="Conector recto de flecha 146">
            <a:extLst>
              <a:ext uri="{FF2B5EF4-FFF2-40B4-BE49-F238E27FC236}">
                <a16:creationId xmlns:a16="http://schemas.microsoft.com/office/drawing/2014/main" id="{1FAF02E2-EB36-4623-AF9C-DEB6D80AC1F0}"/>
              </a:ext>
            </a:extLst>
          </p:cNvPr>
          <p:cNvCxnSpPr>
            <a:cxnSpLocks/>
            <a:stCxn id="145" idx="0"/>
          </p:cNvCxnSpPr>
          <p:nvPr/>
        </p:nvCxnSpPr>
        <p:spPr>
          <a:xfrm flipH="1" flipV="1">
            <a:off x="7201480" y="3981270"/>
            <a:ext cx="703482" cy="8465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Rectángulo 149">
            <a:extLst>
              <a:ext uri="{FF2B5EF4-FFF2-40B4-BE49-F238E27FC236}">
                <a16:creationId xmlns:a16="http://schemas.microsoft.com/office/drawing/2014/main" id="{E8FD3ABF-983B-4B13-9D2A-7EA9D156D161}"/>
              </a:ext>
            </a:extLst>
          </p:cNvPr>
          <p:cNvSpPr/>
          <p:nvPr/>
        </p:nvSpPr>
        <p:spPr>
          <a:xfrm>
            <a:off x="3059789" y="2740405"/>
            <a:ext cx="864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cinta 2</a:t>
            </a:r>
          </a:p>
        </p:txBody>
      </p:sp>
      <p:sp>
        <p:nvSpPr>
          <p:cNvPr id="151" name="Flecha: a la izquierda y derecha 150">
            <a:extLst>
              <a:ext uri="{FF2B5EF4-FFF2-40B4-BE49-F238E27FC236}">
                <a16:creationId xmlns:a16="http://schemas.microsoft.com/office/drawing/2014/main" id="{3E898999-0BAF-4221-9D88-6952482608B3}"/>
              </a:ext>
            </a:extLst>
          </p:cNvPr>
          <p:cNvSpPr/>
          <p:nvPr/>
        </p:nvSpPr>
        <p:spPr>
          <a:xfrm>
            <a:off x="4922343" y="2560253"/>
            <a:ext cx="1216152" cy="48463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8C3B48C-2942-4362-9EE6-DBB5AB3FA497}"/>
              </a:ext>
            </a:extLst>
          </p:cNvPr>
          <p:cNvSpPr/>
          <p:nvPr/>
        </p:nvSpPr>
        <p:spPr>
          <a:xfrm>
            <a:off x="8425508" y="2173019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pista 1</a:t>
            </a:r>
            <a:endParaRPr lang="es-MX" sz="1600" dirty="0">
              <a:solidFill>
                <a:srgbClr val="00B050"/>
              </a:solidFill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00A0F1BF-9541-4252-84F0-C03448EB1AAF}"/>
              </a:ext>
            </a:extLst>
          </p:cNvPr>
          <p:cNvSpPr/>
          <p:nvPr/>
        </p:nvSpPr>
        <p:spPr>
          <a:xfrm>
            <a:off x="8425507" y="2620501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pista 2</a:t>
            </a:r>
            <a:endParaRPr lang="es-MX" sz="1600" dirty="0">
              <a:solidFill>
                <a:srgbClr val="00B050"/>
              </a:solidFill>
            </a:endParaRPr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CF8B5B08-C4BE-40EC-A6F9-4E925AADFEA0}"/>
              </a:ext>
            </a:extLst>
          </p:cNvPr>
          <p:cNvSpPr/>
          <p:nvPr/>
        </p:nvSpPr>
        <p:spPr>
          <a:xfrm>
            <a:off x="8421403" y="3117308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pista 3</a:t>
            </a:r>
            <a:endParaRPr lang="es-MX" sz="1600" dirty="0">
              <a:solidFill>
                <a:srgbClr val="C00000"/>
              </a:solidFill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D0674D1-4969-47BC-A3A2-D8800013A267}"/>
              </a:ext>
            </a:extLst>
          </p:cNvPr>
          <p:cNvSpPr/>
          <p:nvPr/>
        </p:nvSpPr>
        <p:spPr>
          <a:xfrm>
            <a:off x="8425506" y="3547055"/>
            <a:ext cx="7889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pista 4</a:t>
            </a:r>
            <a:endParaRPr lang="es-MX" sz="1600" dirty="0">
              <a:solidFill>
                <a:srgbClr val="C00000"/>
              </a:solidFill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647D78A-D364-42BC-969C-3045F4CD2C56}"/>
              </a:ext>
            </a:extLst>
          </p:cNvPr>
          <p:cNvSpPr/>
          <p:nvPr/>
        </p:nvSpPr>
        <p:spPr>
          <a:xfrm>
            <a:off x="7414214" y="3932874"/>
            <a:ext cx="77617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celdas</a:t>
            </a:r>
            <a:endParaRPr lang="es-MX" sz="1600" dirty="0"/>
          </a:p>
        </p:txBody>
      </p:sp>
      <p:sp>
        <p:nvSpPr>
          <p:cNvPr id="75" name="Slide Number Placeholder 2">
            <a:extLst>
              <a:ext uri="{FF2B5EF4-FFF2-40B4-BE49-F238E27FC236}">
                <a16:creationId xmlns:a16="http://schemas.microsoft.com/office/drawing/2014/main" id="{8E9F0F6B-331F-4224-8648-FE447D2731C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81" name="Rectángulo 80">
            <a:extLst>
              <a:ext uri="{FF2B5EF4-FFF2-40B4-BE49-F238E27FC236}">
                <a16:creationId xmlns:a16="http://schemas.microsoft.com/office/drawing/2014/main" id="{E5D56347-AF8F-4313-84B3-05DDD7F0C840}"/>
              </a:ext>
            </a:extLst>
          </p:cNvPr>
          <p:cNvSpPr/>
          <p:nvPr/>
        </p:nvSpPr>
        <p:spPr>
          <a:xfrm>
            <a:off x="7085413" y="1760137"/>
            <a:ext cx="13119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única cinta</a:t>
            </a:r>
          </a:p>
        </p:txBody>
      </p:sp>
    </p:spTree>
    <p:extLst>
      <p:ext uri="{BB962C8B-B14F-4D97-AF65-F5344CB8AC3E}">
        <p14:creationId xmlns:p14="http://schemas.microsoft.com/office/powerpoint/2010/main" val="2233368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81076382-1EEF-4DC1-975B-EE548B5F3812}"/>
              </a:ext>
            </a:extLst>
          </p:cNvPr>
          <p:cNvSpPr/>
          <p:nvPr/>
        </p:nvSpPr>
        <p:spPr>
          <a:xfrm>
            <a:off x="4508803" y="2585013"/>
            <a:ext cx="4650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CAD0944-3D93-4D5A-B71F-0366A639B1F8}"/>
              </a:ext>
            </a:extLst>
          </p:cNvPr>
          <p:cNvSpPr/>
          <p:nvPr/>
        </p:nvSpPr>
        <p:spPr>
          <a:xfrm>
            <a:off x="7467965" y="2585013"/>
            <a:ext cx="46198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14352D-3DC3-4C4D-84FC-769435377722}"/>
              </a:ext>
            </a:extLst>
          </p:cNvPr>
          <p:cNvSpPr/>
          <p:nvPr/>
        </p:nvSpPr>
        <p:spPr>
          <a:xfrm>
            <a:off x="4174505" y="1999880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1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AF79072-7C67-4D91-A376-7220D5859227}"/>
              </a:ext>
            </a:extLst>
          </p:cNvPr>
          <p:cNvSpPr/>
          <p:nvPr/>
        </p:nvSpPr>
        <p:spPr>
          <a:xfrm>
            <a:off x="7067320" y="2003986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modelo 2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AB867E-9798-4695-A295-2045AA0F52A5}"/>
              </a:ext>
            </a:extLst>
          </p:cNvPr>
          <p:cNvSpPr/>
          <p:nvPr/>
        </p:nvSpPr>
        <p:spPr>
          <a:xfrm>
            <a:off x="382853" y="3966579"/>
            <a:ext cx="11208907" cy="2240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Ejemplos de modelos de MT equivalentes al modelo de MT con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una cinta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: MT con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varias cintas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MT con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cintas </a:t>
            </a:r>
            <a:r>
              <a:rPr lang="es-MX" b="1" dirty="0" err="1">
                <a:latin typeface="Arial" panose="020B0604020202020204" pitchFamily="34" charset="0"/>
                <a:cs typeface="Arial" panose="020B0604020202020204" pitchFamily="34" charset="0"/>
              </a:rPr>
              <a:t>semi-infinitas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(sólo infinitas a la derecha), MT con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dos cintas y un solo estado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etc. 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Ejemplos de modelos computacionales equivalentes al modelo de las MT: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máquinas RAM (acceso directo)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circuitos booleanos, lambda cálculo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funciones recursivas, gramáticas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programas C,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etc. 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s-MX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 esto refuerza la Tesis de </a:t>
            </a:r>
            <a:r>
              <a:rPr lang="es-MX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Church</a:t>
            </a:r>
            <a:r>
              <a:rPr lang="es-MX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-Turing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3F09CC68-02EB-4FE5-9C36-98A32788B656}"/>
              </a:ext>
            </a:extLst>
          </p:cNvPr>
          <p:cNvSpPr txBox="1">
            <a:spLocks/>
          </p:cNvSpPr>
          <p:nvPr/>
        </p:nvSpPr>
        <p:spPr>
          <a:xfrm>
            <a:off x="382853" y="148441"/>
            <a:ext cx="11426294" cy="17629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s-MX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equivalentes de MT</a:t>
            </a:r>
          </a:p>
          <a:p>
            <a:pPr>
              <a:lnSpc>
                <a:spcPct val="120000"/>
              </a:lnSpc>
            </a:pPr>
            <a:endParaRPr lang="es-MX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Dos MT son equivalentes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 si aceptan el mismo lenguaje (es decir, si resuelven el mismo problema).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Dos modelos de MT son equivalentes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si dada una MT de un modelo existe una MT equivalente del otro. </a:t>
            </a:r>
          </a:p>
        </p:txBody>
      </p:sp>
      <p:sp>
        <p:nvSpPr>
          <p:cNvPr id="15" name="Diagrama de flujo: conector 14">
            <a:extLst>
              <a:ext uri="{FF2B5EF4-FFF2-40B4-BE49-F238E27FC236}">
                <a16:creationId xmlns:a16="http://schemas.microsoft.com/office/drawing/2014/main" id="{57EE37EC-207E-4305-9354-BCB493FE69D7}"/>
              </a:ext>
            </a:extLst>
          </p:cNvPr>
          <p:cNvSpPr/>
          <p:nvPr/>
        </p:nvSpPr>
        <p:spPr>
          <a:xfrm>
            <a:off x="6941784" y="2359310"/>
            <a:ext cx="1384716" cy="13648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6" name="Diagrama de flujo: conector 15">
            <a:extLst>
              <a:ext uri="{FF2B5EF4-FFF2-40B4-BE49-F238E27FC236}">
                <a16:creationId xmlns:a16="http://schemas.microsoft.com/office/drawing/2014/main" id="{966C700E-56BD-4FDE-9E1A-8DB32DA56585}"/>
              </a:ext>
            </a:extLst>
          </p:cNvPr>
          <p:cNvSpPr/>
          <p:nvPr/>
        </p:nvSpPr>
        <p:spPr>
          <a:xfrm>
            <a:off x="4048969" y="2359310"/>
            <a:ext cx="1384716" cy="1364834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912A8B6-1AAD-4F9E-BD6C-4D480EA39FCA}"/>
              </a:ext>
            </a:extLst>
          </p:cNvPr>
          <p:cNvCxnSpPr>
            <a:cxnSpLocks/>
          </p:cNvCxnSpPr>
          <p:nvPr/>
        </p:nvCxnSpPr>
        <p:spPr>
          <a:xfrm>
            <a:off x="5060306" y="2753877"/>
            <a:ext cx="232120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E0164F4-1D3C-49C6-8A7E-775FAECCBC16}"/>
              </a:ext>
            </a:extLst>
          </p:cNvPr>
          <p:cNvCxnSpPr>
            <a:cxnSpLocks/>
          </p:cNvCxnSpPr>
          <p:nvPr/>
        </p:nvCxnSpPr>
        <p:spPr>
          <a:xfrm flipH="1">
            <a:off x="5060306" y="3360228"/>
            <a:ext cx="232120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FE8E2E2B-4BDF-4A73-A38B-23AD0479EE28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685BA49-6EED-426C-9940-AAA3EF81B7D2}"/>
              </a:ext>
            </a:extLst>
          </p:cNvPr>
          <p:cNvSpPr txBox="1"/>
          <p:nvPr/>
        </p:nvSpPr>
        <p:spPr>
          <a:xfrm>
            <a:off x="2115127" y="2875465"/>
            <a:ext cx="19338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p.ej. MT con una cinta</a:t>
            </a:r>
            <a:endParaRPr lang="es-AR" sz="14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D43DCFE-C737-4DAF-B392-5A4998DAC906}"/>
              </a:ext>
            </a:extLst>
          </p:cNvPr>
          <p:cNvSpPr txBox="1"/>
          <p:nvPr/>
        </p:nvSpPr>
        <p:spPr>
          <a:xfrm>
            <a:off x="8326500" y="2843378"/>
            <a:ext cx="25435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p.ej. MT con varias cintas</a:t>
            </a:r>
            <a:endParaRPr lang="es-AR" sz="14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DF27923-16B9-E492-1793-7C98346EF99A}"/>
              </a:ext>
            </a:extLst>
          </p:cNvPr>
          <p:cNvSpPr txBox="1"/>
          <p:nvPr/>
        </p:nvSpPr>
        <p:spPr>
          <a:xfrm>
            <a:off x="5366431" y="2431474"/>
            <a:ext cx="1818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aso particular</a:t>
            </a:r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0E5953F-3130-6828-36E5-AD34E9D1A740}"/>
              </a:ext>
            </a:extLst>
          </p:cNvPr>
          <p:cNvSpPr txBox="1"/>
          <p:nvPr/>
        </p:nvSpPr>
        <p:spPr>
          <a:xfrm>
            <a:off x="5520141" y="3029353"/>
            <a:ext cx="1618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simulación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320499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5B3DA613-DB81-4EF8-A4E6-961AB4ECC18D}"/>
              </a:ext>
            </a:extLst>
          </p:cNvPr>
          <p:cNvSpPr txBox="1">
            <a:spLocks/>
          </p:cNvSpPr>
          <p:nvPr/>
        </p:nvSpPr>
        <p:spPr>
          <a:xfrm>
            <a:off x="2846838" y="2510734"/>
            <a:ext cx="6091889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Anexo</a:t>
            </a:r>
          </a:p>
        </p:txBody>
      </p:sp>
    </p:spTree>
    <p:extLst>
      <p:ext uri="{BB962C8B-B14F-4D97-AF65-F5344CB8AC3E}">
        <p14:creationId xmlns:p14="http://schemas.microsoft.com/office/powerpoint/2010/main" val="1041559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514" y="283297"/>
            <a:ext cx="11225048" cy="639667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AR" sz="26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Acerca de los lenguajes</a:t>
            </a:r>
          </a:p>
          <a:p>
            <a:pPr marL="0" indent="0">
              <a:buNone/>
            </a:pP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Ʃ es un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alfabeto finito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Ʃ = {w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Ʃ* es el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lenguaje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o conjunto de cadenas de símbolos generado a partir de Ʃ.</a:t>
            </a:r>
          </a:p>
          <a:p>
            <a:pPr marL="914400" lvl="2" indent="0"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Ʃ* = {λ, 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…, 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…, 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…}</a:t>
            </a:r>
          </a:p>
          <a:p>
            <a:pPr marL="914400" lvl="2" indent="0"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Ʃ* es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infinito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 Sus cadenas son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finitas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 λ es la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cadena vacía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914400" lvl="2" indent="0"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Todo lenguaje L que consideraremos será un subconjunto de Ʃ*, </a:t>
            </a:r>
          </a:p>
          <a:p>
            <a:pPr marL="0" indent="0"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   siendo Ʃ un único alfabeto que tomaremos como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universal.</a:t>
            </a:r>
          </a:p>
          <a:p>
            <a:pPr marL="0" indent="0"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   Es decir: L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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Ʃ*. </a:t>
            </a:r>
          </a:p>
          <a:p>
            <a:pPr marL="0" indent="0"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Operaciones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típicas entre lenguajes: </a:t>
            </a:r>
          </a:p>
          <a:p>
            <a:pPr marL="457200" lvl="1" indent="0"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Intersección:  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⋂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457200" lvl="1" indent="0">
              <a:buNone/>
            </a:pP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Unión:  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⋃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457200" lvl="1" indent="0">
              <a:buNone/>
            </a:pP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Diferencia:  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457200" lvl="1" indent="0"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	Complemento: L</a:t>
            </a:r>
            <a:r>
              <a:rPr lang="es-AR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que con respecto al conjunto universal Ʃ* es:   Ʃ* – L </a:t>
            </a:r>
            <a:endParaRPr lang="es-AR" sz="18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s-AR" sz="1800" baseline="30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Producto (o Concatenación):   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(se concatenan las cadenas de uno y otro).</a:t>
            </a:r>
          </a:p>
          <a:p>
            <a:pPr marL="0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/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AF9999B7-D98C-4FBE-8454-C67950B3D5E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Diagrama de flujo: conector 4">
            <a:extLst>
              <a:ext uri="{FF2B5EF4-FFF2-40B4-BE49-F238E27FC236}">
                <a16:creationId xmlns:a16="http://schemas.microsoft.com/office/drawing/2014/main" id="{76331603-D6E3-4C65-8985-AC66F6BFFAEF}"/>
              </a:ext>
            </a:extLst>
          </p:cNvPr>
          <p:cNvSpPr/>
          <p:nvPr/>
        </p:nvSpPr>
        <p:spPr>
          <a:xfrm>
            <a:off x="7287910" y="3620136"/>
            <a:ext cx="1757780" cy="1682880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Diagrama de flujo: conector 5">
            <a:extLst>
              <a:ext uri="{FF2B5EF4-FFF2-40B4-BE49-F238E27FC236}">
                <a16:creationId xmlns:a16="http://schemas.microsoft.com/office/drawing/2014/main" id="{8209CCFE-F069-4165-A49A-9E2855B9B628}"/>
              </a:ext>
            </a:extLst>
          </p:cNvPr>
          <p:cNvSpPr/>
          <p:nvPr/>
        </p:nvSpPr>
        <p:spPr>
          <a:xfrm>
            <a:off x="7723351" y="4007868"/>
            <a:ext cx="887767" cy="869205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BE1E5C5-259C-4A67-8DB8-BBC5AD9C0359}"/>
              </a:ext>
            </a:extLst>
          </p:cNvPr>
          <p:cNvSpPr txBox="1"/>
          <p:nvPr/>
        </p:nvSpPr>
        <p:spPr>
          <a:xfrm>
            <a:off x="7980418" y="3712469"/>
            <a:ext cx="250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endParaRPr lang="es-AR" b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53CD303-DA02-4879-AFCE-956C6B5C6019}"/>
              </a:ext>
            </a:extLst>
          </p:cNvPr>
          <p:cNvSpPr txBox="1"/>
          <p:nvPr/>
        </p:nvSpPr>
        <p:spPr>
          <a:xfrm>
            <a:off x="7913096" y="3250804"/>
            <a:ext cx="5074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400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sz="2400" dirty="0"/>
          </a:p>
        </p:txBody>
      </p:sp>
      <p:sp>
        <p:nvSpPr>
          <p:cNvPr id="2" name="Diagrama de flujo: conector 1">
            <a:extLst>
              <a:ext uri="{FF2B5EF4-FFF2-40B4-BE49-F238E27FC236}">
                <a16:creationId xmlns:a16="http://schemas.microsoft.com/office/drawing/2014/main" id="{1691EF06-1B86-BE37-909F-BADE583A3607}"/>
              </a:ext>
            </a:extLst>
          </p:cNvPr>
          <p:cNvSpPr/>
          <p:nvPr/>
        </p:nvSpPr>
        <p:spPr>
          <a:xfrm>
            <a:off x="4672209" y="516294"/>
            <a:ext cx="1653701" cy="1452136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50AEE1D-C342-ED5C-5F8E-1AD045DB0599}"/>
              </a:ext>
            </a:extLst>
          </p:cNvPr>
          <p:cNvSpPr txBox="1"/>
          <p:nvPr/>
        </p:nvSpPr>
        <p:spPr>
          <a:xfrm>
            <a:off x="5289588" y="184675"/>
            <a:ext cx="250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Ʃ</a:t>
            </a:r>
            <a:endParaRPr lang="es-AR" b="1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9C7BDF3-08C2-C58B-A3D1-AD8BA8133211}"/>
              </a:ext>
            </a:extLst>
          </p:cNvPr>
          <p:cNvSpPr txBox="1"/>
          <p:nvPr/>
        </p:nvSpPr>
        <p:spPr>
          <a:xfrm>
            <a:off x="5289588" y="505608"/>
            <a:ext cx="432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AR" sz="14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4CBD5F9-9DFA-6795-7193-DD41DB8C9C5D}"/>
              </a:ext>
            </a:extLst>
          </p:cNvPr>
          <p:cNvSpPr txBox="1"/>
          <p:nvPr/>
        </p:nvSpPr>
        <p:spPr>
          <a:xfrm>
            <a:off x="5289885" y="708043"/>
            <a:ext cx="432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sz="1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69F5E94-3486-E559-4F73-3DEEE3905715}"/>
              </a:ext>
            </a:extLst>
          </p:cNvPr>
          <p:cNvSpPr txBox="1"/>
          <p:nvPr/>
        </p:nvSpPr>
        <p:spPr>
          <a:xfrm>
            <a:off x="5289588" y="940646"/>
            <a:ext cx="432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s-AR" sz="1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1A1E6CF-7CF9-47D5-1EE4-43E17B91E885}"/>
              </a:ext>
            </a:extLst>
          </p:cNvPr>
          <p:cNvSpPr txBox="1"/>
          <p:nvPr/>
        </p:nvSpPr>
        <p:spPr>
          <a:xfrm>
            <a:off x="5296322" y="1178044"/>
            <a:ext cx="432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s-AR" sz="1400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7E7938E-2892-F6A2-8CC7-AC664E50AE34}"/>
              </a:ext>
            </a:extLst>
          </p:cNvPr>
          <p:cNvSpPr txBox="1"/>
          <p:nvPr/>
        </p:nvSpPr>
        <p:spPr>
          <a:xfrm>
            <a:off x="5306706" y="1375684"/>
            <a:ext cx="3172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s-AR" sz="1400" dirty="0"/>
          </a:p>
        </p:txBody>
      </p:sp>
      <p:sp>
        <p:nvSpPr>
          <p:cNvPr id="17" name="Diagrama de flujo: conector 16">
            <a:extLst>
              <a:ext uri="{FF2B5EF4-FFF2-40B4-BE49-F238E27FC236}">
                <a16:creationId xmlns:a16="http://schemas.microsoft.com/office/drawing/2014/main" id="{367BBF3D-C5A1-790B-A97D-0D5A7D2BF3FB}"/>
              </a:ext>
            </a:extLst>
          </p:cNvPr>
          <p:cNvSpPr/>
          <p:nvPr/>
        </p:nvSpPr>
        <p:spPr>
          <a:xfrm>
            <a:off x="8909203" y="1826632"/>
            <a:ext cx="1653701" cy="1470967"/>
          </a:xfrm>
          <a:prstGeom prst="flowChartConnec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27052EF-9157-3C58-4FAC-E42B4A51BB79}"/>
              </a:ext>
            </a:extLst>
          </p:cNvPr>
          <p:cNvSpPr txBox="1"/>
          <p:nvPr/>
        </p:nvSpPr>
        <p:spPr>
          <a:xfrm>
            <a:off x="9548143" y="1510668"/>
            <a:ext cx="426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Ʃ*</a:t>
            </a:r>
            <a:endParaRPr lang="es-AR" b="1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3688DAB-9653-261E-BC1D-C6499F93220F}"/>
              </a:ext>
            </a:extLst>
          </p:cNvPr>
          <p:cNvSpPr txBox="1"/>
          <p:nvPr/>
        </p:nvSpPr>
        <p:spPr>
          <a:xfrm>
            <a:off x="9567884" y="1873613"/>
            <a:ext cx="2332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λ </a:t>
            </a:r>
            <a:endParaRPr lang="es-AR" sz="14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8CC4A390-1E34-6B20-EF7B-3DFC9735A142}"/>
              </a:ext>
            </a:extLst>
          </p:cNvPr>
          <p:cNvSpPr txBox="1"/>
          <p:nvPr/>
        </p:nvSpPr>
        <p:spPr>
          <a:xfrm>
            <a:off x="8909203" y="2357014"/>
            <a:ext cx="20496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 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  <a:endParaRPr lang="es-AR" sz="14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A51B37BB-196B-555F-AA93-7D9022AF7759}"/>
              </a:ext>
            </a:extLst>
          </p:cNvPr>
          <p:cNvSpPr txBox="1"/>
          <p:nvPr/>
        </p:nvSpPr>
        <p:spPr>
          <a:xfrm>
            <a:off x="9132227" y="2102822"/>
            <a:ext cx="1636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3 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… </a:t>
            </a:r>
            <a:endParaRPr lang="es-AR" sz="14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050593C-F51D-9F09-DC82-648BA590E664}"/>
              </a:ext>
            </a:extLst>
          </p:cNvPr>
          <p:cNvSpPr txBox="1"/>
          <p:nvPr/>
        </p:nvSpPr>
        <p:spPr>
          <a:xfrm>
            <a:off x="8912889" y="2635758"/>
            <a:ext cx="202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 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  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s-AR" sz="1400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3711A9D-76FA-4BC8-CEC4-A43D5F44F71B}"/>
              </a:ext>
            </a:extLst>
          </p:cNvPr>
          <p:cNvSpPr txBox="1"/>
          <p:nvPr/>
        </p:nvSpPr>
        <p:spPr>
          <a:xfrm>
            <a:off x="9564356" y="2864967"/>
            <a:ext cx="3172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s-AR" sz="14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63ABE90-2C00-FB83-3B34-7CE49E77189B}"/>
              </a:ext>
            </a:extLst>
          </p:cNvPr>
          <p:cNvSpPr txBox="1"/>
          <p:nvPr/>
        </p:nvSpPr>
        <p:spPr>
          <a:xfrm>
            <a:off x="7980418" y="4223660"/>
            <a:ext cx="470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s-AR" sz="1400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79AB176-EAD7-EB17-824C-CDA4E76DE551}"/>
              </a:ext>
            </a:extLst>
          </p:cNvPr>
          <p:cNvSpPr txBox="1"/>
          <p:nvPr/>
        </p:nvSpPr>
        <p:spPr>
          <a:xfrm>
            <a:off x="7795618" y="4031911"/>
            <a:ext cx="9600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sz="1400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D801966-6744-7E7C-C320-732C4D22629A}"/>
              </a:ext>
            </a:extLst>
          </p:cNvPr>
          <p:cNvSpPr txBox="1"/>
          <p:nvPr/>
        </p:nvSpPr>
        <p:spPr>
          <a:xfrm>
            <a:off x="7665671" y="4411103"/>
            <a:ext cx="10217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s-AR" sz="1400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337BF09-0F00-BF98-7ADD-8E901E243E63}"/>
              </a:ext>
            </a:extLst>
          </p:cNvPr>
          <p:cNvSpPr txBox="1"/>
          <p:nvPr/>
        </p:nvSpPr>
        <p:spPr>
          <a:xfrm>
            <a:off x="7982768" y="4543174"/>
            <a:ext cx="3172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s-AR" sz="1400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DF7BDF7C-D2D4-085D-22EB-E492C79DC26C}"/>
              </a:ext>
            </a:extLst>
          </p:cNvPr>
          <p:cNvSpPr txBox="1">
            <a:spLocks/>
          </p:cNvSpPr>
          <p:nvPr/>
        </p:nvSpPr>
        <p:spPr>
          <a:xfrm>
            <a:off x="9103370" y="4081801"/>
            <a:ext cx="2939226" cy="6669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P. ej., L puede ser el lenguaje de las cadenas que representan los grafos con un camino del vértice inicial al vértice final.</a:t>
            </a:r>
            <a:endParaRPr lang="es-MX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484B3B0-7E12-7AB2-9FE0-DCB5082EC3AD}"/>
              </a:ext>
            </a:extLst>
          </p:cNvPr>
          <p:cNvSpPr txBox="1"/>
          <p:nvPr/>
        </p:nvSpPr>
        <p:spPr>
          <a:xfrm>
            <a:off x="5296322" y="1572223"/>
            <a:ext cx="432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4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109180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304" y="313604"/>
            <a:ext cx="11608903" cy="65443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AR" sz="24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Otras visiones de MT</a:t>
            </a:r>
          </a:p>
          <a:p>
            <a:pPr marL="0" indent="0">
              <a:buNone/>
            </a:pPr>
            <a:endParaRPr lang="es-AR" sz="25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Visión de MT calculadora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(el caso que vimos al comienzo, el más general, para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problemas de búsqueda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u="sng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: construir una MT que reste 2 números codificados en unario (todos 1) y separados por un cero.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Por ejemplo, dada la entrada 11111101111, hay que obtener la salida 11 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(6 – 4 = 2).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u="sng" dirty="0">
                <a:latin typeface="Arial" panose="020B0604020202020204" pitchFamily="34" charset="0"/>
                <a:cs typeface="Arial" panose="020B0604020202020204" pitchFamily="34" charset="0"/>
              </a:rPr>
              <a:t>Idea general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: tachar el primer 1 antes del 0, luego el primer 1 después del 0, luego el segundo 1 antes del 0, luego el segundo 1 después del 0, y así hasta tachar al final el 0.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MX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u="sng" dirty="0">
                <a:latin typeface="Arial" panose="020B0604020202020204" pitchFamily="34" charset="0"/>
                <a:cs typeface="Arial" panose="020B0604020202020204" pitchFamily="34" charset="0"/>
              </a:rPr>
              <a:t>Comentario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: en este caso, además del estado final,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interesa el contenido final de la cinta.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s-MX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Visión de MT generadora 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(genera en una cinta de salida todas las cadenas del lenguaje que acepta)</a:t>
            </a:r>
            <a:endParaRPr lang="es-AR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AR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u="sng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: construir una MT que genere todas las cadenas de la forma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8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con n </a:t>
            </a:r>
            <a:r>
              <a:rPr lang="es-ES" sz="1800" dirty="0">
                <a:latin typeface="Arial" panose="020B0604020202020204" pitchFamily="34" charset="0"/>
                <a:cs typeface="Arial" panose="020B0604020202020204" pitchFamily="34" charset="0"/>
              </a:rPr>
              <a:t>≥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1. Es decir, en una cinta especial de salida debe 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generar las cadenas ab, </a:t>
            </a:r>
            <a:r>
              <a:rPr lang="es-A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aabb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aaabbb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aaaabbbb</a:t>
            </a: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, etc.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u="sng" dirty="0">
                <a:latin typeface="Arial" panose="020B0604020202020204" pitchFamily="34" charset="0"/>
                <a:cs typeface="Arial" panose="020B0604020202020204" pitchFamily="34" charset="0"/>
              </a:rPr>
              <a:t>Idea general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360000" indent="-457200" algn="just">
              <a:lnSpc>
                <a:spcPct val="100000"/>
              </a:lnSpc>
              <a:spcBef>
                <a:spcPts val="0"/>
              </a:spcBef>
              <a:buAutoNum type="arabicParenBoth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i := 1</a:t>
            </a:r>
          </a:p>
          <a:p>
            <a:pPr marL="360000" indent="-457200" algn="just">
              <a:lnSpc>
                <a:spcPct val="100000"/>
              </a:lnSpc>
              <a:spcBef>
                <a:spcPts val="0"/>
              </a:spcBef>
              <a:buAutoNum type="arabicParenBoth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imprimir i veces </a:t>
            </a:r>
            <a:r>
              <a:rPr lang="es-MX" sz="18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, imprimir i veces b, e imprimir una coma </a:t>
            </a:r>
          </a:p>
          <a:p>
            <a:pPr marL="360000" indent="-457200" algn="just">
              <a:lnSpc>
                <a:spcPct val="100000"/>
              </a:lnSpc>
              <a:spcBef>
                <a:spcPts val="0"/>
              </a:spcBef>
              <a:buAutoNum type="arabicParenBoth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i := i + 1 y volver a (2)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MX" sz="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s-MX" sz="20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BF89A2F-A3E1-4DE5-9972-7CD4EA9915EE}"/>
              </a:ext>
            </a:extLst>
          </p:cNvPr>
          <p:cNvSpPr/>
          <p:nvPr/>
        </p:nvSpPr>
        <p:spPr>
          <a:xfrm>
            <a:off x="8114371" y="2709604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8CD41FD-4631-48C9-B692-06ECF693658C}"/>
              </a:ext>
            </a:extLst>
          </p:cNvPr>
          <p:cNvCxnSpPr>
            <a:cxnSpLocks/>
          </p:cNvCxnSpPr>
          <p:nvPr/>
        </p:nvCxnSpPr>
        <p:spPr>
          <a:xfrm>
            <a:off x="6983217" y="3173601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F35153F-A406-44B5-90DB-93E70683DB7F}"/>
              </a:ext>
            </a:extLst>
          </p:cNvPr>
          <p:cNvCxnSpPr>
            <a:cxnSpLocks/>
          </p:cNvCxnSpPr>
          <p:nvPr/>
        </p:nvCxnSpPr>
        <p:spPr>
          <a:xfrm>
            <a:off x="9028771" y="3165729"/>
            <a:ext cx="1118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ítulo 1">
            <a:extLst>
              <a:ext uri="{FF2B5EF4-FFF2-40B4-BE49-F238E27FC236}">
                <a16:creationId xmlns:a16="http://schemas.microsoft.com/office/drawing/2014/main" id="{F51DD978-6405-4B80-9D9B-8952816BA4AE}"/>
              </a:ext>
            </a:extLst>
          </p:cNvPr>
          <p:cNvSpPr txBox="1">
            <a:spLocks/>
          </p:cNvSpPr>
          <p:nvPr/>
        </p:nvSpPr>
        <p:spPr>
          <a:xfrm>
            <a:off x="6921113" y="2919670"/>
            <a:ext cx="125536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11111101111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9D53524-31EF-4FCC-A7BC-BB2F8AE62875}"/>
              </a:ext>
            </a:extLst>
          </p:cNvPr>
          <p:cNvSpPr txBox="1">
            <a:spLocks/>
          </p:cNvSpPr>
          <p:nvPr/>
        </p:nvSpPr>
        <p:spPr>
          <a:xfrm>
            <a:off x="9307629" y="2911798"/>
            <a:ext cx="412876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4BA3D80-2DDC-471B-B44D-C1D4D6E351F0}"/>
              </a:ext>
            </a:extLst>
          </p:cNvPr>
          <p:cNvSpPr/>
          <p:nvPr/>
        </p:nvSpPr>
        <p:spPr>
          <a:xfrm>
            <a:off x="8206521" y="5025409"/>
            <a:ext cx="914400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1AB9505F-26AA-440A-893E-B39D9478AEC5}"/>
              </a:ext>
            </a:extLst>
          </p:cNvPr>
          <p:cNvCxnSpPr>
            <a:cxnSpLocks/>
          </p:cNvCxnSpPr>
          <p:nvPr/>
        </p:nvCxnSpPr>
        <p:spPr>
          <a:xfrm>
            <a:off x="7075367" y="5489406"/>
            <a:ext cx="113115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274ECE2F-18BD-4C02-876D-85095C6E0F13}"/>
              </a:ext>
            </a:extLst>
          </p:cNvPr>
          <p:cNvCxnSpPr>
            <a:cxnSpLocks/>
          </p:cNvCxnSpPr>
          <p:nvPr/>
        </p:nvCxnSpPr>
        <p:spPr>
          <a:xfrm>
            <a:off x="9120921" y="5481534"/>
            <a:ext cx="279728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C3F8C614-83E9-43BC-B1F6-26E7D1ABE038}"/>
              </a:ext>
            </a:extLst>
          </p:cNvPr>
          <p:cNvSpPr txBox="1">
            <a:spLocks/>
          </p:cNvSpPr>
          <p:nvPr/>
        </p:nvSpPr>
        <p:spPr>
          <a:xfrm>
            <a:off x="9120922" y="5201974"/>
            <a:ext cx="2730422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1500" dirty="0" err="1">
                <a:latin typeface="Arial" panose="020B0604020202020204" pitchFamily="34" charset="0"/>
                <a:cs typeface="Arial" panose="020B0604020202020204" pitchFamily="34" charset="0"/>
              </a:rPr>
              <a:t>ab,aabb,aaabbb,aaaabbbb</a:t>
            </a:r>
            <a:r>
              <a:rPr lang="es-MX" sz="1500" dirty="0">
                <a:latin typeface="Arial" panose="020B0604020202020204" pitchFamily="34" charset="0"/>
                <a:cs typeface="Arial" panose="020B0604020202020204" pitchFamily="34" charset="0"/>
              </a:rPr>
              <a:t>,…  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39CF6C2-4F25-BDCC-7F71-ED268A1F1A19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53EBE7A-F6AA-7D01-C44A-B75A32DE7145}"/>
              </a:ext>
            </a:extLst>
          </p:cNvPr>
          <p:cNvSpPr txBox="1"/>
          <p:nvPr/>
        </p:nvSpPr>
        <p:spPr>
          <a:xfrm>
            <a:off x="7449083" y="5190399"/>
            <a:ext cx="19942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500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endParaRPr lang="es-AR" sz="15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4C2AAA5-D43C-BAB3-A89D-645F42607C59}"/>
              </a:ext>
            </a:extLst>
          </p:cNvPr>
          <p:cNvSpPr txBox="1"/>
          <p:nvPr/>
        </p:nvSpPr>
        <p:spPr>
          <a:xfrm>
            <a:off x="902038" y="6099739"/>
            <a:ext cx="1038792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Teorema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: Existe una MT M que acepta un lenguaje L </a:t>
            </a:r>
            <a:r>
              <a:rPr lang="es-MX" sz="1800" dirty="0" err="1">
                <a:latin typeface="Arial" panose="020B0604020202020204" pitchFamily="34" charset="0"/>
                <a:cs typeface="Arial" panose="020B0604020202020204" pitchFamily="34" charset="0"/>
              </a:rPr>
              <a:t>sii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 existe una MT M´ que genera el lenguaje L.</a:t>
            </a:r>
            <a:endParaRPr lang="es-MX" sz="1800" dirty="0"/>
          </a:p>
        </p:txBody>
      </p:sp>
    </p:spTree>
    <p:extLst>
      <p:ext uri="{BB962C8B-B14F-4D97-AF65-F5344CB8AC3E}">
        <p14:creationId xmlns:p14="http://schemas.microsoft.com/office/powerpoint/2010/main" val="3306439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9E33E9-7384-FD31-5D60-9C468DAEE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ítulo 1">
            <a:extLst>
              <a:ext uri="{FF2B5EF4-FFF2-40B4-BE49-F238E27FC236}">
                <a16:creationId xmlns:a16="http://schemas.microsoft.com/office/drawing/2014/main" id="{6FB9A86B-12BF-B8DC-BA8A-3A9127B89A59}"/>
              </a:ext>
            </a:extLst>
          </p:cNvPr>
          <p:cNvSpPr txBox="1">
            <a:spLocks/>
          </p:cNvSpPr>
          <p:nvPr/>
        </p:nvSpPr>
        <p:spPr>
          <a:xfrm>
            <a:off x="2846838" y="2510734"/>
            <a:ext cx="6091889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3200" b="1" dirty="0">
                <a:latin typeface="Arial" panose="020B0604020202020204" pitchFamily="34" charset="0"/>
                <a:cs typeface="Arial" panose="020B0604020202020204" pitchFamily="34" charset="0"/>
              </a:rPr>
              <a:t>Clase práctica 1</a:t>
            </a:r>
          </a:p>
        </p:txBody>
      </p:sp>
    </p:spTree>
    <p:extLst>
      <p:ext uri="{BB962C8B-B14F-4D97-AF65-F5344CB8AC3E}">
        <p14:creationId xmlns:p14="http://schemas.microsoft.com/office/powerpoint/2010/main" val="3590739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FCA550E-EF27-4409-AA79-CC690A3BC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14" y="184239"/>
            <a:ext cx="11563856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8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8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8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8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8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8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8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8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889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8925" algn="l"/>
              </a:tabLst>
            </a:pPr>
            <a:r>
              <a:rPr kumimoji="0" lang="es-AR" altLang="es-MX" sz="2400" b="1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Ejemplo de construcción de una MT con varias cintas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8925" algn="l"/>
              </a:tabLst>
            </a:pPr>
            <a:endParaRPr lang="es-AR" altLang="es-MX" b="1" dirty="0">
              <a:solidFill>
                <a:srgbClr val="00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/>
            <a:r>
              <a:rPr kumimoji="0" lang="es-AR" altLang="es-MX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Problema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: decidir si una cadena w de cero o más símbolos a y b es un </a:t>
            </a:r>
            <a:r>
              <a:rPr kumimoji="0" lang="es-AR" altLang="es-MX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palíndromo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o </a:t>
            </a:r>
            <a:r>
              <a:rPr kumimoji="0" lang="es-AR" altLang="es-MX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capicúa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(w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es igual a </a:t>
            </a:r>
            <a:r>
              <a:rPr lang="es-AR" altLang="es-MX" dirty="0" err="1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w</a:t>
            </a:r>
            <a:r>
              <a:rPr lang="es-AR" sz="18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siendo 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s-AR" sz="1800" baseline="30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la cadena inversa de w). Po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r ejemplo, la cadena </a:t>
            </a:r>
            <a:r>
              <a:rPr kumimoji="0" lang="es-AR" altLang="es-MX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w = </a:t>
            </a:r>
            <a:r>
              <a:rPr kumimoji="0" lang="es-AR" altLang="es-MX" b="0" i="0" u="none" strike="noStrike" cap="none" normalizeH="0" dirty="0" err="1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aabbbaa</a:t>
            </a:r>
            <a:r>
              <a:rPr kumimoji="0" lang="es-AR" altLang="es-MX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es un palíndromo.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  <a:p>
            <a:pPr lvl="0" algn="just"/>
            <a:endParaRPr kumimoji="0" lang="es-AR" altLang="es-MX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lvl="0" algn="just"/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Vamos a construir una MT M con varias cintas, y alfabeto con los símbolos a, b y blanco (símbolo B), que acepte el lenguaje de los palíndromos con símbolos a y b (incluso la cadena vacía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λ)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lvl="0" algn="just"/>
            <a:endParaRPr kumimoji="0" lang="es-MX" altLang="es-MX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88925" algn="l"/>
              </a:tabLst>
            </a:pPr>
            <a:r>
              <a:rPr kumimoji="0" lang="es-AR" altLang="es-MX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Idea general: </a:t>
            </a:r>
            <a:r>
              <a:rPr kumimoji="0" lang="es-AR" altLang="es-MX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Una MT M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con 2 cintas que hace: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88925" algn="l"/>
              </a:tabLst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1. Copia la entrada, de la cinta 1 a la cinta 2. </a:t>
            </a: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88925" algn="l"/>
              </a:tabLst>
            </a:pP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2. Vuelve el cabezal de la cinta 1 a la izquierda y deja el cabezal de la cinta 2 a la derecha.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es-MX" altLang="es-MX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88925" algn="l"/>
              </a:tabLst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3.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S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e desplaza a la derecha en la cinta 1 y a la izquierda en la cinta 2, comparando</a:t>
            </a:r>
            <a:r>
              <a:rPr kumimoji="0" lang="es-AR" altLang="es-MX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cada vez l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os</a:t>
            </a:r>
            <a:r>
              <a:rPr kumimoji="0" lang="es-AR" altLang="es-MX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símbolos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    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88925" algn="l"/>
              </a:tabLst>
            </a:pPr>
            <a:r>
              <a:rPr kumimoji="0" lang="es-AR" altLang="es-MX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   apuntados. Si </a:t>
            </a:r>
            <a:r>
              <a:rPr lang="es-AR" altLang="es-MX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los pares de símbolos comparados son siempre iguales, acepta, y si no, rechaza.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88925" algn="l"/>
              </a:tabLst>
            </a:pPr>
            <a:endParaRPr lang="es-AR" altLang="es-MX" sz="900" dirty="0">
              <a:solidFill>
                <a:srgbClr val="00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288925" algn="l"/>
              </a:tabLst>
            </a:pPr>
            <a:r>
              <a:rPr lang="es-AR" altLang="es-MX" b="1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Por ejemplo: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5C70F21-AE4F-4884-8D3C-AA7CBCE26063}"/>
              </a:ext>
            </a:extLst>
          </p:cNvPr>
          <p:cNvSpPr/>
          <p:nvPr/>
        </p:nvSpPr>
        <p:spPr>
          <a:xfrm>
            <a:off x="482821" y="4453584"/>
            <a:ext cx="2236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b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a   a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3A774A04-DB25-45CD-85AE-8454B225F53D}"/>
              </a:ext>
            </a:extLst>
          </p:cNvPr>
          <p:cNvCxnSpPr>
            <a:cxnSpLocks/>
          </p:cNvCxnSpPr>
          <p:nvPr/>
        </p:nvCxnSpPr>
        <p:spPr>
          <a:xfrm>
            <a:off x="482821" y="4453584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D1AF9FD-416C-4860-9CEF-AC3B698E2B98}"/>
              </a:ext>
            </a:extLst>
          </p:cNvPr>
          <p:cNvCxnSpPr>
            <a:cxnSpLocks/>
          </p:cNvCxnSpPr>
          <p:nvPr/>
        </p:nvCxnSpPr>
        <p:spPr>
          <a:xfrm>
            <a:off x="482821" y="4822916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5F4A1ED-6905-45C8-BB96-37C26EC33034}"/>
              </a:ext>
            </a:extLst>
          </p:cNvPr>
          <p:cNvCxnSpPr>
            <a:cxnSpLocks/>
          </p:cNvCxnSpPr>
          <p:nvPr/>
        </p:nvCxnSpPr>
        <p:spPr>
          <a:xfrm>
            <a:off x="482821" y="5205939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A84B56A-13CB-498E-829B-2068306CAFBB}"/>
              </a:ext>
            </a:extLst>
          </p:cNvPr>
          <p:cNvCxnSpPr>
            <a:cxnSpLocks/>
          </p:cNvCxnSpPr>
          <p:nvPr/>
        </p:nvCxnSpPr>
        <p:spPr>
          <a:xfrm>
            <a:off x="482821" y="557527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1795B4F-02AF-4827-BF51-DAA2E930B15B}"/>
              </a:ext>
            </a:extLst>
          </p:cNvPr>
          <p:cNvSpPr/>
          <p:nvPr/>
        </p:nvSpPr>
        <p:spPr>
          <a:xfrm>
            <a:off x="1397190" y="6255720"/>
            <a:ext cx="3459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F0C6AB93-065F-4C36-BFE3-21F9F85FBF1C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94016" y="4822916"/>
            <a:ext cx="976166" cy="14328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D45B24F9-EC88-4B3B-B5C6-9A8F2774F52B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594016" y="5575272"/>
            <a:ext cx="976166" cy="6804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6923993-CA37-4636-BB43-73C667DAA762}"/>
              </a:ext>
            </a:extLst>
          </p:cNvPr>
          <p:cNvSpPr/>
          <p:nvPr/>
        </p:nvSpPr>
        <p:spPr>
          <a:xfrm>
            <a:off x="5390045" y="4453584"/>
            <a:ext cx="2236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b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a   a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BFDCCD2-B79E-4E9B-AA50-66F62C92A53F}"/>
              </a:ext>
            </a:extLst>
          </p:cNvPr>
          <p:cNvCxnSpPr>
            <a:cxnSpLocks/>
          </p:cNvCxnSpPr>
          <p:nvPr/>
        </p:nvCxnSpPr>
        <p:spPr>
          <a:xfrm>
            <a:off x="5390045" y="4453584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603D360-47CE-4A41-A760-9CCBEA313951}"/>
              </a:ext>
            </a:extLst>
          </p:cNvPr>
          <p:cNvCxnSpPr>
            <a:cxnSpLocks/>
          </p:cNvCxnSpPr>
          <p:nvPr/>
        </p:nvCxnSpPr>
        <p:spPr>
          <a:xfrm>
            <a:off x="5390045" y="4822916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C64168B-F640-4E23-ACF9-91C07A07FB8D}"/>
              </a:ext>
            </a:extLst>
          </p:cNvPr>
          <p:cNvCxnSpPr>
            <a:cxnSpLocks/>
          </p:cNvCxnSpPr>
          <p:nvPr/>
        </p:nvCxnSpPr>
        <p:spPr>
          <a:xfrm>
            <a:off x="5390045" y="5205939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870CF2F4-B285-4AB5-BEE8-99C8696CF637}"/>
              </a:ext>
            </a:extLst>
          </p:cNvPr>
          <p:cNvCxnSpPr>
            <a:cxnSpLocks/>
          </p:cNvCxnSpPr>
          <p:nvPr/>
        </p:nvCxnSpPr>
        <p:spPr>
          <a:xfrm>
            <a:off x="5390045" y="557527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B7022F0-6FE1-4122-AEEF-CAC71A42B5BC}"/>
              </a:ext>
            </a:extLst>
          </p:cNvPr>
          <p:cNvSpPr/>
          <p:nvPr/>
        </p:nvSpPr>
        <p:spPr>
          <a:xfrm>
            <a:off x="6304414" y="6255720"/>
            <a:ext cx="3459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30FFB81D-1CDD-43E8-87F7-2F7F91C246CF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5501240" y="4822916"/>
            <a:ext cx="976166" cy="14328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C68CA32D-18ED-464E-B13C-660C9133CEBD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6477406" y="5575271"/>
            <a:ext cx="976165" cy="6804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F1C4822-F428-481E-AAAA-D4E8CFB7FBF5}"/>
              </a:ext>
            </a:extLst>
          </p:cNvPr>
          <p:cNvSpPr/>
          <p:nvPr/>
        </p:nvSpPr>
        <p:spPr>
          <a:xfrm>
            <a:off x="5390045" y="5192247"/>
            <a:ext cx="2236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b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a   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64B7DA5-7C87-4973-AFCF-262C9EEAA6DA}"/>
              </a:ext>
            </a:extLst>
          </p:cNvPr>
          <p:cNvSpPr/>
          <p:nvPr/>
        </p:nvSpPr>
        <p:spPr>
          <a:xfrm>
            <a:off x="3530042" y="4097945"/>
            <a:ext cx="1099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etapa 1</a:t>
            </a:r>
            <a:endParaRPr lang="es-MX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E2A380D-6DA1-4F76-8396-8011B939D68E}"/>
              </a:ext>
            </a:extLst>
          </p:cNvPr>
          <p:cNvSpPr/>
          <p:nvPr/>
        </p:nvSpPr>
        <p:spPr>
          <a:xfrm>
            <a:off x="7874551" y="4439838"/>
            <a:ext cx="4088150" cy="1815882"/>
          </a:xfrm>
          <a:prstGeom prst="rect">
            <a:avLst/>
          </a:prstGeom>
          <a:ln>
            <a:solidFill>
              <a:schemeClr val="accent1">
                <a:shade val="1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Comparar el símbolo apuntado de arriba  con el símbolo apuntado de abajo. Si son distintos, rechazar.</a:t>
            </a:r>
          </a:p>
          <a:p>
            <a:pPr marL="342900" indent="-342900">
              <a:buAutoNum type="arabicPeriod"/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Moverse un lugar a la derecha arriba y un lugar a la izquierda abajo. Si se llegó a los B, aceptar.</a:t>
            </a:r>
          </a:p>
          <a:p>
            <a:pPr marL="342900" indent="-342900">
              <a:buAutoNum type="arabicPeriod"/>
            </a:pPr>
            <a:r>
              <a:rPr lang="es-ES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Volver a 1.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4875811F-67D6-A608-6084-EDC448984A47}"/>
              </a:ext>
            </a:extLst>
          </p:cNvPr>
          <p:cNvSpPr/>
          <p:nvPr/>
        </p:nvSpPr>
        <p:spPr>
          <a:xfrm>
            <a:off x="2905539" y="4453584"/>
            <a:ext cx="2236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b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a   a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8B9531B-42AC-E351-7406-BDD5F2D90531}"/>
              </a:ext>
            </a:extLst>
          </p:cNvPr>
          <p:cNvCxnSpPr>
            <a:cxnSpLocks/>
          </p:cNvCxnSpPr>
          <p:nvPr/>
        </p:nvCxnSpPr>
        <p:spPr>
          <a:xfrm>
            <a:off x="2905539" y="4453584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D9008CF-DD69-1400-57EC-C9D40B5C6F85}"/>
              </a:ext>
            </a:extLst>
          </p:cNvPr>
          <p:cNvCxnSpPr>
            <a:cxnSpLocks/>
          </p:cNvCxnSpPr>
          <p:nvPr/>
        </p:nvCxnSpPr>
        <p:spPr>
          <a:xfrm>
            <a:off x="2905539" y="4822916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D96F134-0010-ACAE-9E61-EC9D25DB553D}"/>
              </a:ext>
            </a:extLst>
          </p:cNvPr>
          <p:cNvCxnSpPr>
            <a:cxnSpLocks/>
          </p:cNvCxnSpPr>
          <p:nvPr/>
        </p:nvCxnSpPr>
        <p:spPr>
          <a:xfrm>
            <a:off x="2905539" y="5205939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58779FE2-0637-7AFD-FA4A-5B2F4A72A5C8}"/>
              </a:ext>
            </a:extLst>
          </p:cNvPr>
          <p:cNvCxnSpPr>
            <a:cxnSpLocks/>
          </p:cNvCxnSpPr>
          <p:nvPr/>
        </p:nvCxnSpPr>
        <p:spPr>
          <a:xfrm>
            <a:off x="2905539" y="5575271"/>
            <a:ext cx="223651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0F93A81-B29D-2FF7-8309-87705B4669EF}"/>
              </a:ext>
            </a:extLst>
          </p:cNvPr>
          <p:cNvSpPr/>
          <p:nvPr/>
        </p:nvSpPr>
        <p:spPr>
          <a:xfrm>
            <a:off x="3819908" y="6255720"/>
            <a:ext cx="3459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DF36BFB6-F2A9-2A72-FC77-3CA89036F2B8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3992900" y="4822916"/>
            <a:ext cx="976165" cy="143280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0A677FC8-EE14-1B55-DE27-684DE0B0D056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3992900" y="5575271"/>
            <a:ext cx="976165" cy="6804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34A8280-99FE-A7FD-F8CC-578B7C000586}"/>
              </a:ext>
            </a:extLst>
          </p:cNvPr>
          <p:cNvSpPr/>
          <p:nvPr/>
        </p:nvSpPr>
        <p:spPr>
          <a:xfrm>
            <a:off x="2905539" y="5192247"/>
            <a:ext cx="2236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a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b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a   a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BD0F4C0F-A0BC-208F-0D0D-F9B59F281A00}"/>
              </a:ext>
            </a:extLst>
          </p:cNvPr>
          <p:cNvSpPr/>
          <p:nvPr/>
        </p:nvSpPr>
        <p:spPr>
          <a:xfrm>
            <a:off x="6100798" y="4097945"/>
            <a:ext cx="1099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etapa 2</a:t>
            </a:r>
            <a:endParaRPr lang="es-MX" dirty="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032FFC15-4DC1-FF12-6E10-F9DAE44D6E4C}"/>
              </a:ext>
            </a:extLst>
          </p:cNvPr>
          <p:cNvSpPr/>
          <p:nvPr/>
        </p:nvSpPr>
        <p:spPr>
          <a:xfrm>
            <a:off x="9031525" y="4072786"/>
            <a:ext cx="1099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etapa 3</a:t>
            </a:r>
            <a:endParaRPr lang="es-MX" dirty="0"/>
          </a:p>
        </p:txBody>
      </p: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18E1F0D6-9B09-D600-F765-0557474A9BD0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22387E4-CD56-C266-D8A1-9C7359CB900E}"/>
              </a:ext>
            </a:extLst>
          </p:cNvPr>
          <p:cNvSpPr/>
          <p:nvPr/>
        </p:nvSpPr>
        <p:spPr>
          <a:xfrm>
            <a:off x="1215232" y="4108391"/>
            <a:ext cx="10991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767045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09DC6A-370B-4C61-BD83-D8C5489E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497" y="313605"/>
            <a:ext cx="11225048" cy="58774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buNone/>
            </a:pPr>
            <a:endParaRPr lang="es-A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dirty="0"/>
          </a:p>
          <a:p>
            <a:endParaRPr lang="es-MX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MX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965FEE0-806F-42AF-BC52-AC090B084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53408"/>
              </p:ext>
            </p:extLst>
          </p:nvPr>
        </p:nvGraphicFramePr>
        <p:xfrm>
          <a:off x="1013259" y="1335854"/>
          <a:ext cx="10111406" cy="490201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528821">
                  <a:extLst>
                    <a:ext uri="{9D8B030D-6E8A-4147-A177-3AD203B41FA5}">
                      <a16:colId xmlns:a16="http://schemas.microsoft.com/office/drawing/2014/main" val="1364586985"/>
                    </a:ext>
                  </a:extLst>
                </a:gridCol>
                <a:gridCol w="1063740">
                  <a:extLst>
                    <a:ext uri="{9D8B030D-6E8A-4147-A177-3AD203B41FA5}">
                      <a16:colId xmlns:a16="http://schemas.microsoft.com/office/drawing/2014/main" val="1847681281"/>
                    </a:ext>
                  </a:extLst>
                </a:gridCol>
                <a:gridCol w="1065015">
                  <a:extLst>
                    <a:ext uri="{9D8B030D-6E8A-4147-A177-3AD203B41FA5}">
                      <a16:colId xmlns:a16="http://schemas.microsoft.com/office/drawing/2014/main" val="1911585585"/>
                    </a:ext>
                  </a:extLst>
                </a:gridCol>
                <a:gridCol w="1065015">
                  <a:extLst>
                    <a:ext uri="{9D8B030D-6E8A-4147-A177-3AD203B41FA5}">
                      <a16:colId xmlns:a16="http://schemas.microsoft.com/office/drawing/2014/main" val="628098304"/>
                    </a:ext>
                  </a:extLst>
                </a:gridCol>
                <a:gridCol w="1065015">
                  <a:extLst>
                    <a:ext uri="{9D8B030D-6E8A-4147-A177-3AD203B41FA5}">
                      <a16:colId xmlns:a16="http://schemas.microsoft.com/office/drawing/2014/main" val="3589920801"/>
                    </a:ext>
                  </a:extLst>
                </a:gridCol>
                <a:gridCol w="1063740">
                  <a:extLst>
                    <a:ext uri="{9D8B030D-6E8A-4147-A177-3AD203B41FA5}">
                      <a16:colId xmlns:a16="http://schemas.microsoft.com/office/drawing/2014/main" val="295307615"/>
                    </a:ext>
                  </a:extLst>
                </a:gridCol>
                <a:gridCol w="1065015">
                  <a:extLst>
                    <a:ext uri="{9D8B030D-6E8A-4147-A177-3AD203B41FA5}">
                      <a16:colId xmlns:a16="http://schemas.microsoft.com/office/drawing/2014/main" val="1531341890"/>
                    </a:ext>
                  </a:extLst>
                </a:gridCol>
                <a:gridCol w="1065015">
                  <a:extLst>
                    <a:ext uri="{9D8B030D-6E8A-4147-A177-3AD203B41FA5}">
                      <a16:colId xmlns:a16="http://schemas.microsoft.com/office/drawing/2014/main" val="4285497672"/>
                    </a:ext>
                  </a:extLst>
                </a:gridCol>
                <a:gridCol w="1065015">
                  <a:extLst>
                    <a:ext uri="{9D8B030D-6E8A-4147-A177-3AD203B41FA5}">
                      <a16:colId xmlns:a16="http://schemas.microsoft.com/office/drawing/2014/main" val="1866904242"/>
                    </a:ext>
                  </a:extLst>
                </a:gridCol>
                <a:gridCol w="1065015">
                  <a:extLst>
                    <a:ext uri="{9D8B030D-6E8A-4147-A177-3AD203B41FA5}">
                      <a16:colId xmlns:a16="http://schemas.microsoft.com/office/drawing/2014/main" val="2647861237"/>
                    </a:ext>
                  </a:extLst>
                </a:gridCol>
              </a:tblGrid>
              <a:tr h="50903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a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b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B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a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b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B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a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b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B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24399"/>
                  </a:ext>
                </a:extLst>
              </a:tr>
              <a:tr h="14519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R, 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R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R,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R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L,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L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390119"/>
                  </a:ext>
                </a:extLst>
              </a:tr>
              <a:tr h="14890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L,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S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L,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S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L,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S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L,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S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R,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S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R,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S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S,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S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67422"/>
                  </a:ext>
                </a:extLst>
              </a:tr>
              <a:tr h="145198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AR" sz="1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R,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a, L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R,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L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AR" sz="1800" baseline="-25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,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S,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B, S</a:t>
                      </a:r>
                      <a:endParaRPr lang="es-MX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636494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C0B2F40A-3C2B-407E-AF71-7057A2AAAB32}"/>
              </a:ext>
            </a:extLst>
          </p:cNvPr>
          <p:cNvSpPr/>
          <p:nvPr/>
        </p:nvSpPr>
        <p:spPr>
          <a:xfrm>
            <a:off x="504497" y="266758"/>
            <a:ext cx="109718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Función de transición de la MT M </a:t>
            </a:r>
          </a:p>
          <a:p>
            <a:pPr algn="ctr"/>
            <a:endParaRPr lang="es-A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q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0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copia de la cinta 1 a la 2;   q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reposicionamiento en la cinta 1;   q</a:t>
            </a:r>
            <a:r>
              <a:rPr lang="es-AR" baseline="-25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comparación de las 2 cintas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02D3DF6-FC17-40DC-855F-958FAF90BB4C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3953C9E-0CD2-4A9A-97C6-4599EDE885B7}"/>
              </a:ext>
            </a:extLst>
          </p:cNvPr>
          <p:cNvSpPr/>
          <p:nvPr/>
        </p:nvSpPr>
        <p:spPr>
          <a:xfrm>
            <a:off x="871392" y="6349949"/>
            <a:ext cx="99087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Las celdas en blanco representan los casos de rechazo (estado </a:t>
            </a:r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s-MX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56790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B6C96967-42A2-4FC7-9B38-85A57EEA0663}"/>
              </a:ext>
            </a:extLst>
          </p:cNvPr>
          <p:cNvSpPr txBox="1">
            <a:spLocks/>
          </p:cNvSpPr>
          <p:nvPr/>
        </p:nvSpPr>
        <p:spPr>
          <a:xfrm>
            <a:off x="381168" y="221081"/>
            <a:ext cx="11564058" cy="6509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25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de máquina de Turing no determinística (MTN)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CDA9DEA-5ADD-4272-8827-9A859B02F82A}"/>
              </a:ext>
            </a:extLst>
          </p:cNvPr>
          <p:cNvSpPr/>
          <p:nvPr/>
        </p:nvSpPr>
        <p:spPr>
          <a:xfrm>
            <a:off x="4143998" y="898258"/>
            <a:ext cx="1197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entrada w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98BA74-E165-4BD4-B8C9-9C02A2242FB8}"/>
              </a:ext>
            </a:extLst>
          </p:cNvPr>
          <p:cNvSpPr/>
          <p:nvPr/>
        </p:nvSpPr>
        <p:spPr>
          <a:xfrm>
            <a:off x="3295378" y="4057282"/>
            <a:ext cx="4154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A673B7F-8606-4CF7-A07B-D77B33C86079}"/>
              </a:ext>
            </a:extLst>
          </p:cNvPr>
          <p:cNvSpPr/>
          <p:nvPr/>
        </p:nvSpPr>
        <p:spPr>
          <a:xfrm>
            <a:off x="7025001" y="1677337"/>
            <a:ext cx="2916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grado del no determinismo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C256D31-BAE9-4F25-8D24-FF6AE5D18DF6}"/>
              </a:ext>
            </a:extLst>
          </p:cNvPr>
          <p:cNvSpPr/>
          <p:nvPr/>
        </p:nvSpPr>
        <p:spPr>
          <a:xfrm>
            <a:off x="2762110" y="2229166"/>
            <a:ext cx="10246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2000" b="1" dirty="0">
                <a:latin typeface="Arial" panose="020B0604020202020204" pitchFamily="34" charset="0"/>
                <a:cs typeface="Arial" panose="020B0604020202020204" pitchFamily="34" charset="0"/>
              </a:rPr>
              <a:t>MTN M</a:t>
            </a:r>
            <a:endParaRPr lang="es-MX" sz="2000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EB8C9DE-3648-43D9-9226-F6FB9FDDD3EF}"/>
              </a:ext>
            </a:extLst>
          </p:cNvPr>
          <p:cNvSpPr/>
          <p:nvPr/>
        </p:nvSpPr>
        <p:spPr>
          <a:xfrm>
            <a:off x="381168" y="4741958"/>
            <a:ext cx="114063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Para un mismo par (q, w), la máquina puede responder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de más de una manera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Una MTN M acepta una cadena w sii </a:t>
            </a:r>
            <a:r>
              <a:rPr lang="es-AR" b="1" dirty="0">
                <a:latin typeface="Arial" panose="020B0604020202020204" pitchFamily="34" charset="0"/>
                <a:cs typeface="Arial" panose="020B0604020202020204" pitchFamily="34" charset="0"/>
              </a:rPr>
              <a:t>al menos una computación de M acepta w.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AR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Para simular una MTN con una MTD hay que recorrer en el peor caso todas sus computaciones. Asumiendo que toda computación hace a lo sumo h pasos, entonces ejecutar secuencialmente todas las computaciones requiere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unos c</a:t>
            </a:r>
            <a:r>
              <a:rPr lang="es-AR" baseline="300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pasos, siendo c el grado del no determinismo (</a:t>
            </a:r>
            <a:r>
              <a:rPr lang="es-MX" b="1" dirty="0">
                <a:latin typeface="Arial" panose="020B0604020202020204" pitchFamily="34" charset="0"/>
                <a:cs typeface="Arial" panose="020B0604020202020204" pitchFamily="34" charset="0"/>
              </a:rPr>
              <a:t>retardo exponencial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0E7B6AB-909E-4A04-AA6C-50FCF7005B00}"/>
              </a:ext>
            </a:extLst>
          </p:cNvPr>
          <p:cNvCxnSpPr>
            <a:cxnSpLocks/>
          </p:cNvCxnSpPr>
          <p:nvPr/>
        </p:nvCxnSpPr>
        <p:spPr>
          <a:xfrm flipH="1">
            <a:off x="3475101" y="1229006"/>
            <a:ext cx="2272790" cy="29044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D50CA4B5-DFDE-4A92-89E8-5F294B582B77}"/>
              </a:ext>
            </a:extLst>
          </p:cNvPr>
          <p:cNvCxnSpPr>
            <a:cxnSpLocks/>
          </p:cNvCxnSpPr>
          <p:nvPr/>
        </p:nvCxnSpPr>
        <p:spPr>
          <a:xfrm flipH="1">
            <a:off x="4793810" y="1214154"/>
            <a:ext cx="945208" cy="23805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8F60F065-9325-4167-BD1E-29275A3D1E4B}"/>
              </a:ext>
            </a:extLst>
          </p:cNvPr>
          <p:cNvCxnSpPr>
            <a:cxnSpLocks/>
          </p:cNvCxnSpPr>
          <p:nvPr/>
        </p:nvCxnSpPr>
        <p:spPr>
          <a:xfrm>
            <a:off x="5741748" y="1199214"/>
            <a:ext cx="181640" cy="268130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D3887C62-0E86-4B03-96CC-DB7A0B595257}"/>
              </a:ext>
            </a:extLst>
          </p:cNvPr>
          <p:cNvCxnSpPr>
            <a:cxnSpLocks/>
          </p:cNvCxnSpPr>
          <p:nvPr/>
        </p:nvCxnSpPr>
        <p:spPr>
          <a:xfrm>
            <a:off x="5741748" y="1214154"/>
            <a:ext cx="1369387" cy="29033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3748F68E-6C1A-4A58-907A-83C7A1E56E43}"/>
              </a:ext>
            </a:extLst>
          </p:cNvPr>
          <p:cNvCxnSpPr>
            <a:cxnSpLocks/>
          </p:cNvCxnSpPr>
          <p:nvPr/>
        </p:nvCxnSpPr>
        <p:spPr>
          <a:xfrm>
            <a:off x="5741748" y="1198054"/>
            <a:ext cx="2291311" cy="19261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81D1464F-008F-4E82-A4D7-63A90D750A3A}"/>
              </a:ext>
            </a:extLst>
          </p:cNvPr>
          <p:cNvCxnSpPr>
            <a:cxnSpLocks/>
          </p:cNvCxnSpPr>
          <p:nvPr/>
        </p:nvCxnSpPr>
        <p:spPr>
          <a:xfrm>
            <a:off x="3337918" y="1214154"/>
            <a:ext cx="24011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BE00EBB0-87C9-4A07-8763-006B78B24AA5}"/>
              </a:ext>
            </a:extLst>
          </p:cNvPr>
          <p:cNvCxnSpPr>
            <a:cxnSpLocks/>
          </p:cNvCxnSpPr>
          <p:nvPr/>
        </p:nvCxnSpPr>
        <p:spPr>
          <a:xfrm>
            <a:off x="4554001" y="1892091"/>
            <a:ext cx="2471000" cy="1"/>
          </a:xfrm>
          <a:prstGeom prst="line">
            <a:avLst/>
          </a:prstGeom>
          <a:ln w="25400" cmpd="dbl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55">
            <a:extLst>
              <a:ext uri="{FF2B5EF4-FFF2-40B4-BE49-F238E27FC236}">
                <a16:creationId xmlns:a16="http://schemas.microsoft.com/office/drawing/2014/main" id="{DE310D09-D99C-4DC9-9206-C8FC9646C46C}"/>
              </a:ext>
            </a:extLst>
          </p:cNvPr>
          <p:cNvSpPr/>
          <p:nvPr/>
        </p:nvSpPr>
        <p:spPr>
          <a:xfrm>
            <a:off x="6782749" y="2629276"/>
            <a:ext cx="12503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>
                <a:latin typeface="Arial" panose="020B0604020202020204" pitchFamily="34" charset="0"/>
                <a:cs typeface="Arial" panose="020B0604020202020204" pitchFamily="34" charset="0"/>
              </a:rPr>
              <a:t>….. </a:t>
            </a:r>
            <a:endParaRPr lang="es-MX" sz="2400" b="1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2526D774-C7E3-4E77-9FF6-135A9FC38D8D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AC4169-E53B-01DF-AF0B-9B9FC9F79E51}"/>
              </a:ext>
            </a:extLst>
          </p:cNvPr>
          <p:cNvSpPr/>
          <p:nvPr/>
        </p:nvSpPr>
        <p:spPr>
          <a:xfrm>
            <a:off x="4601815" y="3511183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8CF9C5B-9632-16DC-8E46-2F6DB83C1B76}"/>
              </a:ext>
            </a:extLst>
          </p:cNvPr>
          <p:cNvSpPr/>
          <p:nvPr/>
        </p:nvSpPr>
        <p:spPr>
          <a:xfrm>
            <a:off x="5733185" y="3801583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1F3274-92F9-A023-2100-8929DA31B7DC}"/>
              </a:ext>
            </a:extLst>
          </p:cNvPr>
          <p:cNvSpPr/>
          <p:nvPr/>
        </p:nvSpPr>
        <p:spPr>
          <a:xfrm>
            <a:off x="6887403" y="401008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7057BF0-CA3D-1B78-B5F4-A44C8DF29074}"/>
              </a:ext>
            </a:extLst>
          </p:cNvPr>
          <p:cNvSpPr/>
          <p:nvPr/>
        </p:nvSpPr>
        <p:spPr>
          <a:xfrm>
            <a:off x="7833604" y="3050261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C917F4E-6CC8-6B06-B12A-5C7544DEBCA4}"/>
              </a:ext>
            </a:extLst>
          </p:cNvPr>
          <p:cNvSpPr txBox="1"/>
          <p:nvPr/>
        </p:nvSpPr>
        <p:spPr>
          <a:xfrm>
            <a:off x="8462534" y="2395289"/>
            <a:ext cx="36502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MTN no modelizan una computadora (haría falta un sinnúmero de procesadores). </a:t>
            </a:r>
          </a:p>
          <a:p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son físicamente realizables.</a:t>
            </a:r>
          </a:p>
          <a:p>
            <a:r>
              <a:rPr lang="es-E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Sirven para simplificar las descripciones de las MT determinísticas (MTD).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41701603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211241-8E1A-476F-A2EF-87D34FEAE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0404" y="1122549"/>
            <a:ext cx="11343021" cy="5401962"/>
          </a:xfrm>
        </p:spPr>
        <p:txBody>
          <a:bodyPr>
            <a:noAutofit/>
          </a:bodyPr>
          <a:lstStyle/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u="sng" dirty="0"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: construir una MTN que acepte todas las cadenas que empiezan con un símbolo h y continúan con cero o más símbolos </a:t>
            </a:r>
            <a:r>
              <a:rPr lang="es-AR" sz="1800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o con cero o más símbolos b: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Solución propuesta: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Δ(q</a:t>
            </a:r>
            <a:r>
              <a:rPr lang="es-AR" sz="1800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h) = {(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h, R), (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h, R)}</a:t>
            </a:r>
          </a:p>
          <a:p>
            <a:pPr marL="0" lvl="1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a) = {(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a, R)} </a:t>
            </a:r>
          </a:p>
          <a:p>
            <a:pPr marL="0" lvl="1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B) = {(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B, S)} </a:t>
            </a:r>
          </a:p>
          <a:p>
            <a:pPr marL="0" lvl="1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b) = {(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b, R)} </a:t>
            </a:r>
          </a:p>
          <a:p>
            <a:pPr marL="0" lvl="1" indent="-514350">
              <a:lnSpc>
                <a:spcPct val="100000"/>
              </a:lnSpc>
              <a:spcBef>
                <a:spcPts val="0"/>
              </a:spcBef>
              <a:buAutoNum type="arabicPeriod"/>
            </a:pP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rabicPeriod"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Δ(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B) = {(</a:t>
            </a:r>
            <a:r>
              <a:rPr lang="es-AR" sz="1800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sz="18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, B, S)}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87B8A9-150C-4677-9E28-8559D4B536CE}"/>
              </a:ext>
            </a:extLst>
          </p:cNvPr>
          <p:cNvSpPr/>
          <p:nvPr/>
        </p:nvSpPr>
        <p:spPr>
          <a:xfrm>
            <a:off x="290405" y="213921"/>
            <a:ext cx="109595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Ejemplo sencillo de uso de una MTN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E536AFD-4B10-4DA9-A72D-19477C69B90E}"/>
              </a:ext>
            </a:extLst>
          </p:cNvPr>
          <p:cNvSpPr txBox="1">
            <a:spLocks/>
          </p:cNvSpPr>
          <p:nvPr/>
        </p:nvSpPr>
        <p:spPr>
          <a:xfrm>
            <a:off x="11633426" y="6191023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D409AB-2201-4E18-8A34-C31753AD9B06}" type="slidenum">
              <a:rPr kumimoji="0" lang="en-US" sz="1867" b="1" i="0" u="none" strike="noStrike" kern="1200" cap="none" spc="0" normalizeH="0" baseline="0" noProof="0" smtClean="0">
                <a:ln>
                  <a:noFill/>
                </a:ln>
                <a:solidFill>
                  <a:srgbClr val="C0C0C8"/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l" defTabSz="91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67" b="1" i="0" u="none" strike="noStrike" kern="1200" cap="none" spc="0" normalizeH="0" baseline="0" noProof="0" dirty="0">
              <a:ln>
                <a:noFill/>
              </a:ln>
              <a:solidFill>
                <a:srgbClr val="C0C0C8"/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F02FBF1-3010-486D-B472-E9C5A7A1BBB1}"/>
              </a:ext>
            </a:extLst>
          </p:cNvPr>
          <p:cNvSpPr/>
          <p:nvPr/>
        </p:nvSpPr>
        <p:spPr>
          <a:xfrm>
            <a:off x="5961914" y="2905193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haaa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510FA9F-A55D-9187-5DF2-E544C54755A1}"/>
              </a:ext>
            </a:extLst>
          </p:cNvPr>
          <p:cNvCxnSpPr>
            <a:cxnSpLocks/>
          </p:cNvCxnSpPr>
          <p:nvPr/>
        </p:nvCxnSpPr>
        <p:spPr>
          <a:xfrm flipH="1">
            <a:off x="6200382" y="3253756"/>
            <a:ext cx="945208" cy="23805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0B63C82F-B4CC-8E9E-3EA4-D72F7037F2A0}"/>
              </a:ext>
            </a:extLst>
          </p:cNvPr>
          <p:cNvCxnSpPr>
            <a:cxnSpLocks/>
          </p:cNvCxnSpPr>
          <p:nvPr/>
        </p:nvCxnSpPr>
        <p:spPr>
          <a:xfrm>
            <a:off x="7119364" y="3253756"/>
            <a:ext cx="1145656" cy="23805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95542F54-47BB-DF62-A996-0ADB275A12B4}"/>
              </a:ext>
            </a:extLst>
          </p:cNvPr>
          <p:cNvCxnSpPr>
            <a:cxnSpLocks/>
          </p:cNvCxnSpPr>
          <p:nvPr/>
        </p:nvCxnSpPr>
        <p:spPr>
          <a:xfrm>
            <a:off x="5550570" y="3253756"/>
            <a:ext cx="159502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37E85FE-9B11-DEC6-C717-B113861B36FB}"/>
              </a:ext>
            </a:extLst>
          </p:cNvPr>
          <p:cNvSpPr/>
          <p:nvPr/>
        </p:nvSpPr>
        <p:spPr>
          <a:xfrm>
            <a:off x="6008387" y="555078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9084C50-7B75-2626-AEBB-B0FCB590D8D5}"/>
              </a:ext>
            </a:extLst>
          </p:cNvPr>
          <p:cNvSpPr/>
          <p:nvPr/>
        </p:nvSpPr>
        <p:spPr>
          <a:xfrm>
            <a:off x="8057271" y="5550785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F763F77-16C0-BF4F-B551-C3FCC0D3F0EA}"/>
              </a:ext>
            </a:extLst>
          </p:cNvPr>
          <p:cNvSpPr/>
          <p:nvPr/>
        </p:nvSpPr>
        <p:spPr>
          <a:xfrm>
            <a:off x="9032526" y="2905193"/>
            <a:ext cx="6976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dirty="0" err="1">
                <a:latin typeface="Arial" panose="020B0604020202020204" pitchFamily="34" charset="0"/>
                <a:cs typeface="Arial" panose="020B0604020202020204" pitchFamily="34" charset="0"/>
              </a:rPr>
              <a:t>haab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D7344CDB-483F-30B5-E978-EF951A36E590}"/>
              </a:ext>
            </a:extLst>
          </p:cNvPr>
          <p:cNvCxnSpPr>
            <a:cxnSpLocks/>
          </p:cNvCxnSpPr>
          <p:nvPr/>
        </p:nvCxnSpPr>
        <p:spPr>
          <a:xfrm flipH="1">
            <a:off x="9270994" y="3253756"/>
            <a:ext cx="945208" cy="23805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1CD6690F-55E9-82EB-19AF-AB3084C18ED1}"/>
              </a:ext>
            </a:extLst>
          </p:cNvPr>
          <p:cNvCxnSpPr>
            <a:cxnSpLocks/>
          </p:cNvCxnSpPr>
          <p:nvPr/>
        </p:nvCxnSpPr>
        <p:spPr>
          <a:xfrm>
            <a:off x="10189976" y="3253756"/>
            <a:ext cx="1145656" cy="23805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889F8873-F23E-F3C9-6685-E6EDC342411D}"/>
              </a:ext>
            </a:extLst>
          </p:cNvPr>
          <p:cNvCxnSpPr>
            <a:cxnSpLocks/>
          </p:cNvCxnSpPr>
          <p:nvPr/>
        </p:nvCxnSpPr>
        <p:spPr>
          <a:xfrm>
            <a:off x="8621182" y="3253756"/>
            <a:ext cx="159502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99AD24E-C74D-38B1-AEA9-FC04AAB2518E}"/>
              </a:ext>
            </a:extLst>
          </p:cNvPr>
          <p:cNvSpPr/>
          <p:nvPr/>
        </p:nvSpPr>
        <p:spPr>
          <a:xfrm>
            <a:off x="9078999" y="5550785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92F2127-987E-CB46-34F0-2AD138B9F5F8}"/>
              </a:ext>
            </a:extLst>
          </p:cNvPr>
          <p:cNvSpPr/>
          <p:nvPr/>
        </p:nvSpPr>
        <p:spPr>
          <a:xfrm>
            <a:off x="11127883" y="5550785"/>
            <a:ext cx="4235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err="1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s-AR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4711AF0-1AF2-24EE-5351-CBA88F88129A}"/>
              </a:ext>
            </a:extLst>
          </p:cNvPr>
          <p:cNvSpPr txBox="1"/>
          <p:nvPr/>
        </p:nvSpPr>
        <p:spPr>
          <a:xfrm>
            <a:off x="9753494" y="5921659"/>
            <a:ext cx="1879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rechaza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2DE6A9-AB16-6BA5-AC8B-52D49BBBCEE5}"/>
              </a:ext>
            </a:extLst>
          </p:cNvPr>
          <p:cNvSpPr txBox="1"/>
          <p:nvPr/>
        </p:nvSpPr>
        <p:spPr>
          <a:xfrm>
            <a:off x="7199067" y="2464696"/>
            <a:ext cx="1879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b="1" dirty="0">
                <a:latin typeface="Arial" panose="020B0604020202020204" pitchFamily="34" charset="0"/>
                <a:cs typeface="Arial" panose="020B0604020202020204" pitchFamily="34" charset="0"/>
              </a:rPr>
              <a:t>Por ejemplo: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E87858B-DE96-8E57-9E4E-C82B163EFB65}"/>
              </a:ext>
            </a:extLst>
          </p:cNvPr>
          <p:cNvSpPr txBox="1"/>
          <p:nvPr/>
        </p:nvSpPr>
        <p:spPr>
          <a:xfrm>
            <a:off x="6803791" y="5920117"/>
            <a:ext cx="18799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acepta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6BEB63C-D0DE-BB3B-7234-0C0B529F2102}"/>
              </a:ext>
            </a:extLst>
          </p:cNvPr>
          <p:cNvSpPr txBox="1"/>
          <p:nvPr/>
        </p:nvSpPr>
        <p:spPr>
          <a:xfrm>
            <a:off x="290404" y="5667259"/>
            <a:ext cx="35636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Notar que se utiliza el símbolo Δ en lugar del símbolo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δ (para </a:t>
            </a:r>
            <a:r>
              <a:rPr lang="es-AR" sz="180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indicar que no </a:t>
            </a:r>
            <a:r>
              <a:rPr lang="es-A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es una función).</a:t>
            </a:r>
            <a:r>
              <a:rPr lang="es-AR" sz="1800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55013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4338</TotalTime>
  <Words>6857</Words>
  <Application>Microsoft Office PowerPoint</Application>
  <PresentationFormat>Panorámica</PresentationFormat>
  <Paragraphs>1143</Paragraphs>
  <Slides>39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39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Lucida Calligraphy</vt:lpstr>
      <vt:lpstr>Roboto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Aaa bbb    vbvvnn   vfffff aaa ddddd gggggggg</dc:title>
  <dc:creator>Ricardo Rosenfeld</dc:creator>
  <cp:lastModifiedBy>Ricardo Rosenfeld</cp:lastModifiedBy>
  <cp:revision>426</cp:revision>
  <dcterms:created xsi:type="dcterms:W3CDTF">2017-11-26T15:39:57Z</dcterms:created>
  <dcterms:modified xsi:type="dcterms:W3CDTF">2026-03-08T12:57:02Z</dcterms:modified>
</cp:coreProperties>
</file>