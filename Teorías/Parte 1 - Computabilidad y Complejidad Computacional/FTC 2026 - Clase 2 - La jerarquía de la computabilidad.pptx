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420" r:id="rId2"/>
    <p:sldId id="417" r:id="rId3"/>
    <p:sldId id="450" r:id="rId4"/>
    <p:sldId id="451" r:id="rId5"/>
    <p:sldId id="470" r:id="rId6"/>
    <p:sldId id="305" r:id="rId7"/>
    <p:sldId id="293" r:id="rId8"/>
    <p:sldId id="294" r:id="rId9"/>
    <p:sldId id="307" r:id="rId10"/>
    <p:sldId id="308" r:id="rId11"/>
    <p:sldId id="296" r:id="rId12"/>
    <p:sldId id="316" r:id="rId13"/>
    <p:sldId id="311" r:id="rId14"/>
    <p:sldId id="312" r:id="rId15"/>
    <p:sldId id="454" r:id="rId16"/>
    <p:sldId id="474" r:id="rId17"/>
    <p:sldId id="298" r:id="rId18"/>
    <p:sldId id="466" r:id="rId19"/>
    <p:sldId id="456" r:id="rId20"/>
    <p:sldId id="469" r:id="rId21"/>
    <p:sldId id="467" r:id="rId22"/>
    <p:sldId id="468" r:id="rId23"/>
    <p:sldId id="447" r:id="rId24"/>
    <p:sldId id="473" r:id="rId25"/>
    <p:sldId id="471" r:id="rId26"/>
    <p:sldId id="476" r:id="rId27"/>
    <p:sldId id="475" r:id="rId28"/>
    <p:sldId id="299" r:id="rId29"/>
    <p:sldId id="300" r:id="rId30"/>
    <p:sldId id="301" r:id="rId3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ardo Rosenfeld" initials="RR" lastIdx="1" clrIdx="0">
    <p:extLst>
      <p:ext uri="{19B8F6BF-5375-455C-9EA6-DF929625EA0E}">
        <p15:presenceInfo xmlns:p15="http://schemas.microsoft.com/office/powerpoint/2012/main" userId="S::rrosenfeld@pragmaconsultores.net::60a3a891-5940-4f3e-8fcb-08ad60f8a1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F9E503-0C52-4230-AE5A-AB7D7784E798}" v="1" dt="2026-03-15T21:38:13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001" autoAdjust="0"/>
    <p:restoredTop sz="95097" autoAdjust="0"/>
  </p:normalViewPr>
  <p:slideViewPr>
    <p:cSldViewPr snapToGrid="0">
      <p:cViewPr varScale="1">
        <p:scale>
          <a:sx n="55" d="100"/>
          <a:sy n="55" d="100"/>
        </p:scale>
        <p:origin x="1556" y="264"/>
      </p:cViewPr>
      <p:guideLst/>
    </p:cSldViewPr>
  </p:slideViewPr>
  <p:outlineViewPr>
    <p:cViewPr>
      <p:scale>
        <a:sx n="33" d="100"/>
        <a:sy n="33" d="100"/>
      </p:scale>
      <p:origin x="0" y="-37295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6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osenfeld" userId="29ed646a-75fb-4451-a67b-85738f90665c" providerId="ADAL" clId="{56FAFB6D-07E1-49C8-800A-4AFF6024927D}"/>
    <pc:docChg chg="custSel modSld">
      <pc:chgData name="Ricardo Rosenfeld" userId="29ed646a-75fb-4451-a67b-85738f90665c" providerId="ADAL" clId="{56FAFB6D-07E1-49C8-800A-4AFF6024927D}" dt="2026-03-15T21:38:13.352" v="65"/>
      <pc:docMkLst>
        <pc:docMk/>
      </pc:docMkLst>
      <pc:sldChg chg="delSp modSp mod">
        <pc:chgData name="Ricardo Rosenfeld" userId="29ed646a-75fb-4451-a67b-85738f90665c" providerId="ADAL" clId="{56FAFB6D-07E1-49C8-800A-4AFF6024927D}" dt="2026-03-13T14:01:57.957" v="46" actId="478"/>
        <pc:sldMkLst>
          <pc:docMk/>
          <pc:sldMk cId="3276884013" sldId="417"/>
        </pc:sldMkLst>
        <pc:spChg chg="mod">
          <ac:chgData name="Ricardo Rosenfeld" userId="29ed646a-75fb-4451-a67b-85738f90665c" providerId="ADAL" clId="{56FAFB6D-07E1-49C8-800A-4AFF6024927D}" dt="2026-03-13T14:01:36.206" v="45" actId="20577"/>
          <ac:spMkLst>
            <pc:docMk/>
            <pc:sldMk cId="3276884013" sldId="417"/>
            <ac:spMk id="15" creationId="{367BF5E1-D3D4-6A96-DCF9-75D1C7296E18}"/>
          </ac:spMkLst>
        </pc:spChg>
      </pc:sldChg>
      <pc:sldChg chg="modSp mod">
        <pc:chgData name="Ricardo Rosenfeld" userId="29ed646a-75fb-4451-a67b-85738f90665c" providerId="ADAL" clId="{56FAFB6D-07E1-49C8-800A-4AFF6024927D}" dt="2026-03-13T14:03:09.306" v="64" actId="6549"/>
        <pc:sldMkLst>
          <pc:docMk/>
          <pc:sldMk cId="214593838" sldId="450"/>
        </pc:sldMkLst>
        <pc:spChg chg="mod">
          <ac:chgData name="Ricardo Rosenfeld" userId="29ed646a-75fb-4451-a67b-85738f90665c" providerId="ADAL" clId="{56FAFB6D-07E1-49C8-800A-4AFF6024927D}" dt="2026-03-13T14:03:09.306" v="64" actId="6549"/>
          <ac:spMkLst>
            <pc:docMk/>
            <pc:sldMk cId="214593838" sldId="450"/>
            <ac:spMk id="4" creationId="{21D35130-054E-4C8F-A8EF-AD55DED45254}"/>
          </ac:spMkLst>
        </pc:spChg>
      </pc:sldChg>
      <pc:sldChg chg="modSp">
        <pc:chgData name="Ricardo Rosenfeld" userId="29ed646a-75fb-4451-a67b-85738f90665c" providerId="ADAL" clId="{56FAFB6D-07E1-49C8-800A-4AFF6024927D}" dt="2026-03-15T21:38:13.352" v="65"/>
        <pc:sldMkLst>
          <pc:docMk/>
          <pc:sldMk cId="2868556859" sldId="471"/>
        </pc:sldMkLst>
        <pc:spChg chg="mod">
          <ac:chgData name="Ricardo Rosenfeld" userId="29ed646a-75fb-4451-a67b-85738f90665c" providerId="ADAL" clId="{56FAFB6D-07E1-49C8-800A-4AFF6024927D}" dt="2026-03-15T21:38:13.352" v="65"/>
          <ac:spMkLst>
            <pc:docMk/>
            <pc:sldMk cId="2868556859" sldId="471"/>
            <ac:spMk id="23" creationId="{63EE0D54-73EA-8B88-B424-7451A5BE95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C0A43-6D99-469E-A2A4-986F5A96B2D7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35F7-D700-49C2-9B70-E2E5ADB6D1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64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3316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7819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4970-6A1A-9FA9-5C07-C08BC94A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2995D7-4FBA-AA38-200A-6F4A35CBB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8C6FD6-B0D7-DE59-750C-1FED1ADAA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75A80-CE07-2D50-0010-A5662C56C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0312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1305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0507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90624-6160-5F95-E2F0-0FFB9978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051137-04AC-D88E-14D3-EA8C59B9D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AD08AF-5F6B-CE11-6E7E-2200B0CFA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56DA1B-7C2C-76EF-F1DE-E5BFCEBB1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8494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73AF-E932-64D7-DDCF-B0EEF21B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A1DFF0-3DF7-F92B-2C3F-4237DB519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6D5554-F992-CF37-ACD2-E4670DEC6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45B09A-8999-6D64-EC11-E299CF577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438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DB83E-E34E-AC3C-7DC7-03D65EDA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D694AC-4D03-D94C-9F51-F41FEEDA4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A36AAB-8B8B-7D3A-C4E8-8364C09CA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BFAE99-1AFD-5605-4818-B04021974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5686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881C-6AD3-337F-DFF0-E4770C3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F6A3586-8066-E6FC-AF39-F0146EACA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4AC811-C5BC-E7AA-BD49-483A63FEE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BE3EC4-120A-57FD-6804-57E245581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7557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950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CDFD8-3B47-47B7-9D98-9CB28ED50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51C29-88F1-404A-88B5-AAFB933E7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C8192-3085-40EC-A245-5C222F32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0C20B-B4AC-430A-8313-A3F7BDC0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EC49BD-1E18-4D92-9D24-7398DB0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67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A5222-7243-4A2A-81E0-EFD4A97B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C6E81-EB0F-46DA-9E5A-667EA14D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4B5F33-4F19-4979-8255-DD785CEE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F551B-D411-43D5-91E0-D1144B1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6BA24-B1EE-4DB2-AAFD-AD6642DD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14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3B8AA-8824-42FA-95BA-B9BAD6FE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287F06-1F1F-4003-BCAA-C7B601E3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5B110-FFCF-43EE-8AF6-DE5B2842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A215F-73F9-4C6E-B7EC-68488086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22D6C-A7D6-41A9-B84A-4E190D85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355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FB367-926C-43A9-9CEC-6BFEFCAE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F9C402-E080-471C-8FDA-676B5D64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5C77-D3F1-4F59-98FC-1C12D5B4B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8C8DE3-9740-42F7-A75D-5AD79151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716250-9E7E-4B4A-AE00-7A405C6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3BA5F8-1996-419B-A547-BE167DD4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4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EFD3-DE5B-46CC-9A55-EF83087C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83A4CA-2CD6-4D12-8680-E55BE1714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C9E483-322E-42AA-BEE2-AD348AC5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F3C280-1532-430A-A567-C1C468DB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4D677A-924C-4D3E-B367-07331BECA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6C1839-3F71-4941-BB2A-B44CB6C3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48C015-22B0-416F-BEC7-42EFB85F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FEA894-61ED-4AAB-83DF-19C01EE8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287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AE01-3088-4313-9007-6B1AADB4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D9A49-CAAC-4CB1-ACA6-6F6062D9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9D4133-9FCA-44D8-9FB8-A4815F3F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75C298-54F6-456C-BB16-F056363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517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9DFC64-5151-420C-9730-DFDC83B9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E318C4-3FDF-4018-950C-7C6F8C17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6FD2A-6527-4E5F-AEBF-BBA1707F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88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F2E8B-3206-4383-8645-1E3D162F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BBE06-46BA-4FCC-8B18-70C154D4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8D200-9C17-459D-ACBF-27E79A38C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25193-0668-4B1D-A8B6-F7470675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9D8AA-90EA-4DD2-96E0-DD955B2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25CA9F-E879-43AA-AD1E-ACD887D0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086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79DCD-B27A-4406-864E-7743DAE4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978869-74E6-47DC-AC53-E00D971CB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1CC178-2CF6-4746-8D87-0BE4A1418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54E583-6800-4663-AEED-581E2407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BADE39-CE1A-4FC8-8AD1-81EF7E96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DA765A-B094-4517-B235-3111B61D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90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5CDAE-BB5E-4D14-AE23-9F3A1DFB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7F080C-030B-457D-B014-6848697E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64F5B-EDB7-4A6D-A2E0-4F7F9A6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8DB3E-AF17-4955-B8AD-62C820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44975-9D39-4C1F-B3B4-4CCA8D25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7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F821CC-7EFE-4705-8EA8-DA07D2712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395BA9-E5AE-49B3-8968-DE994CFEE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489C8F-14CF-4605-98D3-14728A87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19C36-9E90-4794-91ED-E9B11DB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57C4B-6B87-4FB3-8B36-5FD7C552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782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D14711-40D9-47D6-9B41-0B8DB28C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E733F8-BEB9-48ED-96E8-B4B2409D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47027-680B-4EDC-9484-D8AF0773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3A0A-650C-414D-9908-5E3669971B9E}" type="datetimeFigureOut">
              <a:rPr lang="es-MX" smtClean="0"/>
              <a:t>15/03/2026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D6DD88-B1BE-4D9D-AF16-6C219E6B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D8EA2-8AC1-4530-9585-CCC8E40F1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5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300874" y="2778071"/>
            <a:ext cx="7313162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teórica 2</a:t>
            </a:r>
          </a:p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La jerarquía de la computabilidad</a:t>
            </a:r>
          </a:p>
        </p:txBody>
      </p:sp>
    </p:spTree>
    <p:extLst>
      <p:ext uri="{BB962C8B-B14F-4D97-AF65-F5344CB8AC3E}">
        <p14:creationId xmlns:p14="http://schemas.microsoft.com/office/powerpoint/2010/main" val="87746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434846CF-79E0-4565-8F66-D2532AB3E717}"/>
              </a:ext>
            </a:extLst>
          </p:cNvPr>
          <p:cNvSpPr txBox="1">
            <a:spLocks/>
          </p:cNvSpPr>
          <p:nvPr/>
        </p:nvSpPr>
        <p:spPr>
          <a:xfrm>
            <a:off x="3321091" y="1666452"/>
            <a:ext cx="5944370" cy="6805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B4DF858-D81D-40E8-9AC8-1F6707B38E66}"/>
              </a:ext>
            </a:extLst>
          </p:cNvPr>
          <p:cNvSpPr txBox="1">
            <a:spLocks/>
          </p:cNvSpPr>
          <p:nvPr/>
        </p:nvSpPr>
        <p:spPr>
          <a:xfrm>
            <a:off x="5682548" y="4797729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3D10A8A-FA0E-4A50-8CCF-45CAD2EAAC6D}"/>
              </a:ext>
            </a:extLst>
          </p:cNvPr>
          <p:cNvSpPr txBox="1">
            <a:spLocks/>
          </p:cNvSpPr>
          <p:nvPr/>
        </p:nvSpPr>
        <p:spPr>
          <a:xfrm>
            <a:off x="5448559" y="3178832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D064D08-76F6-439F-B4C7-729846132ED9}"/>
              </a:ext>
            </a:extLst>
          </p:cNvPr>
          <p:cNvSpPr/>
          <p:nvPr/>
        </p:nvSpPr>
        <p:spPr>
          <a:xfrm>
            <a:off x="3428230" y="1371601"/>
            <a:ext cx="5944370" cy="496252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FB5DABD9-24C2-4684-BA13-F8546430DEF8}"/>
              </a:ext>
            </a:extLst>
          </p:cNvPr>
          <p:cNvSpPr/>
          <p:nvPr/>
        </p:nvSpPr>
        <p:spPr>
          <a:xfrm>
            <a:off x="4229100" y="2666999"/>
            <a:ext cx="4438649" cy="352402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CD79543B-325B-4BD1-B2EB-34B25EC7506B}"/>
              </a:ext>
            </a:extLst>
          </p:cNvPr>
          <p:cNvSpPr/>
          <p:nvPr/>
        </p:nvSpPr>
        <p:spPr>
          <a:xfrm>
            <a:off x="5124450" y="3771899"/>
            <a:ext cx="2609850" cy="231457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CF2F158-29E9-4139-9489-AA130AEA817D}"/>
              </a:ext>
            </a:extLst>
          </p:cNvPr>
          <p:cNvCxnSpPr>
            <a:cxnSpLocks/>
          </p:cNvCxnSpPr>
          <p:nvPr/>
        </p:nvCxnSpPr>
        <p:spPr>
          <a:xfrm>
            <a:off x="1548887" y="2266596"/>
            <a:ext cx="4851527" cy="23880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D3E59ED-66BA-46A7-9882-D7C201C897D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367BF5E1-D3D4-6A96-DCF9-75D1C7296E18}"/>
              </a:ext>
            </a:extLst>
          </p:cNvPr>
          <p:cNvSpPr txBox="1">
            <a:spLocks/>
          </p:cNvSpPr>
          <p:nvPr/>
        </p:nvSpPr>
        <p:spPr>
          <a:xfrm>
            <a:off x="203649" y="184283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Iniciamos el viaje por el universo de los problemas</a:t>
            </a:r>
          </a:p>
        </p:txBody>
      </p:sp>
    </p:spTree>
    <p:extLst>
      <p:ext uri="{BB962C8B-B14F-4D97-AF65-F5344CB8AC3E}">
        <p14:creationId xmlns:p14="http://schemas.microsoft.com/office/powerpoint/2010/main" val="327688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1D35130-054E-4C8F-A8EF-AD55DED45254}"/>
              </a:ext>
            </a:extLst>
          </p:cNvPr>
          <p:cNvSpPr/>
          <p:nvPr/>
        </p:nvSpPr>
        <p:spPr>
          <a:xfrm>
            <a:off x="269496" y="759494"/>
            <a:ext cx="11922504" cy="2108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computacional: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máquina de Turing (MT).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Problemas que consideraremos en general: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problemas de decisión o de tipo sí/no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MX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 “=“ lenguaje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todas las cadenas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representan instancias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positivas del problema).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que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acepta o reconoce un lenguaje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MX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b="1" u="sng" dirty="0">
                <a:latin typeface="Arial" panose="020B0604020202020204" pitchFamily="34" charset="0"/>
                <a:cs typeface="Arial" panose="020B0604020202020204" pitchFamily="34" charset="0"/>
              </a:rPr>
              <a:t>Ejemplos que vimos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2558E67-5AAF-42DD-BDE9-EE238F7A15E7}"/>
              </a:ext>
            </a:extLst>
          </p:cNvPr>
          <p:cNvSpPr/>
          <p:nvPr/>
        </p:nvSpPr>
        <p:spPr>
          <a:xfrm>
            <a:off x="3976364" y="3058708"/>
            <a:ext cx="80119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 de si un grafo tiene un camino del primero al último vértice.  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Una MT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MX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que resuelve el problema acepta el siguiente lenguaje: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L(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= {G | G es un grafo que tiene un camino del primero al último vértice}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EF3434C-24A9-4AA6-AD91-AE10287DCC4C}"/>
              </a:ext>
            </a:extLst>
          </p:cNvPr>
          <p:cNvSpPr/>
          <p:nvPr/>
        </p:nvSpPr>
        <p:spPr>
          <a:xfrm>
            <a:off x="3567602" y="4018102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1DCF1C3-FBB4-4FB3-AA43-ABE5343B5CEA}"/>
              </a:ext>
            </a:extLst>
          </p:cNvPr>
          <p:cNvSpPr/>
          <p:nvPr/>
        </p:nvSpPr>
        <p:spPr>
          <a:xfrm>
            <a:off x="3502718" y="3032627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5362269-FF7E-40D1-8069-F6C223F80061}"/>
              </a:ext>
            </a:extLst>
          </p:cNvPr>
          <p:cNvSpPr/>
          <p:nvPr/>
        </p:nvSpPr>
        <p:spPr>
          <a:xfrm>
            <a:off x="1549727" y="3386302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0D7E70E-A0EC-47C1-8D2F-0269FB19C5DC}"/>
              </a:ext>
            </a:extLst>
          </p:cNvPr>
          <p:cNvCxnSpPr>
            <a:cxnSpLocks/>
          </p:cNvCxnSpPr>
          <p:nvPr/>
        </p:nvCxnSpPr>
        <p:spPr>
          <a:xfrm>
            <a:off x="418573" y="3850299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0FF0051-C511-4E77-B29C-0366FDAC29C3}"/>
              </a:ext>
            </a:extLst>
          </p:cNvPr>
          <p:cNvCxnSpPr>
            <a:cxnSpLocks/>
          </p:cNvCxnSpPr>
          <p:nvPr/>
        </p:nvCxnSpPr>
        <p:spPr>
          <a:xfrm>
            <a:off x="2464127" y="3874362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6206D031-EFC9-4701-AE97-A0C1588851E1}"/>
              </a:ext>
            </a:extLst>
          </p:cNvPr>
          <p:cNvSpPr txBox="1">
            <a:spLocks/>
          </p:cNvSpPr>
          <p:nvPr/>
        </p:nvSpPr>
        <p:spPr>
          <a:xfrm>
            <a:off x="827051" y="3592948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8B80880-BF3E-4FBC-8540-D4CF0FCB6AB8}"/>
              </a:ext>
            </a:extLst>
          </p:cNvPr>
          <p:cNvCxnSpPr>
            <a:cxnSpLocks/>
          </p:cNvCxnSpPr>
          <p:nvPr/>
        </p:nvCxnSpPr>
        <p:spPr>
          <a:xfrm flipV="1">
            <a:off x="2467036" y="3205550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04587013-7CCD-4AA1-8995-04DA506B564B}"/>
              </a:ext>
            </a:extLst>
          </p:cNvPr>
          <p:cNvSpPr txBox="1">
            <a:spLocks/>
          </p:cNvSpPr>
          <p:nvPr/>
        </p:nvSpPr>
        <p:spPr>
          <a:xfrm>
            <a:off x="1781936" y="3047338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7A84479A-94D8-4393-87C3-9F1C6AFEDE8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86D2572-C3A3-4BA6-B3C4-B0CAA8C05327}"/>
              </a:ext>
            </a:extLst>
          </p:cNvPr>
          <p:cNvSpPr/>
          <p:nvPr/>
        </p:nvSpPr>
        <p:spPr>
          <a:xfrm>
            <a:off x="4008748" y="5082776"/>
            <a:ext cx="71641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 de si una fórmula booleana es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.  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Una MT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que resuelve el problema acepta el siguiente lenguaje: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L(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= {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| φ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 una fórmula booleana </a:t>
            </a:r>
            <a:r>
              <a:rPr lang="es-MX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satisfactible</a:t>
            </a:r>
            <a:r>
              <a:rPr 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D7A11CE-5388-49AD-831C-B2A722A19494}"/>
              </a:ext>
            </a:extLst>
          </p:cNvPr>
          <p:cNvSpPr/>
          <p:nvPr/>
        </p:nvSpPr>
        <p:spPr>
          <a:xfrm>
            <a:off x="3540554" y="609850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5F837BE-6EF6-40AD-B8F6-CC17A14A7F9B}"/>
              </a:ext>
            </a:extLst>
          </p:cNvPr>
          <p:cNvSpPr/>
          <p:nvPr/>
        </p:nvSpPr>
        <p:spPr>
          <a:xfrm>
            <a:off x="3475670" y="5113031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621B591-1050-4989-A8F5-8601E2043A39}"/>
              </a:ext>
            </a:extLst>
          </p:cNvPr>
          <p:cNvSpPr/>
          <p:nvPr/>
        </p:nvSpPr>
        <p:spPr>
          <a:xfrm>
            <a:off x="1522679" y="5466706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BFE38F6-C171-40EC-A9AB-BBACB1033128}"/>
              </a:ext>
            </a:extLst>
          </p:cNvPr>
          <p:cNvCxnSpPr>
            <a:cxnSpLocks/>
          </p:cNvCxnSpPr>
          <p:nvPr/>
        </p:nvCxnSpPr>
        <p:spPr>
          <a:xfrm>
            <a:off x="391525" y="5930703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3F7FB0DF-8693-45A7-9FA2-E0F147713E90}"/>
              </a:ext>
            </a:extLst>
          </p:cNvPr>
          <p:cNvCxnSpPr>
            <a:cxnSpLocks/>
          </p:cNvCxnSpPr>
          <p:nvPr/>
        </p:nvCxnSpPr>
        <p:spPr>
          <a:xfrm>
            <a:off x="2437079" y="5954766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ítulo 1">
            <a:extLst>
              <a:ext uri="{FF2B5EF4-FFF2-40B4-BE49-F238E27FC236}">
                <a16:creationId xmlns:a16="http://schemas.microsoft.com/office/drawing/2014/main" id="{4398E6BA-6432-4B9C-8F04-A207E40A7D3D}"/>
              </a:ext>
            </a:extLst>
          </p:cNvPr>
          <p:cNvSpPr txBox="1">
            <a:spLocks/>
          </p:cNvSpPr>
          <p:nvPr/>
        </p:nvSpPr>
        <p:spPr>
          <a:xfrm>
            <a:off x="760104" y="5613707"/>
            <a:ext cx="42764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79FA7A8B-B14F-4D59-9236-6BFD36F8B325}"/>
              </a:ext>
            </a:extLst>
          </p:cNvPr>
          <p:cNvCxnSpPr>
            <a:cxnSpLocks/>
          </p:cNvCxnSpPr>
          <p:nvPr/>
        </p:nvCxnSpPr>
        <p:spPr>
          <a:xfrm flipV="1">
            <a:off x="2439988" y="5285954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ítulo 1">
            <a:extLst>
              <a:ext uri="{FF2B5EF4-FFF2-40B4-BE49-F238E27FC236}">
                <a16:creationId xmlns:a16="http://schemas.microsoft.com/office/drawing/2014/main" id="{A313907C-A61B-45F3-ADD6-19CA0FE59C05}"/>
              </a:ext>
            </a:extLst>
          </p:cNvPr>
          <p:cNvSpPr txBox="1">
            <a:spLocks/>
          </p:cNvSpPr>
          <p:nvPr/>
        </p:nvSpPr>
        <p:spPr>
          <a:xfrm>
            <a:off x="1781936" y="5127742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FA00D1-6C92-4457-6B38-5A729B32E2A8}"/>
              </a:ext>
            </a:extLst>
          </p:cNvPr>
          <p:cNvSpPr txBox="1">
            <a:spLocks/>
          </p:cNvSpPr>
          <p:nvPr/>
        </p:nvSpPr>
        <p:spPr>
          <a:xfrm>
            <a:off x="203649" y="207460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Repaso</a:t>
            </a:r>
          </a:p>
        </p:txBody>
      </p:sp>
    </p:spTree>
    <p:extLst>
      <p:ext uri="{BB962C8B-B14F-4D97-AF65-F5344CB8AC3E}">
        <p14:creationId xmlns:p14="http://schemas.microsoft.com/office/powerpoint/2010/main" val="21459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1D35130-054E-4C8F-A8EF-AD55DED45254}"/>
              </a:ext>
            </a:extLst>
          </p:cNvPr>
          <p:cNvSpPr/>
          <p:nvPr/>
        </p:nvSpPr>
        <p:spPr>
          <a:xfrm>
            <a:off x="222885" y="840208"/>
            <a:ext cx="1196911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Posibilidad 1.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Lenguajes aceptados por MT que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siempre paran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arenR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Posibilidad 2.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Lenguajes aceptados por M que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 partir de algunas instancias negativas no paran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arenR"/>
            </a:pP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R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Posibilidad 3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Lenguajes sin MT que los acepten (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 partir de algunas instancias positivas no paran).</a:t>
            </a:r>
          </a:p>
          <a:p>
            <a:pPr marL="0" lvl="1"/>
            <a:endParaRPr lang="es-MX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					                                     </a:t>
            </a:r>
          </a:p>
          <a:p>
            <a:pPr marL="0" lvl="1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								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24A37D-E160-4A9A-9C59-80BA6FC0B1F3}"/>
              </a:ext>
            </a:extLst>
          </p:cNvPr>
          <p:cNvSpPr/>
          <p:nvPr/>
        </p:nvSpPr>
        <p:spPr>
          <a:xfrm>
            <a:off x="2796484" y="1250656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BB8C065-E23A-48D8-998C-A3E96E12769F}"/>
              </a:ext>
            </a:extLst>
          </p:cNvPr>
          <p:cNvSpPr/>
          <p:nvPr/>
        </p:nvSpPr>
        <p:spPr>
          <a:xfrm>
            <a:off x="2796484" y="173713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D5A7D9C-B10E-46CB-B08A-B7D34A59C100}"/>
              </a:ext>
            </a:extLst>
          </p:cNvPr>
          <p:cNvSpPr/>
          <p:nvPr/>
        </p:nvSpPr>
        <p:spPr>
          <a:xfrm>
            <a:off x="1614996" y="1487263"/>
            <a:ext cx="631487" cy="56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3942463-6BCF-40CA-AE6B-B53CB8DA2A27}"/>
              </a:ext>
            </a:extLst>
          </p:cNvPr>
          <p:cNvCxnSpPr>
            <a:cxnSpLocks/>
          </p:cNvCxnSpPr>
          <p:nvPr/>
        </p:nvCxnSpPr>
        <p:spPr>
          <a:xfrm>
            <a:off x="891864" y="1752366"/>
            <a:ext cx="7216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13E2897-3F9C-4F34-93F0-11766CE3A503}"/>
              </a:ext>
            </a:extLst>
          </p:cNvPr>
          <p:cNvCxnSpPr>
            <a:cxnSpLocks/>
          </p:cNvCxnSpPr>
          <p:nvPr/>
        </p:nvCxnSpPr>
        <p:spPr>
          <a:xfrm>
            <a:off x="2246484" y="1806623"/>
            <a:ext cx="583359" cy="1227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5B5ED512-FEF3-48E4-A744-8F56CAD38D43}"/>
              </a:ext>
            </a:extLst>
          </p:cNvPr>
          <p:cNvSpPr txBox="1">
            <a:spLocks/>
          </p:cNvSpPr>
          <p:nvPr/>
        </p:nvSpPr>
        <p:spPr>
          <a:xfrm>
            <a:off x="1111844" y="1506331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82283CA4-C7A0-414D-93E0-225926F6FA21}"/>
              </a:ext>
            </a:extLst>
          </p:cNvPr>
          <p:cNvCxnSpPr>
            <a:cxnSpLocks/>
          </p:cNvCxnSpPr>
          <p:nvPr/>
        </p:nvCxnSpPr>
        <p:spPr>
          <a:xfrm flipV="1">
            <a:off x="2249393" y="1480664"/>
            <a:ext cx="562352" cy="322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160DE5F1-A817-4370-BB0F-FEA5034C3451}"/>
              </a:ext>
            </a:extLst>
          </p:cNvPr>
          <p:cNvSpPr txBox="1">
            <a:spLocks/>
          </p:cNvSpPr>
          <p:nvPr/>
        </p:nvSpPr>
        <p:spPr>
          <a:xfrm>
            <a:off x="1750575" y="1625432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544D8F07-11D6-4954-A757-905FB8FBF8F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171AD5C-C237-4733-8E7D-980D6C730733}"/>
              </a:ext>
            </a:extLst>
          </p:cNvPr>
          <p:cNvSpPr txBox="1"/>
          <p:nvPr/>
        </p:nvSpPr>
        <p:spPr>
          <a:xfrm>
            <a:off x="3488991" y="1250656"/>
            <a:ext cx="27184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Si w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L(M), M acepta.</a:t>
            </a:r>
          </a:p>
          <a:p>
            <a:pPr algn="just"/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Si w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∉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L(M), M rechaza.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C8B3895-9318-4011-8974-88E7774AEA29}"/>
              </a:ext>
            </a:extLst>
          </p:cNvPr>
          <p:cNvSpPr txBox="1"/>
          <p:nvPr/>
        </p:nvSpPr>
        <p:spPr>
          <a:xfrm>
            <a:off x="3523868" y="3201538"/>
            <a:ext cx="34997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Si w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L(M), M acepta.</a:t>
            </a:r>
          </a:p>
          <a:p>
            <a:pPr algn="just"/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Si w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∉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L(M), M rechaza</a:t>
            </a:r>
          </a:p>
          <a:p>
            <a:pPr algn="just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     o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loopea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7FB1B91-0A0C-4188-8EF5-865BB8FCE7C2}"/>
              </a:ext>
            </a:extLst>
          </p:cNvPr>
          <p:cNvSpPr txBox="1"/>
          <p:nvPr/>
        </p:nvSpPr>
        <p:spPr>
          <a:xfrm>
            <a:off x="7053321" y="1202519"/>
            <a:ext cx="4156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Problema computable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 es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recursivo. 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es el conjunto de estos lenguajes.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EA4A0E-BEAD-4958-F95D-6178B94BA810}"/>
              </a:ext>
            </a:extLst>
          </p:cNvPr>
          <p:cNvSpPr txBox="1">
            <a:spLocks/>
          </p:cNvSpPr>
          <p:nvPr/>
        </p:nvSpPr>
        <p:spPr>
          <a:xfrm>
            <a:off x="203649" y="207460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Repaso y nuevas definiciones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2CED30-A968-634B-1249-A792FA5DF01A}"/>
              </a:ext>
            </a:extLst>
          </p:cNvPr>
          <p:cNvSpPr txBox="1"/>
          <p:nvPr/>
        </p:nvSpPr>
        <p:spPr>
          <a:xfrm>
            <a:off x="7045193" y="3154141"/>
            <a:ext cx="43869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Problema computable no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 es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recursivamente </a:t>
            </a:r>
            <a:r>
              <a:rPr lang="es-ES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enumerable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es el conjunto de estos lenguajes.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6590228-1811-10FA-1A7D-907050DFD8A1}"/>
              </a:ext>
            </a:extLst>
          </p:cNvPr>
          <p:cNvSpPr/>
          <p:nvPr/>
        </p:nvSpPr>
        <p:spPr>
          <a:xfrm>
            <a:off x="2821715" y="3179672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30BD2AA-FDC4-2686-F68B-1EF9E69BC1A3}"/>
              </a:ext>
            </a:extLst>
          </p:cNvPr>
          <p:cNvSpPr/>
          <p:nvPr/>
        </p:nvSpPr>
        <p:spPr>
          <a:xfrm>
            <a:off x="2821715" y="3666152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9C81875-C1DC-79EF-68DB-3A8DCD6E3D17}"/>
              </a:ext>
            </a:extLst>
          </p:cNvPr>
          <p:cNvSpPr/>
          <p:nvPr/>
        </p:nvSpPr>
        <p:spPr>
          <a:xfrm>
            <a:off x="1640227" y="3416279"/>
            <a:ext cx="631487" cy="56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CB99AC9-10B9-F7F4-DF66-705BEBDCB21E}"/>
              </a:ext>
            </a:extLst>
          </p:cNvPr>
          <p:cNvCxnSpPr>
            <a:cxnSpLocks/>
          </p:cNvCxnSpPr>
          <p:nvPr/>
        </p:nvCxnSpPr>
        <p:spPr>
          <a:xfrm>
            <a:off x="917095" y="3681382"/>
            <a:ext cx="7216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C18175B-CAFA-51D9-34A6-3C3498A05A44}"/>
              </a:ext>
            </a:extLst>
          </p:cNvPr>
          <p:cNvCxnSpPr>
            <a:cxnSpLocks/>
          </p:cNvCxnSpPr>
          <p:nvPr/>
        </p:nvCxnSpPr>
        <p:spPr>
          <a:xfrm>
            <a:off x="2271715" y="3735639"/>
            <a:ext cx="583359" cy="1227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D22C870B-9E69-1B2B-1F6F-30477A9B3850}"/>
              </a:ext>
            </a:extLst>
          </p:cNvPr>
          <p:cNvSpPr txBox="1">
            <a:spLocks/>
          </p:cNvSpPr>
          <p:nvPr/>
        </p:nvSpPr>
        <p:spPr>
          <a:xfrm>
            <a:off x="1137075" y="3435347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F846E98-8757-10D3-C59D-BB23E321FC28}"/>
              </a:ext>
            </a:extLst>
          </p:cNvPr>
          <p:cNvCxnSpPr>
            <a:cxnSpLocks/>
          </p:cNvCxnSpPr>
          <p:nvPr/>
        </p:nvCxnSpPr>
        <p:spPr>
          <a:xfrm flipV="1">
            <a:off x="2274624" y="3409680"/>
            <a:ext cx="562352" cy="322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A4E81EC7-050C-ABDB-EF8F-6EC6FA5292DC}"/>
              </a:ext>
            </a:extLst>
          </p:cNvPr>
          <p:cNvSpPr txBox="1">
            <a:spLocks/>
          </p:cNvSpPr>
          <p:nvPr/>
        </p:nvSpPr>
        <p:spPr>
          <a:xfrm>
            <a:off x="1776217" y="3596094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2F13413-5135-29D9-CC9F-B89EB5B708A6}"/>
              </a:ext>
            </a:extLst>
          </p:cNvPr>
          <p:cNvSpPr/>
          <p:nvPr/>
        </p:nvSpPr>
        <p:spPr>
          <a:xfrm>
            <a:off x="2088322" y="4116258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6E485BCB-203B-CA02-8F85-352C48BA046F}"/>
              </a:ext>
            </a:extLst>
          </p:cNvPr>
          <p:cNvCxnSpPr>
            <a:cxnSpLocks/>
          </p:cNvCxnSpPr>
          <p:nvPr/>
        </p:nvCxnSpPr>
        <p:spPr>
          <a:xfrm>
            <a:off x="1785654" y="3992512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D9AE7B1C-D1B2-141C-3F12-F3620991BDB0}"/>
              </a:ext>
            </a:extLst>
          </p:cNvPr>
          <p:cNvCxnSpPr>
            <a:cxnSpLocks/>
          </p:cNvCxnSpPr>
          <p:nvPr/>
        </p:nvCxnSpPr>
        <p:spPr>
          <a:xfrm flipV="1">
            <a:off x="1785654" y="4391116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60A6362A-0674-3094-C245-D42A20E1F72D}"/>
              </a:ext>
            </a:extLst>
          </p:cNvPr>
          <p:cNvCxnSpPr>
            <a:cxnSpLocks/>
          </p:cNvCxnSpPr>
          <p:nvPr/>
        </p:nvCxnSpPr>
        <p:spPr>
          <a:xfrm flipV="1">
            <a:off x="2134822" y="3992512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758A40D-5E85-B5E5-68BE-F95FD99F68F0}"/>
              </a:ext>
            </a:extLst>
          </p:cNvPr>
          <p:cNvSpPr/>
          <p:nvPr/>
        </p:nvSpPr>
        <p:spPr>
          <a:xfrm>
            <a:off x="5847123" y="5346646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BB6EBFB4-D442-5667-E22B-26B16666A4BD}"/>
              </a:ext>
            </a:extLst>
          </p:cNvPr>
          <p:cNvSpPr/>
          <p:nvPr/>
        </p:nvSpPr>
        <p:spPr>
          <a:xfrm>
            <a:off x="5847123" y="583312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199ADE29-1AB2-6510-33DA-E6F194C3650D}"/>
              </a:ext>
            </a:extLst>
          </p:cNvPr>
          <p:cNvSpPr/>
          <p:nvPr/>
        </p:nvSpPr>
        <p:spPr>
          <a:xfrm>
            <a:off x="4665635" y="5583253"/>
            <a:ext cx="631487" cy="56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D0EADF08-E210-23F9-B182-A19CD34C4E49}"/>
              </a:ext>
            </a:extLst>
          </p:cNvPr>
          <p:cNvCxnSpPr>
            <a:cxnSpLocks/>
          </p:cNvCxnSpPr>
          <p:nvPr/>
        </p:nvCxnSpPr>
        <p:spPr>
          <a:xfrm>
            <a:off x="3942503" y="5848356"/>
            <a:ext cx="7216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B45A1826-CBE1-1710-D7F6-78256CBE2018}"/>
              </a:ext>
            </a:extLst>
          </p:cNvPr>
          <p:cNvCxnSpPr>
            <a:cxnSpLocks/>
          </p:cNvCxnSpPr>
          <p:nvPr/>
        </p:nvCxnSpPr>
        <p:spPr>
          <a:xfrm>
            <a:off x="5297123" y="5902613"/>
            <a:ext cx="583359" cy="1227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ítulo 1">
            <a:extLst>
              <a:ext uri="{FF2B5EF4-FFF2-40B4-BE49-F238E27FC236}">
                <a16:creationId xmlns:a16="http://schemas.microsoft.com/office/drawing/2014/main" id="{35894B40-7E64-77A0-3E95-7357110966D1}"/>
              </a:ext>
            </a:extLst>
          </p:cNvPr>
          <p:cNvSpPr txBox="1">
            <a:spLocks/>
          </p:cNvSpPr>
          <p:nvPr/>
        </p:nvSpPr>
        <p:spPr>
          <a:xfrm>
            <a:off x="4162483" y="5602321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3D4CB705-DA2E-6B44-D7E2-9E2086010D18}"/>
              </a:ext>
            </a:extLst>
          </p:cNvPr>
          <p:cNvCxnSpPr>
            <a:cxnSpLocks/>
          </p:cNvCxnSpPr>
          <p:nvPr/>
        </p:nvCxnSpPr>
        <p:spPr>
          <a:xfrm flipV="1">
            <a:off x="5300032" y="5576654"/>
            <a:ext cx="562352" cy="322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ítulo 1">
            <a:extLst>
              <a:ext uri="{FF2B5EF4-FFF2-40B4-BE49-F238E27FC236}">
                <a16:creationId xmlns:a16="http://schemas.microsoft.com/office/drawing/2014/main" id="{276EDFD7-6F0D-10C8-F7FA-E83EBB8BB829}"/>
              </a:ext>
            </a:extLst>
          </p:cNvPr>
          <p:cNvSpPr txBox="1">
            <a:spLocks/>
          </p:cNvSpPr>
          <p:nvPr/>
        </p:nvSpPr>
        <p:spPr>
          <a:xfrm>
            <a:off x="4818428" y="5731276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9F45668-F6DE-62C2-D5D6-0AE0B928B68D}"/>
              </a:ext>
            </a:extLst>
          </p:cNvPr>
          <p:cNvSpPr/>
          <p:nvPr/>
        </p:nvSpPr>
        <p:spPr>
          <a:xfrm>
            <a:off x="5113730" y="6283232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ABDCFF5-FFD0-8736-6039-B5B2FD72E6ED}"/>
              </a:ext>
            </a:extLst>
          </p:cNvPr>
          <p:cNvCxnSpPr>
            <a:cxnSpLocks/>
          </p:cNvCxnSpPr>
          <p:nvPr/>
        </p:nvCxnSpPr>
        <p:spPr>
          <a:xfrm>
            <a:off x="4811062" y="6159486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8A285100-75F7-D50A-1DBC-F07CADA617F2}"/>
              </a:ext>
            </a:extLst>
          </p:cNvPr>
          <p:cNvCxnSpPr>
            <a:cxnSpLocks/>
          </p:cNvCxnSpPr>
          <p:nvPr/>
        </p:nvCxnSpPr>
        <p:spPr>
          <a:xfrm flipV="1">
            <a:off x="4811062" y="6558090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9CAE7EC1-9B7A-7EF5-3B9B-21992EC7F4F5}"/>
              </a:ext>
            </a:extLst>
          </p:cNvPr>
          <p:cNvCxnSpPr>
            <a:cxnSpLocks/>
          </p:cNvCxnSpPr>
          <p:nvPr/>
        </p:nvCxnSpPr>
        <p:spPr>
          <a:xfrm flipV="1">
            <a:off x="5160230" y="6159486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Signo de multiplicación 58">
            <a:extLst>
              <a:ext uri="{FF2B5EF4-FFF2-40B4-BE49-F238E27FC236}">
                <a16:creationId xmlns:a16="http://schemas.microsoft.com/office/drawing/2014/main" id="{39FC705C-1F43-F10C-464F-AE0B0583B5F5}"/>
              </a:ext>
            </a:extLst>
          </p:cNvPr>
          <p:cNvSpPr/>
          <p:nvPr/>
        </p:nvSpPr>
        <p:spPr>
          <a:xfrm>
            <a:off x="3885252" y="5437401"/>
            <a:ext cx="2314074" cy="904174"/>
          </a:xfrm>
          <a:prstGeom prst="mathMultiply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BE4E886-3571-02EE-F907-DF0CBE6CCA3A}"/>
              </a:ext>
            </a:extLst>
          </p:cNvPr>
          <p:cNvSpPr txBox="1"/>
          <p:nvPr/>
        </p:nvSpPr>
        <p:spPr>
          <a:xfrm>
            <a:off x="7094350" y="5637110"/>
            <a:ext cx="42643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Problema no computable.</a:t>
            </a:r>
          </a:p>
          <a:p>
            <a:endParaRPr lang="es-MX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 no es 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recursivamente </a:t>
            </a:r>
            <a:r>
              <a:rPr lang="es-MX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enumerable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8231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3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C5B3-F89C-2334-9A4B-3AAA860D7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F02999CA-2FC5-2AE3-A8AB-10C57A0A0924}"/>
              </a:ext>
            </a:extLst>
          </p:cNvPr>
          <p:cNvSpPr txBox="1">
            <a:spLocks/>
          </p:cNvSpPr>
          <p:nvPr/>
        </p:nvSpPr>
        <p:spPr>
          <a:xfrm>
            <a:off x="3476239" y="1706842"/>
            <a:ext cx="5944370" cy="6805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Conjunto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𝔏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</a:p>
          <a:p>
            <a:pPr algn="ctr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todos los lenguajes</a:t>
            </a:r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D0D8A8D-E695-19A4-F0EF-1BF07CF71C09}"/>
              </a:ext>
            </a:extLst>
          </p:cNvPr>
          <p:cNvSpPr txBox="1">
            <a:spLocks/>
          </p:cNvSpPr>
          <p:nvPr/>
        </p:nvSpPr>
        <p:spPr>
          <a:xfrm>
            <a:off x="5124451" y="4974621"/>
            <a:ext cx="2609849" cy="137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Conjunto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de los lenguajes recursivos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FBA8EE1F-A1E0-FAB5-8160-9A45AF04BD2D}"/>
              </a:ext>
            </a:extLst>
          </p:cNvPr>
          <p:cNvSpPr txBox="1">
            <a:spLocks/>
          </p:cNvSpPr>
          <p:nvPr/>
        </p:nvSpPr>
        <p:spPr>
          <a:xfrm>
            <a:off x="4129216" y="3320359"/>
            <a:ext cx="4638416" cy="280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Conjunto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de los lenguajes recursivamente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enumerables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6343D50F-E8C2-906D-2A78-95ED21FBAFC3}"/>
              </a:ext>
            </a:extLst>
          </p:cNvPr>
          <p:cNvSpPr/>
          <p:nvPr/>
        </p:nvSpPr>
        <p:spPr>
          <a:xfrm>
            <a:off x="3428230" y="1371601"/>
            <a:ext cx="5944370" cy="496252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7CC988FE-ECA6-1E8C-9D3B-0075B715810B}"/>
              </a:ext>
            </a:extLst>
          </p:cNvPr>
          <p:cNvSpPr/>
          <p:nvPr/>
        </p:nvSpPr>
        <p:spPr>
          <a:xfrm>
            <a:off x="4229100" y="2568903"/>
            <a:ext cx="4438649" cy="36221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271F4D5E-8681-CD5C-9637-2E618EDF9F2E}"/>
              </a:ext>
            </a:extLst>
          </p:cNvPr>
          <p:cNvSpPr/>
          <p:nvPr/>
        </p:nvSpPr>
        <p:spPr>
          <a:xfrm>
            <a:off x="5124450" y="3952875"/>
            <a:ext cx="2609850" cy="213359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1FF46F80-A2DB-0609-1341-48DEC8AD8AD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D5FCE96-3576-A0F9-1C61-E63FF90DEC49}"/>
              </a:ext>
            </a:extLst>
          </p:cNvPr>
          <p:cNvSpPr txBox="1"/>
          <p:nvPr/>
        </p:nvSpPr>
        <p:spPr>
          <a:xfrm>
            <a:off x="9689300" y="5378251"/>
            <a:ext cx="21900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Cuentan con MT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que los aceptan y siempre paran</a:t>
            </a:r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D1FB64-1D92-21D2-5099-3C3F8218B848}"/>
              </a:ext>
            </a:extLst>
          </p:cNvPr>
          <p:cNvSpPr txBox="1"/>
          <p:nvPr/>
        </p:nvSpPr>
        <p:spPr>
          <a:xfrm>
            <a:off x="9689300" y="3934182"/>
            <a:ext cx="24770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Cuentan con MT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que los aceptan pero que no siempre paran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838945-50D6-F3BF-B2BE-B26A0ED87F32}"/>
              </a:ext>
            </a:extLst>
          </p:cNvPr>
          <p:cNvSpPr txBox="1"/>
          <p:nvPr/>
        </p:nvSpPr>
        <p:spPr>
          <a:xfrm>
            <a:off x="9636327" y="2443946"/>
            <a:ext cx="247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 cuentan con MT que los aceptan</a:t>
            </a:r>
            <a:endParaRPr lang="es-AR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F11164F-FDCE-FB4E-753B-794A05D461B6}"/>
              </a:ext>
            </a:extLst>
          </p:cNvPr>
          <p:cNvCxnSpPr>
            <a:cxnSpLocks/>
          </p:cNvCxnSpPr>
          <p:nvPr/>
        </p:nvCxnSpPr>
        <p:spPr>
          <a:xfrm flipH="1">
            <a:off x="6472193" y="5718186"/>
            <a:ext cx="32171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9A005A1-78CC-3E01-35E6-D0CB079EA1D6}"/>
              </a:ext>
            </a:extLst>
          </p:cNvPr>
          <p:cNvCxnSpPr>
            <a:cxnSpLocks/>
          </p:cNvCxnSpPr>
          <p:nvPr/>
        </p:nvCxnSpPr>
        <p:spPr>
          <a:xfrm flipH="1">
            <a:off x="8037113" y="4257348"/>
            <a:ext cx="1652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537B49C-CBCA-9BF4-3730-8E63CFB7A7B1}"/>
              </a:ext>
            </a:extLst>
          </p:cNvPr>
          <p:cNvCxnSpPr>
            <a:cxnSpLocks/>
          </p:cNvCxnSpPr>
          <p:nvPr/>
        </p:nvCxnSpPr>
        <p:spPr>
          <a:xfrm flipH="1">
            <a:off x="8277225" y="2630853"/>
            <a:ext cx="1359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3187F49-ACD0-3E67-9667-66AC1DEE921C}"/>
              </a:ext>
            </a:extLst>
          </p:cNvPr>
          <p:cNvSpPr/>
          <p:nvPr/>
        </p:nvSpPr>
        <p:spPr>
          <a:xfrm>
            <a:off x="442307" y="2669264"/>
            <a:ext cx="2869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07BB6A6B-8A99-F16C-091E-C47700B30B42}"/>
              </a:ext>
            </a:extLst>
          </p:cNvPr>
          <p:cNvSpPr/>
          <p:nvPr/>
        </p:nvSpPr>
        <p:spPr>
          <a:xfrm>
            <a:off x="403545" y="3487907"/>
            <a:ext cx="2930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F61369AA-E044-46C4-B085-586A0C3CC887}"/>
              </a:ext>
            </a:extLst>
          </p:cNvPr>
          <p:cNvSpPr/>
          <p:nvPr/>
        </p:nvSpPr>
        <p:spPr>
          <a:xfrm>
            <a:off x="703582" y="4143123"/>
            <a:ext cx="2269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874B728E-27E6-51A4-C782-3C287420C625}"/>
              </a:ext>
            </a:extLst>
          </p:cNvPr>
          <p:cNvSpPr/>
          <p:nvPr/>
        </p:nvSpPr>
        <p:spPr>
          <a:xfrm>
            <a:off x="564927" y="2568903"/>
            <a:ext cx="2546603" cy="240185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Diagrama de flujo: conector 47">
            <a:extLst>
              <a:ext uri="{FF2B5EF4-FFF2-40B4-BE49-F238E27FC236}">
                <a16:creationId xmlns:a16="http://schemas.microsoft.com/office/drawing/2014/main" id="{F3223314-2B2E-6A75-E2A2-E2CC7F433026}"/>
              </a:ext>
            </a:extLst>
          </p:cNvPr>
          <p:cNvSpPr/>
          <p:nvPr/>
        </p:nvSpPr>
        <p:spPr>
          <a:xfrm>
            <a:off x="950331" y="3179973"/>
            <a:ext cx="1775792" cy="167463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Diagrama de flujo: conector 49">
            <a:extLst>
              <a:ext uri="{FF2B5EF4-FFF2-40B4-BE49-F238E27FC236}">
                <a16:creationId xmlns:a16="http://schemas.microsoft.com/office/drawing/2014/main" id="{EA830F3B-73BC-F31B-EB5D-4F3BA9C1E19D}"/>
              </a:ext>
            </a:extLst>
          </p:cNvPr>
          <p:cNvSpPr/>
          <p:nvPr/>
        </p:nvSpPr>
        <p:spPr>
          <a:xfrm>
            <a:off x="1276606" y="3933832"/>
            <a:ext cx="1094015" cy="79854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4" name="Flecha: a la izquierda y derecha 53">
            <a:extLst>
              <a:ext uri="{FF2B5EF4-FFF2-40B4-BE49-F238E27FC236}">
                <a16:creationId xmlns:a16="http://schemas.microsoft.com/office/drawing/2014/main" id="{A8F1E33A-235A-2055-F14F-3A5F920E7B81}"/>
              </a:ext>
            </a:extLst>
          </p:cNvPr>
          <p:cNvSpPr/>
          <p:nvPr/>
        </p:nvSpPr>
        <p:spPr>
          <a:xfrm>
            <a:off x="2920487" y="3838575"/>
            <a:ext cx="704850" cy="228600"/>
          </a:xfrm>
          <a:prstGeom prst="left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D43EA82-64A0-44D1-6B70-3231685F15C0}"/>
              </a:ext>
            </a:extLst>
          </p:cNvPr>
          <p:cNvSpPr txBox="1">
            <a:spLocks/>
          </p:cNvSpPr>
          <p:nvPr/>
        </p:nvSpPr>
        <p:spPr>
          <a:xfrm>
            <a:off x="203649" y="207460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versión de la jerarquía de la computabilidad</a:t>
            </a:r>
          </a:p>
        </p:txBody>
      </p:sp>
    </p:spTree>
    <p:extLst>
      <p:ext uri="{BB962C8B-B14F-4D97-AF65-F5344CB8AC3E}">
        <p14:creationId xmlns:p14="http://schemas.microsoft.com/office/powerpoint/2010/main" val="2527684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15769" y="159597"/>
            <a:ext cx="11976231" cy="5419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sz="2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Formalizando las definiciones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Ʃ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el alfabeto universal de todos los símbolos:  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 = {</a:t>
            </a:r>
            <a:r>
              <a:rPr lang="es-AR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,…,1,2,…,+, –,…}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el conjunto universal de todas las cadenas de símbolos de Ʃ:  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Ʃ* = {</a:t>
            </a:r>
            <a:r>
              <a:rPr lang="es-AR" sz="180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λ,</a:t>
            </a:r>
            <a:r>
              <a:rPr lang="es-AR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,…,1,…,</a:t>
            </a:r>
            <a:r>
              <a:rPr lang="es-AR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,…,a1,…,</a:t>
            </a:r>
            <a:r>
              <a:rPr lang="es-AR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aaa</a:t>
            </a:r>
            <a:r>
              <a:rPr lang="es-AR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,…} </a:t>
            </a:r>
            <a:endParaRPr lang="es-AR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200" b="1" dirty="0"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el conjunto universal de todos los lenguajes con alfabeto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Ʃ: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 de todos los subconjuntos de Ʃ*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>
              <a:solidFill>
                <a:srgbClr val="000000"/>
              </a:solidFill>
              <a:latin typeface="Lucida Calligraphy" panose="03010101010101010101" pitchFamily="66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lenguaje L es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recursivo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(L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 R) s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ii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existe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 lo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acepta y siempre para (lo decide).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Es decir, para toda cadena w de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- Si w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L, entonces M a partir de w para en su estado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- S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 w ∉ L, entonces M a partir de w para en su estado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lenguaje L es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recursivamente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enumerable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(L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 RE) s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ii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existe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 lo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acepta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Es decir, para toda cadena w de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- Si w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L, entonces M a partir de w para en su estado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- S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 w ∉ L, entonces M a partir de w para en su estado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 no para</a:t>
            </a:r>
            <a:endParaRPr lang="es-MX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1ECD963-7929-4F9C-B97E-66301C0E5263}"/>
              </a:ext>
            </a:extLst>
          </p:cNvPr>
          <p:cNvSpPr/>
          <p:nvPr/>
        </p:nvSpPr>
        <p:spPr>
          <a:xfrm>
            <a:off x="9752429" y="3673792"/>
            <a:ext cx="914400" cy="255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320E0A-2926-4FBA-AEB6-8358ED0E13EB}"/>
              </a:ext>
            </a:extLst>
          </p:cNvPr>
          <p:cNvSpPr/>
          <p:nvPr/>
        </p:nvSpPr>
        <p:spPr>
          <a:xfrm>
            <a:off x="10469532" y="3995651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6E66E74-3EB6-407B-840D-3F8C0396D46A}"/>
              </a:ext>
            </a:extLst>
          </p:cNvPr>
          <p:cNvSpPr/>
          <p:nvPr/>
        </p:nvSpPr>
        <p:spPr>
          <a:xfrm>
            <a:off x="10481417" y="4910164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3BCD02C-BC72-4466-9213-3AE13FAD95A6}"/>
              </a:ext>
            </a:extLst>
          </p:cNvPr>
          <p:cNvSpPr/>
          <p:nvPr/>
        </p:nvSpPr>
        <p:spPr>
          <a:xfrm>
            <a:off x="10589826" y="562902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DD7D2F-87B4-4220-8654-9330FAB1F47A}"/>
              </a:ext>
            </a:extLst>
          </p:cNvPr>
          <p:cNvSpPr/>
          <p:nvPr/>
        </p:nvSpPr>
        <p:spPr>
          <a:xfrm>
            <a:off x="613442" y="5775036"/>
            <a:ext cx="8558840" cy="830997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cumple por definición que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(ejercicio)</a:t>
            </a:r>
            <a:endParaRPr lang="es-AR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Las inclusiones son estrictas: R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(lo probamos en la próxima clase)</a:t>
            </a:r>
            <a:endParaRPr lang="es-MX" b="1" dirty="0">
              <a:solidFill>
                <a:srgbClr val="0070C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468349FA-A1F9-4343-B90B-B948A7834ECC}"/>
              </a:ext>
            </a:extLst>
          </p:cNvPr>
          <p:cNvSpPr/>
          <p:nvPr/>
        </p:nvSpPr>
        <p:spPr>
          <a:xfrm>
            <a:off x="9429628" y="4041244"/>
            <a:ext cx="2546603" cy="240185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60398FA9-0B22-4CEE-BFC0-CB400E9611B0}"/>
              </a:ext>
            </a:extLst>
          </p:cNvPr>
          <p:cNvSpPr/>
          <p:nvPr/>
        </p:nvSpPr>
        <p:spPr>
          <a:xfrm>
            <a:off x="9877620" y="4671095"/>
            <a:ext cx="1775792" cy="167431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49DED11E-1C67-4CA1-B828-0BCAB1FB14B1}"/>
              </a:ext>
            </a:extLst>
          </p:cNvPr>
          <p:cNvSpPr/>
          <p:nvPr/>
        </p:nvSpPr>
        <p:spPr>
          <a:xfrm>
            <a:off x="10218508" y="5394549"/>
            <a:ext cx="1094015" cy="83829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E178C12E-04C9-4BEF-8A6C-F993299EFF8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961E351-10ED-4AC6-A63F-3DF2D3FD3F9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0332720" y="2606040"/>
            <a:ext cx="217723" cy="30139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C5F4824-837B-D8E7-4BBE-68CC27C5CDC7}"/>
              </a:ext>
            </a:extLst>
          </p:cNvPr>
          <p:cNvCxnSpPr>
            <a:cxnSpLocks/>
          </p:cNvCxnSpPr>
          <p:nvPr/>
        </p:nvCxnSpPr>
        <p:spPr>
          <a:xfrm>
            <a:off x="9752429" y="4251960"/>
            <a:ext cx="451555" cy="9241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D5B6859-A081-9784-5C74-7473D8367627}"/>
              </a:ext>
            </a:extLst>
          </p:cNvPr>
          <p:cNvSpPr txBox="1"/>
          <p:nvPr/>
        </p:nvSpPr>
        <p:spPr>
          <a:xfrm>
            <a:off x="10164792" y="5083518"/>
            <a:ext cx="265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endParaRPr lang="es-AR" sz="14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7BF2432-A295-2296-014A-861388D5704B}"/>
              </a:ext>
            </a:extLst>
          </p:cNvPr>
          <p:cNvSpPr txBox="1"/>
          <p:nvPr/>
        </p:nvSpPr>
        <p:spPr>
          <a:xfrm>
            <a:off x="10550443" y="5466070"/>
            <a:ext cx="265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endParaRPr lang="es-AR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60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4801545" y="2209544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61214" y="66830"/>
            <a:ext cx="11659024" cy="1604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clase R (lenguajes recursivos)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AR" sz="2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AR" sz="2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CA88670-4090-4797-87C6-17EDF25E4DC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2CCC87-9320-437C-BE37-71467E7F07AA}"/>
              </a:ext>
            </a:extLst>
          </p:cNvPr>
          <p:cNvSpPr/>
          <p:nvPr/>
        </p:nvSpPr>
        <p:spPr>
          <a:xfrm>
            <a:off x="271762" y="772057"/>
            <a:ext cx="11343249" cy="3595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endParaRPr lang="es-AR" sz="1000" b="1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Propiedad 1. Si L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R, entonces L</a:t>
            </a:r>
            <a:r>
              <a:rPr lang="es-AR" b="1" baseline="30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R.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decir, si existe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que decide L,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también existe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que decide L</a:t>
            </a:r>
            <a:r>
              <a:rPr lang="es-AR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Prueba.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Idea general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Construir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 responda al revés que la MT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 </a:t>
            </a:r>
            <a:endParaRPr lang="es-MX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endParaRPr lang="es-MX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E90941-2481-411F-A08E-E3784B8590B3}"/>
              </a:ext>
            </a:extLst>
          </p:cNvPr>
          <p:cNvSpPr/>
          <p:nvPr/>
        </p:nvSpPr>
        <p:spPr>
          <a:xfrm>
            <a:off x="2613576" y="5208867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9149F1E-1DAC-48B0-A5AF-B0C4140A90DD}"/>
              </a:ext>
            </a:extLst>
          </p:cNvPr>
          <p:cNvSpPr/>
          <p:nvPr/>
        </p:nvSpPr>
        <p:spPr>
          <a:xfrm>
            <a:off x="3912167" y="4704139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03B3423-A773-459F-890A-38D8C3CA9B79}"/>
              </a:ext>
            </a:extLst>
          </p:cNvPr>
          <p:cNvSpPr/>
          <p:nvPr/>
        </p:nvSpPr>
        <p:spPr>
          <a:xfrm>
            <a:off x="5608727" y="4691889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C367983-C0E5-4855-96D2-23B5CEC86C54}"/>
              </a:ext>
            </a:extLst>
          </p:cNvPr>
          <p:cNvSpPr/>
          <p:nvPr/>
        </p:nvSpPr>
        <p:spPr>
          <a:xfrm>
            <a:off x="3898990" y="4131877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BB57B6F-90A7-4201-8E23-B38B336FDD7A}"/>
              </a:ext>
            </a:extLst>
          </p:cNvPr>
          <p:cNvSpPr/>
          <p:nvPr/>
        </p:nvSpPr>
        <p:spPr>
          <a:xfrm>
            <a:off x="5654854" y="566573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5107B86-C7BE-4352-BA28-57C51B9D65FB}"/>
              </a:ext>
            </a:extLst>
          </p:cNvPr>
          <p:cNvSpPr/>
          <p:nvPr/>
        </p:nvSpPr>
        <p:spPr>
          <a:xfrm>
            <a:off x="3676565" y="5057183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3BEA15A-E582-4812-A80A-E2F48E67E019}"/>
              </a:ext>
            </a:extLst>
          </p:cNvPr>
          <p:cNvCxnSpPr>
            <a:cxnSpLocks/>
          </p:cNvCxnSpPr>
          <p:nvPr/>
        </p:nvCxnSpPr>
        <p:spPr>
          <a:xfrm>
            <a:off x="2545411" y="5521180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506DE30-C5F6-4464-A4F2-A469D4BF5DF7}"/>
              </a:ext>
            </a:extLst>
          </p:cNvPr>
          <p:cNvCxnSpPr>
            <a:cxnSpLocks/>
          </p:cNvCxnSpPr>
          <p:nvPr/>
        </p:nvCxnSpPr>
        <p:spPr>
          <a:xfrm>
            <a:off x="4590965" y="5545243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2A57F70-E27C-4E8E-870F-A6053868D684}"/>
              </a:ext>
            </a:extLst>
          </p:cNvPr>
          <p:cNvCxnSpPr>
            <a:cxnSpLocks/>
          </p:cNvCxnSpPr>
          <p:nvPr/>
        </p:nvCxnSpPr>
        <p:spPr>
          <a:xfrm flipV="1">
            <a:off x="4593874" y="4876431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a de flujo: proceso 18">
            <a:extLst>
              <a:ext uri="{FF2B5EF4-FFF2-40B4-BE49-F238E27FC236}">
                <a16:creationId xmlns:a16="http://schemas.microsoft.com/office/drawing/2014/main" id="{163E107F-E83B-453A-B8DE-E7F669E145CE}"/>
              </a:ext>
            </a:extLst>
          </p:cNvPr>
          <p:cNvSpPr/>
          <p:nvPr/>
        </p:nvSpPr>
        <p:spPr>
          <a:xfrm>
            <a:off x="3016046" y="4478232"/>
            <a:ext cx="2338483" cy="198756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EBC706D-4CCF-4EFE-8B08-1BF7DEEEF319}"/>
              </a:ext>
            </a:extLst>
          </p:cNvPr>
          <p:cNvSpPr/>
          <p:nvPr/>
        </p:nvSpPr>
        <p:spPr>
          <a:xfrm>
            <a:off x="4801545" y="5640532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DC3D51E-9937-4D02-A3DB-DBDFDC8A2889}"/>
              </a:ext>
            </a:extLst>
          </p:cNvPr>
          <p:cNvSpPr/>
          <p:nvPr/>
        </p:nvSpPr>
        <p:spPr>
          <a:xfrm>
            <a:off x="4772562" y="4914859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98CA280-A3B8-48C3-88DF-5F9AD9366614}"/>
              </a:ext>
            </a:extLst>
          </p:cNvPr>
          <p:cNvSpPr txBox="1"/>
          <p:nvPr/>
        </p:nvSpPr>
        <p:spPr>
          <a:xfrm>
            <a:off x="5782936" y="1060652"/>
            <a:ext cx="42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6F90421-AB10-4B92-9829-1C53F1984EF8}"/>
              </a:ext>
            </a:extLst>
          </p:cNvPr>
          <p:cNvSpPr txBox="1"/>
          <p:nvPr/>
        </p:nvSpPr>
        <p:spPr>
          <a:xfrm>
            <a:off x="6425315" y="4906306"/>
            <a:ext cx="4444548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decide L</a:t>
            </a:r>
            <a:r>
              <a:rPr lang="es-AR" sz="1600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(hipótesis)</a:t>
            </a:r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decide L</a:t>
            </a:r>
            <a:r>
              <a:rPr lang="es-AR" sz="1600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(construcción)</a:t>
            </a:r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Diagrama de flujo: retraso 5">
            <a:extLst>
              <a:ext uri="{FF2B5EF4-FFF2-40B4-BE49-F238E27FC236}">
                <a16:creationId xmlns:a16="http://schemas.microsoft.com/office/drawing/2014/main" id="{431628EA-03F3-460E-9EDF-B92E02919C17}"/>
              </a:ext>
            </a:extLst>
          </p:cNvPr>
          <p:cNvSpPr/>
          <p:nvPr/>
        </p:nvSpPr>
        <p:spPr>
          <a:xfrm rot="5400000">
            <a:off x="5691854" y="1927046"/>
            <a:ext cx="611233" cy="776530"/>
          </a:xfrm>
          <a:prstGeom prst="flowChartDelay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Diagrama de flujo: retraso 29">
            <a:extLst>
              <a:ext uri="{FF2B5EF4-FFF2-40B4-BE49-F238E27FC236}">
                <a16:creationId xmlns:a16="http://schemas.microsoft.com/office/drawing/2014/main" id="{102ED8BF-C998-4886-9194-22E01787CA07}"/>
              </a:ext>
            </a:extLst>
          </p:cNvPr>
          <p:cNvSpPr/>
          <p:nvPr/>
        </p:nvSpPr>
        <p:spPr>
          <a:xfrm rot="-5400000">
            <a:off x="5691148" y="1306494"/>
            <a:ext cx="612648" cy="776529"/>
          </a:xfrm>
          <a:prstGeom prst="flowChartDela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6A29D5B-22F2-45C5-A473-7F7EE2F90E17}"/>
              </a:ext>
            </a:extLst>
          </p:cNvPr>
          <p:cNvSpPr txBox="1"/>
          <p:nvPr/>
        </p:nvSpPr>
        <p:spPr>
          <a:xfrm>
            <a:off x="5845800" y="1581489"/>
            <a:ext cx="3111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6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4AADA67-5053-4D0A-97B0-9E11CE6B9EB7}"/>
              </a:ext>
            </a:extLst>
          </p:cNvPr>
          <p:cNvSpPr txBox="1"/>
          <p:nvPr/>
        </p:nvSpPr>
        <p:spPr>
          <a:xfrm>
            <a:off x="5845800" y="2113099"/>
            <a:ext cx="4487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1600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 </a:t>
            </a:r>
            <a:endParaRPr lang="es-AR" sz="16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CA446F7-539E-2D99-2EBA-6434BE3DA0F1}"/>
              </a:ext>
            </a:extLst>
          </p:cNvPr>
          <p:cNvSpPr/>
          <p:nvPr/>
        </p:nvSpPr>
        <p:spPr>
          <a:xfrm>
            <a:off x="9795355" y="-13783"/>
            <a:ext cx="914400" cy="255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1481180-DE3F-C893-7B8C-7F97EC7D02F5}"/>
              </a:ext>
            </a:extLst>
          </p:cNvPr>
          <p:cNvSpPr/>
          <p:nvPr/>
        </p:nvSpPr>
        <p:spPr>
          <a:xfrm>
            <a:off x="10596967" y="159159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AF9873-C1B6-AE89-1E46-8D54F8ED2F66}"/>
              </a:ext>
            </a:extLst>
          </p:cNvPr>
          <p:cNvSpPr/>
          <p:nvPr/>
        </p:nvSpPr>
        <p:spPr>
          <a:xfrm>
            <a:off x="10604838" y="786271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</a:t>
            </a:r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37F1F9D-F67A-5A3F-6C07-108BC746B364}"/>
              </a:ext>
            </a:extLst>
          </p:cNvPr>
          <p:cNvSpPr/>
          <p:nvPr/>
        </p:nvSpPr>
        <p:spPr>
          <a:xfrm>
            <a:off x="10676050" y="124736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es-MX" b="1" dirty="0">
              <a:solidFill>
                <a:srgbClr val="FF0000"/>
              </a:solidFill>
            </a:endParaRPr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265906A9-0DCF-4776-7450-93339C1088CF}"/>
              </a:ext>
            </a:extLst>
          </p:cNvPr>
          <p:cNvSpPr/>
          <p:nvPr/>
        </p:nvSpPr>
        <p:spPr>
          <a:xfrm>
            <a:off x="9877494" y="159159"/>
            <a:ext cx="2006948" cy="172858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Diagrama de flujo: conector 25">
            <a:extLst>
              <a:ext uri="{FF2B5EF4-FFF2-40B4-BE49-F238E27FC236}">
                <a16:creationId xmlns:a16="http://schemas.microsoft.com/office/drawing/2014/main" id="{FF61DB86-10FD-96DA-3416-A1DA4BD70DED}"/>
              </a:ext>
            </a:extLst>
          </p:cNvPr>
          <p:cNvSpPr/>
          <p:nvPr/>
        </p:nvSpPr>
        <p:spPr>
          <a:xfrm>
            <a:off x="10094357" y="758559"/>
            <a:ext cx="1514764" cy="103149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Diagrama de flujo: conector 26">
            <a:extLst>
              <a:ext uri="{FF2B5EF4-FFF2-40B4-BE49-F238E27FC236}">
                <a16:creationId xmlns:a16="http://schemas.microsoft.com/office/drawing/2014/main" id="{9FFD9B94-ED73-4995-12E6-0BB708990E46}"/>
              </a:ext>
            </a:extLst>
          </p:cNvPr>
          <p:cNvSpPr/>
          <p:nvPr/>
        </p:nvSpPr>
        <p:spPr>
          <a:xfrm>
            <a:off x="10326444" y="1145200"/>
            <a:ext cx="1094015" cy="573664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B275D59-319E-3442-646B-CA412D167D72}"/>
              </a:ext>
            </a:extLst>
          </p:cNvPr>
          <p:cNvSpPr/>
          <p:nvPr/>
        </p:nvSpPr>
        <p:spPr>
          <a:xfrm>
            <a:off x="6735343" y="155071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4100031-32E7-9AF6-1B13-8C9F9B6349C4}"/>
              </a:ext>
            </a:extLst>
          </p:cNvPr>
          <p:cNvSpPr/>
          <p:nvPr/>
        </p:nvSpPr>
        <p:spPr>
          <a:xfrm>
            <a:off x="6736370" y="2068956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00DC8B2E-3110-012F-B5D1-FCEF1792AFB1}"/>
              </a:ext>
            </a:extLst>
          </p:cNvPr>
          <p:cNvCxnSpPr>
            <a:cxnSpLocks/>
          </p:cNvCxnSpPr>
          <p:nvPr/>
        </p:nvCxnSpPr>
        <p:spPr>
          <a:xfrm flipH="1">
            <a:off x="6162689" y="1750766"/>
            <a:ext cx="572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D41109C-9575-C8C4-FEE8-3FE5EE9E6F73}"/>
              </a:ext>
            </a:extLst>
          </p:cNvPr>
          <p:cNvCxnSpPr>
            <a:cxnSpLocks/>
          </p:cNvCxnSpPr>
          <p:nvPr/>
        </p:nvCxnSpPr>
        <p:spPr>
          <a:xfrm flipH="1">
            <a:off x="6212004" y="2253622"/>
            <a:ext cx="572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1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5" grpId="0" animBg="1"/>
      <p:bldP spid="19" grpId="0" animBg="1"/>
      <p:bldP spid="20" grpId="0"/>
      <p:bldP spid="21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70378" y="213637"/>
            <a:ext cx="1192162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Construcción de la MT M</a:t>
            </a:r>
            <a:r>
              <a:rPr lang="es-AR" u="sng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Si: 		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(Q,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δ,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entonces: 	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(Q,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δ´,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donde las funciones de transición δ y δ´ de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son iguales salvo que los estados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están permutados.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Formalmente, para todos los estados q y q´, símbolos s y s´, y movimientos d de {L, R, S}: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δ(q, s) = 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s´, d), entonces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δ´(q, s) = (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s´, d)	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*** se cambia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δ(q, s) = 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s´, d), entonces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δ´(q, s) = (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s´, d) 	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*** se cambia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δ(q, s) = (q´, s´, d), con q´ ≠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 q´ ≠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δ´(q, s) = (q´, s´, d)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*** los otros casos quedan igual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BBF06A7-B235-45D0-B9D9-82D59437C6F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C282531-3379-4E45-A8E3-0318280EFD09}"/>
              </a:ext>
            </a:extLst>
          </p:cNvPr>
          <p:cNvSpPr txBox="1"/>
          <p:nvPr/>
        </p:nvSpPr>
        <p:spPr>
          <a:xfrm>
            <a:off x="926383" y="6005096"/>
            <a:ext cx="11363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Conclusión: si un problema 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entonces también lo es el problema contrario.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FD7669A-310C-6119-3BC9-6C8544FB7812}"/>
              </a:ext>
            </a:extLst>
          </p:cNvPr>
          <p:cNvSpPr/>
          <p:nvPr/>
        </p:nvSpPr>
        <p:spPr>
          <a:xfrm>
            <a:off x="5445236" y="113222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94CCDE-6876-2C27-D21B-D2911753BA8F}"/>
              </a:ext>
            </a:extLst>
          </p:cNvPr>
          <p:cNvSpPr/>
          <p:nvPr/>
        </p:nvSpPr>
        <p:spPr>
          <a:xfrm>
            <a:off x="6652166" y="699139"/>
            <a:ext cx="6150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379D771-B1CF-4109-F90C-B28B705F1DEE}"/>
              </a:ext>
            </a:extLst>
          </p:cNvPr>
          <p:cNvSpPr/>
          <p:nvPr/>
        </p:nvSpPr>
        <p:spPr>
          <a:xfrm>
            <a:off x="8348727" y="652140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6BDB0EC-0AF6-807C-0EEB-E8BF5A3BD5CD}"/>
              </a:ext>
            </a:extLst>
          </p:cNvPr>
          <p:cNvSpPr/>
          <p:nvPr/>
        </p:nvSpPr>
        <p:spPr>
          <a:xfrm>
            <a:off x="6652166" y="329807"/>
            <a:ext cx="4751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C64E606-4404-C81C-44D3-3B97DA5410A1}"/>
              </a:ext>
            </a:extLst>
          </p:cNvPr>
          <p:cNvSpPr/>
          <p:nvPr/>
        </p:nvSpPr>
        <p:spPr>
          <a:xfrm>
            <a:off x="8394854" y="162598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999913-A862-EDB4-81E3-623D8ACD68C8}"/>
              </a:ext>
            </a:extLst>
          </p:cNvPr>
          <p:cNvSpPr/>
          <p:nvPr/>
        </p:nvSpPr>
        <p:spPr>
          <a:xfrm>
            <a:off x="6416565" y="101743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037CF17-715F-9755-EDB8-C005C9DC1BB8}"/>
              </a:ext>
            </a:extLst>
          </p:cNvPr>
          <p:cNvCxnSpPr>
            <a:cxnSpLocks/>
          </p:cNvCxnSpPr>
          <p:nvPr/>
        </p:nvCxnSpPr>
        <p:spPr>
          <a:xfrm>
            <a:off x="5285411" y="1481431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DA16BC3-BF01-8E66-47D7-3449AB5113DB}"/>
              </a:ext>
            </a:extLst>
          </p:cNvPr>
          <p:cNvCxnSpPr>
            <a:cxnSpLocks/>
          </p:cNvCxnSpPr>
          <p:nvPr/>
        </p:nvCxnSpPr>
        <p:spPr>
          <a:xfrm>
            <a:off x="7330965" y="1505494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F544C5A-FB4F-6643-1B2C-1AB1323D7245}"/>
              </a:ext>
            </a:extLst>
          </p:cNvPr>
          <p:cNvCxnSpPr>
            <a:cxnSpLocks/>
          </p:cNvCxnSpPr>
          <p:nvPr/>
        </p:nvCxnSpPr>
        <p:spPr>
          <a:xfrm flipV="1">
            <a:off x="7333874" y="836682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proceso 14">
            <a:extLst>
              <a:ext uri="{FF2B5EF4-FFF2-40B4-BE49-F238E27FC236}">
                <a16:creationId xmlns:a16="http://schemas.microsoft.com/office/drawing/2014/main" id="{BA243025-4DED-A492-33E6-9FE6F3125002}"/>
              </a:ext>
            </a:extLst>
          </p:cNvPr>
          <p:cNvSpPr/>
          <p:nvPr/>
        </p:nvSpPr>
        <p:spPr>
          <a:xfrm>
            <a:off x="5938982" y="652140"/>
            <a:ext cx="1892258" cy="1411317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6ECB1E4-3A91-2396-3DD2-3D51539C221C}"/>
              </a:ext>
            </a:extLst>
          </p:cNvPr>
          <p:cNvSpPr/>
          <p:nvPr/>
        </p:nvSpPr>
        <p:spPr>
          <a:xfrm>
            <a:off x="7390094" y="1562502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2363D6D-515F-1558-E034-49924CCAD2EE}"/>
              </a:ext>
            </a:extLst>
          </p:cNvPr>
          <p:cNvSpPr/>
          <p:nvPr/>
        </p:nvSpPr>
        <p:spPr>
          <a:xfrm>
            <a:off x="7360908" y="984452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645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41BF064-EFC4-4AC8-9F8E-7975792B4F26}"/>
              </a:ext>
            </a:extLst>
          </p:cNvPr>
          <p:cNvSpPr/>
          <p:nvPr/>
        </p:nvSpPr>
        <p:spPr>
          <a:xfrm>
            <a:off x="248960" y="134774"/>
            <a:ext cx="11526129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 2. Si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  y 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R, entonces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⋂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decir, si existe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que decide L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existe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que decide L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también existe una MT M que decide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⋂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Prueba.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Idea general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Construir una MT M que ejecute secuencialmente las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acepte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sii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aceptan. 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59D83AE-B1DF-4187-A344-5120412A302C}"/>
              </a:ext>
            </a:extLst>
          </p:cNvPr>
          <p:cNvSpPr/>
          <p:nvPr/>
        </p:nvSpPr>
        <p:spPr>
          <a:xfrm>
            <a:off x="2937623" y="463881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890B64-7C8B-4460-A7E9-52B563DDE71E}"/>
              </a:ext>
            </a:extLst>
          </p:cNvPr>
          <p:cNvSpPr/>
          <p:nvPr/>
        </p:nvSpPr>
        <p:spPr>
          <a:xfrm>
            <a:off x="4529952" y="461460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7B7F953-A15B-4CEC-B1AD-52FC65ED5987}"/>
              </a:ext>
            </a:extLst>
          </p:cNvPr>
          <p:cNvSpPr/>
          <p:nvPr/>
        </p:nvSpPr>
        <p:spPr>
          <a:xfrm>
            <a:off x="3767955" y="4059752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26E3E0A-EF5F-4FE1-BBCD-17C525900E08}"/>
              </a:ext>
            </a:extLst>
          </p:cNvPr>
          <p:cNvSpPr/>
          <p:nvPr/>
        </p:nvSpPr>
        <p:spPr>
          <a:xfrm>
            <a:off x="1696098" y="508272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592C71A-FC9F-4478-81CB-580ADBB61728}"/>
              </a:ext>
            </a:extLst>
          </p:cNvPr>
          <p:cNvSpPr/>
          <p:nvPr/>
        </p:nvSpPr>
        <p:spPr>
          <a:xfrm>
            <a:off x="6606253" y="4374660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316CD6E-E8BA-4C82-ADCF-3E629ABFB658}"/>
              </a:ext>
            </a:extLst>
          </p:cNvPr>
          <p:cNvSpPr/>
          <p:nvPr/>
        </p:nvSpPr>
        <p:spPr>
          <a:xfrm>
            <a:off x="2711416" y="4981777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68D917E-F72C-4AC6-9CDF-6FD2E3D592BB}"/>
              </a:ext>
            </a:extLst>
          </p:cNvPr>
          <p:cNvCxnSpPr>
            <a:cxnSpLocks/>
          </p:cNvCxnSpPr>
          <p:nvPr/>
        </p:nvCxnSpPr>
        <p:spPr>
          <a:xfrm>
            <a:off x="1394054" y="5410969"/>
            <a:ext cx="130684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5B1E080-7E40-45B4-9755-CA8AB7008232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620184" y="5410969"/>
            <a:ext cx="2990345" cy="7259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a de flujo: proceso 22">
            <a:extLst>
              <a:ext uri="{FF2B5EF4-FFF2-40B4-BE49-F238E27FC236}">
                <a16:creationId xmlns:a16="http://schemas.microsoft.com/office/drawing/2014/main" id="{C54245ED-AF79-4266-AFDC-6B846C87579E}"/>
              </a:ext>
            </a:extLst>
          </p:cNvPr>
          <p:cNvSpPr/>
          <p:nvPr/>
        </p:nvSpPr>
        <p:spPr>
          <a:xfrm>
            <a:off x="2209007" y="4386168"/>
            <a:ext cx="3535424" cy="1997477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E6F58BE-F8F8-401F-9A7B-B2F7842C79FF}"/>
              </a:ext>
            </a:extLst>
          </p:cNvPr>
          <p:cNvSpPr/>
          <p:nvPr/>
        </p:nvSpPr>
        <p:spPr>
          <a:xfrm>
            <a:off x="3786540" y="5082728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1C7C925-E010-49B0-A62D-D416FD1BD5CE}"/>
              </a:ext>
            </a:extLst>
          </p:cNvPr>
          <p:cNvSpPr/>
          <p:nvPr/>
        </p:nvSpPr>
        <p:spPr>
          <a:xfrm>
            <a:off x="6610529" y="5952295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4571B4B-E648-469D-A765-F7599457D281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630232" y="5410969"/>
            <a:ext cx="664276" cy="183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29DA916-785B-431A-984C-C13D0D0A0FF7}"/>
              </a:ext>
            </a:extLst>
          </p:cNvPr>
          <p:cNvSpPr/>
          <p:nvPr/>
        </p:nvSpPr>
        <p:spPr>
          <a:xfrm>
            <a:off x="4294508" y="497215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F1FF40A5-5C21-4E87-AF89-B3FB94520012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208908" y="5407587"/>
            <a:ext cx="1401621" cy="7293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F70998BD-BD2F-4940-8EDE-466CA5CAFEF3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208908" y="4669859"/>
            <a:ext cx="1427328" cy="759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34821828-5664-43E9-9EB0-71266630AF6C}"/>
              </a:ext>
            </a:extLst>
          </p:cNvPr>
          <p:cNvSpPr/>
          <p:nvPr/>
        </p:nvSpPr>
        <p:spPr>
          <a:xfrm>
            <a:off x="5429472" y="839775"/>
            <a:ext cx="1508625" cy="104854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49FBB90E-18EB-48B5-B856-2CDAAE531EE4}"/>
              </a:ext>
            </a:extLst>
          </p:cNvPr>
          <p:cNvSpPr/>
          <p:nvPr/>
        </p:nvSpPr>
        <p:spPr>
          <a:xfrm>
            <a:off x="6183784" y="830157"/>
            <a:ext cx="1508625" cy="104854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DF524D9-C595-43DA-90AC-6DEC2D864C48}"/>
              </a:ext>
            </a:extLst>
          </p:cNvPr>
          <p:cNvSpPr txBox="1"/>
          <p:nvPr/>
        </p:nvSpPr>
        <p:spPr>
          <a:xfrm>
            <a:off x="5691585" y="1169765"/>
            <a:ext cx="4921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sz="16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2F447A1-860A-4490-BEE5-6045CA149ACB}"/>
              </a:ext>
            </a:extLst>
          </p:cNvPr>
          <p:cNvSpPr txBox="1"/>
          <p:nvPr/>
        </p:nvSpPr>
        <p:spPr>
          <a:xfrm>
            <a:off x="7049881" y="1169765"/>
            <a:ext cx="4201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60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662D971-7B0D-45B9-A7B5-B08E32FFB360}"/>
              </a:ext>
            </a:extLst>
          </p:cNvPr>
          <p:cNvSpPr/>
          <p:nvPr/>
        </p:nvSpPr>
        <p:spPr>
          <a:xfrm>
            <a:off x="6183783" y="934246"/>
            <a:ext cx="754312" cy="914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DDBEA7E7-1C30-4A28-B24C-BED42685B1C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35B926C-8354-4E8F-B9C8-76D824824A82}"/>
              </a:ext>
            </a:extLst>
          </p:cNvPr>
          <p:cNvSpPr txBox="1"/>
          <p:nvPr/>
        </p:nvSpPr>
        <p:spPr>
          <a:xfrm>
            <a:off x="6203191" y="1845981"/>
            <a:ext cx="10764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⋂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endParaRPr lang="es-AR" sz="16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AC7B440-6B20-403E-9264-FFA2B49DAAFD}"/>
              </a:ext>
            </a:extLst>
          </p:cNvPr>
          <p:cNvSpPr txBox="1"/>
          <p:nvPr/>
        </p:nvSpPr>
        <p:spPr>
          <a:xfrm>
            <a:off x="7155608" y="4764266"/>
            <a:ext cx="4786753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decide L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(hipótesis).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decide L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(hipótesis).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decide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⋂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(construcción).</a:t>
            </a:r>
            <a:endParaRPr lang="es-AR" sz="1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106CF5C-22CC-9468-A666-287296DB81EF}"/>
              </a:ext>
            </a:extLst>
          </p:cNvPr>
          <p:cNvSpPr/>
          <p:nvPr/>
        </p:nvSpPr>
        <p:spPr>
          <a:xfrm>
            <a:off x="9795355" y="-13783"/>
            <a:ext cx="914400" cy="255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13E325-234D-1F94-B038-085AA2553052}"/>
              </a:ext>
            </a:extLst>
          </p:cNvPr>
          <p:cNvSpPr/>
          <p:nvPr/>
        </p:nvSpPr>
        <p:spPr>
          <a:xfrm>
            <a:off x="10596967" y="159159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3C6CEA-F57A-41F9-9814-05CE86A9EA90}"/>
              </a:ext>
            </a:extLst>
          </p:cNvPr>
          <p:cNvSpPr/>
          <p:nvPr/>
        </p:nvSpPr>
        <p:spPr>
          <a:xfrm>
            <a:off x="10604838" y="786271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3468AA-39A2-B571-B346-9B2BDC62FFA7}"/>
              </a:ext>
            </a:extLst>
          </p:cNvPr>
          <p:cNvSpPr/>
          <p:nvPr/>
        </p:nvSpPr>
        <p:spPr>
          <a:xfrm>
            <a:off x="10676050" y="124736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es-MX" b="1" dirty="0">
              <a:solidFill>
                <a:srgbClr val="FF0000"/>
              </a:solidFill>
            </a:endParaRPr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E2F492AF-BEAA-A3D6-25AF-12EFBDB36BEA}"/>
              </a:ext>
            </a:extLst>
          </p:cNvPr>
          <p:cNvSpPr/>
          <p:nvPr/>
        </p:nvSpPr>
        <p:spPr>
          <a:xfrm>
            <a:off x="9877494" y="159159"/>
            <a:ext cx="2006948" cy="172858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A8EC88F6-F638-4387-A5A6-6C00EB73B32E}"/>
              </a:ext>
            </a:extLst>
          </p:cNvPr>
          <p:cNvSpPr/>
          <p:nvPr/>
        </p:nvSpPr>
        <p:spPr>
          <a:xfrm>
            <a:off x="10094357" y="758559"/>
            <a:ext cx="1514764" cy="103149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45C107D5-F2A9-0361-8C29-12EC4879520F}"/>
              </a:ext>
            </a:extLst>
          </p:cNvPr>
          <p:cNvSpPr/>
          <p:nvPr/>
        </p:nvSpPr>
        <p:spPr>
          <a:xfrm>
            <a:off x="10326444" y="1145200"/>
            <a:ext cx="1094015" cy="573664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32F4B27-0004-975B-12E1-367109A275AA}"/>
              </a:ext>
            </a:extLst>
          </p:cNvPr>
          <p:cNvSpPr/>
          <p:nvPr/>
        </p:nvSpPr>
        <p:spPr>
          <a:xfrm>
            <a:off x="7028964" y="2092167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5793B2DE-8AB6-990D-B588-4BD460B581A4}"/>
              </a:ext>
            </a:extLst>
          </p:cNvPr>
          <p:cNvCxnSpPr>
            <a:cxnSpLocks/>
          </p:cNvCxnSpPr>
          <p:nvPr/>
        </p:nvCxnSpPr>
        <p:spPr>
          <a:xfrm rot="-120000" flipV="1">
            <a:off x="7214190" y="1508130"/>
            <a:ext cx="0" cy="620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0861C01C-54E5-52F9-4A10-F2A3F652188F}"/>
              </a:ext>
            </a:extLst>
          </p:cNvPr>
          <p:cNvCxnSpPr>
            <a:cxnSpLocks/>
          </p:cNvCxnSpPr>
          <p:nvPr/>
        </p:nvCxnSpPr>
        <p:spPr>
          <a:xfrm rot="-60000" flipV="1">
            <a:off x="5895569" y="1540835"/>
            <a:ext cx="0" cy="620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01CFC03-8EF6-E3E6-48C6-2EB21406410C}"/>
              </a:ext>
            </a:extLst>
          </p:cNvPr>
          <p:cNvSpPr/>
          <p:nvPr/>
        </p:nvSpPr>
        <p:spPr>
          <a:xfrm>
            <a:off x="5721554" y="211204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E1A3067-FDB0-43E4-FB22-497FD439D074}"/>
              </a:ext>
            </a:extLst>
          </p:cNvPr>
          <p:cNvSpPr/>
          <p:nvPr/>
        </p:nvSpPr>
        <p:spPr>
          <a:xfrm>
            <a:off x="6417740" y="2391049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DAEF26A-604D-346A-7EEA-83B74199CE38}"/>
              </a:ext>
            </a:extLst>
          </p:cNvPr>
          <p:cNvCxnSpPr>
            <a:cxnSpLocks/>
          </p:cNvCxnSpPr>
          <p:nvPr/>
        </p:nvCxnSpPr>
        <p:spPr>
          <a:xfrm rot="180000" flipH="1" flipV="1">
            <a:off x="6593257" y="2151729"/>
            <a:ext cx="25992" cy="323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13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3" grpId="0"/>
      <p:bldP spid="15" grpId="0"/>
      <p:bldP spid="18" grpId="0" animBg="1"/>
      <p:bldP spid="23" grpId="0" animBg="1"/>
      <p:bldP spid="24" grpId="0"/>
      <p:bldP spid="25" grpId="0"/>
      <p:bldP spid="27" grpId="0" animBg="1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575EC-EB36-4168-9E3D-8FCF0A4E2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61" y="85598"/>
            <a:ext cx="8187396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AR" u="sng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Idea de la construcción de la MT M</a:t>
            </a:r>
            <a:r>
              <a:rPr lang="es-AR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MX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 tiene 2 cintas. Con w en la cinta 1, hace: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Copia w en la cinta 2.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Ejecuta M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sobre w en la cinta 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Si M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para en </a:t>
            </a:r>
            <a:r>
              <a:rPr kumimoji="0" lang="es-AR" altLang="es-MX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kumimoji="0" lang="es-AR" altLang="es-MX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   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entonces M para en </a:t>
            </a:r>
            <a:r>
              <a:rPr kumimoji="0" lang="es-AR" altLang="es-MX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kumimoji="0" lang="es-AR" altLang="es-MX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Borra el contenido de la cinta 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   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 copia de nuevo w en la cinta 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4. Ejecuta M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sobre w en la cinta 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   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 M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para en </a:t>
            </a:r>
            <a:r>
              <a:rPr kumimoji="0" lang="es-AR" altLang="es-MX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kumimoji="0" lang="es-AR" altLang="es-MX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s-AR" altLang="es-MX" baseline="-300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kumimoji="0" lang="es-AR" altLang="es-MX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kumimoji="0" lang="es-AR" altLang="es-MX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   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entonces M para en </a:t>
            </a:r>
            <a:r>
              <a:rPr kumimoji="0" lang="es-AR" altLang="es-MX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kumimoji="0" lang="es-AR" altLang="es-MX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kumimoji="0" lang="es-AR" altLang="es-MX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kumimoji="0" lang="es-AR" altLang="es-MX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Ejercicio: ¿cómo</a:t>
            </a:r>
            <a:r>
              <a:rPr kumimoji="0" lang="es-AR" altLang="es-MX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hace M para copiar w y borrar la cinta 2?</a:t>
            </a:r>
            <a:endParaRPr kumimoji="0" lang="es-AR" altLang="es-MX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80CD12B-F566-485C-A61E-54CCAD02AB7B}"/>
              </a:ext>
            </a:extLst>
          </p:cNvPr>
          <p:cNvSpPr/>
          <p:nvPr/>
        </p:nvSpPr>
        <p:spPr>
          <a:xfrm>
            <a:off x="255015" y="5828137"/>
            <a:ext cx="1150557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s-AR" altLang="es-MX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DB68C3-505F-4030-8D3D-77AAF2FE42A1}"/>
              </a:ext>
            </a:extLst>
          </p:cNvPr>
          <p:cNvSpPr/>
          <p:nvPr/>
        </p:nvSpPr>
        <p:spPr>
          <a:xfrm>
            <a:off x="326248" y="5453155"/>
            <a:ext cx="115831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etapas 2 y 4 pueden verse como invocaciones a rutinas, que no son más que las funciones de transición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altLang="es-MX" baseline="-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altLang="es-MX" baseline="-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decir, el código de M puede verse de la siguiente manera: 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s-AR" b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…… δ</a:t>
            </a:r>
            <a:r>
              <a:rPr lang="es-AR" altLang="es-MX" b="1" baseline="-30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M1 </a:t>
            </a:r>
            <a:r>
              <a:rPr lang="es-AR" altLang="es-MX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……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s-AR" altLang="es-MX" b="1" baseline="-30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M2 </a:t>
            </a:r>
            <a:r>
              <a:rPr lang="es-AR" altLang="es-MX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……</a:t>
            </a:r>
            <a:endParaRPr lang="es-AR" altLang="es-MX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0FB99E5-6179-4544-8BD7-6022D31E0F14}"/>
              </a:ext>
            </a:extLst>
          </p:cNvPr>
          <p:cNvCxnSpPr>
            <a:cxnSpLocks/>
          </p:cNvCxnSpPr>
          <p:nvPr/>
        </p:nvCxnSpPr>
        <p:spPr>
          <a:xfrm>
            <a:off x="6062291" y="565227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42234E9-4C4E-4973-BB79-0BAD937437A8}"/>
              </a:ext>
            </a:extLst>
          </p:cNvPr>
          <p:cNvCxnSpPr>
            <a:cxnSpLocks/>
          </p:cNvCxnSpPr>
          <p:nvPr/>
        </p:nvCxnSpPr>
        <p:spPr>
          <a:xfrm>
            <a:off x="6062291" y="934559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B3E05D2-0D99-4346-AEF8-22699519680E}"/>
              </a:ext>
            </a:extLst>
          </p:cNvPr>
          <p:cNvCxnSpPr>
            <a:cxnSpLocks/>
          </p:cNvCxnSpPr>
          <p:nvPr/>
        </p:nvCxnSpPr>
        <p:spPr>
          <a:xfrm>
            <a:off x="6062291" y="131758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92DF230-4D42-4EA9-94BD-62319A6EF6DA}"/>
              </a:ext>
            </a:extLst>
          </p:cNvPr>
          <p:cNvCxnSpPr>
            <a:cxnSpLocks/>
          </p:cNvCxnSpPr>
          <p:nvPr/>
        </p:nvCxnSpPr>
        <p:spPr>
          <a:xfrm>
            <a:off x="6062291" y="168691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5CE55BA-AC64-4C04-9444-D6A6DD8E1236}"/>
              </a:ext>
            </a:extLst>
          </p:cNvPr>
          <p:cNvSpPr/>
          <p:nvPr/>
        </p:nvSpPr>
        <p:spPr>
          <a:xfrm>
            <a:off x="6976660" y="2367363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689B529-85FA-4056-9739-95E8E4BF9476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438064" y="964242"/>
            <a:ext cx="711588" cy="14031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2C4DC7A-683C-451E-975A-E08AA9E62DA5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456790" y="1710049"/>
            <a:ext cx="692862" cy="657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3CEF679-555D-4741-B226-282F220531C9}"/>
              </a:ext>
            </a:extLst>
          </p:cNvPr>
          <p:cNvSpPr/>
          <p:nvPr/>
        </p:nvSpPr>
        <p:spPr>
          <a:xfrm>
            <a:off x="5620637" y="588362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AR" altLang="es-MX" sz="16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</a:t>
            </a:r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7B390D4-0C88-4FCE-91F8-E7099360F5AB}"/>
              </a:ext>
            </a:extLst>
          </p:cNvPr>
          <p:cNvSpPr/>
          <p:nvPr/>
        </p:nvSpPr>
        <p:spPr>
          <a:xfrm>
            <a:off x="5968613" y="1327763"/>
            <a:ext cx="25599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/>
              <a:t>   w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AE25C62-07CF-47B8-B099-17FC7D70B75D}"/>
              </a:ext>
            </a:extLst>
          </p:cNvPr>
          <p:cNvSpPr/>
          <p:nvPr/>
        </p:nvSpPr>
        <p:spPr>
          <a:xfrm>
            <a:off x="5273292" y="592660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1</a:t>
            </a:r>
            <a:endParaRPr lang="es-MX" sz="16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D17AE28-6211-4079-B42B-FE21C04F0389}"/>
              </a:ext>
            </a:extLst>
          </p:cNvPr>
          <p:cNvSpPr/>
          <p:nvPr/>
        </p:nvSpPr>
        <p:spPr>
          <a:xfrm>
            <a:off x="5301066" y="1348360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2</a:t>
            </a:r>
            <a:endParaRPr lang="es-MX" sz="1600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FA093C13-140B-4DC9-B03F-0972A98F064B}"/>
              </a:ext>
            </a:extLst>
          </p:cNvPr>
          <p:cNvCxnSpPr>
            <a:cxnSpLocks/>
          </p:cNvCxnSpPr>
          <p:nvPr/>
        </p:nvCxnSpPr>
        <p:spPr>
          <a:xfrm>
            <a:off x="9388717" y="54716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738969D-C02C-4465-93DB-F93636C8CFF0}"/>
              </a:ext>
            </a:extLst>
          </p:cNvPr>
          <p:cNvCxnSpPr>
            <a:cxnSpLocks/>
          </p:cNvCxnSpPr>
          <p:nvPr/>
        </p:nvCxnSpPr>
        <p:spPr>
          <a:xfrm>
            <a:off x="9388717" y="91649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8188245-0568-46CC-9412-3A91A4DB1F55}"/>
              </a:ext>
            </a:extLst>
          </p:cNvPr>
          <p:cNvCxnSpPr>
            <a:cxnSpLocks/>
          </p:cNvCxnSpPr>
          <p:nvPr/>
        </p:nvCxnSpPr>
        <p:spPr>
          <a:xfrm>
            <a:off x="9388717" y="129952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564ACB2-F463-4E73-ABCA-634A8428066D}"/>
              </a:ext>
            </a:extLst>
          </p:cNvPr>
          <p:cNvCxnSpPr>
            <a:cxnSpLocks/>
          </p:cNvCxnSpPr>
          <p:nvPr/>
        </p:nvCxnSpPr>
        <p:spPr>
          <a:xfrm>
            <a:off x="9388717" y="166885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5418B7-008B-418B-9C37-AB773DE3BF07}"/>
              </a:ext>
            </a:extLst>
          </p:cNvPr>
          <p:cNvSpPr/>
          <p:nvPr/>
        </p:nvSpPr>
        <p:spPr>
          <a:xfrm>
            <a:off x="10303086" y="2349302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B2987CF-A564-4712-9BAC-53372F132640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9724495" y="945425"/>
            <a:ext cx="751583" cy="14038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0384C197-1E12-4145-9A94-153F213680F1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9724495" y="1710049"/>
            <a:ext cx="751583" cy="6392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E17BA92-435E-48C7-8C21-3BA3A60D2CD8}"/>
              </a:ext>
            </a:extLst>
          </p:cNvPr>
          <p:cNvSpPr/>
          <p:nvPr/>
        </p:nvSpPr>
        <p:spPr>
          <a:xfrm>
            <a:off x="8985030" y="569259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AR" altLang="es-MX" sz="16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</a:t>
            </a:r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167DF9D-CC85-41BF-8696-F01E5643078A}"/>
              </a:ext>
            </a:extLst>
          </p:cNvPr>
          <p:cNvSpPr/>
          <p:nvPr/>
        </p:nvSpPr>
        <p:spPr>
          <a:xfrm>
            <a:off x="9295039" y="1309702"/>
            <a:ext cx="25599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/>
              <a:t>   ejecución de </a:t>
            </a:r>
            <a:r>
              <a:rPr lang="es-AR" altLang="es-MX" sz="1600" dirty="0"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lang="es-AR" altLang="es-MX" sz="1600" baseline="-30000" dirty="0"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MX" sz="1600" dirty="0"/>
              <a:t> sobre w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9B1FC0E-467D-4CE5-83CD-C131A16EAAE7}"/>
              </a:ext>
            </a:extLst>
          </p:cNvPr>
          <p:cNvSpPr/>
          <p:nvPr/>
        </p:nvSpPr>
        <p:spPr>
          <a:xfrm>
            <a:off x="8599718" y="574599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1</a:t>
            </a:r>
            <a:endParaRPr lang="es-MX" sz="16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C8CC53F-6FFA-491F-AE8A-C2638815E32F}"/>
              </a:ext>
            </a:extLst>
          </p:cNvPr>
          <p:cNvSpPr/>
          <p:nvPr/>
        </p:nvSpPr>
        <p:spPr>
          <a:xfrm>
            <a:off x="8627492" y="1330299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2</a:t>
            </a:r>
            <a:endParaRPr lang="es-MX" sz="16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3FF6B82-3066-477A-B21E-40760161A510}"/>
              </a:ext>
            </a:extLst>
          </p:cNvPr>
          <p:cNvSpPr/>
          <p:nvPr/>
        </p:nvSpPr>
        <p:spPr>
          <a:xfrm>
            <a:off x="6677731" y="281294"/>
            <a:ext cx="9140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Etapa 1</a:t>
            </a:r>
            <a:endParaRPr lang="es-MX" sz="1600" b="1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6AEADD6-4019-4731-A985-01618AA6D5F8}"/>
              </a:ext>
            </a:extLst>
          </p:cNvPr>
          <p:cNvSpPr/>
          <p:nvPr/>
        </p:nvSpPr>
        <p:spPr>
          <a:xfrm>
            <a:off x="10019060" y="255150"/>
            <a:ext cx="9140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Etapa 2</a:t>
            </a:r>
            <a:endParaRPr lang="es-MX" sz="1600" b="1" dirty="0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A55BF462-E7DA-4489-BBF3-36233673C1C5}"/>
              </a:ext>
            </a:extLst>
          </p:cNvPr>
          <p:cNvCxnSpPr>
            <a:cxnSpLocks/>
          </p:cNvCxnSpPr>
          <p:nvPr/>
        </p:nvCxnSpPr>
        <p:spPr>
          <a:xfrm>
            <a:off x="6090065" y="323390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BCCEB0C-EF47-4CD0-8FC6-AA54A1B858C1}"/>
              </a:ext>
            </a:extLst>
          </p:cNvPr>
          <p:cNvCxnSpPr>
            <a:cxnSpLocks/>
          </p:cNvCxnSpPr>
          <p:nvPr/>
        </p:nvCxnSpPr>
        <p:spPr>
          <a:xfrm>
            <a:off x="6090065" y="360323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91BF6851-DB0B-4B14-8EC5-14ED4E51EB84}"/>
              </a:ext>
            </a:extLst>
          </p:cNvPr>
          <p:cNvCxnSpPr>
            <a:cxnSpLocks/>
          </p:cNvCxnSpPr>
          <p:nvPr/>
        </p:nvCxnSpPr>
        <p:spPr>
          <a:xfrm>
            <a:off x="6090065" y="398626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0549A43-4545-49C7-AC8D-B978615E91A9}"/>
              </a:ext>
            </a:extLst>
          </p:cNvPr>
          <p:cNvCxnSpPr>
            <a:cxnSpLocks/>
          </p:cNvCxnSpPr>
          <p:nvPr/>
        </p:nvCxnSpPr>
        <p:spPr>
          <a:xfrm>
            <a:off x="6090065" y="435559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9A075D4-BD98-4DE9-80FA-ECC850FC126A}"/>
              </a:ext>
            </a:extLst>
          </p:cNvPr>
          <p:cNvSpPr/>
          <p:nvPr/>
        </p:nvSpPr>
        <p:spPr>
          <a:xfrm>
            <a:off x="7004434" y="5036042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88373780-F5F4-4A85-8A32-9E6E42C5EAA0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425843" y="3647544"/>
            <a:ext cx="751583" cy="13884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352C3B1F-DACF-4FC5-8C36-A718375F9403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425843" y="4396789"/>
            <a:ext cx="751583" cy="6392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>
            <a:extLst>
              <a:ext uri="{FF2B5EF4-FFF2-40B4-BE49-F238E27FC236}">
                <a16:creationId xmlns:a16="http://schemas.microsoft.com/office/drawing/2014/main" id="{6E9F2EA8-435C-4A82-80F9-3785CA4320CE}"/>
              </a:ext>
            </a:extLst>
          </p:cNvPr>
          <p:cNvSpPr/>
          <p:nvPr/>
        </p:nvSpPr>
        <p:spPr>
          <a:xfrm>
            <a:off x="5666346" y="3273515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AR" altLang="es-MX" sz="16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</a:t>
            </a:r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446C4A42-3225-4291-BF47-67B45CC8F071}"/>
              </a:ext>
            </a:extLst>
          </p:cNvPr>
          <p:cNvSpPr/>
          <p:nvPr/>
        </p:nvSpPr>
        <p:spPr>
          <a:xfrm>
            <a:off x="5996387" y="3996442"/>
            <a:ext cx="25599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/>
              <a:t>   w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B076E79C-9D82-4898-986B-4C71CB1CFE38}"/>
              </a:ext>
            </a:extLst>
          </p:cNvPr>
          <p:cNvSpPr/>
          <p:nvPr/>
        </p:nvSpPr>
        <p:spPr>
          <a:xfrm>
            <a:off x="5301066" y="3261339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1</a:t>
            </a:r>
            <a:endParaRPr lang="es-MX" sz="1600" dirty="0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DBD33B0-5115-4262-982F-9EE19E3F1856}"/>
              </a:ext>
            </a:extLst>
          </p:cNvPr>
          <p:cNvSpPr/>
          <p:nvPr/>
        </p:nvSpPr>
        <p:spPr>
          <a:xfrm>
            <a:off x="5328840" y="4017039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2</a:t>
            </a:r>
            <a:endParaRPr lang="es-MX" sz="1600" dirty="0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98EC7F31-3C97-446C-8536-47C5A83B896E}"/>
              </a:ext>
            </a:extLst>
          </p:cNvPr>
          <p:cNvCxnSpPr>
            <a:cxnSpLocks/>
          </p:cNvCxnSpPr>
          <p:nvPr/>
        </p:nvCxnSpPr>
        <p:spPr>
          <a:xfrm>
            <a:off x="9416491" y="3215845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D2D0493-7784-4D09-AEEF-30DB689B5935}"/>
              </a:ext>
            </a:extLst>
          </p:cNvPr>
          <p:cNvCxnSpPr>
            <a:cxnSpLocks/>
          </p:cNvCxnSpPr>
          <p:nvPr/>
        </p:nvCxnSpPr>
        <p:spPr>
          <a:xfrm>
            <a:off x="9416491" y="3585177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6EB7A1B-A257-4304-8602-9493C94435DF}"/>
              </a:ext>
            </a:extLst>
          </p:cNvPr>
          <p:cNvCxnSpPr>
            <a:cxnSpLocks/>
          </p:cNvCxnSpPr>
          <p:nvPr/>
        </p:nvCxnSpPr>
        <p:spPr>
          <a:xfrm>
            <a:off x="9416491" y="3968200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081778A-E001-4445-A630-A2D26E0D214D}"/>
              </a:ext>
            </a:extLst>
          </p:cNvPr>
          <p:cNvCxnSpPr>
            <a:cxnSpLocks/>
          </p:cNvCxnSpPr>
          <p:nvPr/>
        </p:nvCxnSpPr>
        <p:spPr>
          <a:xfrm>
            <a:off x="9416491" y="433753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72FFD67C-29F5-4923-BDE5-E6297FBD4A19}"/>
              </a:ext>
            </a:extLst>
          </p:cNvPr>
          <p:cNvSpPr/>
          <p:nvPr/>
        </p:nvSpPr>
        <p:spPr>
          <a:xfrm>
            <a:off x="10330860" y="5017981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84AEB5B0-6924-41A9-9BDE-8F9F19FB98ED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9776313" y="3637711"/>
            <a:ext cx="727539" cy="1380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574C33A8-D904-40C8-8A37-481FA5BF8593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9752269" y="4378728"/>
            <a:ext cx="751583" cy="6392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3F3835BD-9A2B-4EE5-BE17-82B611E9C3A8}"/>
              </a:ext>
            </a:extLst>
          </p:cNvPr>
          <p:cNvSpPr/>
          <p:nvPr/>
        </p:nvSpPr>
        <p:spPr>
          <a:xfrm>
            <a:off x="9004350" y="3236791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AR" altLang="es-MX" sz="16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</a:t>
            </a:r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3D009253-DFDA-4DB3-AF0A-8D97F56E71F3}"/>
              </a:ext>
            </a:extLst>
          </p:cNvPr>
          <p:cNvSpPr/>
          <p:nvPr/>
        </p:nvSpPr>
        <p:spPr>
          <a:xfrm>
            <a:off x="9322813" y="3978381"/>
            <a:ext cx="25599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/>
              <a:t>   ejecución de </a:t>
            </a:r>
            <a:r>
              <a:rPr lang="es-AR" altLang="es-MX" sz="1600" dirty="0"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lang="es-AR" altLang="es-MX" sz="1600" baseline="-30000" dirty="0"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MX" sz="1600" dirty="0"/>
              <a:t> sobre w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A1F4E850-B63E-4679-AC31-B957515670E2}"/>
              </a:ext>
            </a:extLst>
          </p:cNvPr>
          <p:cNvSpPr/>
          <p:nvPr/>
        </p:nvSpPr>
        <p:spPr>
          <a:xfrm>
            <a:off x="8627492" y="3243278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1</a:t>
            </a:r>
            <a:endParaRPr lang="es-MX" sz="1600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4DF6B814-CE4B-482D-AAB7-91BC43448940}"/>
              </a:ext>
            </a:extLst>
          </p:cNvPr>
          <p:cNvSpPr/>
          <p:nvPr/>
        </p:nvSpPr>
        <p:spPr>
          <a:xfrm>
            <a:off x="8655266" y="3998978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2</a:t>
            </a:r>
            <a:endParaRPr lang="es-MX" sz="1600" dirty="0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0FCE4FF-1C62-4D0E-BAB5-4E31767A98C3}"/>
              </a:ext>
            </a:extLst>
          </p:cNvPr>
          <p:cNvSpPr/>
          <p:nvPr/>
        </p:nvSpPr>
        <p:spPr>
          <a:xfrm>
            <a:off x="6759454" y="2931270"/>
            <a:ext cx="9140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Etapa 3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AE932D3D-69AB-4B49-B579-FED9EC9CC390}"/>
              </a:ext>
            </a:extLst>
          </p:cNvPr>
          <p:cNvSpPr/>
          <p:nvPr/>
        </p:nvSpPr>
        <p:spPr>
          <a:xfrm>
            <a:off x="10053204" y="2896565"/>
            <a:ext cx="9140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Etapa 4</a:t>
            </a:r>
            <a:endParaRPr lang="es-MX" sz="1600" b="1" dirty="0"/>
          </a:p>
        </p:txBody>
      </p:sp>
      <p:sp>
        <p:nvSpPr>
          <p:cNvPr id="62" name="Slide Number Placeholder 2">
            <a:extLst>
              <a:ext uri="{FF2B5EF4-FFF2-40B4-BE49-F238E27FC236}">
                <a16:creationId xmlns:a16="http://schemas.microsoft.com/office/drawing/2014/main" id="{2A2E0622-1AE6-448E-A918-E47B82AC563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4D01D3-356B-2B4F-6741-7ECE98AFC172}"/>
              </a:ext>
            </a:extLst>
          </p:cNvPr>
          <p:cNvSpPr txBox="1"/>
          <p:nvPr/>
        </p:nvSpPr>
        <p:spPr>
          <a:xfrm>
            <a:off x="2440639" y="6233518"/>
            <a:ext cx="8335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También se cumple que si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R  y 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R, entonces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708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 animBg="1"/>
      <p:bldP spid="20" grpId="0"/>
      <p:bldP spid="22" grpId="0"/>
      <p:bldP spid="24" grpId="0"/>
      <p:bldP spid="25" grpId="0"/>
      <p:bldP spid="29" grpId="0" animBg="1"/>
      <p:bldP spid="32" grpId="0"/>
      <p:bldP spid="33" grpId="0"/>
      <p:bldP spid="34" grpId="0"/>
      <p:bldP spid="35" grpId="0"/>
      <p:bldP spid="36" grpId="0"/>
      <p:bldP spid="37" grpId="0"/>
      <p:bldP spid="42" grpId="0" animBg="1"/>
      <p:bldP spid="45" grpId="0"/>
      <p:bldP spid="46" grpId="0"/>
      <p:bldP spid="47" grpId="0"/>
      <p:bldP spid="48" grpId="0"/>
      <p:bldP spid="53" grpId="0" animBg="1"/>
      <p:bldP spid="56" grpId="0"/>
      <p:bldP spid="57" grpId="0"/>
      <p:bldP spid="58" grpId="0"/>
      <p:bldP spid="59" grpId="0"/>
      <p:bldP spid="60" grpId="0"/>
      <p:bldP spid="61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62597" y="48538"/>
            <a:ext cx="11659024" cy="1143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clase RE (lenguajes recursivamente </a:t>
            </a:r>
            <a:r>
              <a:rPr lang="es-AR" sz="2800" b="1" dirty="0" err="1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enumerables</a:t>
            </a:r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AR" sz="2000" u="sng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1ECD963-7929-4F9C-B97E-66301C0E5263}"/>
              </a:ext>
            </a:extLst>
          </p:cNvPr>
          <p:cNvSpPr/>
          <p:nvPr/>
        </p:nvSpPr>
        <p:spPr>
          <a:xfrm>
            <a:off x="9178435" y="4437572"/>
            <a:ext cx="879823" cy="255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74D3FFC-1211-4D8D-9F2D-08EE34B5982A}"/>
              </a:ext>
            </a:extLst>
          </p:cNvPr>
          <p:cNvSpPr/>
          <p:nvPr/>
        </p:nvSpPr>
        <p:spPr>
          <a:xfrm>
            <a:off x="245832" y="766771"/>
            <a:ext cx="11651242" cy="3249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Propiedad 3.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  y 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RE, entonces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decir, si existe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que acepta L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existe una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que acepta L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también existe una MT M que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acepta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⋃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AR" sz="13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Prueba.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Idea general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399EEEBE-2D84-4550-9FBD-F012A24163EA}"/>
              </a:ext>
            </a:extLst>
          </p:cNvPr>
          <p:cNvSpPr/>
          <p:nvPr/>
        </p:nvSpPr>
        <p:spPr>
          <a:xfrm>
            <a:off x="5435947" y="1324545"/>
            <a:ext cx="1508625" cy="1048549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EAE91E0D-902C-47B1-95DA-EA8FD8ED8C1F}"/>
              </a:ext>
            </a:extLst>
          </p:cNvPr>
          <p:cNvSpPr/>
          <p:nvPr/>
        </p:nvSpPr>
        <p:spPr>
          <a:xfrm>
            <a:off x="6190259" y="1314927"/>
            <a:ext cx="1508625" cy="1048549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B5A358-63AD-4785-A527-24DE5CB6F987}"/>
              </a:ext>
            </a:extLst>
          </p:cNvPr>
          <p:cNvSpPr txBox="1"/>
          <p:nvPr/>
        </p:nvSpPr>
        <p:spPr>
          <a:xfrm>
            <a:off x="5763442" y="1715452"/>
            <a:ext cx="42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E009394-215D-4FDA-A5DE-155FAAF95EE9}"/>
              </a:ext>
            </a:extLst>
          </p:cNvPr>
          <p:cNvSpPr txBox="1"/>
          <p:nvPr/>
        </p:nvSpPr>
        <p:spPr>
          <a:xfrm>
            <a:off x="7047005" y="1692747"/>
            <a:ext cx="4201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600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E015B84-B12C-4E8B-8D91-83E9458065CB}"/>
              </a:ext>
            </a:extLst>
          </p:cNvPr>
          <p:cNvSpPr/>
          <p:nvPr/>
        </p:nvSpPr>
        <p:spPr>
          <a:xfrm>
            <a:off x="6190259" y="1401500"/>
            <a:ext cx="754312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D6797FA-1A64-448B-9A80-BD99422B7F26}"/>
              </a:ext>
            </a:extLst>
          </p:cNvPr>
          <p:cNvSpPr/>
          <p:nvPr/>
        </p:nvSpPr>
        <p:spPr>
          <a:xfrm>
            <a:off x="3616256" y="4176301"/>
            <a:ext cx="5859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8F317B5-66F8-47C7-B0E4-D28D0CE8CF7E}"/>
              </a:ext>
            </a:extLst>
          </p:cNvPr>
          <p:cNvSpPr/>
          <p:nvPr/>
        </p:nvSpPr>
        <p:spPr>
          <a:xfrm>
            <a:off x="5199349" y="4158309"/>
            <a:ext cx="653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9089E77-EFA8-4B3A-B09E-107B26ABE1B6}"/>
              </a:ext>
            </a:extLst>
          </p:cNvPr>
          <p:cNvSpPr/>
          <p:nvPr/>
        </p:nvSpPr>
        <p:spPr>
          <a:xfrm>
            <a:off x="4396669" y="3726164"/>
            <a:ext cx="3627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5C05135-C048-48AC-B74C-4245C5B8DB55}"/>
              </a:ext>
            </a:extLst>
          </p:cNvPr>
          <p:cNvSpPr/>
          <p:nvPr/>
        </p:nvSpPr>
        <p:spPr>
          <a:xfrm>
            <a:off x="2457197" y="4629069"/>
            <a:ext cx="338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C1088E8-406E-4CC1-B8D0-119798CD6304}"/>
              </a:ext>
            </a:extLst>
          </p:cNvPr>
          <p:cNvSpPr/>
          <p:nvPr/>
        </p:nvSpPr>
        <p:spPr>
          <a:xfrm>
            <a:off x="6576675" y="4378535"/>
            <a:ext cx="526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</a:t>
            </a:r>
            <a:endParaRPr lang="es-MX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0D32DDA-7595-4A36-8318-597D29F07FF9}"/>
              </a:ext>
            </a:extLst>
          </p:cNvPr>
          <p:cNvSpPr/>
          <p:nvPr/>
        </p:nvSpPr>
        <p:spPr>
          <a:xfrm>
            <a:off x="3390050" y="4519267"/>
            <a:ext cx="879823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05B4DF0-58B0-4B6F-A40B-53DF0821EF17}"/>
              </a:ext>
            </a:extLst>
          </p:cNvPr>
          <p:cNvCxnSpPr>
            <a:cxnSpLocks/>
          </p:cNvCxnSpPr>
          <p:nvPr/>
        </p:nvCxnSpPr>
        <p:spPr>
          <a:xfrm>
            <a:off x="2132624" y="4962463"/>
            <a:ext cx="12574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B1932A6-2F88-4384-810B-E48E90CBD715}"/>
              </a:ext>
            </a:extLst>
          </p:cNvPr>
          <p:cNvCxnSpPr>
            <a:cxnSpLocks/>
            <a:stCxn id="25" idx="3"/>
            <a:endCxn id="30" idx="1"/>
          </p:cNvCxnSpPr>
          <p:nvPr/>
        </p:nvCxnSpPr>
        <p:spPr>
          <a:xfrm>
            <a:off x="4269873" y="4976467"/>
            <a:ext cx="2337698" cy="5788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agrama de flujo: proceso 27">
            <a:extLst>
              <a:ext uri="{FF2B5EF4-FFF2-40B4-BE49-F238E27FC236}">
                <a16:creationId xmlns:a16="http://schemas.microsoft.com/office/drawing/2014/main" id="{605B0A95-F9C0-4ABC-81D3-2A569FD678CB}"/>
              </a:ext>
            </a:extLst>
          </p:cNvPr>
          <p:cNvSpPr/>
          <p:nvPr/>
        </p:nvSpPr>
        <p:spPr>
          <a:xfrm>
            <a:off x="2952317" y="4046532"/>
            <a:ext cx="3223427" cy="228464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9902909-C527-44A8-B745-7A031643A40E}"/>
              </a:ext>
            </a:extLst>
          </p:cNvPr>
          <p:cNvSpPr/>
          <p:nvPr/>
        </p:nvSpPr>
        <p:spPr>
          <a:xfrm>
            <a:off x="4465174" y="4620218"/>
            <a:ext cx="4244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no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5D675DD-B4BE-4358-A3BF-B2C2A5A81784}"/>
              </a:ext>
            </a:extLst>
          </p:cNvPr>
          <p:cNvSpPr/>
          <p:nvPr/>
        </p:nvSpPr>
        <p:spPr>
          <a:xfrm>
            <a:off x="6607571" y="5370609"/>
            <a:ext cx="4244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sí</a:t>
            </a:r>
            <a:endParaRPr lang="es-MX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2476DD2-EAAE-497F-97BD-AE1EE1A43306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4269599" y="4964143"/>
            <a:ext cx="703543" cy="27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C5C419A-B863-49C2-AB9F-222FCD09ECDA}"/>
              </a:ext>
            </a:extLst>
          </p:cNvPr>
          <p:cNvSpPr/>
          <p:nvPr/>
        </p:nvSpPr>
        <p:spPr>
          <a:xfrm>
            <a:off x="4973142" y="4509649"/>
            <a:ext cx="879823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B079BBA-9AF7-4799-BD78-92A0F3584670}"/>
              </a:ext>
            </a:extLst>
          </p:cNvPr>
          <p:cNvCxnSpPr>
            <a:cxnSpLocks/>
            <a:stCxn id="32" idx="3"/>
            <a:endCxn id="30" idx="1"/>
          </p:cNvCxnSpPr>
          <p:nvPr/>
        </p:nvCxnSpPr>
        <p:spPr>
          <a:xfrm>
            <a:off x="5852965" y="4966849"/>
            <a:ext cx="754606" cy="588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D0536FFC-2CFF-409A-A04A-FC9ABA5B0DFB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5852965" y="4555648"/>
            <a:ext cx="754606" cy="4112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9CDAF3E-FDE9-44B7-9991-3AE10D368C79}"/>
              </a:ext>
            </a:extLst>
          </p:cNvPr>
          <p:cNvCxnSpPr>
            <a:cxnSpLocks/>
          </p:cNvCxnSpPr>
          <p:nvPr/>
        </p:nvCxnSpPr>
        <p:spPr>
          <a:xfrm>
            <a:off x="3667595" y="5467813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B29ADCF1-7B5A-4261-B0D4-4F888F8FABD5}"/>
              </a:ext>
            </a:extLst>
          </p:cNvPr>
          <p:cNvCxnSpPr>
            <a:cxnSpLocks/>
          </p:cNvCxnSpPr>
          <p:nvPr/>
        </p:nvCxnSpPr>
        <p:spPr>
          <a:xfrm flipV="1">
            <a:off x="3667595" y="5866416"/>
            <a:ext cx="335964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01E1D2C-D9F3-4344-B954-FAD6DC14465C}"/>
              </a:ext>
            </a:extLst>
          </p:cNvPr>
          <p:cNvCxnSpPr>
            <a:cxnSpLocks/>
          </p:cNvCxnSpPr>
          <p:nvPr/>
        </p:nvCxnSpPr>
        <p:spPr>
          <a:xfrm flipV="1">
            <a:off x="4016763" y="5467813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50341E3C-2FEC-4ACD-A178-D082CF481109}"/>
              </a:ext>
            </a:extLst>
          </p:cNvPr>
          <p:cNvCxnSpPr>
            <a:cxnSpLocks/>
          </p:cNvCxnSpPr>
          <p:nvPr/>
        </p:nvCxnSpPr>
        <p:spPr>
          <a:xfrm>
            <a:off x="5312167" y="5448675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3F5675E-996F-4442-BEB7-6DC18D886A50}"/>
              </a:ext>
            </a:extLst>
          </p:cNvPr>
          <p:cNvCxnSpPr>
            <a:cxnSpLocks/>
          </p:cNvCxnSpPr>
          <p:nvPr/>
        </p:nvCxnSpPr>
        <p:spPr>
          <a:xfrm flipV="1">
            <a:off x="5312167" y="5847278"/>
            <a:ext cx="335964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FFAE432-55F2-4FA5-B035-85DF4984D74F}"/>
              </a:ext>
            </a:extLst>
          </p:cNvPr>
          <p:cNvCxnSpPr>
            <a:cxnSpLocks/>
          </p:cNvCxnSpPr>
          <p:nvPr/>
        </p:nvCxnSpPr>
        <p:spPr>
          <a:xfrm flipV="1">
            <a:off x="5661335" y="5448675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0DBEDB0-950C-48B7-91F1-BDD0315B3F99}"/>
              </a:ext>
            </a:extLst>
          </p:cNvPr>
          <p:cNvCxnSpPr>
            <a:cxnSpLocks/>
          </p:cNvCxnSpPr>
          <p:nvPr/>
        </p:nvCxnSpPr>
        <p:spPr>
          <a:xfrm>
            <a:off x="4610442" y="6359187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B6E83609-DEC2-424F-8F2F-0EAB11707628}"/>
              </a:ext>
            </a:extLst>
          </p:cNvPr>
          <p:cNvCxnSpPr>
            <a:cxnSpLocks/>
          </p:cNvCxnSpPr>
          <p:nvPr/>
        </p:nvCxnSpPr>
        <p:spPr>
          <a:xfrm flipV="1">
            <a:off x="4610442" y="6757790"/>
            <a:ext cx="335964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44E89046-FE3C-40C1-9C9F-B1311C495256}"/>
              </a:ext>
            </a:extLst>
          </p:cNvPr>
          <p:cNvCxnSpPr>
            <a:cxnSpLocks/>
          </p:cNvCxnSpPr>
          <p:nvPr/>
        </p:nvCxnSpPr>
        <p:spPr>
          <a:xfrm flipH="1" flipV="1">
            <a:off x="4946406" y="6331180"/>
            <a:ext cx="13204" cy="4266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10FFF3D-0CA1-4C4A-975B-CB420338EAF2}"/>
              </a:ext>
            </a:extLst>
          </p:cNvPr>
          <p:cNvCxnSpPr>
            <a:cxnSpLocks/>
          </p:cNvCxnSpPr>
          <p:nvPr/>
        </p:nvCxnSpPr>
        <p:spPr>
          <a:xfrm>
            <a:off x="3811752" y="5868548"/>
            <a:ext cx="993178" cy="47763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D29A64C-6864-4A14-A239-D802FD48CE10}"/>
              </a:ext>
            </a:extLst>
          </p:cNvPr>
          <p:cNvCxnSpPr>
            <a:cxnSpLocks/>
          </p:cNvCxnSpPr>
          <p:nvPr/>
        </p:nvCxnSpPr>
        <p:spPr>
          <a:xfrm flipH="1">
            <a:off x="4750208" y="5836458"/>
            <a:ext cx="685739" cy="47763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ángulo 67">
            <a:extLst>
              <a:ext uri="{FF2B5EF4-FFF2-40B4-BE49-F238E27FC236}">
                <a16:creationId xmlns:a16="http://schemas.microsoft.com/office/drawing/2014/main" id="{1CACF860-AC03-487D-850A-FCF25975D526}"/>
              </a:ext>
            </a:extLst>
          </p:cNvPr>
          <p:cNvSpPr/>
          <p:nvPr/>
        </p:nvSpPr>
        <p:spPr>
          <a:xfrm>
            <a:off x="7247273" y="4759643"/>
            <a:ext cx="4367278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¡No! 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M</a:t>
            </a:r>
            <a:r>
              <a:rPr lang="es-AR" sz="160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acepta w, y</a:t>
            </a:r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no para a partir de w,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entonces M, que debe aceptar w, no lo hace.</a:t>
            </a:r>
            <a:endParaRPr lang="es-MX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040180BE-7153-47CA-8F12-D57F1E0E5633}"/>
              </a:ext>
            </a:extLst>
          </p:cNvPr>
          <p:cNvSpPr/>
          <p:nvPr/>
        </p:nvSpPr>
        <p:spPr>
          <a:xfrm>
            <a:off x="7215119" y="4388368"/>
            <a:ext cx="3124349" cy="416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¿Es correcta esta solución?</a:t>
            </a:r>
            <a:endParaRPr lang="es-MX" sz="16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80AA5B1-6319-46BF-BE7A-F6563A159FA9}"/>
              </a:ext>
            </a:extLst>
          </p:cNvPr>
          <p:cNvSpPr txBox="1"/>
          <p:nvPr/>
        </p:nvSpPr>
        <p:spPr>
          <a:xfrm>
            <a:off x="6198173" y="2318990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1E8FF8-A0A2-BADF-B331-F55CFB51F9F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24945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984656B-E31D-12ED-7C72-3A050E124E1C}"/>
              </a:ext>
            </a:extLst>
          </p:cNvPr>
          <p:cNvSpPr/>
          <p:nvPr/>
        </p:nvSpPr>
        <p:spPr>
          <a:xfrm>
            <a:off x="9795355" y="-13783"/>
            <a:ext cx="914400" cy="255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4ACCEE3-B5E2-380A-7184-373B3ACECB6F}"/>
              </a:ext>
            </a:extLst>
          </p:cNvPr>
          <p:cNvSpPr/>
          <p:nvPr/>
        </p:nvSpPr>
        <p:spPr>
          <a:xfrm>
            <a:off x="10596967" y="159159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1244395-1FEA-B275-590F-E0AB00B99276}"/>
              </a:ext>
            </a:extLst>
          </p:cNvPr>
          <p:cNvSpPr/>
          <p:nvPr/>
        </p:nvSpPr>
        <p:spPr>
          <a:xfrm>
            <a:off x="10604838" y="786271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</a:t>
            </a:r>
            <a:endParaRPr lang="es-MX" b="1" dirty="0">
              <a:solidFill>
                <a:srgbClr val="FF0000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4840331-D1CD-8E43-E4B7-0DF0F9DC24C4}"/>
              </a:ext>
            </a:extLst>
          </p:cNvPr>
          <p:cNvSpPr/>
          <p:nvPr/>
        </p:nvSpPr>
        <p:spPr>
          <a:xfrm>
            <a:off x="10676050" y="124736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es-MX" dirty="0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156DD4CE-AFB9-877D-5115-43109A306134}"/>
              </a:ext>
            </a:extLst>
          </p:cNvPr>
          <p:cNvSpPr/>
          <p:nvPr/>
        </p:nvSpPr>
        <p:spPr>
          <a:xfrm>
            <a:off x="9877494" y="159159"/>
            <a:ext cx="2006948" cy="172858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F5EC3F55-7117-D4F7-D15D-B17D8C1EFE31}"/>
              </a:ext>
            </a:extLst>
          </p:cNvPr>
          <p:cNvSpPr/>
          <p:nvPr/>
        </p:nvSpPr>
        <p:spPr>
          <a:xfrm>
            <a:off x="10094357" y="758559"/>
            <a:ext cx="1514764" cy="1031497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97C6FB0C-FDED-5F35-2006-A5FF8B84C9EC}"/>
              </a:ext>
            </a:extLst>
          </p:cNvPr>
          <p:cNvSpPr/>
          <p:nvPr/>
        </p:nvSpPr>
        <p:spPr>
          <a:xfrm>
            <a:off x="10326444" y="1145200"/>
            <a:ext cx="1094015" cy="573664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AC378F6-24A5-5DF9-D85B-5CCBAC193DC7}"/>
              </a:ext>
            </a:extLst>
          </p:cNvPr>
          <p:cNvSpPr txBox="1"/>
          <p:nvPr/>
        </p:nvSpPr>
        <p:spPr>
          <a:xfrm>
            <a:off x="1708439" y="3238878"/>
            <a:ext cx="101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¿Construir una MT M que ejecute secuencialmente las MT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acepte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sii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aceptan?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F19482F-7609-D864-307C-AF9FDE7FAE4C}"/>
              </a:ext>
            </a:extLst>
          </p:cNvPr>
          <p:cNvSpPr/>
          <p:nvPr/>
        </p:nvSpPr>
        <p:spPr>
          <a:xfrm>
            <a:off x="7066329" y="2610625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87FE634C-967A-035E-0188-E401705C1CCB}"/>
              </a:ext>
            </a:extLst>
          </p:cNvPr>
          <p:cNvCxnSpPr>
            <a:cxnSpLocks/>
          </p:cNvCxnSpPr>
          <p:nvPr/>
        </p:nvCxnSpPr>
        <p:spPr>
          <a:xfrm rot="-120000" flipV="1">
            <a:off x="7246257" y="2034146"/>
            <a:ext cx="0" cy="620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C091C146-59B2-6D18-00FE-EF3721BFB77B}"/>
              </a:ext>
            </a:extLst>
          </p:cNvPr>
          <p:cNvCxnSpPr>
            <a:cxnSpLocks/>
          </p:cNvCxnSpPr>
          <p:nvPr/>
        </p:nvCxnSpPr>
        <p:spPr>
          <a:xfrm rot="-60000" flipV="1">
            <a:off x="5971860" y="2042029"/>
            <a:ext cx="0" cy="620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46717DD-D806-0B64-50CF-F9582960FCD8}"/>
              </a:ext>
            </a:extLst>
          </p:cNvPr>
          <p:cNvSpPr/>
          <p:nvPr/>
        </p:nvSpPr>
        <p:spPr>
          <a:xfrm>
            <a:off x="5799917" y="261123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B0BDD2D-1545-97DC-4C58-1845AB40B777}"/>
              </a:ext>
            </a:extLst>
          </p:cNvPr>
          <p:cNvSpPr/>
          <p:nvPr/>
        </p:nvSpPr>
        <p:spPr>
          <a:xfrm>
            <a:off x="6428704" y="2908992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dirty="0"/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4407CAA4-FF22-FA22-4A9F-D0B95283B88F}"/>
              </a:ext>
            </a:extLst>
          </p:cNvPr>
          <p:cNvCxnSpPr>
            <a:cxnSpLocks/>
          </p:cNvCxnSpPr>
          <p:nvPr/>
        </p:nvCxnSpPr>
        <p:spPr>
          <a:xfrm rot="180000" flipH="1" flipV="1">
            <a:off x="6591225" y="2652357"/>
            <a:ext cx="25992" cy="323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6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 animBg="1"/>
      <p:bldP spid="28" grpId="0" animBg="1"/>
      <p:bldP spid="29" grpId="0"/>
      <p:bldP spid="30" grpId="0"/>
      <p:bldP spid="32" grpId="0" animBg="1"/>
      <p:bldP spid="68" grpId="0"/>
      <p:bldP spid="69" grpId="0"/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7344948-A20F-452D-831A-BCC9051FDA69}"/>
              </a:ext>
            </a:extLst>
          </p:cNvPr>
          <p:cNvSpPr/>
          <p:nvPr/>
        </p:nvSpPr>
        <p:spPr>
          <a:xfrm>
            <a:off x="264979" y="104199"/>
            <a:ext cx="11101182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forma correcta es ejecutar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“en paralelo”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y aceptar w sii una de las dos MT acepta w.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23BC88E-BB91-422D-8822-D8900FC11A5F}"/>
              </a:ext>
            </a:extLst>
          </p:cNvPr>
          <p:cNvSpPr/>
          <p:nvPr/>
        </p:nvSpPr>
        <p:spPr>
          <a:xfrm>
            <a:off x="1260621" y="1617593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8A1F1F5-142B-455E-8181-F2A514CC7C92}"/>
              </a:ext>
            </a:extLst>
          </p:cNvPr>
          <p:cNvSpPr/>
          <p:nvPr/>
        </p:nvSpPr>
        <p:spPr>
          <a:xfrm>
            <a:off x="1300821" y="2682038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E236A78-159A-4343-B3D5-35F5B22E0FEC}"/>
              </a:ext>
            </a:extLst>
          </p:cNvPr>
          <p:cNvSpPr/>
          <p:nvPr/>
        </p:nvSpPr>
        <p:spPr>
          <a:xfrm>
            <a:off x="1055863" y="1374275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Diagrama de flujo: proceso 21">
            <a:extLst>
              <a:ext uri="{FF2B5EF4-FFF2-40B4-BE49-F238E27FC236}">
                <a16:creationId xmlns:a16="http://schemas.microsoft.com/office/drawing/2014/main" id="{1A6A1DE1-DEB1-4239-AF36-155531F5F71D}"/>
              </a:ext>
            </a:extLst>
          </p:cNvPr>
          <p:cNvSpPr/>
          <p:nvPr/>
        </p:nvSpPr>
        <p:spPr>
          <a:xfrm>
            <a:off x="344392" y="1271514"/>
            <a:ext cx="2193648" cy="217993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A74B7AB-7CF6-4D67-B7F8-B1DC382B8A32}"/>
              </a:ext>
            </a:extLst>
          </p:cNvPr>
          <p:cNvCxnSpPr>
            <a:cxnSpLocks/>
          </p:cNvCxnSpPr>
          <p:nvPr/>
        </p:nvCxnSpPr>
        <p:spPr>
          <a:xfrm flipV="1">
            <a:off x="564040" y="1812940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88B9966-3C82-4569-B351-5F5C7AA7A03F}"/>
              </a:ext>
            </a:extLst>
          </p:cNvPr>
          <p:cNvSpPr/>
          <p:nvPr/>
        </p:nvSpPr>
        <p:spPr>
          <a:xfrm>
            <a:off x="1063964" y="242477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8394205F-3DAB-4107-9102-41A557B1B137}"/>
              </a:ext>
            </a:extLst>
          </p:cNvPr>
          <p:cNvCxnSpPr>
            <a:cxnSpLocks/>
          </p:cNvCxnSpPr>
          <p:nvPr/>
        </p:nvCxnSpPr>
        <p:spPr>
          <a:xfrm>
            <a:off x="534680" y="1814106"/>
            <a:ext cx="0" cy="1004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ángulo 84">
            <a:extLst>
              <a:ext uri="{FF2B5EF4-FFF2-40B4-BE49-F238E27FC236}">
                <a16:creationId xmlns:a16="http://schemas.microsoft.com/office/drawing/2014/main" id="{62AC6D09-34D6-466C-A68F-C4DD2104800D}"/>
              </a:ext>
            </a:extLst>
          </p:cNvPr>
          <p:cNvSpPr/>
          <p:nvPr/>
        </p:nvSpPr>
        <p:spPr>
          <a:xfrm>
            <a:off x="1225461" y="934352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F82160C2-3C2B-46CC-B980-6DFDA71509BE}"/>
              </a:ext>
            </a:extLst>
          </p:cNvPr>
          <p:cNvSpPr/>
          <p:nvPr/>
        </p:nvSpPr>
        <p:spPr>
          <a:xfrm>
            <a:off x="2042705" y="1518791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C8CEF75-1772-48EF-9D29-848E7D385801}"/>
              </a:ext>
            </a:extLst>
          </p:cNvPr>
          <p:cNvSpPr/>
          <p:nvPr/>
        </p:nvSpPr>
        <p:spPr>
          <a:xfrm>
            <a:off x="2739218" y="5623468"/>
            <a:ext cx="3962701" cy="95410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1.Si alguna de las dos MT acepta, M acepta. </a:t>
            </a:r>
          </a:p>
          <a:p>
            <a:pPr algn="just">
              <a:spcAft>
                <a:spcPts val="0"/>
              </a:spcAft>
            </a:pPr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2.Si las dos MT rechazan, M rechaza.</a:t>
            </a:r>
          </a:p>
          <a:p>
            <a:pPr algn="just"/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3.Si una MT rechaza y la otra </a:t>
            </a:r>
            <a:r>
              <a:rPr lang="es-AR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loopea</a:t>
            </a:r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M </a:t>
            </a:r>
            <a:r>
              <a:rPr lang="es-AR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loopea</a:t>
            </a:r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>
              <a:spcAft>
                <a:spcPts val="0"/>
              </a:spcAft>
            </a:pPr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4.Si las dos MT </a:t>
            </a:r>
            <a:r>
              <a:rPr lang="es-AR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loopean</a:t>
            </a:r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M </a:t>
            </a:r>
            <a:r>
              <a:rPr lang="es-AR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loopea</a:t>
            </a:r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A9FF46D6-3D5D-4C62-8D5C-B71A093929E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A138B3CE-D0AC-4364-B1F7-4187E1A68BA0}"/>
              </a:ext>
            </a:extLst>
          </p:cNvPr>
          <p:cNvSpPr txBox="1"/>
          <p:nvPr/>
        </p:nvSpPr>
        <p:spPr>
          <a:xfrm>
            <a:off x="1018103" y="6357687"/>
            <a:ext cx="1124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Caso 1.2</a:t>
            </a:r>
            <a:endParaRPr lang="es-MX" sz="1600" b="1" i="1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F58C9A7-F2BA-4C0C-84F6-3ACD7B2CC3D4}"/>
              </a:ext>
            </a:extLst>
          </p:cNvPr>
          <p:cNvSpPr txBox="1"/>
          <p:nvPr/>
        </p:nvSpPr>
        <p:spPr>
          <a:xfrm>
            <a:off x="545857" y="561076"/>
            <a:ext cx="11572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“En paralelo”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M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  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  ejecutar un paso de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paso de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alternadamente.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853BCBF-8136-4F2C-8C4A-750B1FCB2EA6}"/>
              </a:ext>
            </a:extLst>
          </p:cNvPr>
          <p:cNvCxnSpPr>
            <a:cxnSpLocks/>
          </p:cNvCxnSpPr>
          <p:nvPr/>
        </p:nvCxnSpPr>
        <p:spPr>
          <a:xfrm flipV="1">
            <a:off x="545857" y="2818106"/>
            <a:ext cx="539407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6ED85586-733B-48D6-B096-D9802C5DE11E}"/>
              </a:ext>
            </a:extLst>
          </p:cNvPr>
          <p:cNvSpPr/>
          <p:nvPr/>
        </p:nvSpPr>
        <p:spPr>
          <a:xfrm>
            <a:off x="4565114" y="1852925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8064D1DB-6E0C-4631-8966-D6ED7AE2FC86}"/>
              </a:ext>
            </a:extLst>
          </p:cNvPr>
          <p:cNvSpPr/>
          <p:nvPr/>
        </p:nvSpPr>
        <p:spPr>
          <a:xfrm>
            <a:off x="4585376" y="366638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199BCF4C-87F0-430C-B9E1-74E5C369B9A1}"/>
              </a:ext>
            </a:extLst>
          </p:cNvPr>
          <p:cNvSpPr/>
          <p:nvPr/>
        </p:nvSpPr>
        <p:spPr>
          <a:xfrm>
            <a:off x="3380017" y="271011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3C9113BB-7559-4896-B782-36D12B9A333D}"/>
              </a:ext>
            </a:extLst>
          </p:cNvPr>
          <p:cNvSpPr/>
          <p:nvPr/>
        </p:nvSpPr>
        <p:spPr>
          <a:xfrm>
            <a:off x="4360356" y="1609607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Diagrama de flujo: proceso 65">
            <a:extLst>
              <a:ext uri="{FF2B5EF4-FFF2-40B4-BE49-F238E27FC236}">
                <a16:creationId xmlns:a16="http://schemas.microsoft.com/office/drawing/2014/main" id="{35C72C5C-E147-42E4-9B30-5B5A3BAF126C}"/>
              </a:ext>
            </a:extLst>
          </p:cNvPr>
          <p:cNvSpPr/>
          <p:nvPr/>
        </p:nvSpPr>
        <p:spPr>
          <a:xfrm>
            <a:off x="3648885" y="1234051"/>
            <a:ext cx="2193648" cy="357775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A536768-48FB-495B-B3B5-5FA91A0DAB7C}"/>
              </a:ext>
            </a:extLst>
          </p:cNvPr>
          <p:cNvCxnSpPr>
            <a:cxnSpLocks/>
          </p:cNvCxnSpPr>
          <p:nvPr/>
        </p:nvCxnSpPr>
        <p:spPr>
          <a:xfrm flipV="1">
            <a:off x="3868533" y="2048272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ángulo 67">
            <a:extLst>
              <a:ext uri="{FF2B5EF4-FFF2-40B4-BE49-F238E27FC236}">
                <a16:creationId xmlns:a16="http://schemas.microsoft.com/office/drawing/2014/main" id="{85F0483A-A3C3-4262-852F-2C8D7C274B83}"/>
              </a:ext>
            </a:extLst>
          </p:cNvPr>
          <p:cNvSpPr/>
          <p:nvPr/>
        </p:nvSpPr>
        <p:spPr>
          <a:xfrm>
            <a:off x="4331010" y="336434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5393488A-3458-4D4A-A27D-DFFD2C4BD74D}"/>
              </a:ext>
            </a:extLst>
          </p:cNvPr>
          <p:cNvCxnSpPr>
            <a:cxnSpLocks/>
          </p:cNvCxnSpPr>
          <p:nvPr/>
        </p:nvCxnSpPr>
        <p:spPr>
          <a:xfrm>
            <a:off x="3839173" y="2049438"/>
            <a:ext cx="0" cy="190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17873BCC-FAF3-4E7A-8C83-BBF4C9B275DF}"/>
              </a:ext>
            </a:extLst>
          </p:cNvPr>
          <p:cNvSpPr/>
          <p:nvPr/>
        </p:nvSpPr>
        <p:spPr>
          <a:xfrm>
            <a:off x="4575534" y="91737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C9AA6C62-FD9C-47A5-8F3E-1D4A2777B3EF}"/>
              </a:ext>
            </a:extLst>
          </p:cNvPr>
          <p:cNvSpPr txBox="1"/>
          <p:nvPr/>
        </p:nvSpPr>
        <p:spPr>
          <a:xfrm>
            <a:off x="4401917" y="4790337"/>
            <a:ext cx="911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Caso 2</a:t>
            </a:r>
            <a:endParaRPr lang="es-MX" sz="1600" b="1" i="1" dirty="0"/>
          </a:p>
        </p:txBody>
      </p: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59915197-0ECB-4764-99DF-9951F77BE254}"/>
              </a:ext>
            </a:extLst>
          </p:cNvPr>
          <p:cNvCxnSpPr>
            <a:cxnSpLocks/>
          </p:cNvCxnSpPr>
          <p:nvPr/>
        </p:nvCxnSpPr>
        <p:spPr>
          <a:xfrm flipV="1">
            <a:off x="3824321" y="3944654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805BB0E1-EF94-4914-AC8B-3BEABEB5BC12}"/>
              </a:ext>
            </a:extLst>
          </p:cNvPr>
          <p:cNvSpPr/>
          <p:nvPr/>
        </p:nvSpPr>
        <p:spPr>
          <a:xfrm>
            <a:off x="10712570" y="1839960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F9E2EEA3-DCF6-4EF0-ADE6-F68C97DA757A}"/>
              </a:ext>
            </a:extLst>
          </p:cNvPr>
          <p:cNvSpPr/>
          <p:nvPr/>
        </p:nvSpPr>
        <p:spPr>
          <a:xfrm>
            <a:off x="10732832" y="3653416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2034744C-79DC-4404-8181-007C67751C0D}"/>
              </a:ext>
            </a:extLst>
          </p:cNvPr>
          <p:cNvSpPr/>
          <p:nvPr/>
        </p:nvSpPr>
        <p:spPr>
          <a:xfrm>
            <a:off x="10507812" y="1596642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1" name="Diagrama de flujo: proceso 130">
            <a:extLst>
              <a:ext uri="{FF2B5EF4-FFF2-40B4-BE49-F238E27FC236}">
                <a16:creationId xmlns:a16="http://schemas.microsoft.com/office/drawing/2014/main" id="{9D206456-16E2-4E53-B7AD-46FCDBC6D549}"/>
              </a:ext>
            </a:extLst>
          </p:cNvPr>
          <p:cNvSpPr/>
          <p:nvPr/>
        </p:nvSpPr>
        <p:spPr>
          <a:xfrm>
            <a:off x="9796341" y="1221086"/>
            <a:ext cx="2193648" cy="357775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2" name="Conector recto de flecha 131">
            <a:extLst>
              <a:ext uri="{FF2B5EF4-FFF2-40B4-BE49-F238E27FC236}">
                <a16:creationId xmlns:a16="http://schemas.microsoft.com/office/drawing/2014/main" id="{5585CA71-8E8E-4180-9182-79DDF57240B3}"/>
              </a:ext>
            </a:extLst>
          </p:cNvPr>
          <p:cNvCxnSpPr>
            <a:cxnSpLocks/>
          </p:cNvCxnSpPr>
          <p:nvPr/>
        </p:nvCxnSpPr>
        <p:spPr>
          <a:xfrm flipV="1">
            <a:off x="10015989" y="2035307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4DA6AE49-CBF3-40D7-B1D2-694267F60274}"/>
              </a:ext>
            </a:extLst>
          </p:cNvPr>
          <p:cNvSpPr/>
          <p:nvPr/>
        </p:nvSpPr>
        <p:spPr>
          <a:xfrm>
            <a:off x="10478466" y="3351376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1A4D64CF-6614-4670-9175-CFCB296194CE}"/>
              </a:ext>
            </a:extLst>
          </p:cNvPr>
          <p:cNvCxnSpPr>
            <a:cxnSpLocks/>
          </p:cNvCxnSpPr>
          <p:nvPr/>
        </p:nvCxnSpPr>
        <p:spPr>
          <a:xfrm>
            <a:off x="10742495" y="4265776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EE6B6B48-4FBD-498B-9DCA-B6BDD8B3B30D}"/>
              </a:ext>
            </a:extLst>
          </p:cNvPr>
          <p:cNvCxnSpPr>
            <a:cxnSpLocks/>
          </p:cNvCxnSpPr>
          <p:nvPr/>
        </p:nvCxnSpPr>
        <p:spPr>
          <a:xfrm flipV="1">
            <a:off x="10761082" y="4664380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E50E2157-0FDA-4856-9811-4C13C8F23016}"/>
              </a:ext>
            </a:extLst>
          </p:cNvPr>
          <p:cNvCxnSpPr>
            <a:cxnSpLocks/>
          </p:cNvCxnSpPr>
          <p:nvPr/>
        </p:nvCxnSpPr>
        <p:spPr>
          <a:xfrm flipV="1">
            <a:off x="11141401" y="4265776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18E5C9E1-075D-4D6C-88FB-97D947E0BFB8}"/>
              </a:ext>
            </a:extLst>
          </p:cNvPr>
          <p:cNvCxnSpPr>
            <a:cxnSpLocks/>
          </p:cNvCxnSpPr>
          <p:nvPr/>
        </p:nvCxnSpPr>
        <p:spPr>
          <a:xfrm>
            <a:off x="9986629" y="2036473"/>
            <a:ext cx="0" cy="190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0CB91609-D81B-418C-BFE2-563FC51D9CC5}"/>
              </a:ext>
            </a:extLst>
          </p:cNvPr>
          <p:cNvSpPr/>
          <p:nvPr/>
        </p:nvSpPr>
        <p:spPr>
          <a:xfrm>
            <a:off x="10722990" y="90441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B9501CF3-CA08-45E1-BDD4-DF22EB8D3B71}"/>
              </a:ext>
            </a:extLst>
          </p:cNvPr>
          <p:cNvSpPr txBox="1"/>
          <p:nvPr/>
        </p:nvSpPr>
        <p:spPr>
          <a:xfrm>
            <a:off x="10471418" y="4750156"/>
            <a:ext cx="950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Caso 4</a:t>
            </a:r>
            <a:endParaRPr lang="es-MX" sz="1600" b="1" i="1" dirty="0"/>
          </a:p>
        </p:txBody>
      </p:sp>
      <p:cxnSp>
        <p:nvCxnSpPr>
          <p:cNvPr id="146" name="Conector recto de flecha 145">
            <a:extLst>
              <a:ext uri="{FF2B5EF4-FFF2-40B4-BE49-F238E27FC236}">
                <a16:creationId xmlns:a16="http://schemas.microsoft.com/office/drawing/2014/main" id="{906BA914-2A15-440D-8B84-32819EAE47FD}"/>
              </a:ext>
            </a:extLst>
          </p:cNvPr>
          <p:cNvCxnSpPr>
            <a:cxnSpLocks/>
          </p:cNvCxnSpPr>
          <p:nvPr/>
        </p:nvCxnSpPr>
        <p:spPr>
          <a:xfrm flipV="1">
            <a:off x="9971777" y="3931689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A12C4DB8-8AAB-4703-A986-CD08EF88C49B}"/>
              </a:ext>
            </a:extLst>
          </p:cNvPr>
          <p:cNvCxnSpPr>
            <a:cxnSpLocks/>
          </p:cNvCxnSpPr>
          <p:nvPr/>
        </p:nvCxnSpPr>
        <p:spPr>
          <a:xfrm>
            <a:off x="11374279" y="4799273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86F66DB6-5159-457C-AFAA-993007897CEB}"/>
              </a:ext>
            </a:extLst>
          </p:cNvPr>
          <p:cNvCxnSpPr>
            <a:cxnSpLocks/>
          </p:cNvCxnSpPr>
          <p:nvPr/>
        </p:nvCxnSpPr>
        <p:spPr>
          <a:xfrm flipV="1">
            <a:off x="11392866" y="5197877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1E5A7061-89EB-46C5-998D-BE4526258CA0}"/>
              </a:ext>
            </a:extLst>
          </p:cNvPr>
          <p:cNvCxnSpPr>
            <a:cxnSpLocks/>
          </p:cNvCxnSpPr>
          <p:nvPr/>
        </p:nvCxnSpPr>
        <p:spPr>
          <a:xfrm flipV="1">
            <a:off x="11773185" y="4799273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1BA092EB-6A2A-4F53-9FC7-F9953550AF7A}"/>
              </a:ext>
            </a:extLst>
          </p:cNvPr>
          <p:cNvCxnSpPr>
            <a:cxnSpLocks/>
          </p:cNvCxnSpPr>
          <p:nvPr/>
        </p:nvCxnSpPr>
        <p:spPr>
          <a:xfrm>
            <a:off x="2537764" y="2374207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ángulo 85">
            <a:extLst>
              <a:ext uri="{FF2B5EF4-FFF2-40B4-BE49-F238E27FC236}">
                <a16:creationId xmlns:a16="http://schemas.microsoft.com/office/drawing/2014/main" id="{E6224A98-FBD2-41E1-93C2-54C3ABFFDC29}"/>
              </a:ext>
            </a:extLst>
          </p:cNvPr>
          <p:cNvSpPr/>
          <p:nvPr/>
        </p:nvSpPr>
        <p:spPr>
          <a:xfrm>
            <a:off x="2513293" y="2070440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79EE4945-11B8-4A54-A3BA-656A999A84BC}"/>
              </a:ext>
            </a:extLst>
          </p:cNvPr>
          <p:cNvCxnSpPr>
            <a:cxnSpLocks/>
          </p:cNvCxnSpPr>
          <p:nvPr/>
        </p:nvCxnSpPr>
        <p:spPr>
          <a:xfrm>
            <a:off x="5820197" y="3013382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ángulo 88">
            <a:extLst>
              <a:ext uri="{FF2B5EF4-FFF2-40B4-BE49-F238E27FC236}">
                <a16:creationId xmlns:a16="http://schemas.microsoft.com/office/drawing/2014/main" id="{8909357D-5E26-4367-83BE-A52913A3FD42}"/>
              </a:ext>
            </a:extLst>
          </p:cNvPr>
          <p:cNvSpPr/>
          <p:nvPr/>
        </p:nvSpPr>
        <p:spPr>
          <a:xfrm>
            <a:off x="5769324" y="271011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9D0480C4-ABF7-0BEE-C093-B56B31A44569}"/>
              </a:ext>
            </a:extLst>
          </p:cNvPr>
          <p:cNvCxnSpPr>
            <a:cxnSpLocks/>
          </p:cNvCxnSpPr>
          <p:nvPr/>
        </p:nvCxnSpPr>
        <p:spPr>
          <a:xfrm>
            <a:off x="3483723" y="3008821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F2A624D2-E5D9-996E-8918-BADD8E2D688F}"/>
              </a:ext>
            </a:extLst>
          </p:cNvPr>
          <p:cNvSpPr/>
          <p:nvPr/>
        </p:nvSpPr>
        <p:spPr>
          <a:xfrm>
            <a:off x="61454" y="207044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A02FC3E-F82F-BBED-856A-D4C00E9372B4}"/>
              </a:ext>
            </a:extLst>
          </p:cNvPr>
          <p:cNvCxnSpPr>
            <a:cxnSpLocks/>
          </p:cNvCxnSpPr>
          <p:nvPr/>
        </p:nvCxnSpPr>
        <p:spPr>
          <a:xfrm>
            <a:off x="165160" y="2369151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0FDB5E31-713B-8F16-307C-9F151167E669}"/>
              </a:ext>
            </a:extLst>
          </p:cNvPr>
          <p:cNvSpPr/>
          <p:nvPr/>
        </p:nvSpPr>
        <p:spPr>
          <a:xfrm>
            <a:off x="9518050" y="268890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D4B8E2D-9C8C-7D0D-D137-A7EF8EF8BA53}"/>
              </a:ext>
            </a:extLst>
          </p:cNvPr>
          <p:cNvCxnSpPr>
            <a:cxnSpLocks/>
          </p:cNvCxnSpPr>
          <p:nvPr/>
        </p:nvCxnSpPr>
        <p:spPr>
          <a:xfrm>
            <a:off x="9621756" y="2987617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3B42B01F-021A-778B-CA4D-C6BBBDF2F06A}"/>
              </a:ext>
            </a:extLst>
          </p:cNvPr>
          <p:cNvCxnSpPr>
            <a:cxnSpLocks/>
          </p:cNvCxnSpPr>
          <p:nvPr/>
        </p:nvCxnSpPr>
        <p:spPr>
          <a:xfrm flipV="1">
            <a:off x="1993289" y="1818495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079317B-643D-858A-F205-006435C7FE75}"/>
              </a:ext>
            </a:extLst>
          </p:cNvPr>
          <p:cNvSpPr/>
          <p:nvPr/>
        </p:nvSpPr>
        <p:spPr>
          <a:xfrm>
            <a:off x="5340311" y="175220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4385CF0-A3EB-87FD-E745-AEE4F6771DE2}"/>
              </a:ext>
            </a:extLst>
          </p:cNvPr>
          <p:cNvCxnSpPr>
            <a:cxnSpLocks/>
          </p:cNvCxnSpPr>
          <p:nvPr/>
        </p:nvCxnSpPr>
        <p:spPr>
          <a:xfrm flipV="1">
            <a:off x="5290895" y="2051912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55419FA-17A2-00BE-CFF8-392260E5EAC6}"/>
              </a:ext>
            </a:extLst>
          </p:cNvPr>
          <p:cNvSpPr/>
          <p:nvPr/>
        </p:nvSpPr>
        <p:spPr>
          <a:xfrm>
            <a:off x="5313794" y="366629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707C8AE-650F-8F44-F902-914B2219C6A5}"/>
              </a:ext>
            </a:extLst>
          </p:cNvPr>
          <p:cNvCxnSpPr>
            <a:cxnSpLocks/>
          </p:cNvCxnSpPr>
          <p:nvPr/>
        </p:nvCxnSpPr>
        <p:spPr>
          <a:xfrm flipV="1">
            <a:off x="5264378" y="3965998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FF9CB82-C905-2857-BB1E-3111A4F4A586}"/>
              </a:ext>
            </a:extLst>
          </p:cNvPr>
          <p:cNvCxnSpPr>
            <a:cxnSpLocks/>
          </p:cNvCxnSpPr>
          <p:nvPr/>
        </p:nvCxnSpPr>
        <p:spPr>
          <a:xfrm>
            <a:off x="10745831" y="2516559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052F701-8B84-B8CB-4FF2-604479C95B1A}"/>
              </a:ext>
            </a:extLst>
          </p:cNvPr>
          <p:cNvCxnSpPr>
            <a:cxnSpLocks/>
          </p:cNvCxnSpPr>
          <p:nvPr/>
        </p:nvCxnSpPr>
        <p:spPr>
          <a:xfrm flipV="1">
            <a:off x="10764418" y="2915163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4D06BA1-5C18-E92D-EB7E-BD81C7EAB588}"/>
              </a:ext>
            </a:extLst>
          </p:cNvPr>
          <p:cNvCxnSpPr>
            <a:cxnSpLocks/>
          </p:cNvCxnSpPr>
          <p:nvPr/>
        </p:nvCxnSpPr>
        <p:spPr>
          <a:xfrm flipV="1">
            <a:off x="11144737" y="2516559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612D9E9F-905D-5A76-B23A-CC67AB5F5682}"/>
              </a:ext>
            </a:extLst>
          </p:cNvPr>
          <p:cNvSpPr/>
          <p:nvPr/>
        </p:nvSpPr>
        <p:spPr>
          <a:xfrm>
            <a:off x="1339499" y="4542744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F89B992-FC13-7347-3B7B-D11388BC25D6}"/>
              </a:ext>
            </a:extLst>
          </p:cNvPr>
          <p:cNvSpPr/>
          <p:nvPr/>
        </p:nvSpPr>
        <p:spPr>
          <a:xfrm>
            <a:off x="1379699" y="5607189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338A4F4-05DE-D070-092E-B0A5B1A662EF}"/>
              </a:ext>
            </a:extLst>
          </p:cNvPr>
          <p:cNvSpPr/>
          <p:nvPr/>
        </p:nvSpPr>
        <p:spPr>
          <a:xfrm>
            <a:off x="1134741" y="4299426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Diagrama de flujo: proceso 51">
            <a:extLst>
              <a:ext uri="{FF2B5EF4-FFF2-40B4-BE49-F238E27FC236}">
                <a16:creationId xmlns:a16="http://schemas.microsoft.com/office/drawing/2014/main" id="{8A399114-4D23-8FE0-A86E-7FBA45DD2484}"/>
              </a:ext>
            </a:extLst>
          </p:cNvPr>
          <p:cNvSpPr/>
          <p:nvPr/>
        </p:nvSpPr>
        <p:spPr>
          <a:xfrm>
            <a:off x="423270" y="4196665"/>
            <a:ext cx="2193648" cy="217993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71D38251-795B-6FC5-8CFA-360106D9C7FD}"/>
              </a:ext>
            </a:extLst>
          </p:cNvPr>
          <p:cNvCxnSpPr>
            <a:cxnSpLocks/>
          </p:cNvCxnSpPr>
          <p:nvPr/>
        </p:nvCxnSpPr>
        <p:spPr>
          <a:xfrm flipV="1">
            <a:off x="642918" y="4738091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124E868-7D4A-A6E3-95A2-EF8E70CB9C01}"/>
              </a:ext>
            </a:extLst>
          </p:cNvPr>
          <p:cNvSpPr/>
          <p:nvPr/>
        </p:nvSpPr>
        <p:spPr>
          <a:xfrm>
            <a:off x="1142842" y="534992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C1AAEDEA-ECD0-26C8-1487-DEC5FA0DB6B5}"/>
              </a:ext>
            </a:extLst>
          </p:cNvPr>
          <p:cNvCxnSpPr>
            <a:cxnSpLocks/>
          </p:cNvCxnSpPr>
          <p:nvPr/>
        </p:nvCxnSpPr>
        <p:spPr>
          <a:xfrm>
            <a:off x="613558" y="4739257"/>
            <a:ext cx="0" cy="1004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A010D44-585E-07ED-8FD2-045C44327D7B}"/>
              </a:ext>
            </a:extLst>
          </p:cNvPr>
          <p:cNvSpPr/>
          <p:nvPr/>
        </p:nvSpPr>
        <p:spPr>
          <a:xfrm>
            <a:off x="1304339" y="385950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173DC6E7-A3AB-043E-9BD3-886DFB241A7F}"/>
              </a:ext>
            </a:extLst>
          </p:cNvPr>
          <p:cNvCxnSpPr>
            <a:cxnSpLocks/>
          </p:cNvCxnSpPr>
          <p:nvPr/>
        </p:nvCxnSpPr>
        <p:spPr>
          <a:xfrm flipV="1">
            <a:off x="624735" y="5743257"/>
            <a:ext cx="539407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D61F0555-B060-2AFD-691E-90077B930F46}"/>
              </a:ext>
            </a:extLst>
          </p:cNvPr>
          <p:cNvCxnSpPr>
            <a:cxnSpLocks/>
          </p:cNvCxnSpPr>
          <p:nvPr/>
        </p:nvCxnSpPr>
        <p:spPr>
          <a:xfrm>
            <a:off x="2616642" y="5299358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ángulo 70">
            <a:extLst>
              <a:ext uri="{FF2B5EF4-FFF2-40B4-BE49-F238E27FC236}">
                <a16:creationId xmlns:a16="http://schemas.microsoft.com/office/drawing/2014/main" id="{8DE056C1-07D6-DEA7-1077-DA1C9A515AAE}"/>
              </a:ext>
            </a:extLst>
          </p:cNvPr>
          <p:cNvSpPr/>
          <p:nvPr/>
        </p:nvSpPr>
        <p:spPr>
          <a:xfrm>
            <a:off x="2592171" y="4995591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C1005F54-C3B8-D3A0-57F1-B91FB4DBD476}"/>
              </a:ext>
            </a:extLst>
          </p:cNvPr>
          <p:cNvSpPr/>
          <p:nvPr/>
        </p:nvSpPr>
        <p:spPr>
          <a:xfrm>
            <a:off x="140332" y="4995591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DEBAB9E0-0361-8D0D-8045-F144CAEB7B59}"/>
              </a:ext>
            </a:extLst>
          </p:cNvPr>
          <p:cNvCxnSpPr>
            <a:cxnSpLocks/>
          </p:cNvCxnSpPr>
          <p:nvPr/>
        </p:nvCxnSpPr>
        <p:spPr>
          <a:xfrm>
            <a:off x="244038" y="5294302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0FAA424D-17CD-A52E-B9CC-9F78F40C1F00}"/>
              </a:ext>
            </a:extLst>
          </p:cNvPr>
          <p:cNvSpPr/>
          <p:nvPr/>
        </p:nvSpPr>
        <p:spPr>
          <a:xfrm>
            <a:off x="2116741" y="5466006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894D61EC-E372-2175-CE6E-86A271199B6B}"/>
              </a:ext>
            </a:extLst>
          </p:cNvPr>
          <p:cNvCxnSpPr>
            <a:cxnSpLocks/>
          </p:cNvCxnSpPr>
          <p:nvPr/>
        </p:nvCxnSpPr>
        <p:spPr>
          <a:xfrm flipV="1">
            <a:off x="2067325" y="5765710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ángulo 77">
            <a:extLst>
              <a:ext uri="{FF2B5EF4-FFF2-40B4-BE49-F238E27FC236}">
                <a16:creationId xmlns:a16="http://schemas.microsoft.com/office/drawing/2014/main" id="{ED846694-F1E9-800A-0FE5-DC8D62176D41}"/>
              </a:ext>
            </a:extLst>
          </p:cNvPr>
          <p:cNvSpPr/>
          <p:nvPr/>
        </p:nvSpPr>
        <p:spPr>
          <a:xfrm>
            <a:off x="7749816" y="1560178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939515B0-0230-9D25-7587-1D351A61A8A3}"/>
              </a:ext>
            </a:extLst>
          </p:cNvPr>
          <p:cNvSpPr/>
          <p:nvPr/>
        </p:nvSpPr>
        <p:spPr>
          <a:xfrm>
            <a:off x="7790016" y="2624623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DD44E822-C024-5735-334C-4653F589DBBB}"/>
              </a:ext>
            </a:extLst>
          </p:cNvPr>
          <p:cNvSpPr/>
          <p:nvPr/>
        </p:nvSpPr>
        <p:spPr>
          <a:xfrm>
            <a:off x="7545058" y="1316860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Diagrama de flujo: proceso 91">
            <a:extLst>
              <a:ext uri="{FF2B5EF4-FFF2-40B4-BE49-F238E27FC236}">
                <a16:creationId xmlns:a16="http://schemas.microsoft.com/office/drawing/2014/main" id="{5AA566E0-94B4-DF89-4CFA-DD83AB2FCE20}"/>
              </a:ext>
            </a:extLst>
          </p:cNvPr>
          <p:cNvSpPr/>
          <p:nvPr/>
        </p:nvSpPr>
        <p:spPr>
          <a:xfrm>
            <a:off x="6833587" y="1214099"/>
            <a:ext cx="2193648" cy="217993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79A81D84-3EFB-5951-A8E5-4F10477B79CE}"/>
              </a:ext>
            </a:extLst>
          </p:cNvPr>
          <p:cNvCxnSpPr>
            <a:cxnSpLocks/>
          </p:cNvCxnSpPr>
          <p:nvPr/>
        </p:nvCxnSpPr>
        <p:spPr>
          <a:xfrm flipV="1">
            <a:off x="7053235" y="1755525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ángulo 97">
            <a:extLst>
              <a:ext uri="{FF2B5EF4-FFF2-40B4-BE49-F238E27FC236}">
                <a16:creationId xmlns:a16="http://schemas.microsoft.com/office/drawing/2014/main" id="{515AB877-3038-2C39-7FDF-FD4651423ABD}"/>
              </a:ext>
            </a:extLst>
          </p:cNvPr>
          <p:cNvSpPr/>
          <p:nvPr/>
        </p:nvSpPr>
        <p:spPr>
          <a:xfrm>
            <a:off x="7553159" y="2367363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1243F81C-83A4-04D5-F55E-1FBAB6005478}"/>
              </a:ext>
            </a:extLst>
          </p:cNvPr>
          <p:cNvCxnSpPr>
            <a:cxnSpLocks/>
          </p:cNvCxnSpPr>
          <p:nvPr/>
        </p:nvCxnSpPr>
        <p:spPr>
          <a:xfrm>
            <a:off x="7023875" y="1756691"/>
            <a:ext cx="0" cy="1004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DA4D5C11-EDE7-D686-C9F7-901A9439BADC}"/>
              </a:ext>
            </a:extLst>
          </p:cNvPr>
          <p:cNvSpPr/>
          <p:nvPr/>
        </p:nvSpPr>
        <p:spPr>
          <a:xfrm>
            <a:off x="7714656" y="87693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ECDCF496-89EC-ED33-C68B-96B41DB64681}"/>
              </a:ext>
            </a:extLst>
          </p:cNvPr>
          <p:cNvSpPr/>
          <p:nvPr/>
        </p:nvSpPr>
        <p:spPr>
          <a:xfrm>
            <a:off x="8531900" y="1461376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no</a:t>
            </a:r>
          </a:p>
        </p:txBody>
      </p: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6D1B5EE9-C7A9-A8C6-032A-5B58B2EB2913}"/>
              </a:ext>
            </a:extLst>
          </p:cNvPr>
          <p:cNvCxnSpPr>
            <a:cxnSpLocks/>
          </p:cNvCxnSpPr>
          <p:nvPr/>
        </p:nvCxnSpPr>
        <p:spPr>
          <a:xfrm flipV="1">
            <a:off x="7035052" y="2760691"/>
            <a:ext cx="539407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60742123-DF28-936A-E95E-8A47C865BA32}"/>
              </a:ext>
            </a:extLst>
          </p:cNvPr>
          <p:cNvSpPr/>
          <p:nvPr/>
        </p:nvSpPr>
        <p:spPr>
          <a:xfrm>
            <a:off x="6550649" y="201302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cxnSp>
        <p:nvCxnSpPr>
          <p:cNvPr id="122" name="Conector recto de flecha 121">
            <a:extLst>
              <a:ext uri="{FF2B5EF4-FFF2-40B4-BE49-F238E27FC236}">
                <a16:creationId xmlns:a16="http://schemas.microsoft.com/office/drawing/2014/main" id="{AB1F5048-256D-7BDE-E47E-08DD83E2AC84}"/>
              </a:ext>
            </a:extLst>
          </p:cNvPr>
          <p:cNvCxnSpPr>
            <a:cxnSpLocks/>
          </p:cNvCxnSpPr>
          <p:nvPr/>
        </p:nvCxnSpPr>
        <p:spPr>
          <a:xfrm>
            <a:off x="6654355" y="2311736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A84F3FB7-9654-47FA-7322-E2CF99987521}"/>
              </a:ext>
            </a:extLst>
          </p:cNvPr>
          <p:cNvCxnSpPr>
            <a:cxnSpLocks/>
          </p:cNvCxnSpPr>
          <p:nvPr/>
        </p:nvCxnSpPr>
        <p:spPr>
          <a:xfrm flipV="1">
            <a:off x="8482484" y="1761080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0C31B744-0B6D-9C12-E044-A8A5F53D65C5}"/>
              </a:ext>
            </a:extLst>
          </p:cNvPr>
          <p:cNvSpPr/>
          <p:nvPr/>
        </p:nvSpPr>
        <p:spPr>
          <a:xfrm>
            <a:off x="7742207" y="4523828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42" name="Rectángulo 141">
            <a:extLst>
              <a:ext uri="{FF2B5EF4-FFF2-40B4-BE49-F238E27FC236}">
                <a16:creationId xmlns:a16="http://schemas.microsoft.com/office/drawing/2014/main" id="{F161B1AB-23AC-68FE-D341-094CF447897D}"/>
              </a:ext>
            </a:extLst>
          </p:cNvPr>
          <p:cNvSpPr/>
          <p:nvPr/>
        </p:nvSpPr>
        <p:spPr>
          <a:xfrm>
            <a:off x="7782407" y="5588273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43" name="Rectángulo 142">
            <a:extLst>
              <a:ext uri="{FF2B5EF4-FFF2-40B4-BE49-F238E27FC236}">
                <a16:creationId xmlns:a16="http://schemas.microsoft.com/office/drawing/2014/main" id="{E5BBCB5A-49F3-FD64-9BAF-DA592E78C64E}"/>
              </a:ext>
            </a:extLst>
          </p:cNvPr>
          <p:cNvSpPr/>
          <p:nvPr/>
        </p:nvSpPr>
        <p:spPr>
          <a:xfrm>
            <a:off x="7537449" y="4280510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4" name="Diagrama de flujo: proceso 143">
            <a:extLst>
              <a:ext uri="{FF2B5EF4-FFF2-40B4-BE49-F238E27FC236}">
                <a16:creationId xmlns:a16="http://schemas.microsoft.com/office/drawing/2014/main" id="{DC322735-2298-9C9A-D07A-6E4A4F67E006}"/>
              </a:ext>
            </a:extLst>
          </p:cNvPr>
          <p:cNvSpPr/>
          <p:nvPr/>
        </p:nvSpPr>
        <p:spPr>
          <a:xfrm>
            <a:off x="6825978" y="4177749"/>
            <a:ext cx="2193648" cy="217993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5" name="Conector recto de flecha 144">
            <a:extLst>
              <a:ext uri="{FF2B5EF4-FFF2-40B4-BE49-F238E27FC236}">
                <a16:creationId xmlns:a16="http://schemas.microsoft.com/office/drawing/2014/main" id="{D1F7C7D0-7BB4-49BC-BB48-65D70EC82810}"/>
              </a:ext>
            </a:extLst>
          </p:cNvPr>
          <p:cNvCxnSpPr>
            <a:cxnSpLocks/>
          </p:cNvCxnSpPr>
          <p:nvPr/>
        </p:nvCxnSpPr>
        <p:spPr>
          <a:xfrm flipV="1">
            <a:off x="7045626" y="4719175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AE1A36FF-4DD0-F672-A322-F69B79F4FB37}"/>
              </a:ext>
            </a:extLst>
          </p:cNvPr>
          <p:cNvSpPr/>
          <p:nvPr/>
        </p:nvSpPr>
        <p:spPr>
          <a:xfrm>
            <a:off x="7545550" y="5331013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BF1FC01D-447A-7FA0-7892-D04DEBCA9A55}"/>
              </a:ext>
            </a:extLst>
          </p:cNvPr>
          <p:cNvCxnSpPr>
            <a:cxnSpLocks/>
          </p:cNvCxnSpPr>
          <p:nvPr/>
        </p:nvCxnSpPr>
        <p:spPr>
          <a:xfrm>
            <a:off x="7016266" y="4720341"/>
            <a:ext cx="0" cy="1004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4E61F431-8C04-9019-3B47-D6D16DB115ED}"/>
              </a:ext>
            </a:extLst>
          </p:cNvPr>
          <p:cNvSpPr/>
          <p:nvPr/>
        </p:nvSpPr>
        <p:spPr>
          <a:xfrm>
            <a:off x="7707047" y="384058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cxnSp>
        <p:nvCxnSpPr>
          <p:cNvPr id="159" name="Conector recto de flecha 158">
            <a:extLst>
              <a:ext uri="{FF2B5EF4-FFF2-40B4-BE49-F238E27FC236}">
                <a16:creationId xmlns:a16="http://schemas.microsoft.com/office/drawing/2014/main" id="{A90BD2B6-A3BB-4DF3-FB78-8877F46F9509}"/>
              </a:ext>
            </a:extLst>
          </p:cNvPr>
          <p:cNvCxnSpPr>
            <a:cxnSpLocks/>
          </p:cNvCxnSpPr>
          <p:nvPr/>
        </p:nvCxnSpPr>
        <p:spPr>
          <a:xfrm flipV="1">
            <a:off x="7027443" y="5724341"/>
            <a:ext cx="539407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6F84334F-90E5-7040-BB59-210577162ED1}"/>
              </a:ext>
            </a:extLst>
          </p:cNvPr>
          <p:cNvSpPr/>
          <p:nvPr/>
        </p:nvSpPr>
        <p:spPr>
          <a:xfrm>
            <a:off x="6543040" y="497667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cxnSp>
        <p:nvCxnSpPr>
          <p:cNvPr id="163" name="Conector recto de flecha 162">
            <a:extLst>
              <a:ext uri="{FF2B5EF4-FFF2-40B4-BE49-F238E27FC236}">
                <a16:creationId xmlns:a16="http://schemas.microsoft.com/office/drawing/2014/main" id="{C6D88895-9630-7EFD-F8F1-F195B1BB3ACB}"/>
              </a:ext>
            </a:extLst>
          </p:cNvPr>
          <p:cNvCxnSpPr>
            <a:cxnSpLocks/>
          </p:cNvCxnSpPr>
          <p:nvPr/>
        </p:nvCxnSpPr>
        <p:spPr>
          <a:xfrm>
            <a:off x="6646746" y="5275386"/>
            <a:ext cx="3847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0C177397-AF25-FD58-782C-9E8744DC88E3}"/>
              </a:ext>
            </a:extLst>
          </p:cNvPr>
          <p:cNvSpPr/>
          <p:nvPr/>
        </p:nvSpPr>
        <p:spPr>
          <a:xfrm>
            <a:off x="8519449" y="5447090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no</a:t>
            </a:r>
          </a:p>
        </p:txBody>
      </p: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C8EE5258-C55E-8F5B-815E-283B2EA38002}"/>
              </a:ext>
            </a:extLst>
          </p:cNvPr>
          <p:cNvCxnSpPr>
            <a:cxnSpLocks/>
          </p:cNvCxnSpPr>
          <p:nvPr/>
        </p:nvCxnSpPr>
        <p:spPr>
          <a:xfrm flipV="1">
            <a:off x="8470033" y="5746794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165">
            <a:extLst>
              <a:ext uri="{FF2B5EF4-FFF2-40B4-BE49-F238E27FC236}">
                <a16:creationId xmlns:a16="http://schemas.microsoft.com/office/drawing/2014/main" id="{10846317-73D2-8F65-5613-B18D44D04483}"/>
              </a:ext>
            </a:extLst>
          </p:cNvPr>
          <p:cNvCxnSpPr>
            <a:cxnSpLocks/>
          </p:cNvCxnSpPr>
          <p:nvPr/>
        </p:nvCxnSpPr>
        <p:spPr>
          <a:xfrm>
            <a:off x="8481703" y="3417609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166">
            <a:extLst>
              <a:ext uri="{FF2B5EF4-FFF2-40B4-BE49-F238E27FC236}">
                <a16:creationId xmlns:a16="http://schemas.microsoft.com/office/drawing/2014/main" id="{AF9C7F9B-E47E-2546-3DDD-EC03D2718833}"/>
              </a:ext>
            </a:extLst>
          </p:cNvPr>
          <p:cNvCxnSpPr>
            <a:cxnSpLocks/>
          </p:cNvCxnSpPr>
          <p:nvPr/>
        </p:nvCxnSpPr>
        <p:spPr>
          <a:xfrm flipV="1">
            <a:off x="8500290" y="3816213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de flecha 167">
            <a:extLst>
              <a:ext uri="{FF2B5EF4-FFF2-40B4-BE49-F238E27FC236}">
                <a16:creationId xmlns:a16="http://schemas.microsoft.com/office/drawing/2014/main" id="{7B27C25F-A7B5-17C2-E356-7777AA764461}"/>
              </a:ext>
            </a:extLst>
          </p:cNvPr>
          <p:cNvCxnSpPr>
            <a:cxnSpLocks/>
          </p:cNvCxnSpPr>
          <p:nvPr/>
        </p:nvCxnSpPr>
        <p:spPr>
          <a:xfrm flipV="1">
            <a:off x="8880609" y="3417609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3EB8E000-D6D3-816D-24B8-3FE4DB7E58E7}"/>
              </a:ext>
            </a:extLst>
          </p:cNvPr>
          <p:cNvCxnSpPr>
            <a:cxnSpLocks/>
          </p:cNvCxnSpPr>
          <p:nvPr/>
        </p:nvCxnSpPr>
        <p:spPr>
          <a:xfrm>
            <a:off x="8513239" y="6328188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1ECA8909-9A1F-4947-9D75-261589CC76A3}"/>
              </a:ext>
            </a:extLst>
          </p:cNvPr>
          <p:cNvCxnSpPr>
            <a:cxnSpLocks/>
          </p:cNvCxnSpPr>
          <p:nvPr/>
        </p:nvCxnSpPr>
        <p:spPr>
          <a:xfrm flipV="1">
            <a:off x="8531826" y="6726792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recto de flecha 170">
            <a:extLst>
              <a:ext uri="{FF2B5EF4-FFF2-40B4-BE49-F238E27FC236}">
                <a16:creationId xmlns:a16="http://schemas.microsoft.com/office/drawing/2014/main" id="{B3DAE40F-C6AE-4B23-F8D6-599788EE8A14}"/>
              </a:ext>
            </a:extLst>
          </p:cNvPr>
          <p:cNvCxnSpPr>
            <a:cxnSpLocks/>
          </p:cNvCxnSpPr>
          <p:nvPr/>
        </p:nvCxnSpPr>
        <p:spPr>
          <a:xfrm flipV="1">
            <a:off x="8912145" y="6328188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recto de flecha 171">
            <a:extLst>
              <a:ext uri="{FF2B5EF4-FFF2-40B4-BE49-F238E27FC236}">
                <a16:creationId xmlns:a16="http://schemas.microsoft.com/office/drawing/2014/main" id="{8EB11FF4-3A41-E6BA-6B42-401D1AFC6B45}"/>
              </a:ext>
            </a:extLst>
          </p:cNvPr>
          <p:cNvCxnSpPr>
            <a:cxnSpLocks/>
          </p:cNvCxnSpPr>
          <p:nvPr/>
        </p:nvCxnSpPr>
        <p:spPr>
          <a:xfrm flipH="1">
            <a:off x="8428971" y="2751664"/>
            <a:ext cx="4047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EDA5C293-1B12-D585-9E09-27DCEA743FF3}"/>
              </a:ext>
            </a:extLst>
          </p:cNvPr>
          <p:cNvCxnSpPr>
            <a:cxnSpLocks/>
          </p:cNvCxnSpPr>
          <p:nvPr/>
        </p:nvCxnSpPr>
        <p:spPr>
          <a:xfrm>
            <a:off x="8833752" y="2734645"/>
            <a:ext cx="0" cy="3264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DB983D23-EBF5-8FA4-30D9-9A2101C159D3}"/>
              </a:ext>
            </a:extLst>
          </p:cNvPr>
          <p:cNvCxnSpPr>
            <a:cxnSpLocks/>
          </p:cNvCxnSpPr>
          <p:nvPr/>
        </p:nvCxnSpPr>
        <p:spPr>
          <a:xfrm flipV="1">
            <a:off x="8472207" y="3051369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recto de flecha 177">
            <a:extLst>
              <a:ext uri="{FF2B5EF4-FFF2-40B4-BE49-F238E27FC236}">
                <a16:creationId xmlns:a16="http://schemas.microsoft.com/office/drawing/2014/main" id="{E0722176-0955-B0D4-DE13-8D314B366F4B}"/>
              </a:ext>
            </a:extLst>
          </p:cNvPr>
          <p:cNvCxnSpPr>
            <a:cxnSpLocks/>
          </p:cNvCxnSpPr>
          <p:nvPr/>
        </p:nvCxnSpPr>
        <p:spPr>
          <a:xfrm flipH="1">
            <a:off x="8408613" y="4712043"/>
            <a:ext cx="4047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178">
            <a:extLst>
              <a:ext uri="{FF2B5EF4-FFF2-40B4-BE49-F238E27FC236}">
                <a16:creationId xmlns:a16="http://schemas.microsoft.com/office/drawing/2014/main" id="{5D63ECEA-03FC-507C-355D-669CF0FB4D47}"/>
              </a:ext>
            </a:extLst>
          </p:cNvPr>
          <p:cNvCxnSpPr>
            <a:cxnSpLocks/>
          </p:cNvCxnSpPr>
          <p:nvPr/>
        </p:nvCxnSpPr>
        <p:spPr>
          <a:xfrm>
            <a:off x="8813394" y="4695024"/>
            <a:ext cx="0" cy="3264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85D6768B-2D57-4066-1005-B1A9A0531D1B}"/>
              </a:ext>
            </a:extLst>
          </p:cNvPr>
          <p:cNvCxnSpPr>
            <a:cxnSpLocks/>
          </p:cNvCxnSpPr>
          <p:nvPr/>
        </p:nvCxnSpPr>
        <p:spPr>
          <a:xfrm flipV="1">
            <a:off x="8451849" y="5011748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CuadroTexto 180">
            <a:extLst>
              <a:ext uri="{FF2B5EF4-FFF2-40B4-BE49-F238E27FC236}">
                <a16:creationId xmlns:a16="http://schemas.microsoft.com/office/drawing/2014/main" id="{1F61C3AC-C45F-DA7A-179A-7FB21C8A0E57}"/>
              </a:ext>
            </a:extLst>
          </p:cNvPr>
          <p:cNvSpPr txBox="1"/>
          <p:nvPr/>
        </p:nvSpPr>
        <p:spPr>
          <a:xfrm>
            <a:off x="995851" y="3440533"/>
            <a:ext cx="1124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Caso 1.1</a:t>
            </a:r>
            <a:endParaRPr lang="es-MX" sz="1600" b="1" i="1" dirty="0"/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7A2F5AF5-CDE5-7B63-C16F-94CB38D24F5C}"/>
              </a:ext>
            </a:extLst>
          </p:cNvPr>
          <p:cNvSpPr txBox="1"/>
          <p:nvPr/>
        </p:nvSpPr>
        <p:spPr>
          <a:xfrm>
            <a:off x="7428912" y="6341093"/>
            <a:ext cx="1124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Caso 3.2</a:t>
            </a:r>
            <a:endParaRPr lang="es-MX" sz="1600" b="1" i="1" dirty="0"/>
          </a:p>
        </p:txBody>
      </p:sp>
      <p:sp>
        <p:nvSpPr>
          <p:cNvPr id="183" name="CuadroTexto 182">
            <a:extLst>
              <a:ext uri="{FF2B5EF4-FFF2-40B4-BE49-F238E27FC236}">
                <a16:creationId xmlns:a16="http://schemas.microsoft.com/office/drawing/2014/main" id="{B2305B1A-E05A-092C-CD37-9AEA25F2876F}"/>
              </a:ext>
            </a:extLst>
          </p:cNvPr>
          <p:cNvSpPr txBox="1"/>
          <p:nvPr/>
        </p:nvSpPr>
        <p:spPr>
          <a:xfrm>
            <a:off x="7448109" y="3365039"/>
            <a:ext cx="1124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Caso 3.1</a:t>
            </a:r>
            <a:endParaRPr lang="es-MX" sz="1600" b="1" i="1" dirty="0"/>
          </a:p>
        </p:txBody>
      </p:sp>
    </p:spTree>
    <p:extLst>
      <p:ext uri="{BB962C8B-B14F-4D97-AF65-F5344CB8AC3E}">
        <p14:creationId xmlns:p14="http://schemas.microsoft.com/office/powerpoint/2010/main" val="104770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 animBg="1"/>
      <p:bldP spid="22" grpId="0" animBg="1"/>
      <p:bldP spid="26" grpId="0" animBg="1"/>
      <p:bldP spid="85" grpId="0"/>
      <p:bldP spid="100" grpId="0"/>
      <p:bldP spid="36" grpId="0" animBg="1"/>
      <p:bldP spid="115" grpId="0"/>
      <p:bldP spid="61" grpId="0"/>
      <p:bldP spid="62" grpId="0"/>
      <p:bldP spid="63" grpId="0"/>
      <p:bldP spid="64" grpId="0" animBg="1"/>
      <p:bldP spid="66" grpId="0" animBg="1"/>
      <p:bldP spid="68" grpId="0" animBg="1"/>
      <p:bldP spid="80" grpId="0"/>
      <p:bldP spid="91" grpId="0"/>
      <p:bldP spid="126" grpId="0"/>
      <p:bldP spid="127" grpId="0"/>
      <p:bldP spid="129" grpId="0" animBg="1"/>
      <p:bldP spid="131" grpId="0" animBg="1"/>
      <p:bldP spid="133" grpId="0" animBg="1"/>
      <p:bldP spid="138" grpId="0"/>
      <p:bldP spid="141" grpId="0"/>
      <p:bldP spid="86" grpId="0"/>
      <p:bldP spid="89" grpId="0"/>
      <p:bldP spid="3" grpId="0"/>
      <p:bldP spid="8" grpId="0"/>
      <p:bldP spid="18" grpId="0"/>
      <p:bldP spid="23" grpId="0"/>
      <p:bldP spid="46" grpId="0"/>
      <p:bldP spid="47" grpId="0"/>
      <p:bldP spid="49" grpId="0" animBg="1"/>
      <p:bldP spid="52" grpId="0" animBg="1"/>
      <p:bldP spid="57" grpId="0" animBg="1"/>
      <p:bldP spid="59" grpId="0"/>
      <p:bldP spid="71" grpId="0"/>
      <p:bldP spid="72" grpId="0"/>
      <p:bldP spid="75" grpId="0"/>
      <p:bldP spid="78" grpId="0"/>
      <p:bldP spid="82" grpId="0"/>
      <p:bldP spid="83" grpId="0" animBg="1"/>
      <p:bldP spid="92" grpId="0" animBg="1"/>
      <p:bldP spid="98" grpId="0" animBg="1"/>
      <p:bldP spid="104" grpId="0"/>
      <p:bldP spid="106" grpId="0"/>
      <p:bldP spid="121" grpId="0"/>
      <p:bldP spid="124" grpId="0"/>
      <p:bldP spid="142" grpId="0"/>
      <p:bldP spid="143" grpId="0" animBg="1"/>
      <p:bldP spid="144" grpId="0" animBg="1"/>
      <p:bldP spid="147" grpId="0" animBg="1"/>
      <p:bldP spid="158" grpId="0"/>
      <p:bldP spid="162" grpId="0"/>
      <p:bldP spid="164" grpId="0"/>
      <p:bldP spid="181" grpId="0"/>
      <p:bldP spid="182" grpId="0"/>
      <p:bldP spid="1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2C2D57C-8C86-41A1-82D4-EC231C78E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94" y="201501"/>
            <a:ext cx="874048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AR" u="sng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Idea de la construcción de la MT M</a:t>
            </a:r>
            <a:r>
              <a:rPr lang="es-AR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MX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 tiene 3 cintas. </a:t>
            </a:r>
          </a:p>
          <a:p>
            <a:pPr lvl="0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 la cinta 1 tiene la entrada w. </a:t>
            </a:r>
          </a:p>
          <a:p>
            <a:pPr lvl="0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 las cintas 2 y 3 ejecuta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M</a:t>
            </a:r>
            <a:r>
              <a:rPr lang="es-AR" altLang="es-MX" baseline="-30000" dirty="0">
                <a:solidFill>
                  <a:srgbClr val="000000"/>
                </a:solidFill>
                <a:ea typeface="Times New Roman" panose="02020603050405020304" pitchFamily="18" charset="0"/>
              </a:rPr>
              <a:t>1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 y M</a:t>
            </a:r>
            <a:r>
              <a:rPr lang="es-AR" altLang="es-MX" baseline="-30000" dirty="0">
                <a:solidFill>
                  <a:srgbClr val="000000"/>
                </a:solidFill>
                <a:ea typeface="Times New Roman" panose="02020603050405020304" pitchFamily="18" charset="0"/>
              </a:rPr>
              <a:t>2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respectivamente.</a:t>
            </a:r>
            <a:endParaRPr lang="es-AR" altLang="es-MX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/>
            <a:endParaRPr kumimoji="0" lang="es-AR" altLang="es-MX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MT M hace: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Copia w de la cinta 1 a las cintas 2 y 3.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Ejecuta 1 paso de M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en la cinta 2. Si M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 acepta, acepta.</a:t>
            </a:r>
          </a:p>
          <a:p>
            <a:endParaRPr lang="es-AR" altLang="es-MX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Ejecuta 1 paso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 M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en la cinta 3. Si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M</a:t>
            </a:r>
            <a:r>
              <a:rPr lang="es-AR" altLang="es-MX" baseline="-30000" dirty="0">
                <a:solidFill>
                  <a:srgbClr val="000000"/>
                </a:solidFill>
                <a:ea typeface="Times New Roman" panose="02020603050405020304" pitchFamily="18" charset="0"/>
              </a:rPr>
              <a:t>2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acepta, acepta.</a:t>
            </a:r>
          </a:p>
          <a:p>
            <a:pPr lvl="0"/>
            <a:endParaRPr lang="es-AR" altLang="es-MX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r>
              <a:rPr lang="es-AR" altLang="es-MX" dirty="0">
                <a:solidFill>
                  <a:srgbClr val="000000"/>
                </a:solidFill>
              </a:rPr>
              <a:t>4.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kumimoji="0" lang="es-AR" altLang="es-MX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 y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M</a:t>
            </a:r>
            <a:r>
              <a:rPr lang="es-AR" altLang="es-MX" baseline="-30000" dirty="0">
                <a:solidFill>
                  <a:srgbClr val="000000"/>
                </a:solidFill>
                <a:ea typeface="Times New Roman" panose="02020603050405020304" pitchFamily="18" charset="0"/>
              </a:rPr>
              <a:t>2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rechazan, rechaza.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/>
            <a:endParaRPr kumimoji="0" lang="es-AR" altLang="es-MX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5.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</a:rPr>
              <a:t>V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uelve al paso 2.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B19157-4431-449E-B02E-FED76CE6228E}"/>
              </a:ext>
            </a:extLst>
          </p:cNvPr>
          <p:cNvSpPr/>
          <p:nvPr/>
        </p:nvSpPr>
        <p:spPr>
          <a:xfrm>
            <a:off x="9848739" y="1475871"/>
            <a:ext cx="2952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</a:t>
            </a:r>
            <a:endParaRPr lang="es-MX" sz="12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4DACA9B-5925-44DD-8FF8-856CF21F5F20}"/>
              </a:ext>
            </a:extLst>
          </p:cNvPr>
          <p:cNvSpPr/>
          <p:nvPr/>
        </p:nvSpPr>
        <p:spPr>
          <a:xfrm>
            <a:off x="9875747" y="2176221"/>
            <a:ext cx="2952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</a:t>
            </a:r>
            <a:endParaRPr lang="es-MX" sz="12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8F52679-40C0-422F-8ADF-9E299ED7FDDE}"/>
              </a:ext>
            </a:extLst>
          </p:cNvPr>
          <p:cNvSpPr/>
          <p:nvPr/>
        </p:nvSpPr>
        <p:spPr>
          <a:xfrm>
            <a:off x="290999" y="5147660"/>
            <a:ext cx="81837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acepta, rechaza o no para.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cada iteración memoriza los estados y posiciones de las 2 ejecuciones. </a:t>
            </a:r>
            <a:endParaRPr lang="es-AR" alt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912D607-9B2D-4930-82A4-C4CB1C0DE3EC}"/>
              </a:ext>
            </a:extLst>
          </p:cNvPr>
          <p:cNvCxnSpPr>
            <a:cxnSpLocks/>
          </p:cNvCxnSpPr>
          <p:nvPr/>
        </p:nvCxnSpPr>
        <p:spPr>
          <a:xfrm>
            <a:off x="8946023" y="1446115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4BEEF0F-D6DC-480E-AFF3-BD2B181BA427}"/>
              </a:ext>
            </a:extLst>
          </p:cNvPr>
          <p:cNvCxnSpPr>
            <a:cxnSpLocks/>
          </p:cNvCxnSpPr>
          <p:nvPr/>
        </p:nvCxnSpPr>
        <p:spPr>
          <a:xfrm>
            <a:off x="8946023" y="1815447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46F620-7E74-4CD0-88DE-BEEA3BC23CAB}"/>
              </a:ext>
            </a:extLst>
          </p:cNvPr>
          <p:cNvCxnSpPr>
            <a:cxnSpLocks/>
          </p:cNvCxnSpPr>
          <p:nvPr/>
        </p:nvCxnSpPr>
        <p:spPr>
          <a:xfrm>
            <a:off x="8946023" y="213112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3FD70F0-5735-4A5B-AFB9-F010D4778343}"/>
              </a:ext>
            </a:extLst>
          </p:cNvPr>
          <p:cNvCxnSpPr>
            <a:cxnSpLocks/>
          </p:cNvCxnSpPr>
          <p:nvPr/>
        </p:nvCxnSpPr>
        <p:spPr>
          <a:xfrm>
            <a:off x="8946023" y="250045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953FDD0-F258-46D5-85B2-0B0598C5A805}"/>
              </a:ext>
            </a:extLst>
          </p:cNvPr>
          <p:cNvSpPr/>
          <p:nvPr/>
        </p:nvSpPr>
        <p:spPr>
          <a:xfrm>
            <a:off x="8957005" y="2182358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423BD75-BA84-44C9-896E-1B1FB2EA19EE}"/>
              </a:ext>
            </a:extLst>
          </p:cNvPr>
          <p:cNvSpPr/>
          <p:nvPr/>
        </p:nvSpPr>
        <p:spPr>
          <a:xfrm>
            <a:off x="9194313" y="528584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9940057-3E8D-465A-BF0F-492ECEC23CE0}"/>
              </a:ext>
            </a:extLst>
          </p:cNvPr>
          <p:cNvSpPr/>
          <p:nvPr/>
        </p:nvSpPr>
        <p:spPr>
          <a:xfrm>
            <a:off x="9354958" y="752099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91AE423-6825-464D-987B-1CCB76371DD4}"/>
              </a:ext>
            </a:extLst>
          </p:cNvPr>
          <p:cNvSpPr/>
          <p:nvPr/>
        </p:nvSpPr>
        <p:spPr>
          <a:xfrm>
            <a:off x="9836311" y="784292"/>
            <a:ext cx="2952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4626236-55F1-4D79-8634-B102A5060023}"/>
              </a:ext>
            </a:extLst>
          </p:cNvPr>
          <p:cNvCxnSpPr>
            <a:cxnSpLocks/>
          </p:cNvCxnSpPr>
          <p:nvPr/>
        </p:nvCxnSpPr>
        <p:spPr>
          <a:xfrm>
            <a:off x="8933270" y="721320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90FC5D61-751F-477B-BE12-A27BA6F2E4E2}"/>
              </a:ext>
            </a:extLst>
          </p:cNvPr>
          <p:cNvCxnSpPr>
            <a:cxnSpLocks/>
          </p:cNvCxnSpPr>
          <p:nvPr/>
        </p:nvCxnSpPr>
        <p:spPr>
          <a:xfrm>
            <a:off x="8933270" y="109065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D79CAAA-F9C9-4487-BDD6-E5C0B8A13AD7}"/>
              </a:ext>
            </a:extLst>
          </p:cNvPr>
          <p:cNvSpPr/>
          <p:nvPr/>
        </p:nvSpPr>
        <p:spPr>
          <a:xfrm>
            <a:off x="9028046" y="819136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EA3C934-90E4-4975-B80F-933B99AD8792}"/>
              </a:ext>
            </a:extLst>
          </p:cNvPr>
          <p:cNvSpPr/>
          <p:nvPr/>
        </p:nvSpPr>
        <p:spPr>
          <a:xfrm>
            <a:off x="8206555" y="809095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1</a:t>
            </a:r>
            <a:endParaRPr lang="es-MX" sz="14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187A647-A382-4F88-BA89-403295194364}"/>
              </a:ext>
            </a:extLst>
          </p:cNvPr>
          <p:cNvSpPr/>
          <p:nvPr/>
        </p:nvSpPr>
        <p:spPr>
          <a:xfrm>
            <a:off x="8231682" y="1520903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2</a:t>
            </a:r>
            <a:endParaRPr lang="es-MX" sz="14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18E96EA-F720-4449-99E2-1024008C955C}"/>
              </a:ext>
            </a:extLst>
          </p:cNvPr>
          <p:cNvSpPr/>
          <p:nvPr/>
        </p:nvSpPr>
        <p:spPr>
          <a:xfrm>
            <a:off x="8248197" y="2205913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3</a:t>
            </a:r>
            <a:endParaRPr lang="es-MX" sz="14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856748E-5640-4B87-AE34-777CF21AE17A}"/>
              </a:ext>
            </a:extLst>
          </p:cNvPr>
          <p:cNvSpPr/>
          <p:nvPr/>
        </p:nvSpPr>
        <p:spPr>
          <a:xfrm>
            <a:off x="9945405" y="2944263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7316124E-3717-441D-9230-971A37741A08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10118397" y="1059874"/>
            <a:ext cx="31532" cy="18843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9BAD8D5-E448-428D-90D3-23DAAF684BB1}"/>
              </a:ext>
            </a:extLst>
          </p:cNvPr>
          <p:cNvCxnSpPr>
            <a:cxnSpLocks/>
          </p:cNvCxnSpPr>
          <p:nvPr/>
        </p:nvCxnSpPr>
        <p:spPr>
          <a:xfrm flipV="1">
            <a:off x="10131585" y="2520407"/>
            <a:ext cx="154217" cy="4089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511850A-4604-45C3-89A7-22589A6925C9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10118397" y="1796953"/>
            <a:ext cx="167405" cy="1147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2">
            <a:extLst>
              <a:ext uri="{FF2B5EF4-FFF2-40B4-BE49-F238E27FC236}">
                <a16:creationId xmlns:a16="http://schemas.microsoft.com/office/drawing/2014/main" id="{3B95DC6E-0AAA-494B-A286-E78FADA9064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B4DAD3A-4808-4185-8E2A-185BA818D314}"/>
              </a:ext>
            </a:extLst>
          </p:cNvPr>
          <p:cNvSpPr/>
          <p:nvPr/>
        </p:nvSpPr>
        <p:spPr>
          <a:xfrm>
            <a:off x="9625592" y="418659"/>
            <a:ext cx="10747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altLang="es-MX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Etapa 1</a:t>
            </a:r>
            <a:endParaRPr lang="es-MX" sz="1600" b="1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A21CDFE7-6BBF-4E58-B64F-B22C24FF02F8}"/>
              </a:ext>
            </a:extLst>
          </p:cNvPr>
          <p:cNvSpPr/>
          <p:nvPr/>
        </p:nvSpPr>
        <p:spPr>
          <a:xfrm>
            <a:off x="9167568" y="4732797"/>
            <a:ext cx="13019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ejecución de M</a:t>
            </a:r>
            <a:r>
              <a:rPr lang="es-AR" altLang="es-MX" sz="1200" baseline="-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 </a:t>
            </a:r>
            <a:endParaRPr lang="es-MX" sz="1200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2EB2EB4E-1781-45C9-A6D3-0C579DD6EF7E}"/>
              </a:ext>
            </a:extLst>
          </p:cNvPr>
          <p:cNvSpPr/>
          <p:nvPr/>
        </p:nvSpPr>
        <p:spPr>
          <a:xfrm>
            <a:off x="9198529" y="5388117"/>
            <a:ext cx="12731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ejecución de M</a:t>
            </a:r>
            <a:r>
              <a:rPr lang="es-AR" altLang="es-MX" sz="1200" baseline="-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lang="es-MX" sz="1200" dirty="0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2ACF9817-2733-418A-92F8-1F0B55DB2C3A}"/>
              </a:ext>
            </a:extLst>
          </p:cNvPr>
          <p:cNvCxnSpPr>
            <a:cxnSpLocks/>
          </p:cNvCxnSpPr>
          <p:nvPr/>
        </p:nvCxnSpPr>
        <p:spPr>
          <a:xfrm>
            <a:off x="9044427" y="465801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1AD9DFA6-C345-44FC-AC08-0F1BEE88B7EB}"/>
              </a:ext>
            </a:extLst>
          </p:cNvPr>
          <p:cNvCxnSpPr>
            <a:cxnSpLocks/>
          </p:cNvCxnSpPr>
          <p:nvPr/>
        </p:nvCxnSpPr>
        <p:spPr>
          <a:xfrm>
            <a:off x="9044427" y="502734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A4201F16-C939-4066-AC13-2B72DC911D97}"/>
              </a:ext>
            </a:extLst>
          </p:cNvPr>
          <p:cNvCxnSpPr>
            <a:cxnSpLocks/>
          </p:cNvCxnSpPr>
          <p:nvPr/>
        </p:nvCxnSpPr>
        <p:spPr>
          <a:xfrm>
            <a:off x="9044427" y="534302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81A025E2-2424-4630-A658-DE11E20ED299}"/>
              </a:ext>
            </a:extLst>
          </p:cNvPr>
          <p:cNvCxnSpPr>
            <a:cxnSpLocks/>
          </p:cNvCxnSpPr>
          <p:nvPr/>
        </p:nvCxnSpPr>
        <p:spPr>
          <a:xfrm>
            <a:off x="9044427" y="571235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01883882-73D1-43D1-81D5-D8633BDB4612}"/>
              </a:ext>
            </a:extLst>
          </p:cNvPr>
          <p:cNvSpPr/>
          <p:nvPr/>
        </p:nvSpPr>
        <p:spPr>
          <a:xfrm>
            <a:off x="9055409" y="5394254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5FB08435-A46E-4B17-8548-128677741AC7}"/>
              </a:ext>
            </a:extLst>
          </p:cNvPr>
          <p:cNvSpPr/>
          <p:nvPr/>
        </p:nvSpPr>
        <p:spPr>
          <a:xfrm>
            <a:off x="9453362" y="3963995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5C02D936-73E2-4863-8A6F-B54D041DA917}"/>
              </a:ext>
            </a:extLst>
          </p:cNvPr>
          <p:cNvSpPr/>
          <p:nvPr/>
        </p:nvSpPr>
        <p:spPr>
          <a:xfrm>
            <a:off x="9934715" y="3996188"/>
            <a:ext cx="2952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8E6B73CC-AAE4-4677-BDDF-8DBBCF42584C}"/>
              </a:ext>
            </a:extLst>
          </p:cNvPr>
          <p:cNvCxnSpPr>
            <a:cxnSpLocks/>
          </p:cNvCxnSpPr>
          <p:nvPr/>
        </p:nvCxnSpPr>
        <p:spPr>
          <a:xfrm>
            <a:off x="9031674" y="393321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BD68606A-17A3-4434-8487-2877272E6838}"/>
              </a:ext>
            </a:extLst>
          </p:cNvPr>
          <p:cNvCxnSpPr>
            <a:cxnSpLocks/>
          </p:cNvCxnSpPr>
          <p:nvPr/>
        </p:nvCxnSpPr>
        <p:spPr>
          <a:xfrm>
            <a:off x="9031674" y="430254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ángulo 63">
            <a:extLst>
              <a:ext uri="{FF2B5EF4-FFF2-40B4-BE49-F238E27FC236}">
                <a16:creationId xmlns:a16="http://schemas.microsoft.com/office/drawing/2014/main" id="{59F0A7DC-04F9-4C62-91D4-57C7BBC5818B}"/>
              </a:ext>
            </a:extLst>
          </p:cNvPr>
          <p:cNvSpPr/>
          <p:nvPr/>
        </p:nvSpPr>
        <p:spPr>
          <a:xfrm>
            <a:off x="9126450" y="4031032"/>
            <a:ext cx="1791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E3DCFD41-55AB-4F09-A7B2-FB2C0B1DDFFA}"/>
              </a:ext>
            </a:extLst>
          </p:cNvPr>
          <p:cNvSpPr/>
          <p:nvPr/>
        </p:nvSpPr>
        <p:spPr>
          <a:xfrm>
            <a:off x="8304959" y="4020991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1</a:t>
            </a:r>
            <a:endParaRPr lang="es-MX" sz="1400" dirty="0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90AED226-AB9E-4884-8171-945D2F6E7BB5}"/>
              </a:ext>
            </a:extLst>
          </p:cNvPr>
          <p:cNvSpPr/>
          <p:nvPr/>
        </p:nvSpPr>
        <p:spPr>
          <a:xfrm>
            <a:off x="8330086" y="4732799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2</a:t>
            </a:r>
            <a:endParaRPr lang="es-MX" sz="1400" dirty="0"/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3059D14-CC9F-45BC-880B-A4856402C167}"/>
              </a:ext>
            </a:extLst>
          </p:cNvPr>
          <p:cNvSpPr/>
          <p:nvPr/>
        </p:nvSpPr>
        <p:spPr>
          <a:xfrm>
            <a:off x="8346601" y="5417809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altLang="es-MX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cinta 3</a:t>
            </a:r>
            <a:endParaRPr lang="es-MX" sz="1400" dirty="0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0D4B5E2-614C-4C2B-9D54-5745C90F5009}"/>
              </a:ext>
            </a:extLst>
          </p:cNvPr>
          <p:cNvSpPr/>
          <p:nvPr/>
        </p:nvSpPr>
        <p:spPr>
          <a:xfrm>
            <a:off x="10043809" y="6156159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930CB973-7063-40D7-9644-A1B9FA0B5DA3}"/>
              </a:ext>
            </a:extLst>
          </p:cNvPr>
          <p:cNvCxnSpPr>
            <a:cxnSpLocks/>
            <a:stCxn id="68" idx="0"/>
          </p:cNvCxnSpPr>
          <p:nvPr/>
        </p:nvCxnSpPr>
        <p:spPr>
          <a:xfrm flipV="1">
            <a:off x="10216801" y="4302548"/>
            <a:ext cx="671386" cy="18536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66054612-E44F-486F-A271-44BB560573DF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9212982" y="5712354"/>
            <a:ext cx="1003819" cy="4438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51D71758-375A-429D-A9DD-7E01BDC85ABC}"/>
              </a:ext>
            </a:extLst>
          </p:cNvPr>
          <p:cNvCxnSpPr>
            <a:cxnSpLocks/>
          </p:cNvCxnSpPr>
          <p:nvPr/>
        </p:nvCxnSpPr>
        <p:spPr>
          <a:xfrm flipV="1">
            <a:off x="10250725" y="5016482"/>
            <a:ext cx="899221" cy="11396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954DB5A7-667B-49CD-8DE5-7226B8F10872}"/>
              </a:ext>
            </a:extLst>
          </p:cNvPr>
          <p:cNvSpPr/>
          <p:nvPr/>
        </p:nvSpPr>
        <p:spPr>
          <a:xfrm>
            <a:off x="9568953" y="3608019"/>
            <a:ext cx="14168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altLang="es-MX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Etapas 2 a 5</a:t>
            </a:r>
            <a:endParaRPr lang="es-MX" sz="1600" b="1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4C102BC2-FDC1-41F6-B525-832116D9A7D7}"/>
              </a:ext>
            </a:extLst>
          </p:cNvPr>
          <p:cNvSpPr txBox="1"/>
          <p:nvPr/>
        </p:nvSpPr>
        <p:spPr>
          <a:xfrm>
            <a:off x="964293" y="6287933"/>
            <a:ext cx="90196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También se cumple que si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RE  y 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RE, entonces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⋂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RE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70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8" grpId="0"/>
      <p:bldP spid="20" grpId="0"/>
      <p:bldP spid="25" grpId="0"/>
      <p:bldP spid="26" grpId="0"/>
      <p:bldP spid="29" grpId="0"/>
      <p:bldP spid="30" grpId="0"/>
      <p:bldP spid="31" grpId="0"/>
      <p:bldP spid="32" grpId="0"/>
      <p:bldP spid="35" grpId="0" animBg="1"/>
      <p:bldP spid="41" grpId="0"/>
      <p:bldP spid="53" grpId="0"/>
      <p:bldP spid="54" grpId="0"/>
      <p:bldP spid="59" grpId="0"/>
      <p:bldP spid="60" grpId="0"/>
      <p:bldP spid="61" grpId="0"/>
      <p:bldP spid="64" grpId="0"/>
      <p:bldP spid="65" grpId="0"/>
      <p:bldP spid="66" grpId="0"/>
      <p:bldP spid="67" grpId="0"/>
      <p:bldP spid="68" grpId="0" animBg="1"/>
      <p:bldP spid="7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007CE1C9-62C7-4720-B776-40BA39D797AD}"/>
              </a:ext>
            </a:extLst>
          </p:cNvPr>
          <p:cNvSpPr/>
          <p:nvPr/>
        </p:nvSpPr>
        <p:spPr>
          <a:xfrm>
            <a:off x="3184811" y="1413562"/>
            <a:ext cx="740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Titulo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55F76E2-D3E4-41A4-B9AC-C1AA073A8C93}"/>
              </a:ext>
            </a:extLst>
          </p:cNvPr>
          <p:cNvSpPr/>
          <p:nvPr/>
        </p:nvSpPr>
        <p:spPr>
          <a:xfrm>
            <a:off x="-3885" y="3411221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conjunto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tiene los complementos de los lenguajes del conjunto RE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RE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CO-RE)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6DD667E-2CD3-42AA-8FE4-97EF13D9B6C3}"/>
              </a:ext>
            </a:extLst>
          </p:cNvPr>
          <p:cNvSpPr/>
          <p:nvPr/>
        </p:nvSpPr>
        <p:spPr>
          <a:xfrm>
            <a:off x="8346008" y="1126401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3E47761-5753-4074-AE1A-B8EBDF761D87}"/>
              </a:ext>
            </a:extLst>
          </p:cNvPr>
          <p:cNvSpPr/>
          <p:nvPr/>
        </p:nvSpPr>
        <p:spPr>
          <a:xfrm>
            <a:off x="2246610" y="1984851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BA03FE7-9428-4D16-81A7-16D61F53704A}"/>
              </a:ext>
            </a:extLst>
          </p:cNvPr>
          <p:cNvSpPr/>
          <p:nvPr/>
        </p:nvSpPr>
        <p:spPr>
          <a:xfrm>
            <a:off x="2341989" y="2595727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C1C01A67-8A05-433D-90BB-9EC3860E5E2B}"/>
              </a:ext>
            </a:extLst>
          </p:cNvPr>
          <p:cNvSpPr/>
          <p:nvPr/>
        </p:nvSpPr>
        <p:spPr>
          <a:xfrm>
            <a:off x="1291223" y="1107759"/>
            <a:ext cx="2352437" cy="219032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Diagrama de flujo: conector 30">
            <a:extLst>
              <a:ext uri="{FF2B5EF4-FFF2-40B4-BE49-F238E27FC236}">
                <a16:creationId xmlns:a16="http://schemas.microsoft.com/office/drawing/2014/main" id="{B5A93E53-8450-41A7-973B-4C7C3F56C8A8}"/>
              </a:ext>
            </a:extLst>
          </p:cNvPr>
          <p:cNvSpPr/>
          <p:nvPr/>
        </p:nvSpPr>
        <p:spPr>
          <a:xfrm>
            <a:off x="1662456" y="1804317"/>
            <a:ext cx="1666699" cy="138460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Diagrama de flujo: conector 31">
            <a:extLst>
              <a:ext uri="{FF2B5EF4-FFF2-40B4-BE49-F238E27FC236}">
                <a16:creationId xmlns:a16="http://schemas.microsoft.com/office/drawing/2014/main" id="{B892AF74-6562-4793-BD76-547739782570}"/>
              </a:ext>
            </a:extLst>
          </p:cNvPr>
          <p:cNvSpPr/>
          <p:nvPr/>
        </p:nvSpPr>
        <p:spPr>
          <a:xfrm>
            <a:off x="2083680" y="2480307"/>
            <a:ext cx="867996" cy="56106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78CF56-9303-4988-A0CF-2B1012FC699F}"/>
              </a:ext>
            </a:extLst>
          </p:cNvPr>
          <p:cNvSpPr/>
          <p:nvPr/>
        </p:nvSpPr>
        <p:spPr>
          <a:xfrm>
            <a:off x="2249061" y="1097498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45" name="Diagrama de flujo: conector 44">
            <a:extLst>
              <a:ext uri="{FF2B5EF4-FFF2-40B4-BE49-F238E27FC236}">
                <a16:creationId xmlns:a16="http://schemas.microsoft.com/office/drawing/2014/main" id="{E5E976F4-C5CC-49AF-B49C-E3C4C073BFD4}"/>
              </a:ext>
            </a:extLst>
          </p:cNvPr>
          <p:cNvSpPr/>
          <p:nvPr/>
        </p:nvSpPr>
        <p:spPr>
          <a:xfrm>
            <a:off x="6678157" y="1710111"/>
            <a:ext cx="2303753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Diagrama de flujo: conector 45">
            <a:extLst>
              <a:ext uri="{FF2B5EF4-FFF2-40B4-BE49-F238E27FC236}">
                <a16:creationId xmlns:a16="http://schemas.microsoft.com/office/drawing/2014/main" id="{2C42EDAC-35C9-4C32-8567-BBB876334C80}"/>
              </a:ext>
            </a:extLst>
          </p:cNvPr>
          <p:cNvSpPr/>
          <p:nvPr/>
        </p:nvSpPr>
        <p:spPr>
          <a:xfrm>
            <a:off x="8266153" y="1708639"/>
            <a:ext cx="2484634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8970F828-8B94-4E5F-83B7-54CE4A5645A0}"/>
              </a:ext>
            </a:extLst>
          </p:cNvPr>
          <p:cNvSpPr/>
          <p:nvPr/>
        </p:nvSpPr>
        <p:spPr>
          <a:xfrm>
            <a:off x="6540495" y="1126401"/>
            <a:ext cx="4309341" cy="226365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BBBED0E3-FECC-4E6A-A706-04A0DFB73BC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B5A7471-BA56-45D2-9E95-223AB6251A78}"/>
              </a:ext>
            </a:extLst>
          </p:cNvPr>
          <p:cNvSpPr txBox="1"/>
          <p:nvPr/>
        </p:nvSpPr>
        <p:spPr>
          <a:xfrm>
            <a:off x="6318591" y="730138"/>
            <a:ext cx="4154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Segunda versión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0C97BAD-2681-42AF-90D7-31D44223E662}"/>
              </a:ext>
            </a:extLst>
          </p:cNvPr>
          <p:cNvSpPr txBox="1"/>
          <p:nvPr/>
        </p:nvSpPr>
        <p:spPr>
          <a:xfrm>
            <a:off x="1512376" y="723201"/>
            <a:ext cx="3344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Primera versión</a:t>
            </a:r>
            <a:endParaRPr lang="es-MX" sz="2400" b="1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0FBB9AB-0BC7-49BA-8F14-B9EF3BED3328}"/>
              </a:ext>
            </a:extLst>
          </p:cNvPr>
          <p:cNvSpPr/>
          <p:nvPr/>
        </p:nvSpPr>
        <p:spPr>
          <a:xfrm>
            <a:off x="8482847" y="207286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50FEE47C-0AB0-4AF8-A174-F3FD299EFE71}"/>
              </a:ext>
            </a:extLst>
          </p:cNvPr>
          <p:cNvSpPr/>
          <p:nvPr/>
        </p:nvSpPr>
        <p:spPr>
          <a:xfrm>
            <a:off x="8256214" y="1881475"/>
            <a:ext cx="659974" cy="8210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D755B45-4674-F5DA-C154-37820B2A35FE}"/>
              </a:ext>
            </a:extLst>
          </p:cNvPr>
          <p:cNvSpPr/>
          <p:nvPr/>
        </p:nvSpPr>
        <p:spPr>
          <a:xfrm>
            <a:off x="7268369" y="2110415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>
              <a:solidFill>
                <a:srgbClr val="7030A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14AE62-6A8B-FB97-9ED5-582BB0BBB4E9}"/>
              </a:ext>
            </a:extLst>
          </p:cNvPr>
          <p:cNvSpPr/>
          <p:nvPr/>
        </p:nvSpPr>
        <p:spPr>
          <a:xfrm>
            <a:off x="9286604" y="2072865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7A9271-C670-BF19-9DF5-B592DC283775}"/>
              </a:ext>
            </a:extLst>
          </p:cNvPr>
          <p:cNvSpPr/>
          <p:nvPr/>
        </p:nvSpPr>
        <p:spPr>
          <a:xfrm>
            <a:off x="8436846" y="2071311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3" name="Flecha: hacia arriba 2">
            <a:extLst>
              <a:ext uri="{FF2B5EF4-FFF2-40B4-BE49-F238E27FC236}">
                <a16:creationId xmlns:a16="http://schemas.microsoft.com/office/drawing/2014/main" id="{44DE7CE6-43D8-2D3D-EA84-23AF67F9A25D}"/>
              </a:ext>
            </a:extLst>
          </p:cNvPr>
          <p:cNvSpPr/>
          <p:nvPr/>
        </p:nvSpPr>
        <p:spPr>
          <a:xfrm rot="5400000">
            <a:off x="4917557" y="1739901"/>
            <a:ext cx="484632" cy="978408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A3FB05D-B9C4-733D-6B53-B4CCDA6ABB94}"/>
              </a:ext>
            </a:extLst>
          </p:cNvPr>
          <p:cNvSpPr txBox="1">
            <a:spLocks/>
          </p:cNvSpPr>
          <p:nvPr/>
        </p:nvSpPr>
        <p:spPr>
          <a:xfrm>
            <a:off x="203649" y="207460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Segunda versión de la jerarquía de la computabilidad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644F50B-C410-7259-3829-3567E6A3F72A}"/>
              </a:ext>
            </a:extLst>
          </p:cNvPr>
          <p:cNvSpPr/>
          <p:nvPr/>
        </p:nvSpPr>
        <p:spPr>
          <a:xfrm>
            <a:off x="383584" y="4344563"/>
            <a:ext cx="113778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Claramente se cumple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RE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⋂ CO-RE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spcAft>
                <a:spcPts val="0"/>
              </a:spcAft>
            </a:pPr>
            <a:endParaRPr lang="es-AR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60000">
              <a:spcAft>
                <a:spcPts val="0"/>
              </a:spcAf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RE por definición.</a:t>
            </a:r>
          </a:p>
          <a:p>
            <a:endParaRPr lang="es-AR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60000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CO-RE porque:</a:t>
            </a:r>
          </a:p>
          <a:p>
            <a:pPr marL="360000"/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 L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R, entonces también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∈ R, por lo que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∈ RE, y así por definición: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L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CO-RE.</a:t>
            </a:r>
          </a:p>
          <a:p>
            <a:pPr marL="360000"/>
            <a:endParaRPr lang="es-AR" sz="30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Veamos que también se cumple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RE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⋂ CO-RE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R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y por lo tanto la igualdad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RE 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⋂ CO-RE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2B0EBAB9-9511-886E-0431-F189389F483A}"/>
              </a:ext>
            </a:extLst>
          </p:cNvPr>
          <p:cNvSpPr/>
          <p:nvPr/>
        </p:nvSpPr>
        <p:spPr>
          <a:xfrm>
            <a:off x="5314875" y="4270092"/>
            <a:ext cx="2303753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Diagrama de flujo: conector 25">
            <a:extLst>
              <a:ext uri="{FF2B5EF4-FFF2-40B4-BE49-F238E27FC236}">
                <a16:creationId xmlns:a16="http://schemas.microsoft.com/office/drawing/2014/main" id="{3C2478C6-0CD6-507E-3CE8-C79FAF1DA266}"/>
              </a:ext>
            </a:extLst>
          </p:cNvPr>
          <p:cNvSpPr/>
          <p:nvPr/>
        </p:nvSpPr>
        <p:spPr>
          <a:xfrm>
            <a:off x="6902871" y="4268620"/>
            <a:ext cx="2484634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33A9920-90C3-58FB-AF71-CD4DE61AB6FF}"/>
              </a:ext>
            </a:extLst>
          </p:cNvPr>
          <p:cNvSpPr/>
          <p:nvPr/>
        </p:nvSpPr>
        <p:spPr>
          <a:xfrm>
            <a:off x="7119565" y="463284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C45496C-058E-DD78-ABCA-0ED39E2B0352}"/>
              </a:ext>
            </a:extLst>
          </p:cNvPr>
          <p:cNvSpPr/>
          <p:nvPr/>
        </p:nvSpPr>
        <p:spPr>
          <a:xfrm>
            <a:off x="6892932" y="4441456"/>
            <a:ext cx="659974" cy="8210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2C3B82A-5502-B00E-1117-60397BED7EE7}"/>
              </a:ext>
            </a:extLst>
          </p:cNvPr>
          <p:cNvSpPr/>
          <p:nvPr/>
        </p:nvSpPr>
        <p:spPr>
          <a:xfrm>
            <a:off x="5905087" y="4670396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>
              <a:solidFill>
                <a:srgbClr val="7030A0"/>
              </a:solidFill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3875CC7-2183-5749-D82E-426AB90B3FE7}"/>
              </a:ext>
            </a:extLst>
          </p:cNvPr>
          <p:cNvSpPr/>
          <p:nvPr/>
        </p:nvSpPr>
        <p:spPr>
          <a:xfrm>
            <a:off x="7923322" y="4632846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ABDA2CB-6F01-FE69-9F31-06439CA8A72C}"/>
              </a:ext>
            </a:extLst>
          </p:cNvPr>
          <p:cNvSpPr/>
          <p:nvPr/>
        </p:nvSpPr>
        <p:spPr>
          <a:xfrm>
            <a:off x="7044508" y="4470341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15FD040-C08B-6109-D745-D0B42651A8B7}"/>
              </a:ext>
            </a:extLst>
          </p:cNvPr>
          <p:cNvSpPr txBox="1"/>
          <p:nvPr/>
        </p:nvSpPr>
        <p:spPr>
          <a:xfrm>
            <a:off x="6985718" y="4856906"/>
            <a:ext cx="410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58E79CB-A68D-B1DF-A415-81537FC89923}"/>
              </a:ext>
            </a:extLst>
          </p:cNvPr>
          <p:cNvSpPr txBox="1"/>
          <p:nvPr/>
        </p:nvSpPr>
        <p:spPr>
          <a:xfrm>
            <a:off x="7191014" y="4849777"/>
            <a:ext cx="481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554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94F4-508F-FB72-1818-F8768AB7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3C4E5D5E-9835-FFF3-387F-FD1CB4E861DD}"/>
              </a:ext>
            </a:extLst>
          </p:cNvPr>
          <p:cNvSpPr/>
          <p:nvPr/>
        </p:nvSpPr>
        <p:spPr>
          <a:xfrm>
            <a:off x="6332522" y="2101082"/>
            <a:ext cx="740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Titulo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8B6F6C4-2E20-8BC9-9673-17E1968AB210}"/>
              </a:ext>
            </a:extLst>
          </p:cNvPr>
          <p:cNvSpPr/>
          <p:nvPr/>
        </p:nvSpPr>
        <p:spPr>
          <a:xfrm>
            <a:off x="5914425" y="1401970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1B94C1B-882E-D7F6-9D28-138546859A5A}"/>
              </a:ext>
            </a:extLst>
          </p:cNvPr>
          <p:cNvSpPr/>
          <p:nvPr/>
        </p:nvSpPr>
        <p:spPr>
          <a:xfrm>
            <a:off x="276921" y="204271"/>
            <a:ext cx="11581330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Propiedad 4.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⋂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CO-RE = 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  Sólo falta probar la inclusión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RE 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⋂ CO-RE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R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Hay que probar:</a:t>
            </a:r>
          </a:p>
          <a:p>
            <a:pPr algn="just">
              <a:lnSpc>
                <a:spcPct val="150000"/>
              </a:lnSpc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si existe una MT M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que acepta L,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    y existe una MT M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que acepta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just">
              <a:lnSpc>
                <a:spcPct val="150000"/>
              </a:lnSpc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también existe una MT M que</a:t>
            </a:r>
          </a:p>
          <a:p>
            <a:pPr algn="just">
              <a:lnSpc>
                <a:spcPct val="150000"/>
              </a:lnSpc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acepta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 y siempre para (decide L).</a:t>
            </a: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Idea general:</a:t>
            </a:r>
          </a:p>
          <a:p>
            <a:pPr algn="just">
              <a:lnSpc>
                <a:spcPct val="150000"/>
              </a:lnSpc>
            </a:pPr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			       </a:t>
            </a:r>
            <a:endParaRPr lang="es-A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A1E555F2-7A83-69BC-59F4-9DDAA7A82B0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A01B8B6-A0D9-138A-AADE-79E67F6ECDC8}"/>
              </a:ext>
            </a:extLst>
          </p:cNvPr>
          <p:cNvSpPr/>
          <p:nvPr/>
        </p:nvSpPr>
        <p:spPr>
          <a:xfrm>
            <a:off x="9550942" y="516623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E04496D6-93C3-A358-467F-A0A86C3D7D79}"/>
              </a:ext>
            </a:extLst>
          </p:cNvPr>
          <p:cNvSpPr/>
          <p:nvPr/>
        </p:nvSpPr>
        <p:spPr>
          <a:xfrm>
            <a:off x="7938537" y="977634"/>
            <a:ext cx="2255033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9D59C6EF-EAF6-23E1-456A-E6AB7FF0472B}"/>
              </a:ext>
            </a:extLst>
          </p:cNvPr>
          <p:cNvSpPr/>
          <p:nvPr/>
        </p:nvSpPr>
        <p:spPr>
          <a:xfrm>
            <a:off x="9477813" y="976162"/>
            <a:ext cx="2478352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12629183-CCBB-689A-D98B-FD722A137136}"/>
              </a:ext>
            </a:extLst>
          </p:cNvPr>
          <p:cNvSpPr/>
          <p:nvPr/>
        </p:nvSpPr>
        <p:spPr>
          <a:xfrm>
            <a:off x="7864681" y="586710"/>
            <a:ext cx="4159556" cy="189345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E69C6A4-874B-351F-AAB7-9A5AA584AA8D}"/>
              </a:ext>
            </a:extLst>
          </p:cNvPr>
          <p:cNvSpPr/>
          <p:nvPr/>
        </p:nvSpPr>
        <p:spPr>
          <a:xfrm>
            <a:off x="9694507" y="134038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219A880-A089-F589-006E-AD678319E304}"/>
              </a:ext>
            </a:extLst>
          </p:cNvPr>
          <p:cNvSpPr/>
          <p:nvPr/>
        </p:nvSpPr>
        <p:spPr>
          <a:xfrm>
            <a:off x="9481434" y="1158679"/>
            <a:ext cx="644887" cy="8031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2D1AFFD-A3FC-2CE5-3A27-998703708B67}"/>
              </a:ext>
            </a:extLst>
          </p:cNvPr>
          <p:cNvSpPr txBox="1"/>
          <p:nvPr/>
        </p:nvSpPr>
        <p:spPr>
          <a:xfrm>
            <a:off x="9537734" y="1557897"/>
            <a:ext cx="410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96534FF-AF5F-3CC0-1888-EF2FB6E428FD}"/>
              </a:ext>
            </a:extLst>
          </p:cNvPr>
          <p:cNvSpPr txBox="1"/>
          <p:nvPr/>
        </p:nvSpPr>
        <p:spPr>
          <a:xfrm>
            <a:off x="9766974" y="1548223"/>
            <a:ext cx="481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4B3018B-629C-9046-3148-6A7BFF3A5AC4}"/>
              </a:ext>
            </a:extLst>
          </p:cNvPr>
          <p:cNvSpPr/>
          <p:nvPr/>
        </p:nvSpPr>
        <p:spPr>
          <a:xfrm>
            <a:off x="8560811" y="1347727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>
              <a:solidFill>
                <a:srgbClr val="7030A0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776A3F9-8AE5-B2DA-C8AB-B5A1964E116B}"/>
              </a:ext>
            </a:extLst>
          </p:cNvPr>
          <p:cNvSpPr/>
          <p:nvPr/>
        </p:nvSpPr>
        <p:spPr>
          <a:xfrm>
            <a:off x="10551633" y="1373028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>
              <a:solidFill>
                <a:schemeClr val="accent6"/>
              </a:solidFill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E0F0826-FB72-A222-8630-0C1D34C20B51}"/>
              </a:ext>
            </a:extLst>
          </p:cNvPr>
          <p:cNvSpPr/>
          <p:nvPr/>
        </p:nvSpPr>
        <p:spPr>
          <a:xfrm>
            <a:off x="9629854" y="1217590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7B0055E-D25B-A72B-307F-19AB1BF72252}"/>
              </a:ext>
            </a:extLst>
          </p:cNvPr>
          <p:cNvSpPr/>
          <p:nvPr/>
        </p:nvSpPr>
        <p:spPr>
          <a:xfrm>
            <a:off x="2239751" y="3643402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D63937-8947-856B-68F4-4A2BB1F0C93C}"/>
              </a:ext>
            </a:extLst>
          </p:cNvPr>
          <p:cNvSpPr/>
          <p:nvPr/>
        </p:nvSpPr>
        <p:spPr>
          <a:xfrm>
            <a:off x="2234314" y="5577847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12A96A2-F3BE-60FB-4AD6-BF569D983C70}"/>
              </a:ext>
            </a:extLst>
          </p:cNvPr>
          <p:cNvSpPr/>
          <p:nvPr/>
        </p:nvSpPr>
        <p:spPr>
          <a:xfrm>
            <a:off x="381540" y="439783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E70D54C-8D20-1736-8DBD-0A25098A1582}"/>
              </a:ext>
            </a:extLst>
          </p:cNvPr>
          <p:cNvSpPr/>
          <p:nvPr/>
        </p:nvSpPr>
        <p:spPr>
          <a:xfrm>
            <a:off x="1977855" y="336597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E563F16-6E46-B867-5DCE-C22A8B25322F}"/>
              </a:ext>
            </a:extLst>
          </p:cNvPr>
          <p:cNvCxnSpPr>
            <a:cxnSpLocks/>
          </p:cNvCxnSpPr>
          <p:nvPr/>
        </p:nvCxnSpPr>
        <p:spPr>
          <a:xfrm>
            <a:off x="110935" y="4771110"/>
            <a:ext cx="112095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grama de flujo: proceso 16">
            <a:extLst>
              <a:ext uri="{FF2B5EF4-FFF2-40B4-BE49-F238E27FC236}">
                <a16:creationId xmlns:a16="http://schemas.microsoft.com/office/drawing/2014/main" id="{ADA8C79A-2A03-C079-DAD3-1FAF557A667B}"/>
              </a:ext>
            </a:extLst>
          </p:cNvPr>
          <p:cNvSpPr/>
          <p:nvPr/>
        </p:nvSpPr>
        <p:spPr>
          <a:xfrm>
            <a:off x="909551" y="3142787"/>
            <a:ext cx="2512341" cy="3176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564495B-C109-DC3F-B101-83F424DABA1E}"/>
              </a:ext>
            </a:extLst>
          </p:cNvPr>
          <p:cNvCxnSpPr>
            <a:cxnSpLocks/>
          </p:cNvCxnSpPr>
          <p:nvPr/>
        </p:nvCxnSpPr>
        <p:spPr>
          <a:xfrm>
            <a:off x="1231876" y="3797418"/>
            <a:ext cx="7430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209A057-A3DD-ADA0-8F22-9E5D7CB1E2AC}"/>
              </a:ext>
            </a:extLst>
          </p:cNvPr>
          <p:cNvSpPr/>
          <p:nvPr/>
        </p:nvSpPr>
        <p:spPr>
          <a:xfrm>
            <a:off x="1970840" y="5246972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2C3818E-9C59-4BC0-4248-1C11EB439460}"/>
              </a:ext>
            </a:extLst>
          </p:cNvPr>
          <p:cNvCxnSpPr>
            <a:cxnSpLocks/>
          </p:cNvCxnSpPr>
          <p:nvPr/>
        </p:nvCxnSpPr>
        <p:spPr>
          <a:xfrm>
            <a:off x="1231876" y="3797418"/>
            <a:ext cx="0" cy="190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A2F8142-7CF6-FFBE-52BF-D1F225AEAD9E}"/>
              </a:ext>
            </a:extLst>
          </p:cNvPr>
          <p:cNvCxnSpPr>
            <a:cxnSpLocks/>
          </p:cNvCxnSpPr>
          <p:nvPr/>
        </p:nvCxnSpPr>
        <p:spPr>
          <a:xfrm>
            <a:off x="1223251" y="5704172"/>
            <a:ext cx="75164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B6F00E6-2858-8BCF-AE31-B86BC1EBBA18}"/>
              </a:ext>
            </a:extLst>
          </p:cNvPr>
          <p:cNvSpPr/>
          <p:nvPr/>
        </p:nvSpPr>
        <p:spPr>
          <a:xfrm>
            <a:off x="1950683" y="279111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81B3549-5B23-6B10-0575-BFCF5366CD7C}"/>
              </a:ext>
            </a:extLst>
          </p:cNvPr>
          <p:cNvCxnSpPr>
            <a:cxnSpLocks/>
          </p:cNvCxnSpPr>
          <p:nvPr/>
        </p:nvCxnSpPr>
        <p:spPr>
          <a:xfrm flipV="1">
            <a:off x="2909890" y="3819445"/>
            <a:ext cx="512002" cy="37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5DA8305-06FA-C0EB-95CD-E17FDEF12230}"/>
              </a:ext>
            </a:extLst>
          </p:cNvPr>
          <p:cNvSpPr txBox="1"/>
          <p:nvPr/>
        </p:nvSpPr>
        <p:spPr>
          <a:xfrm>
            <a:off x="2913437" y="3497885"/>
            <a:ext cx="682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BCBBE1A-A0AC-93C7-282C-C2D579FA8E21}"/>
              </a:ext>
            </a:extLst>
          </p:cNvPr>
          <p:cNvSpPr txBox="1"/>
          <p:nvPr/>
        </p:nvSpPr>
        <p:spPr>
          <a:xfrm>
            <a:off x="1778375" y="6404192"/>
            <a:ext cx="911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Caso 1</a:t>
            </a:r>
            <a:endParaRPr lang="es-MX" sz="1600" b="1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198221B-C829-E535-BFBC-8738F5093E75}"/>
              </a:ext>
            </a:extLst>
          </p:cNvPr>
          <p:cNvSpPr/>
          <p:nvPr/>
        </p:nvSpPr>
        <p:spPr>
          <a:xfrm>
            <a:off x="6225100" y="363174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B70B2B8-00EE-87E6-2E4B-E093EB5C52E2}"/>
              </a:ext>
            </a:extLst>
          </p:cNvPr>
          <p:cNvSpPr/>
          <p:nvPr/>
        </p:nvSpPr>
        <p:spPr>
          <a:xfrm>
            <a:off x="6219663" y="5566186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2A7E01E-9773-0F74-1A5A-98E61FE7AF9E}"/>
              </a:ext>
            </a:extLst>
          </p:cNvPr>
          <p:cNvSpPr/>
          <p:nvPr/>
        </p:nvSpPr>
        <p:spPr>
          <a:xfrm>
            <a:off x="4319903" y="439730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BA04E4C-8C61-B18C-EBE1-63F4BB4E9898}"/>
              </a:ext>
            </a:extLst>
          </p:cNvPr>
          <p:cNvSpPr/>
          <p:nvPr/>
        </p:nvSpPr>
        <p:spPr>
          <a:xfrm>
            <a:off x="5963204" y="335431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601C33D-7F66-B786-7A6E-799FB7A46360}"/>
              </a:ext>
            </a:extLst>
          </p:cNvPr>
          <p:cNvCxnSpPr>
            <a:cxnSpLocks/>
          </p:cNvCxnSpPr>
          <p:nvPr/>
        </p:nvCxnSpPr>
        <p:spPr>
          <a:xfrm>
            <a:off x="4096284" y="4759449"/>
            <a:ext cx="112095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iagrama de flujo: proceso 39">
            <a:extLst>
              <a:ext uri="{FF2B5EF4-FFF2-40B4-BE49-F238E27FC236}">
                <a16:creationId xmlns:a16="http://schemas.microsoft.com/office/drawing/2014/main" id="{E62E8360-A0CA-8D7C-EDE2-A4C9F42D64D6}"/>
              </a:ext>
            </a:extLst>
          </p:cNvPr>
          <p:cNvSpPr/>
          <p:nvPr/>
        </p:nvSpPr>
        <p:spPr>
          <a:xfrm>
            <a:off x="4894899" y="3131126"/>
            <a:ext cx="2512341" cy="3176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3E01140-C4B4-F20F-03AD-12CFC3625447}"/>
              </a:ext>
            </a:extLst>
          </p:cNvPr>
          <p:cNvCxnSpPr>
            <a:cxnSpLocks/>
          </p:cNvCxnSpPr>
          <p:nvPr/>
        </p:nvCxnSpPr>
        <p:spPr>
          <a:xfrm>
            <a:off x="5217225" y="3785757"/>
            <a:ext cx="7430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8526478-7A0E-11B0-7399-F4023401B1AF}"/>
              </a:ext>
            </a:extLst>
          </p:cNvPr>
          <p:cNvSpPr/>
          <p:nvPr/>
        </p:nvSpPr>
        <p:spPr>
          <a:xfrm>
            <a:off x="5956189" y="523531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EBA2C6FC-7089-BA8A-C098-DC4B2116F541}"/>
              </a:ext>
            </a:extLst>
          </p:cNvPr>
          <p:cNvCxnSpPr>
            <a:cxnSpLocks/>
          </p:cNvCxnSpPr>
          <p:nvPr/>
        </p:nvCxnSpPr>
        <p:spPr>
          <a:xfrm>
            <a:off x="5217225" y="3785757"/>
            <a:ext cx="0" cy="190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A593F5D9-C45E-5AEC-CE85-4B147BAD407A}"/>
              </a:ext>
            </a:extLst>
          </p:cNvPr>
          <p:cNvCxnSpPr>
            <a:cxnSpLocks/>
          </p:cNvCxnSpPr>
          <p:nvPr/>
        </p:nvCxnSpPr>
        <p:spPr>
          <a:xfrm>
            <a:off x="5208600" y="5692511"/>
            <a:ext cx="75164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996FA64-AD4C-3162-2334-C6BE27647AD9}"/>
              </a:ext>
            </a:extLst>
          </p:cNvPr>
          <p:cNvSpPr/>
          <p:nvPr/>
        </p:nvSpPr>
        <p:spPr>
          <a:xfrm>
            <a:off x="5979258" y="277402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8A62507-E173-968F-D76B-4769C62EDD64}"/>
              </a:ext>
            </a:extLst>
          </p:cNvPr>
          <p:cNvSpPr txBox="1"/>
          <p:nvPr/>
        </p:nvSpPr>
        <p:spPr>
          <a:xfrm>
            <a:off x="5726202" y="6380038"/>
            <a:ext cx="911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Caso 2</a:t>
            </a:r>
            <a:endParaRPr lang="es-MX" sz="1600" b="1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8E5A12D-ABAB-FB29-C1AA-522E342F2DDA}"/>
              </a:ext>
            </a:extLst>
          </p:cNvPr>
          <p:cNvSpPr txBox="1"/>
          <p:nvPr/>
        </p:nvSpPr>
        <p:spPr>
          <a:xfrm>
            <a:off x="8491599" y="2818397"/>
            <a:ext cx="333952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 ejecuta en paralelo M</a:t>
            </a:r>
            <a:r>
              <a:rPr lang="es-MX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 y M</a:t>
            </a:r>
            <a:r>
              <a:rPr lang="es-MX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acepta w, M acepta w.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acepta w, M rechaza w.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Cualquiera sea w, 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la acepta o 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la acepta.</a:t>
            </a:r>
          </a:p>
          <a:p>
            <a:endParaRPr lang="es-MX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qué?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E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Porque toda cadena w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pertenece a L o a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A8C667F7-D3D5-BB23-7AA5-7558C90793AA}"/>
              </a:ext>
            </a:extLst>
          </p:cNvPr>
          <p:cNvCxnSpPr>
            <a:cxnSpLocks/>
          </p:cNvCxnSpPr>
          <p:nvPr/>
        </p:nvCxnSpPr>
        <p:spPr>
          <a:xfrm flipV="1">
            <a:off x="3443027" y="4754504"/>
            <a:ext cx="512002" cy="37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CAAC1C1-B45C-49E3-3AD7-A11D6677910D}"/>
              </a:ext>
            </a:extLst>
          </p:cNvPr>
          <p:cNvSpPr txBox="1"/>
          <p:nvPr/>
        </p:nvSpPr>
        <p:spPr>
          <a:xfrm>
            <a:off x="3446574" y="4432944"/>
            <a:ext cx="682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B9D2A4C3-7D9E-6818-AE5E-C35C8D54889F}"/>
              </a:ext>
            </a:extLst>
          </p:cNvPr>
          <p:cNvCxnSpPr>
            <a:cxnSpLocks/>
          </p:cNvCxnSpPr>
          <p:nvPr/>
        </p:nvCxnSpPr>
        <p:spPr>
          <a:xfrm flipV="1">
            <a:off x="6879316" y="5703080"/>
            <a:ext cx="512002" cy="37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7B55BBB-F18B-E005-90DC-4DAE24C5CC72}"/>
              </a:ext>
            </a:extLst>
          </p:cNvPr>
          <p:cNvSpPr txBox="1"/>
          <p:nvPr/>
        </p:nvSpPr>
        <p:spPr>
          <a:xfrm>
            <a:off x="6882863" y="5381520"/>
            <a:ext cx="682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F89A7E24-BDC3-0FBA-0AD3-FEAA3F0258F5}"/>
              </a:ext>
            </a:extLst>
          </p:cNvPr>
          <p:cNvCxnSpPr>
            <a:cxnSpLocks/>
          </p:cNvCxnSpPr>
          <p:nvPr/>
        </p:nvCxnSpPr>
        <p:spPr>
          <a:xfrm flipV="1">
            <a:off x="7412318" y="4757439"/>
            <a:ext cx="512002" cy="37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1F216E07-6C6D-FC12-A6DA-603516DA09D7}"/>
              </a:ext>
            </a:extLst>
          </p:cNvPr>
          <p:cNvSpPr txBox="1"/>
          <p:nvPr/>
        </p:nvSpPr>
        <p:spPr>
          <a:xfrm>
            <a:off x="7415865" y="4435879"/>
            <a:ext cx="682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C7DF5A6-0476-2B7A-2C04-1D3762E00D3C}"/>
              </a:ext>
            </a:extLst>
          </p:cNvPr>
          <p:cNvSpPr txBox="1"/>
          <p:nvPr/>
        </p:nvSpPr>
        <p:spPr>
          <a:xfrm>
            <a:off x="5284557" y="570816"/>
            <a:ext cx="42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dirty="0"/>
          </a:p>
        </p:txBody>
      </p:sp>
      <p:sp>
        <p:nvSpPr>
          <p:cNvPr id="5" name="Diagrama de flujo: retraso 4">
            <a:extLst>
              <a:ext uri="{FF2B5EF4-FFF2-40B4-BE49-F238E27FC236}">
                <a16:creationId xmlns:a16="http://schemas.microsoft.com/office/drawing/2014/main" id="{09F09ED6-32D6-1BAA-815C-52826B70A1DE}"/>
              </a:ext>
            </a:extLst>
          </p:cNvPr>
          <p:cNvSpPr/>
          <p:nvPr/>
        </p:nvSpPr>
        <p:spPr>
          <a:xfrm rot="5400000">
            <a:off x="5193475" y="1437210"/>
            <a:ext cx="611233" cy="776530"/>
          </a:xfrm>
          <a:prstGeom prst="flowChartDelay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Diagrama de flujo: retraso 26">
            <a:extLst>
              <a:ext uri="{FF2B5EF4-FFF2-40B4-BE49-F238E27FC236}">
                <a16:creationId xmlns:a16="http://schemas.microsoft.com/office/drawing/2014/main" id="{0ACE11B6-7D5F-D3BA-9C24-1B182E89A721}"/>
              </a:ext>
            </a:extLst>
          </p:cNvPr>
          <p:cNvSpPr/>
          <p:nvPr/>
        </p:nvSpPr>
        <p:spPr>
          <a:xfrm rot="-5400000">
            <a:off x="5192769" y="816658"/>
            <a:ext cx="612648" cy="776529"/>
          </a:xfrm>
          <a:prstGeom prst="flowChartDela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4A0E2E1-D6C2-59FB-7BF5-594F93E93006}"/>
              </a:ext>
            </a:extLst>
          </p:cNvPr>
          <p:cNvSpPr txBox="1"/>
          <p:nvPr/>
        </p:nvSpPr>
        <p:spPr>
          <a:xfrm>
            <a:off x="5347421" y="1091653"/>
            <a:ext cx="3111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6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B82CAC5-2174-D0EB-AB03-8BD59240DE83}"/>
              </a:ext>
            </a:extLst>
          </p:cNvPr>
          <p:cNvSpPr txBox="1"/>
          <p:nvPr/>
        </p:nvSpPr>
        <p:spPr>
          <a:xfrm>
            <a:off x="5347421" y="1623263"/>
            <a:ext cx="4487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1600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 </a:t>
            </a:r>
            <a:endParaRPr lang="es-AR" sz="1600" dirty="0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5A7BF96E-84FD-D47D-D8D8-D1AEB6C97287}"/>
              </a:ext>
            </a:extLst>
          </p:cNvPr>
          <p:cNvSpPr/>
          <p:nvPr/>
        </p:nvSpPr>
        <p:spPr>
          <a:xfrm>
            <a:off x="4330087" y="1101732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05109E40-7D06-3756-9CFA-C16F57FACD12}"/>
              </a:ext>
            </a:extLst>
          </p:cNvPr>
          <p:cNvSpPr/>
          <p:nvPr/>
        </p:nvSpPr>
        <p:spPr>
          <a:xfrm>
            <a:off x="4330745" y="155274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AE4B524D-73B9-E6FF-CC94-0C4FFC1F2725}"/>
              </a:ext>
            </a:extLst>
          </p:cNvPr>
          <p:cNvCxnSpPr>
            <a:cxnSpLocks/>
          </p:cNvCxnSpPr>
          <p:nvPr/>
        </p:nvCxnSpPr>
        <p:spPr>
          <a:xfrm flipH="1">
            <a:off x="5664310" y="1260930"/>
            <a:ext cx="572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DFC0ABB4-BBF6-3916-DB6F-2F2B30BB9E5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711903" y="1260930"/>
            <a:ext cx="572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ángulo 54">
            <a:extLst>
              <a:ext uri="{FF2B5EF4-FFF2-40B4-BE49-F238E27FC236}">
                <a16:creationId xmlns:a16="http://schemas.microsoft.com/office/drawing/2014/main" id="{49C7C7A9-8595-8344-0526-5E4E4CF9E15B}"/>
              </a:ext>
            </a:extLst>
          </p:cNvPr>
          <p:cNvSpPr/>
          <p:nvPr/>
        </p:nvSpPr>
        <p:spPr>
          <a:xfrm>
            <a:off x="6231312" y="1092389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dirty="0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396C3A6-1128-4BD0-E4F5-51069516EF9F}"/>
              </a:ext>
            </a:extLst>
          </p:cNvPr>
          <p:cNvCxnSpPr>
            <a:cxnSpLocks/>
          </p:cNvCxnSpPr>
          <p:nvPr/>
        </p:nvCxnSpPr>
        <p:spPr>
          <a:xfrm rot="10800000" flipH="1">
            <a:off x="4743122" y="1763786"/>
            <a:ext cx="572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0CDEE81-0092-0008-5C45-39805E87D8E3}"/>
              </a:ext>
            </a:extLst>
          </p:cNvPr>
          <p:cNvSpPr txBox="1"/>
          <p:nvPr/>
        </p:nvSpPr>
        <p:spPr>
          <a:xfrm>
            <a:off x="4173381" y="1838128"/>
            <a:ext cx="10348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pueden</a:t>
            </a:r>
          </a:p>
          <a:p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parar</a:t>
            </a:r>
            <a:endParaRPr lang="es-MX" sz="1600" b="1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7319E12-2C42-DC82-F964-3D0E010FA832}"/>
              </a:ext>
            </a:extLst>
          </p:cNvPr>
          <p:cNvSpPr txBox="1"/>
          <p:nvPr/>
        </p:nvSpPr>
        <p:spPr>
          <a:xfrm>
            <a:off x="6157977" y="1344656"/>
            <a:ext cx="6371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para</a:t>
            </a:r>
            <a:endParaRPr lang="es-MX" sz="1600" b="1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10ADC1E-D558-05E4-33DC-8598A8B884A9}"/>
              </a:ext>
            </a:extLst>
          </p:cNvPr>
          <p:cNvSpPr txBox="1"/>
          <p:nvPr/>
        </p:nvSpPr>
        <p:spPr>
          <a:xfrm>
            <a:off x="7758592" y="5614173"/>
            <a:ext cx="4398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Conclusión: si un problema y el problema contrario son computables, entonces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mbos son </a:t>
            </a:r>
            <a:r>
              <a:rPr lang="es-AR" sz="1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ES" sz="1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68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  <p:bldP spid="14" grpId="0" animBg="1"/>
      <p:bldP spid="17" grpId="0" animBg="1"/>
      <p:bldP spid="19" grpId="0" animBg="1"/>
      <p:bldP spid="23" grpId="0"/>
      <p:bldP spid="28" grpId="0"/>
      <p:bldP spid="34" grpId="0"/>
      <p:bldP spid="35" grpId="0"/>
      <p:bldP spid="36" grpId="0"/>
      <p:bldP spid="37" grpId="0"/>
      <p:bldP spid="38" grpId="0" animBg="1"/>
      <p:bldP spid="40" grpId="0" animBg="1"/>
      <p:bldP spid="42" grpId="0" animBg="1"/>
      <p:bldP spid="45" grpId="0"/>
      <p:bldP spid="50" grpId="0"/>
      <p:bldP spid="56" grpId="0"/>
      <p:bldP spid="58" grpId="0"/>
      <p:bldP spid="60" grpId="0"/>
      <p:bldP spid="6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4041-9E7B-CA96-3B96-B26B544D9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73E0C23-069F-CCF2-066F-46DA84AC6254}"/>
              </a:ext>
            </a:extLst>
          </p:cNvPr>
          <p:cNvSpPr/>
          <p:nvPr/>
        </p:nvSpPr>
        <p:spPr>
          <a:xfrm>
            <a:off x="9129598" y="2151165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45" name="Diagrama de flujo: conector 44">
            <a:extLst>
              <a:ext uri="{FF2B5EF4-FFF2-40B4-BE49-F238E27FC236}">
                <a16:creationId xmlns:a16="http://schemas.microsoft.com/office/drawing/2014/main" id="{18AC29FB-D769-5453-7630-3B27E5D1409F}"/>
              </a:ext>
            </a:extLst>
          </p:cNvPr>
          <p:cNvSpPr/>
          <p:nvPr/>
        </p:nvSpPr>
        <p:spPr>
          <a:xfrm>
            <a:off x="7440033" y="2875231"/>
            <a:ext cx="2303753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Diagrama de flujo: conector 45">
            <a:extLst>
              <a:ext uri="{FF2B5EF4-FFF2-40B4-BE49-F238E27FC236}">
                <a16:creationId xmlns:a16="http://schemas.microsoft.com/office/drawing/2014/main" id="{F6121C5D-F7CF-4075-69FA-413FB6194EEF}"/>
              </a:ext>
            </a:extLst>
          </p:cNvPr>
          <p:cNvSpPr/>
          <p:nvPr/>
        </p:nvSpPr>
        <p:spPr>
          <a:xfrm>
            <a:off x="9028029" y="2873759"/>
            <a:ext cx="2484634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DE9E7600-948E-47EE-9B30-14F700711AD3}"/>
              </a:ext>
            </a:extLst>
          </p:cNvPr>
          <p:cNvSpPr/>
          <p:nvPr/>
        </p:nvSpPr>
        <p:spPr>
          <a:xfrm>
            <a:off x="7324085" y="2254337"/>
            <a:ext cx="4309341" cy="216048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81EB2EE4-C174-E739-FEDB-B760B5F410E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49C5C1E-9C54-A44A-0F7D-02D15BCB7015}"/>
              </a:ext>
            </a:extLst>
          </p:cNvPr>
          <p:cNvSpPr/>
          <p:nvPr/>
        </p:nvSpPr>
        <p:spPr>
          <a:xfrm>
            <a:off x="9244723" y="32379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1150649-1489-4F93-3796-CDDD35EE84FC}"/>
              </a:ext>
            </a:extLst>
          </p:cNvPr>
          <p:cNvSpPr/>
          <p:nvPr/>
        </p:nvSpPr>
        <p:spPr>
          <a:xfrm>
            <a:off x="7872889" y="32437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37FA05A-FFED-E6B8-2FBC-D7825D4B8838}"/>
              </a:ext>
            </a:extLst>
          </p:cNvPr>
          <p:cNvSpPr/>
          <p:nvPr/>
        </p:nvSpPr>
        <p:spPr>
          <a:xfrm>
            <a:off x="10523354" y="322012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850B0EB-C717-9170-8149-D8E614A5CB15}"/>
              </a:ext>
            </a:extLst>
          </p:cNvPr>
          <p:cNvSpPr/>
          <p:nvPr/>
        </p:nvSpPr>
        <p:spPr>
          <a:xfrm>
            <a:off x="9206542" y="25840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62DC521-977A-7B68-5FCA-9F483AC7E484}"/>
              </a:ext>
            </a:extLst>
          </p:cNvPr>
          <p:cNvSpPr/>
          <p:nvPr/>
        </p:nvSpPr>
        <p:spPr>
          <a:xfrm>
            <a:off x="772840" y="995067"/>
            <a:ext cx="54767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Región 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(lenguajes con MT que siempre paran) </a:t>
            </a: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Conjunto R.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está en R, entonces L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está en R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Región 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(lenguajes con MT) </a:t>
            </a: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Conjunto RE – R.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está en RE, entonces L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está en CO-RE</a:t>
            </a:r>
          </a:p>
          <a:p>
            <a:pPr marL="457200" indent="-457200">
              <a:buAutoNum type="arabicPeriod"/>
            </a:pP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F8D6C12-4A07-5587-8B2A-78F6F9286D4E}"/>
              </a:ext>
            </a:extLst>
          </p:cNvPr>
          <p:cNvSpPr/>
          <p:nvPr/>
        </p:nvSpPr>
        <p:spPr>
          <a:xfrm>
            <a:off x="9018090" y="3046595"/>
            <a:ext cx="659974" cy="82101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377F20F-29DD-1FC2-EA34-E961CBCEA6BC}"/>
              </a:ext>
            </a:extLst>
          </p:cNvPr>
          <p:cNvSpPr/>
          <p:nvPr/>
        </p:nvSpPr>
        <p:spPr>
          <a:xfrm>
            <a:off x="9221779" y="328052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C76B3F9-74E8-4F9A-2DF9-8E70C45DE0BC}"/>
              </a:ext>
            </a:extLst>
          </p:cNvPr>
          <p:cNvSpPr txBox="1"/>
          <p:nvPr/>
        </p:nvSpPr>
        <p:spPr>
          <a:xfrm>
            <a:off x="9020208" y="3493792"/>
            <a:ext cx="410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sz="14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097E6F-85BC-249C-4B34-67B40A04F157}"/>
              </a:ext>
            </a:extLst>
          </p:cNvPr>
          <p:cNvSpPr txBox="1"/>
          <p:nvPr/>
        </p:nvSpPr>
        <p:spPr>
          <a:xfrm>
            <a:off x="9280291" y="3485101"/>
            <a:ext cx="481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1129506-6996-C00D-8422-94D68C900093}"/>
              </a:ext>
            </a:extLst>
          </p:cNvPr>
          <p:cNvSpPr txBox="1"/>
          <p:nvPr/>
        </p:nvSpPr>
        <p:spPr>
          <a:xfrm>
            <a:off x="8376054" y="3511698"/>
            <a:ext cx="410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4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5D5416F-6290-A9DA-5E63-805F3D704E7E}"/>
              </a:ext>
            </a:extLst>
          </p:cNvPr>
          <p:cNvSpPr txBox="1"/>
          <p:nvPr/>
        </p:nvSpPr>
        <p:spPr>
          <a:xfrm>
            <a:off x="10060263" y="3500834"/>
            <a:ext cx="481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DF069EB-46B6-2CD5-ED76-F26B8076F1B7}"/>
              </a:ext>
            </a:extLst>
          </p:cNvPr>
          <p:cNvSpPr txBox="1"/>
          <p:nvPr/>
        </p:nvSpPr>
        <p:spPr>
          <a:xfrm>
            <a:off x="8895340" y="4092930"/>
            <a:ext cx="848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AR" sz="14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2182113-94EA-6134-EC92-EED506DC0696}"/>
              </a:ext>
            </a:extLst>
          </p:cNvPr>
          <p:cNvSpPr txBox="1"/>
          <p:nvPr/>
        </p:nvSpPr>
        <p:spPr>
          <a:xfrm>
            <a:off x="9678331" y="4072717"/>
            <a:ext cx="481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9B17CFF8-8C46-DB64-B981-5D0EB6EE5046}"/>
              </a:ext>
            </a:extLst>
          </p:cNvPr>
          <p:cNvSpPr txBox="1"/>
          <p:nvPr/>
        </p:nvSpPr>
        <p:spPr>
          <a:xfrm>
            <a:off x="747257" y="4103402"/>
            <a:ext cx="76176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Región 3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(lenguajes sin MT, con complementos con MT) </a:t>
            </a: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Conjunto CO-RE – R.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está en CO-RE, entonces L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está en RE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Región 4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(lenguajes sin MT, con complementos sin MT)</a:t>
            </a: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Conjunto </a:t>
            </a:r>
            <a:r>
              <a:rPr lang="es-E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CO-RE).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está en </a:t>
            </a:r>
            <a:r>
              <a:rPr lang="es-E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(RE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CO-RE), entonces L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está en </a:t>
            </a:r>
            <a:r>
              <a:rPr lang="es-E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(RE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CO-RE)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B48F1F-27D5-3D1F-6AA1-E21388DEB40B}"/>
              </a:ext>
            </a:extLst>
          </p:cNvPr>
          <p:cNvSpPr/>
          <p:nvPr/>
        </p:nvSpPr>
        <p:spPr>
          <a:xfrm>
            <a:off x="7787107" y="2969315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>
              <a:solidFill>
                <a:srgbClr val="7030A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BEE175-EEA6-0FBE-B271-0F5517278825}"/>
              </a:ext>
            </a:extLst>
          </p:cNvPr>
          <p:cNvSpPr/>
          <p:nvPr/>
        </p:nvSpPr>
        <p:spPr>
          <a:xfrm>
            <a:off x="10183583" y="2962858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DACA9D-DFFB-9B3E-72A9-6D4D5AC7B70A}"/>
              </a:ext>
            </a:extLst>
          </p:cNvPr>
          <p:cNvSpPr/>
          <p:nvPr/>
        </p:nvSpPr>
        <p:spPr>
          <a:xfrm>
            <a:off x="9175074" y="3039467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BB6B553-1D5E-F40D-E549-9E8259ED80A2}"/>
              </a:ext>
            </a:extLst>
          </p:cNvPr>
          <p:cNvSpPr txBox="1">
            <a:spLocks/>
          </p:cNvSpPr>
          <p:nvPr/>
        </p:nvSpPr>
        <p:spPr>
          <a:xfrm>
            <a:off x="203649" y="207460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Las cuatro regiones de la jerarquía de la computabilidad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D40E10E-8F4A-A052-F687-285F8B4F2F23}"/>
              </a:ext>
            </a:extLst>
          </p:cNvPr>
          <p:cNvSpPr txBox="1"/>
          <p:nvPr/>
        </p:nvSpPr>
        <p:spPr>
          <a:xfrm>
            <a:off x="7625824" y="4414817"/>
            <a:ext cx="4007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Las cuatro regiones de la jerarquía,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grado de dificultad creciente.</a:t>
            </a:r>
          </a:p>
        </p:txBody>
      </p:sp>
    </p:spTree>
    <p:extLst>
      <p:ext uri="{BB962C8B-B14F-4D97-AF65-F5344CB8AC3E}">
        <p14:creationId xmlns:p14="http://schemas.microsoft.com/office/powerpoint/2010/main" val="2446062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654946" y="4169772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03649" y="904540"/>
            <a:ext cx="1122249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la parada de una MT o </a:t>
            </a:r>
            <a:r>
              <a:rPr lang="es-A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halting</a:t>
            </a:r>
            <a:r>
              <a:rPr lang="es-A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es-AR" b="1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s-A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Dada una MT M y una cadena w, ¿M para a partir de w? El lenguaje que representa el problema es:</a:t>
            </a:r>
          </a:p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HP = {(&lt;M&gt;, w) | M para a partir de w}</a:t>
            </a:r>
          </a:p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tal que &lt;M&gt; es una codificación de la MT M.</a:t>
            </a:r>
          </a:p>
          <a:p>
            <a:endParaRPr lang="es-A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HP </a:t>
            </a:r>
            <a:r>
              <a:rPr lang="es-AR" sz="18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∈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 – R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(A. Turing, 1936).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5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65EF31F-E7D5-43EC-B8F5-26FFAAFA4E2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E52638-23E2-1A78-7E3F-14260850609F}"/>
              </a:ext>
            </a:extLst>
          </p:cNvPr>
          <p:cNvSpPr/>
          <p:nvPr/>
        </p:nvSpPr>
        <p:spPr>
          <a:xfrm>
            <a:off x="1226360" y="5754912"/>
            <a:ext cx="3887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Ejercicio: ¿cómo funcionaría M´?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B510A-5858-800F-0718-6AA78EFA9E9D}"/>
              </a:ext>
            </a:extLst>
          </p:cNvPr>
          <p:cNvSpPr/>
          <p:nvPr/>
        </p:nvSpPr>
        <p:spPr>
          <a:xfrm>
            <a:off x="4553884" y="3768582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38B5E3F-D0B1-2AA2-B435-595EF3AB00A1}"/>
              </a:ext>
            </a:extLst>
          </p:cNvPr>
          <p:cNvSpPr/>
          <p:nvPr/>
        </p:nvSpPr>
        <p:spPr>
          <a:xfrm>
            <a:off x="3169988" y="5265307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30E3545-0377-8233-61A1-034BE8E56BAE}"/>
              </a:ext>
            </a:extLst>
          </p:cNvPr>
          <p:cNvCxnSpPr>
            <a:cxnSpLocks/>
          </p:cNvCxnSpPr>
          <p:nvPr/>
        </p:nvCxnSpPr>
        <p:spPr>
          <a:xfrm>
            <a:off x="2867320" y="5069208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4DFE328-6624-EDAB-F831-DB5079C077B3}"/>
              </a:ext>
            </a:extLst>
          </p:cNvPr>
          <p:cNvCxnSpPr>
            <a:cxnSpLocks/>
          </p:cNvCxnSpPr>
          <p:nvPr/>
        </p:nvCxnSpPr>
        <p:spPr>
          <a:xfrm flipV="1">
            <a:off x="2867320" y="5467812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69192E8-5B85-97EE-C49F-15807038F080}"/>
              </a:ext>
            </a:extLst>
          </p:cNvPr>
          <p:cNvCxnSpPr>
            <a:cxnSpLocks/>
          </p:cNvCxnSpPr>
          <p:nvPr/>
        </p:nvCxnSpPr>
        <p:spPr>
          <a:xfrm flipV="1">
            <a:off x="3216488" y="5069208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5DFAD58-BB91-400A-A3A3-74C8DF36E856}"/>
              </a:ext>
            </a:extLst>
          </p:cNvPr>
          <p:cNvSpPr/>
          <p:nvPr/>
        </p:nvSpPr>
        <p:spPr>
          <a:xfrm>
            <a:off x="4601272" y="480606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6E523B4-CE33-C00D-F19C-B953B9E14C99}"/>
              </a:ext>
            </a:extLst>
          </p:cNvPr>
          <p:cNvSpPr/>
          <p:nvPr/>
        </p:nvSpPr>
        <p:spPr>
          <a:xfrm>
            <a:off x="2565930" y="413791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1B75E8E-D287-CDAB-2786-50C4EDB647EE}"/>
              </a:ext>
            </a:extLst>
          </p:cNvPr>
          <p:cNvCxnSpPr>
            <a:cxnSpLocks/>
          </p:cNvCxnSpPr>
          <p:nvPr/>
        </p:nvCxnSpPr>
        <p:spPr>
          <a:xfrm>
            <a:off x="1434776" y="4601911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22E9B2B-3A53-097A-85B1-AA72EE07D20F}"/>
              </a:ext>
            </a:extLst>
          </p:cNvPr>
          <p:cNvCxnSpPr>
            <a:cxnSpLocks/>
          </p:cNvCxnSpPr>
          <p:nvPr/>
        </p:nvCxnSpPr>
        <p:spPr>
          <a:xfrm>
            <a:off x="3480330" y="4625974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0413F9C-6219-7623-FD9A-5D3D41FF3549}"/>
              </a:ext>
            </a:extLst>
          </p:cNvPr>
          <p:cNvSpPr txBox="1">
            <a:spLocks/>
          </p:cNvSpPr>
          <p:nvPr/>
        </p:nvSpPr>
        <p:spPr>
          <a:xfrm>
            <a:off x="1392422" y="4317235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(&lt;M&gt;, w)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CD85482-C53E-04A1-D293-7FFB573A451E}"/>
              </a:ext>
            </a:extLst>
          </p:cNvPr>
          <p:cNvCxnSpPr>
            <a:cxnSpLocks/>
          </p:cNvCxnSpPr>
          <p:nvPr/>
        </p:nvCxnSpPr>
        <p:spPr>
          <a:xfrm flipV="1">
            <a:off x="3483239" y="3957162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21CF83DF-8CC1-973B-4875-3856A71CDB16}"/>
              </a:ext>
            </a:extLst>
          </p:cNvPr>
          <p:cNvSpPr txBox="1">
            <a:spLocks/>
          </p:cNvSpPr>
          <p:nvPr/>
        </p:nvSpPr>
        <p:spPr>
          <a:xfrm>
            <a:off x="2841644" y="3853348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M´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4046F03-F105-0A9B-80E6-3AE6B12EEB81}"/>
              </a:ext>
            </a:extLst>
          </p:cNvPr>
          <p:cNvSpPr/>
          <p:nvPr/>
        </p:nvSpPr>
        <p:spPr>
          <a:xfrm>
            <a:off x="8123662" y="3622234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48E1F155-80E9-DB56-C5B0-E0EBCD9ED4D2}"/>
              </a:ext>
            </a:extLst>
          </p:cNvPr>
          <p:cNvSpPr/>
          <p:nvPr/>
        </p:nvSpPr>
        <p:spPr>
          <a:xfrm>
            <a:off x="6431528" y="4088463"/>
            <a:ext cx="2249584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5806AAA9-810C-9A1C-0901-1EA9B19A5848}"/>
              </a:ext>
            </a:extLst>
          </p:cNvPr>
          <p:cNvSpPr/>
          <p:nvPr/>
        </p:nvSpPr>
        <p:spPr>
          <a:xfrm>
            <a:off x="7965355" y="4086991"/>
            <a:ext cx="2479108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ECED0E66-0483-E266-F374-EEB17CF7EBDE}"/>
              </a:ext>
            </a:extLst>
          </p:cNvPr>
          <p:cNvSpPr/>
          <p:nvPr/>
        </p:nvSpPr>
        <p:spPr>
          <a:xfrm>
            <a:off x="6261411" y="3707805"/>
            <a:ext cx="4340996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FDA38D3-72E5-D1E8-AADF-D26576FCD967}"/>
              </a:ext>
            </a:extLst>
          </p:cNvPr>
          <p:cNvSpPr/>
          <p:nvPr/>
        </p:nvSpPr>
        <p:spPr>
          <a:xfrm>
            <a:off x="8182049" y="445121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4DC2FB5-726F-5364-8F75-6BE8350970AB}"/>
              </a:ext>
            </a:extLst>
          </p:cNvPr>
          <p:cNvSpPr/>
          <p:nvPr/>
        </p:nvSpPr>
        <p:spPr>
          <a:xfrm>
            <a:off x="7968976" y="4269508"/>
            <a:ext cx="754312" cy="8031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8FF7D4A-A4A6-D529-0F9D-900318359E71}"/>
              </a:ext>
            </a:extLst>
          </p:cNvPr>
          <p:cNvSpPr txBox="1"/>
          <p:nvPr/>
        </p:nvSpPr>
        <p:spPr>
          <a:xfrm>
            <a:off x="7136093" y="4754877"/>
            <a:ext cx="577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74298B0-6D4B-FEE7-902B-86C9799A1163}"/>
              </a:ext>
            </a:extLst>
          </p:cNvPr>
          <p:cNvSpPr/>
          <p:nvPr/>
        </p:nvSpPr>
        <p:spPr>
          <a:xfrm>
            <a:off x="7113639" y="4135602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F85F778-3250-40DC-C79A-635DD80D0BB2}"/>
              </a:ext>
            </a:extLst>
          </p:cNvPr>
          <p:cNvSpPr/>
          <p:nvPr/>
        </p:nvSpPr>
        <p:spPr>
          <a:xfrm>
            <a:off x="8881231" y="4102597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40392D1-9C3C-52B5-4E4B-E31DD36B7EE0}"/>
              </a:ext>
            </a:extLst>
          </p:cNvPr>
          <p:cNvSpPr/>
          <p:nvPr/>
        </p:nvSpPr>
        <p:spPr>
          <a:xfrm>
            <a:off x="8201573" y="4431601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20FCFE1F-919E-0FE3-6E64-1D0FAAF517E1}"/>
              </a:ext>
            </a:extLst>
          </p:cNvPr>
          <p:cNvSpPr txBox="1">
            <a:spLocks/>
          </p:cNvSpPr>
          <p:nvPr/>
        </p:nvSpPr>
        <p:spPr>
          <a:xfrm>
            <a:off x="203649" y="207460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 clásicos de lenguajes no recursivos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BF0E19E-83D9-C052-C420-A22ADB006223}"/>
              </a:ext>
            </a:extLst>
          </p:cNvPr>
          <p:cNvSpPr txBox="1"/>
          <p:nvPr/>
        </p:nvSpPr>
        <p:spPr>
          <a:xfrm>
            <a:off x="282041" y="6261820"/>
            <a:ext cx="9995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 si p. ej. M sólo se mueve a la derecha, el problema 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50882B8-1137-9B00-AA3E-DC4F5F617747}"/>
              </a:ext>
            </a:extLst>
          </p:cNvPr>
          <p:cNvSpPr txBox="1"/>
          <p:nvPr/>
        </p:nvSpPr>
        <p:spPr>
          <a:xfrm>
            <a:off x="9136231" y="4754877"/>
            <a:ext cx="577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600" b="1" dirty="0">
              <a:solidFill>
                <a:srgbClr val="0070C0"/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D8EBBA3-F6FD-184C-2EBA-6797C8D17CFE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832369" y="4451217"/>
            <a:ext cx="2303724" cy="47293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62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1BA1-5995-4768-ECDC-10C3E0C30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ADD5A246-E3D5-E590-02B0-0E179841D7D9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987B8BD-750B-28DC-6A8C-26ECE56CC838}"/>
              </a:ext>
            </a:extLst>
          </p:cNvPr>
          <p:cNvSpPr/>
          <p:nvPr/>
        </p:nvSpPr>
        <p:spPr>
          <a:xfrm>
            <a:off x="259311" y="197346"/>
            <a:ext cx="11673377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0" u="sng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Problema de la resolución de las ecuaciones diofánticas</a:t>
            </a:r>
            <a:endParaRPr lang="es-AR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Dada una ecuación algebraica con coeficientes enteros y variables enteras (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ecuación diofántica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como por ejemplo 2x</a:t>
            </a:r>
            <a:r>
              <a:rPr lang="es-AR" baseline="30000" dirty="0"/>
              <a:t>3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+ 5y</a:t>
            </a:r>
            <a:r>
              <a:rPr lang="es-AR" baseline="30000" dirty="0"/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6z</a:t>
            </a:r>
            <a:r>
              <a:rPr lang="es-AR" baseline="30000" dirty="0"/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¿la ecuación tiene solución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? El lenguaje que representa el problema es:</a:t>
            </a:r>
            <a:endParaRPr lang="es-A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			L = {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Ψ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Ψ es una ecuación diofántica y tiene solución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s-A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s-AR" sz="18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∈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 – R </a:t>
            </a:r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(Y. </a:t>
            </a:r>
            <a:r>
              <a:rPr lang="es-ES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Matiyasevich</a:t>
            </a:r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1970).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endParaRPr lang="es-E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s-ES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s-E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309F754-3BEA-ABD9-C444-AC47A08E91B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02521A8-099E-2818-0295-F065F8B5C7A4}"/>
              </a:ext>
            </a:extLst>
          </p:cNvPr>
          <p:cNvSpPr/>
          <p:nvPr/>
        </p:nvSpPr>
        <p:spPr>
          <a:xfrm>
            <a:off x="4891622" y="3096828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DBBE0E-75FB-DB20-E6AB-A782764BB3A2}"/>
              </a:ext>
            </a:extLst>
          </p:cNvPr>
          <p:cNvSpPr/>
          <p:nvPr/>
        </p:nvSpPr>
        <p:spPr>
          <a:xfrm>
            <a:off x="4373502" y="3542160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DF3C814-8BFD-6232-2022-288BEDF143B0}"/>
              </a:ext>
            </a:extLst>
          </p:cNvPr>
          <p:cNvSpPr/>
          <p:nvPr/>
        </p:nvSpPr>
        <p:spPr>
          <a:xfrm>
            <a:off x="2999271" y="5007027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DA148A9-CDD7-2887-7B99-A3383087391C}"/>
              </a:ext>
            </a:extLst>
          </p:cNvPr>
          <p:cNvCxnSpPr>
            <a:cxnSpLocks/>
          </p:cNvCxnSpPr>
          <p:nvPr/>
        </p:nvCxnSpPr>
        <p:spPr>
          <a:xfrm>
            <a:off x="2696603" y="4810928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96B15F8-F8DC-EE32-A871-FF39C5DB26DD}"/>
              </a:ext>
            </a:extLst>
          </p:cNvPr>
          <p:cNvCxnSpPr>
            <a:cxnSpLocks/>
          </p:cNvCxnSpPr>
          <p:nvPr/>
        </p:nvCxnSpPr>
        <p:spPr>
          <a:xfrm flipV="1">
            <a:off x="2696603" y="5209532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1D994BDF-A052-4A98-45BA-C53940ED1BD8}"/>
              </a:ext>
            </a:extLst>
          </p:cNvPr>
          <p:cNvCxnSpPr>
            <a:cxnSpLocks/>
          </p:cNvCxnSpPr>
          <p:nvPr/>
        </p:nvCxnSpPr>
        <p:spPr>
          <a:xfrm flipV="1">
            <a:off x="3045771" y="4810928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369BE27-716F-7BC7-DFCE-F5085C69F723}"/>
              </a:ext>
            </a:extLst>
          </p:cNvPr>
          <p:cNvSpPr/>
          <p:nvPr/>
        </p:nvSpPr>
        <p:spPr>
          <a:xfrm>
            <a:off x="4430555" y="454778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46135C8-C332-5B01-D23E-29A65441DB4B}"/>
              </a:ext>
            </a:extLst>
          </p:cNvPr>
          <p:cNvSpPr/>
          <p:nvPr/>
        </p:nvSpPr>
        <p:spPr>
          <a:xfrm>
            <a:off x="2395213" y="387963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E66E8AA-0961-ACE8-49E1-6F06D953E602}"/>
              </a:ext>
            </a:extLst>
          </p:cNvPr>
          <p:cNvCxnSpPr>
            <a:cxnSpLocks/>
          </p:cNvCxnSpPr>
          <p:nvPr/>
        </p:nvCxnSpPr>
        <p:spPr>
          <a:xfrm>
            <a:off x="1264059" y="4343631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1A31AE8-231E-EE30-EFCF-7ED883F7A00E}"/>
              </a:ext>
            </a:extLst>
          </p:cNvPr>
          <p:cNvCxnSpPr>
            <a:cxnSpLocks/>
          </p:cNvCxnSpPr>
          <p:nvPr/>
        </p:nvCxnSpPr>
        <p:spPr>
          <a:xfrm>
            <a:off x="3309613" y="4367694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A91892A6-252D-211D-0E5E-06B33F0498F8}"/>
              </a:ext>
            </a:extLst>
          </p:cNvPr>
          <p:cNvSpPr txBox="1">
            <a:spLocks/>
          </p:cNvSpPr>
          <p:nvPr/>
        </p:nvSpPr>
        <p:spPr>
          <a:xfrm>
            <a:off x="1630539" y="4068535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Ψ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7BE3D49-41FB-6AE7-B15C-2C0F47E5DD74}"/>
              </a:ext>
            </a:extLst>
          </p:cNvPr>
          <p:cNvCxnSpPr>
            <a:cxnSpLocks/>
          </p:cNvCxnSpPr>
          <p:nvPr/>
        </p:nvCxnSpPr>
        <p:spPr>
          <a:xfrm flipV="1">
            <a:off x="3312522" y="3698882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B72E255C-3504-EA28-F8E7-771CED55F84A}"/>
              </a:ext>
            </a:extLst>
          </p:cNvPr>
          <p:cNvSpPr txBox="1">
            <a:spLocks/>
          </p:cNvSpPr>
          <p:nvPr/>
        </p:nvSpPr>
        <p:spPr>
          <a:xfrm>
            <a:off x="2670927" y="3595068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C8F58C8-16A6-B75D-672F-80E9168D29EA}"/>
              </a:ext>
            </a:extLst>
          </p:cNvPr>
          <p:cNvSpPr/>
          <p:nvPr/>
        </p:nvSpPr>
        <p:spPr>
          <a:xfrm>
            <a:off x="8030967" y="3370179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B9310F19-755A-806A-5DE8-06985BBDA432}"/>
              </a:ext>
            </a:extLst>
          </p:cNvPr>
          <p:cNvSpPr/>
          <p:nvPr/>
        </p:nvSpPr>
        <p:spPr>
          <a:xfrm>
            <a:off x="6357102" y="3830183"/>
            <a:ext cx="2249584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9ECDFF29-932A-9289-922F-E2241AEDED52}"/>
              </a:ext>
            </a:extLst>
          </p:cNvPr>
          <p:cNvSpPr/>
          <p:nvPr/>
        </p:nvSpPr>
        <p:spPr>
          <a:xfrm>
            <a:off x="7890929" y="3828711"/>
            <a:ext cx="2479108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BDEB204C-A17B-DE79-AA56-3318BFA7A2F1}"/>
              </a:ext>
            </a:extLst>
          </p:cNvPr>
          <p:cNvSpPr/>
          <p:nvPr/>
        </p:nvSpPr>
        <p:spPr>
          <a:xfrm>
            <a:off x="6186985" y="3449525"/>
            <a:ext cx="4340996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40FB281-D84B-BFC2-2FBA-3BF412C66308}"/>
              </a:ext>
            </a:extLst>
          </p:cNvPr>
          <p:cNvSpPr/>
          <p:nvPr/>
        </p:nvSpPr>
        <p:spPr>
          <a:xfrm>
            <a:off x="8107623" y="419293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C5BC08F-8190-21AF-BF2C-6F6A8E4AE47E}"/>
              </a:ext>
            </a:extLst>
          </p:cNvPr>
          <p:cNvSpPr/>
          <p:nvPr/>
        </p:nvSpPr>
        <p:spPr>
          <a:xfrm>
            <a:off x="7894550" y="4011228"/>
            <a:ext cx="754312" cy="8031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B900D2B-20EB-BA04-EA3C-54740722D838}"/>
              </a:ext>
            </a:extLst>
          </p:cNvPr>
          <p:cNvSpPr txBox="1"/>
          <p:nvPr/>
        </p:nvSpPr>
        <p:spPr>
          <a:xfrm>
            <a:off x="7173582" y="4483984"/>
            <a:ext cx="3512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4344BA5-28B6-E3F9-D08F-F189770F93FD}"/>
              </a:ext>
            </a:extLst>
          </p:cNvPr>
          <p:cNvSpPr/>
          <p:nvPr/>
        </p:nvSpPr>
        <p:spPr>
          <a:xfrm>
            <a:off x="7039213" y="3877322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C472CDC-6187-AED8-DFD5-BAE8C891A748}"/>
              </a:ext>
            </a:extLst>
          </p:cNvPr>
          <p:cNvSpPr/>
          <p:nvPr/>
        </p:nvSpPr>
        <p:spPr>
          <a:xfrm>
            <a:off x="8806805" y="3844317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83B8EE3-0422-25AA-8D50-2D9FCD26206A}"/>
              </a:ext>
            </a:extLst>
          </p:cNvPr>
          <p:cNvSpPr/>
          <p:nvPr/>
        </p:nvSpPr>
        <p:spPr>
          <a:xfrm>
            <a:off x="8127147" y="4173321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017A5CE-1451-2EC5-CF20-DD5698A7AF60}"/>
              </a:ext>
            </a:extLst>
          </p:cNvPr>
          <p:cNvSpPr txBox="1"/>
          <p:nvPr/>
        </p:nvSpPr>
        <p:spPr>
          <a:xfrm>
            <a:off x="1194609" y="5500244"/>
            <a:ext cx="3772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Ejercicio: ¿cómo funcionaría M?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6C9175F-3451-BE6E-2276-11845602503E}"/>
              </a:ext>
            </a:extLst>
          </p:cNvPr>
          <p:cNvSpPr txBox="1"/>
          <p:nvPr/>
        </p:nvSpPr>
        <p:spPr>
          <a:xfrm>
            <a:off x="259311" y="6208417"/>
            <a:ext cx="10768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 con p.ej. ecuaciones diofánticas de la forma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="1" baseline="30000" dirty="0" err="1">
                <a:solidFill>
                  <a:srgbClr val="0070C0"/>
                </a:solidFill>
              </a:rPr>
              <a:t>n</a:t>
            </a:r>
            <a:r>
              <a:rPr lang="es-AR" b="1" baseline="30000" dirty="0">
                <a:solidFill>
                  <a:srgbClr val="0070C0"/>
                </a:solidFill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AR" b="1" baseline="30000" dirty="0" err="1">
                <a:solidFill>
                  <a:srgbClr val="0070C0"/>
                </a:solidFill>
              </a:rPr>
              <a:t>n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AR" b="1" baseline="30000" dirty="0" err="1">
                <a:solidFill>
                  <a:srgbClr val="0070C0"/>
                </a:solidFill>
              </a:rPr>
              <a:t>n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n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0, el problema 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E533C85-C951-C17A-36FD-CA93DFD6EEFC}"/>
              </a:ext>
            </a:extLst>
          </p:cNvPr>
          <p:cNvSpPr txBox="1"/>
          <p:nvPr/>
        </p:nvSpPr>
        <p:spPr>
          <a:xfrm>
            <a:off x="9134307" y="4454336"/>
            <a:ext cx="577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600" b="1" dirty="0">
              <a:solidFill>
                <a:srgbClr val="0070C0"/>
              </a:solidFill>
            </a:endParaRP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90F8B181-4507-F73A-7799-6F9ECB9CDC02}"/>
              </a:ext>
            </a:extLst>
          </p:cNvPr>
          <p:cNvCxnSpPr>
            <a:cxnSpLocks/>
          </p:cNvCxnSpPr>
          <p:nvPr/>
        </p:nvCxnSpPr>
        <p:spPr>
          <a:xfrm>
            <a:off x="4619852" y="4220935"/>
            <a:ext cx="2537026" cy="4630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93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8AD8-EB47-3924-7608-E58A4D477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D23417D2-A34A-4D52-BA37-42D84F55C774}"/>
              </a:ext>
            </a:extLst>
          </p:cNvPr>
          <p:cNvSpPr/>
          <p:nvPr/>
        </p:nvSpPr>
        <p:spPr>
          <a:xfrm>
            <a:off x="6885848" y="5150532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62FA4B5-C790-E4F6-CA14-05FB8DECAF77}"/>
              </a:ext>
            </a:extLst>
          </p:cNvPr>
          <p:cNvSpPr/>
          <p:nvPr/>
        </p:nvSpPr>
        <p:spPr>
          <a:xfrm>
            <a:off x="258270" y="176930"/>
            <a:ext cx="11998385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decisión en la lógica de predicados (LP)</a:t>
            </a:r>
          </a:p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¿Existe una prueba de la fórmula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en la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LP? (¿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es un teorema?). El lenguaje que representa el problema es: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b="1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existe una prueba de la fórmula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</a:t>
            </a:r>
            <a:r>
              <a:rPr lang="es-AR" sz="1800" b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en la LP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s-AR" sz="18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∈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 – R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(A. Turing, 1936).</a:t>
            </a:r>
          </a:p>
          <a:p>
            <a:endParaRPr lang="es-AR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EJEMPLO DE PRUEBA EN LP</a:t>
            </a:r>
          </a:p>
          <a:p>
            <a:endParaRPr lang="es-MX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Axiomas y Reglas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:  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(B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(B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C))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C))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(B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A(x)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A(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x|t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B)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B)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Modus Ponens (MP): A y 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B implican B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Generalización: A implica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A</a:t>
            </a:r>
          </a:p>
          <a:p>
            <a:endParaRPr lang="es-AR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Prueba de </a:t>
            </a:r>
            <a:r>
              <a:rPr lang="es-A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r>
              <a:rPr lang="es-AR" sz="1600" b="1" dirty="0">
                <a:effectLst/>
                <a:ea typeface="Calibri" panose="020F0502020204030204" pitchFamily="34" charset="0"/>
              </a:rPr>
              <a:t> =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(P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Q)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s-MX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 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Q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…………………………………………………………………………..….	axioma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K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2.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Q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Q) ………………………………………………………………..………	axioma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K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3. (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Q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Q)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(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Q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Q)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)) …………………………...	axioma K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Q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Q)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) ….................................................................................. 	MP 2 y 3</a:t>
            </a:r>
            <a:endParaRPr lang="es-MX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5.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Q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Q)))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Q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Q))) ………...	axioma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6.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Q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Q)) …………………………………………………….. 	MP 4 y 5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s-E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E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 </a:t>
            </a:r>
            <a:r>
              <a:rPr lang="es-E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Q)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…………………………………………………………………………………..	MP 1 y 6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49E8F84-EB55-BF7B-6469-1D0C6197E8C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DCB2EB8-998A-C4B7-54B6-68321F3B52F1}"/>
              </a:ext>
            </a:extLst>
          </p:cNvPr>
          <p:cNvSpPr/>
          <p:nvPr/>
        </p:nvSpPr>
        <p:spPr>
          <a:xfrm>
            <a:off x="9645685" y="2090899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200" dirty="0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807E93AC-4261-BF63-3803-7A4F959B694B}"/>
              </a:ext>
            </a:extLst>
          </p:cNvPr>
          <p:cNvSpPr/>
          <p:nvPr/>
        </p:nvSpPr>
        <p:spPr>
          <a:xfrm>
            <a:off x="8590614" y="2550903"/>
            <a:ext cx="1630790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D1669F83-BE40-BBC9-AC0D-83AFDAE3ED9F}"/>
              </a:ext>
            </a:extLst>
          </p:cNvPr>
          <p:cNvSpPr/>
          <p:nvPr/>
        </p:nvSpPr>
        <p:spPr>
          <a:xfrm>
            <a:off x="9645683" y="2549431"/>
            <a:ext cx="1634712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C35A1691-C4F9-604E-E09B-883CF6D8242C}"/>
              </a:ext>
            </a:extLst>
          </p:cNvPr>
          <p:cNvSpPr/>
          <p:nvPr/>
        </p:nvSpPr>
        <p:spPr>
          <a:xfrm>
            <a:off x="8270641" y="2170245"/>
            <a:ext cx="3341697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C5F4F3E-B1BC-613F-15FE-57B1A7D0D02E}"/>
              </a:ext>
            </a:extLst>
          </p:cNvPr>
          <p:cNvSpPr/>
          <p:nvPr/>
        </p:nvSpPr>
        <p:spPr>
          <a:xfrm>
            <a:off x="9722341" y="291365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2301182-F27D-469D-6350-283586190706}"/>
              </a:ext>
            </a:extLst>
          </p:cNvPr>
          <p:cNvSpPr/>
          <p:nvPr/>
        </p:nvSpPr>
        <p:spPr>
          <a:xfrm>
            <a:off x="9645684" y="2657228"/>
            <a:ext cx="534763" cy="94812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9B3FF93-BA7F-4CDF-9D0F-465847C66644}"/>
              </a:ext>
            </a:extLst>
          </p:cNvPr>
          <p:cNvSpPr txBox="1"/>
          <p:nvPr/>
        </p:nvSpPr>
        <p:spPr>
          <a:xfrm>
            <a:off x="9074693" y="3224351"/>
            <a:ext cx="542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EECCCD-DCE8-9738-1690-B13DF0174D9A}"/>
              </a:ext>
            </a:extLst>
          </p:cNvPr>
          <p:cNvSpPr/>
          <p:nvPr/>
        </p:nvSpPr>
        <p:spPr>
          <a:xfrm>
            <a:off x="8935487" y="2586242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D8AF3DC-904C-3FF2-DDCD-8616939E3328}"/>
              </a:ext>
            </a:extLst>
          </p:cNvPr>
          <p:cNvSpPr/>
          <p:nvPr/>
        </p:nvSpPr>
        <p:spPr>
          <a:xfrm>
            <a:off x="10070194" y="2563231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D262277-39D0-6DDA-6EE6-7C51B5E61BFE}"/>
              </a:ext>
            </a:extLst>
          </p:cNvPr>
          <p:cNvSpPr/>
          <p:nvPr/>
        </p:nvSpPr>
        <p:spPr>
          <a:xfrm>
            <a:off x="9693487" y="2893958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44BA25B-2F50-6AC0-3E1C-857D3B98A373}"/>
              </a:ext>
            </a:extLst>
          </p:cNvPr>
          <p:cNvSpPr/>
          <p:nvPr/>
        </p:nvSpPr>
        <p:spPr>
          <a:xfrm>
            <a:off x="7289049" y="2536611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62E6082-2228-2DBB-3697-17DD1B32D7FB}"/>
              </a:ext>
            </a:extLst>
          </p:cNvPr>
          <p:cNvSpPr/>
          <p:nvPr/>
        </p:nvSpPr>
        <p:spPr>
          <a:xfrm>
            <a:off x="6716225" y="3727747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F82EF31-70F0-88DA-7E6A-EA9189134828}"/>
              </a:ext>
            </a:extLst>
          </p:cNvPr>
          <p:cNvCxnSpPr>
            <a:cxnSpLocks/>
          </p:cNvCxnSpPr>
          <p:nvPr/>
        </p:nvCxnSpPr>
        <p:spPr>
          <a:xfrm>
            <a:off x="6413557" y="3531648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1446E44-DE0C-9279-67F3-28410C036B84}"/>
              </a:ext>
            </a:extLst>
          </p:cNvPr>
          <p:cNvCxnSpPr>
            <a:cxnSpLocks/>
          </p:cNvCxnSpPr>
          <p:nvPr/>
        </p:nvCxnSpPr>
        <p:spPr>
          <a:xfrm flipV="1">
            <a:off x="6413557" y="3930252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84F1D37C-1A90-D21B-D8C8-9E8F9C9E1902}"/>
              </a:ext>
            </a:extLst>
          </p:cNvPr>
          <p:cNvCxnSpPr>
            <a:cxnSpLocks/>
          </p:cNvCxnSpPr>
          <p:nvPr/>
        </p:nvCxnSpPr>
        <p:spPr>
          <a:xfrm flipV="1">
            <a:off x="6762725" y="3531648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D618C6C-8AF2-4CA8-FC12-216E5E60C478}"/>
              </a:ext>
            </a:extLst>
          </p:cNvPr>
          <p:cNvSpPr/>
          <p:nvPr/>
        </p:nvSpPr>
        <p:spPr>
          <a:xfrm>
            <a:off x="6112167" y="260035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609F0AF-8CF4-813E-73A2-5019F2484829}"/>
              </a:ext>
            </a:extLst>
          </p:cNvPr>
          <p:cNvCxnSpPr>
            <a:cxnSpLocks/>
          </p:cNvCxnSpPr>
          <p:nvPr/>
        </p:nvCxnSpPr>
        <p:spPr>
          <a:xfrm>
            <a:off x="5551009" y="3064351"/>
            <a:ext cx="56115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FD22F330-D93D-12E0-2F3C-F93017C967B2}"/>
              </a:ext>
            </a:extLst>
          </p:cNvPr>
          <p:cNvCxnSpPr>
            <a:cxnSpLocks/>
          </p:cNvCxnSpPr>
          <p:nvPr/>
        </p:nvCxnSpPr>
        <p:spPr>
          <a:xfrm flipV="1">
            <a:off x="7029476" y="2872674"/>
            <a:ext cx="499932" cy="2118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ítulo 1">
            <a:extLst>
              <a:ext uri="{FF2B5EF4-FFF2-40B4-BE49-F238E27FC236}">
                <a16:creationId xmlns:a16="http://schemas.microsoft.com/office/drawing/2014/main" id="{9493FE3A-3EDE-F5A2-237C-9E314B1E673F}"/>
              </a:ext>
            </a:extLst>
          </p:cNvPr>
          <p:cNvSpPr txBox="1">
            <a:spLocks/>
          </p:cNvSpPr>
          <p:nvPr/>
        </p:nvSpPr>
        <p:spPr>
          <a:xfrm>
            <a:off x="6387881" y="2315788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61337F2-7C1E-50CC-E524-1D96D8C3AD2F}"/>
              </a:ext>
            </a:extLst>
          </p:cNvPr>
          <p:cNvSpPr txBox="1"/>
          <p:nvPr/>
        </p:nvSpPr>
        <p:spPr>
          <a:xfrm flipV="1">
            <a:off x="5238813" y="2760899"/>
            <a:ext cx="76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endParaRPr lang="es-AR" dirty="0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6823041-FCC6-A016-D0F6-713537A4A453}"/>
              </a:ext>
            </a:extLst>
          </p:cNvPr>
          <p:cNvCxnSpPr>
            <a:cxnSpLocks/>
          </p:cNvCxnSpPr>
          <p:nvPr/>
        </p:nvCxnSpPr>
        <p:spPr>
          <a:xfrm>
            <a:off x="7019488" y="3107418"/>
            <a:ext cx="486957" cy="1900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A4CF6B7-8A37-496B-9B81-48E7DD18C841}"/>
              </a:ext>
            </a:extLst>
          </p:cNvPr>
          <p:cNvSpPr/>
          <p:nvPr/>
        </p:nvSpPr>
        <p:spPr>
          <a:xfrm>
            <a:off x="7268587" y="321473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3CBEBD0-B928-07D5-6C3F-CD9D18598E4B}"/>
              </a:ext>
            </a:extLst>
          </p:cNvPr>
          <p:cNvSpPr txBox="1"/>
          <p:nvPr/>
        </p:nvSpPr>
        <p:spPr>
          <a:xfrm>
            <a:off x="5140192" y="4069807"/>
            <a:ext cx="3772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Ejercicio: ¿cómo funcionaría M?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725A00-14F8-8114-9633-06CEF10DFBAE}"/>
              </a:ext>
            </a:extLst>
          </p:cNvPr>
          <p:cNvSpPr txBox="1"/>
          <p:nvPr/>
        </p:nvSpPr>
        <p:spPr>
          <a:xfrm>
            <a:off x="5140192" y="4478624"/>
            <a:ext cx="7051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 Con fórmulas de cierto tipo, el problema 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E6C4FA-4AB9-BEE1-68DA-3F0640770662}"/>
              </a:ext>
            </a:extLst>
          </p:cNvPr>
          <p:cNvSpPr txBox="1"/>
          <p:nvPr/>
        </p:nvSpPr>
        <p:spPr>
          <a:xfrm>
            <a:off x="10407883" y="3198891"/>
            <a:ext cx="577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600" b="1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96004A5-BD16-4C02-0276-678F74B5BDE6}"/>
              </a:ext>
            </a:extLst>
          </p:cNvPr>
          <p:cNvCxnSpPr>
            <a:cxnSpLocks/>
          </p:cNvCxnSpPr>
          <p:nvPr/>
        </p:nvCxnSpPr>
        <p:spPr>
          <a:xfrm>
            <a:off x="7568045" y="3107418"/>
            <a:ext cx="1458590" cy="2708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6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A2E3-C5C3-B42D-A5F6-FB9AA4AE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08D4473C-F182-04D1-929D-FA70DD56942C}"/>
              </a:ext>
            </a:extLst>
          </p:cNvPr>
          <p:cNvSpPr/>
          <p:nvPr/>
        </p:nvSpPr>
        <p:spPr>
          <a:xfrm>
            <a:off x="5621986" y="2044932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9659EE6-8CCA-5296-71F3-0273BA73DC54}"/>
              </a:ext>
            </a:extLst>
          </p:cNvPr>
          <p:cNvSpPr/>
          <p:nvPr/>
        </p:nvSpPr>
        <p:spPr>
          <a:xfrm>
            <a:off x="194772" y="190500"/>
            <a:ext cx="11997228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0" u="sng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Problema de pertenencia al Conjunto de Mandelbrot (CM)</a:t>
            </a:r>
            <a:endParaRPr lang="es-AR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CM es un conjunto de números complejos del plano definido por la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sucesión z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0 y z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n+1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z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es-AR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c, tal que c está en el conjunto </a:t>
            </a:r>
            <a:r>
              <a:rPr lang="es-AR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sii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la sucesión está acotada. El problema es: d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ado un número complejo c, ¿c está en el CM?</a:t>
            </a:r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lenguaje asociado es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 = {c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c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es un número complejo que 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</a:rPr>
              <a:t>está en el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CM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s-AR" sz="18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∈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CO-RE – R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dirty="0">
                <a:solidFill>
                  <a:srgbClr val="202122"/>
                </a:solidFill>
                <a:latin typeface="Arial" panose="020B0604020202020204" pitchFamily="34" charset="0"/>
              </a:rPr>
              <a:t>L. Blum, 1989). </a:t>
            </a:r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					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endParaRPr lang="es-E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s-ES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s-E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301824D-C3A1-0050-56D2-80993B071CC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984B7E-C3A3-099E-F295-BF87727DC0E9}"/>
              </a:ext>
            </a:extLst>
          </p:cNvPr>
          <p:cNvSpPr/>
          <p:nvPr/>
        </p:nvSpPr>
        <p:spPr>
          <a:xfrm>
            <a:off x="3510220" y="4650465"/>
            <a:ext cx="1332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(c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∉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CM)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3EB21A3-E018-61D0-2EBD-E6923772069E}"/>
              </a:ext>
            </a:extLst>
          </p:cNvPr>
          <p:cNvSpPr/>
          <p:nvPr/>
        </p:nvSpPr>
        <p:spPr>
          <a:xfrm>
            <a:off x="2135989" y="6115332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0F8E8B2-E7F0-7310-308B-FE2D185E0411}"/>
              </a:ext>
            </a:extLst>
          </p:cNvPr>
          <p:cNvCxnSpPr>
            <a:cxnSpLocks/>
          </p:cNvCxnSpPr>
          <p:nvPr/>
        </p:nvCxnSpPr>
        <p:spPr>
          <a:xfrm>
            <a:off x="1833321" y="5919233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207BB89-5C7E-F8F5-CBE7-6CE03534324D}"/>
              </a:ext>
            </a:extLst>
          </p:cNvPr>
          <p:cNvCxnSpPr>
            <a:cxnSpLocks/>
          </p:cNvCxnSpPr>
          <p:nvPr/>
        </p:nvCxnSpPr>
        <p:spPr>
          <a:xfrm flipV="1">
            <a:off x="1833321" y="6317837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0B5C772-3FA8-7EB6-36FF-06BFD0638924}"/>
              </a:ext>
            </a:extLst>
          </p:cNvPr>
          <p:cNvCxnSpPr>
            <a:cxnSpLocks/>
          </p:cNvCxnSpPr>
          <p:nvPr/>
        </p:nvCxnSpPr>
        <p:spPr>
          <a:xfrm flipV="1">
            <a:off x="2182489" y="5919233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5848793-819D-FC95-D165-0FC6DBB60FEF}"/>
              </a:ext>
            </a:extLst>
          </p:cNvPr>
          <p:cNvSpPr/>
          <p:nvPr/>
        </p:nvSpPr>
        <p:spPr>
          <a:xfrm>
            <a:off x="1531931" y="498793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C75BB83-35DA-7244-7DB7-D45FC52FDF8D}"/>
              </a:ext>
            </a:extLst>
          </p:cNvPr>
          <p:cNvCxnSpPr>
            <a:cxnSpLocks/>
          </p:cNvCxnSpPr>
          <p:nvPr/>
        </p:nvCxnSpPr>
        <p:spPr>
          <a:xfrm>
            <a:off x="400777" y="5451936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044B0A-1C47-BD86-4FC0-9BED3AE6696A}"/>
              </a:ext>
            </a:extLst>
          </p:cNvPr>
          <p:cNvCxnSpPr>
            <a:cxnSpLocks/>
          </p:cNvCxnSpPr>
          <p:nvPr/>
        </p:nvCxnSpPr>
        <p:spPr>
          <a:xfrm>
            <a:off x="2446331" y="5475999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22FA20FD-FEDF-D275-1753-2F6D86DD4B75}"/>
              </a:ext>
            </a:extLst>
          </p:cNvPr>
          <p:cNvSpPr txBox="1">
            <a:spLocks/>
          </p:cNvSpPr>
          <p:nvPr/>
        </p:nvSpPr>
        <p:spPr>
          <a:xfrm>
            <a:off x="767257" y="5176840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9E7239B-F1D7-FF35-1697-4AD802377F14}"/>
              </a:ext>
            </a:extLst>
          </p:cNvPr>
          <p:cNvCxnSpPr>
            <a:cxnSpLocks/>
          </p:cNvCxnSpPr>
          <p:nvPr/>
        </p:nvCxnSpPr>
        <p:spPr>
          <a:xfrm flipV="1">
            <a:off x="2449240" y="4807187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88562163-3769-5FCB-A864-7C61A36ABF49}"/>
              </a:ext>
            </a:extLst>
          </p:cNvPr>
          <p:cNvSpPr txBox="1">
            <a:spLocks/>
          </p:cNvSpPr>
          <p:nvPr/>
        </p:nvSpPr>
        <p:spPr>
          <a:xfrm>
            <a:off x="1807645" y="4703373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9DDA5B7-0C9F-5154-CA6E-6716C88F2F23}"/>
              </a:ext>
            </a:extLst>
          </p:cNvPr>
          <p:cNvSpPr/>
          <p:nvPr/>
        </p:nvSpPr>
        <p:spPr>
          <a:xfrm>
            <a:off x="8738037" y="4555056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6D751CAF-D48A-4D6A-BC5D-1C0DCE26E64A}"/>
              </a:ext>
            </a:extLst>
          </p:cNvPr>
          <p:cNvSpPr/>
          <p:nvPr/>
        </p:nvSpPr>
        <p:spPr>
          <a:xfrm>
            <a:off x="7067496" y="4995814"/>
            <a:ext cx="2249584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7643B99B-EA6C-C6FF-B9AE-406E7983AED5}"/>
              </a:ext>
            </a:extLst>
          </p:cNvPr>
          <p:cNvSpPr/>
          <p:nvPr/>
        </p:nvSpPr>
        <p:spPr>
          <a:xfrm>
            <a:off x="8601323" y="4994342"/>
            <a:ext cx="2479108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57C2EDFB-421A-3396-A170-53A1BF87EB91}"/>
              </a:ext>
            </a:extLst>
          </p:cNvPr>
          <p:cNvSpPr/>
          <p:nvPr/>
        </p:nvSpPr>
        <p:spPr>
          <a:xfrm>
            <a:off x="6897379" y="4615156"/>
            <a:ext cx="4340996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B929950-A859-C4D6-BCB6-876C4740F5E8}"/>
              </a:ext>
            </a:extLst>
          </p:cNvPr>
          <p:cNvSpPr/>
          <p:nvPr/>
        </p:nvSpPr>
        <p:spPr>
          <a:xfrm>
            <a:off x="8818017" y="535856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84861F20-EBC6-96C0-45BB-565A5B8F3E5A}"/>
              </a:ext>
            </a:extLst>
          </p:cNvPr>
          <p:cNvSpPr/>
          <p:nvPr/>
        </p:nvSpPr>
        <p:spPr>
          <a:xfrm>
            <a:off x="8604944" y="5176859"/>
            <a:ext cx="754312" cy="8031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C3A1625-2BCA-CBC8-B5A3-959C0FF1F69F}"/>
              </a:ext>
            </a:extLst>
          </p:cNvPr>
          <p:cNvSpPr txBox="1"/>
          <p:nvPr/>
        </p:nvSpPr>
        <p:spPr>
          <a:xfrm>
            <a:off x="9877758" y="5578428"/>
            <a:ext cx="3836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A5F6AD4-3BD0-F67E-2ABA-12BD91597F04}"/>
              </a:ext>
            </a:extLst>
          </p:cNvPr>
          <p:cNvSpPr/>
          <p:nvPr/>
        </p:nvSpPr>
        <p:spPr>
          <a:xfrm>
            <a:off x="7749607" y="5042953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F07C7CD-C09B-FA8F-11C7-19E9E7D1E106}"/>
              </a:ext>
            </a:extLst>
          </p:cNvPr>
          <p:cNvSpPr/>
          <p:nvPr/>
        </p:nvSpPr>
        <p:spPr>
          <a:xfrm>
            <a:off x="9517199" y="5009948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C130F6F-2B87-969A-00F5-7A02AF741CCA}"/>
              </a:ext>
            </a:extLst>
          </p:cNvPr>
          <p:cNvSpPr/>
          <p:nvPr/>
        </p:nvSpPr>
        <p:spPr>
          <a:xfrm>
            <a:off x="8837541" y="5338952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pic>
        <p:nvPicPr>
          <p:cNvPr id="29" name="Picture 4" descr="undefined">
            <a:extLst>
              <a:ext uri="{FF2B5EF4-FFF2-40B4-BE49-F238E27FC236}">
                <a16:creationId xmlns:a16="http://schemas.microsoft.com/office/drawing/2014/main" id="{6FC772F7-BBD4-CDA6-1015-30974DF99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416" y="1489758"/>
            <a:ext cx="2309021" cy="184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732E8321-F8EE-4AC1-60EB-5A6AD33FE870}"/>
              </a:ext>
            </a:extLst>
          </p:cNvPr>
          <p:cNvSpPr txBox="1"/>
          <p:nvPr/>
        </p:nvSpPr>
        <p:spPr>
          <a:xfrm>
            <a:off x="194773" y="4187187"/>
            <a:ext cx="9122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Pero al menos existe una MT M que acepta todos los números complejos que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están en el CM:</a:t>
            </a:r>
            <a:endParaRPr lang="es-AR" sz="16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2272394-67D5-26C8-906A-E0300064BDF2}"/>
              </a:ext>
            </a:extLst>
          </p:cNvPr>
          <p:cNvSpPr txBox="1"/>
          <p:nvPr/>
        </p:nvSpPr>
        <p:spPr>
          <a:xfrm>
            <a:off x="8136965" y="3356729"/>
            <a:ext cx="4019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CONJUNTO DE MANDELBROT </a:t>
            </a:r>
            <a:r>
              <a:rPr lang="es-ES" sz="1400" b="1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(es un fractal)</a:t>
            </a:r>
            <a:endParaRPr lang="es-A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41932F8-83CF-D1BE-99E5-24BA91E29EA4}"/>
              </a:ext>
            </a:extLst>
          </p:cNvPr>
          <p:cNvSpPr/>
          <p:nvPr/>
        </p:nvSpPr>
        <p:spPr>
          <a:xfrm>
            <a:off x="6266587" y="2370482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87D1D9B1-C5CE-9BF2-5F2A-90F9EE81EEFD}"/>
              </a:ext>
            </a:extLst>
          </p:cNvPr>
          <p:cNvSpPr txBox="1">
            <a:spLocks/>
          </p:cNvSpPr>
          <p:nvPr/>
        </p:nvSpPr>
        <p:spPr>
          <a:xfrm>
            <a:off x="6498106" y="2071932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37" name="Signo de multiplicación 36">
            <a:extLst>
              <a:ext uri="{FF2B5EF4-FFF2-40B4-BE49-F238E27FC236}">
                <a16:creationId xmlns:a16="http://schemas.microsoft.com/office/drawing/2014/main" id="{4713B440-05D2-8878-7F1B-06FBE48AB782}"/>
              </a:ext>
            </a:extLst>
          </p:cNvPr>
          <p:cNvSpPr/>
          <p:nvPr/>
        </p:nvSpPr>
        <p:spPr>
          <a:xfrm>
            <a:off x="4888423" y="2173383"/>
            <a:ext cx="3670729" cy="126926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090A3F9-FC3B-31F9-AB73-F648747F978C}"/>
              </a:ext>
            </a:extLst>
          </p:cNvPr>
          <p:cNvSpPr txBox="1"/>
          <p:nvPr/>
        </p:nvSpPr>
        <p:spPr>
          <a:xfrm>
            <a:off x="204212" y="2993677"/>
            <a:ext cx="5367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Hay elementos del CM que una MT no puede reconocer: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CF1F5BBF-2603-A942-BD4E-08C65E4BDA2D}"/>
              </a:ext>
            </a:extLst>
          </p:cNvPr>
          <p:cNvSpPr/>
          <p:nvPr/>
        </p:nvSpPr>
        <p:spPr>
          <a:xfrm>
            <a:off x="3512946" y="5616180"/>
            <a:ext cx="1409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 (c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CM)</a:t>
            </a:r>
            <a:endParaRPr lang="es-MX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7B92412-E261-7A5F-6B7D-0D476C43B1D4}"/>
              </a:ext>
            </a:extLst>
          </p:cNvPr>
          <p:cNvSpPr txBox="1"/>
          <p:nvPr/>
        </p:nvSpPr>
        <p:spPr>
          <a:xfrm>
            <a:off x="7868816" y="5609026"/>
            <a:ext cx="577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600" b="1" dirty="0">
              <a:solidFill>
                <a:srgbClr val="0070C0"/>
              </a:solidFill>
            </a:endParaRP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04C5EB66-3DA6-8F83-33A5-C4E94F0654EF}"/>
              </a:ext>
            </a:extLst>
          </p:cNvPr>
          <p:cNvCxnSpPr>
            <a:cxnSpLocks/>
          </p:cNvCxnSpPr>
          <p:nvPr/>
        </p:nvCxnSpPr>
        <p:spPr>
          <a:xfrm>
            <a:off x="4762438" y="5338952"/>
            <a:ext cx="3093300" cy="46336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EEBFA5B-81A9-7E79-A13C-2C7C060238E3}"/>
              </a:ext>
            </a:extLst>
          </p:cNvPr>
          <p:cNvSpPr txBox="1"/>
          <p:nvPr/>
        </p:nvSpPr>
        <p:spPr>
          <a:xfrm>
            <a:off x="194771" y="3230680"/>
            <a:ext cx="5725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dificultad está en el contorno del conjunto.</a:t>
            </a:r>
          </a:p>
        </p:txBody>
      </p:sp>
    </p:spTree>
    <p:extLst>
      <p:ext uri="{BB962C8B-B14F-4D97-AF65-F5344CB8AC3E}">
        <p14:creationId xmlns:p14="http://schemas.microsoft.com/office/powerpoint/2010/main" val="314667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  <p:bldP spid="15" grpId="0"/>
      <p:bldP spid="17" grpId="0"/>
      <p:bldP spid="18" grpId="0"/>
      <p:bldP spid="19" grpId="0" animBg="1"/>
      <p:bldP spid="20" grpId="0" animBg="1"/>
      <p:bldP spid="21" grpId="0" animBg="1"/>
      <p:bldP spid="22" grpId="0"/>
      <p:bldP spid="23" grpId="0" animBg="1"/>
      <p:bldP spid="24" grpId="0"/>
      <p:bldP spid="25" grpId="0"/>
      <p:bldP spid="26" grpId="0"/>
      <p:bldP spid="27" grpId="0"/>
      <p:bldP spid="31" grpId="0"/>
      <p:bldP spid="40" grpId="0"/>
      <p:bldP spid="4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CDE4-6A88-DEB9-AD3B-BE6FABAD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89339DAC-1C2D-8634-6674-1DC272425C49}"/>
              </a:ext>
            </a:extLst>
          </p:cNvPr>
          <p:cNvSpPr/>
          <p:nvPr/>
        </p:nvSpPr>
        <p:spPr>
          <a:xfrm>
            <a:off x="10357101" y="7341339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01A26AD-3918-97CE-016F-FF7D38F6D053}"/>
              </a:ext>
            </a:extLst>
          </p:cNvPr>
          <p:cNvSpPr/>
          <p:nvPr/>
        </p:nvSpPr>
        <p:spPr>
          <a:xfrm>
            <a:off x="222091" y="149992"/>
            <a:ext cx="11602814" cy="669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Problema de decisión en la aritmética</a:t>
            </a:r>
            <a:endParaRPr lang="es-AR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¿La fórmula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Ɵ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un enunciado aritmético verdadero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? El lenguaje que representa el problema es:</a:t>
            </a: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			L = {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Ɵ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Ɵ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es un enunciado aritmético verdadero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 ∈ </a:t>
            </a:r>
            <a:r>
              <a:rPr lang="es-E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CO-RE)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(K. Gödel, 1931). </a:t>
            </a:r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EJEMPLO DE PRUEBA EN LA ARITMÉTICA</a:t>
            </a:r>
          </a:p>
          <a:p>
            <a:endParaRPr lang="es-MX" sz="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Axiomas y Reglas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:  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(B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(B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C))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C))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(B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A(x)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A(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x|t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B)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B)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 K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Axiomas de la Igualdad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(s(x) = 0) 		        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y)(x = y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s(x) = s(y))  	                      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x)(x + 0 = x) 			           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y)(x + s(y) = s(x + y)) 	           	                 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(x 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⦁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0 = 0)			  		 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: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y)(x 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⦁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s(y) = x 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⦁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y + x) 	                		 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7 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: P(0)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((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x)(P(x)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P(s(x)))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x) P(x))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Modus Ponens (MP): A y 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B implican B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Generalización: A implica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 A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1724C0F-2BCD-293D-3228-07F28D5AA8B5}"/>
              </a:ext>
            </a:extLst>
          </p:cNvPr>
          <p:cNvSpPr/>
          <p:nvPr/>
        </p:nvSpPr>
        <p:spPr>
          <a:xfrm>
            <a:off x="6090659" y="2312346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200" dirty="0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2A8E4F6B-3942-7D26-C3D3-9CEDF121DD2D}"/>
              </a:ext>
            </a:extLst>
          </p:cNvPr>
          <p:cNvSpPr/>
          <p:nvPr/>
        </p:nvSpPr>
        <p:spPr>
          <a:xfrm>
            <a:off x="5035588" y="2772350"/>
            <a:ext cx="1630790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025E0765-0DBB-F149-A70E-81923382626D}"/>
              </a:ext>
            </a:extLst>
          </p:cNvPr>
          <p:cNvSpPr/>
          <p:nvPr/>
        </p:nvSpPr>
        <p:spPr>
          <a:xfrm>
            <a:off x="6090657" y="2770878"/>
            <a:ext cx="1634712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0C8196C8-D6BA-A7FB-8353-B9E079A2EE35}"/>
              </a:ext>
            </a:extLst>
          </p:cNvPr>
          <p:cNvSpPr/>
          <p:nvPr/>
        </p:nvSpPr>
        <p:spPr>
          <a:xfrm>
            <a:off x="4715615" y="2391692"/>
            <a:ext cx="3341697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D137643-18F4-840F-23BC-06B534085CB9}"/>
              </a:ext>
            </a:extLst>
          </p:cNvPr>
          <p:cNvSpPr/>
          <p:nvPr/>
        </p:nvSpPr>
        <p:spPr>
          <a:xfrm>
            <a:off x="6167315" y="313510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A1C5D55-5E5B-1622-7560-8EA23B2083D4}"/>
              </a:ext>
            </a:extLst>
          </p:cNvPr>
          <p:cNvSpPr/>
          <p:nvPr/>
        </p:nvSpPr>
        <p:spPr>
          <a:xfrm>
            <a:off x="6090658" y="2878675"/>
            <a:ext cx="534763" cy="94812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BCA4145-90F8-22A6-8BCC-598C5A378E09}"/>
              </a:ext>
            </a:extLst>
          </p:cNvPr>
          <p:cNvSpPr txBox="1"/>
          <p:nvPr/>
        </p:nvSpPr>
        <p:spPr>
          <a:xfrm>
            <a:off x="6085556" y="3977151"/>
            <a:ext cx="392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C30E20F-8448-8399-F2B4-C39BA20E3630}"/>
              </a:ext>
            </a:extLst>
          </p:cNvPr>
          <p:cNvSpPr/>
          <p:nvPr/>
        </p:nvSpPr>
        <p:spPr>
          <a:xfrm>
            <a:off x="5380461" y="2807689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C173673-DA16-9D81-B059-F40F2F17A79A}"/>
              </a:ext>
            </a:extLst>
          </p:cNvPr>
          <p:cNvSpPr/>
          <p:nvPr/>
        </p:nvSpPr>
        <p:spPr>
          <a:xfrm>
            <a:off x="6515168" y="2784678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1BDCDFE-D4E6-7812-C3E9-59FC4BE8E0D3}"/>
              </a:ext>
            </a:extLst>
          </p:cNvPr>
          <p:cNvSpPr/>
          <p:nvPr/>
        </p:nvSpPr>
        <p:spPr>
          <a:xfrm>
            <a:off x="6138461" y="3115405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82C1792-A240-12BE-22B6-3485F88D3050}"/>
              </a:ext>
            </a:extLst>
          </p:cNvPr>
          <p:cNvSpPr/>
          <p:nvPr/>
        </p:nvSpPr>
        <p:spPr>
          <a:xfrm>
            <a:off x="10889876" y="2340016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574182D-F0DC-C1EA-A06E-5442485C8102}"/>
              </a:ext>
            </a:extLst>
          </p:cNvPr>
          <p:cNvSpPr/>
          <p:nvPr/>
        </p:nvSpPr>
        <p:spPr>
          <a:xfrm>
            <a:off x="10877052" y="278498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39A9197-17E7-8DBB-6BF5-70949DD02DB2}"/>
              </a:ext>
            </a:extLst>
          </p:cNvPr>
          <p:cNvSpPr/>
          <p:nvPr/>
        </p:nvSpPr>
        <p:spPr>
          <a:xfrm>
            <a:off x="9729288" y="232778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13FE77D-7867-C0B8-37D6-122F5772B9BB}"/>
              </a:ext>
            </a:extLst>
          </p:cNvPr>
          <p:cNvCxnSpPr>
            <a:cxnSpLocks/>
          </p:cNvCxnSpPr>
          <p:nvPr/>
        </p:nvCxnSpPr>
        <p:spPr>
          <a:xfrm>
            <a:off x="10643688" y="2815844"/>
            <a:ext cx="310341" cy="1800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91F8B944-4986-0C89-9F6C-CB97F92B0785}"/>
              </a:ext>
            </a:extLst>
          </p:cNvPr>
          <p:cNvCxnSpPr>
            <a:cxnSpLocks/>
          </p:cNvCxnSpPr>
          <p:nvPr/>
        </p:nvCxnSpPr>
        <p:spPr>
          <a:xfrm flipV="1">
            <a:off x="10646597" y="2544344"/>
            <a:ext cx="317697" cy="267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ítulo 1">
            <a:extLst>
              <a:ext uri="{FF2B5EF4-FFF2-40B4-BE49-F238E27FC236}">
                <a16:creationId xmlns:a16="http://schemas.microsoft.com/office/drawing/2014/main" id="{447C1A75-6821-3AAD-F093-A7BA96120750}"/>
              </a:ext>
            </a:extLst>
          </p:cNvPr>
          <p:cNvSpPr txBox="1">
            <a:spLocks/>
          </p:cNvSpPr>
          <p:nvPr/>
        </p:nvSpPr>
        <p:spPr>
          <a:xfrm>
            <a:off x="10012704" y="2068965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5" name="Signo de multiplicación 4">
            <a:extLst>
              <a:ext uri="{FF2B5EF4-FFF2-40B4-BE49-F238E27FC236}">
                <a16:creationId xmlns:a16="http://schemas.microsoft.com/office/drawing/2014/main" id="{A7C4C200-7036-3227-C4F8-CCDFC6709076}"/>
              </a:ext>
            </a:extLst>
          </p:cNvPr>
          <p:cNvSpPr/>
          <p:nvPr/>
        </p:nvSpPr>
        <p:spPr>
          <a:xfrm>
            <a:off x="8381885" y="2126570"/>
            <a:ext cx="3670729" cy="126926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34CBAA-2C35-B04A-2E67-F37D9CEFF567}"/>
              </a:ext>
            </a:extLst>
          </p:cNvPr>
          <p:cNvSpPr txBox="1"/>
          <p:nvPr/>
        </p:nvSpPr>
        <p:spPr>
          <a:xfrm>
            <a:off x="4662565" y="4645905"/>
            <a:ext cx="385266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Prueba de </a:t>
            </a:r>
            <a:r>
              <a:rPr lang="es-AR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Ɵ =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(1 + 1 = 2) (extracto) </a:t>
            </a:r>
            <a:endParaRPr lang="es-MX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x)(x + 0 = x) 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2.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x)(x + 0 = x)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1 + 0 = 1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3. 1 + 0 = 1 			 ……………………………................      </a:t>
            </a:r>
          </a:p>
          <a:p>
            <a:pPr lvl="0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14. s(1 + 0) = s(1)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1 + s(0) = s(1)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15. 1 + s(0) = s(1)			</a:t>
            </a:r>
          </a:p>
          <a:p>
            <a:pPr lvl="0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16. </a:t>
            </a:r>
            <a:r>
              <a:rPr lang="es-E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+ 1 = 2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54362B-5111-C249-D033-C2DCF4CDDB56}"/>
              </a:ext>
            </a:extLst>
          </p:cNvPr>
          <p:cNvSpPr txBox="1"/>
          <p:nvPr/>
        </p:nvSpPr>
        <p:spPr>
          <a:xfrm>
            <a:off x="8795691" y="3285779"/>
            <a:ext cx="3256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Hay enunciados verdaderos que una MT no puede reconocer.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CB188F-198D-A6FD-0CFE-18192616F275}"/>
              </a:ext>
            </a:extLst>
          </p:cNvPr>
          <p:cNvSpPr/>
          <p:nvPr/>
        </p:nvSpPr>
        <p:spPr>
          <a:xfrm>
            <a:off x="10949546" y="4231191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D44CF7-08EC-DF41-C3A9-BE9012E405F4}"/>
              </a:ext>
            </a:extLst>
          </p:cNvPr>
          <p:cNvSpPr/>
          <p:nvPr/>
        </p:nvSpPr>
        <p:spPr>
          <a:xfrm>
            <a:off x="10936722" y="467615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26162D3-E965-41B1-B9D7-72A5685C1275}"/>
              </a:ext>
            </a:extLst>
          </p:cNvPr>
          <p:cNvSpPr/>
          <p:nvPr/>
        </p:nvSpPr>
        <p:spPr>
          <a:xfrm>
            <a:off x="9788958" y="421895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2BBBF97-66D2-21EB-D22B-99BFBA172BF4}"/>
              </a:ext>
            </a:extLst>
          </p:cNvPr>
          <p:cNvCxnSpPr>
            <a:cxnSpLocks/>
          </p:cNvCxnSpPr>
          <p:nvPr/>
        </p:nvCxnSpPr>
        <p:spPr>
          <a:xfrm>
            <a:off x="10703358" y="4707019"/>
            <a:ext cx="310341" cy="1800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FD56965-94FF-D477-1255-4AFB8F5A23BF}"/>
              </a:ext>
            </a:extLst>
          </p:cNvPr>
          <p:cNvCxnSpPr>
            <a:cxnSpLocks/>
          </p:cNvCxnSpPr>
          <p:nvPr/>
        </p:nvCxnSpPr>
        <p:spPr>
          <a:xfrm flipV="1">
            <a:off x="10706267" y="4435519"/>
            <a:ext cx="317697" cy="267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45AB6BF2-B2D2-FFA8-20DD-5D85CBF0F8A8}"/>
              </a:ext>
            </a:extLst>
          </p:cNvPr>
          <p:cNvSpPr txBox="1">
            <a:spLocks/>
          </p:cNvSpPr>
          <p:nvPr/>
        </p:nvSpPr>
        <p:spPr>
          <a:xfrm>
            <a:off x="10072374" y="3960140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E293EAE4-D0BA-B0B8-8049-5249FCDE399B}"/>
              </a:ext>
            </a:extLst>
          </p:cNvPr>
          <p:cNvSpPr/>
          <p:nvPr/>
        </p:nvSpPr>
        <p:spPr>
          <a:xfrm>
            <a:off x="8441555" y="4017745"/>
            <a:ext cx="3670729" cy="126926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CD56522-D010-4DBC-5D00-C600F1452C9A}"/>
              </a:ext>
            </a:extLst>
          </p:cNvPr>
          <p:cNvSpPr txBox="1"/>
          <p:nvPr/>
        </p:nvSpPr>
        <p:spPr>
          <a:xfrm>
            <a:off x="8855361" y="5176954"/>
            <a:ext cx="28999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Hay enunciados falsos que 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una MT no puede reconocer.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0E9EB4-21A0-5D40-E4D9-129A78D37844}"/>
              </a:ext>
            </a:extLst>
          </p:cNvPr>
          <p:cNvSpPr txBox="1"/>
          <p:nvPr/>
        </p:nvSpPr>
        <p:spPr>
          <a:xfrm>
            <a:off x="6505720" y="3970483"/>
            <a:ext cx="517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94F7A53-4958-CC76-D099-38D94B327EA5}"/>
              </a:ext>
            </a:extLst>
          </p:cNvPr>
          <p:cNvSpPr txBox="1"/>
          <p:nvPr/>
        </p:nvSpPr>
        <p:spPr>
          <a:xfrm>
            <a:off x="8842970" y="6019409"/>
            <a:ext cx="3126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 sin la multiplicación, el problema 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9" name="Slide Number Placeholder 2">
            <a:extLst>
              <a:ext uri="{FF2B5EF4-FFF2-40B4-BE49-F238E27FC236}">
                <a16:creationId xmlns:a16="http://schemas.microsoft.com/office/drawing/2014/main" id="{A7764CFE-0842-1021-572F-F86F582AA00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80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8DE8-B940-6228-4FB3-D5AF2556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8B39D36-760F-B310-E3C8-B2343D429450}"/>
              </a:ext>
            </a:extLst>
          </p:cNvPr>
          <p:cNvSpPr/>
          <p:nvPr/>
        </p:nvSpPr>
        <p:spPr>
          <a:xfrm>
            <a:off x="9143730" y="2033495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4AF0C8-11D9-23C1-49B6-6AE05F36689F}"/>
              </a:ext>
            </a:extLst>
          </p:cNvPr>
          <p:cNvSpPr/>
          <p:nvPr/>
        </p:nvSpPr>
        <p:spPr>
          <a:xfrm>
            <a:off x="194772" y="190500"/>
            <a:ext cx="11673377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0" u="sng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Problema del cubrimiento del plano con polígonos (</a:t>
            </a:r>
            <a:r>
              <a:rPr lang="es-ES" b="1" i="1" u="sng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teselación del plano</a:t>
            </a:r>
            <a:r>
              <a:rPr lang="es-ES" b="1" i="0" u="sng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)</a:t>
            </a:r>
            <a:endParaRPr lang="es-AR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Dado un conjunto finito C de figuras poligonales (conocidas como 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teselas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mosaicos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¿C puede cubrir el plano sin dejar huecos ni producir solapamientos? El lenguaje que representa el problema es:</a:t>
            </a:r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		L = {C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C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es un conjunto finito de figuras poligonales que cubren el plano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 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CO-RE)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dirty="0">
                <a:solidFill>
                  <a:srgbClr val="202122"/>
                </a:solidFill>
                <a:latin typeface="Arial" panose="020B0604020202020204" pitchFamily="34" charset="0"/>
              </a:rPr>
              <a:t>R. Berger, 1966). </a:t>
            </a:r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202122"/>
                </a:solidFill>
                <a:latin typeface="Arial" panose="020B0604020202020204" pitchFamily="34" charset="0"/>
              </a:rPr>
              <a:t>             </a:t>
            </a:r>
            <a:endParaRPr lang="es-A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endParaRPr lang="es-E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s-ES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s-E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s-E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69DD19E-A1B4-64A7-4692-6AACDA6C009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A105ADD-CA07-1BB4-CF09-BD31EE4F518C}"/>
              </a:ext>
            </a:extLst>
          </p:cNvPr>
          <p:cNvSpPr/>
          <p:nvPr/>
        </p:nvSpPr>
        <p:spPr>
          <a:xfrm>
            <a:off x="4691665" y="3929769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4613B00-6B7C-915F-67BC-517468D2A7E4}"/>
              </a:ext>
            </a:extLst>
          </p:cNvPr>
          <p:cNvSpPr/>
          <p:nvPr/>
        </p:nvSpPr>
        <p:spPr>
          <a:xfrm>
            <a:off x="8811300" y="4578572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BB74F3BC-2AA8-B6B0-821D-180AEE011409}"/>
              </a:ext>
            </a:extLst>
          </p:cNvPr>
          <p:cNvSpPr/>
          <p:nvPr/>
        </p:nvSpPr>
        <p:spPr>
          <a:xfrm>
            <a:off x="7137435" y="5038576"/>
            <a:ext cx="2249584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39682F1E-6672-04FF-9B9B-50F71EE0505D}"/>
              </a:ext>
            </a:extLst>
          </p:cNvPr>
          <p:cNvSpPr/>
          <p:nvPr/>
        </p:nvSpPr>
        <p:spPr>
          <a:xfrm>
            <a:off x="8671262" y="5037104"/>
            <a:ext cx="2479108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03338BF8-9E2F-AB39-932E-2B91D06B532D}"/>
              </a:ext>
            </a:extLst>
          </p:cNvPr>
          <p:cNvSpPr/>
          <p:nvPr/>
        </p:nvSpPr>
        <p:spPr>
          <a:xfrm>
            <a:off x="6967318" y="4657918"/>
            <a:ext cx="4340996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1A75CDA-7A1B-0256-B21A-5F1B505E8CC1}"/>
              </a:ext>
            </a:extLst>
          </p:cNvPr>
          <p:cNvSpPr/>
          <p:nvPr/>
        </p:nvSpPr>
        <p:spPr>
          <a:xfrm>
            <a:off x="8887956" y="540133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8C3D7D7-DAF6-75F5-E469-4327E3863F30}"/>
              </a:ext>
            </a:extLst>
          </p:cNvPr>
          <p:cNvSpPr/>
          <p:nvPr/>
        </p:nvSpPr>
        <p:spPr>
          <a:xfrm>
            <a:off x="8674883" y="5219621"/>
            <a:ext cx="754312" cy="8031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D5A2BFF-0E5C-B577-5C0C-E72C2BB19CD4}"/>
              </a:ext>
            </a:extLst>
          </p:cNvPr>
          <p:cNvSpPr/>
          <p:nvPr/>
        </p:nvSpPr>
        <p:spPr>
          <a:xfrm>
            <a:off x="7912966" y="5052710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DEECFD5-22A6-2321-AF36-127BBC2B31AC}"/>
              </a:ext>
            </a:extLst>
          </p:cNvPr>
          <p:cNvSpPr/>
          <p:nvPr/>
        </p:nvSpPr>
        <p:spPr>
          <a:xfrm>
            <a:off x="9587138" y="5052710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EE843E6-9775-BF5D-A00E-FA86E67435CF}"/>
              </a:ext>
            </a:extLst>
          </p:cNvPr>
          <p:cNvSpPr/>
          <p:nvPr/>
        </p:nvSpPr>
        <p:spPr>
          <a:xfrm>
            <a:off x="8907480" y="5381714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pic>
        <p:nvPicPr>
          <p:cNvPr id="28" name="Picture 2" descr="Extensión FIQ . UNL – Teselado geométrico">
            <a:extLst>
              <a:ext uri="{FF2B5EF4-FFF2-40B4-BE49-F238E27FC236}">
                <a16:creationId xmlns:a16="http://schemas.microsoft.com/office/drawing/2014/main" id="{38B611CC-EEF1-EC2B-0BFE-4C9576E2F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43" y="2273553"/>
            <a:ext cx="322897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52A97ED3-6B00-C79E-2E8E-566C0ECAE4C9}"/>
              </a:ext>
            </a:extLst>
          </p:cNvPr>
          <p:cNvSpPr/>
          <p:nvPr/>
        </p:nvSpPr>
        <p:spPr>
          <a:xfrm>
            <a:off x="4273243" y="5040893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C80CAB7-AF57-876A-AE40-FEF6111B9B63}"/>
              </a:ext>
            </a:extLst>
          </p:cNvPr>
          <p:cNvSpPr/>
          <p:nvPr/>
        </p:nvSpPr>
        <p:spPr>
          <a:xfrm>
            <a:off x="4260419" y="548586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7049887-2171-D0FB-34BD-E8AF27AA6EC9}"/>
              </a:ext>
            </a:extLst>
          </p:cNvPr>
          <p:cNvSpPr/>
          <p:nvPr/>
        </p:nvSpPr>
        <p:spPr>
          <a:xfrm>
            <a:off x="3112655" y="502866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CB357D3-9067-98A9-70EB-86A7243C51DD}"/>
              </a:ext>
            </a:extLst>
          </p:cNvPr>
          <p:cNvCxnSpPr>
            <a:cxnSpLocks/>
          </p:cNvCxnSpPr>
          <p:nvPr/>
        </p:nvCxnSpPr>
        <p:spPr>
          <a:xfrm>
            <a:off x="4027055" y="5516721"/>
            <a:ext cx="310341" cy="1800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0532ED-912F-71E1-C4BD-508E269CDD1D}"/>
              </a:ext>
            </a:extLst>
          </p:cNvPr>
          <p:cNvCxnSpPr>
            <a:cxnSpLocks/>
          </p:cNvCxnSpPr>
          <p:nvPr/>
        </p:nvCxnSpPr>
        <p:spPr>
          <a:xfrm flipV="1">
            <a:off x="4029964" y="5245221"/>
            <a:ext cx="317697" cy="267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ítulo 1">
            <a:extLst>
              <a:ext uri="{FF2B5EF4-FFF2-40B4-BE49-F238E27FC236}">
                <a16:creationId xmlns:a16="http://schemas.microsoft.com/office/drawing/2014/main" id="{32589145-4710-92A8-1217-A01254B3B90C}"/>
              </a:ext>
            </a:extLst>
          </p:cNvPr>
          <p:cNvSpPr txBox="1">
            <a:spLocks/>
          </p:cNvSpPr>
          <p:nvPr/>
        </p:nvSpPr>
        <p:spPr>
          <a:xfrm>
            <a:off x="3388369" y="4744095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43" name="Signo de multiplicación 42">
            <a:extLst>
              <a:ext uri="{FF2B5EF4-FFF2-40B4-BE49-F238E27FC236}">
                <a16:creationId xmlns:a16="http://schemas.microsoft.com/office/drawing/2014/main" id="{AD8E9156-7C4E-4EBE-F9DD-73EDB930FB95}"/>
              </a:ext>
            </a:extLst>
          </p:cNvPr>
          <p:cNvSpPr/>
          <p:nvPr/>
        </p:nvSpPr>
        <p:spPr>
          <a:xfrm>
            <a:off x="1814205" y="4842069"/>
            <a:ext cx="3670729" cy="126926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74E21C-1EAF-726B-A5B3-AB08C4DA39B4}"/>
              </a:ext>
            </a:extLst>
          </p:cNvPr>
          <p:cNvSpPr txBox="1"/>
          <p:nvPr/>
        </p:nvSpPr>
        <p:spPr>
          <a:xfrm>
            <a:off x="8136430" y="3867863"/>
            <a:ext cx="3332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EJEMPLO DE TESELACIÓN</a:t>
            </a:r>
            <a:endParaRPr lang="es-AR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64C9550-8973-CE68-C721-C17CCD2E7B84}"/>
              </a:ext>
            </a:extLst>
          </p:cNvPr>
          <p:cNvSpPr txBox="1"/>
          <p:nvPr/>
        </p:nvSpPr>
        <p:spPr>
          <a:xfrm>
            <a:off x="1959928" y="6089018"/>
            <a:ext cx="4136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Hay conjuntos de polígonos que no cubren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el plano que una MT no puede reconocer.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8D5987-D9AC-E8BE-C6E8-A4BB33B58F11}"/>
              </a:ext>
            </a:extLst>
          </p:cNvPr>
          <p:cNvSpPr/>
          <p:nvPr/>
        </p:nvSpPr>
        <p:spPr>
          <a:xfrm>
            <a:off x="4214042" y="2985260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4408256-6FB6-2F24-CA75-FA27BEBF3E16}"/>
              </a:ext>
            </a:extLst>
          </p:cNvPr>
          <p:cNvSpPr/>
          <p:nvPr/>
        </p:nvSpPr>
        <p:spPr>
          <a:xfrm>
            <a:off x="4201218" y="343022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FE1467-54A0-7957-5099-1B3FC8E03C71}"/>
              </a:ext>
            </a:extLst>
          </p:cNvPr>
          <p:cNvSpPr/>
          <p:nvPr/>
        </p:nvSpPr>
        <p:spPr>
          <a:xfrm>
            <a:off x="3053454" y="297302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F705967-8664-4794-E42D-A36716FF6C97}"/>
              </a:ext>
            </a:extLst>
          </p:cNvPr>
          <p:cNvCxnSpPr>
            <a:cxnSpLocks/>
          </p:cNvCxnSpPr>
          <p:nvPr/>
        </p:nvCxnSpPr>
        <p:spPr>
          <a:xfrm>
            <a:off x="3967854" y="3461088"/>
            <a:ext cx="310341" cy="1800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21DF218-9054-A0F2-35F1-654354743CAC}"/>
              </a:ext>
            </a:extLst>
          </p:cNvPr>
          <p:cNvCxnSpPr>
            <a:cxnSpLocks/>
          </p:cNvCxnSpPr>
          <p:nvPr/>
        </p:nvCxnSpPr>
        <p:spPr>
          <a:xfrm flipV="1">
            <a:off x="3970763" y="3189588"/>
            <a:ext cx="317697" cy="267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7B9DC45F-0E97-233E-0E01-3ECA0838EA8D}"/>
              </a:ext>
            </a:extLst>
          </p:cNvPr>
          <p:cNvSpPr txBox="1">
            <a:spLocks/>
          </p:cNvSpPr>
          <p:nvPr/>
        </p:nvSpPr>
        <p:spPr>
          <a:xfrm>
            <a:off x="3329168" y="2688462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6CECEA24-B8EE-5F18-674A-E58BB000AA9B}"/>
              </a:ext>
            </a:extLst>
          </p:cNvPr>
          <p:cNvSpPr/>
          <p:nvPr/>
        </p:nvSpPr>
        <p:spPr>
          <a:xfrm>
            <a:off x="1755004" y="2786436"/>
            <a:ext cx="3670729" cy="126926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CED7FC3-F75C-466D-83BF-6A41CCCFE79C}"/>
              </a:ext>
            </a:extLst>
          </p:cNvPr>
          <p:cNvSpPr txBox="1"/>
          <p:nvPr/>
        </p:nvSpPr>
        <p:spPr>
          <a:xfrm>
            <a:off x="1900728" y="4033385"/>
            <a:ext cx="39742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Hay conjuntos de polígonos que cubren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el plano que una MT no puede reconocer.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6EDEFB1-F144-CF1F-B584-7B1A02530503}"/>
              </a:ext>
            </a:extLst>
          </p:cNvPr>
          <p:cNvSpPr txBox="1"/>
          <p:nvPr/>
        </p:nvSpPr>
        <p:spPr>
          <a:xfrm>
            <a:off x="8807979" y="6227598"/>
            <a:ext cx="392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5C5E1FE-774B-4972-06C0-FEAA39AD021B}"/>
              </a:ext>
            </a:extLst>
          </p:cNvPr>
          <p:cNvSpPr txBox="1"/>
          <p:nvPr/>
        </p:nvSpPr>
        <p:spPr>
          <a:xfrm>
            <a:off x="9228143" y="6220930"/>
            <a:ext cx="517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40408A1-B35E-EFA1-6F21-19F3C71E69F5}"/>
              </a:ext>
            </a:extLst>
          </p:cNvPr>
          <p:cNvSpPr txBox="1"/>
          <p:nvPr/>
        </p:nvSpPr>
        <p:spPr>
          <a:xfrm>
            <a:off x="6384756" y="4103339"/>
            <a:ext cx="5875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 si hay periodicidad, el problema 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912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578983" y="2889425"/>
            <a:ext cx="6711941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4277005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43B38-06BA-9E3F-C615-409AF4CD7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770612C4-03A6-C0B6-1AF5-C8529268F7E0}"/>
              </a:ext>
            </a:extLst>
          </p:cNvPr>
          <p:cNvSpPr/>
          <p:nvPr/>
        </p:nvSpPr>
        <p:spPr>
          <a:xfrm>
            <a:off x="5654946" y="1695889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FFCF5F-4C2B-33BC-0380-2875BACE8D32}"/>
              </a:ext>
            </a:extLst>
          </p:cNvPr>
          <p:cNvSpPr/>
          <p:nvPr/>
        </p:nvSpPr>
        <p:spPr>
          <a:xfrm>
            <a:off x="281049" y="916892"/>
            <a:ext cx="11222498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5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6FC92B9-65CD-4C99-234D-62C0F9DFDD9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AE6987-F76C-DA3D-9323-B9D137B1BD2C}"/>
              </a:ext>
            </a:extLst>
          </p:cNvPr>
          <p:cNvSpPr/>
          <p:nvPr/>
        </p:nvSpPr>
        <p:spPr>
          <a:xfrm>
            <a:off x="4553884" y="1294699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8514924-3477-409A-7DF5-B6A8B07370DA}"/>
              </a:ext>
            </a:extLst>
          </p:cNvPr>
          <p:cNvSpPr/>
          <p:nvPr/>
        </p:nvSpPr>
        <p:spPr>
          <a:xfrm>
            <a:off x="3169988" y="27914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01E33DD-CE5A-FD3B-5286-AE18D2DCE64F}"/>
              </a:ext>
            </a:extLst>
          </p:cNvPr>
          <p:cNvCxnSpPr>
            <a:cxnSpLocks/>
          </p:cNvCxnSpPr>
          <p:nvPr/>
        </p:nvCxnSpPr>
        <p:spPr>
          <a:xfrm>
            <a:off x="2867320" y="2595325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A68C4E4-303C-EAF2-D4E6-53C47F57F4C0}"/>
              </a:ext>
            </a:extLst>
          </p:cNvPr>
          <p:cNvCxnSpPr>
            <a:cxnSpLocks/>
          </p:cNvCxnSpPr>
          <p:nvPr/>
        </p:nvCxnSpPr>
        <p:spPr>
          <a:xfrm flipV="1">
            <a:off x="2867320" y="2993929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D8429EC-6A1E-64A0-316E-639B2F09776A}"/>
              </a:ext>
            </a:extLst>
          </p:cNvPr>
          <p:cNvCxnSpPr>
            <a:cxnSpLocks/>
          </p:cNvCxnSpPr>
          <p:nvPr/>
        </p:nvCxnSpPr>
        <p:spPr>
          <a:xfrm flipV="1">
            <a:off x="3216488" y="2595325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791BFB1-F852-B7E7-819C-568A535DF7D5}"/>
              </a:ext>
            </a:extLst>
          </p:cNvPr>
          <p:cNvSpPr/>
          <p:nvPr/>
        </p:nvSpPr>
        <p:spPr>
          <a:xfrm>
            <a:off x="4601272" y="233218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EC14657-EC5A-670A-2FB8-B109AF8FA2BC}"/>
              </a:ext>
            </a:extLst>
          </p:cNvPr>
          <p:cNvSpPr/>
          <p:nvPr/>
        </p:nvSpPr>
        <p:spPr>
          <a:xfrm>
            <a:off x="2565930" y="166403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C0ED93F-48A8-5AC3-32F0-5C6152609E13}"/>
              </a:ext>
            </a:extLst>
          </p:cNvPr>
          <p:cNvCxnSpPr>
            <a:cxnSpLocks/>
          </p:cNvCxnSpPr>
          <p:nvPr/>
        </p:nvCxnSpPr>
        <p:spPr>
          <a:xfrm>
            <a:off x="1434776" y="2128028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7D8A49C-B2DB-73E7-23A9-C72288CDE563}"/>
              </a:ext>
            </a:extLst>
          </p:cNvPr>
          <p:cNvCxnSpPr>
            <a:cxnSpLocks/>
          </p:cNvCxnSpPr>
          <p:nvPr/>
        </p:nvCxnSpPr>
        <p:spPr>
          <a:xfrm>
            <a:off x="3480330" y="2152091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5DFA6CB2-7AB4-B3CC-1808-7468281B4223}"/>
              </a:ext>
            </a:extLst>
          </p:cNvPr>
          <p:cNvSpPr txBox="1">
            <a:spLocks/>
          </p:cNvSpPr>
          <p:nvPr/>
        </p:nvSpPr>
        <p:spPr>
          <a:xfrm>
            <a:off x="1392422" y="1843352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(&lt;M&gt;, w)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FEBEDD9-9BEB-CB79-06E3-81C69AF922DF}"/>
              </a:ext>
            </a:extLst>
          </p:cNvPr>
          <p:cNvCxnSpPr>
            <a:cxnSpLocks/>
          </p:cNvCxnSpPr>
          <p:nvPr/>
        </p:nvCxnSpPr>
        <p:spPr>
          <a:xfrm flipV="1">
            <a:off x="3483239" y="1483279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937654EC-8E4E-1912-99FF-C6E60D2E6383}"/>
              </a:ext>
            </a:extLst>
          </p:cNvPr>
          <p:cNvSpPr txBox="1">
            <a:spLocks/>
          </p:cNvSpPr>
          <p:nvPr/>
        </p:nvSpPr>
        <p:spPr>
          <a:xfrm>
            <a:off x="2841644" y="1379465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M´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010911D-B691-2DBC-32A0-507E0977AB00}"/>
              </a:ext>
            </a:extLst>
          </p:cNvPr>
          <p:cNvSpPr/>
          <p:nvPr/>
        </p:nvSpPr>
        <p:spPr>
          <a:xfrm>
            <a:off x="8123662" y="1148351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22CA35EF-B0F0-17A4-3650-DA5E945249D7}"/>
              </a:ext>
            </a:extLst>
          </p:cNvPr>
          <p:cNvSpPr/>
          <p:nvPr/>
        </p:nvSpPr>
        <p:spPr>
          <a:xfrm>
            <a:off x="6431528" y="1614580"/>
            <a:ext cx="2249584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32787C2D-45EE-C2A8-AD7A-A978C57A9BCA}"/>
              </a:ext>
            </a:extLst>
          </p:cNvPr>
          <p:cNvSpPr/>
          <p:nvPr/>
        </p:nvSpPr>
        <p:spPr>
          <a:xfrm>
            <a:off x="7965355" y="1613108"/>
            <a:ext cx="2479108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F375CF20-31CB-46F4-0467-9FA660BB2583}"/>
              </a:ext>
            </a:extLst>
          </p:cNvPr>
          <p:cNvSpPr/>
          <p:nvPr/>
        </p:nvSpPr>
        <p:spPr>
          <a:xfrm>
            <a:off x="6261411" y="1233922"/>
            <a:ext cx="4340996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F5C7CD0-3CDA-7A1E-3D88-F16BEA5F51FF}"/>
              </a:ext>
            </a:extLst>
          </p:cNvPr>
          <p:cNvSpPr/>
          <p:nvPr/>
        </p:nvSpPr>
        <p:spPr>
          <a:xfrm>
            <a:off x="8182049" y="197733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8AFBC1E-F827-4C30-DD16-0E3872139CFC}"/>
              </a:ext>
            </a:extLst>
          </p:cNvPr>
          <p:cNvSpPr/>
          <p:nvPr/>
        </p:nvSpPr>
        <p:spPr>
          <a:xfrm>
            <a:off x="7968976" y="1795625"/>
            <a:ext cx="754312" cy="8031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A40107E-3550-1DC5-360B-FBC810BEA80B}"/>
              </a:ext>
            </a:extLst>
          </p:cNvPr>
          <p:cNvSpPr txBox="1"/>
          <p:nvPr/>
        </p:nvSpPr>
        <p:spPr>
          <a:xfrm>
            <a:off x="7136093" y="2280994"/>
            <a:ext cx="577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5CF7CB9-9D14-7358-6BFD-3A9AC5CB2826}"/>
              </a:ext>
            </a:extLst>
          </p:cNvPr>
          <p:cNvSpPr/>
          <p:nvPr/>
        </p:nvSpPr>
        <p:spPr>
          <a:xfrm>
            <a:off x="7113639" y="1661719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D5A789-7EC1-88C0-482A-2220E27F8D37}"/>
              </a:ext>
            </a:extLst>
          </p:cNvPr>
          <p:cNvSpPr/>
          <p:nvPr/>
        </p:nvSpPr>
        <p:spPr>
          <a:xfrm>
            <a:off x="8881231" y="1628714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D121ED8-B725-E130-7CE4-8548EBC1F25D}"/>
              </a:ext>
            </a:extLst>
          </p:cNvPr>
          <p:cNvSpPr/>
          <p:nvPr/>
        </p:nvSpPr>
        <p:spPr>
          <a:xfrm>
            <a:off x="8201573" y="1957718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89E9F21-18BF-9516-B6EB-1F7A61E1863C}"/>
              </a:ext>
            </a:extLst>
          </p:cNvPr>
          <p:cNvSpPr txBox="1"/>
          <p:nvPr/>
        </p:nvSpPr>
        <p:spPr>
          <a:xfrm>
            <a:off x="336325" y="3674696"/>
            <a:ext cx="116880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existe ninguna MT M´ que para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MT M y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cadena w, pueda decidir si M para a partir de 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Pero para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algunas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MT M y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algunas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cadenas w, existen MT M´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pueden decidir el problema.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ejemplo, si M va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siempre a la derecha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si M se mueve en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espacio acotado de celdas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etc.,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 puede decidir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(mediante MT M´ “ingeniosas”).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general se considera 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peor caso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es decir, todas las entradas posibles. En dicho caso, el único algoritmo posible para el </a:t>
            </a:r>
            <a:r>
              <a:rPr lang="es-AR" i="1" dirty="0" err="1">
                <a:latin typeface="Arial" panose="020B0604020202020204" pitchFamily="34" charset="0"/>
                <a:cs typeface="Arial" panose="020B0604020202020204" pitchFamily="34" charset="0"/>
              </a:rPr>
              <a:t>halting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i="1" dirty="0" err="1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la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fuerza bruta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(ejecutar M y esperar a que eventualmente responda).   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10E1FF9-63EF-D72D-37F3-0039629B30AC}"/>
              </a:ext>
            </a:extLst>
          </p:cNvPr>
          <p:cNvSpPr txBox="1"/>
          <p:nvPr/>
        </p:nvSpPr>
        <p:spPr>
          <a:xfrm>
            <a:off x="9136231" y="2280994"/>
            <a:ext cx="577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600" b="1" dirty="0">
              <a:solidFill>
                <a:srgbClr val="0070C0"/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2A3F86BB-639A-9132-517E-08E1CFF8192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832369" y="1977334"/>
            <a:ext cx="2303724" cy="47293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3D4BF23-8CD5-6E8B-66F5-B944A3D68D9B}"/>
              </a:ext>
            </a:extLst>
          </p:cNvPr>
          <p:cNvSpPr/>
          <p:nvPr/>
        </p:nvSpPr>
        <p:spPr>
          <a:xfrm>
            <a:off x="236649" y="152470"/>
            <a:ext cx="1160281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Problema del </a:t>
            </a:r>
            <a:r>
              <a:rPr lang="es-A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halting</a:t>
            </a:r>
            <a:r>
              <a:rPr lang="es-A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</a:t>
            </a:r>
            <a:r>
              <a:rPr lang="es-A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revisitado</a:t>
            </a:r>
            <a:endParaRPr lang="es-AR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HP = {(&lt;M&gt;, w) | M para a partir de w} </a:t>
            </a:r>
            <a:r>
              <a:rPr lang="es-AR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∈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 – R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366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6E573-93DB-E622-6A2E-42514F407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73A6BB95-FD8A-4FF7-DA2D-1A47FA6EC7F4}"/>
              </a:ext>
            </a:extLst>
          </p:cNvPr>
          <p:cNvSpPr/>
          <p:nvPr/>
        </p:nvSpPr>
        <p:spPr>
          <a:xfrm>
            <a:off x="282837" y="140878"/>
            <a:ext cx="76036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Problema de decisión en la aritmética revisitado</a:t>
            </a:r>
            <a:endParaRPr lang="es-AR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Teorema de Incompletitud (K. Gödel, 1931):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Existen enunciados aritméticos verdaderos que no se pueden probar.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decir, L = {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 un enunciado aritmético verdadero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 RE.</a:t>
            </a:r>
          </a:p>
          <a:p>
            <a:endParaRPr lang="es-AR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Veamos que también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 un enunciado aritmético falso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 RE: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A06B83C-B236-9B9D-0099-A1822ED27821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00EE6A9-FB76-C18C-5E2D-9D38954B07F0}"/>
              </a:ext>
            </a:extLst>
          </p:cNvPr>
          <p:cNvSpPr/>
          <p:nvPr/>
        </p:nvSpPr>
        <p:spPr>
          <a:xfrm>
            <a:off x="9522066" y="427747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200" dirty="0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CF390E84-1062-6239-4C5D-478F20C1C297}"/>
              </a:ext>
            </a:extLst>
          </p:cNvPr>
          <p:cNvSpPr/>
          <p:nvPr/>
        </p:nvSpPr>
        <p:spPr>
          <a:xfrm>
            <a:off x="8466995" y="887751"/>
            <a:ext cx="1630790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C0DABA13-6586-4FE0-4F0D-CBC98B96BE4A}"/>
              </a:ext>
            </a:extLst>
          </p:cNvPr>
          <p:cNvSpPr/>
          <p:nvPr/>
        </p:nvSpPr>
        <p:spPr>
          <a:xfrm>
            <a:off x="9522064" y="886279"/>
            <a:ext cx="1634712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ED63DCBE-7FC2-B017-5BBC-6325EF73081A}"/>
              </a:ext>
            </a:extLst>
          </p:cNvPr>
          <p:cNvSpPr/>
          <p:nvPr/>
        </p:nvSpPr>
        <p:spPr>
          <a:xfrm>
            <a:off x="8147022" y="507093"/>
            <a:ext cx="3341697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EB08D25-577D-7551-1761-DB2F3418A166}"/>
              </a:ext>
            </a:extLst>
          </p:cNvPr>
          <p:cNvSpPr/>
          <p:nvPr/>
        </p:nvSpPr>
        <p:spPr>
          <a:xfrm>
            <a:off x="9598722" y="125050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BDCBB28-4A21-0F07-AA4F-C96B7D1D14E4}"/>
              </a:ext>
            </a:extLst>
          </p:cNvPr>
          <p:cNvSpPr/>
          <p:nvPr/>
        </p:nvSpPr>
        <p:spPr>
          <a:xfrm>
            <a:off x="9522065" y="994076"/>
            <a:ext cx="534763" cy="94812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0D2414D-41FC-5DA8-5174-E139B066FFC3}"/>
              </a:ext>
            </a:extLst>
          </p:cNvPr>
          <p:cNvSpPr/>
          <p:nvPr/>
        </p:nvSpPr>
        <p:spPr>
          <a:xfrm>
            <a:off x="8811868" y="923090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3C7C65D-9241-B379-08C4-C615966BC2E7}"/>
              </a:ext>
            </a:extLst>
          </p:cNvPr>
          <p:cNvSpPr/>
          <p:nvPr/>
        </p:nvSpPr>
        <p:spPr>
          <a:xfrm>
            <a:off x="9946575" y="900079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A14CD77-1817-1CB5-537A-4EDC0B14AE0F}"/>
              </a:ext>
            </a:extLst>
          </p:cNvPr>
          <p:cNvSpPr/>
          <p:nvPr/>
        </p:nvSpPr>
        <p:spPr>
          <a:xfrm>
            <a:off x="9569868" y="1230806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6F59DC7C-BE3B-2138-3D9D-433360D51567}"/>
              </a:ext>
            </a:extLst>
          </p:cNvPr>
          <p:cNvSpPr/>
          <p:nvPr/>
        </p:nvSpPr>
        <p:spPr>
          <a:xfrm>
            <a:off x="2567662" y="4250937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6DAB44F0-CE08-D83B-684C-224820BDEC71}"/>
              </a:ext>
            </a:extLst>
          </p:cNvPr>
          <p:cNvSpPr/>
          <p:nvPr/>
        </p:nvSpPr>
        <p:spPr>
          <a:xfrm>
            <a:off x="2567662" y="473741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E8B59F54-CF5C-A39B-B9B0-D8561C2D62C8}"/>
              </a:ext>
            </a:extLst>
          </p:cNvPr>
          <p:cNvSpPr/>
          <p:nvPr/>
        </p:nvSpPr>
        <p:spPr>
          <a:xfrm>
            <a:off x="1386174" y="4487544"/>
            <a:ext cx="631487" cy="56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ACF48DBB-0831-F7FB-F0A0-DD1E14667B1A}"/>
              </a:ext>
            </a:extLst>
          </p:cNvPr>
          <p:cNvCxnSpPr>
            <a:cxnSpLocks/>
          </p:cNvCxnSpPr>
          <p:nvPr/>
        </p:nvCxnSpPr>
        <p:spPr>
          <a:xfrm>
            <a:off x="663042" y="4752647"/>
            <a:ext cx="7216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145142F6-007B-C763-EC0E-91FBACC8E771}"/>
              </a:ext>
            </a:extLst>
          </p:cNvPr>
          <p:cNvCxnSpPr>
            <a:cxnSpLocks/>
          </p:cNvCxnSpPr>
          <p:nvPr/>
        </p:nvCxnSpPr>
        <p:spPr>
          <a:xfrm>
            <a:off x="2017662" y="4806904"/>
            <a:ext cx="583359" cy="1227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121">
            <a:extLst>
              <a:ext uri="{FF2B5EF4-FFF2-40B4-BE49-F238E27FC236}">
                <a16:creationId xmlns:a16="http://schemas.microsoft.com/office/drawing/2014/main" id="{1425AFE4-F724-E2E3-D76B-BAA857326BF6}"/>
              </a:ext>
            </a:extLst>
          </p:cNvPr>
          <p:cNvCxnSpPr>
            <a:cxnSpLocks/>
          </p:cNvCxnSpPr>
          <p:nvPr/>
        </p:nvCxnSpPr>
        <p:spPr>
          <a:xfrm flipV="1">
            <a:off x="2020571" y="4480945"/>
            <a:ext cx="562352" cy="322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ítulo 1">
            <a:extLst>
              <a:ext uri="{FF2B5EF4-FFF2-40B4-BE49-F238E27FC236}">
                <a16:creationId xmlns:a16="http://schemas.microsoft.com/office/drawing/2014/main" id="{5153E747-EFA4-1195-368B-50025D9212E6}"/>
              </a:ext>
            </a:extLst>
          </p:cNvPr>
          <p:cNvSpPr txBox="1">
            <a:spLocks/>
          </p:cNvSpPr>
          <p:nvPr/>
        </p:nvSpPr>
        <p:spPr>
          <a:xfrm>
            <a:off x="1492980" y="4601667"/>
            <a:ext cx="523227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ABC14EAA-739D-ECEF-6CE2-94FEC1185E19}"/>
              </a:ext>
            </a:extLst>
          </p:cNvPr>
          <p:cNvSpPr/>
          <p:nvPr/>
        </p:nvSpPr>
        <p:spPr>
          <a:xfrm>
            <a:off x="1834269" y="518752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694F2EA5-4B97-EDA9-8B98-6E39CC0765B3}"/>
              </a:ext>
            </a:extLst>
          </p:cNvPr>
          <p:cNvCxnSpPr>
            <a:cxnSpLocks/>
          </p:cNvCxnSpPr>
          <p:nvPr/>
        </p:nvCxnSpPr>
        <p:spPr>
          <a:xfrm>
            <a:off x="1531601" y="5063777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80B9FBBE-25E2-72C7-57D0-5243EF9E4521}"/>
              </a:ext>
            </a:extLst>
          </p:cNvPr>
          <p:cNvCxnSpPr>
            <a:cxnSpLocks/>
          </p:cNvCxnSpPr>
          <p:nvPr/>
        </p:nvCxnSpPr>
        <p:spPr>
          <a:xfrm flipV="1">
            <a:off x="1531601" y="5462381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cto de flecha 126">
            <a:extLst>
              <a:ext uri="{FF2B5EF4-FFF2-40B4-BE49-F238E27FC236}">
                <a16:creationId xmlns:a16="http://schemas.microsoft.com/office/drawing/2014/main" id="{B06E470E-695D-1C87-8D9B-06992947601A}"/>
              </a:ext>
            </a:extLst>
          </p:cNvPr>
          <p:cNvCxnSpPr>
            <a:cxnSpLocks/>
          </p:cNvCxnSpPr>
          <p:nvPr/>
        </p:nvCxnSpPr>
        <p:spPr>
          <a:xfrm flipV="1">
            <a:off x="1880769" y="5063777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ED9A8090-CDAE-F368-6728-B4A715F1DA40}"/>
              </a:ext>
            </a:extLst>
          </p:cNvPr>
          <p:cNvSpPr/>
          <p:nvPr/>
        </p:nvSpPr>
        <p:spPr>
          <a:xfrm>
            <a:off x="858862" y="4435603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Ɵ</a:t>
            </a:r>
            <a:endParaRPr lang="es-MX" dirty="0"/>
          </a:p>
        </p:txBody>
      </p:sp>
      <p:sp>
        <p:nvSpPr>
          <p:cNvPr id="143" name="Rectángulo 142">
            <a:extLst>
              <a:ext uri="{FF2B5EF4-FFF2-40B4-BE49-F238E27FC236}">
                <a16:creationId xmlns:a16="http://schemas.microsoft.com/office/drawing/2014/main" id="{8F55A399-EBE9-9516-5CF4-A1552AE12494}"/>
              </a:ext>
            </a:extLst>
          </p:cNvPr>
          <p:cNvSpPr/>
          <p:nvPr/>
        </p:nvSpPr>
        <p:spPr>
          <a:xfrm>
            <a:off x="345358" y="3222867"/>
            <a:ext cx="34251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Supongamos lo contrario, que L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∈ RE.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Así, existe la siguiente MT 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8C5D63E1-097C-DBF2-9F9F-49153CEF3A2E}"/>
              </a:ext>
            </a:extLst>
          </p:cNvPr>
          <p:cNvSpPr txBox="1"/>
          <p:nvPr/>
        </p:nvSpPr>
        <p:spPr>
          <a:xfrm>
            <a:off x="9451403" y="2066719"/>
            <a:ext cx="392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FCEF6193-977D-85EE-77C1-4C8F962FE5CC}"/>
              </a:ext>
            </a:extLst>
          </p:cNvPr>
          <p:cNvSpPr txBox="1"/>
          <p:nvPr/>
        </p:nvSpPr>
        <p:spPr>
          <a:xfrm>
            <a:off x="9871567" y="2060051"/>
            <a:ext cx="517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3EE0D54-73EA-8B88-B424-7451A5BE95A5}"/>
              </a:ext>
            </a:extLst>
          </p:cNvPr>
          <p:cNvSpPr/>
          <p:nvPr/>
        </p:nvSpPr>
        <p:spPr>
          <a:xfrm>
            <a:off x="414617" y="5831713"/>
            <a:ext cx="26090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Ɵ es falso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90573BE-40C1-5F54-916C-B3460B66FF1D}"/>
              </a:ext>
            </a:extLst>
          </p:cNvPr>
          <p:cNvSpPr/>
          <p:nvPr/>
        </p:nvSpPr>
        <p:spPr>
          <a:xfrm>
            <a:off x="5408382" y="4582602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F665E0E-93B7-8C47-5393-7CFADDE4F254}"/>
              </a:ext>
            </a:extLst>
          </p:cNvPr>
          <p:cNvSpPr/>
          <p:nvPr/>
        </p:nvSpPr>
        <p:spPr>
          <a:xfrm>
            <a:off x="5448582" y="5647047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DEAB472-C16D-04C7-18C6-F1995C8EE217}"/>
              </a:ext>
            </a:extLst>
          </p:cNvPr>
          <p:cNvSpPr/>
          <p:nvPr/>
        </p:nvSpPr>
        <p:spPr>
          <a:xfrm>
            <a:off x="5203624" y="433928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Diagrama de flujo: proceso 30">
            <a:extLst>
              <a:ext uri="{FF2B5EF4-FFF2-40B4-BE49-F238E27FC236}">
                <a16:creationId xmlns:a16="http://schemas.microsoft.com/office/drawing/2014/main" id="{9DEEA2CB-73BD-40A1-7F4E-4264BC8F56A5}"/>
              </a:ext>
            </a:extLst>
          </p:cNvPr>
          <p:cNvSpPr/>
          <p:nvPr/>
        </p:nvSpPr>
        <p:spPr>
          <a:xfrm>
            <a:off x="4492153" y="4236523"/>
            <a:ext cx="2193648" cy="217993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0164DC40-5DB9-A96F-B28F-2AE39EEDA9D0}"/>
              </a:ext>
            </a:extLst>
          </p:cNvPr>
          <p:cNvCxnSpPr>
            <a:cxnSpLocks/>
          </p:cNvCxnSpPr>
          <p:nvPr/>
        </p:nvCxnSpPr>
        <p:spPr>
          <a:xfrm flipV="1">
            <a:off x="4711801" y="4777949"/>
            <a:ext cx="478429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8931052-27C7-3A88-BC18-E52C061F655A}"/>
              </a:ext>
            </a:extLst>
          </p:cNvPr>
          <p:cNvSpPr/>
          <p:nvPr/>
        </p:nvSpPr>
        <p:spPr>
          <a:xfrm>
            <a:off x="5211725" y="5389787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D9966F5-A8EE-06C8-2493-C72A1F18EFB2}"/>
              </a:ext>
            </a:extLst>
          </p:cNvPr>
          <p:cNvCxnSpPr>
            <a:cxnSpLocks/>
          </p:cNvCxnSpPr>
          <p:nvPr/>
        </p:nvCxnSpPr>
        <p:spPr>
          <a:xfrm>
            <a:off x="4682441" y="4779115"/>
            <a:ext cx="0" cy="1004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7A839A6-ABAF-9C54-8952-1EBCA6CEEAB2}"/>
              </a:ext>
            </a:extLst>
          </p:cNvPr>
          <p:cNvSpPr/>
          <p:nvPr/>
        </p:nvSpPr>
        <p:spPr>
          <a:xfrm>
            <a:off x="5373222" y="3899361"/>
            <a:ext cx="526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0BE0CEB-917D-8DF5-ACA7-657144CA0937}"/>
              </a:ext>
            </a:extLst>
          </p:cNvPr>
          <p:cNvSpPr/>
          <p:nvPr/>
        </p:nvSpPr>
        <p:spPr>
          <a:xfrm>
            <a:off x="6190466" y="4483800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DC4E68CD-17C8-89EB-B5A6-6A82B4184B36}"/>
              </a:ext>
            </a:extLst>
          </p:cNvPr>
          <p:cNvCxnSpPr>
            <a:cxnSpLocks/>
          </p:cNvCxnSpPr>
          <p:nvPr/>
        </p:nvCxnSpPr>
        <p:spPr>
          <a:xfrm flipV="1">
            <a:off x="4693618" y="5783115"/>
            <a:ext cx="539407" cy="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6BC9A5E3-8A08-6BFA-699A-98DF285C98A1}"/>
              </a:ext>
            </a:extLst>
          </p:cNvPr>
          <p:cNvSpPr/>
          <p:nvPr/>
        </p:nvSpPr>
        <p:spPr>
          <a:xfrm>
            <a:off x="6876089" y="447862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67965FF0-3D9F-6D35-C344-0D24FF7BE38C}"/>
              </a:ext>
            </a:extLst>
          </p:cNvPr>
          <p:cNvCxnSpPr>
            <a:cxnSpLocks/>
          </p:cNvCxnSpPr>
          <p:nvPr/>
        </p:nvCxnSpPr>
        <p:spPr>
          <a:xfrm flipV="1">
            <a:off x="6094472" y="4777949"/>
            <a:ext cx="617193" cy="64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E19BCE4-0EFD-0D0C-6696-45B2D64C7DA3}"/>
              </a:ext>
            </a:extLst>
          </p:cNvPr>
          <p:cNvSpPr/>
          <p:nvPr/>
        </p:nvSpPr>
        <p:spPr>
          <a:xfrm>
            <a:off x="4250259" y="3224540"/>
            <a:ext cx="29531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esta manera, también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existe la siguiente MT 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0AFCD62E-464C-9719-515A-32F37B126633}"/>
              </a:ext>
            </a:extLst>
          </p:cNvPr>
          <p:cNvCxnSpPr>
            <a:cxnSpLocks/>
          </p:cNvCxnSpPr>
          <p:nvPr/>
        </p:nvCxnSpPr>
        <p:spPr>
          <a:xfrm>
            <a:off x="3973413" y="5294129"/>
            <a:ext cx="7216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F67F897F-056B-6D1A-B2B6-A1AEACD2365A}"/>
              </a:ext>
            </a:extLst>
          </p:cNvPr>
          <p:cNvSpPr/>
          <p:nvPr/>
        </p:nvSpPr>
        <p:spPr>
          <a:xfrm>
            <a:off x="4068158" y="5002857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Ɵ</a:t>
            </a:r>
            <a:endParaRPr lang="es-MX" dirty="0"/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2A7C2A6A-76B2-ADFB-BDC4-3DBECE20CFD7}"/>
              </a:ext>
            </a:extLst>
          </p:cNvPr>
          <p:cNvCxnSpPr>
            <a:cxnSpLocks/>
          </p:cNvCxnSpPr>
          <p:nvPr/>
        </p:nvCxnSpPr>
        <p:spPr>
          <a:xfrm>
            <a:off x="6711665" y="4777949"/>
            <a:ext cx="7216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66C1FC1B-9511-7443-DC14-9BBB2F8D39B4}"/>
              </a:ext>
            </a:extLst>
          </p:cNvPr>
          <p:cNvSpPr/>
          <p:nvPr/>
        </p:nvSpPr>
        <p:spPr>
          <a:xfrm>
            <a:off x="4754884" y="4467197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Ɵ</a:t>
            </a:r>
            <a:endParaRPr lang="es-MX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DEA57B-C74C-638E-4838-49F4C198AB8C}"/>
              </a:ext>
            </a:extLst>
          </p:cNvPr>
          <p:cNvSpPr/>
          <p:nvPr/>
        </p:nvSpPr>
        <p:spPr>
          <a:xfrm>
            <a:off x="4734170" y="5462381"/>
            <a:ext cx="4988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¬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Ɵ</a:t>
            </a:r>
            <a:endParaRPr lang="es-MX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55425617-650A-7976-E7A8-DBFBC9D15372}"/>
              </a:ext>
            </a:extLst>
          </p:cNvPr>
          <p:cNvSpPr/>
          <p:nvPr/>
        </p:nvSpPr>
        <p:spPr>
          <a:xfrm>
            <a:off x="6228258" y="5492131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1983F62-2502-3F88-02AB-1BFAD1342FD9}"/>
              </a:ext>
            </a:extLst>
          </p:cNvPr>
          <p:cNvSpPr/>
          <p:nvPr/>
        </p:nvSpPr>
        <p:spPr>
          <a:xfrm>
            <a:off x="6913881" y="5486958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BE5CA908-3AFF-62DF-8F2A-601EE16E3A3C}"/>
              </a:ext>
            </a:extLst>
          </p:cNvPr>
          <p:cNvCxnSpPr>
            <a:cxnSpLocks/>
          </p:cNvCxnSpPr>
          <p:nvPr/>
        </p:nvCxnSpPr>
        <p:spPr>
          <a:xfrm flipV="1">
            <a:off x="6132264" y="5786280"/>
            <a:ext cx="617193" cy="64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381690F7-7835-04A3-C240-AE7D3F94D3A1}"/>
              </a:ext>
            </a:extLst>
          </p:cNvPr>
          <p:cNvCxnSpPr>
            <a:cxnSpLocks/>
          </p:cNvCxnSpPr>
          <p:nvPr/>
        </p:nvCxnSpPr>
        <p:spPr>
          <a:xfrm>
            <a:off x="6749457" y="5786280"/>
            <a:ext cx="7216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720F85E0-E664-6EC5-8C50-5E2FEDE53782}"/>
              </a:ext>
            </a:extLst>
          </p:cNvPr>
          <p:cNvSpPr/>
          <p:nvPr/>
        </p:nvSpPr>
        <p:spPr>
          <a:xfrm>
            <a:off x="8288547" y="3210794"/>
            <a:ext cx="39301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cumple: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 es verdadero o falso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r>
              <a:rPr lang="es-MX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 verdadero,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acepta.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r>
              <a:rPr lang="es-MX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 falso,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rechaza.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consecuencia, M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acepta L y para siempre, lo que significa que L es recursivo (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absurdo, y así no puede suceder que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∈ RE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55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7" grpId="0"/>
      <p:bldP spid="118" grpId="0" animBg="1"/>
      <p:bldP spid="123" grpId="0"/>
      <p:bldP spid="124" grpId="0"/>
      <p:bldP spid="141" grpId="0"/>
      <p:bldP spid="143" grpId="0"/>
      <p:bldP spid="23" grpId="0"/>
      <p:bldP spid="28" grpId="0"/>
      <p:bldP spid="29" grpId="0"/>
      <p:bldP spid="30" grpId="0" animBg="1"/>
      <p:bldP spid="31" grpId="0" animBg="1"/>
      <p:bldP spid="36" grpId="0" animBg="1"/>
      <p:bldP spid="40" grpId="0"/>
      <p:bldP spid="41" grpId="0"/>
      <p:bldP spid="44" grpId="0"/>
      <p:bldP spid="49" grpId="0"/>
      <p:bldP spid="51" grpId="0"/>
      <p:bldP spid="53" grpId="0"/>
      <p:bldP spid="54" grpId="0"/>
      <p:bldP spid="57" grpId="0"/>
      <p:bldP spid="58" grpId="0"/>
      <p:bldP spid="6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0B14D-5ED5-E85B-D3BE-C9F738DF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281F0B85-D554-E284-E3B8-35F6B9B23C08}"/>
              </a:ext>
            </a:extLst>
          </p:cNvPr>
          <p:cNvSpPr/>
          <p:nvPr/>
        </p:nvSpPr>
        <p:spPr>
          <a:xfrm>
            <a:off x="282837" y="140878"/>
            <a:ext cx="76036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Indecibilidad</a:t>
            </a:r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en la lógica de predicados y en la aritmética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9807189A-87CE-1B0A-7371-D3A9B056A868}"/>
              </a:ext>
            </a:extLst>
          </p:cNvPr>
          <p:cNvSpPr/>
          <p:nvPr/>
        </p:nvSpPr>
        <p:spPr>
          <a:xfrm>
            <a:off x="1834269" y="1126357"/>
            <a:ext cx="7920949" cy="340151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1471D13-131B-8A3C-BCF0-554C72D39EE1}"/>
              </a:ext>
            </a:extLst>
          </p:cNvPr>
          <p:cNvCxnSpPr>
            <a:cxnSpLocks/>
          </p:cNvCxnSpPr>
          <p:nvPr/>
        </p:nvCxnSpPr>
        <p:spPr>
          <a:xfrm rot="60000">
            <a:off x="3063465" y="1582067"/>
            <a:ext cx="75975" cy="25019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609CA39-7B52-5F7D-C993-A6D9F401D42E}"/>
              </a:ext>
            </a:extLst>
          </p:cNvPr>
          <p:cNvCxnSpPr>
            <a:cxnSpLocks/>
          </p:cNvCxnSpPr>
          <p:nvPr/>
        </p:nvCxnSpPr>
        <p:spPr>
          <a:xfrm>
            <a:off x="4344876" y="1273729"/>
            <a:ext cx="87484" cy="31436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2B08CD1-19A5-03A5-4C43-D55E026556C4}"/>
              </a:ext>
            </a:extLst>
          </p:cNvPr>
          <p:cNvCxnSpPr>
            <a:cxnSpLocks/>
          </p:cNvCxnSpPr>
          <p:nvPr/>
        </p:nvCxnSpPr>
        <p:spPr>
          <a:xfrm rot="60000">
            <a:off x="5647060" y="1138220"/>
            <a:ext cx="147684" cy="3389654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A3C055D-088D-53C0-BEAB-ED76E37F7A5E}"/>
              </a:ext>
            </a:extLst>
          </p:cNvPr>
          <p:cNvCxnSpPr>
            <a:cxnSpLocks/>
          </p:cNvCxnSpPr>
          <p:nvPr/>
        </p:nvCxnSpPr>
        <p:spPr>
          <a:xfrm>
            <a:off x="7053868" y="1255276"/>
            <a:ext cx="87484" cy="31436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EE88191-5706-D3F2-892E-46272A720BFC}"/>
              </a:ext>
            </a:extLst>
          </p:cNvPr>
          <p:cNvCxnSpPr>
            <a:cxnSpLocks/>
          </p:cNvCxnSpPr>
          <p:nvPr/>
        </p:nvCxnSpPr>
        <p:spPr>
          <a:xfrm rot="60000">
            <a:off x="8392735" y="1576134"/>
            <a:ext cx="75975" cy="25019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C38040A-92FC-C1EB-AAB0-58D552DA8C15}"/>
              </a:ext>
            </a:extLst>
          </p:cNvPr>
          <p:cNvSpPr txBox="1"/>
          <p:nvPr/>
        </p:nvSpPr>
        <p:spPr>
          <a:xfrm>
            <a:off x="2123952" y="2553454"/>
            <a:ext cx="65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|–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AF692A9-C162-C509-DEE2-F788B4F25FE3}"/>
              </a:ext>
            </a:extLst>
          </p:cNvPr>
          <p:cNvSpPr txBox="1"/>
          <p:nvPr/>
        </p:nvSpPr>
        <p:spPr>
          <a:xfrm>
            <a:off x="8698287" y="2553454"/>
            <a:ext cx="1056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|–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¬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E7A9FDD-6BD4-71EE-8631-DB5C9143CD78}"/>
              </a:ext>
            </a:extLst>
          </p:cNvPr>
          <p:cNvSpPr txBox="1"/>
          <p:nvPr/>
        </p:nvSpPr>
        <p:spPr>
          <a:xfrm>
            <a:off x="3303251" y="2553454"/>
            <a:ext cx="898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 |–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164EF80-A52F-B253-1E0F-73F8856F6EED}"/>
              </a:ext>
            </a:extLst>
          </p:cNvPr>
          <p:cNvSpPr txBox="1"/>
          <p:nvPr/>
        </p:nvSpPr>
        <p:spPr>
          <a:xfrm>
            <a:off x="7247234" y="2542275"/>
            <a:ext cx="1123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 |–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¬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260B1C9-D2C1-F1B2-DDEE-04A66A270A5D}"/>
              </a:ext>
            </a:extLst>
          </p:cNvPr>
          <p:cNvSpPr txBox="1"/>
          <p:nvPr/>
        </p:nvSpPr>
        <p:spPr>
          <a:xfrm>
            <a:off x="4617409" y="2542275"/>
            <a:ext cx="898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 |=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5BBA775-B5C9-9E5D-6599-AFA3FC3DA0EB}"/>
              </a:ext>
            </a:extLst>
          </p:cNvPr>
          <p:cNvSpPr txBox="1"/>
          <p:nvPr/>
        </p:nvSpPr>
        <p:spPr>
          <a:xfrm>
            <a:off x="5895060" y="2542275"/>
            <a:ext cx="1299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 |=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¬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BE88817-916D-6ED4-7F18-8DF54AFD0975}"/>
              </a:ext>
            </a:extLst>
          </p:cNvPr>
          <p:cNvSpPr txBox="1"/>
          <p:nvPr/>
        </p:nvSpPr>
        <p:spPr>
          <a:xfrm>
            <a:off x="2856723" y="2465331"/>
            <a:ext cx="430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endParaRPr lang="es-AR" sz="2800" b="1" dirty="0">
              <a:solidFill>
                <a:srgbClr val="FF0000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5E19947-748E-02AA-B198-A1AE9687CB6C}"/>
              </a:ext>
            </a:extLst>
          </p:cNvPr>
          <p:cNvSpPr txBox="1"/>
          <p:nvPr/>
        </p:nvSpPr>
        <p:spPr>
          <a:xfrm>
            <a:off x="4177993" y="2465331"/>
            <a:ext cx="430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endParaRPr lang="es-AR" sz="2800" b="1" dirty="0">
              <a:solidFill>
                <a:srgbClr val="FF0000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3B943B8-2DA8-503F-6944-ED6111B48978}"/>
              </a:ext>
            </a:extLst>
          </p:cNvPr>
          <p:cNvSpPr txBox="1"/>
          <p:nvPr/>
        </p:nvSpPr>
        <p:spPr>
          <a:xfrm rot="10800000">
            <a:off x="8232947" y="2502422"/>
            <a:ext cx="430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endParaRPr lang="es-AR" sz="2800" b="1" dirty="0">
              <a:solidFill>
                <a:srgbClr val="FF000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18F020E-88A3-E519-2B6A-7A10C3635C6E}"/>
              </a:ext>
            </a:extLst>
          </p:cNvPr>
          <p:cNvSpPr txBox="1"/>
          <p:nvPr/>
        </p:nvSpPr>
        <p:spPr>
          <a:xfrm rot="10800000">
            <a:off x="6901578" y="2502422"/>
            <a:ext cx="430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endParaRPr lang="es-AR" sz="2800" b="1" dirty="0">
              <a:solidFill>
                <a:srgbClr val="FF0000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366E068-6792-07E5-57FB-05EDE2DFF779}"/>
              </a:ext>
            </a:extLst>
          </p:cNvPr>
          <p:cNvSpPr txBox="1"/>
          <p:nvPr/>
        </p:nvSpPr>
        <p:spPr>
          <a:xfrm>
            <a:off x="493016" y="5012174"/>
            <a:ext cx="112059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|–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 es el conjunto de los teoremas de la lógica de predicados.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Pertenece a RE –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 |–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 es el conjunto de los teoremas de la aritmética.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Pertenece a RE –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 |=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 es el conjunto de los enunciados verdaderos de la aritmética.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pertenece a RE.</a:t>
            </a:r>
            <a:endParaRPr lang="es-AR" b="1" dirty="0"/>
          </a:p>
        </p:txBody>
      </p:sp>
      <p:sp>
        <p:nvSpPr>
          <p:cNvPr id="63" name="Slide Number Placeholder 2">
            <a:extLst>
              <a:ext uri="{FF2B5EF4-FFF2-40B4-BE49-F238E27FC236}">
                <a16:creationId xmlns:a16="http://schemas.microsoft.com/office/drawing/2014/main" id="{45951CD9-518B-9430-B12A-ADDDE646286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7EC08AD-8B83-E8AF-6190-7E67092D10E2}"/>
              </a:ext>
            </a:extLst>
          </p:cNvPr>
          <p:cNvSpPr txBox="1"/>
          <p:nvPr/>
        </p:nvSpPr>
        <p:spPr>
          <a:xfrm>
            <a:off x="1371054" y="3144763"/>
            <a:ext cx="1505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lógica de predicados</a:t>
            </a:r>
            <a:endParaRPr lang="es-AR" b="1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794AE7FA-8629-BA71-AA3C-0E2601727133}"/>
              </a:ext>
            </a:extLst>
          </p:cNvPr>
          <p:cNvSpPr txBox="1"/>
          <p:nvPr/>
        </p:nvSpPr>
        <p:spPr>
          <a:xfrm>
            <a:off x="8561810" y="3025642"/>
            <a:ext cx="1505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lógica de predicados</a:t>
            </a:r>
            <a:endParaRPr lang="es-AR" b="1" dirty="0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1AE84075-40E5-F0F1-0B6D-57355DEA2916}"/>
              </a:ext>
            </a:extLst>
          </p:cNvPr>
          <p:cNvSpPr txBox="1"/>
          <p:nvPr/>
        </p:nvSpPr>
        <p:spPr>
          <a:xfrm>
            <a:off x="3715302" y="3204588"/>
            <a:ext cx="1505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aritmética</a:t>
            </a:r>
            <a:endParaRPr lang="es-AR" b="1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EF740134-8861-4849-66C3-248511BA6C54}"/>
              </a:ext>
            </a:extLst>
          </p:cNvPr>
          <p:cNvSpPr txBox="1"/>
          <p:nvPr/>
        </p:nvSpPr>
        <p:spPr>
          <a:xfrm>
            <a:off x="6423885" y="3204588"/>
            <a:ext cx="1505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aritmética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871688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424AC3-0B1C-1868-1821-24216492C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4559F9B1-9278-B519-F236-CA483D981FFB}"/>
              </a:ext>
            </a:extLst>
          </p:cNvPr>
          <p:cNvSpPr txBox="1">
            <a:spLocks/>
          </p:cNvSpPr>
          <p:nvPr/>
        </p:nvSpPr>
        <p:spPr>
          <a:xfrm>
            <a:off x="2578983" y="2889425"/>
            <a:ext cx="6711941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práctica 2</a:t>
            </a:r>
          </a:p>
        </p:txBody>
      </p:sp>
    </p:spTree>
    <p:extLst>
      <p:ext uri="{BB962C8B-B14F-4D97-AF65-F5344CB8AC3E}">
        <p14:creationId xmlns:p14="http://schemas.microsoft.com/office/powerpoint/2010/main" val="1489848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66488" y="170794"/>
            <a:ext cx="1165902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Ejercicio 1.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Probar que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clase R es cerrada con respecto a la operación de concatenación.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decir: si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 y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R, entonces también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⦁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Idea general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lenguaje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⦁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contiene todas las cadenas w = 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tales que la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subcadena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la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subcadena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Sea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una MT que decide el lenguaje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una MT que decide el lenguaje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Hay que construir una MT M que decida el lenguaje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⦁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Dado un input w con n símbolos, M hace: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1. M ejecuta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 partir de los primeros 0 símbolos de w, y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partir de los últimos n símbolos de w.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Si en ambos casos se acepta, entonces M acepta.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2. Si no, M hace lo mismo que en (1) pero ahora con el 1er símbolo y los últimos (n – 1) símbolos de w.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Si en ambos casos se acepta, entonces M acepta.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3. Si no, M hace lo mismo que en (1) pero ahora con los primeros 2 y los últimos (n – 2) símbolos de w.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Si en ambos casos se acepta, entonces M acepta.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así siguiendo, con 3 y (n – 3), 4 y (n – 4), …, hasta llegar a n y 0 símbolos de w.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en ninguno de los casos se acepta, entonces M rechaza.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Queda como ejercicio la construcción de M y la verificación de su correctitud.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5AB332-7CCD-A831-8286-53B1F5F5974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307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66488" y="167408"/>
            <a:ext cx="1165902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Ejercicio 2.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Probar que también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clase RE es cerrada con respecto a la operación de concatenación, es decir que si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 y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RE, entonces también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⦁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Idea general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Tal como se hizo con los lenguajes recursivos, se tiene que construir una MT M que acepte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⦁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ejecutando sobre un input w (de n símbolos) determinadas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(MT que aceptan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respectivamente, las cuales ahora pueden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loopear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 casos negativos),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primero a partir de 0 y n símbolos de w,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después a partir de 1 y n – 1 símbolos de w,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así siguiendo hasta llegar a n y 0 símbolos de w, aceptando eventualmente.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diferencia con el caso de los lenguajes recursivos está en que ahora, teniendo en cuenta los posibles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loops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M debe ejecutarlas “en paralelo”: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 primero debe hacer ejecuciones de 1 paso de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con todas las posibles particiones de w,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luego ejecuciones de 2 pasos con todas las particiones,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luego ejecuciones de 3 pasos con todas las particiones,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así siguiendo hasta eventualmente aceptar.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Queda como ejercicio la construcción de M y la verificación de su correctitud.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1054EC-278C-A7BD-D540-A234BA2F7211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403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66488" y="167408"/>
            <a:ext cx="1165902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Ejercicio 3.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Probar que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clase RE es cerrada con respecto a la operación de unión, permitiendo como solución una MT no determinística (MTN).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Idea general y construcción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Sean dos lenguajes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RE, aceptados por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δ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q´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y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δ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q´´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Vamos a construir una MTN M que acepta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Sea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un estado que no está en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ni en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La MTN M es: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M  =  (Q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∪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∪ {q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},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∪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Δ,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tal que: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Δ = δ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∪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∪ {(q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s, q´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s, S), 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s, q’’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s, S)}, considerando todos los símbolos s </a:t>
            </a:r>
            <a:r>
              <a:rPr lang="es-AR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AR" sz="18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Es decir, al comienzo la MTN M pasa no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determinísticamente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a la configuración inicial de M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o de M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y después se comporta determinística como ellas.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Queda como ejercicio la verificación de la correctitud de la construcción de la MTN 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AFC239-0B4B-893F-EC9D-5CDD71BDA90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5361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4420</TotalTime>
  <Words>4986</Words>
  <Application>Microsoft Office PowerPoint</Application>
  <PresentationFormat>Panorámica</PresentationFormat>
  <Paragraphs>923</Paragraphs>
  <Slides>30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Lucida Calligraphy</vt:lpstr>
      <vt:lpstr>Roboto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bbb    vbvvnn   vfffff aaa ddddd gggggggg</dc:title>
  <dc:creator>Ricardo Rosenfeld</dc:creator>
  <cp:lastModifiedBy>Ricardo Rosenfeld</cp:lastModifiedBy>
  <cp:revision>479</cp:revision>
  <dcterms:created xsi:type="dcterms:W3CDTF">2017-11-26T15:39:57Z</dcterms:created>
  <dcterms:modified xsi:type="dcterms:W3CDTF">2026-03-15T21:38:15Z</dcterms:modified>
</cp:coreProperties>
</file>