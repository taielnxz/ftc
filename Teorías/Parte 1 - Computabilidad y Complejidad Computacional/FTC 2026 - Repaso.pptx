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447" r:id="rId2"/>
    <p:sldId id="445" r:id="rId3"/>
    <p:sldId id="424" r:id="rId4"/>
    <p:sldId id="429" r:id="rId5"/>
    <p:sldId id="430" r:id="rId6"/>
    <p:sldId id="439" r:id="rId7"/>
    <p:sldId id="433" r:id="rId8"/>
    <p:sldId id="444" r:id="rId9"/>
    <p:sldId id="470" r:id="rId10"/>
    <p:sldId id="305" r:id="rId11"/>
    <p:sldId id="293" r:id="rId12"/>
    <p:sldId id="307" r:id="rId13"/>
    <p:sldId id="296" r:id="rId14"/>
    <p:sldId id="312" r:id="rId15"/>
    <p:sldId id="471" r:id="rId16"/>
    <p:sldId id="457" r:id="rId17"/>
    <p:sldId id="326" r:id="rId18"/>
    <p:sldId id="328" r:id="rId19"/>
    <p:sldId id="454" r:id="rId20"/>
    <p:sldId id="298" r:id="rId21"/>
    <p:sldId id="320" r:id="rId22"/>
    <p:sldId id="321" r:id="rId23"/>
    <p:sldId id="332" r:id="rId24"/>
    <p:sldId id="456" r:id="rId25"/>
    <p:sldId id="459" r:id="rId26"/>
    <p:sldId id="458" r:id="rId27"/>
    <p:sldId id="469" r:id="rId28"/>
    <p:sldId id="331" r:id="rId29"/>
    <p:sldId id="463" r:id="rId30"/>
    <p:sldId id="464" r:id="rId31"/>
    <p:sldId id="465" r:id="rId32"/>
    <p:sldId id="466" r:id="rId33"/>
    <p:sldId id="467" r:id="rId34"/>
    <p:sldId id="468" r:id="rId35"/>
    <p:sldId id="417" r:id="rId36"/>
    <p:sldId id="452" r:id="rId37"/>
    <p:sldId id="380" r:id="rId38"/>
    <p:sldId id="381" r:id="rId39"/>
    <p:sldId id="472" r:id="rId40"/>
    <p:sldId id="455" r:id="rId41"/>
    <p:sldId id="384" r:id="rId42"/>
    <p:sldId id="382" r:id="rId43"/>
    <p:sldId id="383" r:id="rId44"/>
    <p:sldId id="413" r:id="rId45"/>
    <p:sldId id="449" r:id="rId46"/>
    <p:sldId id="405" r:id="rId47"/>
    <p:sldId id="406" r:id="rId48"/>
    <p:sldId id="411" r:id="rId49"/>
    <p:sldId id="415" r:id="rId50"/>
    <p:sldId id="482" r:id="rId51"/>
    <p:sldId id="395" r:id="rId52"/>
    <p:sldId id="483" r:id="rId53"/>
    <p:sldId id="485" r:id="rId54"/>
    <p:sldId id="416" r:id="rId55"/>
    <p:sldId id="487" r:id="rId56"/>
    <p:sldId id="488" r:id="rId57"/>
    <p:sldId id="407" r:id="rId58"/>
    <p:sldId id="489" r:id="rId59"/>
    <p:sldId id="480" r:id="rId60"/>
    <p:sldId id="421" r:id="rId61"/>
    <p:sldId id="481" r:id="rId62"/>
    <p:sldId id="484" r:id="rId63"/>
    <p:sldId id="490" r:id="rId6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ardo Rosenfeld" initials="RR" lastIdx="1" clrIdx="0">
    <p:extLst>
      <p:ext uri="{19B8F6BF-5375-455C-9EA6-DF929625EA0E}">
        <p15:presenceInfo xmlns:p15="http://schemas.microsoft.com/office/powerpoint/2012/main" userId="S::rrosenfeld@pragmaconsultores.net::60a3a891-5940-4f3e-8fcb-08ad60f8a1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538167-D616-4E4F-9DE7-27C8B54EA290}" v="4" dt="2026-04-25T14:39:11.35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Estilo oscuro 2 - Énfasis 3/Énfasis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001" autoAdjust="0"/>
    <p:restoredTop sz="92848" autoAdjust="0"/>
  </p:normalViewPr>
  <p:slideViewPr>
    <p:cSldViewPr snapToGrid="0">
      <p:cViewPr varScale="1">
        <p:scale>
          <a:sx n="59" d="100"/>
          <a:sy n="59" d="100"/>
        </p:scale>
        <p:origin x="1424" y="28"/>
      </p:cViewPr>
      <p:guideLst/>
    </p:cSldViewPr>
  </p:slideViewPr>
  <p:outlineViewPr>
    <p:cViewPr>
      <p:scale>
        <a:sx n="33" d="100"/>
        <a:sy n="33" d="100"/>
      </p:scale>
      <p:origin x="0" y="-372954"/>
    </p:cViewPr>
  </p:outlineViewPr>
  <p:notesTextViewPr>
    <p:cViewPr>
      <p:scale>
        <a:sx n="1" d="1"/>
        <a:sy n="1" d="1"/>
      </p:scale>
      <p:origin x="0" y="0"/>
    </p:cViewPr>
  </p:notesTextViewPr>
  <p:sorterViewPr>
    <p:cViewPr varScale="1">
      <p:scale>
        <a:sx n="100" d="100"/>
        <a:sy n="100" d="100"/>
      </p:scale>
      <p:origin x="0" y="-830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Rosenfeld" userId="29ed646a-75fb-4451-a67b-85738f90665c" providerId="ADAL" clId="{56FAFB6D-07E1-49C8-800A-4AFF6024927D}"/>
    <pc:docChg chg="undo redo custSel modSld">
      <pc:chgData name="Ricardo Rosenfeld" userId="29ed646a-75fb-4451-a67b-85738f90665c" providerId="ADAL" clId="{56FAFB6D-07E1-49C8-800A-4AFF6024927D}" dt="2026-04-25T14:41:57.049" v="464" actId="14100"/>
      <pc:docMkLst>
        <pc:docMk/>
      </pc:docMkLst>
      <pc:sldChg chg="modSp mod">
        <pc:chgData name="Ricardo Rosenfeld" userId="29ed646a-75fb-4451-a67b-85738f90665c" providerId="ADAL" clId="{56FAFB6D-07E1-49C8-800A-4AFF6024927D}" dt="2026-04-25T14:30:21.254" v="348" actId="20577"/>
        <pc:sldMkLst>
          <pc:docMk/>
          <pc:sldMk cId="3276884013" sldId="417"/>
        </pc:sldMkLst>
        <pc:spChg chg="mod">
          <ac:chgData name="Ricardo Rosenfeld" userId="29ed646a-75fb-4451-a67b-85738f90665c" providerId="ADAL" clId="{56FAFB6D-07E1-49C8-800A-4AFF6024927D}" dt="2026-04-25T14:30:21.254" v="348" actId="20577"/>
          <ac:spMkLst>
            <pc:docMk/>
            <pc:sldMk cId="3276884013" sldId="417"/>
            <ac:spMk id="4" creationId="{28545D6B-507C-2AAD-034C-33B99C5F9477}"/>
          </ac:spMkLst>
        </pc:spChg>
      </pc:sldChg>
      <pc:sldChg chg="modSp mod">
        <pc:chgData name="Ricardo Rosenfeld" userId="29ed646a-75fb-4451-a67b-85738f90665c" providerId="ADAL" clId="{56FAFB6D-07E1-49C8-800A-4AFF6024927D}" dt="2026-04-25T14:18:18.314" v="173" actId="6549"/>
        <pc:sldMkLst>
          <pc:docMk/>
          <pc:sldMk cId="3160538917" sldId="424"/>
        </pc:sldMkLst>
        <pc:spChg chg="mod">
          <ac:chgData name="Ricardo Rosenfeld" userId="29ed646a-75fb-4451-a67b-85738f90665c" providerId="ADAL" clId="{56FAFB6D-07E1-49C8-800A-4AFF6024927D}" dt="2026-04-25T14:18:18.314" v="173" actId="6549"/>
          <ac:spMkLst>
            <pc:docMk/>
            <pc:sldMk cId="3160538917" sldId="424"/>
            <ac:spMk id="6" creationId="{32E4623D-53F1-AF3A-5EFD-823A941998CD}"/>
          </ac:spMkLst>
        </pc:spChg>
      </pc:sldChg>
      <pc:sldChg chg="modSp mod">
        <pc:chgData name="Ricardo Rosenfeld" userId="29ed646a-75fb-4451-a67b-85738f90665c" providerId="ADAL" clId="{56FAFB6D-07E1-49C8-800A-4AFF6024927D}" dt="2026-04-25T14:18:45.324" v="194" actId="20577"/>
        <pc:sldMkLst>
          <pc:docMk/>
          <pc:sldMk cId="1107189737" sldId="429"/>
        </pc:sldMkLst>
        <pc:spChg chg="mod">
          <ac:chgData name="Ricardo Rosenfeld" userId="29ed646a-75fb-4451-a67b-85738f90665c" providerId="ADAL" clId="{56FAFB6D-07E1-49C8-800A-4AFF6024927D}" dt="2026-04-25T14:18:45.324" v="194" actId="20577"/>
          <ac:spMkLst>
            <pc:docMk/>
            <pc:sldMk cId="1107189737" sldId="429"/>
            <ac:spMk id="8" creationId="{C88A6BEC-8EED-4AD1-B97B-9CCC6A047CE7}"/>
          </ac:spMkLst>
        </pc:spChg>
      </pc:sldChg>
      <pc:sldChg chg="modSp mod">
        <pc:chgData name="Ricardo Rosenfeld" userId="29ed646a-75fb-4451-a67b-85738f90665c" providerId="ADAL" clId="{56FAFB6D-07E1-49C8-800A-4AFF6024927D}" dt="2026-04-25T14:20:44.724" v="241" actId="6549"/>
        <pc:sldMkLst>
          <pc:docMk/>
          <pc:sldMk cId="4175561472" sldId="444"/>
        </pc:sldMkLst>
        <pc:spChg chg="mod">
          <ac:chgData name="Ricardo Rosenfeld" userId="29ed646a-75fb-4451-a67b-85738f90665c" providerId="ADAL" clId="{56FAFB6D-07E1-49C8-800A-4AFF6024927D}" dt="2026-04-25T14:20:44.724" v="241" actId="6549"/>
          <ac:spMkLst>
            <pc:docMk/>
            <pc:sldMk cId="4175561472" sldId="444"/>
            <ac:spMk id="3" creationId="{2709DC6A-370B-4C61-BD83-D8C5489E5B28}"/>
          </ac:spMkLst>
        </pc:spChg>
      </pc:sldChg>
      <pc:sldChg chg="addSp modSp mod">
        <pc:chgData name="Ricardo Rosenfeld" userId="29ed646a-75fb-4451-a67b-85738f90665c" providerId="ADAL" clId="{56FAFB6D-07E1-49C8-800A-4AFF6024927D}" dt="2026-04-25T14:23:06.607" v="263" actId="1076"/>
        <pc:sldMkLst>
          <pc:docMk/>
          <pc:sldMk cId="1844291468" sldId="445"/>
        </pc:sldMkLst>
        <pc:spChg chg="mod">
          <ac:chgData name="Ricardo Rosenfeld" userId="29ed646a-75fb-4451-a67b-85738f90665c" providerId="ADAL" clId="{56FAFB6D-07E1-49C8-800A-4AFF6024927D}" dt="2026-04-25T14:16:32.613" v="148" actId="1076"/>
          <ac:spMkLst>
            <pc:docMk/>
            <pc:sldMk cId="1844291468" sldId="445"/>
            <ac:spMk id="2" creationId="{7218FEEC-CDE3-C71F-80EF-2325595106C0}"/>
          </ac:spMkLst>
        </pc:spChg>
        <pc:spChg chg="mod">
          <ac:chgData name="Ricardo Rosenfeld" userId="29ed646a-75fb-4451-a67b-85738f90665c" providerId="ADAL" clId="{56FAFB6D-07E1-49C8-800A-4AFF6024927D}" dt="2026-04-25T14:16:41.554" v="149" actId="1076"/>
          <ac:spMkLst>
            <pc:docMk/>
            <pc:sldMk cId="1844291468" sldId="445"/>
            <ac:spMk id="4" creationId="{7D4FBEAD-1008-98FC-E650-D4D39BC30C78}"/>
          </ac:spMkLst>
        </pc:spChg>
        <pc:spChg chg="mod">
          <ac:chgData name="Ricardo Rosenfeld" userId="29ed646a-75fb-4451-a67b-85738f90665c" providerId="ADAL" clId="{56FAFB6D-07E1-49C8-800A-4AFF6024927D}" dt="2026-04-25T14:09:44.823" v="45" actId="1076"/>
          <ac:spMkLst>
            <pc:docMk/>
            <pc:sldMk cId="1844291468" sldId="445"/>
            <ac:spMk id="5" creationId="{CC48A491-CD59-1856-376B-58B68C983D20}"/>
          </ac:spMkLst>
        </pc:spChg>
        <pc:spChg chg="mod">
          <ac:chgData name="Ricardo Rosenfeld" userId="29ed646a-75fb-4451-a67b-85738f90665c" providerId="ADAL" clId="{56FAFB6D-07E1-49C8-800A-4AFF6024927D}" dt="2026-04-25T14:16:06.614" v="146" actId="1076"/>
          <ac:spMkLst>
            <pc:docMk/>
            <pc:sldMk cId="1844291468" sldId="445"/>
            <ac:spMk id="8" creationId="{764E38BF-968D-D081-4930-9BDF16A36031}"/>
          </ac:spMkLst>
        </pc:spChg>
        <pc:spChg chg="mod">
          <ac:chgData name="Ricardo Rosenfeld" userId="29ed646a-75fb-4451-a67b-85738f90665c" providerId="ADAL" clId="{56FAFB6D-07E1-49C8-800A-4AFF6024927D}" dt="2026-04-25T14:16:06.614" v="146" actId="1076"/>
          <ac:spMkLst>
            <pc:docMk/>
            <pc:sldMk cId="1844291468" sldId="445"/>
            <ac:spMk id="9" creationId="{B7F325D5-E587-26DE-ECF6-8EFABBA97C48}"/>
          </ac:spMkLst>
        </pc:spChg>
        <pc:spChg chg="mod">
          <ac:chgData name="Ricardo Rosenfeld" userId="29ed646a-75fb-4451-a67b-85738f90665c" providerId="ADAL" clId="{56FAFB6D-07E1-49C8-800A-4AFF6024927D}" dt="2026-04-25T14:15:50.744" v="145" actId="1076"/>
          <ac:spMkLst>
            <pc:docMk/>
            <pc:sldMk cId="1844291468" sldId="445"/>
            <ac:spMk id="11" creationId="{22B96210-FF08-5BD4-3CF1-AC87C7BD93AD}"/>
          </ac:spMkLst>
        </pc:spChg>
        <pc:spChg chg="mod">
          <ac:chgData name="Ricardo Rosenfeld" userId="29ed646a-75fb-4451-a67b-85738f90665c" providerId="ADAL" clId="{56FAFB6D-07E1-49C8-800A-4AFF6024927D}" dt="2026-04-25T14:15:50.744" v="145" actId="1076"/>
          <ac:spMkLst>
            <pc:docMk/>
            <pc:sldMk cId="1844291468" sldId="445"/>
            <ac:spMk id="12" creationId="{2AA30537-F8C0-F035-8032-9C32C9DD67DF}"/>
          </ac:spMkLst>
        </pc:spChg>
        <pc:spChg chg="mod">
          <ac:chgData name="Ricardo Rosenfeld" userId="29ed646a-75fb-4451-a67b-85738f90665c" providerId="ADAL" clId="{56FAFB6D-07E1-49C8-800A-4AFF6024927D}" dt="2026-04-25T14:15:50.744" v="145" actId="1076"/>
          <ac:spMkLst>
            <pc:docMk/>
            <pc:sldMk cId="1844291468" sldId="445"/>
            <ac:spMk id="16" creationId="{F72755C1-188E-06BC-59D4-4264735EA6C5}"/>
          </ac:spMkLst>
        </pc:spChg>
        <pc:spChg chg="mod">
          <ac:chgData name="Ricardo Rosenfeld" userId="29ed646a-75fb-4451-a67b-85738f90665c" providerId="ADAL" clId="{56FAFB6D-07E1-49C8-800A-4AFF6024927D}" dt="2026-04-25T14:15:50.744" v="145" actId="1076"/>
          <ac:spMkLst>
            <pc:docMk/>
            <pc:sldMk cId="1844291468" sldId="445"/>
            <ac:spMk id="17" creationId="{40A51595-221B-BBCE-65F6-AF8D0D24E84A}"/>
          </ac:spMkLst>
        </pc:spChg>
        <pc:spChg chg="mod">
          <ac:chgData name="Ricardo Rosenfeld" userId="29ed646a-75fb-4451-a67b-85738f90665c" providerId="ADAL" clId="{56FAFB6D-07E1-49C8-800A-4AFF6024927D}" dt="2026-04-25T14:15:50.744" v="145" actId="1076"/>
          <ac:spMkLst>
            <pc:docMk/>
            <pc:sldMk cId="1844291468" sldId="445"/>
            <ac:spMk id="20" creationId="{60AA97F5-682C-CF60-7836-F4D652284F05}"/>
          </ac:spMkLst>
        </pc:spChg>
        <pc:spChg chg="mod">
          <ac:chgData name="Ricardo Rosenfeld" userId="29ed646a-75fb-4451-a67b-85738f90665c" providerId="ADAL" clId="{56FAFB6D-07E1-49C8-800A-4AFF6024927D}" dt="2026-04-25T14:15:50.744" v="145" actId="1076"/>
          <ac:spMkLst>
            <pc:docMk/>
            <pc:sldMk cId="1844291468" sldId="445"/>
            <ac:spMk id="22" creationId="{66EFAE8B-A8AD-2DF7-DEDF-2858A43FB97C}"/>
          </ac:spMkLst>
        </pc:spChg>
        <pc:spChg chg="mod">
          <ac:chgData name="Ricardo Rosenfeld" userId="29ed646a-75fb-4451-a67b-85738f90665c" providerId="ADAL" clId="{56FAFB6D-07E1-49C8-800A-4AFF6024927D}" dt="2026-04-25T14:15:41.804" v="144" actId="1076"/>
          <ac:spMkLst>
            <pc:docMk/>
            <pc:sldMk cId="1844291468" sldId="445"/>
            <ac:spMk id="23" creationId="{D4C4E6E9-CCA1-4BB0-BBA0-3AAA4C87E83D}"/>
          </ac:spMkLst>
        </pc:spChg>
        <pc:spChg chg="mod">
          <ac:chgData name="Ricardo Rosenfeld" userId="29ed646a-75fb-4451-a67b-85738f90665c" providerId="ADAL" clId="{56FAFB6D-07E1-49C8-800A-4AFF6024927D}" dt="2026-04-25T14:15:41.804" v="144" actId="1076"/>
          <ac:spMkLst>
            <pc:docMk/>
            <pc:sldMk cId="1844291468" sldId="445"/>
            <ac:spMk id="24" creationId="{D54E073D-392B-45C1-9DBF-1E5E0B25B302}"/>
          </ac:spMkLst>
        </pc:spChg>
        <pc:spChg chg="mod">
          <ac:chgData name="Ricardo Rosenfeld" userId="29ed646a-75fb-4451-a67b-85738f90665c" providerId="ADAL" clId="{56FAFB6D-07E1-49C8-800A-4AFF6024927D}" dt="2026-04-25T14:14:16.822" v="134" actId="1076"/>
          <ac:spMkLst>
            <pc:docMk/>
            <pc:sldMk cId="1844291468" sldId="445"/>
            <ac:spMk id="25" creationId="{E7B5E590-0C54-43CC-C3AF-E77494FF5402}"/>
          </ac:spMkLst>
        </pc:spChg>
        <pc:spChg chg="mod">
          <ac:chgData name="Ricardo Rosenfeld" userId="29ed646a-75fb-4451-a67b-85738f90665c" providerId="ADAL" clId="{56FAFB6D-07E1-49C8-800A-4AFF6024927D}" dt="2026-04-25T14:15:50.744" v="145" actId="1076"/>
          <ac:spMkLst>
            <pc:docMk/>
            <pc:sldMk cId="1844291468" sldId="445"/>
            <ac:spMk id="26" creationId="{1A4E6721-EAB5-B89D-B85D-57A1CBC7DEAF}"/>
          </ac:spMkLst>
        </pc:spChg>
        <pc:spChg chg="mod">
          <ac:chgData name="Ricardo Rosenfeld" userId="29ed646a-75fb-4451-a67b-85738f90665c" providerId="ADAL" clId="{56FAFB6D-07E1-49C8-800A-4AFF6024927D}" dt="2026-04-25T14:15:50.744" v="145" actId="1076"/>
          <ac:spMkLst>
            <pc:docMk/>
            <pc:sldMk cId="1844291468" sldId="445"/>
            <ac:spMk id="27" creationId="{AD224CA2-1BF4-95F2-BA06-A91E10617645}"/>
          </ac:spMkLst>
        </pc:spChg>
        <pc:spChg chg="mod">
          <ac:chgData name="Ricardo Rosenfeld" userId="29ed646a-75fb-4451-a67b-85738f90665c" providerId="ADAL" clId="{56FAFB6D-07E1-49C8-800A-4AFF6024927D}" dt="2026-04-25T14:16:06.614" v="146" actId="1076"/>
          <ac:spMkLst>
            <pc:docMk/>
            <pc:sldMk cId="1844291468" sldId="445"/>
            <ac:spMk id="28" creationId="{001AB2C3-67D4-46CB-FA8A-E71DA0FA5F62}"/>
          </ac:spMkLst>
        </pc:spChg>
        <pc:spChg chg="mod">
          <ac:chgData name="Ricardo Rosenfeld" userId="29ed646a-75fb-4451-a67b-85738f90665c" providerId="ADAL" clId="{56FAFB6D-07E1-49C8-800A-4AFF6024927D}" dt="2026-04-25T14:16:06.614" v="146" actId="1076"/>
          <ac:spMkLst>
            <pc:docMk/>
            <pc:sldMk cId="1844291468" sldId="445"/>
            <ac:spMk id="29" creationId="{B06275D3-1C82-ED8A-EEBF-0924CE15A230}"/>
          </ac:spMkLst>
        </pc:spChg>
        <pc:spChg chg="mod">
          <ac:chgData name="Ricardo Rosenfeld" userId="29ed646a-75fb-4451-a67b-85738f90665c" providerId="ADAL" clId="{56FAFB6D-07E1-49C8-800A-4AFF6024927D}" dt="2026-04-25T14:15:50.744" v="145" actId="1076"/>
          <ac:spMkLst>
            <pc:docMk/>
            <pc:sldMk cId="1844291468" sldId="445"/>
            <ac:spMk id="30" creationId="{C37294B0-5E12-60FC-01F8-47EA6861E430}"/>
          </ac:spMkLst>
        </pc:spChg>
        <pc:spChg chg="add mod">
          <ac:chgData name="Ricardo Rosenfeld" userId="29ed646a-75fb-4451-a67b-85738f90665c" providerId="ADAL" clId="{56FAFB6D-07E1-49C8-800A-4AFF6024927D}" dt="2026-04-25T14:15:41.804" v="144" actId="1076"/>
          <ac:spMkLst>
            <pc:docMk/>
            <pc:sldMk cId="1844291468" sldId="445"/>
            <ac:spMk id="31" creationId="{A03F8111-A359-F461-4CD5-069A8C8CFFE4}"/>
          </ac:spMkLst>
        </pc:spChg>
        <pc:spChg chg="mod">
          <ac:chgData name="Ricardo Rosenfeld" userId="29ed646a-75fb-4451-a67b-85738f90665c" providerId="ADAL" clId="{56FAFB6D-07E1-49C8-800A-4AFF6024927D}" dt="2026-04-25T14:16:06.614" v="146" actId="1076"/>
          <ac:spMkLst>
            <pc:docMk/>
            <pc:sldMk cId="1844291468" sldId="445"/>
            <ac:spMk id="32" creationId="{BB04156B-D2B0-4619-8A07-0628DF00798B}"/>
          </ac:spMkLst>
        </pc:spChg>
        <pc:spChg chg="add mod">
          <ac:chgData name="Ricardo Rosenfeld" userId="29ed646a-75fb-4451-a67b-85738f90665c" providerId="ADAL" clId="{56FAFB6D-07E1-49C8-800A-4AFF6024927D}" dt="2026-04-25T14:15:50.744" v="145" actId="1076"/>
          <ac:spMkLst>
            <pc:docMk/>
            <pc:sldMk cId="1844291468" sldId="445"/>
            <ac:spMk id="34" creationId="{36A09D95-4222-3C27-C6D9-ADD358A6AA86}"/>
          </ac:spMkLst>
        </pc:spChg>
        <pc:spChg chg="mod">
          <ac:chgData name="Ricardo Rosenfeld" userId="29ed646a-75fb-4451-a67b-85738f90665c" providerId="ADAL" clId="{56FAFB6D-07E1-49C8-800A-4AFF6024927D}" dt="2026-04-25T14:15:41.804" v="144" actId="1076"/>
          <ac:spMkLst>
            <pc:docMk/>
            <pc:sldMk cId="1844291468" sldId="445"/>
            <ac:spMk id="47" creationId="{12AB9BB4-1DAF-4A4C-A1C4-4ED01BEC9F4A}"/>
          </ac:spMkLst>
        </pc:spChg>
        <pc:spChg chg="mod">
          <ac:chgData name="Ricardo Rosenfeld" userId="29ed646a-75fb-4451-a67b-85738f90665c" providerId="ADAL" clId="{56FAFB6D-07E1-49C8-800A-4AFF6024927D}" dt="2026-04-25T14:15:41.804" v="144" actId="1076"/>
          <ac:spMkLst>
            <pc:docMk/>
            <pc:sldMk cId="1844291468" sldId="445"/>
            <ac:spMk id="48" creationId="{CD8CE771-3031-4388-A8F6-FF3EC467CAC4}"/>
          </ac:spMkLst>
        </pc:spChg>
        <pc:spChg chg="mod">
          <ac:chgData name="Ricardo Rosenfeld" userId="29ed646a-75fb-4451-a67b-85738f90665c" providerId="ADAL" clId="{56FAFB6D-07E1-49C8-800A-4AFF6024927D}" dt="2026-04-25T14:11:54.608" v="96" actId="1076"/>
          <ac:spMkLst>
            <pc:docMk/>
            <pc:sldMk cId="1844291468" sldId="445"/>
            <ac:spMk id="49" creationId="{787BF2C7-CABD-4FCB-8727-EBB5D5749992}"/>
          </ac:spMkLst>
        </pc:spChg>
        <pc:spChg chg="mod">
          <ac:chgData name="Ricardo Rosenfeld" userId="29ed646a-75fb-4451-a67b-85738f90665c" providerId="ADAL" clId="{56FAFB6D-07E1-49C8-800A-4AFF6024927D}" dt="2026-04-25T14:15:41.804" v="144" actId="1076"/>
          <ac:spMkLst>
            <pc:docMk/>
            <pc:sldMk cId="1844291468" sldId="445"/>
            <ac:spMk id="52" creationId="{D0244AE2-D27D-46FE-8147-646A4D88BCCE}"/>
          </ac:spMkLst>
        </pc:spChg>
        <pc:spChg chg="mod">
          <ac:chgData name="Ricardo Rosenfeld" userId="29ed646a-75fb-4451-a67b-85738f90665c" providerId="ADAL" clId="{56FAFB6D-07E1-49C8-800A-4AFF6024927D}" dt="2026-04-25T14:15:41.804" v="144" actId="1076"/>
          <ac:spMkLst>
            <pc:docMk/>
            <pc:sldMk cId="1844291468" sldId="445"/>
            <ac:spMk id="53" creationId="{D1758112-D08C-4FEC-B8D9-CC8FCFC500A7}"/>
          </ac:spMkLst>
        </pc:spChg>
        <pc:spChg chg="mod">
          <ac:chgData name="Ricardo Rosenfeld" userId="29ed646a-75fb-4451-a67b-85738f90665c" providerId="ADAL" clId="{56FAFB6D-07E1-49C8-800A-4AFF6024927D}" dt="2026-04-25T14:23:06.607" v="263" actId="1076"/>
          <ac:spMkLst>
            <pc:docMk/>
            <pc:sldMk cId="1844291468" sldId="445"/>
            <ac:spMk id="56" creationId="{0F111726-01C9-404D-A602-790787DB2839}"/>
          </ac:spMkLst>
        </pc:spChg>
        <pc:spChg chg="mod">
          <ac:chgData name="Ricardo Rosenfeld" userId="29ed646a-75fb-4451-a67b-85738f90665c" providerId="ADAL" clId="{56FAFB6D-07E1-49C8-800A-4AFF6024927D}" dt="2026-04-25T14:16:06.614" v="146" actId="1076"/>
          <ac:spMkLst>
            <pc:docMk/>
            <pc:sldMk cId="1844291468" sldId="445"/>
            <ac:spMk id="85" creationId="{B01BEB68-9AD8-4028-B762-57AB6313DD95}"/>
          </ac:spMkLst>
        </pc:spChg>
        <pc:spChg chg="mod">
          <ac:chgData name="Ricardo Rosenfeld" userId="29ed646a-75fb-4451-a67b-85738f90665c" providerId="ADAL" clId="{56FAFB6D-07E1-49C8-800A-4AFF6024927D}" dt="2026-04-25T14:16:06.614" v="146" actId="1076"/>
          <ac:spMkLst>
            <pc:docMk/>
            <pc:sldMk cId="1844291468" sldId="445"/>
            <ac:spMk id="86" creationId="{DD5D8605-49AB-4A0D-B4BC-A120B85B2AAC}"/>
          </ac:spMkLst>
        </pc:spChg>
        <pc:spChg chg="mod">
          <ac:chgData name="Ricardo Rosenfeld" userId="29ed646a-75fb-4451-a67b-85738f90665c" providerId="ADAL" clId="{56FAFB6D-07E1-49C8-800A-4AFF6024927D}" dt="2026-04-25T14:16:06.614" v="146" actId="1076"/>
          <ac:spMkLst>
            <pc:docMk/>
            <pc:sldMk cId="1844291468" sldId="445"/>
            <ac:spMk id="88" creationId="{E767066C-CEA8-43BD-9953-46C3CB2D1DC4}"/>
          </ac:spMkLst>
        </pc:spChg>
        <pc:spChg chg="mod">
          <ac:chgData name="Ricardo Rosenfeld" userId="29ed646a-75fb-4451-a67b-85738f90665c" providerId="ADAL" clId="{56FAFB6D-07E1-49C8-800A-4AFF6024927D}" dt="2026-04-25T14:17:03.518" v="153" actId="1076"/>
          <ac:spMkLst>
            <pc:docMk/>
            <pc:sldMk cId="1844291468" sldId="445"/>
            <ac:spMk id="97" creationId="{DE7320F9-12F8-4D2D-8E6E-D56C6A6C4108}"/>
          </ac:spMkLst>
        </pc:spChg>
        <pc:spChg chg="mod">
          <ac:chgData name="Ricardo Rosenfeld" userId="29ed646a-75fb-4451-a67b-85738f90665c" providerId="ADAL" clId="{56FAFB6D-07E1-49C8-800A-4AFF6024927D}" dt="2026-04-25T14:11:54.608" v="96" actId="1076"/>
          <ac:spMkLst>
            <pc:docMk/>
            <pc:sldMk cId="1844291468" sldId="445"/>
            <ac:spMk id="100" creationId="{2D05BCCA-898D-4F17-8418-F38A41422B22}"/>
          </ac:spMkLst>
        </pc:spChg>
        <pc:spChg chg="mod">
          <ac:chgData name="Ricardo Rosenfeld" userId="29ed646a-75fb-4451-a67b-85738f90665c" providerId="ADAL" clId="{56FAFB6D-07E1-49C8-800A-4AFF6024927D}" dt="2026-04-25T14:15:41.804" v="144" actId="1076"/>
          <ac:spMkLst>
            <pc:docMk/>
            <pc:sldMk cId="1844291468" sldId="445"/>
            <ac:spMk id="104" creationId="{CEADD292-83B1-4127-95ED-F79597B9DC97}"/>
          </ac:spMkLst>
        </pc:spChg>
        <pc:spChg chg="mod">
          <ac:chgData name="Ricardo Rosenfeld" userId="29ed646a-75fb-4451-a67b-85738f90665c" providerId="ADAL" clId="{56FAFB6D-07E1-49C8-800A-4AFF6024927D}" dt="2026-04-25T14:15:41.804" v="144" actId="1076"/>
          <ac:spMkLst>
            <pc:docMk/>
            <pc:sldMk cId="1844291468" sldId="445"/>
            <ac:spMk id="116" creationId="{F9586FC7-0681-47F7-97C0-C7A072F51ABB}"/>
          </ac:spMkLst>
        </pc:spChg>
        <pc:cxnChg chg="mod">
          <ac:chgData name="Ricardo Rosenfeld" userId="29ed646a-75fb-4451-a67b-85738f90665c" providerId="ADAL" clId="{56FAFB6D-07E1-49C8-800A-4AFF6024927D}" dt="2026-04-25T14:09:44.823" v="45" actId="1076"/>
          <ac:cxnSpMkLst>
            <pc:docMk/>
            <pc:sldMk cId="1844291468" sldId="445"/>
            <ac:cxnSpMk id="6" creationId="{38904EB3-7EAE-7702-5844-17C3D6D3E6B6}"/>
          </ac:cxnSpMkLst>
        </pc:cxnChg>
        <pc:cxnChg chg="mod">
          <ac:chgData name="Ricardo Rosenfeld" userId="29ed646a-75fb-4451-a67b-85738f90665c" providerId="ADAL" clId="{56FAFB6D-07E1-49C8-800A-4AFF6024927D}" dt="2026-04-25T14:09:44.823" v="45" actId="1076"/>
          <ac:cxnSpMkLst>
            <pc:docMk/>
            <pc:sldMk cId="1844291468" sldId="445"/>
            <ac:cxnSpMk id="7" creationId="{D77AF679-F435-31F4-EF09-8EDDBCB12514}"/>
          </ac:cxnSpMkLst>
        </pc:cxnChg>
        <pc:cxnChg chg="mod">
          <ac:chgData name="Ricardo Rosenfeld" userId="29ed646a-75fb-4451-a67b-85738f90665c" providerId="ADAL" clId="{56FAFB6D-07E1-49C8-800A-4AFF6024927D}" dt="2026-04-25T14:09:44.823" v="45" actId="1076"/>
          <ac:cxnSpMkLst>
            <pc:docMk/>
            <pc:sldMk cId="1844291468" sldId="445"/>
            <ac:cxnSpMk id="10" creationId="{2643A3ED-42B5-FB45-0F64-E1AF9463D22D}"/>
          </ac:cxnSpMkLst>
        </pc:cxnChg>
        <pc:cxnChg chg="mod">
          <ac:chgData name="Ricardo Rosenfeld" userId="29ed646a-75fb-4451-a67b-85738f90665c" providerId="ADAL" clId="{56FAFB6D-07E1-49C8-800A-4AFF6024927D}" dt="2026-04-25T14:13:47.952" v="125" actId="1076"/>
          <ac:cxnSpMkLst>
            <pc:docMk/>
            <pc:sldMk cId="1844291468" sldId="445"/>
            <ac:cxnSpMk id="13" creationId="{62D1C810-6D65-7C11-B14C-F4DD62D64A22}"/>
          </ac:cxnSpMkLst>
        </pc:cxnChg>
        <pc:cxnChg chg="mod">
          <ac:chgData name="Ricardo Rosenfeld" userId="29ed646a-75fb-4451-a67b-85738f90665c" providerId="ADAL" clId="{56FAFB6D-07E1-49C8-800A-4AFF6024927D}" dt="2026-04-25T14:14:29.086" v="136" actId="1076"/>
          <ac:cxnSpMkLst>
            <pc:docMk/>
            <pc:sldMk cId="1844291468" sldId="445"/>
            <ac:cxnSpMk id="14" creationId="{E306D8E9-4187-F43C-C088-31DDF69CDB03}"/>
          </ac:cxnSpMkLst>
        </pc:cxnChg>
        <pc:cxnChg chg="mod">
          <ac:chgData name="Ricardo Rosenfeld" userId="29ed646a-75fb-4451-a67b-85738f90665c" providerId="ADAL" clId="{56FAFB6D-07E1-49C8-800A-4AFF6024927D}" dt="2026-04-25T14:07:57.692" v="36" actId="1076"/>
          <ac:cxnSpMkLst>
            <pc:docMk/>
            <pc:sldMk cId="1844291468" sldId="445"/>
            <ac:cxnSpMk id="33" creationId="{60B7C20A-6175-4886-AC43-CEDDE8CA5DEF}"/>
          </ac:cxnSpMkLst>
        </pc:cxnChg>
        <pc:cxnChg chg="mod">
          <ac:chgData name="Ricardo Rosenfeld" userId="29ed646a-75fb-4451-a67b-85738f90665c" providerId="ADAL" clId="{56FAFB6D-07E1-49C8-800A-4AFF6024927D}" dt="2026-04-25T14:07:57.692" v="36" actId="1076"/>
          <ac:cxnSpMkLst>
            <pc:docMk/>
            <pc:sldMk cId="1844291468" sldId="445"/>
            <ac:cxnSpMk id="41" creationId="{D8F23AEC-FE70-4B2B-A685-CB5670CDA480}"/>
          </ac:cxnSpMkLst>
        </pc:cxnChg>
      </pc:sldChg>
      <pc:sldChg chg="modSp mod">
        <pc:chgData name="Ricardo Rosenfeld" userId="29ed646a-75fb-4451-a67b-85738f90665c" providerId="ADAL" clId="{56FAFB6D-07E1-49C8-800A-4AFF6024927D}" dt="2026-04-25T14:31:45.967" v="370" actId="6549"/>
        <pc:sldMkLst>
          <pc:docMk/>
          <pc:sldMk cId="527651062" sldId="449"/>
        </pc:sldMkLst>
        <pc:spChg chg="mod">
          <ac:chgData name="Ricardo Rosenfeld" userId="29ed646a-75fb-4451-a67b-85738f90665c" providerId="ADAL" clId="{56FAFB6D-07E1-49C8-800A-4AFF6024927D}" dt="2026-04-25T14:31:45.967" v="370" actId="6549"/>
          <ac:spMkLst>
            <pc:docMk/>
            <pc:sldMk cId="527651062" sldId="449"/>
            <ac:spMk id="2" creationId="{4175F06D-4336-F1F6-0CAC-7E164D262EA8}"/>
          </ac:spMkLst>
        </pc:spChg>
      </pc:sldChg>
      <pc:sldChg chg="modSp mod">
        <pc:chgData name="Ricardo Rosenfeld" userId="29ed646a-75fb-4451-a67b-85738f90665c" providerId="ADAL" clId="{56FAFB6D-07E1-49C8-800A-4AFF6024927D}" dt="2026-04-25T14:24:45.959" v="275" actId="1076"/>
        <pc:sldMkLst>
          <pc:docMk/>
          <pc:sldMk cId="1541397340" sldId="456"/>
        </pc:sldMkLst>
        <pc:spChg chg="mod">
          <ac:chgData name="Ricardo Rosenfeld" userId="29ed646a-75fb-4451-a67b-85738f90665c" providerId="ADAL" clId="{56FAFB6D-07E1-49C8-800A-4AFF6024927D}" dt="2026-04-25T14:24:45.959" v="275" actId="1076"/>
          <ac:spMkLst>
            <pc:docMk/>
            <pc:sldMk cId="1541397340" sldId="456"/>
            <ac:spMk id="5" creationId="{202EB979-B210-A4BC-CC7D-FCB03537AA77}"/>
          </ac:spMkLst>
        </pc:spChg>
      </pc:sldChg>
      <pc:sldChg chg="modSp mod">
        <pc:chgData name="Ricardo Rosenfeld" userId="29ed646a-75fb-4451-a67b-85738f90665c" providerId="ADAL" clId="{56FAFB6D-07E1-49C8-800A-4AFF6024927D}" dt="2026-04-25T14:23:46.116" v="274" actId="6549"/>
        <pc:sldMkLst>
          <pc:docMk/>
          <pc:sldMk cId="2861576273" sldId="457"/>
        </pc:sldMkLst>
        <pc:spChg chg="mod">
          <ac:chgData name="Ricardo Rosenfeld" userId="29ed646a-75fb-4451-a67b-85738f90665c" providerId="ADAL" clId="{56FAFB6D-07E1-49C8-800A-4AFF6024927D}" dt="2026-04-25T14:23:46.116" v="274" actId="6549"/>
          <ac:spMkLst>
            <pc:docMk/>
            <pc:sldMk cId="2861576273" sldId="457"/>
            <ac:spMk id="20" creationId="{C4F8E59B-11D3-410E-ACB8-4411D6F0278B}"/>
          </ac:spMkLst>
        </pc:spChg>
      </pc:sldChg>
      <pc:sldChg chg="modSp mod">
        <pc:chgData name="Ricardo Rosenfeld" userId="29ed646a-75fb-4451-a67b-85738f90665c" providerId="ADAL" clId="{56FAFB6D-07E1-49C8-800A-4AFF6024927D}" dt="2026-04-25T14:23:17.895" v="264" actId="1076"/>
        <pc:sldMkLst>
          <pc:docMk/>
          <pc:sldMk cId="2527684927" sldId="470"/>
        </pc:sldMkLst>
        <pc:spChg chg="mod">
          <ac:chgData name="Ricardo Rosenfeld" userId="29ed646a-75fb-4451-a67b-85738f90665c" providerId="ADAL" clId="{56FAFB6D-07E1-49C8-800A-4AFF6024927D}" dt="2026-04-25T14:23:17.895" v="264" actId="1076"/>
          <ac:spMkLst>
            <pc:docMk/>
            <pc:sldMk cId="2527684927" sldId="470"/>
            <ac:spMk id="15" creationId="{4F938E11-0619-DBE8-4472-003AE200FA67}"/>
          </ac:spMkLst>
        </pc:spChg>
      </pc:sldChg>
      <pc:sldChg chg="modSp mod">
        <pc:chgData name="Ricardo Rosenfeld" userId="29ed646a-75fb-4451-a67b-85738f90665c" providerId="ADAL" clId="{56FAFB6D-07E1-49C8-800A-4AFF6024927D}" dt="2026-04-25T14:23:31.500" v="265" actId="1076"/>
        <pc:sldMkLst>
          <pc:docMk/>
          <pc:sldMk cId="692196249" sldId="471"/>
        </pc:sldMkLst>
        <pc:spChg chg="mod">
          <ac:chgData name="Ricardo Rosenfeld" userId="29ed646a-75fb-4451-a67b-85738f90665c" providerId="ADAL" clId="{56FAFB6D-07E1-49C8-800A-4AFF6024927D}" dt="2026-04-25T14:23:31.500" v="265" actId="1076"/>
          <ac:spMkLst>
            <pc:docMk/>
            <pc:sldMk cId="692196249" sldId="471"/>
            <ac:spMk id="2" creationId="{C7FFDB3F-592E-98ED-6F41-08C080E22507}"/>
          </ac:spMkLst>
        </pc:spChg>
        <pc:spChg chg="mod">
          <ac:chgData name="Ricardo Rosenfeld" userId="29ed646a-75fb-4451-a67b-85738f90665c" providerId="ADAL" clId="{56FAFB6D-07E1-49C8-800A-4AFF6024927D}" dt="2026-04-25T14:22:59.633" v="262" actId="1076"/>
          <ac:spMkLst>
            <pc:docMk/>
            <pc:sldMk cId="692196249" sldId="471"/>
            <ac:spMk id="9" creationId="{EEDB8774-518D-FA4D-16E9-E4A66508CBAE}"/>
          </ac:spMkLst>
        </pc:spChg>
      </pc:sldChg>
      <pc:sldChg chg="modSp mod">
        <pc:chgData name="Ricardo Rosenfeld" userId="29ed646a-75fb-4451-a67b-85738f90665c" providerId="ADAL" clId="{56FAFB6D-07E1-49C8-800A-4AFF6024927D}" dt="2026-04-25T14:40:07.025" v="448" actId="6549"/>
        <pc:sldMkLst>
          <pc:docMk/>
          <pc:sldMk cId="1167423395" sldId="472"/>
        </pc:sldMkLst>
        <pc:spChg chg="mod">
          <ac:chgData name="Ricardo Rosenfeld" userId="29ed646a-75fb-4451-a67b-85738f90665c" providerId="ADAL" clId="{56FAFB6D-07E1-49C8-800A-4AFF6024927D}" dt="2026-04-25T14:39:54.970" v="446" actId="6549"/>
          <ac:spMkLst>
            <pc:docMk/>
            <pc:sldMk cId="1167423395" sldId="472"/>
            <ac:spMk id="2" creationId="{573D26B9-B7F6-4DAF-8292-5E66568A2A86}"/>
          </ac:spMkLst>
        </pc:spChg>
        <pc:spChg chg="mod">
          <ac:chgData name="Ricardo Rosenfeld" userId="29ed646a-75fb-4451-a67b-85738f90665c" providerId="ADAL" clId="{56FAFB6D-07E1-49C8-800A-4AFF6024927D}" dt="2026-04-25T14:40:07.025" v="448" actId="6549"/>
          <ac:spMkLst>
            <pc:docMk/>
            <pc:sldMk cId="1167423395" sldId="472"/>
            <ac:spMk id="39" creationId="{AD02B727-D7BD-4FBF-8270-5FF30D4406D0}"/>
          </ac:spMkLst>
        </pc:spChg>
      </pc:sldChg>
      <pc:sldChg chg="modSp mod">
        <pc:chgData name="Ricardo Rosenfeld" userId="29ed646a-75fb-4451-a67b-85738f90665c" providerId="ADAL" clId="{56FAFB6D-07E1-49C8-800A-4AFF6024927D}" dt="2026-04-25T14:35:26.537" v="408" actId="1076"/>
        <pc:sldMkLst>
          <pc:docMk/>
          <pc:sldMk cId="1080735696" sldId="480"/>
        </pc:sldMkLst>
        <pc:spChg chg="mod">
          <ac:chgData name="Ricardo Rosenfeld" userId="29ed646a-75fb-4451-a67b-85738f90665c" providerId="ADAL" clId="{56FAFB6D-07E1-49C8-800A-4AFF6024927D}" dt="2026-04-25T14:32:24.050" v="394" actId="6549"/>
          <ac:spMkLst>
            <pc:docMk/>
            <pc:sldMk cId="1080735696" sldId="480"/>
            <ac:spMk id="3" creationId="{A04C6892-488A-2C5A-2C80-4FF90FEDAB98}"/>
          </ac:spMkLst>
        </pc:spChg>
        <pc:spChg chg="mod">
          <ac:chgData name="Ricardo Rosenfeld" userId="29ed646a-75fb-4451-a67b-85738f90665c" providerId="ADAL" clId="{56FAFB6D-07E1-49C8-800A-4AFF6024927D}" dt="2026-04-25T14:35:09.485" v="407" actId="1076"/>
          <ac:spMkLst>
            <pc:docMk/>
            <pc:sldMk cId="1080735696" sldId="480"/>
            <ac:spMk id="4" creationId="{2DF4341C-9AA6-434D-9B89-73A6A885A547}"/>
          </ac:spMkLst>
        </pc:spChg>
        <pc:spChg chg="mod">
          <ac:chgData name="Ricardo Rosenfeld" userId="29ed646a-75fb-4451-a67b-85738f90665c" providerId="ADAL" clId="{56FAFB6D-07E1-49C8-800A-4AFF6024927D}" dt="2026-04-25T14:35:09.485" v="407" actId="1076"/>
          <ac:spMkLst>
            <pc:docMk/>
            <pc:sldMk cId="1080735696" sldId="480"/>
            <ac:spMk id="5" creationId="{2660DA3F-E882-4070-A9E0-0E12120B433B}"/>
          </ac:spMkLst>
        </pc:spChg>
        <pc:spChg chg="mod">
          <ac:chgData name="Ricardo Rosenfeld" userId="29ed646a-75fb-4451-a67b-85738f90665c" providerId="ADAL" clId="{56FAFB6D-07E1-49C8-800A-4AFF6024927D}" dt="2026-04-25T14:34:52.326" v="406" actId="1076"/>
          <ac:spMkLst>
            <pc:docMk/>
            <pc:sldMk cId="1080735696" sldId="480"/>
            <ac:spMk id="6" creationId="{AF582DF2-6595-A391-41C5-D2F486F654EB}"/>
          </ac:spMkLst>
        </pc:spChg>
        <pc:spChg chg="mod">
          <ac:chgData name="Ricardo Rosenfeld" userId="29ed646a-75fb-4451-a67b-85738f90665c" providerId="ADAL" clId="{56FAFB6D-07E1-49C8-800A-4AFF6024927D}" dt="2026-04-25T14:35:09.485" v="407" actId="1076"/>
          <ac:spMkLst>
            <pc:docMk/>
            <pc:sldMk cId="1080735696" sldId="480"/>
            <ac:spMk id="7" creationId="{A5ED0269-D9D1-4FBD-A4D5-F726569C2EBA}"/>
          </ac:spMkLst>
        </pc:spChg>
        <pc:spChg chg="mod">
          <ac:chgData name="Ricardo Rosenfeld" userId="29ed646a-75fb-4451-a67b-85738f90665c" providerId="ADAL" clId="{56FAFB6D-07E1-49C8-800A-4AFF6024927D}" dt="2026-04-25T14:33:48.838" v="398" actId="6549"/>
          <ac:spMkLst>
            <pc:docMk/>
            <pc:sldMk cId="1080735696" sldId="480"/>
            <ac:spMk id="9" creationId="{51B99820-AF74-40DB-B211-327F132E88AB}"/>
          </ac:spMkLst>
        </pc:spChg>
        <pc:spChg chg="mod">
          <ac:chgData name="Ricardo Rosenfeld" userId="29ed646a-75fb-4451-a67b-85738f90665c" providerId="ADAL" clId="{56FAFB6D-07E1-49C8-800A-4AFF6024927D}" dt="2026-04-25T14:35:09.485" v="407" actId="1076"/>
          <ac:spMkLst>
            <pc:docMk/>
            <pc:sldMk cId="1080735696" sldId="480"/>
            <ac:spMk id="14" creationId="{E1B864AE-9B85-4EA8-9CA3-84800F1E2FCD}"/>
          </ac:spMkLst>
        </pc:spChg>
        <pc:spChg chg="mod">
          <ac:chgData name="Ricardo Rosenfeld" userId="29ed646a-75fb-4451-a67b-85738f90665c" providerId="ADAL" clId="{56FAFB6D-07E1-49C8-800A-4AFF6024927D}" dt="2026-04-25T14:35:09.485" v="407" actId="1076"/>
          <ac:spMkLst>
            <pc:docMk/>
            <pc:sldMk cId="1080735696" sldId="480"/>
            <ac:spMk id="21" creationId="{A508F61C-0621-41D4-A60C-0F4F00919079}"/>
          </ac:spMkLst>
        </pc:spChg>
        <pc:spChg chg="mod">
          <ac:chgData name="Ricardo Rosenfeld" userId="29ed646a-75fb-4451-a67b-85738f90665c" providerId="ADAL" clId="{56FAFB6D-07E1-49C8-800A-4AFF6024927D}" dt="2026-04-25T14:35:09.485" v="407" actId="1076"/>
          <ac:spMkLst>
            <pc:docMk/>
            <pc:sldMk cId="1080735696" sldId="480"/>
            <ac:spMk id="24" creationId="{AB95F004-654A-46E9-88EB-14710FAF8AB0}"/>
          </ac:spMkLst>
        </pc:spChg>
        <pc:spChg chg="mod">
          <ac:chgData name="Ricardo Rosenfeld" userId="29ed646a-75fb-4451-a67b-85738f90665c" providerId="ADAL" clId="{56FAFB6D-07E1-49C8-800A-4AFF6024927D}" dt="2026-04-25T14:34:52.326" v="406" actId="1076"/>
          <ac:spMkLst>
            <pc:docMk/>
            <pc:sldMk cId="1080735696" sldId="480"/>
            <ac:spMk id="53" creationId="{E4DB11B4-D37A-440F-8ED6-A1A684337A83}"/>
          </ac:spMkLst>
        </pc:spChg>
        <pc:spChg chg="mod">
          <ac:chgData name="Ricardo Rosenfeld" userId="29ed646a-75fb-4451-a67b-85738f90665c" providerId="ADAL" clId="{56FAFB6D-07E1-49C8-800A-4AFF6024927D}" dt="2026-04-25T14:34:52.326" v="406" actId="1076"/>
          <ac:spMkLst>
            <pc:docMk/>
            <pc:sldMk cId="1080735696" sldId="480"/>
            <ac:spMk id="59" creationId="{C4B30EE9-29E1-4875-9F2A-C72120EA66AF}"/>
          </ac:spMkLst>
        </pc:spChg>
        <pc:spChg chg="mod">
          <ac:chgData name="Ricardo Rosenfeld" userId="29ed646a-75fb-4451-a67b-85738f90665c" providerId="ADAL" clId="{56FAFB6D-07E1-49C8-800A-4AFF6024927D}" dt="2026-04-25T14:34:52.326" v="406" actId="1076"/>
          <ac:spMkLst>
            <pc:docMk/>
            <pc:sldMk cId="1080735696" sldId="480"/>
            <ac:spMk id="60" creationId="{A71FBED0-1755-4571-A73D-D495B4CC7204}"/>
          </ac:spMkLst>
        </pc:spChg>
        <pc:spChg chg="mod">
          <ac:chgData name="Ricardo Rosenfeld" userId="29ed646a-75fb-4451-a67b-85738f90665c" providerId="ADAL" clId="{56FAFB6D-07E1-49C8-800A-4AFF6024927D}" dt="2026-04-25T14:34:52.326" v="406" actId="1076"/>
          <ac:spMkLst>
            <pc:docMk/>
            <pc:sldMk cId="1080735696" sldId="480"/>
            <ac:spMk id="64" creationId="{11BE9933-7B2B-49DA-AE6B-9A735C4F8B12}"/>
          </ac:spMkLst>
        </pc:spChg>
        <pc:spChg chg="mod">
          <ac:chgData name="Ricardo Rosenfeld" userId="29ed646a-75fb-4451-a67b-85738f90665c" providerId="ADAL" clId="{56FAFB6D-07E1-49C8-800A-4AFF6024927D}" dt="2026-04-25T14:35:26.537" v="408" actId="1076"/>
          <ac:spMkLst>
            <pc:docMk/>
            <pc:sldMk cId="1080735696" sldId="480"/>
            <ac:spMk id="65" creationId="{B8146616-513C-4EE7-90EF-92B27862B7D6}"/>
          </ac:spMkLst>
        </pc:spChg>
        <pc:spChg chg="mod">
          <ac:chgData name="Ricardo Rosenfeld" userId="29ed646a-75fb-4451-a67b-85738f90665c" providerId="ADAL" clId="{56FAFB6D-07E1-49C8-800A-4AFF6024927D}" dt="2026-04-25T14:34:52.326" v="406" actId="1076"/>
          <ac:spMkLst>
            <pc:docMk/>
            <pc:sldMk cId="1080735696" sldId="480"/>
            <ac:spMk id="66" creationId="{85BC7A03-BA95-46B3-908F-6F20CE0A9C56}"/>
          </ac:spMkLst>
        </pc:spChg>
        <pc:spChg chg="mod">
          <ac:chgData name="Ricardo Rosenfeld" userId="29ed646a-75fb-4451-a67b-85738f90665c" providerId="ADAL" clId="{56FAFB6D-07E1-49C8-800A-4AFF6024927D}" dt="2026-04-25T14:34:52.326" v="406" actId="1076"/>
          <ac:spMkLst>
            <pc:docMk/>
            <pc:sldMk cId="1080735696" sldId="480"/>
            <ac:spMk id="67" creationId="{C0708D56-1A61-4179-9BE9-3C659ADF14A6}"/>
          </ac:spMkLst>
        </pc:spChg>
        <pc:spChg chg="mod">
          <ac:chgData name="Ricardo Rosenfeld" userId="29ed646a-75fb-4451-a67b-85738f90665c" providerId="ADAL" clId="{56FAFB6D-07E1-49C8-800A-4AFF6024927D}" dt="2026-04-25T14:34:52.326" v="406" actId="1076"/>
          <ac:spMkLst>
            <pc:docMk/>
            <pc:sldMk cId="1080735696" sldId="480"/>
            <ac:spMk id="68" creationId="{321B532E-E4BA-46AF-9386-7A66864C9506}"/>
          </ac:spMkLst>
        </pc:spChg>
        <pc:cxnChg chg="mod">
          <ac:chgData name="Ricardo Rosenfeld" userId="29ed646a-75fb-4451-a67b-85738f90665c" providerId="ADAL" clId="{56FAFB6D-07E1-49C8-800A-4AFF6024927D}" dt="2026-04-25T14:35:09.485" v="407" actId="1076"/>
          <ac:cxnSpMkLst>
            <pc:docMk/>
            <pc:sldMk cId="1080735696" sldId="480"/>
            <ac:cxnSpMk id="12" creationId="{7D5471BE-6263-4823-996C-331B1DC35BD0}"/>
          </ac:cxnSpMkLst>
        </pc:cxnChg>
        <pc:cxnChg chg="mod">
          <ac:chgData name="Ricardo Rosenfeld" userId="29ed646a-75fb-4451-a67b-85738f90665c" providerId="ADAL" clId="{56FAFB6D-07E1-49C8-800A-4AFF6024927D}" dt="2026-04-25T14:35:09.485" v="407" actId="1076"/>
          <ac:cxnSpMkLst>
            <pc:docMk/>
            <pc:sldMk cId="1080735696" sldId="480"/>
            <ac:cxnSpMk id="13" creationId="{B1026710-8C5A-4E3C-BBF8-F6C7062ABA03}"/>
          </ac:cxnSpMkLst>
        </pc:cxnChg>
        <pc:cxnChg chg="mod">
          <ac:chgData name="Ricardo Rosenfeld" userId="29ed646a-75fb-4451-a67b-85738f90665c" providerId="ADAL" clId="{56FAFB6D-07E1-49C8-800A-4AFF6024927D}" dt="2026-04-25T14:35:09.485" v="407" actId="1076"/>
          <ac:cxnSpMkLst>
            <pc:docMk/>
            <pc:sldMk cId="1080735696" sldId="480"/>
            <ac:cxnSpMk id="25" creationId="{8EFD2074-832E-4D44-B296-BECF55942203}"/>
          </ac:cxnSpMkLst>
        </pc:cxnChg>
        <pc:cxnChg chg="mod">
          <ac:chgData name="Ricardo Rosenfeld" userId="29ed646a-75fb-4451-a67b-85738f90665c" providerId="ADAL" clId="{56FAFB6D-07E1-49C8-800A-4AFF6024927D}" dt="2026-04-25T14:35:09.485" v="407" actId="1076"/>
          <ac:cxnSpMkLst>
            <pc:docMk/>
            <pc:sldMk cId="1080735696" sldId="480"/>
            <ac:cxnSpMk id="28" creationId="{72C66622-5DCE-439F-A51D-37F2463F3D0C}"/>
          </ac:cxnSpMkLst>
        </pc:cxnChg>
        <pc:cxnChg chg="mod">
          <ac:chgData name="Ricardo Rosenfeld" userId="29ed646a-75fb-4451-a67b-85738f90665c" providerId="ADAL" clId="{56FAFB6D-07E1-49C8-800A-4AFF6024927D}" dt="2026-04-25T14:34:52.326" v="406" actId="1076"/>
          <ac:cxnSpMkLst>
            <pc:docMk/>
            <pc:sldMk cId="1080735696" sldId="480"/>
            <ac:cxnSpMk id="55" creationId="{DF5F9B6C-A6B9-410E-AF1A-091FCFFCC337}"/>
          </ac:cxnSpMkLst>
        </pc:cxnChg>
      </pc:sldChg>
      <pc:sldChg chg="addSp delSp modSp mod">
        <pc:chgData name="Ricardo Rosenfeld" userId="29ed646a-75fb-4451-a67b-85738f90665c" providerId="ADAL" clId="{56FAFB6D-07E1-49C8-800A-4AFF6024927D}" dt="2026-04-25T14:32:04.306" v="382" actId="6549"/>
        <pc:sldMkLst>
          <pc:docMk/>
          <pc:sldMk cId="4269277866" sldId="487"/>
        </pc:sldMkLst>
        <pc:spChg chg="add del mod">
          <ac:chgData name="Ricardo Rosenfeld" userId="29ed646a-75fb-4451-a67b-85738f90665c" providerId="ADAL" clId="{56FAFB6D-07E1-49C8-800A-4AFF6024927D}" dt="2026-04-25T14:32:04.306" v="382" actId="6549"/>
          <ac:spMkLst>
            <pc:docMk/>
            <pc:sldMk cId="4269277866" sldId="487"/>
            <ac:spMk id="2" creationId="{4175F06D-4336-F1F6-0CAC-7E164D262EA8}"/>
          </ac:spMkLst>
        </pc:spChg>
      </pc:sldChg>
      <pc:sldChg chg="addSp modSp mod">
        <pc:chgData name="Ricardo Rosenfeld" userId="29ed646a-75fb-4451-a67b-85738f90665c" providerId="ADAL" clId="{56FAFB6D-07E1-49C8-800A-4AFF6024927D}" dt="2026-04-25T14:41:57.049" v="464" actId="14100"/>
        <pc:sldMkLst>
          <pc:docMk/>
          <pc:sldMk cId="243304863" sldId="490"/>
        </pc:sldMkLst>
        <pc:spChg chg="add mod">
          <ac:chgData name="Ricardo Rosenfeld" userId="29ed646a-75fb-4451-a67b-85738f90665c" providerId="ADAL" clId="{56FAFB6D-07E1-49C8-800A-4AFF6024927D}" dt="2026-04-25T14:38:52.335" v="429" actId="1076"/>
          <ac:spMkLst>
            <pc:docMk/>
            <pc:sldMk cId="243304863" sldId="490"/>
            <ac:spMk id="2" creationId="{E2A2CB0D-3678-2890-D710-ADA2A4B660CA}"/>
          </ac:spMkLst>
        </pc:spChg>
        <pc:spChg chg="add mod">
          <ac:chgData name="Ricardo Rosenfeld" userId="29ed646a-75fb-4451-a67b-85738f90665c" providerId="ADAL" clId="{56FAFB6D-07E1-49C8-800A-4AFF6024927D}" dt="2026-04-25T14:41:00.107" v="460" actId="20577"/>
          <ac:spMkLst>
            <pc:docMk/>
            <pc:sldMk cId="243304863" sldId="490"/>
            <ac:spMk id="3" creationId="{BA32BA71-FDFF-DDE5-FDB6-3A09AD9AA0FD}"/>
          </ac:spMkLst>
        </pc:spChg>
        <pc:spChg chg="mod">
          <ac:chgData name="Ricardo Rosenfeld" userId="29ed646a-75fb-4451-a67b-85738f90665c" providerId="ADAL" clId="{56FAFB6D-07E1-49C8-800A-4AFF6024927D}" dt="2026-04-25T14:38:13.406" v="425" actId="1076"/>
          <ac:spMkLst>
            <pc:docMk/>
            <pc:sldMk cId="243304863" sldId="490"/>
            <ac:spMk id="8" creationId="{18F08001-844A-4A49-849A-DC9E5CBED394}"/>
          </ac:spMkLst>
        </pc:spChg>
        <pc:spChg chg="mod">
          <ac:chgData name="Ricardo Rosenfeld" userId="29ed646a-75fb-4451-a67b-85738f90665c" providerId="ADAL" clId="{56FAFB6D-07E1-49C8-800A-4AFF6024927D}" dt="2026-04-25T14:41:20.424" v="461" actId="1076"/>
          <ac:spMkLst>
            <pc:docMk/>
            <pc:sldMk cId="243304863" sldId="490"/>
            <ac:spMk id="28" creationId="{12F533B0-7D16-43FF-91FE-892125133C81}"/>
          </ac:spMkLst>
        </pc:spChg>
        <pc:cxnChg chg="add mod">
          <ac:chgData name="Ricardo Rosenfeld" userId="29ed646a-75fb-4451-a67b-85738f90665c" providerId="ADAL" clId="{56FAFB6D-07E1-49C8-800A-4AFF6024927D}" dt="2026-04-25T14:41:57.049" v="464" actId="14100"/>
          <ac:cxnSpMkLst>
            <pc:docMk/>
            <pc:sldMk cId="243304863" sldId="490"/>
            <ac:cxnSpMk id="10" creationId="{38376D29-50AF-9703-A993-742E25E6E63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C0A43-6D99-469E-A2A4-986F5A96B2D7}" type="datetimeFigureOut">
              <a:rPr lang="es-MX" smtClean="0"/>
              <a:t>25/04/2026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435F7-D700-49C2-9B70-E2E5ADB6D160}" type="slidenum">
              <a:rPr lang="es-MX" smtClean="0"/>
              <a:t>‹Nº›</a:t>
            </a:fld>
            <a:endParaRPr lang="es-MX"/>
          </a:p>
        </p:txBody>
      </p:sp>
    </p:spTree>
    <p:extLst>
      <p:ext uri="{BB962C8B-B14F-4D97-AF65-F5344CB8AC3E}">
        <p14:creationId xmlns:p14="http://schemas.microsoft.com/office/powerpoint/2010/main" val="3910643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84970-6A1A-9FA9-5C07-C08BC94A8C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2995D7-4FBA-AA38-200A-6F4A35CBB5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8C6FD6-B0D7-DE59-750C-1FED1ADAA98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9775A80-CE07-2D50-0010-A5662C56C40E}"/>
              </a:ext>
            </a:extLst>
          </p:cNvPr>
          <p:cNvSpPr>
            <a:spLocks noGrp="1"/>
          </p:cNvSpPr>
          <p:nvPr>
            <p:ph type="sldNum" sz="quarter" idx="5"/>
          </p:nvPr>
        </p:nvSpPr>
        <p:spPr/>
        <p:txBody>
          <a:bodyPr/>
          <a:lstStyle/>
          <a:p>
            <a:fld id="{D3C435F7-D700-49C2-9B70-E2E5ADB6D160}" type="slidenum">
              <a:rPr lang="es-MX" smtClean="0"/>
              <a:t>9</a:t>
            </a:fld>
            <a:endParaRPr lang="es-MX"/>
          </a:p>
        </p:txBody>
      </p:sp>
    </p:spTree>
    <p:extLst>
      <p:ext uri="{BB962C8B-B14F-4D97-AF65-F5344CB8AC3E}">
        <p14:creationId xmlns:p14="http://schemas.microsoft.com/office/powerpoint/2010/main" val="3850312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C435F7-D700-49C2-9B70-E2E5ADB6D160}"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8913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20</a:t>
            </a:fld>
            <a:endParaRPr lang="es-MX"/>
          </a:p>
        </p:txBody>
      </p:sp>
    </p:spTree>
    <p:extLst>
      <p:ext uri="{BB962C8B-B14F-4D97-AF65-F5344CB8AC3E}">
        <p14:creationId xmlns:p14="http://schemas.microsoft.com/office/powerpoint/2010/main" val="4160507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27</a:t>
            </a:fld>
            <a:endParaRPr lang="es-MX"/>
          </a:p>
        </p:txBody>
      </p:sp>
    </p:spTree>
    <p:extLst>
      <p:ext uri="{BB962C8B-B14F-4D97-AF65-F5344CB8AC3E}">
        <p14:creationId xmlns:p14="http://schemas.microsoft.com/office/powerpoint/2010/main" val="2485955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C435F7-D700-49C2-9B70-E2E5ADB6D160}"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439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3C435F7-D700-49C2-9B70-E2E5ADB6D160}" type="slidenum">
              <a:rPr lang="es-MX" smtClean="0"/>
              <a:t>30</a:t>
            </a:fld>
            <a:endParaRPr lang="es-MX"/>
          </a:p>
        </p:txBody>
      </p:sp>
    </p:spTree>
    <p:extLst>
      <p:ext uri="{BB962C8B-B14F-4D97-AF65-F5344CB8AC3E}">
        <p14:creationId xmlns:p14="http://schemas.microsoft.com/office/powerpoint/2010/main" val="2229783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35</a:t>
            </a:fld>
            <a:endParaRPr lang="es-MX"/>
          </a:p>
        </p:txBody>
      </p:sp>
    </p:spTree>
    <p:extLst>
      <p:ext uri="{BB962C8B-B14F-4D97-AF65-F5344CB8AC3E}">
        <p14:creationId xmlns:p14="http://schemas.microsoft.com/office/powerpoint/2010/main" val="1503316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38</a:t>
            </a:fld>
            <a:endParaRPr lang="es-MX"/>
          </a:p>
        </p:txBody>
      </p:sp>
    </p:spTree>
    <p:extLst>
      <p:ext uri="{BB962C8B-B14F-4D97-AF65-F5344CB8AC3E}">
        <p14:creationId xmlns:p14="http://schemas.microsoft.com/office/powerpoint/2010/main" val="167226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39</a:t>
            </a:fld>
            <a:endParaRPr lang="es-MX"/>
          </a:p>
        </p:txBody>
      </p:sp>
    </p:spTree>
    <p:extLst>
      <p:ext uri="{BB962C8B-B14F-4D97-AF65-F5344CB8AC3E}">
        <p14:creationId xmlns:p14="http://schemas.microsoft.com/office/powerpoint/2010/main" val="3901266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40</a:t>
            </a:fld>
            <a:endParaRPr lang="es-MX"/>
          </a:p>
        </p:txBody>
      </p:sp>
    </p:spTree>
    <p:extLst>
      <p:ext uri="{BB962C8B-B14F-4D97-AF65-F5344CB8AC3E}">
        <p14:creationId xmlns:p14="http://schemas.microsoft.com/office/powerpoint/2010/main" val="440562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41</a:t>
            </a:fld>
            <a:endParaRPr lang="es-MX"/>
          </a:p>
        </p:txBody>
      </p:sp>
    </p:spTree>
    <p:extLst>
      <p:ext uri="{BB962C8B-B14F-4D97-AF65-F5344CB8AC3E}">
        <p14:creationId xmlns:p14="http://schemas.microsoft.com/office/powerpoint/2010/main" val="2061752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44</a:t>
            </a:fld>
            <a:endParaRPr lang="es-MX"/>
          </a:p>
        </p:txBody>
      </p:sp>
    </p:spTree>
    <p:extLst>
      <p:ext uri="{BB962C8B-B14F-4D97-AF65-F5344CB8AC3E}">
        <p14:creationId xmlns:p14="http://schemas.microsoft.com/office/powerpoint/2010/main" val="696071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45</a:t>
            </a:fld>
            <a:endParaRPr lang="es-MX"/>
          </a:p>
        </p:txBody>
      </p:sp>
    </p:spTree>
    <p:extLst>
      <p:ext uri="{BB962C8B-B14F-4D97-AF65-F5344CB8AC3E}">
        <p14:creationId xmlns:p14="http://schemas.microsoft.com/office/powerpoint/2010/main" val="2189138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50</a:t>
            </a:fld>
            <a:endParaRPr lang="es-MX"/>
          </a:p>
        </p:txBody>
      </p:sp>
    </p:spTree>
    <p:extLst>
      <p:ext uri="{BB962C8B-B14F-4D97-AF65-F5344CB8AC3E}">
        <p14:creationId xmlns:p14="http://schemas.microsoft.com/office/powerpoint/2010/main" val="3955621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51</a:t>
            </a:fld>
            <a:endParaRPr lang="es-MX"/>
          </a:p>
        </p:txBody>
      </p:sp>
    </p:spTree>
    <p:extLst>
      <p:ext uri="{BB962C8B-B14F-4D97-AF65-F5344CB8AC3E}">
        <p14:creationId xmlns:p14="http://schemas.microsoft.com/office/powerpoint/2010/main" val="259112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52</a:t>
            </a:fld>
            <a:endParaRPr lang="es-MX"/>
          </a:p>
        </p:txBody>
      </p:sp>
    </p:spTree>
    <p:extLst>
      <p:ext uri="{BB962C8B-B14F-4D97-AF65-F5344CB8AC3E}">
        <p14:creationId xmlns:p14="http://schemas.microsoft.com/office/powerpoint/2010/main" val="1533021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53</a:t>
            </a:fld>
            <a:endParaRPr lang="es-MX"/>
          </a:p>
        </p:txBody>
      </p:sp>
    </p:spTree>
    <p:extLst>
      <p:ext uri="{BB962C8B-B14F-4D97-AF65-F5344CB8AC3E}">
        <p14:creationId xmlns:p14="http://schemas.microsoft.com/office/powerpoint/2010/main" val="4215667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3C435F7-D700-49C2-9B70-E2E5ADB6D160}" type="slidenum">
              <a:rPr lang="es-MX" smtClean="0"/>
              <a:t>55</a:t>
            </a:fld>
            <a:endParaRPr lang="es-MX"/>
          </a:p>
        </p:txBody>
      </p:sp>
    </p:spTree>
    <p:extLst>
      <p:ext uri="{BB962C8B-B14F-4D97-AF65-F5344CB8AC3E}">
        <p14:creationId xmlns:p14="http://schemas.microsoft.com/office/powerpoint/2010/main" val="2189138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3C435F7-D700-49C2-9B70-E2E5ADB6D160}" type="slidenum">
              <a:rPr lang="es-MX" smtClean="0"/>
              <a:t>57</a:t>
            </a:fld>
            <a:endParaRPr lang="es-MX"/>
          </a:p>
        </p:txBody>
      </p:sp>
    </p:spTree>
    <p:extLst>
      <p:ext uri="{BB962C8B-B14F-4D97-AF65-F5344CB8AC3E}">
        <p14:creationId xmlns:p14="http://schemas.microsoft.com/office/powerpoint/2010/main" val="3564524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3C435F7-D700-49C2-9B70-E2E5ADB6D160}" type="slidenum">
              <a:rPr lang="es-MX" smtClean="0"/>
              <a:t>59</a:t>
            </a:fld>
            <a:endParaRPr lang="es-MX"/>
          </a:p>
        </p:txBody>
      </p:sp>
    </p:spTree>
    <p:extLst>
      <p:ext uri="{BB962C8B-B14F-4D97-AF65-F5344CB8AC3E}">
        <p14:creationId xmlns:p14="http://schemas.microsoft.com/office/powerpoint/2010/main" val="2195859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3C435F7-D700-49C2-9B70-E2E5ADB6D160}" type="slidenum">
              <a:rPr lang="es-MX" smtClean="0"/>
              <a:t>60</a:t>
            </a:fld>
            <a:endParaRPr lang="es-MX"/>
          </a:p>
        </p:txBody>
      </p:sp>
    </p:spTree>
    <p:extLst>
      <p:ext uri="{BB962C8B-B14F-4D97-AF65-F5344CB8AC3E}">
        <p14:creationId xmlns:p14="http://schemas.microsoft.com/office/powerpoint/2010/main" val="3938863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3C435F7-D700-49C2-9B70-E2E5ADB6D160}" type="slidenum">
              <a:rPr lang="es-MX" smtClean="0"/>
              <a:t>62</a:t>
            </a:fld>
            <a:endParaRPr lang="es-MX"/>
          </a:p>
        </p:txBody>
      </p:sp>
    </p:spTree>
    <p:extLst>
      <p:ext uri="{BB962C8B-B14F-4D97-AF65-F5344CB8AC3E}">
        <p14:creationId xmlns:p14="http://schemas.microsoft.com/office/powerpoint/2010/main" val="3818864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CDFD8-3B47-47B7-9D98-9CB28ED5035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F351C29-88F1-404A-88B5-AAFB933E7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MX"/>
          </a:p>
        </p:txBody>
      </p:sp>
      <p:sp>
        <p:nvSpPr>
          <p:cNvPr id="4" name="Marcador de fecha 3">
            <a:extLst>
              <a:ext uri="{FF2B5EF4-FFF2-40B4-BE49-F238E27FC236}">
                <a16:creationId xmlns:a16="http://schemas.microsoft.com/office/drawing/2014/main" id="{20BC8192-3085-40EC-A245-5C222F323543}"/>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5250C20B-B4AC-430A-8313-A3F7BDC0A4E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DEC49BD-1E18-4D92-9D24-7398DB0B19EA}"/>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2000679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3A5222-7243-4A2A-81E0-EFD4A97B0B7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03C6E81-EB0F-46DA-9E5A-667EA14DBBED}"/>
              </a:ext>
            </a:extLst>
          </p:cNvPr>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34B5F33-4F19-4979-8255-DD785CEE8145}"/>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28CF551B-D411-43D5-91E0-D1144B10A5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556BA24-B1EE-4DB2-AAFD-AD6642DDEE57}"/>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2134143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13B8AA-8824-42FA-95BA-B9BAD6FE2B0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5287F06-1F1F-4003-BCAA-C7B601E3F2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a:extLst>
              <a:ext uri="{FF2B5EF4-FFF2-40B4-BE49-F238E27FC236}">
                <a16:creationId xmlns:a16="http://schemas.microsoft.com/office/drawing/2014/main" id="{1AB5B110-FFCF-43EE-8AF6-DE5B2842C26C}"/>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C4FA215F-73F9-4C6E-B7EC-68488086BD4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422D6C-A7D6-41A9-B84A-4E190D85694A}"/>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3643554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FB367-926C-43A9-9CEC-6BFEFCAE532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6F9C402-E080-471C-8FDA-676B5D640B5E}"/>
              </a:ext>
            </a:extLst>
          </p:cNvPr>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D815C77-D3F1-4F59-98FC-1C12D5B4B5DA}"/>
              </a:ext>
            </a:extLst>
          </p:cNvPr>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A88C8DE3-9740-42F7-A75D-5AD791510BF8}"/>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6" name="Marcador de pie de página 5">
            <a:extLst>
              <a:ext uri="{FF2B5EF4-FFF2-40B4-BE49-F238E27FC236}">
                <a16:creationId xmlns:a16="http://schemas.microsoft.com/office/drawing/2014/main" id="{13716250-9E7E-4B4A-AE00-7A405C6DA6F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F3BA5F8-1996-419B-A547-BE167DD438F5}"/>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3965427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D8EFD3-DE5B-46CC-9A55-EF83087CB6F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F83A4CA-2CD6-4D12-8680-E55BE1714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a:extLst>
              <a:ext uri="{FF2B5EF4-FFF2-40B4-BE49-F238E27FC236}">
                <a16:creationId xmlns:a16="http://schemas.microsoft.com/office/drawing/2014/main" id="{81C9E483-322E-42AA-BEE2-AD348AC5BF33}"/>
              </a:ext>
            </a:extLst>
          </p:cNvPr>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AF3C280-1532-430A-A567-C1C468DBBA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a:extLst>
              <a:ext uri="{FF2B5EF4-FFF2-40B4-BE49-F238E27FC236}">
                <a16:creationId xmlns:a16="http://schemas.microsoft.com/office/drawing/2014/main" id="{0A4D677A-924C-4D3E-B367-07331BECAB2E}"/>
              </a:ext>
            </a:extLst>
          </p:cNvPr>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A6C1839-3F71-4941-BB2A-B44CB6C3E2E9}"/>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8" name="Marcador de pie de página 7">
            <a:extLst>
              <a:ext uri="{FF2B5EF4-FFF2-40B4-BE49-F238E27FC236}">
                <a16:creationId xmlns:a16="http://schemas.microsoft.com/office/drawing/2014/main" id="{8D48C015-22B0-416F-BEC7-42EFB85FFEF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1FEA894-61ED-4AAB-83DF-19C01EE84683}"/>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310287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02AE01-3088-4313-9007-6B1AADB4A91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F8D9A49-CAAC-4CB1-ACA6-6F6062D948C6}"/>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4" name="Marcador de pie de página 3">
            <a:extLst>
              <a:ext uri="{FF2B5EF4-FFF2-40B4-BE49-F238E27FC236}">
                <a16:creationId xmlns:a16="http://schemas.microsoft.com/office/drawing/2014/main" id="{1D9D4133-9FCA-44D8-9FB8-A4815F3FD05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675C298-54F6-456C-BB16-F05636301C28}"/>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184517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F9DFC64-5151-420C-9730-DFDC83B985E7}"/>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3" name="Marcador de pie de página 2">
            <a:extLst>
              <a:ext uri="{FF2B5EF4-FFF2-40B4-BE49-F238E27FC236}">
                <a16:creationId xmlns:a16="http://schemas.microsoft.com/office/drawing/2014/main" id="{30E318C4-3FDF-4018-950C-7C6F8C171BB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9766FD2A-6527-4E5F-AEBF-BBA1707FC4B8}"/>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4088808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F2E8B-3206-4383-8645-1E3D162F16C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76BBE06-46BA-4FCC-8B18-70C154D447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C08D200-9C17-459D-ACBF-27E79A38C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a:extLst>
              <a:ext uri="{FF2B5EF4-FFF2-40B4-BE49-F238E27FC236}">
                <a16:creationId xmlns:a16="http://schemas.microsoft.com/office/drawing/2014/main" id="{37C25193-0668-4B1D-A8B6-F7470675AACF}"/>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6" name="Marcador de pie de página 5">
            <a:extLst>
              <a:ext uri="{FF2B5EF4-FFF2-40B4-BE49-F238E27FC236}">
                <a16:creationId xmlns:a16="http://schemas.microsoft.com/office/drawing/2014/main" id="{D019D8AA-90EA-4DD2-96E0-DD955B2309E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325CA9F-E879-43AA-AD1E-ACD887D0F9AC}"/>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2930862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379DCD-B27A-4406-864E-7743DAE48F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8978869-74E6-47DC-AC53-E00D971CBD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51CC178-2CF6-4746-8D87-0BE4A1418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a:extLst>
              <a:ext uri="{FF2B5EF4-FFF2-40B4-BE49-F238E27FC236}">
                <a16:creationId xmlns:a16="http://schemas.microsoft.com/office/drawing/2014/main" id="{6654E583-6800-4663-AEED-581E24070F13}"/>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6" name="Marcador de pie de página 5">
            <a:extLst>
              <a:ext uri="{FF2B5EF4-FFF2-40B4-BE49-F238E27FC236}">
                <a16:creationId xmlns:a16="http://schemas.microsoft.com/office/drawing/2014/main" id="{3BBADE39-CE1A-4FC8-8AD1-81EF7E965C7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CDA765A-B094-4517-B235-3111B61D9FE1}"/>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1298904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05CDAE-BB5E-4D14-AE23-9F3A1DFB357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87F080C-030B-457D-B014-6848697EDB7F}"/>
              </a:ext>
            </a:extLst>
          </p:cNvPr>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9364F5B-EDB7-4A6D-A2E0-4F7F9A64D209}"/>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2808DB3E-AF17-4955-B8AD-62C820EC447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4044975-9D39-4C1F-B3B4-4CCA8D25A48D}"/>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2522772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F821CC-7EFE-4705-8EA8-DA07D2712F7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2395BA9-E5AE-49B3-8968-DE994CFEE8FE}"/>
              </a:ext>
            </a:extLst>
          </p:cNvPr>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2489C8F-14CF-4605-98D3-14728A878689}"/>
              </a:ext>
            </a:extLst>
          </p:cNvPr>
          <p:cNvSpPr>
            <a:spLocks noGrp="1"/>
          </p:cNvSpPr>
          <p:nvPr>
            <p:ph type="dt" sz="half" idx="10"/>
          </p:nvPr>
        </p:nvSpPr>
        <p:spPr/>
        <p:txBody>
          <a:body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79E19C36-9E90-4794-91ED-E9B11DB7472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5F57C4B-6B87-4FB3-8B36-5FD7C5529BD9}"/>
              </a:ext>
            </a:extLst>
          </p:cNvPr>
          <p:cNvSpPr>
            <a:spLocks noGrp="1"/>
          </p:cNvSpPr>
          <p:nvPr>
            <p:ph type="sldNum" sz="quarter" idx="12"/>
          </p:nvPr>
        </p:nvSpPr>
        <p:spPr/>
        <p:txBody>
          <a:bodyPr/>
          <a:lstStyle/>
          <a:p>
            <a:fld id="{041DD8FF-C72E-4442-BAE2-DC052BCCF857}" type="slidenum">
              <a:rPr lang="es-MX" smtClean="0"/>
              <a:t>‹Nº›</a:t>
            </a:fld>
            <a:endParaRPr lang="es-MX"/>
          </a:p>
        </p:txBody>
      </p:sp>
    </p:spTree>
    <p:extLst>
      <p:ext uri="{BB962C8B-B14F-4D97-AF65-F5344CB8AC3E}">
        <p14:creationId xmlns:p14="http://schemas.microsoft.com/office/powerpoint/2010/main" val="577821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2D14711-40D9-47D6-9B41-0B8DB28CB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DE733F8-BEB9-48ED-96E8-B4B2409DE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1247027-680B-4EDC-9484-D8AF077374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9B3A0A-650C-414D-9908-5E3669971B9E}" type="datetimeFigureOut">
              <a:rPr lang="es-MX" smtClean="0"/>
              <a:t>25/04/2026</a:t>
            </a:fld>
            <a:endParaRPr lang="es-MX"/>
          </a:p>
        </p:txBody>
      </p:sp>
      <p:sp>
        <p:nvSpPr>
          <p:cNvPr id="5" name="Marcador de pie de página 4">
            <a:extLst>
              <a:ext uri="{FF2B5EF4-FFF2-40B4-BE49-F238E27FC236}">
                <a16:creationId xmlns:a16="http://schemas.microsoft.com/office/drawing/2014/main" id="{4ED6DD88-B1BE-4D9D-AF16-6C219E6B7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D36D8EA2-8AC1-4530-9585-CCC8E40F1B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1DD8FF-C72E-4442-BAE2-DC052BCCF857}" type="slidenum">
              <a:rPr lang="es-MX" smtClean="0"/>
              <a:t>‹Nº›</a:t>
            </a:fld>
            <a:endParaRPr lang="es-MX"/>
          </a:p>
        </p:txBody>
      </p:sp>
    </p:spTree>
    <p:extLst>
      <p:ext uri="{BB962C8B-B14F-4D97-AF65-F5344CB8AC3E}">
        <p14:creationId xmlns:p14="http://schemas.microsoft.com/office/powerpoint/2010/main" val="1286551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1BC72-17CA-45A8-561E-473966B4E17C}"/>
              </a:ext>
            </a:extLst>
          </p:cNvPr>
          <p:cNvSpPr txBox="1">
            <a:spLocks/>
          </p:cNvSpPr>
          <p:nvPr/>
        </p:nvSpPr>
        <p:spPr>
          <a:xfrm>
            <a:off x="1524065" y="2430835"/>
            <a:ext cx="8809543" cy="6509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b="1" dirty="0">
                <a:latin typeface="Arial" panose="020B0604020202020204" pitchFamily="34" charset="0"/>
                <a:cs typeface="Arial" panose="020B0604020202020204" pitchFamily="34" charset="0"/>
              </a:rPr>
              <a:t>Fundamentos de Teoría de la Computación</a:t>
            </a:r>
          </a:p>
          <a:p>
            <a:pPr algn="ctr"/>
            <a:endParaRPr lang="es-MX" sz="3200" b="1" dirty="0">
              <a:latin typeface="Arial" panose="020B0604020202020204" pitchFamily="34" charset="0"/>
              <a:cs typeface="Arial" panose="020B0604020202020204" pitchFamily="34" charset="0"/>
            </a:endParaRPr>
          </a:p>
          <a:p>
            <a:pPr algn="ctr"/>
            <a:r>
              <a:rPr lang="es-MX" sz="3200" b="1" dirty="0">
                <a:latin typeface="Arial" panose="020B0604020202020204" pitchFamily="34" charset="0"/>
                <a:cs typeface="Arial" panose="020B0604020202020204" pitchFamily="34" charset="0"/>
              </a:rPr>
              <a:t>Repaso clases 1 a 7</a:t>
            </a:r>
          </a:p>
        </p:txBody>
      </p:sp>
    </p:spTree>
    <p:extLst>
      <p:ext uri="{BB962C8B-B14F-4D97-AF65-F5344CB8AC3E}">
        <p14:creationId xmlns:p14="http://schemas.microsoft.com/office/powerpoint/2010/main" val="224443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Diagrama de flujo: conector 46">
            <a:extLst>
              <a:ext uri="{FF2B5EF4-FFF2-40B4-BE49-F238E27FC236}">
                <a16:creationId xmlns:a16="http://schemas.microsoft.com/office/drawing/2014/main" id="{12AB9BB4-1DAF-4A4C-A1C4-4ED01BEC9F4A}"/>
              </a:ext>
            </a:extLst>
          </p:cNvPr>
          <p:cNvSpPr/>
          <p:nvPr/>
        </p:nvSpPr>
        <p:spPr>
          <a:xfrm>
            <a:off x="9807109" y="2985246"/>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Diagrama de flujo: conector 47">
            <a:extLst>
              <a:ext uri="{FF2B5EF4-FFF2-40B4-BE49-F238E27FC236}">
                <a16:creationId xmlns:a16="http://schemas.microsoft.com/office/drawing/2014/main" id="{CD8CE771-3031-4388-A8F6-FF3EC467CAC4}"/>
              </a:ext>
            </a:extLst>
          </p:cNvPr>
          <p:cNvSpPr/>
          <p:nvPr/>
        </p:nvSpPr>
        <p:spPr>
          <a:xfrm>
            <a:off x="8081630" y="2985246"/>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Diagrama de flujo: conector 48">
            <a:extLst>
              <a:ext uri="{FF2B5EF4-FFF2-40B4-BE49-F238E27FC236}">
                <a16:creationId xmlns:a16="http://schemas.microsoft.com/office/drawing/2014/main" id="{787BF2C7-CABD-4FCB-8727-EBB5D5749992}"/>
              </a:ext>
            </a:extLst>
          </p:cNvPr>
          <p:cNvSpPr/>
          <p:nvPr/>
        </p:nvSpPr>
        <p:spPr>
          <a:xfrm>
            <a:off x="9205530" y="4216478"/>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2" name="Diagrama de flujo: conector 51">
            <a:extLst>
              <a:ext uri="{FF2B5EF4-FFF2-40B4-BE49-F238E27FC236}">
                <a16:creationId xmlns:a16="http://schemas.microsoft.com/office/drawing/2014/main" id="{D0244AE2-D27D-46FE-8147-646A4D88BCCE}"/>
              </a:ext>
            </a:extLst>
          </p:cNvPr>
          <p:cNvSpPr/>
          <p:nvPr/>
        </p:nvSpPr>
        <p:spPr>
          <a:xfrm>
            <a:off x="8976930" y="2011618"/>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3" name="Diagrama de flujo: conector 52">
            <a:extLst>
              <a:ext uri="{FF2B5EF4-FFF2-40B4-BE49-F238E27FC236}">
                <a16:creationId xmlns:a16="http://schemas.microsoft.com/office/drawing/2014/main" id="{D1758112-D08C-4FEC-B8D9-CC8FCFC500A7}"/>
              </a:ext>
            </a:extLst>
          </p:cNvPr>
          <p:cNvSpPr/>
          <p:nvPr/>
        </p:nvSpPr>
        <p:spPr>
          <a:xfrm>
            <a:off x="11303988" y="3213846"/>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0" name="Diagrama de flujo: conector 79">
            <a:extLst>
              <a:ext uri="{FF2B5EF4-FFF2-40B4-BE49-F238E27FC236}">
                <a16:creationId xmlns:a16="http://schemas.microsoft.com/office/drawing/2014/main" id="{0703C7AC-F3CA-4978-B4C8-09D0EDAB38D8}"/>
              </a:ext>
            </a:extLst>
          </p:cNvPr>
          <p:cNvSpPr/>
          <p:nvPr/>
        </p:nvSpPr>
        <p:spPr>
          <a:xfrm>
            <a:off x="10668966" y="1967828"/>
            <a:ext cx="457200" cy="457200"/>
          </a:xfrm>
          <a:prstGeom prst="flowChartConnecto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Rectángulo 31">
            <a:extLst>
              <a:ext uri="{FF2B5EF4-FFF2-40B4-BE49-F238E27FC236}">
                <a16:creationId xmlns:a16="http://schemas.microsoft.com/office/drawing/2014/main" id="{BB04156B-D2B0-4619-8A07-0628DF00798B}"/>
              </a:ext>
            </a:extLst>
          </p:cNvPr>
          <p:cNvSpPr/>
          <p:nvPr/>
        </p:nvSpPr>
        <p:spPr>
          <a:xfrm>
            <a:off x="1526119" y="1729284"/>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3" name="Conector recto de flecha 32">
            <a:extLst>
              <a:ext uri="{FF2B5EF4-FFF2-40B4-BE49-F238E27FC236}">
                <a16:creationId xmlns:a16="http://schemas.microsoft.com/office/drawing/2014/main" id="{60B7C20A-6175-4886-AC43-CEDDE8CA5DEF}"/>
              </a:ext>
            </a:extLst>
          </p:cNvPr>
          <p:cNvCxnSpPr>
            <a:cxnSpLocks/>
          </p:cNvCxnSpPr>
          <p:nvPr/>
        </p:nvCxnSpPr>
        <p:spPr>
          <a:xfrm>
            <a:off x="394965" y="2193281"/>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D8F23AEC-FE70-4B2B-A685-CB5670CDA480}"/>
              </a:ext>
            </a:extLst>
          </p:cNvPr>
          <p:cNvCxnSpPr>
            <a:cxnSpLocks/>
          </p:cNvCxnSpPr>
          <p:nvPr/>
        </p:nvCxnSpPr>
        <p:spPr>
          <a:xfrm>
            <a:off x="2440519" y="2217344"/>
            <a:ext cx="11180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Rectángulo 84">
            <a:extLst>
              <a:ext uri="{FF2B5EF4-FFF2-40B4-BE49-F238E27FC236}">
                <a16:creationId xmlns:a16="http://schemas.microsoft.com/office/drawing/2014/main" id="{B01BEB68-9AD8-4028-B762-57AB6313DD95}"/>
              </a:ext>
            </a:extLst>
          </p:cNvPr>
          <p:cNvSpPr/>
          <p:nvPr/>
        </p:nvSpPr>
        <p:spPr>
          <a:xfrm>
            <a:off x="822429" y="1867982"/>
            <a:ext cx="36420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G</a:t>
            </a:r>
          </a:p>
        </p:txBody>
      </p:sp>
      <p:sp>
        <p:nvSpPr>
          <p:cNvPr id="86" name="Rectángulo 85">
            <a:extLst>
              <a:ext uri="{FF2B5EF4-FFF2-40B4-BE49-F238E27FC236}">
                <a16:creationId xmlns:a16="http://schemas.microsoft.com/office/drawing/2014/main" id="{DD5D8605-49AB-4A0D-B4BC-A120B85B2AAC}"/>
              </a:ext>
            </a:extLst>
          </p:cNvPr>
          <p:cNvSpPr/>
          <p:nvPr/>
        </p:nvSpPr>
        <p:spPr>
          <a:xfrm>
            <a:off x="2440519" y="1876470"/>
            <a:ext cx="2318041" cy="646331"/>
          </a:xfrm>
          <a:prstGeom prst="rect">
            <a:avLst/>
          </a:prstGeom>
        </p:spPr>
        <p:txBody>
          <a:bodyPr wrap="square">
            <a:spAutoFit/>
          </a:bodyPr>
          <a:lstStyle/>
          <a:p>
            <a:r>
              <a:rPr lang="es-MX" dirty="0">
                <a:latin typeface="Arial" panose="020B0604020202020204" pitchFamily="34" charset="0"/>
                <a:cs typeface="Arial" panose="020B0604020202020204" pitchFamily="34" charset="0"/>
              </a:rPr>
              <a:t>(1,…,n) </a:t>
            </a:r>
          </a:p>
          <a:p>
            <a:r>
              <a:rPr lang="es-MX" dirty="0">
                <a:latin typeface="Arial" panose="020B0604020202020204" pitchFamily="34" charset="0"/>
                <a:cs typeface="Arial" panose="020B0604020202020204" pitchFamily="34" charset="0"/>
              </a:rPr>
              <a:t>    no</a:t>
            </a:r>
          </a:p>
        </p:txBody>
      </p:sp>
      <p:sp>
        <p:nvSpPr>
          <p:cNvPr id="88" name="Rectángulo 87">
            <a:extLst>
              <a:ext uri="{FF2B5EF4-FFF2-40B4-BE49-F238E27FC236}">
                <a16:creationId xmlns:a16="http://schemas.microsoft.com/office/drawing/2014/main" id="{E767066C-CEA8-43BD-9953-46C3CB2D1DC4}"/>
              </a:ext>
            </a:extLst>
          </p:cNvPr>
          <p:cNvSpPr/>
          <p:nvPr/>
        </p:nvSpPr>
        <p:spPr>
          <a:xfrm>
            <a:off x="1620736" y="1417114"/>
            <a:ext cx="770404"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MT M</a:t>
            </a:r>
          </a:p>
        </p:txBody>
      </p:sp>
      <p:sp>
        <p:nvSpPr>
          <p:cNvPr id="97" name="Rectángulo 96">
            <a:extLst>
              <a:ext uri="{FF2B5EF4-FFF2-40B4-BE49-F238E27FC236}">
                <a16:creationId xmlns:a16="http://schemas.microsoft.com/office/drawing/2014/main" id="{DE7320F9-12F8-4D2D-8E6E-D56C6A6C4108}"/>
              </a:ext>
            </a:extLst>
          </p:cNvPr>
          <p:cNvSpPr/>
          <p:nvPr/>
        </p:nvSpPr>
        <p:spPr>
          <a:xfrm>
            <a:off x="8648484" y="5867857"/>
            <a:ext cx="2794875" cy="646331"/>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Grafo con un camino</a:t>
            </a:r>
          </a:p>
          <a:p>
            <a:pPr algn="just"/>
            <a:r>
              <a:rPr lang="es-MX" dirty="0">
                <a:latin typeface="Arial" panose="020B0604020202020204" pitchFamily="34" charset="0"/>
                <a:cs typeface="Arial" panose="020B0604020202020204" pitchFamily="34" charset="0"/>
              </a:rPr>
              <a:t>del vértice 1 al vértice n </a:t>
            </a:r>
          </a:p>
        </p:txBody>
      </p:sp>
      <p:cxnSp>
        <p:nvCxnSpPr>
          <p:cNvPr id="3" name="Conector recto 2">
            <a:extLst>
              <a:ext uri="{FF2B5EF4-FFF2-40B4-BE49-F238E27FC236}">
                <a16:creationId xmlns:a16="http://schemas.microsoft.com/office/drawing/2014/main" id="{A4496498-2FEE-4103-8018-74F84C7F4C76}"/>
              </a:ext>
            </a:extLst>
          </p:cNvPr>
          <p:cNvCxnSpPr>
            <a:stCxn id="48" idx="5"/>
            <a:endCxn id="49" idx="1"/>
          </p:cNvCxnSpPr>
          <p:nvPr/>
        </p:nvCxnSpPr>
        <p:spPr>
          <a:xfrm>
            <a:off x="8471875" y="3375491"/>
            <a:ext cx="800610" cy="907942"/>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8" name="Conector recto 97">
            <a:extLst>
              <a:ext uri="{FF2B5EF4-FFF2-40B4-BE49-F238E27FC236}">
                <a16:creationId xmlns:a16="http://schemas.microsoft.com/office/drawing/2014/main" id="{2B601478-654E-4DDC-B16C-8BAA45D85F3F}"/>
              </a:ext>
            </a:extLst>
          </p:cNvPr>
          <p:cNvCxnSpPr>
            <a:stCxn id="100" idx="5"/>
            <a:endCxn id="101" idx="2"/>
          </p:cNvCxnSpPr>
          <p:nvPr/>
        </p:nvCxnSpPr>
        <p:spPr>
          <a:xfrm>
            <a:off x="8471875" y="5145201"/>
            <a:ext cx="878034" cy="441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Diagrama de flujo: conector 99">
            <a:extLst>
              <a:ext uri="{FF2B5EF4-FFF2-40B4-BE49-F238E27FC236}">
                <a16:creationId xmlns:a16="http://schemas.microsoft.com/office/drawing/2014/main" id="{2D05BCCA-898D-4F17-8418-F38A41422B22}"/>
              </a:ext>
            </a:extLst>
          </p:cNvPr>
          <p:cNvSpPr/>
          <p:nvPr/>
        </p:nvSpPr>
        <p:spPr>
          <a:xfrm>
            <a:off x="8081630" y="4754956"/>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1" name="Diagrama de flujo: conector 100">
            <a:extLst>
              <a:ext uri="{FF2B5EF4-FFF2-40B4-BE49-F238E27FC236}">
                <a16:creationId xmlns:a16="http://schemas.microsoft.com/office/drawing/2014/main" id="{10A445A3-2876-4D9D-A806-C19AB73C12F3}"/>
              </a:ext>
            </a:extLst>
          </p:cNvPr>
          <p:cNvSpPr/>
          <p:nvPr/>
        </p:nvSpPr>
        <p:spPr>
          <a:xfrm>
            <a:off x="9349909" y="5358236"/>
            <a:ext cx="457200" cy="457200"/>
          </a:xfrm>
          <a:prstGeom prst="flowChartConnecto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3" name="Diagrama de flujo: conector 102">
            <a:extLst>
              <a:ext uri="{FF2B5EF4-FFF2-40B4-BE49-F238E27FC236}">
                <a16:creationId xmlns:a16="http://schemas.microsoft.com/office/drawing/2014/main" id="{0F038DE3-B9B7-4183-AB75-CDF00126BFF2}"/>
              </a:ext>
            </a:extLst>
          </p:cNvPr>
          <p:cNvSpPr/>
          <p:nvPr/>
        </p:nvSpPr>
        <p:spPr>
          <a:xfrm>
            <a:off x="10913743" y="5050930"/>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4" name="Diagrama de flujo: conector 103">
            <a:extLst>
              <a:ext uri="{FF2B5EF4-FFF2-40B4-BE49-F238E27FC236}">
                <a16:creationId xmlns:a16="http://schemas.microsoft.com/office/drawing/2014/main" id="{CEADD292-83B1-4127-95ED-F79597B9DC97}"/>
              </a:ext>
            </a:extLst>
          </p:cNvPr>
          <p:cNvSpPr/>
          <p:nvPr/>
        </p:nvSpPr>
        <p:spPr>
          <a:xfrm>
            <a:off x="10418349" y="3782201"/>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05" name="Conector recto 104">
            <a:extLst>
              <a:ext uri="{FF2B5EF4-FFF2-40B4-BE49-F238E27FC236}">
                <a16:creationId xmlns:a16="http://schemas.microsoft.com/office/drawing/2014/main" id="{1058F782-8546-4CDC-BDF4-D84A5091AE85}"/>
              </a:ext>
            </a:extLst>
          </p:cNvPr>
          <p:cNvCxnSpPr>
            <a:endCxn id="101" idx="0"/>
          </p:cNvCxnSpPr>
          <p:nvPr/>
        </p:nvCxnSpPr>
        <p:spPr>
          <a:xfrm>
            <a:off x="9434130" y="4689876"/>
            <a:ext cx="144379" cy="66836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6" name="Conector recto 105">
            <a:extLst>
              <a:ext uri="{FF2B5EF4-FFF2-40B4-BE49-F238E27FC236}">
                <a16:creationId xmlns:a16="http://schemas.microsoft.com/office/drawing/2014/main" id="{B9FBDC73-B028-4E3C-AF81-D67CF0B9F9BD}"/>
              </a:ext>
            </a:extLst>
          </p:cNvPr>
          <p:cNvCxnSpPr/>
          <p:nvPr/>
        </p:nvCxnSpPr>
        <p:spPr>
          <a:xfrm flipV="1">
            <a:off x="8564290" y="4544722"/>
            <a:ext cx="703930" cy="3980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Conector recto 107">
            <a:extLst>
              <a:ext uri="{FF2B5EF4-FFF2-40B4-BE49-F238E27FC236}">
                <a16:creationId xmlns:a16="http://schemas.microsoft.com/office/drawing/2014/main" id="{389BAF60-3FB2-4F6B-8C84-7D0414913101}"/>
              </a:ext>
            </a:extLst>
          </p:cNvPr>
          <p:cNvCxnSpPr>
            <a:endCxn id="103" idx="1"/>
          </p:cNvCxnSpPr>
          <p:nvPr/>
        </p:nvCxnSpPr>
        <p:spPr>
          <a:xfrm>
            <a:off x="9611986" y="4544722"/>
            <a:ext cx="1368712" cy="573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Conector recto 108">
            <a:extLst>
              <a:ext uri="{FF2B5EF4-FFF2-40B4-BE49-F238E27FC236}">
                <a16:creationId xmlns:a16="http://schemas.microsoft.com/office/drawing/2014/main" id="{73D4EB8E-CD2A-4118-8365-33B41D26F21D}"/>
              </a:ext>
            </a:extLst>
          </p:cNvPr>
          <p:cNvCxnSpPr>
            <a:endCxn id="80" idx="2"/>
          </p:cNvCxnSpPr>
          <p:nvPr/>
        </p:nvCxnSpPr>
        <p:spPr>
          <a:xfrm flipV="1">
            <a:off x="9413464" y="2196428"/>
            <a:ext cx="1255502" cy="450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Conector recto 109">
            <a:extLst>
              <a:ext uri="{FF2B5EF4-FFF2-40B4-BE49-F238E27FC236}">
                <a16:creationId xmlns:a16="http://schemas.microsoft.com/office/drawing/2014/main" id="{4514A672-4BB1-46CA-A12D-E8602FF651EA}"/>
              </a:ext>
            </a:extLst>
          </p:cNvPr>
          <p:cNvCxnSpPr>
            <a:endCxn id="53" idx="2"/>
          </p:cNvCxnSpPr>
          <p:nvPr/>
        </p:nvCxnSpPr>
        <p:spPr>
          <a:xfrm>
            <a:off x="10264309" y="3217857"/>
            <a:ext cx="1039679" cy="224589"/>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1" name="Conector recto 110">
            <a:extLst>
              <a:ext uri="{FF2B5EF4-FFF2-40B4-BE49-F238E27FC236}">
                <a16:creationId xmlns:a16="http://schemas.microsoft.com/office/drawing/2014/main" id="{A4B42B62-C7FE-4520-93D9-A854AE145FD8}"/>
              </a:ext>
            </a:extLst>
          </p:cNvPr>
          <p:cNvCxnSpPr>
            <a:endCxn id="47" idx="2"/>
          </p:cNvCxnSpPr>
          <p:nvPr/>
        </p:nvCxnSpPr>
        <p:spPr>
          <a:xfrm>
            <a:off x="8549730" y="3174126"/>
            <a:ext cx="1257379" cy="3972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2" name="Conector recto 111">
            <a:extLst>
              <a:ext uri="{FF2B5EF4-FFF2-40B4-BE49-F238E27FC236}">
                <a16:creationId xmlns:a16="http://schemas.microsoft.com/office/drawing/2014/main" id="{1523C574-3EB3-4E24-96CE-F60FFCF6B057}"/>
              </a:ext>
            </a:extLst>
          </p:cNvPr>
          <p:cNvCxnSpPr>
            <a:endCxn id="47" idx="1"/>
          </p:cNvCxnSpPr>
          <p:nvPr/>
        </p:nvCxnSpPr>
        <p:spPr>
          <a:xfrm>
            <a:off x="9349909" y="2443123"/>
            <a:ext cx="524155" cy="609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Conector recto 112">
            <a:extLst>
              <a:ext uri="{FF2B5EF4-FFF2-40B4-BE49-F238E27FC236}">
                <a16:creationId xmlns:a16="http://schemas.microsoft.com/office/drawing/2014/main" id="{195FC6C2-1CC2-424C-B59A-E78DB4371151}"/>
              </a:ext>
            </a:extLst>
          </p:cNvPr>
          <p:cNvCxnSpPr>
            <a:endCxn id="104" idx="2"/>
          </p:cNvCxnSpPr>
          <p:nvPr/>
        </p:nvCxnSpPr>
        <p:spPr>
          <a:xfrm flipV="1">
            <a:off x="9659764" y="4010801"/>
            <a:ext cx="758585" cy="342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Conector recto 113">
            <a:extLst>
              <a:ext uri="{FF2B5EF4-FFF2-40B4-BE49-F238E27FC236}">
                <a16:creationId xmlns:a16="http://schemas.microsoft.com/office/drawing/2014/main" id="{5E5FAE61-A83D-4C4A-81D5-AB98903FE291}"/>
              </a:ext>
            </a:extLst>
          </p:cNvPr>
          <p:cNvCxnSpPr>
            <a:endCxn id="53" idx="1"/>
          </p:cNvCxnSpPr>
          <p:nvPr/>
        </p:nvCxnSpPr>
        <p:spPr>
          <a:xfrm>
            <a:off x="10994998" y="2422377"/>
            <a:ext cx="375945" cy="858424"/>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D4C4E6E9-CCA1-4BB0-BBA0-3AAA4C87E83D}"/>
              </a:ext>
            </a:extLst>
          </p:cNvPr>
          <p:cNvSpPr/>
          <p:nvPr/>
        </p:nvSpPr>
        <p:spPr>
          <a:xfrm>
            <a:off x="9434130" y="5433111"/>
            <a:ext cx="284052"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1</a:t>
            </a:r>
          </a:p>
        </p:txBody>
      </p:sp>
      <p:sp>
        <p:nvSpPr>
          <p:cNvPr id="24" name="Rectángulo 23">
            <a:extLst>
              <a:ext uri="{FF2B5EF4-FFF2-40B4-BE49-F238E27FC236}">
                <a16:creationId xmlns:a16="http://schemas.microsoft.com/office/drawing/2014/main" id="{D54E073D-392B-45C1-9DBF-1E5E0B25B302}"/>
              </a:ext>
            </a:extLst>
          </p:cNvPr>
          <p:cNvSpPr/>
          <p:nvPr/>
        </p:nvSpPr>
        <p:spPr>
          <a:xfrm>
            <a:off x="10757290" y="2010437"/>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a:t>
            </a:r>
          </a:p>
        </p:txBody>
      </p:sp>
      <p:sp>
        <p:nvSpPr>
          <p:cNvPr id="116" name="Rectángulo 115">
            <a:extLst>
              <a:ext uri="{FF2B5EF4-FFF2-40B4-BE49-F238E27FC236}">
                <a16:creationId xmlns:a16="http://schemas.microsoft.com/office/drawing/2014/main" id="{F9586FC7-0681-47F7-97C0-C7A072F51ABB}"/>
              </a:ext>
            </a:extLst>
          </p:cNvPr>
          <p:cNvSpPr/>
          <p:nvPr/>
        </p:nvSpPr>
        <p:spPr>
          <a:xfrm>
            <a:off x="9558655" y="1707071"/>
            <a:ext cx="954107"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grafo G</a:t>
            </a:r>
          </a:p>
        </p:txBody>
      </p:sp>
      <p:sp>
        <p:nvSpPr>
          <p:cNvPr id="50" name="Slide Number Placeholder 2">
            <a:extLst>
              <a:ext uri="{FF2B5EF4-FFF2-40B4-BE49-F238E27FC236}">
                <a16:creationId xmlns:a16="http://schemas.microsoft.com/office/drawing/2014/main" id="{44F2E4EE-50DB-44CB-8EAF-55D9852039B5}"/>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6" name="Rectángulo 55">
            <a:extLst>
              <a:ext uri="{FF2B5EF4-FFF2-40B4-BE49-F238E27FC236}">
                <a16:creationId xmlns:a16="http://schemas.microsoft.com/office/drawing/2014/main" id="{0F111726-01C9-404D-A602-790787DB2839}"/>
              </a:ext>
            </a:extLst>
          </p:cNvPr>
          <p:cNvSpPr/>
          <p:nvPr/>
        </p:nvSpPr>
        <p:spPr>
          <a:xfrm>
            <a:off x="243477" y="131914"/>
            <a:ext cx="11705046"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1. Máquina de Turing (MT)</a:t>
            </a:r>
          </a:p>
        </p:txBody>
      </p:sp>
      <p:sp>
        <p:nvSpPr>
          <p:cNvPr id="2" name="Rectángulo 1">
            <a:extLst>
              <a:ext uri="{FF2B5EF4-FFF2-40B4-BE49-F238E27FC236}">
                <a16:creationId xmlns:a16="http://schemas.microsoft.com/office/drawing/2014/main" id="{7218FEEC-CDE3-C71F-80EF-2325595106C0}"/>
              </a:ext>
            </a:extLst>
          </p:cNvPr>
          <p:cNvSpPr/>
          <p:nvPr/>
        </p:nvSpPr>
        <p:spPr>
          <a:xfrm>
            <a:off x="6885867" y="2368327"/>
            <a:ext cx="147989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 (rechaza)</a:t>
            </a:r>
            <a:endParaRPr lang="es-MX" dirty="0"/>
          </a:p>
        </p:txBody>
      </p:sp>
      <p:sp>
        <p:nvSpPr>
          <p:cNvPr id="4" name="Rectángulo 3">
            <a:extLst>
              <a:ext uri="{FF2B5EF4-FFF2-40B4-BE49-F238E27FC236}">
                <a16:creationId xmlns:a16="http://schemas.microsoft.com/office/drawing/2014/main" id="{7D4FBEAD-1008-98FC-E650-D4D39BC30C78}"/>
              </a:ext>
            </a:extLst>
          </p:cNvPr>
          <p:cNvSpPr/>
          <p:nvPr/>
        </p:nvSpPr>
        <p:spPr>
          <a:xfrm>
            <a:off x="6819233" y="1361532"/>
            <a:ext cx="1274708"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sí (acepta)</a:t>
            </a:r>
            <a:endParaRPr lang="es-MX" dirty="0"/>
          </a:p>
        </p:txBody>
      </p:sp>
      <p:sp>
        <p:nvSpPr>
          <p:cNvPr id="5" name="Rectángulo 4">
            <a:extLst>
              <a:ext uri="{FF2B5EF4-FFF2-40B4-BE49-F238E27FC236}">
                <a16:creationId xmlns:a16="http://schemas.microsoft.com/office/drawing/2014/main" id="{CC48A491-CD59-1856-376B-58B68C983D20}"/>
              </a:ext>
            </a:extLst>
          </p:cNvPr>
          <p:cNvSpPr/>
          <p:nvPr/>
        </p:nvSpPr>
        <p:spPr>
          <a:xfrm>
            <a:off x="4840944" y="1743381"/>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6" name="Conector recto de flecha 5">
            <a:extLst>
              <a:ext uri="{FF2B5EF4-FFF2-40B4-BE49-F238E27FC236}">
                <a16:creationId xmlns:a16="http://schemas.microsoft.com/office/drawing/2014/main" id="{38904EB3-7EAE-7702-5844-17C3D6D3E6B6}"/>
              </a:ext>
            </a:extLst>
          </p:cNvPr>
          <p:cNvCxnSpPr>
            <a:cxnSpLocks/>
          </p:cNvCxnSpPr>
          <p:nvPr/>
        </p:nvCxnSpPr>
        <p:spPr>
          <a:xfrm>
            <a:off x="3709790" y="2207378"/>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D77AF679-F435-31F4-EF09-8EDDBCB12514}"/>
              </a:ext>
            </a:extLst>
          </p:cNvPr>
          <p:cNvCxnSpPr>
            <a:cxnSpLocks/>
          </p:cNvCxnSpPr>
          <p:nvPr/>
        </p:nvCxnSpPr>
        <p:spPr>
          <a:xfrm>
            <a:off x="5755344" y="2231441"/>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ítulo 1">
            <a:extLst>
              <a:ext uri="{FF2B5EF4-FFF2-40B4-BE49-F238E27FC236}">
                <a16:creationId xmlns:a16="http://schemas.microsoft.com/office/drawing/2014/main" id="{764E38BF-968D-D081-4930-9BDF16A36031}"/>
              </a:ext>
            </a:extLst>
          </p:cNvPr>
          <p:cNvSpPr txBox="1">
            <a:spLocks/>
          </p:cNvSpPr>
          <p:nvPr/>
        </p:nvSpPr>
        <p:spPr>
          <a:xfrm>
            <a:off x="4118268" y="1950027"/>
            <a:ext cx="1255362" cy="304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G</a:t>
            </a:r>
          </a:p>
        </p:txBody>
      </p:sp>
      <p:sp>
        <p:nvSpPr>
          <p:cNvPr id="9" name="Título 1">
            <a:extLst>
              <a:ext uri="{FF2B5EF4-FFF2-40B4-BE49-F238E27FC236}">
                <a16:creationId xmlns:a16="http://schemas.microsoft.com/office/drawing/2014/main" id="{B7F325D5-E587-26DE-ECF6-8EFABBA97C48}"/>
              </a:ext>
            </a:extLst>
          </p:cNvPr>
          <p:cNvSpPr txBox="1">
            <a:spLocks/>
          </p:cNvSpPr>
          <p:nvPr/>
        </p:nvSpPr>
        <p:spPr>
          <a:xfrm>
            <a:off x="5132505" y="1466158"/>
            <a:ext cx="820113" cy="316424"/>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M</a:t>
            </a:r>
          </a:p>
        </p:txBody>
      </p:sp>
      <p:cxnSp>
        <p:nvCxnSpPr>
          <p:cNvPr id="10" name="Conector recto de flecha 9">
            <a:extLst>
              <a:ext uri="{FF2B5EF4-FFF2-40B4-BE49-F238E27FC236}">
                <a16:creationId xmlns:a16="http://schemas.microsoft.com/office/drawing/2014/main" id="{2643A3ED-42B5-FB45-0F64-E1AF9463D22D}"/>
              </a:ext>
            </a:extLst>
          </p:cNvPr>
          <p:cNvCxnSpPr>
            <a:cxnSpLocks/>
          </p:cNvCxnSpPr>
          <p:nvPr/>
        </p:nvCxnSpPr>
        <p:spPr>
          <a:xfrm flipV="1">
            <a:off x="5758253" y="1562629"/>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ángulo 10">
            <a:extLst>
              <a:ext uri="{FF2B5EF4-FFF2-40B4-BE49-F238E27FC236}">
                <a16:creationId xmlns:a16="http://schemas.microsoft.com/office/drawing/2014/main" id="{22B96210-FF08-5BD4-3CF1-AC87C7BD93AD}"/>
              </a:ext>
            </a:extLst>
          </p:cNvPr>
          <p:cNvSpPr/>
          <p:nvPr/>
        </p:nvSpPr>
        <p:spPr>
          <a:xfrm>
            <a:off x="4193184" y="4559064"/>
            <a:ext cx="428322"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sí </a:t>
            </a:r>
            <a:endParaRPr lang="es-MX" dirty="0"/>
          </a:p>
        </p:txBody>
      </p:sp>
      <p:sp>
        <p:nvSpPr>
          <p:cNvPr id="12" name="Rectángulo 11">
            <a:extLst>
              <a:ext uri="{FF2B5EF4-FFF2-40B4-BE49-F238E27FC236}">
                <a16:creationId xmlns:a16="http://schemas.microsoft.com/office/drawing/2014/main" id="{2AA30537-F8C0-F035-8032-9C32C9DD67DF}"/>
              </a:ext>
            </a:extLst>
          </p:cNvPr>
          <p:cNvSpPr/>
          <p:nvPr/>
        </p:nvSpPr>
        <p:spPr>
          <a:xfrm>
            <a:off x="2890848" y="5997122"/>
            <a:ext cx="620683" cy="369332"/>
          </a:xfrm>
          <a:prstGeom prst="rect">
            <a:avLst/>
          </a:prstGeom>
        </p:spPr>
        <p:txBody>
          <a:bodyPr wrap="none">
            <a:spAutoFit/>
          </a:bodyPr>
          <a:lstStyle/>
          <a:p>
            <a:r>
              <a:rPr lang="es-MX" dirty="0" err="1">
                <a:latin typeface="Arial" panose="020B0604020202020204" pitchFamily="34" charset="0"/>
                <a:cs typeface="Arial" panose="020B0604020202020204" pitchFamily="34" charset="0"/>
              </a:rPr>
              <a:t>loop</a:t>
            </a:r>
            <a:endParaRPr lang="es-MX" dirty="0"/>
          </a:p>
        </p:txBody>
      </p:sp>
      <p:cxnSp>
        <p:nvCxnSpPr>
          <p:cNvPr id="13" name="Conector recto 12">
            <a:extLst>
              <a:ext uri="{FF2B5EF4-FFF2-40B4-BE49-F238E27FC236}">
                <a16:creationId xmlns:a16="http://schemas.microsoft.com/office/drawing/2014/main" id="{62D1C810-6D65-7C11-B14C-F4DD62D64A22}"/>
              </a:ext>
            </a:extLst>
          </p:cNvPr>
          <p:cNvCxnSpPr>
            <a:cxnSpLocks/>
          </p:cNvCxnSpPr>
          <p:nvPr/>
        </p:nvCxnSpPr>
        <p:spPr>
          <a:xfrm>
            <a:off x="2533723" y="5824424"/>
            <a:ext cx="0" cy="3986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306D8E9-4187-F43C-C088-31DDF69CDB03}"/>
              </a:ext>
            </a:extLst>
          </p:cNvPr>
          <p:cNvCxnSpPr>
            <a:cxnSpLocks/>
          </p:cNvCxnSpPr>
          <p:nvPr/>
        </p:nvCxnSpPr>
        <p:spPr>
          <a:xfrm flipV="1">
            <a:off x="2533723" y="6223028"/>
            <a:ext cx="349168"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C0A110D-9B14-C3F7-9256-E4531A3118B6}"/>
              </a:ext>
            </a:extLst>
          </p:cNvPr>
          <p:cNvCxnSpPr>
            <a:cxnSpLocks/>
          </p:cNvCxnSpPr>
          <p:nvPr/>
        </p:nvCxnSpPr>
        <p:spPr>
          <a:xfrm flipV="1">
            <a:off x="2882891" y="5824424"/>
            <a:ext cx="0" cy="3986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F72755C1-188E-06BC-59D4-4264735EA6C5}"/>
              </a:ext>
            </a:extLst>
          </p:cNvPr>
          <p:cNvSpPr/>
          <p:nvPr/>
        </p:nvSpPr>
        <p:spPr>
          <a:xfrm>
            <a:off x="4217824" y="5556710"/>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17" name="Rectángulo 16">
            <a:extLst>
              <a:ext uri="{FF2B5EF4-FFF2-40B4-BE49-F238E27FC236}">
                <a16:creationId xmlns:a16="http://schemas.microsoft.com/office/drawing/2014/main" id="{40A51595-221B-BBCE-65F6-AF8D0D24E84A}"/>
              </a:ext>
            </a:extLst>
          </p:cNvPr>
          <p:cNvSpPr/>
          <p:nvPr/>
        </p:nvSpPr>
        <p:spPr>
          <a:xfrm>
            <a:off x="2232333" y="4893130"/>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8" name="Conector recto de flecha 17">
            <a:extLst>
              <a:ext uri="{FF2B5EF4-FFF2-40B4-BE49-F238E27FC236}">
                <a16:creationId xmlns:a16="http://schemas.microsoft.com/office/drawing/2014/main" id="{5827F1FC-B6B2-8DD5-8512-7E7EE6A30323}"/>
              </a:ext>
            </a:extLst>
          </p:cNvPr>
          <p:cNvCxnSpPr>
            <a:cxnSpLocks/>
          </p:cNvCxnSpPr>
          <p:nvPr/>
        </p:nvCxnSpPr>
        <p:spPr>
          <a:xfrm>
            <a:off x="1101179" y="5357127"/>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D88D9789-5C11-C37D-F747-0DA82B73790D}"/>
              </a:ext>
            </a:extLst>
          </p:cNvPr>
          <p:cNvCxnSpPr>
            <a:cxnSpLocks/>
          </p:cNvCxnSpPr>
          <p:nvPr/>
        </p:nvCxnSpPr>
        <p:spPr>
          <a:xfrm>
            <a:off x="3146733" y="5381190"/>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ítulo 1">
            <a:extLst>
              <a:ext uri="{FF2B5EF4-FFF2-40B4-BE49-F238E27FC236}">
                <a16:creationId xmlns:a16="http://schemas.microsoft.com/office/drawing/2014/main" id="{60AA97F5-682C-CF60-7836-F4D652284F05}"/>
              </a:ext>
            </a:extLst>
          </p:cNvPr>
          <p:cNvSpPr txBox="1">
            <a:spLocks/>
          </p:cNvSpPr>
          <p:nvPr/>
        </p:nvSpPr>
        <p:spPr>
          <a:xfrm>
            <a:off x="1509657" y="5099776"/>
            <a:ext cx="1255362" cy="304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w</a:t>
            </a:r>
          </a:p>
        </p:txBody>
      </p:sp>
      <p:cxnSp>
        <p:nvCxnSpPr>
          <p:cNvPr id="21" name="Conector recto de flecha 20">
            <a:extLst>
              <a:ext uri="{FF2B5EF4-FFF2-40B4-BE49-F238E27FC236}">
                <a16:creationId xmlns:a16="http://schemas.microsoft.com/office/drawing/2014/main" id="{77E0A3D8-F7BB-2C3E-D25F-C5FAD475B475}"/>
              </a:ext>
            </a:extLst>
          </p:cNvPr>
          <p:cNvCxnSpPr>
            <a:cxnSpLocks/>
          </p:cNvCxnSpPr>
          <p:nvPr/>
        </p:nvCxnSpPr>
        <p:spPr>
          <a:xfrm flipV="1">
            <a:off x="3149642" y="4712378"/>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ítulo 1">
            <a:extLst>
              <a:ext uri="{FF2B5EF4-FFF2-40B4-BE49-F238E27FC236}">
                <a16:creationId xmlns:a16="http://schemas.microsoft.com/office/drawing/2014/main" id="{66EFAE8B-A8AD-2DF7-DEDF-2858A43FB97C}"/>
              </a:ext>
            </a:extLst>
          </p:cNvPr>
          <p:cNvSpPr txBox="1">
            <a:spLocks/>
          </p:cNvSpPr>
          <p:nvPr/>
        </p:nvSpPr>
        <p:spPr>
          <a:xfrm>
            <a:off x="2515246" y="4613190"/>
            <a:ext cx="820113" cy="316424"/>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M</a:t>
            </a:r>
          </a:p>
        </p:txBody>
      </p:sp>
      <p:sp>
        <p:nvSpPr>
          <p:cNvPr id="25" name="CuadroTexto 24">
            <a:extLst>
              <a:ext uri="{FF2B5EF4-FFF2-40B4-BE49-F238E27FC236}">
                <a16:creationId xmlns:a16="http://schemas.microsoft.com/office/drawing/2014/main" id="{E7B5E590-0C54-43CC-C3AF-E77494FF5402}"/>
              </a:ext>
            </a:extLst>
          </p:cNvPr>
          <p:cNvSpPr txBox="1"/>
          <p:nvPr/>
        </p:nvSpPr>
        <p:spPr>
          <a:xfrm>
            <a:off x="4551454" y="4574453"/>
            <a:ext cx="1161715" cy="338554"/>
          </a:xfrm>
          <a:prstGeom prst="rect">
            <a:avLst/>
          </a:prstGeom>
          <a:noFill/>
        </p:spPr>
        <p:txBody>
          <a:bodyPr wrap="square">
            <a:spAutoFit/>
          </a:bodyPr>
          <a:lstStyle/>
          <a:p>
            <a:r>
              <a:rPr lang="es-MX" sz="1600" dirty="0">
                <a:latin typeface="Arial" panose="020B0604020202020204" pitchFamily="34" charset="0"/>
                <a:cs typeface="Arial" panose="020B0604020202020204" pitchFamily="34" charset="0"/>
              </a:rPr>
              <a:t>(w </a:t>
            </a:r>
            <a:r>
              <a:rPr lang="es-AR"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 L(M))</a:t>
            </a:r>
            <a:r>
              <a:rPr lang="es-MX" sz="1600" dirty="0">
                <a:latin typeface="Arial" panose="020B0604020202020204" pitchFamily="34" charset="0"/>
                <a:cs typeface="Arial" panose="020B0604020202020204" pitchFamily="34" charset="0"/>
              </a:rPr>
              <a:t> </a:t>
            </a:r>
            <a:endParaRPr lang="es-AR" sz="1600" dirty="0">
              <a:latin typeface="Arial" panose="020B0604020202020204" pitchFamily="34" charset="0"/>
              <a:cs typeface="Arial" panose="020B0604020202020204" pitchFamily="34" charset="0"/>
            </a:endParaRPr>
          </a:p>
        </p:txBody>
      </p:sp>
      <p:sp>
        <p:nvSpPr>
          <p:cNvPr id="26" name="CuadroTexto 25">
            <a:extLst>
              <a:ext uri="{FF2B5EF4-FFF2-40B4-BE49-F238E27FC236}">
                <a16:creationId xmlns:a16="http://schemas.microsoft.com/office/drawing/2014/main" id="{1A4E6721-EAB5-B89D-B85D-57A1CBC7DEAF}"/>
              </a:ext>
            </a:extLst>
          </p:cNvPr>
          <p:cNvSpPr txBox="1"/>
          <p:nvPr/>
        </p:nvSpPr>
        <p:spPr>
          <a:xfrm>
            <a:off x="4594652" y="5582533"/>
            <a:ext cx="1161715" cy="338554"/>
          </a:xfrm>
          <a:prstGeom prst="rect">
            <a:avLst/>
          </a:prstGeom>
          <a:noFill/>
        </p:spPr>
        <p:txBody>
          <a:bodyPr wrap="square">
            <a:spAutoFit/>
          </a:bodyPr>
          <a:lstStyle/>
          <a:p>
            <a:r>
              <a:rPr lang="es-MX" sz="1600" dirty="0">
                <a:latin typeface="Arial" panose="020B0604020202020204" pitchFamily="34" charset="0"/>
                <a:cs typeface="Arial" panose="020B0604020202020204" pitchFamily="34" charset="0"/>
              </a:rPr>
              <a:t>(w </a:t>
            </a:r>
            <a:r>
              <a:rPr lang="es-AR" sz="1600" dirty="0">
                <a:effectLst/>
                <a:latin typeface="Arial" panose="020B0604020202020204" pitchFamily="34" charset="0"/>
                <a:ea typeface="Calibri" panose="020F0502020204030204" pitchFamily="34" charset="0"/>
                <a:cs typeface="Arial" panose="020B0604020202020204" pitchFamily="34" charset="0"/>
              </a:rPr>
              <a:t>∉</a:t>
            </a:r>
            <a:r>
              <a:rPr lang="es-AR"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 L(M))</a:t>
            </a:r>
            <a:r>
              <a:rPr lang="es-MX" sz="1600" dirty="0">
                <a:latin typeface="Arial" panose="020B0604020202020204" pitchFamily="34" charset="0"/>
                <a:cs typeface="Arial" panose="020B0604020202020204" pitchFamily="34" charset="0"/>
              </a:rPr>
              <a:t> </a:t>
            </a:r>
            <a:endParaRPr lang="es-AR" sz="1600" dirty="0">
              <a:latin typeface="Arial" panose="020B0604020202020204" pitchFamily="34" charset="0"/>
              <a:cs typeface="Arial" panose="020B0604020202020204" pitchFamily="34" charset="0"/>
            </a:endParaRPr>
          </a:p>
        </p:txBody>
      </p:sp>
      <p:sp>
        <p:nvSpPr>
          <p:cNvPr id="27" name="CuadroTexto 26">
            <a:extLst>
              <a:ext uri="{FF2B5EF4-FFF2-40B4-BE49-F238E27FC236}">
                <a16:creationId xmlns:a16="http://schemas.microsoft.com/office/drawing/2014/main" id="{AD224CA2-1BF4-95F2-BA06-A91E10617645}"/>
              </a:ext>
            </a:extLst>
          </p:cNvPr>
          <p:cNvSpPr txBox="1"/>
          <p:nvPr/>
        </p:nvSpPr>
        <p:spPr>
          <a:xfrm>
            <a:off x="3473326" y="6014812"/>
            <a:ext cx="1161715" cy="338554"/>
          </a:xfrm>
          <a:prstGeom prst="rect">
            <a:avLst/>
          </a:prstGeom>
          <a:noFill/>
        </p:spPr>
        <p:txBody>
          <a:bodyPr wrap="square">
            <a:spAutoFit/>
          </a:bodyPr>
          <a:lstStyle/>
          <a:p>
            <a:r>
              <a:rPr lang="es-MX" sz="1600" dirty="0">
                <a:latin typeface="Arial" panose="020B0604020202020204" pitchFamily="34" charset="0"/>
                <a:cs typeface="Arial" panose="020B0604020202020204" pitchFamily="34" charset="0"/>
              </a:rPr>
              <a:t>(w </a:t>
            </a:r>
            <a:r>
              <a:rPr lang="es-AR" sz="1600" dirty="0">
                <a:effectLst/>
                <a:latin typeface="Arial" panose="020B0604020202020204" pitchFamily="34" charset="0"/>
                <a:ea typeface="Calibri" panose="020F0502020204030204" pitchFamily="34" charset="0"/>
                <a:cs typeface="Arial" panose="020B0604020202020204" pitchFamily="34" charset="0"/>
              </a:rPr>
              <a:t>∉</a:t>
            </a:r>
            <a:r>
              <a:rPr lang="es-AR"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 L(M))</a:t>
            </a:r>
            <a:r>
              <a:rPr lang="es-MX" sz="1600" dirty="0">
                <a:latin typeface="Arial" panose="020B0604020202020204" pitchFamily="34" charset="0"/>
                <a:cs typeface="Arial" panose="020B0604020202020204" pitchFamily="34" charset="0"/>
              </a:rPr>
              <a:t> </a:t>
            </a:r>
            <a:endParaRPr lang="es-AR" sz="1600" dirty="0">
              <a:latin typeface="Arial" panose="020B0604020202020204" pitchFamily="34" charset="0"/>
              <a:cs typeface="Arial" panose="020B0604020202020204" pitchFamily="34" charset="0"/>
            </a:endParaRPr>
          </a:p>
        </p:txBody>
      </p:sp>
      <p:sp>
        <p:nvSpPr>
          <p:cNvPr id="28" name="Rectángulo 27">
            <a:extLst>
              <a:ext uri="{FF2B5EF4-FFF2-40B4-BE49-F238E27FC236}">
                <a16:creationId xmlns:a16="http://schemas.microsoft.com/office/drawing/2014/main" id="{001AB2C3-67D4-46CB-FA8A-E71DA0FA5F62}"/>
              </a:ext>
            </a:extLst>
          </p:cNvPr>
          <p:cNvSpPr/>
          <p:nvPr/>
        </p:nvSpPr>
        <p:spPr>
          <a:xfrm>
            <a:off x="772637" y="2645075"/>
            <a:ext cx="2838631" cy="369332"/>
          </a:xfrm>
          <a:prstGeom prst="rect">
            <a:avLst/>
          </a:prstGeom>
        </p:spPr>
        <p:txBody>
          <a:bodyPr wrap="square">
            <a:spAutoFit/>
          </a:bodyPr>
          <a:lstStyle/>
          <a:p>
            <a:r>
              <a:rPr lang="es-MX" b="1" dirty="0">
                <a:latin typeface="Arial" panose="020B0604020202020204" pitchFamily="34" charset="0"/>
                <a:cs typeface="Arial" panose="020B0604020202020204" pitchFamily="34" charset="0"/>
              </a:rPr>
              <a:t>Problema de búsqueda</a:t>
            </a:r>
          </a:p>
        </p:txBody>
      </p:sp>
      <p:sp>
        <p:nvSpPr>
          <p:cNvPr id="29" name="Rectángulo 28">
            <a:extLst>
              <a:ext uri="{FF2B5EF4-FFF2-40B4-BE49-F238E27FC236}">
                <a16:creationId xmlns:a16="http://schemas.microsoft.com/office/drawing/2014/main" id="{B06275D3-1C82-ED8A-EEBF-0924CE15A230}"/>
              </a:ext>
            </a:extLst>
          </p:cNvPr>
          <p:cNvSpPr/>
          <p:nvPr/>
        </p:nvSpPr>
        <p:spPr>
          <a:xfrm>
            <a:off x="4071559" y="2628190"/>
            <a:ext cx="2814981" cy="369332"/>
          </a:xfrm>
          <a:prstGeom prst="rect">
            <a:avLst/>
          </a:prstGeom>
        </p:spPr>
        <p:txBody>
          <a:bodyPr wrap="square">
            <a:spAutoFit/>
          </a:bodyPr>
          <a:lstStyle/>
          <a:p>
            <a:r>
              <a:rPr lang="es-MX" b="1" dirty="0">
                <a:latin typeface="Arial" panose="020B0604020202020204" pitchFamily="34" charset="0"/>
                <a:cs typeface="Arial" panose="020B0604020202020204" pitchFamily="34" charset="0"/>
              </a:rPr>
              <a:t>Problema de decisión</a:t>
            </a:r>
          </a:p>
        </p:txBody>
      </p:sp>
      <p:sp>
        <p:nvSpPr>
          <p:cNvPr id="30" name="Rectángulo 29">
            <a:extLst>
              <a:ext uri="{FF2B5EF4-FFF2-40B4-BE49-F238E27FC236}">
                <a16:creationId xmlns:a16="http://schemas.microsoft.com/office/drawing/2014/main" id="{C37294B0-5E12-60FC-01F8-47EA6861E430}"/>
              </a:ext>
            </a:extLst>
          </p:cNvPr>
          <p:cNvSpPr/>
          <p:nvPr/>
        </p:nvSpPr>
        <p:spPr>
          <a:xfrm>
            <a:off x="1590646" y="3835570"/>
            <a:ext cx="3396862" cy="369332"/>
          </a:xfrm>
          <a:prstGeom prst="rect">
            <a:avLst/>
          </a:prstGeom>
        </p:spPr>
        <p:txBody>
          <a:bodyPr wrap="square">
            <a:spAutoFit/>
          </a:bodyPr>
          <a:lstStyle/>
          <a:p>
            <a:r>
              <a:rPr lang="es-MX" b="1" dirty="0">
                <a:latin typeface="Arial" panose="020B0604020202020204" pitchFamily="34" charset="0"/>
                <a:cs typeface="Arial" panose="020B0604020202020204" pitchFamily="34" charset="0"/>
              </a:rPr>
              <a:t>Posibilidad de no detención</a:t>
            </a:r>
          </a:p>
        </p:txBody>
      </p:sp>
      <p:sp>
        <p:nvSpPr>
          <p:cNvPr id="31" name="Rectángulo 30">
            <a:extLst>
              <a:ext uri="{FF2B5EF4-FFF2-40B4-BE49-F238E27FC236}">
                <a16:creationId xmlns:a16="http://schemas.microsoft.com/office/drawing/2014/main" id="{A03F8111-A359-F461-4CD5-069A8C8CFFE4}"/>
              </a:ext>
            </a:extLst>
          </p:cNvPr>
          <p:cNvSpPr/>
          <p:nvPr/>
        </p:nvSpPr>
        <p:spPr>
          <a:xfrm>
            <a:off x="8485153" y="1017970"/>
            <a:ext cx="3148273"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Ejemplo con grafos</a:t>
            </a:r>
          </a:p>
        </p:txBody>
      </p:sp>
      <p:sp>
        <p:nvSpPr>
          <p:cNvPr id="34" name="Rectángulo 33">
            <a:extLst>
              <a:ext uri="{FF2B5EF4-FFF2-40B4-BE49-F238E27FC236}">
                <a16:creationId xmlns:a16="http://schemas.microsoft.com/office/drawing/2014/main" id="{36A09D95-4222-3C27-C6D9-ADD358A6AA86}"/>
              </a:ext>
            </a:extLst>
          </p:cNvPr>
          <p:cNvSpPr/>
          <p:nvPr/>
        </p:nvSpPr>
        <p:spPr>
          <a:xfrm>
            <a:off x="917696" y="3709991"/>
            <a:ext cx="4883983" cy="28157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844291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E3AA14D9-DF81-4C24-AAE5-ADED7133B4C4}"/>
              </a:ext>
            </a:extLst>
          </p:cNvPr>
          <p:cNvSpPr/>
          <p:nvPr/>
        </p:nvSpPr>
        <p:spPr>
          <a:xfrm>
            <a:off x="3759485" y="2093651"/>
            <a:ext cx="1038596" cy="338554"/>
          </a:xfrm>
          <a:prstGeom prst="rect">
            <a:avLst/>
          </a:prstGeom>
        </p:spPr>
        <p:txBody>
          <a:bodyPr wrap="square">
            <a:spAutoFit/>
          </a:bodyPr>
          <a:lstStyle/>
          <a:p>
            <a:r>
              <a:rPr lang="es-MX" sz="1600" b="1" dirty="0">
                <a:latin typeface="Arial" panose="020B0604020202020204" pitchFamily="34" charset="0"/>
                <a:cs typeface="Arial" panose="020B0604020202020204" pitchFamily="34" charset="0"/>
              </a:rPr>
              <a:t>cabezal</a:t>
            </a:r>
          </a:p>
        </p:txBody>
      </p:sp>
      <p:sp>
        <p:nvSpPr>
          <p:cNvPr id="22" name="Rectángulo 21">
            <a:extLst>
              <a:ext uri="{FF2B5EF4-FFF2-40B4-BE49-F238E27FC236}">
                <a16:creationId xmlns:a16="http://schemas.microsoft.com/office/drawing/2014/main" id="{D699D692-38E5-45FB-A3B0-2CB64889631F}"/>
              </a:ext>
            </a:extLst>
          </p:cNvPr>
          <p:cNvSpPr/>
          <p:nvPr/>
        </p:nvSpPr>
        <p:spPr>
          <a:xfrm>
            <a:off x="2909425" y="2771277"/>
            <a:ext cx="880369" cy="338554"/>
          </a:xfrm>
          <a:prstGeom prst="rect">
            <a:avLst/>
          </a:prstGeom>
        </p:spPr>
        <p:txBody>
          <a:bodyPr wrap="none">
            <a:spAutoFit/>
          </a:bodyPr>
          <a:lstStyle/>
          <a:p>
            <a:r>
              <a:rPr lang="es-MX" sz="1600" b="1" dirty="0">
                <a:latin typeface="Arial" panose="020B0604020202020204" pitchFamily="34" charset="0"/>
                <a:cs typeface="Arial" panose="020B0604020202020204" pitchFamily="34" charset="0"/>
              </a:rPr>
              <a:t>control</a:t>
            </a:r>
          </a:p>
        </p:txBody>
      </p:sp>
      <p:sp>
        <p:nvSpPr>
          <p:cNvPr id="23" name="Rectángulo 22">
            <a:extLst>
              <a:ext uri="{FF2B5EF4-FFF2-40B4-BE49-F238E27FC236}">
                <a16:creationId xmlns:a16="http://schemas.microsoft.com/office/drawing/2014/main" id="{5B9370B4-AE50-46B3-9865-E56923084EF0}"/>
              </a:ext>
            </a:extLst>
          </p:cNvPr>
          <p:cNvSpPr/>
          <p:nvPr/>
        </p:nvSpPr>
        <p:spPr>
          <a:xfrm>
            <a:off x="3827222" y="2755888"/>
            <a:ext cx="312906"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q</a:t>
            </a:r>
            <a:endParaRPr lang="es-MX" dirty="0"/>
          </a:p>
        </p:txBody>
      </p:sp>
      <p:sp>
        <p:nvSpPr>
          <p:cNvPr id="25" name="Rectángulo 24">
            <a:extLst>
              <a:ext uri="{FF2B5EF4-FFF2-40B4-BE49-F238E27FC236}">
                <a16:creationId xmlns:a16="http://schemas.microsoft.com/office/drawing/2014/main" id="{5E1D00EE-3179-42B2-98D4-A5A2B3B6E522}"/>
              </a:ext>
            </a:extLst>
          </p:cNvPr>
          <p:cNvSpPr/>
          <p:nvPr/>
        </p:nvSpPr>
        <p:spPr>
          <a:xfrm>
            <a:off x="872621" y="4757783"/>
            <a:ext cx="212992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h</a:t>
            </a:r>
            <a:endParaRPr lang="es-MX" dirty="0"/>
          </a:p>
        </p:txBody>
      </p:sp>
      <p:sp>
        <p:nvSpPr>
          <p:cNvPr id="26" name="Rectángulo 25">
            <a:extLst>
              <a:ext uri="{FF2B5EF4-FFF2-40B4-BE49-F238E27FC236}">
                <a16:creationId xmlns:a16="http://schemas.microsoft.com/office/drawing/2014/main" id="{8EF77EE6-A594-44A1-BB80-2F5012D2F7D0}"/>
              </a:ext>
            </a:extLst>
          </p:cNvPr>
          <p:cNvSpPr/>
          <p:nvPr/>
        </p:nvSpPr>
        <p:spPr>
          <a:xfrm>
            <a:off x="1202168" y="4749377"/>
            <a:ext cx="312906"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a</a:t>
            </a:r>
            <a:endParaRPr lang="es-MX" dirty="0"/>
          </a:p>
        </p:txBody>
      </p:sp>
      <p:sp>
        <p:nvSpPr>
          <p:cNvPr id="27" name="Rectángulo 26">
            <a:extLst>
              <a:ext uri="{FF2B5EF4-FFF2-40B4-BE49-F238E27FC236}">
                <a16:creationId xmlns:a16="http://schemas.microsoft.com/office/drawing/2014/main" id="{A20C0536-76F2-4437-B9FC-C5D6385315FF}"/>
              </a:ext>
            </a:extLst>
          </p:cNvPr>
          <p:cNvSpPr/>
          <p:nvPr/>
        </p:nvSpPr>
        <p:spPr>
          <a:xfrm flipH="1">
            <a:off x="1565092" y="4757783"/>
            <a:ext cx="51329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b</a:t>
            </a:r>
            <a:endParaRPr lang="es-MX" dirty="0"/>
          </a:p>
        </p:txBody>
      </p:sp>
      <p:sp>
        <p:nvSpPr>
          <p:cNvPr id="28" name="Rectángulo 27">
            <a:extLst>
              <a:ext uri="{FF2B5EF4-FFF2-40B4-BE49-F238E27FC236}">
                <a16:creationId xmlns:a16="http://schemas.microsoft.com/office/drawing/2014/main" id="{CFAC085C-13BC-49A7-ABFB-1C667E9F36F4}"/>
              </a:ext>
            </a:extLst>
          </p:cNvPr>
          <p:cNvSpPr/>
          <p:nvPr/>
        </p:nvSpPr>
        <p:spPr>
          <a:xfrm>
            <a:off x="1916036" y="4742497"/>
            <a:ext cx="405529"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c</a:t>
            </a:r>
            <a:endParaRPr lang="es-MX" dirty="0"/>
          </a:p>
        </p:txBody>
      </p:sp>
      <p:sp>
        <p:nvSpPr>
          <p:cNvPr id="33" name="Rectángulo 32">
            <a:extLst>
              <a:ext uri="{FF2B5EF4-FFF2-40B4-BE49-F238E27FC236}">
                <a16:creationId xmlns:a16="http://schemas.microsoft.com/office/drawing/2014/main" id="{75D0582B-9568-4527-9DC8-8411517ABC4E}"/>
              </a:ext>
            </a:extLst>
          </p:cNvPr>
          <p:cNvSpPr/>
          <p:nvPr/>
        </p:nvSpPr>
        <p:spPr>
          <a:xfrm>
            <a:off x="1408639" y="5777100"/>
            <a:ext cx="312906"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q</a:t>
            </a:r>
            <a:endParaRPr lang="es-MX" dirty="0"/>
          </a:p>
        </p:txBody>
      </p:sp>
      <p:sp>
        <p:nvSpPr>
          <p:cNvPr id="46" name="Rectángulo 45">
            <a:extLst>
              <a:ext uri="{FF2B5EF4-FFF2-40B4-BE49-F238E27FC236}">
                <a16:creationId xmlns:a16="http://schemas.microsoft.com/office/drawing/2014/main" id="{7EA27C04-E56C-424F-8610-B104F1989016}"/>
              </a:ext>
            </a:extLst>
          </p:cNvPr>
          <p:cNvSpPr/>
          <p:nvPr/>
        </p:nvSpPr>
        <p:spPr>
          <a:xfrm>
            <a:off x="2051657" y="6178761"/>
            <a:ext cx="1967205"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un paso de la MT</a:t>
            </a:r>
          </a:p>
        </p:txBody>
      </p:sp>
      <p:sp>
        <p:nvSpPr>
          <p:cNvPr id="47" name="Rectángulo 46">
            <a:extLst>
              <a:ext uri="{FF2B5EF4-FFF2-40B4-BE49-F238E27FC236}">
                <a16:creationId xmlns:a16="http://schemas.microsoft.com/office/drawing/2014/main" id="{90E1DF3A-D096-4689-830D-65E742E00625}"/>
              </a:ext>
            </a:extLst>
          </p:cNvPr>
          <p:cNvSpPr/>
          <p:nvPr/>
        </p:nvSpPr>
        <p:spPr>
          <a:xfrm>
            <a:off x="3251413" y="859566"/>
            <a:ext cx="723275" cy="338554"/>
          </a:xfrm>
          <a:prstGeom prst="rect">
            <a:avLst/>
          </a:prstGeom>
        </p:spPr>
        <p:txBody>
          <a:bodyPr wrap="square">
            <a:spAutoFit/>
          </a:bodyPr>
          <a:lstStyle/>
          <a:p>
            <a:r>
              <a:rPr lang="es-MX" sz="1600" b="1" dirty="0">
                <a:latin typeface="Arial" panose="020B0604020202020204" pitchFamily="34" charset="0"/>
                <a:cs typeface="Arial" panose="020B0604020202020204" pitchFamily="34" charset="0"/>
              </a:rPr>
              <a:t>cinta </a:t>
            </a:r>
          </a:p>
        </p:txBody>
      </p:sp>
      <p:sp>
        <p:nvSpPr>
          <p:cNvPr id="49" name="Rectángulo 48">
            <a:extLst>
              <a:ext uri="{FF2B5EF4-FFF2-40B4-BE49-F238E27FC236}">
                <a16:creationId xmlns:a16="http://schemas.microsoft.com/office/drawing/2014/main" id="{678B1F58-4520-4CDE-B50F-E84FFD992D87}"/>
              </a:ext>
            </a:extLst>
          </p:cNvPr>
          <p:cNvSpPr/>
          <p:nvPr/>
        </p:nvSpPr>
        <p:spPr>
          <a:xfrm>
            <a:off x="2668888" y="1742769"/>
            <a:ext cx="1008982" cy="584775"/>
          </a:xfrm>
          <a:prstGeom prst="rect">
            <a:avLst/>
          </a:prstGeom>
        </p:spPr>
        <p:txBody>
          <a:bodyPr wrap="square">
            <a:spAutoFit/>
          </a:bodyPr>
          <a:lstStyle/>
          <a:p>
            <a:pPr algn="ctr"/>
            <a:r>
              <a:rPr lang="es-MX" sz="1600" dirty="0">
                <a:latin typeface="Arial" panose="020B0604020202020204" pitchFamily="34" charset="0"/>
                <a:cs typeface="Arial" panose="020B0604020202020204" pitchFamily="34" charset="0"/>
              </a:rPr>
              <a:t>símbolo </a:t>
            </a:r>
          </a:p>
          <a:p>
            <a:pPr algn="ctr"/>
            <a:r>
              <a:rPr lang="es-MX" sz="1600" dirty="0">
                <a:latin typeface="Arial" panose="020B0604020202020204" pitchFamily="34" charset="0"/>
                <a:cs typeface="Arial" panose="020B0604020202020204" pitchFamily="34" charset="0"/>
              </a:rPr>
              <a:t>corriente</a:t>
            </a:r>
            <a:endParaRPr lang="es-MX" sz="1600" dirty="0"/>
          </a:p>
        </p:txBody>
      </p:sp>
      <p:sp>
        <p:nvSpPr>
          <p:cNvPr id="50" name="Rectángulo 49">
            <a:extLst>
              <a:ext uri="{FF2B5EF4-FFF2-40B4-BE49-F238E27FC236}">
                <a16:creationId xmlns:a16="http://schemas.microsoft.com/office/drawing/2014/main" id="{625D7015-B627-486B-B97C-1650DE40A130}"/>
              </a:ext>
            </a:extLst>
          </p:cNvPr>
          <p:cNvSpPr/>
          <p:nvPr/>
        </p:nvSpPr>
        <p:spPr>
          <a:xfrm>
            <a:off x="4209710" y="2648166"/>
            <a:ext cx="1105546" cy="584775"/>
          </a:xfrm>
          <a:prstGeom prst="rect">
            <a:avLst/>
          </a:prstGeom>
        </p:spPr>
        <p:txBody>
          <a:bodyPr wrap="square">
            <a:spAutoFit/>
          </a:bodyPr>
          <a:lstStyle/>
          <a:p>
            <a:r>
              <a:rPr lang="es-MX" sz="1600" dirty="0">
                <a:latin typeface="Arial" panose="020B0604020202020204" pitchFamily="34" charset="0"/>
                <a:cs typeface="Arial" panose="020B0604020202020204" pitchFamily="34" charset="0"/>
              </a:rPr>
              <a:t>estado corriente</a:t>
            </a:r>
            <a:endParaRPr lang="es-MX" sz="1600" dirty="0"/>
          </a:p>
        </p:txBody>
      </p:sp>
      <p:sp>
        <p:nvSpPr>
          <p:cNvPr id="3" name="Rectángulo 2">
            <a:extLst>
              <a:ext uri="{FF2B5EF4-FFF2-40B4-BE49-F238E27FC236}">
                <a16:creationId xmlns:a16="http://schemas.microsoft.com/office/drawing/2014/main" id="{6D68499B-7D73-4C35-B776-FAD0DD6E44D3}"/>
              </a:ext>
            </a:extLst>
          </p:cNvPr>
          <p:cNvSpPr/>
          <p:nvPr/>
        </p:nvSpPr>
        <p:spPr>
          <a:xfrm>
            <a:off x="303117" y="3568953"/>
            <a:ext cx="5152889" cy="923330"/>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En un paso, una MT puede modificar el símbolo corriente, el estado corriente, y moverse un lugar a derecha o izquierda. Por ejemplo:</a:t>
            </a:r>
          </a:p>
        </p:txBody>
      </p:sp>
      <p:sp>
        <p:nvSpPr>
          <p:cNvPr id="4" name="Rectángulo 3">
            <a:extLst>
              <a:ext uri="{FF2B5EF4-FFF2-40B4-BE49-F238E27FC236}">
                <a16:creationId xmlns:a16="http://schemas.microsoft.com/office/drawing/2014/main" id="{FA8EB76A-42D7-4FB6-A353-0BD8FBB68B1E}"/>
              </a:ext>
            </a:extLst>
          </p:cNvPr>
          <p:cNvSpPr/>
          <p:nvPr/>
        </p:nvSpPr>
        <p:spPr>
          <a:xfrm>
            <a:off x="7432933" y="1537455"/>
            <a:ext cx="3229147" cy="1200329"/>
          </a:xfrm>
          <a:prstGeom prst="rect">
            <a:avLst/>
          </a:prstGeom>
        </p:spPr>
        <p:txBody>
          <a:bodyPr wrap="square">
            <a:spAutoFit/>
          </a:bodyPr>
          <a:lstStyle/>
          <a:p>
            <a:r>
              <a:rPr lang="es-MX" b="1" dirty="0">
                <a:solidFill>
                  <a:srgbClr val="0070C0"/>
                </a:solidFill>
                <a:latin typeface="Arial" panose="020B0604020202020204" pitchFamily="34" charset="0"/>
                <a:cs typeface="Arial" panose="020B0604020202020204" pitchFamily="34" charset="0"/>
              </a:rPr>
              <a:t>Tesis de </a:t>
            </a:r>
            <a:r>
              <a:rPr lang="es-MX" b="1" dirty="0" err="1">
                <a:solidFill>
                  <a:srgbClr val="0070C0"/>
                </a:solidFill>
                <a:latin typeface="Arial" panose="020B0604020202020204" pitchFamily="34" charset="0"/>
                <a:cs typeface="Arial" panose="020B0604020202020204" pitchFamily="34" charset="0"/>
              </a:rPr>
              <a:t>Church</a:t>
            </a:r>
            <a:r>
              <a:rPr lang="es-MX" b="1" dirty="0">
                <a:solidFill>
                  <a:srgbClr val="0070C0"/>
                </a:solidFill>
                <a:latin typeface="Arial" panose="020B0604020202020204" pitchFamily="34" charset="0"/>
                <a:cs typeface="Arial" panose="020B0604020202020204" pitchFamily="34" charset="0"/>
              </a:rPr>
              <a:t>-Turing</a:t>
            </a:r>
          </a:p>
          <a:p>
            <a:r>
              <a:rPr lang="es-MX" b="1" dirty="0">
                <a:latin typeface="Arial" panose="020B0604020202020204" pitchFamily="34" charset="0"/>
                <a:cs typeface="Arial" panose="020B0604020202020204" pitchFamily="34" charset="0"/>
              </a:rPr>
              <a:t>¡Todo lo computable </a:t>
            </a:r>
          </a:p>
          <a:p>
            <a:r>
              <a:rPr lang="es-MX" b="1" dirty="0">
                <a:latin typeface="Arial" panose="020B0604020202020204" pitchFamily="34" charset="0"/>
                <a:cs typeface="Arial" panose="020B0604020202020204" pitchFamily="34" charset="0"/>
              </a:rPr>
              <a:t>puede ser computado</a:t>
            </a:r>
          </a:p>
          <a:p>
            <a:r>
              <a:rPr lang="es-MX" b="1" dirty="0">
                <a:latin typeface="Arial" panose="020B0604020202020204" pitchFamily="34" charset="0"/>
                <a:cs typeface="Arial" panose="020B0604020202020204" pitchFamily="34" charset="0"/>
              </a:rPr>
              <a:t>por una Máquina de Turing!</a:t>
            </a:r>
          </a:p>
        </p:txBody>
      </p:sp>
      <p:sp>
        <p:nvSpPr>
          <p:cNvPr id="5" name="Rectángulo 4">
            <a:extLst>
              <a:ext uri="{FF2B5EF4-FFF2-40B4-BE49-F238E27FC236}">
                <a16:creationId xmlns:a16="http://schemas.microsoft.com/office/drawing/2014/main" id="{44A508F4-8C15-4173-8303-341188FB2328}"/>
              </a:ext>
            </a:extLst>
          </p:cNvPr>
          <p:cNvSpPr/>
          <p:nvPr/>
        </p:nvSpPr>
        <p:spPr>
          <a:xfrm>
            <a:off x="6420025" y="3565335"/>
            <a:ext cx="5152889" cy="646331"/>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Al inicio, la entrada se delimita por blancos, y el cabezal apunta al 1er símbolo de la izquierda: </a:t>
            </a:r>
          </a:p>
        </p:txBody>
      </p:sp>
      <p:sp>
        <p:nvSpPr>
          <p:cNvPr id="48" name="Título 1">
            <a:extLst>
              <a:ext uri="{FF2B5EF4-FFF2-40B4-BE49-F238E27FC236}">
                <a16:creationId xmlns:a16="http://schemas.microsoft.com/office/drawing/2014/main" id="{26DFF0F0-73CC-4216-ADE6-9E1265EEA62C}"/>
              </a:ext>
            </a:extLst>
          </p:cNvPr>
          <p:cNvSpPr txBox="1">
            <a:spLocks/>
          </p:cNvSpPr>
          <p:nvPr/>
        </p:nvSpPr>
        <p:spPr>
          <a:xfrm>
            <a:off x="1313764" y="1234417"/>
            <a:ext cx="4530903" cy="46210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a      B       t       n       +      B      </a:t>
            </a:r>
            <a:r>
              <a:rPr lang="es-MX" sz="2000" dirty="0" err="1">
                <a:latin typeface="Arial" panose="020B0604020202020204" pitchFamily="34" charset="0"/>
                <a:cs typeface="Arial" panose="020B0604020202020204" pitchFamily="34" charset="0"/>
              </a:rPr>
              <a:t>B</a:t>
            </a:r>
            <a:r>
              <a:rPr lang="es-MX" sz="2000" dirty="0">
                <a:latin typeface="Arial" panose="020B0604020202020204" pitchFamily="34" charset="0"/>
                <a:cs typeface="Arial" panose="020B0604020202020204" pitchFamily="34" charset="0"/>
              </a:rPr>
              <a:t>       5      c</a:t>
            </a:r>
          </a:p>
        </p:txBody>
      </p:sp>
      <p:sp>
        <p:nvSpPr>
          <p:cNvPr id="51" name="Rectángulo 50">
            <a:extLst>
              <a:ext uri="{FF2B5EF4-FFF2-40B4-BE49-F238E27FC236}">
                <a16:creationId xmlns:a16="http://schemas.microsoft.com/office/drawing/2014/main" id="{B82DB5D1-63E1-4BAF-A7A3-D5B39C7A36A9}"/>
              </a:ext>
            </a:extLst>
          </p:cNvPr>
          <p:cNvSpPr/>
          <p:nvPr/>
        </p:nvSpPr>
        <p:spPr>
          <a:xfrm>
            <a:off x="1225891" y="1204193"/>
            <a:ext cx="4618809" cy="4923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52" name="Conector recto 51">
            <a:extLst>
              <a:ext uri="{FF2B5EF4-FFF2-40B4-BE49-F238E27FC236}">
                <a16:creationId xmlns:a16="http://schemas.microsoft.com/office/drawing/2014/main" id="{552B3AD5-9197-4CC0-B6C5-9C3D74063186}"/>
              </a:ext>
            </a:extLst>
          </p:cNvPr>
          <p:cNvCxnSpPr>
            <a:cxnSpLocks/>
          </p:cNvCxnSpPr>
          <p:nvPr/>
        </p:nvCxnSpPr>
        <p:spPr>
          <a:xfrm>
            <a:off x="1716128" y="1195315"/>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1CFBEE1D-2EBD-4B2C-B94A-1DB328191F8B}"/>
              </a:ext>
            </a:extLst>
          </p:cNvPr>
          <p:cNvCxnSpPr>
            <a:cxnSpLocks/>
          </p:cNvCxnSpPr>
          <p:nvPr/>
        </p:nvCxnSpPr>
        <p:spPr>
          <a:xfrm>
            <a:off x="2221455" y="1204193"/>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EC00E3DA-3A72-4B73-971C-AA5AB0B7E926}"/>
              </a:ext>
            </a:extLst>
          </p:cNvPr>
          <p:cNvCxnSpPr>
            <a:cxnSpLocks/>
          </p:cNvCxnSpPr>
          <p:nvPr/>
        </p:nvCxnSpPr>
        <p:spPr>
          <a:xfrm>
            <a:off x="2766886" y="1204193"/>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89C2C4EB-CB7D-4437-89B3-F7EE434B1566}"/>
              </a:ext>
            </a:extLst>
          </p:cNvPr>
          <p:cNvCxnSpPr>
            <a:cxnSpLocks/>
          </p:cNvCxnSpPr>
          <p:nvPr/>
        </p:nvCxnSpPr>
        <p:spPr>
          <a:xfrm>
            <a:off x="3264191" y="1204193"/>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E3BFA7C6-9AD1-4347-8A4A-B777F5EE8F28}"/>
              </a:ext>
            </a:extLst>
          </p:cNvPr>
          <p:cNvCxnSpPr>
            <a:cxnSpLocks/>
          </p:cNvCxnSpPr>
          <p:nvPr/>
        </p:nvCxnSpPr>
        <p:spPr>
          <a:xfrm>
            <a:off x="3761496" y="1204193"/>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08468F48-D1CF-4530-A4D2-8E43CB547FB2}"/>
              </a:ext>
            </a:extLst>
          </p:cNvPr>
          <p:cNvCxnSpPr>
            <a:cxnSpLocks/>
          </p:cNvCxnSpPr>
          <p:nvPr/>
        </p:nvCxnSpPr>
        <p:spPr>
          <a:xfrm>
            <a:off x="4258802" y="122359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2880D8EF-AEAE-4976-AC8C-9C23CD6E3F1C}"/>
              </a:ext>
            </a:extLst>
          </p:cNvPr>
          <p:cNvCxnSpPr>
            <a:cxnSpLocks/>
          </p:cNvCxnSpPr>
          <p:nvPr/>
        </p:nvCxnSpPr>
        <p:spPr>
          <a:xfrm>
            <a:off x="4802552" y="1204193"/>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0EB134F5-0E82-46CF-9A8A-DEA14F829285}"/>
              </a:ext>
            </a:extLst>
          </p:cNvPr>
          <p:cNvCxnSpPr>
            <a:cxnSpLocks/>
          </p:cNvCxnSpPr>
          <p:nvPr/>
        </p:nvCxnSpPr>
        <p:spPr>
          <a:xfrm>
            <a:off x="5317580" y="1195315"/>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iagrama de flujo: proceso 8">
            <a:extLst>
              <a:ext uri="{FF2B5EF4-FFF2-40B4-BE49-F238E27FC236}">
                <a16:creationId xmlns:a16="http://schemas.microsoft.com/office/drawing/2014/main" id="{78B97933-FBBF-4CF9-BA9C-4F8513BBAE38}"/>
              </a:ext>
            </a:extLst>
          </p:cNvPr>
          <p:cNvSpPr/>
          <p:nvPr/>
        </p:nvSpPr>
        <p:spPr>
          <a:xfrm>
            <a:off x="3761496" y="2700943"/>
            <a:ext cx="444358" cy="462963"/>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3" name="Conector recto de flecha 12">
            <a:extLst>
              <a:ext uri="{FF2B5EF4-FFF2-40B4-BE49-F238E27FC236}">
                <a16:creationId xmlns:a16="http://schemas.microsoft.com/office/drawing/2014/main" id="{7979EED2-95BE-4BC9-8BAF-1B6B2381C66C}"/>
              </a:ext>
            </a:extLst>
          </p:cNvPr>
          <p:cNvCxnSpPr>
            <a:cxnSpLocks/>
            <a:stCxn id="9" idx="0"/>
            <a:endCxn id="51" idx="2"/>
          </p:cNvCxnSpPr>
          <p:nvPr/>
        </p:nvCxnSpPr>
        <p:spPr>
          <a:xfrm flipH="1" flipV="1">
            <a:off x="3535296" y="1696521"/>
            <a:ext cx="448379" cy="10044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Rectángulo 64">
            <a:extLst>
              <a:ext uri="{FF2B5EF4-FFF2-40B4-BE49-F238E27FC236}">
                <a16:creationId xmlns:a16="http://schemas.microsoft.com/office/drawing/2014/main" id="{2E14B2F9-C5D9-4623-A288-7F0E7C9A691B}"/>
              </a:ext>
            </a:extLst>
          </p:cNvPr>
          <p:cNvSpPr/>
          <p:nvPr/>
        </p:nvSpPr>
        <p:spPr>
          <a:xfrm>
            <a:off x="5840264" y="1164525"/>
            <a:ext cx="747320" cy="461665"/>
          </a:xfrm>
          <a:prstGeom prst="rect">
            <a:avLst/>
          </a:prstGeom>
        </p:spPr>
        <p:txBody>
          <a:bodyPr wrap="non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66" name="Rectángulo 65">
            <a:extLst>
              <a:ext uri="{FF2B5EF4-FFF2-40B4-BE49-F238E27FC236}">
                <a16:creationId xmlns:a16="http://schemas.microsoft.com/office/drawing/2014/main" id="{4BFE2BD6-1DCB-4366-8404-FBF355E20E10}"/>
              </a:ext>
            </a:extLst>
          </p:cNvPr>
          <p:cNvSpPr/>
          <p:nvPr/>
        </p:nvSpPr>
        <p:spPr>
          <a:xfrm>
            <a:off x="583348" y="1151301"/>
            <a:ext cx="747320" cy="461665"/>
          </a:xfrm>
          <a:prstGeom prst="rect">
            <a:avLst/>
          </a:prstGeom>
        </p:spPr>
        <p:txBody>
          <a:bodyPr wrap="non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67" name="Diagrama de flujo: proceso 66">
            <a:extLst>
              <a:ext uri="{FF2B5EF4-FFF2-40B4-BE49-F238E27FC236}">
                <a16:creationId xmlns:a16="http://schemas.microsoft.com/office/drawing/2014/main" id="{7B8E9104-F70D-4CC1-910B-5E54E8002067}"/>
              </a:ext>
            </a:extLst>
          </p:cNvPr>
          <p:cNvSpPr/>
          <p:nvPr/>
        </p:nvSpPr>
        <p:spPr>
          <a:xfrm>
            <a:off x="832995" y="4715082"/>
            <a:ext cx="1419320" cy="454975"/>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69" name="Conector recto 68">
            <a:extLst>
              <a:ext uri="{FF2B5EF4-FFF2-40B4-BE49-F238E27FC236}">
                <a16:creationId xmlns:a16="http://schemas.microsoft.com/office/drawing/2014/main" id="{45F3C792-3C83-4769-94B7-722F4D539A82}"/>
              </a:ext>
            </a:extLst>
          </p:cNvPr>
          <p:cNvCxnSpPr>
            <a:cxnSpLocks/>
          </p:cNvCxnSpPr>
          <p:nvPr/>
        </p:nvCxnSpPr>
        <p:spPr>
          <a:xfrm>
            <a:off x="1180617" y="4712858"/>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Conector recto 76">
            <a:extLst>
              <a:ext uri="{FF2B5EF4-FFF2-40B4-BE49-F238E27FC236}">
                <a16:creationId xmlns:a16="http://schemas.microsoft.com/office/drawing/2014/main" id="{C359CBFE-EE9F-4A3D-880B-698419AABFF1}"/>
              </a:ext>
            </a:extLst>
          </p:cNvPr>
          <p:cNvCxnSpPr>
            <a:cxnSpLocks/>
          </p:cNvCxnSpPr>
          <p:nvPr/>
        </p:nvCxnSpPr>
        <p:spPr>
          <a:xfrm>
            <a:off x="1532899" y="4714249"/>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Conector recto 77">
            <a:extLst>
              <a:ext uri="{FF2B5EF4-FFF2-40B4-BE49-F238E27FC236}">
                <a16:creationId xmlns:a16="http://schemas.microsoft.com/office/drawing/2014/main" id="{059ACD6B-151A-4D4B-B7AE-EF8084B447B6}"/>
              </a:ext>
            </a:extLst>
          </p:cNvPr>
          <p:cNvCxnSpPr>
            <a:cxnSpLocks/>
          </p:cNvCxnSpPr>
          <p:nvPr/>
        </p:nvCxnSpPr>
        <p:spPr>
          <a:xfrm>
            <a:off x="1894849" y="4707834"/>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tángulo 78">
            <a:extLst>
              <a:ext uri="{FF2B5EF4-FFF2-40B4-BE49-F238E27FC236}">
                <a16:creationId xmlns:a16="http://schemas.microsoft.com/office/drawing/2014/main" id="{92EBC302-684E-4042-800D-048CAC8341CD}"/>
              </a:ext>
            </a:extLst>
          </p:cNvPr>
          <p:cNvSpPr/>
          <p:nvPr/>
        </p:nvSpPr>
        <p:spPr>
          <a:xfrm>
            <a:off x="3786475" y="4735611"/>
            <a:ext cx="212992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h</a:t>
            </a:r>
            <a:endParaRPr lang="es-MX" dirty="0"/>
          </a:p>
        </p:txBody>
      </p:sp>
      <p:sp>
        <p:nvSpPr>
          <p:cNvPr id="80" name="Rectángulo 79">
            <a:extLst>
              <a:ext uri="{FF2B5EF4-FFF2-40B4-BE49-F238E27FC236}">
                <a16:creationId xmlns:a16="http://schemas.microsoft.com/office/drawing/2014/main" id="{5CEFE871-C582-41F2-B6DC-F5022870ADA0}"/>
              </a:ext>
            </a:extLst>
          </p:cNvPr>
          <p:cNvSpPr/>
          <p:nvPr/>
        </p:nvSpPr>
        <p:spPr>
          <a:xfrm>
            <a:off x="4119086" y="4742025"/>
            <a:ext cx="389850"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a</a:t>
            </a:r>
            <a:r>
              <a:rPr lang="es-MX" b="1" dirty="0">
                <a:latin typeface="Arial" panose="020B0604020202020204" pitchFamily="34" charset="0"/>
                <a:cs typeface="Arial" panose="020B0604020202020204" pitchFamily="34" charset="0"/>
              </a:rPr>
              <a:t>´</a:t>
            </a:r>
            <a:endParaRPr lang="es-MX" b="1" dirty="0"/>
          </a:p>
        </p:txBody>
      </p:sp>
      <p:sp>
        <p:nvSpPr>
          <p:cNvPr id="81" name="Rectángulo 80">
            <a:extLst>
              <a:ext uri="{FF2B5EF4-FFF2-40B4-BE49-F238E27FC236}">
                <a16:creationId xmlns:a16="http://schemas.microsoft.com/office/drawing/2014/main" id="{E81857C2-40B1-4230-A20B-A62138BA1BA5}"/>
              </a:ext>
            </a:extLst>
          </p:cNvPr>
          <p:cNvSpPr/>
          <p:nvPr/>
        </p:nvSpPr>
        <p:spPr>
          <a:xfrm flipH="1">
            <a:off x="4478946" y="4735611"/>
            <a:ext cx="51329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b</a:t>
            </a:r>
            <a:endParaRPr lang="es-MX" dirty="0"/>
          </a:p>
        </p:txBody>
      </p:sp>
      <p:sp>
        <p:nvSpPr>
          <p:cNvPr id="82" name="Rectángulo 81">
            <a:extLst>
              <a:ext uri="{FF2B5EF4-FFF2-40B4-BE49-F238E27FC236}">
                <a16:creationId xmlns:a16="http://schemas.microsoft.com/office/drawing/2014/main" id="{229135C1-47E7-48BC-BDD6-180A7AB73875}"/>
              </a:ext>
            </a:extLst>
          </p:cNvPr>
          <p:cNvSpPr/>
          <p:nvPr/>
        </p:nvSpPr>
        <p:spPr>
          <a:xfrm>
            <a:off x="4829890" y="4720325"/>
            <a:ext cx="405529"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c</a:t>
            </a:r>
            <a:endParaRPr lang="es-MX" dirty="0"/>
          </a:p>
        </p:txBody>
      </p:sp>
      <p:sp>
        <p:nvSpPr>
          <p:cNvPr id="83" name="Diagrama de flujo: proceso 82">
            <a:extLst>
              <a:ext uri="{FF2B5EF4-FFF2-40B4-BE49-F238E27FC236}">
                <a16:creationId xmlns:a16="http://schemas.microsoft.com/office/drawing/2014/main" id="{0E1C6216-7F6B-4E76-97DD-0C7E3BEBEFA7}"/>
              </a:ext>
            </a:extLst>
          </p:cNvPr>
          <p:cNvSpPr/>
          <p:nvPr/>
        </p:nvSpPr>
        <p:spPr>
          <a:xfrm>
            <a:off x="3746849" y="4692910"/>
            <a:ext cx="1419320" cy="454975"/>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4" name="Conector recto 83">
            <a:extLst>
              <a:ext uri="{FF2B5EF4-FFF2-40B4-BE49-F238E27FC236}">
                <a16:creationId xmlns:a16="http://schemas.microsoft.com/office/drawing/2014/main" id="{01D4976D-CBA0-412E-AA8B-09A06A9A90B6}"/>
              </a:ext>
            </a:extLst>
          </p:cNvPr>
          <p:cNvCxnSpPr>
            <a:cxnSpLocks/>
          </p:cNvCxnSpPr>
          <p:nvPr/>
        </p:nvCxnSpPr>
        <p:spPr>
          <a:xfrm>
            <a:off x="4094471" y="4690686"/>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34870FD3-CEC0-4962-9E11-1B63BBC00B54}"/>
              </a:ext>
            </a:extLst>
          </p:cNvPr>
          <p:cNvCxnSpPr>
            <a:cxnSpLocks/>
          </p:cNvCxnSpPr>
          <p:nvPr/>
        </p:nvCxnSpPr>
        <p:spPr>
          <a:xfrm>
            <a:off x="4446753" y="4692077"/>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Conector recto 85">
            <a:extLst>
              <a:ext uri="{FF2B5EF4-FFF2-40B4-BE49-F238E27FC236}">
                <a16:creationId xmlns:a16="http://schemas.microsoft.com/office/drawing/2014/main" id="{BA6A88A7-D751-4A6B-8E14-E5CB6C4E6E58}"/>
              </a:ext>
            </a:extLst>
          </p:cNvPr>
          <p:cNvCxnSpPr>
            <a:cxnSpLocks/>
          </p:cNvCxnSpPr>
          <p:nvPr/>
        </p:nvCxnSpPr>
        <p:spPr>
          <a:xfrm>
            <a:off x="4808703" y="4685662"/>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Diagrama de flujo: proceso 86">
            <a:extLst>
              <a:ext uri="{FF2B5EF4-FFF2-40B4-BE49-F238E27FC236}">
                <a16:creationId xmlns:a16="http://schemas.microsoft.com/office/drawing/2014/main" id="{E115B088-20B4-4EDD-B060-2AB6F15D59C4}"/>
              </a:ext>
            </a:extLst>
          </p:cNvPr>
          <p:cNvSpPr/>
          <p:nvPr/>
        </p:nvSpPr>
        <p:spPr>
          <a:xfrm>
            <a:off x="1366644" y="5777100"/>
            <a:ext cx="402675" cy="4161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8" name="Conector recto de flecha 87">
            <a:extLst>
              <a:ext uri="{FF2B5EF4-FFF2-40B4-BE49-F238E27FC236}">
                <a16:creationId xmlns:a16="http://schemas.microsoft.com/office/drawing/2014/main" id="{C4482BDE-0296-4153-8AAE-0FD3AE209E77}"/>
              </a:ext>
            </a:extLst>
          </p:cNvPr>
          <p:cNvCxnSpPr>
            <a:cxnSpLocks/>
          </p:cNvCxnSpPr>
          <p:nvPr/>
        </p:nvCxnSpPr>
        <p:spPr>
          <a:xfrm flipH="1" flipV="1">
            <a:off x="1327904" y="5177063"/>
            <a:ext cx="248934" cy="5857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ectángulo 91">
            <a:extLst>
              <a:ext uri="{FF2B5EF4-FFF2-40B4-BE49-F238E27FC236}">
                <a16:creationId xmlns:a16="http://schemas.microsoft.com/office/drawing/2014/main" id="{CF73CBA4-F2B8-4980-AAE4-3CA995D51F53}"/>
              </a:ext>
            </a:extLst>
          </p:cNvPr>
          <p:cNvSpPr/>
          <p:nvPr/>
        </p:nvSpPr>
        <p:spPr>
          <a:xfrm>
            <a:off x="4371537" y="5729695"/>
            <a:ext cx="373820" cy="369332"/>
          </a:xfrm>
          <a:prstGeom prst="rect">
            <a:avLst/>
          </a:prstGeom>
        </p:spPr>
        <p:txBody>
          <a:bodyPr wrap="square">
            <a:spAutoFit/>
          </a:bodyPr>
          <a:lstStyle/>
          <a:p>
            <a:r>
              <a:rPr lang="es-MX" dirty="0"/>
              <a:t>q</a:t>
            </a:r>
            <a:r>
              <a:rPr lang="es-MX" b="1" dirty="0"/>
              <a:t>´</a:t>
            </a:r>
          </a:p>
        </p:txBody>
      </p:sp>
      <p:sp>
        <p:nvSpPr>
          <p:cNvPr id="93" name="Diagrama de flujo: proceso 92">
            <a:extLst>
              <a:ext uri="{FF2B5EF4-FFF2-40B4-BE49-F238E27FC236}">
                <a16:creationId xmlns:a16="http://schemas.microsoft.com/office/drawing/2014/main" id="{4446D5C8-6407-4E7D-BE8C-3840155EEC84}"/>
              </a:ext>
            </a:extLst>
          </p:cNvPr>
          <p:cNvSpPr/>
          <p:nvPr/>
        </p:nvSpPr>
        <p:spPr>
          <a:xfrm>
            <a:off x="4323763" y="5717665"/>
            <a:ext cx="402675" cy="4161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94" name="Conector recto de flecha 93">
            <a:extLst>
              <a:ext uri="{FF2B5EF4-FFF2-40B4-BE49-F238E27FC236}">
                <a16:creationId xmlns:a16="http://schemas.microsoft.com/office/drawing/2014/main" id="{89B2D0C7-41D4-4B29-B81B-ECB520DD3222}"/>
              </a:ext>
            </a:extLst>
          </p:cNvPr>
          <p:cNvCxnSpPr>
            <a:cxnSpLocks/>
            <a:stCxn id="93" idx="0"/>
          </p:cNvCxnSpPr>
          <p:nvPr/>
        </p:nvCxnSpPr>
        <p:spPr>
          <a:xfrm flipV="1">
            <a:off x="4525101" y="5159915"/>
            <a:ext cx="137648" cy="557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Rectángulo 98">
            <a:extLst>
              <a:ext uri="{FF2B5EF4-FFF2-40B4-BE49-F238E27FC236}">
                <a16:creationId xmlns:a16="http://schemas.microsoft.com/office/drawing/2014/main" id="{33CAFE6D-CEA7-44D4-A33B-BB0DA034DE1A}"/>
              </a:ext>
            </a:extLst>
          </p:cNvPr>
          <p:cNvSpPr/>
          <p:nvPr/>
        </p:nvSpPr>
        <p:spPr>
          <a:xfrm>
            <a:off x="2212470" y="4622707"/>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00" name="Rectángulo 99">
            <a:extLst>
              <a:ext uri="{FF2B5EF4-FFF2-40B4-BE49-F238E27FC236}">
                <a16:creationId xmlns:a16="http://schemas.microsoft.com/office/drawing/2014/main" id="{16D11B01-3973-407D-92C1-5946822EE56B}"/>
              </a:ext>
            </a:extLst>
          </p:cNvPr>
          <p:cNvSpPr/>
          <p:nvPr/>
        </p:nvSpPr>
        <p:spPr>
          <a:xfrm>
            <a:off x="212410" y="4643278"/>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01" name="Rectángulo 100">
            <a:extLst>
              <a:ext uri="{FF2B5EF4-FFF2-40B4-BE49-F238E27FC236}">
                <a16:creationId xmlns:a16="http://schemas.microsoft.com/office/drawing/2014/main" id="{F014C72C-EC38-40F8-97B6-D9D28D12F91B}"/>
              </a:ext>
            </a:extLst>
          </p:cNvPr>
          <p:cNvSpPr/>
          <p:nvPr/>
        </p:nvSpPr>
        <p:spPr>
          <a:xfrm>
            <a:off x="3140510" y="4622706"/>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02" name="Rectángulo 101">
            <a:extLst>
              <a:ext uri="{FF2B5EF4-FFF2-40B4-BE49-F238E27FC236}">
                <a16:creationId xmlns:a16="http://schemas.microsoft.com/office/drawing/2014/main" id="{339BC276-F290-4D01-811B-E60DB80FCDCD}"/>
              </a:ext>
            </a:extLst>
          </p:cNvPr>
          <p:cNvSpPr/>
          <p:nvPr/>
        </p:nvSpPr>
        <p:spPr>
          <a:xfrm>
            <a:off x="5124444" y="4620599"/>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03" name="Flecha: a la derecha 102">
            <a:extLst>
              <a:ext uri="{FF2B5EF4-FFF2-40B4-BE49-F238E27FC236}">
                <a16:creationId xmlns:a16="http://schemas.microsoft.com/office/drawing/2014/main" id="{C446B9BF-99CD-4167-9E5C-CD2391304EE2}"/>
              </a:ext>
            </a:extLst>
          </p:cNvPr>
          <p:cNvSpPr/>
          <p:nvPr/>
        </p:nvSpPr>
        <p:spPr>
          <a:xfrm>
            <a:off x="2509176" y="5346689"/>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9" name="Título 1">
            <a:extLst>
              <a:ext uri="{FF2B5EF4-FFF2-40B4-BE49-F238E27FC236}">
                <a16:creationId xmlns:a16="http://schemas.microsoft.com/office/drawing/2014/main" id="{03D94088-EEB9-455E-A8B7-9BC4770EC513}"/>
              </a:ext>
            </a:extLst>
          </p:cNvPr>
          <p:cNvSpPr txBox="1">
            <a:spLocks/>
          </p:cNvSpPr>
          <p:nvPr/>
        </p:nvSpPr>
        <p:spPr>
          <a:xfrm>
            <a:off x="6856199" y="4694054"/>
            <a:ext cx="4530903" cy="4621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800" dirty="0">
                <a:latin typeface="Arial" panose="020B0604020202020204" pitchFamily="34" charset="0"/>
                <a:cs typeface="Arial" panose="020B0604020202020204" pitchFamily="34" charset="0"/>
              </a:rPr>
              <a:t>B     w</a:t>
            </a:r>
            <a:r>
              <a:rPr lang="es-AR" sz="1800" baseline="-25000" dirty="0">
                <a:latin typeface="Arial" panose="020B0604020202020204" pitchFamily="34" charset="0"/>
                <a:cs typeface="Arial" panose="020B0604020202020204" pitchFamily="34" charset="0"/>
              </a:rPr>
              <a:t>1</a:t>
            </a:r>
            <a:r>
              <a:rPr lang="es-MX" sz="1800" dirty="0">
                <a:latin typeface="Arial" panose="020B0604020202020204" pitchFamily="34" charset="0"/>
                <a:cs typeface="Arial" panose="020B0604020202020204" pitchFamily="34" charset="0"/>
              </a:rPr>
              <a:t>    w</a:t>
            </a:r>
            <a:r>
              <a:rPr lang="es-AR" sz="1800" baseline="-25000" dirty="0">
                <a:latin typeface="Arial" panose="020B0604020202020204" pitchFamily="34" charset="0"/>
                <a:cs typeface="Arial" panose="020B0604020202020204" pitchFamily="34" charset="0"/>
              </a:rPr>
              <a:t>2</a:t>
            </a:r>
            <a:r>
              <a:rPr lang="es-MX" sz="1800" dirty="0">
                <a:latin typeface="Arial" panose="020B0604020202020204" pitchFamily="34" charset="0"/>
                <a:cs typeface="Arial" panose="020B0604020202020204" pitchFamily="34" charset="0"/>
              </a:rPr>
              <a:t>    w</a:t>
            </a:r>
            <a:r>
              <a:rPr lang="es-AR" sz="1800" baseline="-25000" dirty="0">
                <a:latin typeface="Arial" panose="020B0604020202020204" pitchFamily="34" charset="0"/>
                <a:cs typeface="Arial" panose="020B0604020202020204" pitchFamily="34" charset="0"/>
              </a:rPr>
              <a:t>3</a:t>
            </a:r>
            <a:r>
              <a:rPr lang="es-MX" sz="1800" dirty="0">
                <a:latin typeface="Arial" panose="020B0604020202020204" pitchFamily="34" charset="0"/>
                <a:cs typeface="Arial" panose="020B0604020202020204" pitchFamily="34" charset="0"/>
              </a:rPr>
              <a:t>    w</a:t>
            </a:r>
            <a:r>
              <a:rPr lang="es-AR" sz="1800" baseline="-25000" dirty="0">
                <a:latin typeface="Arial" panose="020B0604020202020204" pitchFamily="34" charset="0"/>
                <a:cs typeface="Arial" panose="020B0604020202020204" pitchFamily="34" charset="0"/>
              </a:rPr>
              <a:t>4</a:t>
            </a:r>
            <a:r>
              <a:rPr lang="es-MX" sz="1800" dirty="0">
                <a:latin typeface="Arial" panose="020B0604020202020204" pitchFamily="34" charset="0"/>
                <a:cs typeface="Arial" panose="020B0604020202020204" pitchFamily="34" charset="0"/>
              </a:rPr>
              <a:t>    w</a:t>
            </a:r>
            <a:r>
              <a:rPr lang="es-AR" sz="1800" baseline="-25000" dirty="0">
                <a:latin typeface="Arial" panose="020B0604020202020204" pitchFamily="34" charset="0"/>
                <a:cs typeface="Arial" panose="020B0604020202020204" pitchFamily="34" charset="0"/>
              </a:rPr>
              <a:t>5</a:t>
            </a:r>
            <a:r>
              <a:rPr lang="es-MX" sz="1800" dirty="0">
                <a:latin typeface="Arial" panose="020B0604020202020204" pitchFamily="34" charset="0"/>
                <a:cs typeface="Arial" panose="020B0604020202020204" pitchFamily="34" charset="0"/>
              </a:rPr>
              <a:t>    …     w</a:t>
            </a:r>
            <a:r>
              <a:rPr lang="es-AR" sz="1800" baseline="-25000" dirty="0">
                <a:latin typeface="Arial" panose="020B0604020202020204" pitchFamily="34" charset="0"/>
                <a:cs typeface="Arial" panose="020B0604020202020204" pitchFamily="34" charset="0"/>
              </a:rPr>
              <a:t>n</a:t>
            </a:r>
            <a:r>
              <a:rPr lang="es-MX" sz="1800" dirty="0">
                <a:latin typeface="Arial" panose="020B0604020202020204" pitchFamily="34" charset="0"/>
                <a:cs typeface="Arial" panose="020B0604020202020204" pitchFamily="34" charset="0"/>
              </a:rPr>
              <a:t>     B      </a:t>
            </a:r>
          </a:p>
        </p:txBody>
      </p:sp>
      <p:sp>
        <p:nvSpPr>
          <p:cNvPr id="110" name="Rectángulo 109">
            <a:extLst>
              <a:ext uri="{FF2B5EF4-FFF2-40B4-BE49-F238E27FC236}">
                <a16:creationId xmlns:a16="http://schemas.microsoft.com/office/drawing/2014/main" id="{C64C375D-D176-4215-B7B7-C09EAD6329A8}"/>
              </a:ext>
            </a:extLst>
          </p:cNvPr>
          <p:cNvSpPr/>
          <p:nvPr/>
        </p:nvSpPr>
        <p:spPr>
          <a:xfrm>
            <a:off x="6768326" y="4663830"/>
            <a:ext cx="4618809" cy="4923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11" name="Conector recto 110">
            <a:extLst>
              <a:ext uri="{FF2B5EF4-FFF2-40B4-BE49-F238E27FC236}">
                <a16:creationId xmlns:a16="http://schemas.microsoft.com/office/drawing/2014/main" id="{1BA2E8E8-3927-4A56-AB8A-9A3DCEA6D5C3}"/>
              </a:ext>
            </a:extLst>
          </p:cNvPr>
          <p:cNvCxnSpPr>
            <a:cxnSpLocks/>
          </p:cNvCxnSpPr>
          <p:nvPr/>
        </p:nvCxnSpPr>
        <p:spPr>
          <a:xfrm>
            <a:off x="7258563" y="4654952"/>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Conector recto 111">
            <a:extLst>
              <a:ext uri="{FF2B5EF4-FFF2-40B4-BE49-F238E27FC236}">
                <a16:creationId xmlns:a16="http://schemas.microsoft.com/office/drawing/2014/main" id="{3D9C7EC3-70DD-45A5-8B4F-E62072C5A428}"/>
              </a:ext>
            </a:extLst>
          </p:cNvPr>
          <p:cNvCxnSpPr>
            <a:cxnSpLocks/>
          </p:cNvCxnSpPr>
          <p:nvPr/>
        </p:nvCxnSpPr>
        <p:spPr>
          <a:xfrm>
            <a:off x="7763890" y="466383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Conector recto 112">
            <a:extLst>
              <a:ext uri="{FF2B5EF4-FFF2-40B4-BE49-F238E27FC236}">
                <a16:creationId xmlns:a16="http://schemas.microsoft.com/office/drawing/2014/main" id="{8C639EA5-8BE1-4CCA-835E-58EDE7E3D420}"/>
              </a:ext>
            </a:extLst>
          </p:cNvPr>
          <p:cNvCxnSpPr>
            <a:cxnSpLocks/>
          </p:cNvCxnSpPr>
          <p:nvPr/>
        </p:nvCxnSpPr>
        <p:spPr>
          <a:xfrm>
            <a:off x="8309321" y="466383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Conector recto 113">
            <a:extLst>
              <a:ext uri="{FF2B5EF4-FFF2-40B4-BE49-F238E27FC236}">
                <a16:creationId xmlns:a16="http://schemas.microsoft.com/office/drawing/2014/main" id="{1DE7A91B-7EF2-4153-B95A-7FBDEB8E43F6}"/>
              </a:ext>
            </a:extLst>
          </p:cNvPr>
          <p:cNvCxnSpPr>
            <a:cxnSpLocks/>
          </p:cNvCxnSpPr>
          <p:nvPr/>
        </p:nvCxnSpPr>
        <p:spPr>
          <a:xfrm>
            <a:off x="8806626" y="466383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Conector recto 114">
            <a:extLst>
              <a:ext uri="{FF2B5EF4-FFF2-40B4-BE49-F238E27FC236}">
                <a16:creationId xmlns:a16="http://schemas.microsoft.com/office/drawing/2014/main" id="{53D34FE0-A262-47F5-9347-198FAE27F54E}"/>
              </a:ext>
            </a:extLst>
          </p:cNvPr>
          <p:cNvCxnSpPr>
            <a:cxnSpLocks/>
          </p:cNvCxnSpPr>
          <p:nvPr/>
        </p:nvCxnSpPr>
        <p:spPr>
          <a:xfrm>
            <a:off x="9303931" y="466383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Conector recto 115">
            <a:extLst>
              <a:ext uri="{FF2B5EF4-FFF2-40B4-BE49-F238E27FC236}">
                <a16:creationId xmlns:a16="http://schemas.microsoft.com/office/drawing/2014/main" id="{A6E42936-8266-403B-8BC3-F506A6DC2252}"/>
              </a:ext>
            </a:extLst>
          </p:cNvPr>
          <p:cNvCxnSpPr>
            <a:cxnSpLocks/>
          </p:cNvCxnSpPr>
          <p:nvPr/>
        </p:nvCxnSpPr>
        <p:spPr>
          <a:xfrm>
            <a:off x="9801237" y="4683227"/>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Conector recto 116">
            <a:extLst>
              <a:ext uri="{FF2B5EF4-FFF2-40B4-BE49-F238E27FC236}">
                <a16:creationId xmlns:a16="http://schemas.microsoft.com/office/drawing/2014/main" id="{340BD51F-BC96-4F60-ACB3-082ECB87CBCB}"/>
              </a:ext>
            </a:extLst>
          </p:cNvPr>
          <p:cNvCxnSpPr>
            <a:cxnSpLocks/>
          </p:cNvCxnSpPr>
          <p:nvPr/>
        </p:nvCxnSpPr>
        <p:spPr>
          <a:xfrm>
            <a:off x="10344987" y="4663830"/>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Conector recto 117">
            <a:extLst>
              <a:ext uri="{FF2B5EF4-FFF2-40B4-BE49-F238E27FC236}">
                <a16:creationId xmlns:a16="http://schemas.microsoft.com/office/drawing/2014/main" id="{A8FB2DD2-7526-4C7A-9E9C-3E98F6B7E481}"/>
              </a:ext>
            </a:extLst>
          </p:cNvPr>
          <p:cNvCxnSpPr>
            <a:cxnSpLocks/>
          </p:cNvCxnSpPr>
          <p:nvPr/>
        </p:nvCxnSpPr>
        <p:spPr>
          <a:xfrm>
            <a:off x="10860015" y="4654952"/>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Diagrama de flujo: proceso 118">
            <a:extLst>
              <a:ext uri="{FF2B5EF4-FFF2-40B4-BE49-F238E27FC236}">
                <a16:creationId xmlns:a16="http://schemas.microsoft.com/office/drawing/2014/main" id="{8D344FF1-4CDB-4ACF-A5D5-A4BC12E054D9}"/>
              </a:ext>
            </a:extLst>
          </p:cNvPr>
          <p:cNvSpPr/>
          <p:nvPr/>
        </p:nvSpPr>
        <p:spPr>
          <a:xfrm>
            <a:off x="9303931" y="6160580"/>
            <a:ext cx="444358" cy="462963"/>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20" name="Conector recto de flecha 119">
            <a:extLst>
              <a:ext uri="{FF2B5EF4-FFF2-40B4-BE49-F238E27FC236}">
                <a16:creationId xmlns:a16="http://schemas.microsoft.com/office/drawing/2014/main" id="{9EE1D6B6-B469-4ACF-82C0-02FF8B95E68F}"/>
              </a:ext>
            </a:extLst>
          </p:cNvPr>
          <p:cNvCxnSpPr>
            <a:cxnSpLocks/>
            <a:stCxn id="119" idx="0"/>
          </p:cNvCxnSpPr>
          <p:nvPr/>
        </p:nvCxnSpPr>
        <p:spPr>
          <a:xfrm flipH="1" flipV="1">
            <a:off x="7470355" y="5163360"/>
            <a:ext cx="2055755" cy="997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Rectángulo 120">
            <a:extLst>
              <a:ext uri="{FF2B5EF4-FFF2-40B4-BE49-F238E27FC236}">
                <a16:creationId xmlns:a16="http://schemas.microsoft.com/office/drawing/2014/main" id="{244E8A4B-77C2-43A9-9491-594501140C46}"/>
              </a:ext>
            </a:extLst>
          </p:cNvPr>
          <p:cNvSpPr/>
          <p:nvPr/>
        </p:nvSpPr>
        <p:spPr>
          <a:xfrm>
            <a:off x="11320240" y="4670393"/>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22" name="Rectángulo 121">
            <a:extLst>
              <a:ext uri="{FF2B5EF4-FFF2-40B4-BE49-F238E27FC236}">
                <a16:creationId xmlns:a16="http://schemas.microsoft.com/office/drawing/2014/main" id="{E9F24B0B-ABF6-4A5F-9758-86AAA4DF5F38}"/>
              </a:ext>
            </a:extLst>
          </p:cNvPr>
          <p:cNvSpPr/>
          <p:nvPr/>
        </p:nvSpPr>
        <p:spPr>
          <a:xfrm>
            <a:off x="6125783" y="4610938"/>
            <a:ext cx="7473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32" name="Rectángulo 131">
            <a:extLst>
              <a:ext uri="{FF2B5EF4-FFF2-40B4-BE49-F238E27FC236}">
                <a16:creationId xmlns:a16="http://schemas.microsoft.com/office/drawing/2014/main" id="{0CCA4C24-884C-48A5-A69E-6B4CC8D12B6E}"/>
              </a:ext>
            </a:extLst>
          </p:cNvPr>
          <p:cNvSpPr/>
          <p:nvPr/>
        </p:nvSpPr>
        <p:spPr>
          <a:xfrm>
            <a:off x="8109717" y="4275922"/>
            <a:ext cx="2982465"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cadena de entrada</a:t>
            </a:r>
          </a:p>
        </p:txBody>
      </p:sp>
      <p:sp>
        <p:nvSpPr>
          <p:cNvPr id="133" name="Rectángulo 132">
            <a:extLst>
              <a:ext uri="{FF2B5EF4-FFF2-40B4-BE49-F238E27FC236}">
                <a16:creationId xmlns:a16="http://schemas.microsoft.com/office/drawing/2014/main" id="{C6D805A9-EBF4-4368-9414-12EAAC5251B6}"/>
              </a:ext>
            </a:extLst>
          </p:cNvPr>
          <p:cNvSpPr/>
          <p:nvPr/>
        </p:nvSpPr>
        <p:spPr>
          <a:xfrm>
            <a:off x="10892821" y="5148828"/>
            <a:ext cx="979755"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blancos</a:t>
            </a:r>
          </a:p>
        </p:txBody>
      </p:sp>
      <p:sp>
        <p:nvSpPr>
          <p:cNvPr id="134" name="Rectángulo 133">
            <a:extLst>
              <a:ext uri="{FF2B5EF4-FFF2-40B4-BE49-F238E27FC236}">
                <a16:creationId xmlns:a16="http://schemas.microsoft.com/office/drawing/2014/main" id="{4A2F9EE8-759F-459F-AE5C-82F1A2BBCC32}"/>
              </a:ext>
            </a:extLst>
          </p:cNvPr>
          <p:cNvSpPr/>
          <p:nvPr/>
        </p:nvSpPr>
        <p:spPr>
          <a:xfrm>
            <a:off x="6298594" y="5135407"/>
            <a:ext cx="979755"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blancos</a:t>
            </a:r>
          </a:p>
        </p:txBody>
      </p:sp>
      <p:sp>
        <p:nvSpPr>
          <p:cNvPr id="135" name="Rectángulo 134">
            <a:extLst>
              <a:ext uri="{FF2B5EF4-FFF2-40B4-BE49-F238E27FC236}">
                <a16:creationId xmlns:a16="http://schemas.microsoft.com/office/drawing/2014/main" id="{302E45DA-B46A-45C4-8F9F-822D35C477D5}"/>
              </a:ext>
            </a:extLst>
          </p:cNvPr>
          <p:cNvSpPr/>
          <p:nvPr/>
        </p:nvSpPr>
        <p:spPr>
          <a:xfrm>
            <a:off x="8252721" y="5114069"/>
            <a:ext cx="2446504"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entrada w = w</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w</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a:t>
            </a:r>
            <a:r>
              <a:rPr lang="es-AR" dirty="0" err="1">
                <a:latin typeface="Arial" panose="020B0604020202020204" pitchFamily="34" charset="0"/>
                <a:cs typeface="Arial" panose="020B0604020202020204" pitchFamily="34" charset="0"/>
              </a:rPr>
              <a:t>w</a:t>
            </a:r>
            <a:r>
              <a:rPr lang="es-AR" baseline="-25000" dirty="0" err="1">
                <a:latin typeface="Arial" panose="020B0604020202020204" pitchFamily="34" charset="0"/>
                <a:cs typeface="Arial" panose="020B0604020202020204" pitchFamily="34" charset="0"/>
              </a:rPr>
              <a:t>n</a:t>
            </a:r>
            <a:endParaRPr lang="es-MX" dirty="0"/>
          </a:p>
        </p:txBody>
      </p:sp>
      <p:sp>
        <p:nvSpPr>
          <p:cNvPr id="136" name="Rectángulo 135">
            <a:extLst>
              <a:ext uri="{FF2B5EF4-FFF2-40B4-BE49-F238E27FC236}">
                <a16:creationId xmlns:a16="http://schemas.microsoft.com/office/drawing/2014/main" id="{D9E3DA7F-3F00-4792-81CD-3313B2E605E9}"/>
              </a:ext>
            </a:extLst>
          </p:cNvPr>
          <p:cNvSpPr/>
          <p:nvPr/>
        </p:nvSpPr>
        <p:spPr>
          <a:xfrm>
            <a:off x="9749003" y="6189625"/>
            <a:ext cx="1582484"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estado inicial </a:t>
            </a:r>
            <a:endParaRPr lang="es-MX" dirty="0"/>
          </a:p>
        </p:txBody>
      </p:sp>
      <p:sp>
        <p:nvSpPr>
          <p:cNvPr id="74" name="Slide Number Placeholder 2">
            <a:extLst>
              <a:ext uri="{FF2B5EF4-FFF2-40B4-BE49-F238E27FC236}">
                <a16:creationId xmlns:a16="http://schemas.microsoft.com/office/drawing/2014/main" id="{8FE1EE57-CA72-4314-8F27-B8D3F90737F6}"/>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7" name="CuadroTexto 6">
            <a:extLst>
              <a:ext uri="{FF2B5EF4-FFF2-40B4-BE49-F238E27FC236}">
                <a16:creationId xmlns:a16="http://schemas.microsoft.com/office/drawing/2014/main" id="{2689A702-AA5B-DF34-E17B-DC725EE97DF4}"/>
              </a:ext>
            </a:extLst>
          </p:cNvPr>
          <p:cNvSpPr txBox="1"/>
          <p:nvPr/>
        </p:nvSpPr>
        <p:spPr>
          <a:xfrm>
            <a:off x="9323727" y="6189625"/>
            <a:ext cx="439208" cy="369332"/>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q</a:t>
            </a:r>
            <a:r>
              <a:rPr lang="es-AR" baseline="-25000" dirty="0">
                <a:latin typeface="Arial" panose="020B0604020202020204" pitchFamily="34" charset="0"/>
                <a:cs typeface="Arial" panose="020B0604020202020204" pitchFamily="34" charset="0"/>
              </a:rPr>
              <a:t>0</a:t>
            </a:r>
            <a:endParaRPr lang="es-AR" dirty="0"/>
          </a:p>
        </p:txBody>
      </p:sp>
      <p:sp>
        <p:nvSpPr>
          <p:cNvPr id="6" name="Rectángulo 5">
            <a:extLst>
              <a:ext uri="{FF2B5EF4-FFF2-40B4-BE49-F238E27FC236}">
                <a16:creationId xmlns:a16="http://schemas.microsoft.com/office/drawing/2014/main" id="{32E4623D-53F1-AF3A-5EFD-823A941998CD}"/>
              </a:ext>
            </a:extLst>
          </p:cNvPr>
          <p:cNvSpPr/>
          <p:nvPr/>
        </p:nvSpPr>
        <p:spPr>
          <a:xfrm>
            <a:off x="345292" y="312312"/>
            <a:ext cx="1725152" cy="494751"/>
          </a:xfrm>
          <a:prstGeom prst="rect">
            <a:avLst/>
          </a:prstGeom>
        </p:spPr>
        <p:txBody>
          <a:bodyPr wrap="none">
            <a:spAutoFit/>
          </a:bodyPr>
          <a:lstStyle/>
          <a:p>
            <a:pPr>
              <a:lnSpc>
                <a:spcPct val="120000"/>
              </a:lnSpc>
            </a:pPr>
            <a:r>
              <a:rPr lang="es-MX" sz="2400" b="1" dirty="0">
                <a:latin typeface="Arial" panose="020B0604020202020204" pitchFamily="34" charset="0"/>
                <a:cs typeface="Arial" panose="020B0604020202020204" pitchFamily="34" charset="0"/>
              </a:rPr>
              <a:t>Estructura</a:t>
            </a:r>
          </a:p>
        </p:txBody>
      </p:sp>
    </p:spTree>
    <p:extLst>
      <p:ext uri="{BB962C8B-B14F-4D97-AF65-F5344CB8AC3E}">
        <p14:creationId xmlns:p14="http://schemas.microsoft.com/office/powerpoint/2010/main" val="3160538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C211241-8E1A-476F-A2EF-87D34FEAE0D6}"/>
              </a:ext>
            </a:extLst>
          </p:cNvPr>
          <p:cNvSpPr>
            <a:spLocks noGrp="1"/>
          </p:cNvSpPr>
          <p:nvPr>
            <p:ph sz="half" idx="1"/>
          </p:nvPr>
        </p:nvSpPr>
        <p:spPr>
          <a:xfrm>
            <a:off x="7381259" y="1304452"/>
            <a:ext cx="2475187" cy="4981904"/>
          </a:xfrm>
        </p:spPr>
        <p:txBody>
          <a:bodyPr>
            <a:normAutofit fontScale="92500" lnSpcReduction="10000"/>
          </a:bodyPr>
          <a:lstStyle/>
          <a:p>
            <a:pPr marL="514350" indent="-514350">
              <a:buAutoNum type="arabicPeriod"/>
            </a:pPr>
            <a:r>
              <a:rPr lang="es-AR" sz="2100" dirty="0">
                <a:latin typeface="Arial" panose="020B0604020202020204" pitchFamily="34" charset="0"/>
                <a:cs typeface="Arial" panose="020B0604020202020204" pitchFamily="34" charset="0"/>
              </a:rPr>
              <a:t>δ(q</a:t>
            </a:r>
            <a:r>
              <a:rPr lang="es-AR" sz="2100" baseline="-25000" dirty="0">
                <a:latin typeface="Arial" panose="020B0604020202020204" pitchFamily="34" charset="0"/>
                <a:cs typeface="Arial" panose="020B0604020202020204" pitchFamily="34" charset="0"/>
              </a:rPr>
              <a:t>0</a:t>
            </a:r>
            <a:r>
              <a:rPr lang="es-AR" sz="2100" dirty="0">
                <a:latin typeface="Arial" panose="020B0604020202020204" pitchFamily="34" charset="0"/>
                <a:cs typeface="Arial" panose="020B0604020202020204" pitchFamily="34" charset="0"/>
              </a:rPr>
              <a:t>, a) =</a:t>
            </a:r>
          </a:p>
          <a:p>
            <a:pPr marL="514350" indent="-514350">
              <a:buFont typeface="Arial" panose="020B0604020202020204" pitchFamily="34" charset="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a</a:t>
            </a:r>
            <a:r>
              <a:rPr lang="es-AR" sz="2100" dirty="0">
                <a:latin typeface="Arial" panose="020B0604020202020204" pitchFamily="34" charset="0"/>
                <a:cs typeface="Arial" panose="020B0604020202020204" pitchFamily="34" charset="0"/>
              </a:rPr>
              <a:t>, a) =</a:t>
            </a:r>
          </a:p>
          <a:p>
            <a:pPr marL="514350" indent="-514350">
              <a:buFont typeface="Arial" panose="020B0604020202020204" pitchFamily="34" charset="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a</a:t>
            </a:r>
            <a:r>
              <a:rPr lang="es-AR" sz="2100" dirty="0">
                <a:latin typeface="Arial" panose="020B0604020202020204" pitchFamily="34" charset="0"/>
                <a:cs typeface="Arial" panose="020B0604020202020204" pitchFamily="34" charset="0"/>
              </a:rPr>
              <a:t>, β) =</a:t>
            </a:r>
          </a:p>
          <a:p>
            <a:pPr marL="514350" indent="-51435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a) =</a:t>
            </a:r>
          </a:p>
          <a:p>
            <a:pPr marL="514350" indent="-51435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b) =</a:t>
            </a:r>
          </a:p>
          <a:p>
            <a:pPr marL="514350" indent="-51435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β) =</a:t>
            </a:r>
          </a:p>
          <a:p>
            <a:pPr marL="514350" indent="-51435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a) =</a:t>
            </a:r>
          </a:p>
          <a:p>
            <a:pPr marL="514350" indent="-51435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α) =</a:t>
            </a:r>
          </a:p>
          <a:p>
            <a:pPr marL="514350" indent="-514350">
              <a:buFont typeface="Arial" panose="020B0604020202020204" pitchFamily="34" charset="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β) =</a:t>
            </a:r>
          </a:p>
          <a:p>
            <a:pPr marL="514350" indent="-514350">
              <a:buFont typeface="Arial" panose="020B0604020202020204" pitchFamily="34" charset="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H</a:t>
            </a:r>
            <a:r>
              <a:rPr lang="es-AR" sz="2100" dirty="0">
                <a:latin typeface="Arial" panose="020B0604020202020204" pitchFamily="34" charset="0"/>
                <a:cs typeface="Arial" panose="020B0604020202020204" pitchFamily="34" charset="0"/>
              </a:rPr>
              <a:t>, β) =</a:t>
            </a:r>
          </a:p>
          <a:p>
            <a:pPr marL="514350" indent="-514350">
              <a:buFont typeface="Arial" panose="020B0604020202020204" pitchFamily="34" charset="0"/>
              <a:buAutoNum type="arabicPeriod"/>
            </a:pPr>
            <a:r>
              <a:rPr lang="es-AR" sz="2100" dirty="0">
                <a:latin typeface="Arial" panose="020B0604020202020204" pitchFamily="34" charset="0"/>
                <a:cs typeface="Arial" panose="020B0604020202020204" pitchFamily="34" charset="0"/>
              </a:rPr>
              <a:t>δ(</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H</a:t>
            </a:r>
            <a:r>
              <a:rPr lang="es-AR" sz="2100" dirty="0">
                <a:latin typeface="Arial" panose="020B0604020202020204" pitchFamily="34" charset="0"/>
                <a:cs typeface="Arial" panose="020B0604020202020204" pitchFamily="34" charset="0"/>
              </a:rPr>
              <a:t>, B) =</a:t>
            </a:r>
          </a:p>
          <a:p>
            <a:pPr marL="0" indent="0">
              <a:buNone/>
            </a:pPr>
            <a:endParaRPr lang="es-AR" sz="24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9904A059-A7A2-442F-A68D-5C14D381549C}"/>
              </a:ext>
            </a:extLst>
          </p:cNvPr>
          <p:cNvSpPr>
            <a:spLocks noGrp="1"/>
          </p:cNvSpPr>
          <p:nvPr>
            <p:ph sz="half" idx="2"/>
          </p:nvPr>
        </p:nvSpPr>
        <p:spPr>
          <a:xfrm>
            <a:off x="9003418" y="1304452"/>
            <a:ext cx="1836684" cy="5206204"/>
          </a:xfrm>
        </p:spPr>
        <p:txBody>
          <a:bodyPr>
            <a:normAutofit fontScale="92500" lnSpcReduction="10000"/>
          </a:bodyPr>
          <a:lstStyle/>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α, R)</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α, R)</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H</a:t>
            </a:r>
            <a:r>
              <a:rPr lang="es-AR" sz="2100" dirty="0">
                <a:latin typeface="Arial" panose="020B0604020202020204" pitchFamily="34" charset="0"/>
                <a:cs typeface="Arial" panose="020B0604020202020204" pitchFamily="34" charset="0"/>
              </a:rPr>
              <a:t>, β, R)  </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a, R) </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β, L)</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b</a:t>
            </a:r>
            <a:r>
              <a:rPr lang="es-AR" sz="2100" dirty="0">
                <a:latin typeface="Arial" panose="020B0604020202020204" pitchFamily="34" charset="0"/>
                <a:cs typeface="Arial" panose="020B0604020202020204" pitchFamily="34" charset="0"/>
              </a:rPr>
              <a:t>, β, R) </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a, L)</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a</a:t>
            </a:r>
            <a:r>
              <a:rPr lang="es-AR" sz="2100" dirty="0">
                <a:latin typeface="Arial" panose="020B0604020202020204" pitchFamily="34" charset="0"/>
                <a:cs typeface="Arial" panose="020B0604020202020204" pitchFamily="34" charset="0"/>
              </a:rPr>
              <a:t>, α, R) </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L</a:t>
            </a:r>
            <a:r>
              <a:rPr lang="es-AR" sz="2100" dirty="0">
                <a:latin typeface="Arial" panose="020B0604020202020204" pitchFamily="34" charset="0"/>
                <a:cs typeface="Arial" panose="020B0604020202020204" pitchFamily="34" charset="0"/>
              </a:rPr>
              <a:t>, β, L)</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H</a:t>
            </a:r>
            <a:r>
              <a:rPr lang="es-AR" sz="2100" dirty="0">
                <a:latin typeface="Arial" panose="020B0604020202020204" pitchFamily="34" charset="0"/>
                <a:cs typeface="Arial" panose="020B0604020202020204" pitchFamily="34" charset="0"/>
              </a:rPr>
              <a:t>, β, R) </a:t>
            </a:r>
          </a:p>
          <a:p>
            <a:pPr marL="0" indent="0">
              <a:buNone/>
            </a:pPr>
            <a:r>
              <a:rPr lang="es-AR" sz="2100" dirty="0">
                <a:latin typeface="Arial" panose="020B0604020202020204" pitchFamily="34" charset="0"/>
                <a:cs typeface="Arial" panose="020B0604020202020204" pitchFamily="34" charset="0"/>
              </a:rPr>
              <a:t>(</a:t>
            </a:r>
            <a:r>
              <a:rPr lang="es-AR" sz="2100" dirty="0" err="1">
                <a:latin typeface="Arial" panose="020B0604020202020204" pitchFamily="34" charset="0"/>
                <a:cs typeface="Arial" panose="020B0604020202020204" pitchFamily="34" charset="0"/>
              </a:rPr>
              <a:t>q</a:t>
            </a:r>
            <a:r>
              <a:rPr lang="es-AR" sz="2100" baseline="-25000" dirty="0" err="1">
                <a:latin typeface="Arial" panose="020B0604020202020204" pitchFamily="34" charset="0"/>
                <a:cs typeface="Arial" panose="020B0604020202020204" pitchFamily="34" charset="0"/>
              </a:rPr>
              <a:t>A</a:t>
            </a:r>
            <a:r>
              <a:rPr lang="es-AR" sz="2100" dirty="0">
                <a:latin typeface="Arial" panose="020B0604020202020204" pitchFamily="34" charset="0"/>
                <a:cs typeface="Arial" panose="020B0604020202020204" pitchFamily="34" charset="0"/>
              </a:rPr>
              <a:t>, B, S)</a:t>
            </a:r>
          </a:p>
          <a:p>
            <a:pPr marL="0" indent="0">
              <a:buNone/>
            </a:pPr>
            <a:endParaRPr lang="es-AR" sz="2400" dirty="0">
              <a:latin typeface="Arial" panose="020B0604020202020204" pitchFamily="34" charset="0"/>
              <a:cs typeface="Arial" panose="020B0604020202020204" pitchFamily="34" charset="0"/>
            </a:endParaRPr>
          </a:p>
          <a:p>
            <a:pPr marL="0" indent="0">
              <a:buNone/>
            </a:pPr>
            <a:endParaRPr lang="es-MX" sz="2400" dirty="0">
              <a:latin typeface="Arial" panose="020B0604020202020204" pitchFamily="34" charset="0"/>
              <a:cs typeface="Arial" panose="020B0604020202020204" pitchFamily="34" charset="0"/>
            </a:endParaRPr>
          </a:p>
          <a:p>
            <a:pPr marL="0" indent="0" algn="r">
              <a:buNone/>
            </a:pPr>
            <a:r>
              <a:rPr lang="es-AR" sz="2400" dirty="0">
                <a:latin typeface="Arial" panose="020B0604020202020204" pitchFamily="34" charset="0"/>
                <a:cs typeface="Arial" panose="020B0604020202020204" pitchFamily="34" charset="0"/>
              </a:rPr>
              <a:t>	</a:t>
            </a:r>
            <a:endParaRPr lang="es-MX" dirty="0"/>
          </a:p>
        </p:txBody>
      </p:sp>
      <p:sp>
        <p:nvSpPr>
          <p:cNvPr id="5" name="Rectángulo 4">
            <a:extLst>
              <a:ext uri="{FF2B5EF4-FFF2-40B4-BE49-F238E27FC236}">
                <a16:creationId xmlns:a16="http://schemas.microsoft.com/office/drawing/2014/main" id="{FD87B8A9-150C-4677-9E28-8559D4B536CE}"/>
              </a:ext>
            </a:extLst>
          </p:cNvPr>
          <p:cNvSpPr/>
          <p:nvPr/>
        </p:nvSpPr>
        <p:spPr>
          <a:xfrm>
            <a:off x="7446853" y="780032"/>
            <a:ext cx="2634054" cy="369332"/>
          </a:xfrm>
          <a:prstGeom prst="rect">
            <a:avLst/>
          </a:prstGeom>
        </p:spPr>
        <p:txBody>
          <a:bodyPr wrap="none">
            <a:spAutoFit/>
          </a:bodyPr>
          <a:lstStyle/>
          <a:p>
            <a:pPr algn="ctr"/>
            <a:r>
              <a:rPr lang="es-AR" dirty="0">
                <a:latin typeface="Arial" panose="020B0604020202020204" pitchFamily="34" charset="0"/>
                <a:cs typeface="Arial" panose="020B0604020202020204" pitchFamily="34" charset="0"/>
              </a:rPr>
              <a:t>Función de transición </a:t>
            </a:r>
            <a:r>
              <a:rPr lang="es-AR" sz="1800" dirty="0">
                <a:latin typeface="Arial" panose="020B0604020202020204" pitchFamily="34" charset="0"/>
                <a:cs typeface="Arial" panose="020B0604020202020204" pitchFamily="34" charset="0"/>
              </a:rPr>
              <a:t>δ</a:t>
            </a:r>
            <a:r>
              <a:rPr lang="es-AR"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864EFD85-E882-41BF-B3C6-F53A558D1A10}"/>
              </a:ext>
            </a:extLst>
          </p:cNvPr>
          <p:cNvSpPr/>
          <p:nvPr/>
        </p:nvSpPr>
        <p:spPr>
          <a:xfrm>
            <a:off x="5814836" y="5709237"/>
            <a:ext cx="6377164" cy="923330"/>
          </a:xfrm>
          <a:prstGeom prst="rect">
            <a:avLst/>
          </a:prstGeom>
        </p:spPr>
        <p:txBody>
          <a:bodyPr wrap="square">
            <a:spAutoFit/>
          </a:bodyPr>
          <a:lstStyle/>
          <a:p>
            <a:r>
              <a:rPr lang="es-AR" dirty="0">
                <a:latin typeface="Arial" panose="020B0604020202020204" pitchFamily="34" charset="0"/>
                <a:cs typeface="Arial" panose="020B0604020202020204" pitchFamily="34" charset="0"/>
              </a:rPr>
              <a:t>Todos los pares omitidos corresponden a rechazos, no se especifican para abreviar la descripción. Por ejemplo:</a:t>
            </a:r>
          </a:p>
          <a:p>
            <a:r>
              <a:rPr lang="es-AR" dirty="0">
                <a:latin typeface="Arial" panose="020B0604020202020204" pitchFamily="34" charset="0"/>
                <a:cs typeface="Arial" panose="020B0604020202020204" pitchFamily="34" charset="0"/>
              </a:rPr>
              <a:t>δ(q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B), δ(q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b), δ(</a:t>
            </a:r>
            <a:r>
              <a:rPr lang="es-AR" dirty="0" err="1">
                <a:latin typeface="Arial" panose="020B0604020202020204" pitchFamily="34" charset="0"/>
                <a:cs typeface="Arial" panose="020B0604020202020204" pitchFamily="34" charset="0"/>
              </a:rPr>
              <a:t>q</a:t>
            </a:r>
            <a:r>
              <a:rPr lang="es-AR" baseline="-25000" dirty="0" err="1">
                <a:latin typeface="Arial" panose="020B0604020202020204" pitchFamily="34" charset="0"/>
                <a:cs typeface="Arial" panose="020B0604020202020204" pitchFamily="34" charset="0"/>
              </a:rPr>
              <a:t>b</a:t>
            </a:r>
            <a:r>
              <a:rPr lang="es-AR" dirty="0">
                <a:latin typeface="Arial" panose="020B0604020202020204" pitchFamily="34" charset="0"/>
                <a:cs typeface="Arial" panose="020B0604020202020204" pitchFamily="34" charset="0"/>
              </a:rPr>
              <a:t>, B), δ(</a:t>
            </a:r>
            <a:r>
              <a:rPr lang="es-AR" dirty="0" err="1">
                <a:latin typeface="Arial" panose="020B0604020202020204" pitchFamily="34" charset="0"/>
                <a:cs typeface="Arial" panose="020B0604020202020204" pitchFamily="34" charset="0"/>
              </a:rPr>
              <a:t>q</a:t>
            </a:r>
            <a:r>
              <a:rPr lang="es-AR" baseline="-25000" dirty="0" err="1">
                <a:latin typeface="Arial" panose="020B0604020202020204" pitchFamily="34" charset="0"/>
                <a:cs typeface="Arial" panose="020B0604020202020204" pitchFamily="34" charset="0"/>
              </a:rPr>
              <a:t>H</a:t>
            </a:r>
            <a:r>
              <a:rPr lang="es-AR" dirty="0">
                <a:latin typeface="Arial" panose="020B0604020202020204" pitchFamily="34" charset="0"/>
                <a:cs typeface="Arial" panose="020B0604020202020204" pitchFamily="34" charset="0"/>
              </a:rPr>
              <a:t>, b), etc. </a:t>
            </a:r>
            <a:endParaRPr lang="es-AR" sz="2400" dirty="0">
              <a:latin typeface="Arial" panose="020B0604020202020204" pitchFamily="34" charset="0"/>
              <a:cs typeface="Arial" panose="020B0604020202020204" pitchFamily="34" charset="0"/>
            </a:endParaRPr>
          </a:p>
        </p:txBody>
      </p:sp>
      <p:sp>
        <p:nvSpPr>
          <p:cNvPr id="6" name="Slide Number Placeholder 2">
            <a:extLst>
              <a:ext uri="{FF2B5EF4-FFF2-40B4-BE49-F238E27FC236}">
                <a16:creationId xmlns:a16="http://schemas.microsoft.com/office/drawing/2014/main" id="{FF2A9EDF-1125-4399-A096-1A65FEB79E2D}"/>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8" name="Marcador de contenido 2">
            <a:extLst>
              <a:ext uri="{FF2B5EF4-FFF2-40B4-BE49-F238E27FC236}">
                <a16:creationId xmlns:a16="http://schemas.microsoft.com/office/drawing/2014/main" id="{C88A6BEC-8EED-4AD1-B97B-9CCC6A047CE7}"/>
              </a:ext>
            </a:extLst>
          </p:cNvPr>
          <p:cNvSpPr txBox="1">
            <a:spLocks/>
          </p:cNvSpPr>
          <p:nvPr/>
        </p:nvSpPr>
        <p:spPr>
          <a:xfrm>
            <a:off x="504497" y="299545"/>
            <a:ext cx="5168515" cy="6362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AR" sz="2400" b="1" dirty="0">
                <a:latin typeface="Arial" panose="020B0604020202020204" pitchFamily="34" charset="0"/>
                <a:cs typeface="Arial" panose="020B0604020202020204" pitchFamily="34" charset="0"/>
              </a:rPr>
              <a:t>Ejemplo (L = {</a:t>
            </a:r>
            <a:r>
              <a:rPr lang="es-AR" sz="2400" b="1" dirty="0" err="1">
                <a:latin typeface="Arial" panose="020B0604020202020204" pitchFamily="34" charset="0"/>
                <a:cs typeface="Arial" panose="020B0604020202020204" pitchFamily="34" charset="0"/>
              </a:rPr>
              <a:t>a</a:t>
            </a:r>
            <a:r>
              <a:rPr lang="es-AR" sz="2400" b="1" baseline="30000" dirty="0" err="1">
                <a:latin typeface="Arial" panose="020B0604020202020204" pitchFamily="34" charset="0"/>
                <a:cs typeface="Arial" panose="020B0604020202020204" pitchFamily="34" charset="0"/>
              </a:rPr>
              <a:t>n</a:t>
            </a:r>
            <a:r>
              <a:rPr lang="es-AR" sz="2400" b="1" dirty="0" err="1">
                <a:latin typeface="Arial" panose="020B0604020202020204" pitchFamily="34" charset="0"/>
                <a:cs typeface="Arial" panose="020B0604020202020204" pitchFamily="34" charset="0"/>
              </a:rPr>
              <a:t>b</a:t>
            </a:r>
            <a:r>
              <a:rPr lang="es-AR" sz="2400" b="1" baseline="30000" dirty="0" err="1">
                <a:latin typeface="Arial" panose="020B0604020202020204" pitchFamily="34" charset="0"/>
                <a:cs typeface="Arial" panose="020B0604020202020204" pitchFamily="34" charset="0"/>
              </a:rPr>
              <a:t>n</a:t>
            </a:r>
            <a:r>
              <a:rPr lang="es-AR" sz="2400" b="1" dirty="0">
                <a:latin typeface="Arial" panose="020B0604020202020204" pitchFamily="34" charset="0"/>
                <a:cs typeface="Arial" panose="020B0604020202020204" pitchFamily="34" charset="0"/>
              </a:rPr>
              <a:t> | n </a:t>
            </a:r>
            <a:r>
              <a:rPr lang="es-ES" sz="2400" b="1" dirty="0">
                <a:latin typeface="Arial" panose="020B0604020202020204" pitchFamily="34" charset="0"/>
                <a:cs typeface="Arial" panose="020B0604020202020204" pitchFamily="34" charset="0"/>
              </a:rPr>
              <a:t>≥</a:t>
            </a:r>
            <a:r>
              <a:rPr lang="es-AR" sz="2400" b="1" dirty="0">
                <a:latin typeface="Arial" panose="020B0604020202020204" pitchFamily="34" charset="0"/>
                <a:cs typeface="Arial" panose="020B0604020202020204" pitchFamily="34" charset="0"/>
              </a:rPr>
              <a:t> 1}) </a:t>
            </a:r>
          </a:p>
          <a:p>
            <a:pPr marL="0" indent="0">
              <a:buFont typeface="Arial" panose="020B0604020202020204" pitchFamily="34" charset="0"/>
              <a:buNone/>
            </a:pPr>
            <a:endParaRPr lang="es-MX" sz="18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s-AR" sz="1800" dirty="0">
                <a:latin typeface="Arial" panose="020B0604020202020204" pitchFamily="34" charset="0"/>
                <a:cs typeface="Arial" panose="020B0604020202020204" pitchFamily="34" charset="0"/>
              </a:rPr>
              <a:t>Definición de la MT M = (Q, </a:t>
            </a:r>
            <a:r>
              <a:rPr lang="es-AR" sz="1800" dirty="0">
                <a:effectLst/>
                <a:latin typeface="Arial" panose="020B0604020202020204" pitchFamily="34" charset="0"/>
                <a:ea typeface="Calibri" panose="020F0502020204030204" pitchFamily="34" charset="0"/>
              </a:rPr>
              <a:t>Γ</a:t>
            </a:r>
            <a:r>
              <a:rPr lang="es-AR" sz="1800" dirty="0">
                <a:latin typeface="Arial" panose="020B0604020202020204" pitchFamily="34" charset="0"/>
                <a:cs typeface="Arial" panose="020B0604020202020204" pitchFamily="34" charset="0"/>
              </a:rPr>
              <a:t>, δ, q</a:t>
            </a:r>
            <a:r>
              <a:rPr lang="es-AR" sz="1800" baseline="-25000" dirty="0">
                <a:latin typeface="Arial" panose="020B0604020202020204" pitchFamily="34" charset="0"/>
                <a:cs typeface="Arial" panose="020B0604020202020204" pitchFamily="34" charset="0"/>
              </a:rPr>
              <a:t>0</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A</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R</a:t>
            </a:r>
            <a:r>
              <a:rPr lang="es-AR" sz="1800" dirty="0">
                <a:latin typeface="Arial" panose="020B0604020202020204" pitchFamily="34" charset="0"/>
                <a:cs typeface="Arial" panose="020B0604020202020204" pitchFamily="34" charset="0"/>
              </a:rPr>
              <a:t>):</a:t>
            </a:r>
          </a:p>
          <a:p>
            <a:pPr marL="0" indent="0">
              <a:buFont typeface="Arial" panose="020B0604020202020204" pitchFamily="34" charset="0"/>
              <a:buNone/>
            </a:pPr>
            <a:endParaRPr lang="es-MX" sz="600" dirty="0">
              <a:latin typeface="Arial" panose="020B0604020202020204" pitchFamily="34" charset="0"/>
              <a:cs typeface="Arial" panose="020B0604020202020204" pitchFamily="34" charset="0"/>
            </a:endParaRPr>
          </a:p>
          <a:p>
            <a:pPr marL="0" indent="0">
              <a:buNone/>
            </a:pPr>
            <a:r>
              <a:rPr lang="es-AR" sz="1800" dirty="0">
                <a:latin typeface="Arial" panose="020B0604020202020204" pitchFamily="34" charset="0"/>
                <a:cs typeface="Arial" panose="020B0604020202020204" pitchFamily="34" charset="0"/>
              </a:rPr>
              <a:t>Estados Q = {q</a:t>
            </a:r>
            <a:r>
              <a:rPr lang="es-AR" sz="1800" baseline="-25000" dirty="0">
                <a:latin typeface="Arial" panose="020B0604020202020204" pitchFamily="34" charset="0"/>
                <a:cs typeface="Arial" panose="020B0604020202020204" pitchFamily="34" charset="0"/>
              </a:rPr>
              <a:t>0</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a</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b</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L</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H</a:t>
            </a:r>
            <a:r>
              <a:rPr lang="es-AR" sz="1800" dirty="0">
                <a:latin typeface="Arial" panose="020B0604020202020204" pitchFamily="34" charset="0"/>
                <a:cs typeface="Arial" panose="020B0604020202020204" pitchFamily="34" charset="0"/>
              </a:rPr>
              <a:t>}</a:t>
            </a:r>
          </a:p>
          <a:p>
            <a:pPr marL="0" indent="0">
              <a:buFont typeface="Arial" panose="020B0604020202020204" pitchFamily="34" charset="0"/>
              <a:buNone/>
            </a:pPr>
            <a:r>
              <a:rPr lang="es-AR" sz="1800" dirty="0">
                <a:latin typeface="Arial" panose="020B0604020202020204" pitchFamily="34" charset="0"/>
                <a:cs typeface="Arial" panose="020B0604020202020204" pitchFamily="34" charset="0"/>
              </a:rPr>
              <a:t>q</a:t>
            </a:r>
            <a:r>
              <a:rPr lang="es-AR" sz="1800" baseline="-25000" dirty="0">
                <a:latin typeface="Arial" panose="020B0604020202020204" pitchFamily="34" charset="0"/>
                <a:cs typeface="Arial" panose="020B0604020202020204" pitchFamily="34" charset="0"/>
              </a:rPr>
              <a:t>0</a:t>
            </a:r>
            <a:r>
              <a:rPr lang="es-AR" sz="1800" dirty="0">
                <a:latin typeface="Arial" panose="020B0604020202020204" pitchFamily="34" charset="0"/>
                <a:cs typeface="Arial" panose="020B0604020202020204" pitchFamily="34" charset="0"/>
              </a:rPr>
              <a:t> : estado inicial     </a:t>
            </a:r>
          </a:p>
          <a:p>
            <a:pPr marL="0" indent="0">
              <a:buFont typeface="Arial" panose="020B0604020202020204" pitchFamily="34" charset="0"/>
              <a:buNone/>
            </a:pP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a</a:t>
            </a:r>
            <a:r>
              <a:rPr lang="es-AR" sz="1800" dirty="0">
                <a:latin typeface="Arial" panose="020B0604020202020204" pitchFamily="34" charset="0"/>
                <a:cs typeface="Arial" panose="020B0604020202020204" pitchFamily="34" charset="0"/>
              </a:rPr>
              <a:t> : M busca una </a:t>
            </a:r>
            <a:r>
              <a:rPr lang="es-AR" sz="1800" i="1" dirty="0">
                <a:latin typeface="Arial" panose="020B0604020202020204" pitchFamily="34" charset="0"/>
                <a:cs typeface="Arial" panose="020B0604020202020204" pitchFamily="34" charset="0"/>
              </a:rPr>
              <a:t>a </a:t>
            </a:r>
            <a:r>
              <a:rPr lang="es-AR" sz="1800" dirty="0">
                <a:latin typeface="Arial" panose="020B0604020202020204" pitchFamily="34" charset="0"/>
                <a:cs typeface="Arial" panose="020B0604020202020204" pitchFamily="34" charset="0"/>
              </a:rPr>
              <a:t>    </a:t>
            </a:r>
          </a:p>
          <a:p>
            <a:pPr marL="0" indent="0">
              <a:buFont typeface="Arial" panose="020B0604020202020204" pitchFamily="34" charset="0"/>
              <a:buNone/>
            </a:pP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b</a:t>
            </a:r>
            <a:r>
              <a:rPr lang="es-AR" sz="1800" baseline="-25000" dirty="0">
                <a:latin typeface="Arial" panose="020B0604020202020204" pitchFamily="34" charset="0"/>
                <a:cs typeface="Arial" panose="020B0604020202020204" pitchFamily="34" charset="0"/>
              </a:rPr>
              <a:t> </a:t>
            </a:r>
            <a:r>
              <a:rPr lang="es-AR" sz="1800" dirty="0">
                <a:latin typeface="Arial" panose="020B0604020202020204" pitchFamily="34" charset="0"/>
                <a:cs typeface="Arial" panose="020B0604020202020204" pitchFamily="34" charset="0"/>
              </a:rPr>
              <a:t>: M busca una b     </a:t>
            </a:r>
          </a:p>
          <a:p>
            <a:pPr marL="0" indent="0">
              <a:buFont typeface="Arial" panose="020B0604020202020204" pitchFamily="34" charset="0"/>
              <a:buNone/>
            </a:pP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L</a:t>
            </a:r>
            <a:r>
              <a:rPr lang="es-AR" sz="1800" baseline="-25000" dirty="0">
                <a:latin typeface="Arial" panose="020B0604020202020204" pitchFamily="34" charset="0"/>
                <a:cs typeface="Arial" panose="020B0604020202020204" pitchFamily="34" charset="0"/>
              </a:rPr>
              <a:t> </a:t>
            </a:r>
            <a:r>
              <a:rPr lang="es-AR" sz="1800" dirty="0">
                <a:latin typeface="Arial" panose="020B0604020202020204" pitchFamily="34" charset="0"/>
                <a:cs typeface="Arial" panose="020B0604020202020204" pitchFamily="34" charset="0"/>
              </a:rPr>
              <a:t>: M vuelve a buscar otra </a:t>
            </a:r>
            <a:r>
              <a:rPr lang="es-AR" sz="1800" i="1" dirty="0">
                <a:latin typeface="Arial" panose="020B0604020202020204" pitchFamily="34" charset="0"/>
                <a:cs typeface="Arial" panose="020B0604020202020204" pitchFamily="34" charset="0"/>
              </a:rPr>
              <a:t>a</a:t>
            </a:r>
            <a:r>
              <a:rPr lang="es-AR" sz="1800" dirty="0">
                <a:latin typeface="Arial" panose="020B0604020202020204" pitchFamily="34" charset="0"/>
                <a:cs typeface="Arial" panose="020B0604020202020204" pitchFamily="34" charset="0"/>
              </a:rPr>
              <a:t>     </a:t>
            </a:r>
          </a:p>
          <a:p>
            <a:pPr marL="0" indent="0">
              <a:buFont typeface="Arial" panose="020B0604020202020204" pitchFamily="34" charset="0"/>
              <a:buNone/>
            </a:pPr>
            <a:r>
              <a:rPr lang="es-AR" sz="1800" dirty="0" err="1">
                <a:latin typeface="Arial" panose="020B0604020202020204" pitchFamily="34" charset="0"/>
                <a:cs typeface="Arial" panose="020B0604020202020204" pitchFamily="34" charset="0"/>
              </a:rPr>
              <a:t>q</a:t>
            </a:r>
            <a:r>
              <a:rPr lang="es-AR" sz="1800" baseline="-25000" dirty="0" err="1">
                <a:latin typeface="Arial" panose="020B0604020202020204" pitchFamily="34" charset="0"/>
                <a:cs typeface="Arial" panose="020B0604020202020204" pitchFamily="34" charset="0"/>
              </a:rPr>
              <a:t>H</a:t>
            </a:r>
            <a:r>
              <a:rPr lang="es-AR" sz="1800" baseline="-25000" dirty="0">
                <a:latin typeface="Arial" panose="020B0604020202020204" pitchFamily="34" charset="0"/>
                <a:cs typeface="Arial" panose="020B0604020202020204" pitchFamily="34" charset="0"/>
              </a:rPr>
              <a:t> </a:t>
            </a:r>
            <a:r>
              <a:rPr lang="es-AR" sz="1800" dirty="0">
                <a:latin typeface="Arial" panose="020B0604020202020204" pitchFamily="34" charset="0"/>
                <a:cs typeface="Arial" panose="020B0604020202020204" pitchFamily="34" charset="0"/>
              </a:rPr>
              <a:t>: no hay más </a:t>
            </a:r>
            <a:r>
              <a:rPr lang="es-AR" sz="1800" i="1" dirty="0">
                <a:latin typeface="Arial" panose="020B0604020202020204" pitchFamily="34" charset="0"/>
                <a:cs typeface="Arial" panose="020B0604020202020204" pitchFamily="34" charset="0"/>
              </a:rPr>
              <a:t>a </a:t>
            </a:r>
            <a:r>
              <a:rPr lang="es-AR" sz="1800" dirty="0">
                <a:latin typeface="Arial" panose="020B0604020202020204" pitchFamily="34" charset="0"/>
                <a:cs typeface="Arial" panose="020B0604020202020204" pitchFamily="34" charset="0"/>
              </a:rPr>
              <a:t> </a:t>
            </a:r>
          </a:p>
          <a:p>
            <a:pPr marL="0" indent="0">
              <a:buFont typeface="Arial" panose="020B0604020202020204" pitchFamily="34" charset="0"/>
              <a:buNone/>
            </a:pPr>
            <a:endParaRPr lang="es-AR" sz="600" dirty="0">
              <a:latin typeface="Arial" panose="020B0604020202020204" pitchFamily="34" charset="0"/>
              <a:cs typeface="Arial" panose="020B0604020202020204" pitchFamily="34" charset="0"/>
            </a:endParaRPr>
          </a:p>
          <a:p>
            <a:pPr marL="0" indent="0">
              <a:buNone/>
            </a:pPr>
            <a:r>
              <a:rPr lang="es-AR" sz="1800" dirty="0">
                <a:latin typeface="Arial" panose="020B0604020202020204" pitchFamily="34" charset="0"/>
                <a:cs typeface="Arial" panose="020B0604020202020204" pitchFamily="34" charset="0"/>
              </a:rPr>
              <a:t>Alfabeto </a:t>
            </a:r>
            <a:r>
              <a:rPr lang="es-AR" sz="1800" dirty="0">
                <a:effectLst/>
                <a:latin typeface="Arial" panose="020B0604020202020204" pitchFamily="34" charset="0"/>
                <a:ea typeface="Calibri" panose="020F0502020204030204" pitchFamily="34" charset="0"/>
              </a:rPr>
              <a:t>Γ</a:t>
            </a:r>
            <a:r>
              <a:rPr lang="es-AR" sz="1800" dirty="0">
                <a:latin typeface="Arial" panose="020B0604020202020204" pitchFamily="34" charset="0"/>
                <a:cs typeface="Arial" panose="020B0604020202020204" pitchFamily="34" charset="0"/>
              </a:rPr>
              <a:t> = {a, b, α, β, B} (entradas con a y b)</a:t>
            </a:r>
            <a:endParaRPr lang="es-MX" sz="1800" dirty="0"/>
          </a:p>
        </p:txBody>
      </p:sp>
      <p:sp>
        <p:nvSpPr>
          <p:cNvPr id="9" name="CuadroTexto 8">
            <a:extLst>
              <a:ext uri="{FF2B5EF4-FFF2-40B4-BE49-F238E27FC236}">
                <a16:creationId xmlns:a16="http://schemas.microsoft.com/office/drawing/2014/main" id="{AE12B324-B827-430F-96D8-C84F4E9C4C52}"/>
              </a:ext>
            </a:extLst>
          </p:cNvPr>
          <p:cNvSpPr txBox="1"/>
          <p:nvPr/>
        </p:nvSpPr>
        <p:spPr>
          <a:xfrm>
            <a:off x="3244976" y="4792290"/>
            <a:ext cx="1586204" cy="369332"/>
          </a:xfrm>
          <a:prstGeom prst="rect">
            <a:avLst/>
          </a:prstGeom>
          <a:noFill/>
        </p:spPr>
        <p:txBody>
          <a:bodyPr wrap="square">
            <a:spAutoFit/>
          </a:bodyPr>
          <a:lstStyle/>
          <a:p>
            <a:r>
              <a:rPr lang="es-AR" sz="1800" dirty="0" err="1">
                <a:latin typeface="Arial" panose="020B0604020202020204" pitchFamily="34" charset="0"/>
                <a:cs typeface="Arial" panose="020B0604020202020204" pitchFamily="34" charset="0"/>
              </a:rPr>
              <a:t>aaabbb</a:t>
            </a:r>
            <a:endParaRPr lang="es-AR" dirty="0"/>
          </a:p>
        </p:txBody>
      </p:sp>
      <p:sp>
        <p:nvSpPr>
          <p:cNvPr id="10" name="CuadroTexto 9">
            <a:extLst>
              <a:ext uri="{FF2B5EF4-FFF2-40B4-BE49-F238E27FC236}">
                <a16:creationId xmlns:a16="http://schemas.microsoft.com/office/drawing/2014/main" id="{D3073FA5-885D-4C57-8A2C-2EF4A22151BF}"/>
              </a:ext>
            </a:extLst>
          </p:cNvPr>
          <p:cNvSpPr txBox="1"/>
          <p:nvPr/>
        </p:nvSpPr>
        <p:spPr>
          <a:xfrm>
            <a:off x="3244976" y="5049980"/>
            <a:ext cx="1586204"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a:t>
            </a:r>
            <a:r>
              <a:rPr lang="es-AR" sz="1800" dirty="0" err="1">
                <a:latin typeface="Arial" panose="020B0604020202020204" pitchFamily="34" charset="0"/>
                <a:cs typeface="Arial" panose="020B0604020202020204" pitchFamily="34" charset="0"/>
              </a:rPr>
              <a:t>aabbb</a:t>
            </a:r>
            <a:endParaRPr lang="es-AR" dirty="0"/>
          </a:p>
        </p:txBody>
      </p:sp>
      <p:sp>
        <p:nvSpPr>
          <p:cNvPr id="11" name="CuadroTexto 10">
            <a:extLst>
              <a:ext uri="{FF2B5EF4-FFF2-40B4-BE49-F238E27FC236}">
                <a16:creationId xmlns:a16="http://schemas.microsoft.com/office/drawing/2014/main" id="{9F09A006-4272-413B-8626-6CD262DF21E0}"/>
              </a:ext>
            </a:extLst>
          </p:cNvPr>
          <p:cNvSpPr txBox="1"/>
          <p:nvPr/>
        </p:nvSpPr>
        <p:spPr>
          <a:xfrm>
            <a:off x="3244976" y="5320284"/>
            <a:ext cx="1586204"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a:t>
            </a:r>
            <a:r>
              <a:rPr lang="es-AR" sz="1800" dirty="0" err="1">
                <a:latin typeface="Arial" panose="020B0604020202020204" pitchFamily="34" charset="0"/>
                <a:cs typeface="Arial" panose="020B0604020202020204" pitchFamily="34" charset="0"/>
              </a:rPr>
              <a:t>aa</a:t>
            </a:r>
            <a:r>
              <a:rPr lang="es-AR" sz="1800" dirty="0">
                <a:solidFill>
                  <a:srgbClr val="0070C0"/>
                </a:solidFill>
                <a:latin typeface="Arial" panose="020B0604020202020204" pitchFamily="34" charset="0"/>
                <a:cs typeface="Arial" panose="020B0604020202020204" pitchFamily="34" charset="0"/>
              </a:rPr>
              <a:t>β</a:t>
            </a:r>
            <a:r>
              <a:rPr lang="es-AR" sz="1800" dirty="0">
                <a:latin typeface="Arial" panose="020B0604020202020204" pitchFamily="34" charset="0"/>
                <a:cs typeface="Arial" panose="020B0604020202020204" pitchFamily="34" charset="0"/>
              </a:rPr>
              <a:t>bb</a:t>
            </a:r>
            <a:endParaRPr lang="es-AR" dirty="0"/>
          </a:p>
        </p:txBody>
      </p:sp>
      <p:sp>
        <p:nvSpPr>
          <p:cNvPr id="12" name="CuadroTexto 11">
            <a:extLst>
              <a:ext uri="{FF2B5EF4-FFF2-40B4-BE49-F238E27FC236}">
                <a16:creationId xmlns:a16="http://schemas.microsoft.com/office/drawing/2014/main" id="{194BB1E5-04A4-4FC4-A90E-5E0EF3B6EF73}"/>
              </a:ext>
            </a:extLst>
          </p:cNvPr>
          <p:cNvSpPr txBox="1"/>
          <p:nvPr/>
        </p:nvSpPr>
        <p:spPr>
          <a:xfrm>
            <a:off x="3244976" y="5566327"/>
            <a:ext cx="1586204"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αα</a:t>
            </a:r>
            <a:r>
              <a:rPr lang="es-AR" sz="1800" dirty="0">
                <a:latin typeface="Arial" panose="020B0604020202020204" pitchFamily="34" charset="0"/>
                <a:cs typeface="Arial" panose="020B0604020202020204" pitchFamily="34" charset="0"/>
              </a:rPr>
              <a:t>a</a:t>
            </a:r>
            <a:r>
              <a:rPr lang="es-AR" sz="1800" dirty="0">
                <a:solidFill>
                  <a:srgbClr val="0070C0"/>
                </a:solidFill>
                <a:latin typeface="Arial" panose="020B0604020202020204" pitchFamily="34" charset="0"/>
                <a:cs typeface="Arial" panose="020B0604020202020204" pitchFamily="34" charset="0"/>
              </a:rPr>
              <a:t>β</a:t>
            </a:r>
            <a:r>
              <a:rPr lang="es-AR" sz="1800" dirty="0" err="1">
                <a:latin typeface="Arial" panose="020B0604020202020204" pitchFamily="34" charset="0"/>
                <a:cs typeface="Arial" panose="020B0604020202020204" pitchFamily="34" charset="0"/>
              </a:rPr>
              <a:t>bb</a:t>
            </a:r>
            <a:endParaRPr lang="es-AR" dirty="0"/>
          </a:p>
        </p:txBody>
      </p:sp>
      <p:sp>
        <p:nvSpPr>
          <p:cNvPr id="14" name="CuadroTexto 13">
            <a:extLst>
              <a:ext uri="{FF2B5EF4-FFF2-40B4-BE49-F238E27FC236}">
                <a16:creationId xmlns:a16="http://schemas.microsoft.com/office/drawing/2014/main" id="{4E5C2762-2368-4B99-9655-64682715F645}"/>
              </a:ext>
            </a:extLst>
          </p:cNvPr>
          <p:cNvSpPr txBox="1"/>
          <p:nvPr/>
        </p:nvSpPr>
        <p:spPr>
          <a:xfrm>
            <a:off x="3247522" y="5826517"/>
            <a:ext cx="1016716"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αα</a:t>
            </a:r>
            <a:r>
              <a:rPr lang="es-AR" sz="1800" dirty="0">
                <a:latin typeface="Arial" panose="020B0604020202020204" pitchFamily="34" charset="0"/>
                <a:cs typeface="Arial" panose="020B0604020202020204" pitchFamily="34" charset="0"/>
              </a:rPr>
              <a:t>a</a:t>
            </a:r>
            <a:r>
              <a:rPr lang="es-AR" sz="1800" dirty="0">
                <a:solidFill>
                  <a:srgbClr val="0070C0"/>
                </a:solidFill>
                <a:latin typeface="Arial" panose="020B0604020202020204" pitchFamily="34" charset="0"/>
                <a:cs typeface="Arial" panose="020B0604020202020204" pitchFamily="34" charset="0"/>
              </a:rPr>
              <a:t>ββ</a:t>
            </a:r>
            <a:r>
              <a:rPr lang="es-AR" sz="1800" dirty="0">
                <a:latin typeface="Arial" panose="020B0604020202020204" pitchFamily="34" charset="0"/>
                <a:cs typeface="Arial" panose="020B0604020202020204" pitchFamily="34" charset="0"/>
              </a:rPr>
              <a:t>b</a:t>
            </a:r>
            <a:endParaRPr lang="es-AR" dirty="0"/>
          </a:p>
        </p:txBody>
      </p:sp>
      <p:sp>
        <p:nvSpPr>
          <p:cNvPr id="15" name="CuadroTexto 14">
            <a:extLst>
              <a:ext uri="{FF2B5EF4-FFF2-40B4-BE49-F238E27FC236}">
                <a16:creationId xmlns:a16="http://schemas.microsoft.com/office/drawing/2014/main" id="{242042D2-0C9F-4243-A890-7BF8377F9FD8}"/>
              </a:ext>
            </a:extLst>
          </p:cNvPr>
          <p:cNvSpPr txBox="1"/>
          <p:nvPr/>
        </p:nvSpPr>
        <p:spPr>
          <a:xfrm>
            <a:off x="3247522" y="6082674"/>
            <a:ext cx="1016716"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αααββ</a:t>
            </a:r>
            <a:r>
              <a:rPr lang="es-AR" sz="1800" dirty="0">
                <a:latin typeface="Arial" panose="020B0604020202020204" pitchFamily="34" charset="0"/>
                <a:cs typeface="Arial" panose="020B0604020202020204" pitchFamily="34" charset="0"/>
              </a:rPr>
              <a:t>b</a:t>
            </a:r>
            <a:endParaRPr lang="es-AR" dirty="0"/>
          </a:p>
        </p:txBody>
      </p:sp>
      <p:sp>
        <p:nvSpPr>
          <p:cNvPr id="18" name="CuadroTexto 17">
            <a:extLst>
              <a:ext uri="{FF2B5EF4-FFF2-40B4-BE49-F238E27FC236}">
                <a16:creationId xmlns:a16="http://schemas.microsoft.com/office/drawing/2014/main" id="{31580183-A1FA-4E77-B652-3B2792DE039F}"/>
              </a:ext>
            </a:extLst>
          </p:cNvPr>
          <p:cNvSpPr txBox="1"/>
          <p:nvPr/>
        </p:nvSpPr>
        <p:spPr>
          <a:xfrm>
            <a:off x="3247522" y="6325990"/>
            <a:ext cx="1016716" cy="369332"/>
          </a:xfrm>
          <a:prstGeom prst="rect">
            <a:avLst/>
          </a:prstGeom>
          <a:noFill/>
        </p:spPr>
        <p:txBody>
          <a:bodyPr wrap="square">
            <a:spAutoFit/>
          </a:bodyPr>
          <a:lstStyle/>
          <a:p>
            <a:r>
              <a:rPr lang="es-AR" sz="1800" dirty="0">
                <a:solidFill>
                  <a:srgbClr val="0070C0"/>
                </a:solidFill>
                <a:latin typeface="Arial" panose="020B0604020202020204" pitchFamily="34" charset="0"/>
                <a:cs typeface="Arial" panose="020B0604020202020204" pitchFamily="34" charset="0"/>
              </a:rPr>
              <a:t>αααβββ</a:t>
            </a:r>
            <a:endParaRPr lang="es-AR" dirty="0"/>
          </a:p>
        </p:txBody>
      </p:sp>
      <p:sp>
        <p:nvSpPr>
          <p:cNvPr id="19" name="Rectángulo 18">
            <a:extLst>
              <a:ext uri="{FF2B5EF4-FFF2-40B4-BE49-F238E27FC236}">
                <a16:creationId xmlns:a16="http://schemas.microsoft.com/office/drawing/2014/main" id="{6F8110DC-D29F-4977-BD6A-D780BB35F81A}"/>
              </a:ext>
            </a:extLst>
          </p:cNvPr>
          <p:cNvSpPr/>
          <p:nvPr/>
        </p:nvSpPr>
        <p:spPr>
          <a:xfrm>
            <a:off x="1273063" y="5289328"/>
            <a:ext cx="1971913" cy="1200329"/>
          </a:xfrm>
          <a:prstGeom prst="rect">
            <a:avLst/>
          </a:prstGeom>
        </p:spPr>
        <p:txBody>
          <a:bodyPr wrap="square">
            <a:spAutoFit/>
          </a:bodyPr>
          <a:lstStyle/>
          <a:p>
            <a:r>
              <a:rPr lang="es-AR" dirty="0">
                <a:latin typeface="Arial" panose="020B0604020202020204" pitchFamily="34" charset="0"/>
                <a:cs typeface="Arial" panose="020B0604020202020204" pitchFamily="34" charset="0"/>
              </a:rPr>
              <a:t>Ayuda memoria </a:t>
            </a:r>
          </a:p>
          <a:p>
            <a:r>
              <a:rPr lang="es-AR" dirty="0">
                <a:latin typeface="Arial" panose="020B0604020202020204" pitchFamily="34" charset="0"/>
                <a:cs typeface="Arial" panose="020B0604020202020204" pitchFamily="34" charset="0"/>
              </a:rPr>
              <a:t>del algoritmo con</a:t>
            </a:r>
          </a:p>
          <a:p>
            <a:r>
              <a:rPr lang="es-AR" dirty="0">
                <a:latin typeface="Arial" panose="020B0604020202020204" pitchFamily="34" charset="0"/>
                <a:cs typeface="Arial" panose="020B0604020202020204" pitchFamily="34" charset="0"/>
              </a:rPr>
              <a:t>la entrada </a:t>
            </a:r>
            <a:r>
              <a:rPr lang="es-AR" dirty="0" err="1">
                <a:latin typeface="Arial" panose="020B0604020202020204" pitchFamily="34" charset="0"/>
                <a:cs typeface="Arial" panose="020B0604020202020204" pitchFamily="34" charset="0"/>
              </a:rPr>
              <a:t>aaabbb</a:t>
            </a:r>
            <a:r>
              <a:rPr lang="es-AR"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07189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709DC6A-370B-4C61-BD83-D8C5489E5B28}"/>
              </a:ext>
            </a:extLst>
          </p:cNvPr>
          <p:cNvSpPr>
            <a:spLocks noGrp="1"/>
          </p:cNvSpPr>
          <p:nvPr>
            <p:ph idx="1"/>
          </p:nvPr>
        </p:nvSpPr>
        <p:spPr>
          <a:xfrm>
            <a:off x="504497" y="299545"/>
            <a:ext cx="11225048" cy="5877418"/>
          </a:xfrm>
        </p:spPr>
        <p:txBody>
          <a:bodyPr>
            <a:normAutofit/>
          </a:bodyPr>
          <a:lstStyle/>
          <a:p>
            <a:pPr marL="0" indent="0">
              <a:buNone/>
            </a:pPr>
            <a:endParaRPr lang="es-MX" sz="2400" dirty="0">
              <a:latin typeface="Arial" panose="020B0604020202020204" pitchFamily="34" charset="0"/>
              <a:cs typeface="Arial" panose="020B0604020202020204" pitchFamily="34" charset="0"/>
            </a:endParaRPr>
          </a:p>
          <a:p>
            <a:pPr marL="0" indent="0">
              <a:buNone/>
            </a:pPr>
            <a:endParaRPr lang="es-AR" sz="2400" dirty="0">
              <a:latin typeface="Arial" panose="020B0604020202020204" pitchFamily="34" charset="0"/>
              <a:cs typeface="Arial" panose="020B0604020202020204" pitchFamily="34" charset="0"/>
            </a:endParaRPr>
          </a:p>
          <a:p>
            <a:pPr marL="914400" lvl="2" indent="0">
              <a:buNone/>
            </a:pPr>
            <a:endParaRPr lang="es-AR" sz="2400" dirty="0">
              <a:latin typeface="Arial" panose="020B0604020202020204" pitchFamily="34" charset="0"/>
              <a:cs typeface="Arial" panose="020B0604020202020204" pitchFamily="34" charset="0"/>
            </a:endParaRPr>
          </a:p>
          <a:p>
            <a:pPr marL="914400" lvl="2" indent="0">
              <a:buNone/>
            </a:pPr>
            <a:endParaRPr lang="es-AR" sz="2400" dirty="0">
              <a:latin typeface="Arial" panose="020B0604020202020204" pitchFamily="34" charset="0"/>
              <a:cs typeface="Arial" panose="020B0604020202020204" pitchFamily="34" charset="0"/>
            </a:endParaRPr>
          </a:p>
          <a:p>
            <a:endParaRPr lang="es-MX" dirty="0"/>
          </a:p>
          <a:p>
            <a:endParaRPr lang="es-MX" sz="2400" dirty="0">
              <a:latin typeface="Arial" panose="020B0604020202020204" pitchFamily="34" charset="0"/>
              <a:cs typeface="Arial" panose="020B0604020202020204" pitchFamily="34" charset="0"/>
            </a:endParaRPr>
          </a:p>
          <a:p>
            <a:pPr marL="0" indent="0">
              <a:buNone/>
            </a:pPr>
            <a:endParaRPr lang="es-MX" dirty="0"/>
          </a:p>
        </p:txBody>
      </p:sp>
      <p:graphicFrame>
        <p:nvGraphicFramePr>
          <p:cNvPr id="2" name="Tabla 1">
            <a:extLst>
              <a:ext uri="{FF2B5EF4-FFF2-40B4-BE49-F238E27FC236}">
                <a16:creationId xmlns:a16="http://schemas.microsoft.com/office/drawing/2014/main" id="{7E3FAC82-3F40-4036-A014-D94E67394769}"/>
              </a:ext>
            </a:extLst>
          </p:cNvPr>
          <p:cNvGraphicFramePr>
            <a:graphicFrameLocks noGrp="1"/>
          </p:cNvGraphicFramePr>
          <p:nvPr/>
        </p:nvGraphicFramePr>
        <p:xfrm>
          <a:off x="1279015" y="993189"/>
          <a:ext cx="9676012" cy="4896825"/>
        </p:xfrm>
        <a:graphic>
          <a:graphicData uri="http://schemas.openxmlformats.org/drawingml/2006/table">
            <a:tbl>
              <a:tblPr firstRow="1" firstCol="1" lastRow="1" lastCol="1" bandRow="1" bandCol="1">
                <a:tableStyleId>{5C22544A-7EE6-4342-B048-85BDC9FD1C3A}</a:tableStyleId>
              </a:tblPr>
              <a:tblGrid>
                <a:gridCol w="929613">
                  <a:extLst>
                    <a:ext uri="{9D8B030D-6E8A-4147-A177-3AD203B41FA5}">
                      <a16:colId xmlns:a16="http://schemas.microsoft.com/office/drawing/2014/main" val="1089229846"/>
                    </a:ext>
                  </a:extLst>
                </a:gridCol>
                <a:gridCol w="1758461">
                  <a:extLst>
                    <a:ext uri="{9D8B030D-6E8A-4147-A177-3AD203B41FA5}">
                      <a16:colId xmlns:a16="http://schemas.microsoft.com/office/drawing/2014/main" val="132940636"/>
                    </a:ext>
                  </a:extLst>
                </a:gridCol>
                <a:gridCol w="1702191">
                  <a:extLst>
                    <a:ext uri="{9D8B030D-6E8A-4147-A177-3AD203B41FA5}">
                      <a16:colId xmlns:a16="http://schemas.microsoft.com/office/drawing/2014/main" val="1342472196"/>
                    </a:ext>
                  </a:extLst>
                </a:gridCol>
                <a:gridCol w="1730326">
                  <a:extLst>
                    <a:ext uri="{9D8B030D-6E8A-4147-A177-3AD203B41FA5}">
                      <a16:colId xmlns:a16="http://schemas.microsoft.com/office/drawing/2014/main" val="2921439190"/>
                    </a:ext>
                  </a:extLst>
                </a:gridCol>
                <a:gridCol w="1885071">
                  <a:extLst>
                    <a:ext uri="{9D8B030D-6E8A-4147-A177-3AD203B41FA5}">
                      <a16:colId xmlns:a16="http://schemas.microsoft.com/office/drawing/2014/main" val="575944550"/>
                    </a:ext>
                  </a:extLst>
                </a:gridCol>
                <a:gridCol w="1670350">
                  <a:extLst>
                    <a:ext uri="{9D8B030D-6E8A-4147-A177-3AD203B41FA5}">
                      <a16:colId xmlns:a16="http://schemas.microsoft.com/office/drawing/2014/main" val="1887259909"/>
                    </a:ext>
                  </a:extLst>
                </a:gridCol>
              </a:tblGrid>
              <a:tr h="531319">
                <a:tc>
                  <a:txBody>
                    <a:bodyPr/>
                    <a:lstStyle/>
                    <a:p>
                      <a:pPr algn="just">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baseline="0" dirty="0">
                          <a:solidFill>
                            <a:schemeClr val="tx1"/>
                          </a:solidFill>
                          <a:effectLst/>
                          <a:latin typeface="Arial" panose="020B0604020202020204" pitchFamily="34" charset="0"/>
                          <a:cs typeface="Arial" panose="020B0604020202020204" pitchFamily="34" charset="0"/>
                        </a:rPr>
                        <a:t>a</a:t>
                      </a:r>
                      <a:endParaRPr lang="es-MX" sz="1800"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baseline="0" dirty="0">
                          <a:solidFill>
                            <a:schemeClr val="tx1"/>
                          </a:solidFill>
                          <a:effectLst/>
                          <a:latin typeface="Arial" panose="020B0604020202020204" pitchFamily="34" charset="0"/>
                          <a:cs typeface="Arial" panose="020B0604020202020204" pitchFamily="34" charset="0"/>
                        </a:rPr>
                        <a:t>b</a:t>
                      </a:r>
                      <a:endParaRPr lang="es-MX" sz="1800"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baseline="0" dirty="0">
                          <a:solidFill>
                            <a:schemeClr val="tx1"/>
                          </a:solidFill>
                          <a:effectLst/>
                          <a:latin typeface="Arial" panose="020B0604020202020204" pitchFamily="34" charset="0"/>
                          <a:cs typeface="Arial" panose="020B0604020202020204" pitchFamily="34" charset="0"/>
                        </a:rPr>
                        <a:t>α </a:t>
                      </a:r>
                      <a:endParaRPr lang="es-MX" sz="1800"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ES" sz="1800" baseline="0" dirty="0">
                          <a:solidFill>
                            <a:schemeClr val="tx1"/>
                          </a:solidFill>
                          <a:effectLst/>
                          <a:latin typeface="Arial" panose="020B0604020202020204" pitchFamily="34" charset="0"/>
                          <a:cs typeface="Arial" panose="020B0604020202020204" pitchFamily="34" charset="0"/>
                        </a:rPr>
                        <a:t>β</a:t>
                      </a:r>
                      <a:endParaRPr lang="es-MX" sz="1800"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baseline="0" dirty="0">
                          <a:solidFill>
                            <a:schemeClr val="tx1"/>
                          </a:solidFill>
                          <a:effectLst/>
                          <a:latin typeface="Arial" panose="020B0604020202020204" pitchFamily="34" charset="0"/>
                          <a:cs typeface="Arial" panose="020B0604020202020204" pitchFamily="34" charset="0"/>
                        </a:rPr>
                        <a:t>B</a:t>
                      </a:r>
                      <a:endParaRPr lang="es-MX" sz="1800"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74607311"/>
                  </a:ext>
                </a:extLst>
              </a:tr>
              <a:tr h="784640">
                <a:tc>
                  <a:txBody>
                    <a:bodyPr/>
                    <a:lstStyle/>
                    <a:p>
                      <a:pPr algn="ctr">
                        <a:lnSpc>
                          <a:spcPct val="150000"/>
                        </a:lnSpc>
                        <a:spcAft>
                          <a:spcPts val="0"/>
                        </a:spcAft>
                      </a:pPr>
                      <a:r>
                        <a:rPr lang="es-AR" sz="1800" dirty="0">
                          <a:solidFill>
                            <a:schemeClr val="tx1"/>
                          </a:solidFill>
                          <a:effectLst/>
                          <a:latin typeface="Arial" panose="020B0604020202020204" pitchFamily="34" charset="0"/>
                          <a:cs typeface="Arial" panose="020B0604020202020204" pitchFamily="34" charset="0"/>
                        </a:rPr>
                        <a:t>q</a:t>
                      </a:r>
                      <a:r>
                        <a:rPr lang="es-AR" sz="1800" baseline="-25000" dirty="0">
                          <a:solidFill>
                            <a:schemeClr val="tx1"/>
                          </a:solidFill>
                          <a:effectLst/>
                          <a:latin typeface="Arial" panose="020B0604020202020204" pitchFamily="34" charset="0"/>
                          <a:cs typeface="Arial" panose="020B0604020202020204" pitchFamily="34" charset="0"/>
                        </a:rPr>
                        <a:t>0</a:t>
                      </a: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b</a:t>
                      </a:r>
                      <a:r>
                        <a:rPr lang="es-AR" sz="1800" dirty="0">
                          <a:effectLst/>
                          <a:latin typeface="Arial" panose="020B0604020202020204" pitchFamily="34" charset="0"/>
                          <a:cs typeface="Arial" panose="020B0604020202020204" pitchFamily="34" charset="0"/>
                        </a:rPr>
                        <a:t>, α,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7484332"/>
                  </a:ext>
                </a:extLst>
              </a:tr>
              <a:tr h="787791">
                <a:tc>
                  <a:txBody>
                    <a:bodyPr/>
                    <a:lstStyle/>
                    <a:p>
                      <a:pPr algn="ctr">
                        <a:lnSpc>
                          <a:spcPct val="150000"/>
                        </a:lnSpc>
                        <a:spcAft>
                          <a:spcPts val="0"/>
                        </a:spcAft>
                      </a:pPr>
                      <a:r>
                        <a:rPr lang="es-AR" sz="1800" dirty="0" err="1">
                          <a:solidFill>
                            <a:schemeClr val="tx1"/>
                          </a:solidFill>
                          <a:effectLst/>
                          <a:latin typeface="Arial" panose="020B0604020202020204" pitchFamily="34" charset="0"/>
                          <a:cs typeface="Arial" panose="020B0604020202020204" pitchFamily="34" charset="0"/>
                        </a:rPr>
                        <a:t>q</a:t>
                      </a:r>
                      <a:r>
                        <a:rPr lang="es-AR" sz="1800" baseline="-25000" dirty="0" err="1">
                          <a:solidFill>
                            <a:schemeClr val="tx1"/>
                          </a:solidFill>
                          <a:effectLst/>
                          <a:latin typeface="Arial" panose="020B0604020202020204" pitchFamily="34" charset="0"/>
                          <a:cs typeface="Arial" panose="020B0604020202020204" pitchFamily="34" charset="0"/>
                        </a:rPr>
                        <a:t>a</a:t>
                      </a: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b</a:t>
                      </a:r>
                      <a:r>
                        <a:rPr lang="es-AR" sz="1800" dirty="0">
                          <a:effectLst/>
                          <a:latin typeface="Arial" panose="020B0604020202020204" pitchFamily="34" charset="0"/>
                          <a:cs typeface="Arial" panose="020B0604020202020204" pitchFamily="34" charset="0"/>
                        </a:rPr>
                        <a:t>, α,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H</a:t>
                      </a:r>
                      <a:r>
                        <a:rPr lang="es-AR" sz="1800" dirty="0">
                          <a:effectLst/>
                          <a:latin typeface="Arial" panose="020B0604020202020204" pitchFamily="34" charset="0"/>
                          <a:cs typeface="Arial" panose="020B0604020202020204" pitchFamily="34" charset="0"/>
                        </a:rPr>
                        <a:t>, β,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4189266"/>
                  </a:ext>
                </a:extLst>
              </a:tr>
              <a:tr h="931025">
                <a:tc>
                  <a:txBody>
                    <a:bodyPr/>
                    <a:lstStyle/>
                    <a:p>
                      <a:pPr algn="ctr">
                        <a:lnSpc>
                          <a:spcPct val="150000"/>
                        </a:lnSpc>
                        <a:spcAft>
                          <a:spcPts val="0"/>
                        </a:spcAft>
                      </a:pPr>
                      <a:r>
                        <a:rPr lang="es-AR" sz="1800" dirty="0" err="1">
                          <a:solidFill>
                            <a:schemeClr val="tx1"/>
                          </a:solidFill>
                          <a:effectLst/>
                          <a:latin typeface="Arial" panose="020B0604020202020204" pitchFamily="34" charset="0"/>
                          <a:cs typeface="Arial" panose="020B0604020202020204" pitchFamily="34" charset="0"/>
                        </a:rPr>
                        <a:t>q</a:t>
                      </a:r>
                      <a:r>
                        <a:rPr lang="es-AR" sz="1800" baseline="-25000" dirty="0" err="1">
                          <a:solidFill>
                            <a:schemeClr val="tx1"/>
                          </a:solidFill>
                          <a:effectLst/>
                          <a:latin typeface="Arial" panose="020B0604020202020204" pitchFamily="34" charset="0"/>
                          <a:cs typeface="Arial" panose="020B0604020202020204" pitchFamily="34" charset="0"/>
                        </a:rPr>
                        <a:t>b</a:t>
                      </a: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b</a:t>
                      </a:r>
                      <a:r>
                        <a:rPr lang="es-AR" sz="1800" dirty="0">
                          <a:effectLst/>
                          <a:latin typeface="Arial" panose="020B0604020202020204" pitchFamily="34" charset="0"/>
                          <a:cs typeface="Arial" panose="020B0604020202020204" pitchFamily="34" charset="0"/>
                        </a:rPr>
                        <a:t>, a,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L</a:t>
                      </a:r>
                      <a:r>
                        <a:rPr lang="es-AR" sz="1800" dirty="0">
                          <a:effectLst/>
                          <a:latin typeface="Arial" panose="020B0604020202020204" pitchFamily="34" charset="0"/>
                          <a:cs typeface="Arial" panose="020B0604020202020204" pitchFamily="34" charset="0"/>
                        </a:rPr>
                        <a:t>, β, L</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b</a:t>
                      </a:r>
                      <a:r>
                        <a:rPr lang="es-AR" sz="1800" dirty="0">
                          <a:effectLst/>
                          <a:latin typeface="Arial" panose="020B0604020202020204" pitchFamily="34" charset="0"/>
                          <a:cs typeface="Arial" panose="020B0604020202020204" pitchFamily="34" charset="0"/>
                        </a:rPr>
                        <a:t>, β,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3486067"/>
                  </a:ext>
                </a:extLst>
              </a:tr>
              <a:tr h="931025">
                <a:tc>
                  <a:txBody>
                    <a:bodyPr/>
                    <a:lstStyle/>
                    <a:p>
                      <a:pPr algn="ctr">
                        <a:lnSpc>
                          <a:spcPct val="150000"/>
                        </a:lnSpc>
                        <a:spcAft>
                          <a:spcPts val="0"/>
                        </a:spcAft>
                      </a:pPr>
                      <a:r>
                        <a:rPr lang="es-AR" sz="1800" dirty="0" err="1">
                          <a:solidFill>
                            <a:schemeClr val="tx1"/>
                          </a:solidFill>
                          <a:effectLst/>
                          <a:latin typeface="Arial" panose="020B0604020202020204" pitchFamily="34" charset="0"/>
                          <a:cs typeface="Arial" panose="020B0604020202020204" pitchFamily="34" charset="0"/>
                        </a:rPr>
                        <a:t>q</a:t>
                      </a:r>
                      <a:r>
                        <a:rPr lang="es-AR" sz="1800" baseline="-25000" dirty="0" err="1">
                          <a:solidFill>
                            <a:schemeClr val="tx1"/>
                          </a:solidFill>
                          <a:effectLst/>
                          <a:latin typeface="Arial" panose="020B0604020202020204" pitchFamily="34" charset="0"/>
                          <a:cs typeface="Arial" panose="020B0604020202020204" pitchFamily="34" charset="0"/>
                        </a:rPr>
                        <a:t>L</a:t>
                      </a: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L</a:t>
                      </a:r>
                      <a:r>
                        <a:rPr lang="es-AR" sz="1800" dirty="0">
                          <a:effectLst/>
                          <a:latin typeface="Arial" panose="020B0604020202020204" pitchFamily="34" charset="0"/>
                          <a:cs typeface="Arial" panose="020B0604020202020204" pitchFamily="34" charset="0"/>
                        </a:rPr>
                        <a:t>, a, L</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a</a:t>
                      </a:r>
                      <a:r>
                        <a:rPr lang="es-AR" sz="1800" dirty="0">
                          <a:effectLst/>
                          <a:latin typeface="Arial" panose="020B0604020202020204" pitchFamily="34" charset="0"/>
                          <a:cs typeface="Arial" panose="020B0604020202020204" pitchFamily="34" charset="0"/>
                        </a:rPr>
                        <a:t>, α, R</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err="1">
                          <a:effectLst/>
                          <a:latin typeface="Arial" panose="020B0604020202020204" pitchFamily="34" charset="0"/>
                          <a:cs typeface="Arial" panose="020B0604020202020204" pitchFamily="34" charset="0"/>
                        </a:rPr>
                        <a:t>q</a:t>
                      </a:r>
                      <a:r>
                        <a:rPr lang="es-AR" sz="1800" baseline="-25000" dirty="0" err="1">
                          <a:effectLst/>
                          <a:latin typeface="Arial" panose="020B0604020202020204" pitchFamily="34" charset="0"/>
                          <a:cs typeface="Arial" panose="020B0604020202020204" pitchFamily="34" charset="0"/>
                        </a:rPr>
                        <a:t>L</a:t>
                      </a:r>
                      <a:r>
                        <a:rPr lang="es-AR" sz="1800" dirty="0">
                          <a:effectLst/>
                          <a:latin typeface="Arial" panose="020B0604020202020204" pitchFamily="34" charset="0"/>
                          <a:cs typeface="Arial" panose="020B0604020202020204" pitchFamily="34" charset="0"/>
                        </a:rPr>
                        <a:t>, β, L</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5189124"/>
                  </a:ext>
                </a:extLst>
              </a:tr>
              <a:tr h="931025">
                <a:tc>
                  <a:txBody>
                    <a:bodyPr/>
                    <a:lstStyle/>
                    <a:p>
                      <a:pPr algn="ctr">
                        <a:lnSpc>
                          <a:spcPct val="150000"/>
                        </a:lnSpc>
                        <a:spcAft>
                          <a:spcPts val="0"/>
                        </a:spcAft>
                      </a:pPr>
                      <a:r>
                        <a:rPr lang="es-AR" sz="1800" dirty="0" err="1">
                          <a:solidFill>
                            <a:schemeClr val="tx1"/>
                          </a:solidFill>
                          <a:effectLst/>
                          <a:latin typeface="Arial" panose="020B0604020202020204" pitchFamily="34" charset="0"/>
                          <a:cs typeface="Arial" panose="020B0604020202020204" pitchFamily="34" charset="0"/>
                        </a:rPr>
                        <a:t>q</a:t>
                      </a:r>
                      <a:r>
                        <a:rPr lang="es-AR" sz="1800" baseline="-25000" dirty="0" err="1">
                          <a:solidFill>
                            <a:schemeClr val="tx1"/>
                          </a:solidFill>
                          <a:effectLst/>
                          <a:latin typeface="Arial" panose="020B0604020202020204" pitchFamily="34" charset="0"/>
                          <a:cs typeface="Arial" panose="020B0604020202020204" pitchFamily="34" charset="0"/>
                        </a:rPr>
                        <a:t>H</a:t>
                      </a:r>
                      <a:endParaRPr lang="es-MX"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b="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q</a:t>
                      </a:r>
                      <a:r>
                        <a:rPr lang="es-AR" sz="1800" b="0" baseline="-250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H</a:t>
                      </a:r>
                      <a:r>
                        <a:rPr lang="es-AR" sz="18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β, R</a:t>
                      </a:r>
                      <a:endParaRPr lang="es-MX" sz="18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AR" sz="1800" b="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q</a:t>
                      </a:r>
                      <a:r>
                        <a:rPr lang="es-AR" sz="1800" b="0" baseline="-250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a:t>
                      </a:r>
                      <a:r>
                        <a:rPr lang="es-AR" sz="18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B, S</a:t>
                      </a:r>
                      <a:endParaRPr lang="es-MX" sz="18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6780701"/>
                  </a:ext>
                </a:extLst>
              </a:tr>
            </a:tbl>
          </a:graphicData>
        </a:graphic>
      </p:graphicFrame>
      <p:sp>
        <p:nvSpPr>
          <p:cNvPr id="4" name="Rectángulo 3">
            <a:extLst>
              <a:ext uri="{FF2B5EF4-FFF2-40B4-BE49-F238E27FC236}">
                <a16:creationId xmlns:a16="http://schemas.microsoft.com/office/drawing/2014/main" id="{FDD42365-1B22-4FB3-BEAA-0884E96F62F8}"/>
              </a:ext>
            </a:extLst>
          </p:cNvPr>
          <p:cNvSpPr/>
          <p:nvPr/>
        </p:nvSpPr>
        <p:spPr>
          <a:xfrm>
            <a:off x="462455" y="313340"/>
            <a:ext cx="8385630" cy="461665"/>
          </a:xfrm>
          <a:prstGeom prst="rect">
            <a:avLst/>
          </a:prstGeom>
        </p:spPr>
        <p:txBody>
          <a:bodyPr wrap="none">
            <a:spAutoFit/>
          </a:bodyPr>
          <a:lstStyle/>
          <a:p>
            <a:pPr algn="ctr"/>
            <a:r>
              <a:rPr lang="es-AR" sz="2400" b="1" dirty="0">
                <a:latin typeface="Arial" panose="020B0604020202020204" pitchFamily="34" charset="0"/>
                <a:cs typeface="Arial" panose="020B0604020202020204" pitchFamily="34" charset="0"/>
              </a:rPr>
              <a:t>Forma alternativa de describir la función de transición δ</a:t>
            </a:r>
            <a:endParaRPr lang="es-MX" sz="2400" b="1"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7A924693-243E-4AE3-AA7A-B43BAD7049A8}"/>
              </a:ext>
            </a:extLst>
          </p:cNvPr>
          <p:cNvSpPr/>
          <p:nvPr/>
        </p:nvSpPr>
        <p:spPr>
          <a:xfrm>
            <a:off x="1014152" y="6035163"/>
            <a:ext cx="9676012" cy="461665"/>
          </a:xfrm>
          <a:prstGeom prst="rect">
            <a:avLst/>
          </a:prstGeom>
        </p:spPr>
        <p:txBody>
          <a:bodyPr wrap="square">
            <a:spAutoFit/>
          </a:bodyPr>
          <a:lstStyle/>
          <a:p>
            <a:r>
              <a:rPr lang="es-AR" sz="24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Las celdas en blanco representan los casos de rechazo (estado </a:t>
            </a:r>
            <a:r>
              <a:rPr lang="es-AR" dirty="0" err="1">
                <a:latin typeface="Arial" panose="020B0604020202020204" pitchFamily="34" charset="0"/>
                <a:cs typeface="Arial" panose="020B0604020202020204" pitchFamily="34" charset="0"/>
              </a:rPr>
              <a:t>q</a:t>
            </a:r>
            <a:r>
              <a:rPr lang="es-AR" baseline="-25000" dirty="0" err="1">
                <a:latin typeface="Arial" panose="020B0604020202020204" pitchFamily="34" charset="0"/>
                <a:cs typeface="Arial" panose="020B0604020202020204" pitchFamily="34" charset="0"/>
              </a:rPr>
              <a:t>R</a:t>
            </a:r>
            <a:r>
              <a:rPr lang="es-AR" dirty="0">
                <a:latin typeface="Arial" panose="020B0604020202020204" pitchFamily="34" charset="0"/>
                <a:cs typeface="Arial" panose="020B0604020202020204" pitchFamily="34" charset="0"/>
              </a:rPr>
              <a:t>). </a:t>
            </a:r>
            <a:endParaRPr lang="es-MX" dirty="0">
              <a:latin typeface="Arial" panose="020B0604020202020204" pitchFamily="34" charset="0"/>
              <a:cs typeface="Arial" panose="020B0604020202020204" pitchFamily="34" charset="0"/>
            </a:endParaRPr>
          </a:p>
        </p:txBody>
      </p:sp>
      <p:sp>
        <p:nvSpPr>
          <p:cNvPr id="6" name="Slide Number Placeholder 2">
            <a:extLst>
              <a:ext uri="{FF2B5EF4-FFF2-40B4-BE49-F238E27FC236}">
                <a16:creationId xmlns:a16="http://schemas.microsoft.com/office/drawing/2014/main" id="{EB7F2D59-F9C3-4A72-8A2C-85F6C4A5605A}"/>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Tree>
    <p:extLst>
      <p:ext uri="{BB962C8B-B14F-4D97-AF65-F5344CB8AC3E}">
        <p14:creationId xmlns:p14="http://schemas.microsoft.com/office/powerpoint/2010/main" val="830693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81076382-1EEF-4DC1-975B-EE548B5F3812}"/>
              </a:ext>
            </a:extLst>
          </p:cNvPr>
          <p:cNvSpPr/>
          <p:nvPr/>
        </p:nvSpPr>
        <p:spPr>
          <a:xfrm>
            <a:off x="4508803" y="2585013"/>
            <a:ext cx="465047" cy="923330"/>
          </a:xfrm>
          <a:prstGeom prst="rect">
            <a:avLst/>
          </a:prstGeom>
        </p:spPr>
        <p:txBody>
          <a:bodyPr wrap="square">
            <a:spAutoFit/>
          </a:bodyPr>
          <a:lstStyle/>
          <a:p>
            <a:r>
              <a:rPr lang="es-MX" sz="1800" dirty="0">
                <a:latin typeface="Arial" panose="020B0604020202020204" pitchFamily="34" charset="0"/>
                <a:cs typeface="Arial" panose="020B0604020202020204" pitchFamily="34" charset="0"/>
              </a:rPr>
              <a:t>M</a:t>
            </a:r>
            <a:r>
              <a:rPr lang="es-AR" sz="1800" baseline="-25000" dirty="0">
                <a:latin typeface="Arial" panose="020B0604020202020204" pitchFamily="34" charset="0"/>
                <a:cs typeface="Arial" panose="020B0604020202020204" pitchFamily="34" charset="0"/>
              </a:rPr>
              <a:t>1</a:t>
            </a:r>
          </a:p>
          <a:p>
            <a:endParaRPr lang="es-MX" dirty="0">
              <a:latin typeface="Arial" panose="020B0604020202020204" pitchFamily="34" charset="0"/>
              <a:cs typeface="Arial" panose="020B0604020202020204" pitchFamily="34" charset="0"/>
            </a:endParaRPr>
          </a:p>
          <a:p>
            <a:r>
              <a:rPr lang="es-MX" sz="1800" dirty="0">
                <a:latin typeface="Arial" panose="020B0604020202020204" pitchFamily="34" charset="0"/>
                <a:cs typeface="Arial" panose="020B0604020202020204" pitchFamily="34" charset="0"/>
              </a:rPr>
              <a:t>M</a:t>
            </a:r>
            <a:r>
              <a:rPr lang="es-AR" sz="1800" baseline="-25000" dirty="0">
                <a:latin typeface="Arial" panose="020B0604020202020204" pitchFamily="34" charset="0"/>
                <a:cs typeface="Arial" panose="020B0604020202020204" pitchFamily="34" charset="0"/>
              </a:rPr>
              <a:t>4</a:t>
            </a:r>
            <a:endParaRPr lang="es-MX" dirty="0">
              <a:latin typeface="Arial" panose="020B0604020202020204" pitchFamily="34" charset="0"/>
              <a:cs typeface="Arial" panose="020B0604020202020204" pitchFamily="34" charset="0"/>
            </a:endParaRPr>
          </a:p>
        </p:txBody>
      </p:sp>
      <p:sp>
        <p:nvSpPr>
          <p:cNvPr id="9" name="Rectángulo 8">
            <a:extLst>
              <a:ext uri="{FF2B5EF4-FFF2-40B4-BE49-F238E27FC236}">
                <a16:creationId xmlns:a16="http://schemas.microsoft.com/office/drawing/2014/main" id="{CCAD0944-3D93-4D5A-B71F-0366A639B1F8}"/>
              </a:ext>
            </a:extLst>
          </p:cNvPr>
          <p:cNvSpPr/>
          <p:nvPr/>
        </p:nvSpPr>
        <p:spPr>
          <a:xfrm>
            <a:off x="7467965" y="2585013"/>
            <a:ext cx="461986" cy="923330"/>
          </a:xfrm>
          <a:prstGeom prst="rect">
            <a:avLst/>
          </a:prstGeom>
        </p:spPr>
        <p:txBody>
          <a:bodyPr wrap="none">
            <a:spAutoFit/>
          </a:bodyPr>
          <a:lstStyle/>
          <a:p>
            <a:r>
              <a:rPr lang="es-MX" sz="1800" dirty="0">
                <a:latin typeface="Arial" panose="020B0604020202020204" pitchFamily="34" charset="0"/>
                <a:cs typeface="Arial" panose="020B0604020202020204" pitchFamily="34" charset="0"/>
              </a:rPr>
              <a:t>M</a:t>
            </a:r>
            <a:r>
              <a:rPr lang="es-AR" sz="1800" baseline="-25000" dirty="0">
                <a:latin typeface="Arial" panose="020B0604020202020204" pitchFamily="34" charset="0"/>
                <a:cs typeface="Arial" panose="020B0604020202020204" pitchFamily="34" charset="0"/>
              </a:rPr>
              <a:t>2</a:t>
            </a:r>
          </a:p>
          <a:p>
            <a:endParaRPr lang="es-MX" dirty="0">
              <a:latin typeface="Arial" panose="020B0604020202020204" pitchFamily="34" charset="0"/>
              <a:cs typeface="Arial" panose="020B0604020202020204" pitchFamily="34" charset="0"/>
            </a:endParaRPr>
          </a:p>
          <a:p>
            <a:r>
              <a:rPr lang="es-MX" sz="1800" dirty="0">
                <a:latin typeface="Arial" panose="020B0604020202020204" pitchFamily="34" charset="0"/>
                <a:cs typeface="Arial" panose="020B0604020202020204" pitchFamily="34" charset="0"/>
              </a:rPr>
              <a:t>M</a:t>
            </a:r>
            <a:r>
              <a:rPr lang="es-AR" sz="1800" baseline="-25000" dirty="0">
                <a:latin typeface="Arial" panose="020B0604020202020204" pitchFamily="34" charset="0"/>
                <a:cs typeface="Arial" panose="020B0604020202020204" pitchFamily="34" charset="0"/>
              </a:rPr>
              <a:t>3</a:t>
            </a:r>
            <a:endParaRPr lang="es-MX" dirty="0">
              <a:latin typeface="Arial" panose="020B0604020202020204" pitchFamily="34" charset="0"/>
              <a:cs typeface="Arial" panose="020B0604020202020204" pitchFamily="34" charset="0"/>
            </a:endParaRPr>
          </a:p>
        </p:txBody>
      </p:sp>
      <p:sp>
        <p:nvSpPr>
          <p:cNvPr id="12" name="Rectángulo 11">
            <a:extLst>
              <a:ext uri="{FF2B5EF4-FFF2-40B4-BE49-F238E27FC236}">
                <a16:creationId xmlns:a16="http://schemas.microsoft.com/office/drawing/2014/main" id="{F814352D-3DC3-4C4D-84FC-769435377722}"/>
              </a:ext>
            </a:extLst>
          </p:cNvPr>
          <p:cNvSpPr/>
          <p:nvPr/>
        </p:nvSpPr>
        <p:spPr>
          <a:xfrm>
            <a:off x="4174505" y="1999880"/>
            <a:ext cx="1133644"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modelo 1</a:t>
            </a:r>
          </a:p>
        </p:txBody>
      </p:sp>
      <p:sp>
        <p:nvSpPr>
          <p:cNvPr id="13" name="Rectángulo 12">
            <a:extLst>
              <a:ext uri="{FF2B5EF4-FFF2-40B4-BE49-F238E27FC236}">
                <a16:creationId xmlns:a16="http://schemas.microsoft.com/office/drawing/2014/main" id="{1AF79072-7C67-4D91-A376-7220D5859227}"/>
              </a:ext>
            </a:extLst>
          </p:cNvPr>
          <p:cNvSpPr/>
          <p:nvPr/>
        </p:nvSpPr>
        <p:spPr>
          <a:xfrm>
            <a:off x="7067320" y="2003986"/>
            <a:ext cx="1133644"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modelo 2</a:t>
            </a:r>
          </a:p>
        </p:txBody>
      </p:sp>
      <p:sp>
        <p:nvSpPr>
          <p:cNvPr id="2" name="Rectángulo 1">
            <a:extLst>
              <a:ext uri="{FF2B5EF4-FFF2-40B4-BE49-F238E27FC236}">
                <a16:creationId xmlns:a16="http://schemas.microsoft.com/office/drawing/2014/main" id="{EAAB867E-9798-4695-A295-2045AA0F52A5}"/>
              </a:ext>
            </a:extLst>
          </p:cNvPr>
          <p:cNvSpPr/>
          <p:nvPr/>
        </p:nvSpPr>
        <p:spPr>
          <a:xfrm>
            <a:off x="382853" y="3966579"/>
            <a:ext cx="11208907" cy="2573269"/>
          </a:xfrm>
          <a:prstGeom prst="rect">
            <a:avLst/>
          </a:prstGeom>
        </p:spPr>
        <p:txBody>
          <a:bodyPr wrap="square">
            <a:spAutoFit/>
          </a:bodyPr>
          <a:lstStyle/>
          <a:p>
            <a:pPr marL="285750" indent="-285750" algn="just">
              <a:lnSpc>
                <a:spcPct val="120000"/>
              </a:lnSpc>
              <a:buFont typeface="Arial" panose="020B0604020202020204" pitchFamily="34" charset="0"/>
              <a:buChar char="•"/>
            </a:pPr>
            <a:r>
              <a:rPr lang="es-MX" dirty="0">
                <a:latin typeface="Arial" panose="020B0604020202020204" pitchFamily="34" charset="0"/>
                <a:cs typeface="Arial" panose="020B0604020202020204" pitchFamily="34" charset="0"/>
              </a:rPr>
              <a:t>Ejemplos de modelos de MT equivalentes al modelo de MT con </a:t>
            </a:r>
            <a:r>
              <a:rPr lang="es-MX" b="1" dirty="0">
                <a:latin typeface="Arial" panose="020B0604020202020204" pitchFamily="34" charset="0"/>
                <a:cs typeface="Arial" panose="020B0604020202020204" pitchFamily="34" charset="0"/>
              </a:rPr>
              <a:t>1 cinta</a:t>
            </a:r>
            <a:r>
              <a:rPr lang="es-MX" dirty="0">
                <a:latin typeface="Arial" panose="020B0604020202020204" pitchFamily="34" charset="0"/>
                <a:cs typeface="Arial" panose="020B0604020202020204" pitchFamily="34" charset="0"/>
              </a:rPr>
              <a:t>: MT con </a:t>
            </a:r>
            <a:r>
              <a:rPr lang="es-MX" b="1" dirty="0">
                <a:latin typeface="Arial" panose="020B0604020202020204" pitchFamily="34" charset="0"/>
                <a:cs typeface="Arial" panose="020B0604020202020204" pitchFamily="34" charset="0"/>
              </a:rPr>
              <a:t>varias cintas</a:t>
            </a:r>
            <a:r>
              <a:rPr lang="es-MX" dirty="0">
                <a:latin typeface="Arial" panose="020B0604020202020204" pitchFamily="34" charset="0"/>
                <a:cs typeface="Arial" panose="020B0604020202020204" pitchFamily="34" charset="0"/>
              </a:rPr>
              <a:t>, MT con </a:t>
            </a:r>
            <a:r>
              <a:rPr lang="es-MX" b="1" dirty="0">
                <a:latin typeface="Arial" panose="020B0604020202020204" pitchFamily="34" charset="0"/>
                <a:cs typeface="Arial" panose="020B0604020202020204" pitchFamily="34" charset="0"/>
              </a:rPr>
              <a:t>cintas semi-infinitas</a:t>
            </a:r>
            <a:r>
              <a:rPr lang="es-MX" dirty="0">
                <a:latin typeface="Arial" panose="020B0604020202020204" pitchFamily="34" charset="0"/>
                <a:cs typeface="Arial" panose="020B0604020202020204" pitchFamily="34" charset="0"/>
              </a:rPr>
              <a:t>, MT con </a:t>
            </a:r>
            <a:r>
              <a:rPr lang="es-MX" b="1" dirty="0">
                <a:latin typeface="Arial" panose="020B0604020202020204" pitchFamily="34" charset="0"/>
                <a:cs typeface="Arial" panose="020B0604020202020204" pitchFamily="34" charset="0"/>
              </a:rPr>
              <a:t>2 cintas y un solo estado</a:t>
            </a:r>
            <a:r>
              <a:rPr lang="es-MX" dirty="0">
                <a:latin typeface="Arial" panose="020B0604020202020204" pitchFamily="34" charset="0"/>
                <a:cs typeface="Arial" panose="020B0604020202020204" pitchFamily="34" charset="0"/>
              </a:rPr>
              <a:t>, MT </a:t>
            </a:r>
            <a:r>
              <a:rPr lang="es-MX" b="1" dirty="0">
                <a:latin typeface="Arial" panose="020B0604020202020204" pitchFamily="34" charset="0"/>
                <a:cs typeface="Arial" panose="020B0604020202020204" pitchFamily="34" charset="0"/>
              </a:rPr>
              <a:t>no determinísticas </a:t>
            </a:r>
            <a:r>
              <a:rPr lang="es-MX" dirty="0">
                <a:latin typeface="Arial" panose="020B0604020202020204" pitchFamily="34" charset="0"/>
                <a:cs typeface="Arial" panose="020B0604020202020204" pitchFamily="34" charset="0"/>
              </a:rPr>
              <a:t>(a partir de un estado y un símbolo pueden avanzar de distintas maneras), etc. </a:t>
            </a:r>
          </a:p>
          <a:p>
            <a:pPr marL="285750" indent="-285750" algn="just">
              <a:lnSpc>
                <a:spcPct val="120000"/>
              </a:lnSpc>
              <a:buFont typeface="Arial" panose="020B0604020202020204" pitchFamily="34" charset="0"/>
              <a:buChar char="•"/>
            </a:pPr>
            <a:endParaRPr lang="es-MX" sz="1400" dirty="0">
              <a:latin typeface="Arial" panose="020B0604020202020204" pitchFamily="34" charset="0"/>
              <a:cs typeface="Arial" panose="020B0604020202020204" pitchFamily="34" charset="0"/>
            </a:endParaRPr>
          </a:p>
          <a:p>
            <a:pPr marL="285750" indent="-285750" algn="just">
              <a:lnSpc>
                <a:spcPct val="120000"/>
              </a:lnSpc>
              <a:buFont typeface="Arial" panose="020B0604020202020204" pitchFamily="34" charset="0"/>
              <a:buChar char="•"/>
            </a:pPr>
            <a:r>
              <a:rPr lang="es-MX" dirty="0">
                <a:latin typeface="Arial" panose="020B0604020202020204" pitchFamily="34" charset="0"/>
                <a:cs typeface="Arial" panose="020B0604020202020204" pitchFamily="34" charset="0"/>
              </a:rPr>
              <a:t>Ejemplos de modelos computacionales equivalentes al modelo de las MT: </a:t>
            </a:r>
            <a:r>
              <a:rPr lang="es-MX" b="1" dirty="0">
                <a:latin typeface="Arial" panose="020B0604020202020204" pitchFamily="34" charset="0"/>
                <a:cs typeface="Arial" panose="020B0604020202020204" pitchFamily="34" charset="0"/>
              </a:rPr>
              <a:t>máquinas RAM</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circuitos booleanos</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lambda cálculo</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funciones recursivas parciales</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gramáticas</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programas Java</a:t>
            </a:r>
            <a:r>
              <a:rPr lang="es-MX" dirty="0">
                <a:latin typeface="Arial" panose="020B0604020202020204" pitchFamily="34" charset="0"/>
                <a:cs typeface="Arial" panose="020B0604020202020204" pitchFamily="34" charset="0"/>
              </a:rPr>
              <a:t>, etc. </a:t>
            </a:r>
          </a:p>
          <a:p>
            <a:pPr marL="285750" indent="-285750" algn="just">
              <a:lnSpc>
                <a:spcPct val="120000"/>
              </a:lnSpc>
              <a:buFont typeface="Arial" panose="020B0604020202020204" pitchFamily="34" charset="0"/>
              <a:buChar char="•"/>
            </a:pPr>
            <a:endParaRPr lang="es-MX" sz="1400" dirty="0">
              <a:latin typeface="Arial" panose="020B0604020202020204" pitchFamily="34" charset="0"/>
              <a:cs typeface="Arial" panose="020B0604020202020204" pitchFamily="34" charset="0"/>
            </a:endParaRPr>
          </a:p>
          <a:p>
            <a:pPr marL="285750" indent="-285750" algn="just">
              <a:lnSpc>
                <a:spcPct val="120000"/>
              </a:lnSpc>
              <a:buFont typeface="Arial" panose="020B0604020202020204" pitchFamily="34" charset="0"/>
              <a:buChar char="•"/>
            </a:pPr>
            <a:r>
              <a:rPr lang="es-MX" dirty="0">
                <a:latin typeface="Arial" panose="020B0604020202020204" pitchFamily="34" charset="0"/>
                <a:cs typeface="Arial" panose="020B0604020202020204" pitchFamily="34" charset="0"/>
              </a:rPr>
              <a:t>Todo esto refuerza la </a:t>
            </a:r>
            <a:r>
              <a:rPr lang="es-MX" b="1" dirty="0">
                <a:latin typeface="Arial" panose="020B0604020202020204" pitchFamily="34" charset="0"/>
                <a:cs typeface="Arial" panose="020B0604020202020204" pitchFamily="34" charset="0"/>
              </a:rPr>
              <a:t>Tesis de </a:t>
            </a:r>
            <a:r>
              <a:rPr lang="es-MX" b="1" dirty="0" err="1">
                <a:latin typeface="Arial" panose="020B0604020202020204" pitchFamily="34" charset="0"/>
                <a:cs typeface="Arial" panose="020B0604020202020204" pitchFamily="34" charset="0"/>
              </a:rPr>
              <a:t>Church</a:t>
            </a:r>
            <a:r>
              <a:rPr lang="es-MX" b="1" dirty="0">
                <a:latin typeface="Arial" panose="020B0604020202020204" pitchFamily="34" charset="0"/>
                <a:cs typeface="Arial" panose="020B0604020202020204" pitchFamily="34" charset="0"/>
              </a:rPr>
              <a:t>-Turing</a:t>
            </a:r>
            <a:r>
              <a:rPr lang="es-MX" dirty="0">
                <a:latin typeface="Arial" panose="020B0604020202020204" pitchFamily="34" charset="0"/>
                <a:cs typeface="Arial" panose="020B0604020202020204" pitchFamily="34" charset="0"/>
              </a:rPr>
              <a:t>. </a:t>
            </a:r>
          </a:p>
        </p:txBody>
      </p:sp>
      <p:sp>
        <p:nvSpPr>
          <p:cNvPr id="14" name="Título 1">
            <a:extLst>
              <a:ext uri="{FF2B5EF4-FFF2-40B4-BE49-F238E27FC236}">
                <a16:creationId xmlns:a16="http://schemas.microsoft.com/office/drawing/2014/main" id="{3F09CC68-02EB-4FE5-9C36-98A32788B656}"/>
              </a:ext>
            </a:extLst>
          </p:cNvPr>
          <p:cNvSpPr txBox="1">
            <a:spLocks/>
          </p:cNvSpPr>
          <p:nvPr/>
        </p:nvSpPr>
        <p:spPr>
          <a:xfrm>
            <a:off x="382853" y="148441"/>
            <a:ext cx="11426294" cy="17629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s-MX" sz="2400" b="1" dirty="0">
                <a:latin typeface="Arial" panose="020B0604020202020204" pitchFamily="34" charset="0"/>
                <a:cs typeface="Arial" panose="020B0604020202020204" pitchFamily="34" charset="0"/>
              </a:rPr>
              <a:t>Modelos equivalentes de MT</a:t>
            </a:r>
          </a:p>
          <a:p>
            <a:pPr>
              <a:lnSpc>
                <a:spcPct val="120000"/>
              </a:lnSpc>
            </a:pPr>
            <a:endParaRPr lang="es-MX" sz="1800" b="1" dirty="0">
              <a:latin typeface="Arial" panose="020B0604020202020204" pitchFamily="34" charset="0"/>
              <a:cs typeface="Arial" panose="020B0604020202020204" pitchFamily="34" charset="0"/>
            </a:endParaRPr>
          </a:p>
          <a:p>
            <a:pPr marL="285750" indent="-285750">
              <a:lnSpc>
                <a:spcPct val="120000"/>
              </a:lnSpc>
              <a:buFont typeface="Arial" panose="020B0604020202020204" pitchFamily="34" charset="0"/>
              <a:buChar char="•"/>
            </a:pPr>
            <a:r>
              <a:rPr lang="es-MX" sz="1800" dirty="0">
                <a:latin typeface="Arial" panose="020B0604020202020204" pitchFamily="34" charset="0"/>
                <a:cs typeface="Arial" panose="020B0604020202020204" pitchFamily="34" charset="0"/>
              </a:rPr>
              <a:t>Dos MT son</a:t>
            </a:r>
            <a:r>
              <a:rPr lang="es-MX" sz="1800" b="1" dirty="0">
                <a:latin typeface="Arial" panose="020B0604020202020204" pitchFamily="34" charset="0"/>
                <a:cs typeface="Arial" panose="020B0604020202020204" pitchFamily="34" charset="0"/>
              </a:rPr>
              <a:t> equivalentes</a:t>
            </a:r>
            <a:r>
              <a:rPr lang="es-MX" sz="1800" dirty="0">
                <a:latin typeface="Arial" panose="020B0604020202020204" pitchFamily="34" charset="0"/>
                <a:cs typeface="Arial" panose="020B0604020202020204" pitchFamily="34" charset="0"/>
              </a:rPr>
              <a:t> si aceptan el mismo lenguaje. </a:t>
            </a:r>
          </a:p>
          <a:p>
            <a:pPr marL="285750" indent="-285750">
              <a:lnSpc>
                <a:spcPct val="120000"/>
              </a:lnSpc>
              <a:buFont typeface="Arial" panose="020B0604020202020204" pitchFamily="34" charset="0"/>
              <a:buChar char="•"/>
            </a:pPr>
            <a:r>
              <a:rPr lang="es-MX" sz="1800" dirty="0">
                <a:latin typeface="Arial" panose="020B0604020202020204" pitchFamily="34" charset="0"/>
                <a:cs typeface="Arial" panose="020B0604020202020204" pitchFamily="34" charset="0"/>
              </a:rPr>
              <a:t>Dos </a:t>
            </a:r>
            <a:r>
              <a:rPr lang="es-MX" sz="1800" b="1" dirty="0">
                <a:latin typeface="Arial" panose="020B0604020202020204" pitchFamily="34" charset="0"/>
                <a:cs typeface="Arial" panose="020B0604020202020204" pitchFamily="34" charset="0"/>
              </a:rPr>
              <a:t>modelos de MT </a:t>
            </a:r>
            <a:r>
              <a:rPr lang="es-MX" sz="1800" dirty="0">
                <a:latin typeface="Arial" panose="020B0604020202020204" pitchFamily="34" charset="0"/>
                <a:cs typeface="Arial" panose="020B0604020202020204" pitchFamily="34" charset="0"/>
              </a:rPr>
              <a:t>son</a:t>
            </a:r>
            <a:r>
              <a:rPr lang="es-MX" sz="1800" b="1" dirty="0">
                <a:latin typeface="Arial" panose="020B0604020202020204" pitchFamily="34" charset="0"/>
                <a:cs typeface="Arial" panose="020B0604020202020204" pitchFamily="34" charset="0"/>
              </a:rPr>
              <a:t> equivalentes </a:t>
            </a:r>
            <a:r>
              <a:rPr lang="es-MX" sz="1800" dirty="0">
                <a:latin typeface="Arial" panose="020B0604020202020204" pitchFamily="34" charset="0"/>
                <a:cs typeface="Arial" panose="020B0604020202020204" pitchFamily="34" charset="0"/>
              </a:rPr>
              <a:t>si dada una MT de un modelo existe una MT equivalente del otro. </a:t>
            </a:r>
          </a:p>
        </p:txBody>
      </p:sp>
      <p:sp>
        <p:nvSpPr>
          <p:cNvPr id="15" name="Diagrama de flujo: conector 14">
            <a:extLst>
              <a:ext uri="{FF2B5EF4-FFF2-40B4-BE49-F238E27FC236}">
                <a16:creationId xmlns:a16="http://schemas.microsoft.com/office/drawing/2014/main" id="{57EE37EC-207E-4305-9354-BCB493FE69D7}"/>
              </a:ext>
            </a:extLst>
          </p:cNvPr>
          <p:cNvSpPr/>
          <p:nvPr/>
        </p:nvSpPr>
        <p:spPr>
          <a:xfrm>
            <a:off x="6941784" y="2359310"/>
            <a:ext cx="1384716" cy="136483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Diagrama de flujo: conector 15">
            <a:extLst>
              <a:ext uri="{FF2B5EF4-FFF2-40B4-BE49-F238E27FC236}">
                <a16:creationId xmlns:a16="http://schemas.microsoft.com/office/drawing/2014/main" id="{966C700E-56BD-4FDE-9E1A-8DB32DA56585}"/>
              </a:ext>
            </a:extLst>
          </p:cNvPr>
          <p:cNvSpPr/>
          <p:nvPr/>
        </p:nvSpPr>
        <p:spPr>
          <a:xfrm>
            <a:off x="4048969" y="2359310"/>
            <a:ext cx="1384716" cy="136483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8" name="Conector recto de flecha 17">
            <a:extLst>
              <a:ext uri="{FF2B5EF4-FFF2-40B4-BE49-F238E27FC236}">
                <a16:creationId xmlns:a16="http://schemas.microsoft.com/office/drawing/2014/main" id="{6912A8B6-1AAD-4F9E-BD6C-4D480EA39FCA}"/>
              </a:ext>
            </a:extLst>
          </p:cNvPr>
          <p:cNvCxnSpPr>
            <a:cxnSpLocks/>
          </p:cNvCxnSpPr>
          <p:nvPr/>
        </p:nvCxnSpPr>
        <p:spPr>
          <a:xfrm>
            <a:off x="5060306" y="2753877"/>
            <a:ext cx="23212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AE0164F4-1D3C-49C6-8A7E-775FAECCBC16}"/>
              </a:ext>
            </a:extLst>
          </p:cNvPr>
          <p:cNvCxnSpPr>
            <a:cxnSpLocks/>
          </p:cNvCxnSpPr>
          <p:nvPr/>
        </p:nvCxnSpPr>
        <p:spPr>
          <a:xfrm flipH="1">
            <a:off x="5060306" y="3360228"/>
            <a:ext cx="23212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Slide Number Placeholder 2">
            <a:extLst>
              <a:ext uri="{FF2B5EF4-FFF2-40B4-BE49-F238E27FC236}">
                <a16:creationId xmlns:a16="http://schemas.microsoft.com/office/drawing/2014/main" id="{FE8E2E2B-4BDF-4A73-A38B-23AD0479EE28}"/>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9" name="CuadroTexto 18">
            <a:extLst>
              <a:ext uri="{FF2B5EF4-FFF2-40B4-BE49-F238E27FC236}">
                <a16:creationId xmlns:a16="http://schemas.microsoft.com/office/drawing/2014/main" id="{9685BA49-6EED-426C-9940-AAA3EF81B7D2}"/>
              </a:ext>
            </a:extLst>
          </p:cNvPr>
          <p:cNvSpPr txBox="1"/>
          <p:nvPr/>
        </p:nvSpPr>
        <p:spPr>
          <a:xfrm>
            <a:off x="2303402" y="2875465"/>
            <a:ext cx="1745566" cy="307777"/>
          </a:xfrm>
          <a:prstGeom prst="rect">
            <a:avLst/>
          </a:prstGeom>
          <a:noFill/>
        </p:spPr>
        <p:txBody>
          <a:bodyPr wrap="square">
            <a:spAutoFit/>
          </a:bodyPr>
          <a:lstStyle/>
          <a:p>
            <a:r>
              <a:rPr lang="es-MX" sz="1400" dirty="0">
                <a:latin typeface="Arial" panose="020B0604020202020204" pitchFamily="34" charset="0"/>
                <a:cs typeface="Arial" panose="020B0604020202020204" pitchFamily="34" charset="0"/>
              </a:rPr>
              <a:t>p.ej. MT con 1 cinta</a:t>
            </a:r>
            <a:endParaRPr lang="es-AR" sz="1400" dirty="0"/>
          </a:p>
        </p:txBody>
      </p:sp>
      <p:sp>
        <p:nvSpPr>
          <p:cNvPr id="20" name="CuadroTexto 19">
            <a:extLst>
              <a:ext uri="{FF2B5EF4-FFF2-40B4-BE49-F238E27FC236}">
                <a16:creationId xmlns:a16="http://schemas.microsoft.com/office/drawing/2014/main" id="{0D43DCFE-C737-4DAF-B392-5A4998DAC906}"/>
              </a:ext>
            </a:extLst>
          </p:cNvPr>
          <p:cNvSpPr txBox="1"/>
          <p:nvPr/>
        </p:nvSpPr>
        <p:spPr>
          <a:xfrm>
            <a:off x="8326500" y="2843378"/>
            <a:ext cx="2543558" cy="307777"/>
          </a:xfrm>
          <a:prstGeom prst="rect">
            <a:avLst/>
          </a:prstGeom>
          <a:noFill/>
        </p:spPr>
        <p:txBody>
          <a:bodyPr wrap="square">
            <a:spAutoFit/>
          </a:bodyPr>
          <a:lstStyle/>
          <a:p>
            <a:r>
              <a:rPr lang="es-MX" sz="1400" dirty="0">
                <a:latin typeface="Arial" panose="020B0604020202020204" pitchFamily="34" charset="0"/>
                <a:cs typeface="Arial" panose="020B0604020202020204" pitchFamily="34" charset="0"/>
              </a:rPr>
              <a:t>p.ej. MT con varias cintas</a:t>
            </a:r>
            <a:endParaRPr lang="es-AR" sz="1400" dirty="0"/>
          </a:p>
        </p:txBody>
      </p:sp>
    </p:spTree>
    <p:extLst>
      <p:ext uri="{BB962C8B-B14F-4D97-AF65-F5344CB8AC3E}">
        <p14:creationId xmlns:p14="http://schemas.microsoft.com/office/powerpoint/2010/main" val="232049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B6C96967-42A2-4FC7-9B38-85A57EEA0663}"/>
              </a:ext>
            </a:extLst>
          </p:cNvPr>
          <p:cNvSpPr txBox="1">
            <a:spLocks/>
          </p:cNvSpPr>
          <p:nvPr/>
        </p:nvSpPr>
        <p:spPr>
          <a:xfrm>
            <a:off x="301879" y="91086"/>
            <a:ext cx="10097483" cy="8685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500" b="1" dirty="0">
                <a:latin typeface="Arial" panose="020B0604020202020204" pitchFamily="34" charset="0"/>
                <a:cs typeface="Arial" panose="020B0604020202020204" pitchFamily="34" charset="0"/>
              </a:rPr>
              <a:t>Modelo equivalente de MT con varias cintas</a:t>
            </a:r>
          </a:p>
        </p:txBody>
      </p:sp>
      <p:sp>
        <p:nvSpPr>
          <p:cNvPr id="17" name="Rectángulo 16">
            <a:extLst>
              <a:ext uri="{FF2B5EF4-FFF2-40B4-BE49-F238E27FC236}">
                <a16:creationId xmlns:a16="http://schemas.microsoft.com/office/drawing/2014/main" id="{E6070040-9A4C-451F-AF3A-894926FE6C43}"/>
              </a:ext>
            </a:extLst>
          </p:cNvPr>
          <p:cNvSpPr/>
          <p:nvPr/>
        </p:nvSpPr>
        <p:spPr>
          <a:xfrm>
            <a:off x="5353050" y="6006357"/>
            <a:ext cx="877163"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control</a:t>
            </a:r>
          </a:p>
        </p:txBody>
      </p:sp>
      <p:cxnSp>
        <p:nvCxnSpPr>
          <p:cNvPr id="5" name="Conector recto 4">
            <a:extLst>
              <a:ext uri="{FF2B5EF4-FFF2-40B4-BE49-F238E27FC236}">
                <a16:creationId xmlns:a16="http://schemas.microsoft.com/office/drawing/2014/main" id="{A28328C0-1BF5-42BC-8D54-7CDF227DEFB8}"/>
              </a:ext>
            </a:extLst>
          </p:cNvPr>
          <p:cNvCxnSpPr>
            <a:cxnSpLocks/>
          </p:cNvCxnSpPr>
          <p:nvPr/>
        </p:nvCxnSpPr>
        <p:spPr>
          <a:xfrm>
            <a:off x="1947081" y="1535143"/>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9E5392CE-64F4-4F7E-A7A1-BF31F4361C7E}"/>
              </a:ext>
            </a:extLst>
          </p:cNvPr>
          <p:cNvCxnSpPr>
            <a:cxnSpLocks/>
          </p:cNvCxnSpPr>
          <p:nvPr/>
        </p:nvCxnSpPr>
        <p:spPr>
          <a:xfrm>
            <a:off x="1947081" y="1779723"/>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473F3F2F-1B93-4875-9F80-47DC0CAF3D4D}"/>
              </a:ext>
            </a:extLst>
          </p:cNvPr>
          <p:cNvSpPr/>
          <p:nvPr/>
        </p:nvSpPr>
        <p:spPr>
          <a:xfrm>
            <a:off x="4593441" y="3251216"/>
            <a:ext cx="78899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cinta 3</a:t>
            </a:r>
          </a:p>
        </p:txBody>
      </p:sp>
      <p:sp>
        <p:nvSpPr>
          <p:cNvPr id="31" name="Rectángulo 30">
            <a:extLst>
              <a:ext uri="{FF2B5EF4-FFF2-40B4-BE49-F238E27FC236}">
                <a16:creationId xmlns:a16="http://schemas.microsoft.com/office/drawing/2014/main" id="{BA88E5C6-286B-4D3C-8E58-2B737476501E}"/>
              </a:ext>
            </a:extLst>
          </p:cNvPr>
          <p:cNvSpPr/>
          <p:nvPr/>
        </p:nvSpPr>
        <p:spPr>
          <a:xfrm>
            <a:off x="4782196" y="5951510"/>
            <a:ext cx="570854" cy="5224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3" name="Conector recto de flecha 42">
            <a:extLst>
              <a:ext uri="{FF2B5EF4-FFF2-40B4-BE49-F238E27FC236}">
                <a16:creationId xmlns:a16="http://schemas.microsoft.com/office/drawing/2014/main" id="{94084422-CB46-45D0-8AD5-76145E6D1A38}"/>
              </a:ext>
            </a:extLst>
          </p:cNvPr>
          <p:cNvCxnSpPr>
            <a:cxnSpLocks/>
          </p:cNvCxnSpPr>
          <p:nvPr/>
        </p:nvCxnSpPr>
        <p:spPr>
          <a:xfrm flipH="1" flipV="1">
            <a:off x="2588079" y="4766295"/>
            <a:ext cx="2539182" cy="11961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ángulo 49">
            <a:extLst>
              <a:ext uri="{FF2B5EF4-FFF2-40B4-BE49-F238E27FC236}">
                <a16:creationId xmlns:a16="http://schemas.microsoft.com/office/drawing/2014/main" id="{F1F986BF-A69A-4D78-B8EE-837555C26553}"/>
              </a:ext>
            </a:extLst>
          </p:cNvPr>
          <p:cNvSpPr/>
          <p:nvPr/>
        </p:nvSpPr>
        <p:spPr>
          <a:xfrm>
            <a:off x="2124993" y="1753561"/>
            <a:ext cx="106150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cabezal 1</a:t>
            </a:r>
          </a:p>
        </p:txBody>
      </p:sp>
      <p:sp>
        <p:nvSpPr>
          <p:cNvPr id="53" name="Rectángulo 52">
            <a:extLst>
              <a:ext uri="{FF2B5EF4-FFF2-40B4-BE49-F238E27FC236}">
                <a16:creationId xmlns:a16="http://schemas.microsoft.com/office/drawing/2014/main" id="{25D3621B-CEB3-438A-A351-3D7444710EC3}"/>
              </a:ext>
            </a:extLst>
          </p:cNvPr>
          <p:cNvSpPr/>
          <p:nvPr/>
        </p:nvSpPr>
        <p:spPr>
          <a:xfrm>
            <a:off x="6351606" y="2644617"/>
            <a:ext cx="106150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cabezal 2</a:t>
            </a:r>
          </a:p>
        </p:txBody>
      </p:sp>
      <p:sp>
        <p:nvSpPr>
          <p:cNvPr id="59" name="Rectángulo 58">
            <a:extLst>
              <a:ext uri="{FF2B5EF4-FFF2-40B4-BE49-F238E27FC236}">
                <a16:creationId xmlns:a16="http://schemas.microsoft.com/office/drawing/2014/main" id="{F6141D4F-B858-415A-BD47-A81EAF2BD7B9}"/>
              </a:ext>
            </a:extLst>
          </p:cNvPr>
          <p:cNvSpPr/>
          <p:nvPr/>
        </p:nvSpPr>
        <p:spPr>
          <a:xfrm>
            <a:off x="4890683" y="3465133"/>
            <a:ext cx="154023" cy="1015663"/>
          </a:xfrm>
          <a:prstGeom prst="rect">
            <a:avLst/>
          </a:prstGeom>
        </p:spPr>
        <p:txBody>
          <a:bodyPr wrap="square">
            <a:spAutoFit/>
          </a:bodyPr>
          <a:lstStyle/>
          <a:p>
            <a:r>
              <a:rPr lang="es-MX" sz="2000" b="1" dirty="0">
                <a:latin typeface="Arial" panose="020B0604020202020204" pitchFamily="34" charset="0"/>
                <a:cs typeface="Arial" panose="020B0604020202020204" pitchFamily="34" charset="0"/>
              </a:rPr>
              <a:t>.</a:t>
            </a:r>
          </a:p>
          <a:p>
            <a:r>
              <a:rPr lang="es-MX" sz="2000" b="1" dirty="0">
                <a:latin typeface="Arial" panose="020B0604020202020204" pitchFamily="34" charset="0"/>
                <a:cs typeface="Arial" panose="020B0604020202020204" pitchFamily="34" charset="0"/>
              </a:rPr>
              <a:t>.</a:t>
            </a:r>
          </a:p>
          <a:p>
            <a:r>
              <a:rPr lang="es-MX" sz="2000" b="1" dirty="0">
                <a:latin typeface="Arial" panose="020B0604020202020204" pitchFamily="34" charset="0"/>
                <a:cs typeface="Arial" panose="020B0604020202020204" pitchFamily="34" charset="0"/>
              </a:rPr>
              <a:t>.</a:t>
            </a:r>
          </a:p>
        </p:txBody>
      </p:sp>
      <p:sp>
        <p:nvSpPr>
          <p:cNvPr id="32" name="Slide Number Placeholder 2">
            <a:extLst>
              <a:ext uri="{FF2B5EF4-FFF2-40B4-BE49-F238E27FC236}">
                <a16:creationId xmlns:a16="http://schemas.microsoft.com/office/drawing/2014/main" id="{53ACEB66-1502-46EA-AA37-53EB0E554BC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311F34D9-363B-A270-D2D3-94071AEAD182}"/>
              </a:ext>
            </a:extLst>
          </p:cNvPr>
          <p:cNvSpPr/>
          <p:nvPr/>
        </p:nvSpPr>
        <p:spPr>
          <a:xfrm>
            <a:off x="4573194" y="1487228"/>
            <a:ext cx="78899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cinta 1</a:t>
            </a:r>
          </a:p>
        </p:txBody>
      </p:sp>
      <p:cxnSp>
        <p:nvCxnSpPr>
          <p:cNvPr id="4" name="Conector recto 3">
            <a:extLst>
              <a:ext uri="{FF2B5EF4-FFF2-40B4-BE49-F238E27FC236}">
                <a16:creationId xmlns:a16="http://schemas.microsoft.com/office/drawing/2014/main" id="{4AAF10CC-2DEE-FB32-3878-792788754565}"/>
              </a:ext>
            </a:extLst>
          </p:cNvPr>
          <p:cNvCxnSpPr>
            <a:cxnSpLocks/>
          </p:cNvCxnSpPr>
          <p:nvPr/>
        </p:nvCxnSpPr>
        <p:spPr>
          <a:xfrm>
            <a:off x="1947081" y="2383077"/>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F1BF6E75-E080-5D11-4E71-821D652C3CE8}"/>
              </a:ext>
            </a:extLst>
          </p:cNvPr>
          <p:cNvCxnSpPr>
            <a:cxnSpLocks/>
          </p:cNvCxnSpPr>
          <p:nvPr/>
        </p:nvCxnSpPr>
        <p:spPr>
          <a:xfrm>
            <a:off x="1947081" y="2621851"/>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ángulo 9">
            <a:extLst>
              <a:ext uri="{FF2B5EF4-FFF2-40B4-BE49-F238E27FC236}">
                <a16:creationId xmlns:a16="http://schemas.microsoft.com/office/drawing/2014/main" id="{4CD164F8-2A2E-F7CD-CF0D-90CD1AB8890E}"/>
              </a:ext>
            </a:extLst>
          </p:cNvPr>
          <p:cNvSpPr/>
          <p:nvPr/>
        </p:nvSpPr>
        <p:spPr>
          <a:xfrm>
            <a:off x="4573194" y="2337829"/>
            <a:ext cx="78899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cinta 2</a:t>
            </a:r>
          </a:p>
        </p:txBody>
      </p:sp>
      <p:cxnSp>
        <p:nvCxnSpPr>
          <p:cNvPr id="12" name="Conector recto 11">
            <a:extLst>
              <a:ext uri="{FF2B5EF4-FFF2-40B4-BE49-F238E27FC236}">
                <a16:creationId xmlns:a16="http://schemas.microsoft.com/office/drawing/2014/main" id="{36C925A1-6F8A-F688-45FC-76AD1F1C99DA}"/>
              </a:ext>
            </a:extLst>
          </p:cNvPr>
          <p:cNvCxnSpPr>
            <a:cxnSpLocks/>
          </p:cNvCxnSpPr>
          <p:nvPr/>
        </p:nvCxnSpPr>
        <p:spPr>
          <a:xfrm>
            <a:off x="1947081" y="3270538"/>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A44CB706-5A2B-A633-014D-079621D344AC}"/>
              </a:ext>
            </a:extLst>
          </p:cNvPr>
          <p:cNvCxnSpPr>
            <a:cxnSpLocks/>
          </p:cNvCxnSpPr>
          <p:nvPr/>
        </p:nvCxnSpPr>
        <p:spPr>
          <a:xfrm>
            <a:off x="1947081" y="3551994"/>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11E4EDE8-9F00-EC42-604A-CCDBD0BF48E3}"/>
              </a:ext>
            </a:extLst>
          </p:cNvPr>
          <p:cNvSpPr/>
          <p:nvPr/>
        </p:nvSpPr>
        <p:spPr>
          <a:xfrm>
            <a:off x="4610839" y="4452100"/>
            <a:ext cx="811441"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cinta K</a:t>
            </a:r>
          </a:p>
        </p:txBody>
      </p:sp>
      <p:cxnSp>
        <p:nvCxnSpPr>
          <p:cNvPr id="20" name="Conector recto 19">
            <a:extLst>
              <a:ext uri="{FF2B5EF4-FFF2-40B4-BE49-F238E27FC236}">
                <a16:creationId xmlns:a16="http://schemas.microsoft.com/office/drawing/2014/main" id="{4978E771-1A01-7D0B-364F-F6D2D2D221BF}"/>
              </a:ext>
            </a:extLst>
          </p:cNvPr>
          <p:cNvCxnSpPr>
            <a:cxnSpLocks/>
          </p:cNvCxnSpPr>
          <p:nvPr/>
        </p:nvCxnSpPr>
        <p:spPr>
          <a:xfrm>
            <a:off x="1947081" y="4480528"/>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758E7D93-F91A-23C7-5038-F3AE2AB65C66}"/>
              </a:ext>
            </a:extLst>
          </p:cNvPr>
          <p:cNvCxnSpPr>
            <a:cxnSpLocks/>
          </p:cNvCxnSpPr>
          <p:nvPr/>
        </p:nvCxnSpPr>
        <p:spPr>
          <a:xfrm>
            <a:off x="1947081" y="4723900"/>
            <a:ext cx="61952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45F33F71-DBFF-E757-D344-33FA1AB463AE}"/>
              </a:ext>
            </a:extLst>
          </p:cNvPr>
          <p:cNvCxnSpPr>
            <a:cxnSpLocks/>
          </p:cNvCxnSpPr>
          <p:nvPr/>
        </p:nvCxnSpPr>
        <p:spPr>
          <a:xfrm flipH="1" flipV="1">
            <a:off x="2002058" y="1779723"/>
            <a:ext cx="3082249" cy="41676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7229B90E-8765-89C0-5F27-4B8E99C50E94}"/>
              </a:ext>
            </a:extLst>
          </p:cNvPr>
          <p:cNvCxnSpPr>
            <a:cxnSpLocks/>
          </p:cNvCxnSpPr>
          <p:nvPr/>
        </p:nvCxnSpPr>
        <p:spPr>
          <a:xfrm flipV="1">
            <a:off x="5087451" y="2652696"/>
            <a:ext cx="1264155" cy="32713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0AC5F6FC-A4F8-0498-48FC-40C2F1A0EE11}"/>
              </a:ext>
            </a:extLst>
          </p:cNvPr>
          <p:cNvCxnSpPr>
            <a:cxnSpLocks/>
          </p:cNvCxnSpPr>
          <p:nvPr/>
        </p:nvCxnSpPr>
        <p:spPr>
          <a:xfrm flipV="1">
            <a:off x="5096073" y="3579418"/>
            <a:ext cx="2919813" cy="23590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ángulo 47">
            <a:extLst>
              <a:ext uri="{FF2B5EF4-FFF2-40B4-BE49-F238E27FC236}">
                <a16:creationId xmlns:a16="http://schemas.microsoft.com/office/drawing/2014/main" id="{709F5BBD-8915-73E9-9B09-B4B299D6824D}"/>
              </a:ext>
            </a:extLst>
          </p:cNvPr>
          <p:cNvSpPr/>
          <p:nvPr/>
        </p:nvSpPr>
        <p:spPr>
          <a:xfrm>
            <a:off x="6716214" y="3546093"/>
            <a:ext cx="106150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cabezal 3</a:t>
            </a:r>
          </a:p>
        </p:txBody>
      </p:sp>
      <p:sp>
        <p:nvSpPr>
          <p:cNvPr id="54" name="Rectángulo 53">
            <a:extLst>
              <a:ext uri="{FF2B5EF4-FFF2-40B4-BE49-F238E27FC236}">
                <a16:creationId xmlns:a16="http://schemas.microsoft.com/office/drawing/2014/main" id="{4EAAC112-5260-1C4A-7B7E-A6C839D139DF}"/>
              </a:ext>
            </a:extLst>
          </p:cNvPr>
          <p:cNvSpPr/>
          <p:nvPr/>
        </p:nvSpPr>
        <p:spPr>
          <a:xfrm>
            <a:off x="1751084" y="4810399"/>
            <a:ext cx="1083951"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cabezal K</a:t>
            </a:r>
          </a:p>
        </p:txBody>
      </p:sp>
      <p:sp>
        <p:nvSpPr>
          <p:cNvPr id="7" name="CuadroTexto 6">
            <a:extLst>
              <a:ext uri="{FF2B5EF4-FFF2-40B4-BE49-F238E27FC236}">
                <a16:creationId xmlns:a16="http://schemas.microsoft.com/office/drawing/2014/main" id="{97E8FA95-871E-D5DF-5601-851F8A15DF01}"/>
              </a:ext>
            </a:extLst>
          </p:cNvPr>
          <p:cNvSpPr txBox="1"/>
          <p:nvPr/>
        </p:nvSpPr>
        <p:spPr>
          <a:xfrm>
            <a:off x="8604196" y="2508724"/>
            <a:ext cx="2918983" cy="923330"/>
          </a:xfrm>
          <a:prstGeom prst="rect">
            <a:avLst/>
          </a:prstGeom>
          <a:noFill/>
        </p:spPr>
        <p:txBody>
          <a:bodyPr wrap="square">
            <a:spAutoFit/>
          </a:bodyPr>
          <a:lstStyle/>
          <a:p>
            <a:pPr algn="just"/>
            <a:r>
              <a:rPr lang="es-ES" sz="1800" b="1" dirty="0">
                <a:solidFill>
                  <a:srgbClr val="000000"/>
                </a:solidFill>
                <a:latin typeface="Arial" panose="020B0604020202020204" pitchFamily="34" charset="0"/>
                <a:ea typeface="Times New Roman" panose="02020603050405020304" pitchFamily="18" charset="0"/>
                <a:cs typeface="Arial" panose="020B0604020202020204" pitchFamily="34" charset="0"/>
              </a:rPr>
              <a:t>Se puede simular con </a:t>
            </a:r>
          </a:p>
          <a:p>
            <a:pPr algn="just"/>
            <a:r>
              <a:rPr lang="es-ES" sz="1800" b="1" dirty="0">
                <a:solidFill>
                  <a:srgbClr val="000000"/>
                </a:solidFill>
                <a:latin typeface="Arial" panose="020B0604020202020204" pitchFamily="34" charset="0"/>
                <a:ea typeface="Times New Roman" panose="02020603050405020304" pitchFamily="18" charset="0"/>
                <a:cs typeface="Arial" panose="020B0604020202020204" pitchFamily="34" charset="0"/>
              </a:rPr>
              <a:t>una MT de una cinta, con </a:t>
            </a:r>
          </a:p>
          <a:p>
            <a:pPr algn="just"/>
            <a:r>
              <a:rPr lang="es-ES" sz="1800" b="1" dirty="0">
                <a:solidFill>
                  <a:srgbClr val="000000"/>
                </a:solidFill>
                <a:latin typeface="Arial" panose="020B0604020202020204" pitchFamily="34" charset="0"/>
                <a:ea typeface="Times New Roman" panose="02020603050405020304" pitchFamily="18" charset="0"/>
                <a:cs typeface="Arial" panose="020B0604020202020204" pitchFamily="34" charset="0"/>
              </a:rPr>
              <a:t>un retardo </a:t>
            </a:r>
            <a:r>
              <a:rPr lang="es-MX" b="1" dirty="0">
                <a:latin typeface="Arial" panose="020B0604020202020204" pitchFamily="34" charset="0"/>
                <a:cs typeface="Arial" panose="020B0604020202020204" pitchFamily="34" charset="0"/>
              </a:rPr>
              <a:t>cuadrático</a:t>
            </a:r>
            <a:r>
              <a:rPr lang="es-ES" sz="1800" b="1"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604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709DC6A-370B-4C61-BD83-D8C5489E5B28}"/>
              </a:ext>
            </a:extLst>
          </p:cNvPr>
          <p:cNvSpPr>
            <a:spLocks noGrp="1"/>
          </p:cNvSpPr>
          <p:nvPr>
            <p:ph idx="1"/>
          </p:nvPr>
        </p:nvSpPr>
        <p:spPr>
          <a:xfrm>
            <a:off x="309304" y="313604"/>
            <a:ext cx="11608903" cy="6544395"/>
          </a:xfrm>
        </p:spPr>
        <p:txBody>
          <a:bodyPr>
            <a:noAutofit/>
          </a:bodyPr>
          <a:lstStyle/>
          <a:p>
            <a:pPr marL="0" indent="0">
              <a:buNone/>
            </a:pPr>
            <a:r>
              <a:rPr lang="es-AR" sz="2400" b="1" dirty="0">
                <a:latin typeface="Arial" panose="020B0604020202020204" pitchFamily="34" charset="0"/>
                <a:cs typeface="Arial" panose="020B0604020202020204" pitchFamily="34" charset="0"/>
              </a:rPr>
              <a:t>Otras visiones de MT</a:t>
            </a:r>
          </a:p>
          <a:p>
            <a:pPr marL="0" indent="0">
              <a:buNone/>
            </a:pPr>
            <a:endParaRPr lang="es-AR" sz="2500" b="1" u="sng" dirty="0">
              <a:latin typeface="Arial" panose="020B0604020202020204" pitchFamily="34" charset="0"/>
              <a:cs typeface="Arial" panose="020B0604020202020204" pitchFamily="34" charset="0"/>
            </a:endParaRPr>
          </a:p>
          <a:p>
            <a:pPr marL="0" indent="0" algn="just">
              <a:lnSpc>
                <a:spcPct val="100000"/>
              </a:lnSpc>
              <a:spcBef>
                <a:spcPts val="0"/>
              </a:spcBef>
              <a:buNone/>
            </a:pPr>
            <a:r>
              <a:rPr lang="es-AR" sz="1800" b="1" u="sng" dirty="0">
                <a:latin typeface="Arial" panose="020B0604020202020204" pitchFamily="34" charset="0"/>
                <a:cs typeface="Arial" panose="020B0604020202020204" pitchFamily="34" charset="0"/>
              </a:rPr>
              <a:t>Visión de MT calculadora</a:t>
            </a:r>
            <a:r>
              <a:rPr lang="es-AR" sz="1800" b="1" dirty="0">
                <a:latin typeface="Arial" panose="020B0604020202020204" pitchFamily="34" charset="0"/>
                <a:cs typeface="Arial" panose="020B0604020202020204" pitchFamily="34" charset="0"/>
              </a:rPr>
              <a:t> (para problemas de búsqueda)</a:t>
            </a:r>
          </a:p>
          <a:p>
            <a:pPr marL="0" indent="0" algn="just">
              <a:lnSpc>
                <a:spcPct val="100000"/>
              </a:lnSpc>
              <a:spcBef>
                <a:spcPts val="0"/>
              </a:spcBef>
              <a:buNone/>
            </a:pPr>
            <a:endParaRPr lang="es-AR" sz="1800" b="1" dirty="0">
              <a:latin typeface="Arial" panose="020B0604020202020204" pitchFamily="34" charset="0"/>
              <a:cs typeface="Arial" panose="020B0604020202020204" pitchFamily="34" charset="0"/>
            </a:endParaRPr>
          </a:p>
          <a:p>
            <a:pPr marL="0" indent="0" algn="just">
              <a:lnSpc>
                <a:spcPct val="100000"/>
              </a:lnSpc>
              <a:spcBef>
                <a:spcPts val="0"/>
              </a:spcBef>
              <a:buNone/>
            </a:pPr>
            <a:r>
              <a:rPr lang="es-MX" sz="1800" dirty="0">
                <a:latin typeface="Arial" panose="020B0604020202020204" pitchFamily="34" charset="0"/>
                <a:cs typeface="Arial" panose="020B0604020202020204" pitchFamily="34" charset="0"/>
              </a:rPr>
              <a:t>Ejemplo: construir una MT que reste 2 números representados en notación unaria y separados por un cero.</a:t>
            </a:r>
          </a:p>
          <a:p>
            <a:pPr marL="0" indent="0" algn="just">
              <a:lnSpc>
                <a:spcPct val="100000"/>
              </a:lnSpc>
              <a:spcBef>
                <a:spcPts val="0"/>
              </a:spcBef>
              <a:buNone/>
            </a:pPr>
            <a:r>
              <a:rPr lang="es-MX" sz="1800" b="1" dirty="0">
                <a:latin typeface="Arial" panose="020B0604020202020204" pitchFamily="34" charset="0"/>
                <a:cs typeface="Arial" panose="020B0604020202020204" pitchFamily="34" charset="0"/>
              </a:rPr>
              <a:t>Por ejemplo, dada la entrada 11111101111, obtener la salida 11 </a:t>
            </a:r>
            <a:r>
              <a:rPr lang="es-MX" sz="1800" dirty="0">
                <a:latin typeface="Arial" panose="020B0604020202020204" pitchFamily="34" charset="0"/>
                <a:cs typeface="Arial" panose="020B0604020202020204" pitchFamily="34" charset="0"/>
              </a:rPr>
              <a:t>(6 – 4 = 2).</a:t>
            </a:r>
          </a:p>
          <a:p>
            <a:pPr marL="0" indent="0" algn="just">
              <a:lnSpc>
                <a:spcPct val="100000"/>
              </a:lnSpc>
              <a:spcBef>
                <a:spcPts val="0"/>
              </a:spcBef>
              <a:buNone/>
            </a:pPr>
            <a:r>
              <a:rPr lang="es-MX" sz="1800" u="sng" dirty="0">
                <a:latin typeface="Arial" panose="020B0604020202020204" pitchFamily="34" charset="0"/>
                <a:cs typeface="Arial" panose="020B0604020202020204" pitchFamily="34" charset="0"/>
              </a:rPr>
              <a:t>Idea general</a:t>
            </a:r>
            <a:r>
              <a:rPr lang="es-MX" sz="1800" dirty="0">
                <a:latin typeface="Arial" panose="020B0604020202020204" pitchFamily="34" charset="0"/>
                <a:cs typeface="Arial" panose="020B0604020202020204" pitchFamily="34" charset="0"/>
              </a:rPr>
              <a:t>: tachar el primer 1 antes del 0, luego el primer 1 después del 0, luego el segundo 1 antes del 0, y así hasta tachar al final el 0. </a:t>
            </a:r>
          </a:p>
          <a:p>
            <a:pPr marL="0" indent="0" algn="just">
              <a:lnSpc>
                <a:spcPct val="100000"/>
              </a:lnSpc>
              <a:spcBef>
                <a:spcPts val="0"/>
              </a:spcBef>
              <a:buNone/>
            </a:pPr>
            <a:endParaRPr lang="es-MX" sz="500" dirty="0">
              <a:latin typeface="Arial" panose="020B0604020202020204" pitchFamily="34" charset="0"/>
              <a:cs typeface="Arial" panose="020B0604020202020204" pitchFamily="34" charset="0"/>
            </a:endParaRPr>
          </a:p>
          <a:p>
            <a:pPr marL="0" indent="0" algn="just">
              <a:lnSpc>
                <a:spcPct val="100000"/>
              </a:lnSpc>
              <a:spcBef>
                <a:spcPts val="0"/>
              </a:spcBef>
              <a:buNone/>
            </a:pPr>
            <a:r>
              <a:rPr lang="es-MX" sz="1800" u="sng" dirty="0">
                <a:latin typeface="Arial" panose="020B0604020202020204" pitchFamily="34" charset="0"/>
                <a:cs typeface="Arial" panose="020B0604020202020204" pitchFamily="34" charset="0"/>
              </a:rPr>
              <a:t>Comentario</a:t>
            </a:r>
            <a:r>
              <a:rPr lang="es-MX" sz="1800" dirty="0">
                <a:latin typeface="Arial" panose="020B0604020202020204" pitchFamily="34" charset="0"/>
                <a:cs typeface="Arial" panose="020B0604020202020204" pitchFamily="34" charset="0"/>
              </a:rPr>
              <a:t>: en este caso, además del estado final, </a:t>
            </a:r>
          </a:p>
          <a:p>
            <a:pPr marL="0" indent="0" algn="just">
              <a:lnSpc>
                <a:spcPct val="100000"/>
              </a:lnSpc>
              <a:spcBef>
                <a:spcPts val="0"/>
              </a:spcBef>
              <a:buNone/>
            </a:pPr>
            <a:r>
              <a:rPr lang="es-MX" sz="1800" dirty="0">
                <a:latin typeface="Arial" panose="020B0604020202020204" pitchFamily="34" charset="0"/>
                <a:cs typeface="Arial" panose="020B0604020202020204" pitchFamily="34" charset="0"/>
              </a:rPr>
              <a:t>interesa el contenido final de la cinta.</a:t>
            </a:r>
          </a:p>
          <a:p>
            <a:pPr marL="0" indent="0" algn="just">
              <a:lnSpc>
                <a:spcPct val="120000"/>
              </a:lnSpc>
              <a:spcBef>
                <a:spcPts val="0"/>
              </a:spcBef>
              <a:buNone/>
            </a:pPr>
            <a:endParaRPr lang="es-MX" sz="2000" dirty="0">
              <a:latin typeface="Arial" panose="020B0604020202020204" pitchFamily="34" charset="0"/>
              <a:cs typeface="Arial" panose="020B0604020202020204" pitchFamily="34" charset="0"/>
            </a:endParaRPr>
          </a:p>
          <a:p>
            <a:pPr marL="0" indent="0" algn="just">
              <a:lnSpc>
                <a:spcPct val="100000"/>
              </a:lnSpc>
              <a:spcBef>
                <a:spcPts val="0"/>
              </a:spcBef>
              <a:buNone/>
            </a:pPr>
            <a:r>
              <a:rPr lang="es-AR" sz="1800" b="1" u="sng" dirty="0">
                <a:latin typeface="Arial" panose="020B0604020202020204" pitchFamily="34" charset="0"/>
                <a:cs typeface="Arial" panose="020B0604020202020204" pitchFamily="34" charset="0"/>
              </a:rPr>
              <a:t>Visión de MT generadora</a:t>
            </a:r>
          </a:p>
          <a:p>
            <a:pPr marL="0" indent="0" algn="just">
              <a:lnSpc>
                <a:spcPct val="100000"/>
              </a:lnSpc>
              <a:spcBef>
                <a:spcPts val="0"/>
              </a:spcBef>
              <a:buNone/>
            </a:pPr>
            <a:endParaRPr lang="es-AR" sz="1800" b="1" u="sng" dirty="0">
              <a:latin typeface="Arial" panose="020B0604020202020204" pitchFamily="34" charset="0"/>
              <a:cs typeface="Arial" panose="020B0604020202020204" pitchFamily="34" charset="0"/>
            </a:endParaRPr>
          </a:p>
          <a:p>
            <a:pPr marL="0" indent="0" algn="just">
              <a:lnSpc>
                <a:spcPct val="100000"/>
              </a:lnSpc>
              <a:spcBef>
                <a:spcPts val="0"/>
              </a:spcBef>
              <a:buNone/>
            </a:pPr>
            <a:r>
              <a:rPr lang="es-MX" sz="1800" dirty="0">
                <a:latin typeface="Arial" panose="020B0604020202020204" pitchFamily="34" charset="0"/>
                <a:cs typeface="Arial" panose="020B0604020202020204" pitchFamily="34" charset="0"/>
              </a:rPr>
              <a:t>Ejemplo: construir una MT que genere todas las cadenas de la forma</a:t>
            </a:r>
            <a:r>
              <a:rPr lang="es-AR" sz="1800" dirty="0">
                <a:latin typeface="Arial" panose="020B0604020202020204" pitchFamily="34" charset="0"/>
                <a:cs typeface="Arial" panose="020B0604020202020204" pitchFamily="34" charset="0"/>
              </a:rPr>
              <a:t> </a:t>
            </a:r>
            <a:r>
              <a:rPr lang="es-AR" sz="1800" dirty="0" err="1">
                <a:latin typeface="Arial" panose="020B0604020202020204" pitchFamily="34" charset="0"/>
                <a:cs typeface="Arial" panose="020B0604020202020204" pitchFamily="34" charset="0"/>
              </a:rPr>
              <a:t>a</a:t>
            </a:r>
            <a:r>
              <a:rPr lang="es-AR" sz="1800" baseline="30000" dirty="0" err="1">
                <a:latin typeface="Arial" panose="020B0604020202020204" pitchFamily="34" charset="0"/>
                <a:cs typeface="Arial" panose="020B0604020202020204" pitchFamily="34" charset="0"/>
              </a:rPr>
              <a:t>n</a:t>
            </a:r>
            <a:r>
              <a:rPr lang="es-AR" sz="1800" dirty="0" err="1">
                <a:latin typeface="Arial" panose="020B0604020202020204" pitchFamily="34" charset="0"/>
                <a:cs typeface="Arial" panose="020B0604020202020204" pitchFamily="34" charset="0"/>
              </a:rPr>
              <a:t>b</a:t>
            </a:r>
            <a:r>
              <a:rPr lang="es-AR" sz="1800" baseline="30000" dirty="0" err="1">
                <a:latin typeface="Arial" panose="020B0604020202020204" pitchFamily="34" charset="0"/>
                <a:cs typeface="Arial" panose="020B0604020202020204" pitchFamily="34" charset="0"/>
              </a:rPr>
              <a:t>n</a:t>
            </a:r>
            <a:r>
              <a:rPr lang="es-AR" sz="1800" dirty="0">
                <a:latin typeface="Arial" panose="020B0604020202020204" pitchFamily="34" charset="0"/>
                <a:cs typeface="Arial" panose="020B0604020202020204" pitchFamily="34" charset="0"/>
              </a:rPr>
              <a:t>, con n </a:t>
            </a:r>
            <a:r>
              <a:rPr lang="es-ES" sz="1800" dirty="0">
                <a:latin typeface="Arial" panose="020B0604020202020204" pitchFamily="34" charset="0"/>
                <a:cs typeface="Arial" panose="020B0604020202020204" pitchFamily="34" charset="0"/>
              </a:rPr>
              <a:t>≥</a:t>
            </a:r>
            <a:r>
              <a:rPr lang="es-AR" sz="1800" dirty="0">
                <a:latin typeface="Arial" panose="020B0604020202020204" pitchFamily="34" charset="0"/>
                <a:cs typeface="Arial" panose="020B0604020202020204" pitchFamily="34" charset="0"/>
              </a:rPr>
              <a:t> 1. Es decir, que en una cinta especial de salida </a:t>
            </a:r>
            <a:r>
              <a:rPr lang="es-AR" sz="1800" b="1" dirty="0">
                <a:latin typeface="Arial" panose="020B0604020202020204" pitchFamily="34" charset="0"/>
                <a:cs typeface="Arial" panose="020B0604020202020204" pitchFamily="34" charset="0"/>
              </a:rPr>
              <a:t>genere las cadenas ab, </a:t>
            </a:r>
            <a:r>
              <a:rPr lang="es-AR" sz="1800" b="1" dirty="0" err="1">
                <a:latin typeface="Arial" panose="020B0604020202020204" pitchFamily="34" charset="0"/>
                <a:cs typeface="Arial" panose="020B0604020202020204" pitchFamily="34" charset="0"/>
              </a:rPr>
              <a:t>aabb</a:t>
            </a:r>
            <a:r>
              <a:rPr lang="es-AR" sz="1800" b="1" dirty="0">
                <a:latin typeface="Arial" panose="020B0604020202020204" pitchFamily="34" charset="0"/>
                <a:cs typeface="Arial" panose="020B0604020202020204" pitchFamily="34" charset="0"/>
              </a:rPr>
              <a:t>, </a:t>
            </a:r>
            <a:r>
              <a:rPr lang="es-AR" sz="1800" b="1" dirty="0" err="1">
                <a:latin typeface="Arial" panose="020B0604020202020204" pitchFamily="34" charset="0"/>
                <a:cs typeface="Arial" panose="020B0604020202020204" pitchFamily="34" charset="0"/>
              </a:rPr>
              <a:t>aaabbb</a:t>
            </a:r>
            <a:r>
              <a:rPr lang="es-AR" sz="1800" b="1" dirty="0">
                <a:latin typeface="Arial" panose="020B0604020202020204" pitchFamily="34" charset="0"/>
                <a:cs typeface="Arial" panose="020B0604020202020204" pitchFamily="34" charset="0"/>
              </a:rPr>
              <a:t>, </a:t>
            </a:r>
            <a:r>
              <a:rPr lang="es-AR" sz="1800" b="1" dirty="0" err="1">
                <a:latin typeface="Arial" panose="020B0604020202020204" pitchFamily="34" charset="0"/>
                <a:cs typeface="Arial" panose="020B0604020202020204" pitchFamily="34" charset="0"/>
              </a:rPr>
              <a:t>aaaabbbb</a:t>
            </a:r>
            <a:r>
              <a:rPr lang="es-AR" sz="1800" b="1" dirty="0">
                <a:latin typeface="Arial" panose="020B0604020202020204" pitchFamily="34" charset="0"/>
                <a:cs typeface="Arial" panose="020B0604020202020204" pitchFamily="34" charset="0"/>
              </a:rPr>
              <a:t>, etc.</a:t>
            </a:r>
          </a:p>
          <a:p>
            <a:pPr marL="0" indent="0" algn="just">
              <a:lnSpc>
                <a:spcPct val="100000"/>
              </a:lnSpc>
              <a:spcBef>
                <a:spcPts val="0"/>
              </a:spcBef>
              <a:buNone/>
            </a:pPr>
            <a:r>
              <a:rPr lang="es-MX" sz="1800" u="sng" dirty="0">
                <a:latin typeface="Arial" panose="020B0604020202020204" pitchFamily="34" charset="0"/>
                <a:cs typeface="Arial" panose="020B0604020202020204" pitchFamily="34" charset="0"/>
              </a:rPr>
              <a:t>Idea general</a:t>
            </a:r>
            <a:r>
              <a:rPr lang="es-MX" sz="1800" dirty="0">
                <a:latin typeface="Arial" panose="020B0604020202020204" pitchFamily="34" charset="0"/>
                <a:cs typeface="Arial" panose="020B0604020202020204" pitchFamily="34" charset="0"/>
              </a:rPr>
              <a:t>: </a:t>
            </a:r>
          </a:p>
          <a:p>
            <a:pPr marL="360000" indent="-457200" algn="just">
              <a:lnSpc>
                <a:spcPct val="100000"/>
              </a:lnSpc>
              <a:spcBef>
                <a:spcPts val="0"/>
              </a:spcBef>
              <a:buAutoNum type="arabicParenBoth"/>
            </a:pPr>
            <a:r>
              <a:rPr lang="es-MX" sz="1800" dirty="0">
                <a:latin typeface="Arial" panose="020B0604020202020204" pitchFamily="34" charset="0"/>
                <a:cs typeface="Arial" panose="020B0604020202020204" pitchFamily="34" charset="0"/>
              </a:rPr>
              <a:t>i := 1</a:t>
            </a:r>
          </a:p>
          <a:p>
            <a:pPr marL="360000" indent="-457200" algn="just">
              <a:lnSpc>
                <a:spcPct val="100000"/>
              </a:lnSpc>
              <a:spcBef>
                <a:spcPts val="0"/>
              </a:spcBef>
              <a:buAutoNum type="arabicParenBoth"/>
            </a:pPr>
            <a:r>
              <a:rPr lang="es-MX" sz="1800" dirty="0">
                <a:latin typeface="Arial" panose="020B0604020202020204" pitchFamily="34" charset="0"/>
                <a:cs typeface="Arial" panose="020B0604020202020204" pitchFamily="34" charset="0"/>
              </a:rPr>
              <a:t>imprimir i veces </a:t>
            </a:r>
            <a:r>
              <a:rPr lang="es-MX" sz="1800" i="1" dirty="0">
                <a:latin typeface="Arial" panose="020B0604020202020204" pitchFamily="34" charset="0"/>
                <a:cs typeface="Arial" panose="020B0604020202020204" pitchFamily="34" charset="0"/>
              </a:rPr>
              <a:t>a</a:t>
            </a:r>
            <a:r>
              <a:rPr lang="es-MX" sz="1800" dirty="0">
                <a:latin typeface="Arial" panose="020B0604020202020204" pitchFamily="34" charset="0"/>
                <a:cs typeface="Arial" panose="020B0604020202020204" pitchFamily="34" charset="0"/>
              </a:rPr>
              <a:t>, imprimir i veces b, e imprimir una coma </a:t>
            </a:r>
          </a:p>
          <a:p>
            <a:pPr marL="360000" indent="-457200" algn="just">
              <a:lnSpc>
                <a:spcPct val="100000"/>
              </a:lnSpc>
              <a:spcBef>
                <a:spcPts val="0"/>
              </a:spcBef>
              <a:buAutoNum type="arabicParenBoth"/>
            </a:pPr>
            <a:r>
              <a:rPr lang="es-MX" sz="1800" dirty="0">
                <a:latin typeface="Arial" panose="020B0604020202020204" pitchFamily="34" charset="0"/>
                <a:cs typeface="Arial" panose="020B0604020202020204" pitchFamily="34" charset="0"/>
              </a:rPr>
              <a:t>i := i + 1 y volver a (2)</a:t>
            </a:r>
          </a:p>
          <a:p>
            <a:pPr marL="0" indent="0" algn="just">
              <a:lnSpc>
                <a:spcPct val="100000"/>
              </a:lnSpc>
              <a:spcBef>
                <a:spcPts val="0"/>
              </a:spcBef>
              <a:buNone/>
            </a:pPr>
            <a:endParaRPr lang="es-MX" sz="500" dirty="0">
              <a:latin typeface="Arial" panose="020B0604020202020204" pitchFamily="34" charset="0"/>
              <a:cs typeface="Arial" panose="020B0604020202020204" pitchFamily="34" charset="0"/>
            </a:endParaRPr>
          </a:p>
          <a:p>
            <a:pPr marL="0" indent="0" algn="just">
              <a:lnSpc>
                <a:spcPct val="100000"/>
              </a:lnSpc>
              <a:spcBef>
                <a:spcPts val="0"/>
              </a:spcBef>
              <a:buNone/>
            </a:pPr>
            <a:endParaRPr lang="es-MX" sz="2300" b="1" dirty="0">
              <a:solidFill>
                <a:srgbClr val="0070C0"/>
              </a:solidFill>
              <a:latin typeface="Arial" panose="020B0604020202020204" pitchFamily="34" charset="0"/>
              <a:cs typeface="Arial" panose="020B0604020202020204" pitchFamily="34" charset="0"/>
            </a:endParaRPr>
          </a:p>
          <a:p>
            <a:pPr marL="0" indent="0" algn="just">
              <a:lnSpc>
                <a:spcPct val="100000"/>
              </a:lnSpc>
              <a:spcBef>
                <a:spcPts val="0"/>
              </a:spcBef>
              <a:buNone/>
            </a:pPr>
            <a:r>
              <a:rPr lang="es-MX" sz="1800" b="1" dirty="0">
                <a:solidFill>
                  <a:srgbClr val="0070C0"/>
                </a:solidFill>
                <a:latin typeface="Arial" panose="020B0604020202020204" pitchFamily="34" charset="0"/>
                <a:cs typeface="Arial" panose="020B0604020202020204" pitchFamily="34" charset="0"/>
              </a:rPr>
              <a:t>Teorema</a:t>
            </a:r>
            <a:r>
              <a:rPr lang="es-MX" sz="1800" dirty="0">
                <a:latin typeface="Arial" panose="020B0604020202020204" pitchFamily="34" charset="0"/>
                <a:cs typeface="Arial" panose="020B0604020202020204" pitchFamily="34" charset="0"/>
              </a:rPr>
              <a:t>: Existe una MT M que acepta un lenguaje L </a:t>
            </a:r>
            <a:r>
              <a:rPr lang="es-MX" sz="1800" dirty="0" err="1">
                <a:latin typeface="Arial" panose="020B0604020202020204" pitchFamily="34" charset="0"/>
                <a:cs typeface="Arial" panose="020B0604020202020204" pitchFamily="34" charset="0"/>
              </a:rPr>
              <a:t>sii</a:t>
            </a:r>
            <a:r>
              <a:rPr lang="es-MX" sz="1800" dirty="0">
                <a:latin typeface="Arial" panose="020B0604020202020204" pitchFamily="34" charset="0"/>
                <a:cs typeface="Arial" panose="020B0604020202020204" pitchFamily="34" charset="0"/>
              </a:rPr>
              <a:t> existe una MT M´ que genera el lenguaje L.</a:t>
            </a:r>
            <a:endParaRPr lang="es-MX" sz="1800" dirty="0"/>
          </a:p>
        </p:txBody>
      </p:sp>
      <p:sp>
        <p:nvSpPr>
          <p:cNvPr id="4" name="Slide Number Placeholder 2">
            <a:extLst>
              <a:ext uri="{FF2B5EF4-FFF2-40B4-BE49-F238E27FC236}">
                <a16:creationId xmlns:a16="http://schemas.microsoft.com/office/drawing/2014/main" id="{3FB151B1-E4D9-4405-8F7B-1E6E48BAFE5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Rectángulo 4">
            <a:extLst>
              <a:ext uri="{FF2B5EF4-FFF2-40B4-BE49-F238E27FC236}">
                <a16:creationId xmlns:a16="http://schemas.microsoft.com/office/drawing/2014/main" id="{9BF89A2F-A3E1-4DE5-9972-7CD4EA9915EE}"/>
              </a:ext>
            </a:extLst>
          </p:cNvPr>
          <p:cNvSpPr/>
          <p:nvPr/>
        </p:nvSpPr>
        <p:spPr>
          <a:xfrm>
            <a:off x="8052587" y="2795114"/>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6" name="Conector recto de flecha 5">
            <a:extLst>
              <a:ext uri="{FF2B5EF4-FFF2-40B4-BE49-F238E27FC236}">
                <a16:creationId xmlns:a16="http://schemas.microsoft.com/office/drawing/2014/main" id="{D8CD41FD-4631-48C9-B692-06ECF693658C}"/>
              </a:ext>
            </a:extLst>
          </p:cNvPr>
          <p:cNvCxnSpPr>
            <a:cxnSpLocks/>
          </p:cNvCxnSpPr>
          <p:nvPr/>
        </p:nvCxnSpPr>
        <p:spPr>
          <a:xfrm>
            <a:off x="6921433" y="3259111"/>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9F35153F-A406-44B5-90DB-93E70683DB7F}"/>
              </a:ext>
            </a:extLst>
          </p:cNvPr>
          <p:cNvCxnSpPr>
            <a:cxnSpLocks/>
          </p:cNvCxnSpPr>
          <p:nvPr/>
        </p:nvCxnSpPr>
        <p:spPr>
          <a:xfrm>
            <a:off x="8966987" y="3251239"/>
            <a:ext cx="11180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ítulo 1">
            <a:extLst>
              <a:ext uri="{FF2B5EF4-FFF2-40B4-BE49-F238E27FC236}">
                <a16:creationId xmlns:a16="http://schemas.microsoft.com/office/drawing/2014/main" id="{F51DD978-6405-4B80-9D9B-8952816BA4AE}"/>
              </a:ext>
            </a:extLst>
          </p:cNvPr>
          <p:cNvSpPr txBox="1">
            <a:spLocks/>
          </p:cNvSpPr>
          <p:nvPr/>
        </p:nvSpPr>
        <p:spPr>
          <a:xfrm>
            <a:off x="6859329" y="3005180"/>
            <a:ext cx="1255362" cy="3048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11111101111</a:t>
            </a:r>
          </a:p>
        </p:txBody>
      </p:sp>
      <p:sp>
        <p:nvSpPr>
          <p:cNvPr id="9" name="Título 1">
            <a:extLst>
              <a:ext uri="{FF2B5EF4-FFF2-40B4-BE49-F238E27FC236}">
                <a16:creationId xmlns:a16="http://schemas.microsoft.com/office/drawing/2014/main" id="{39D53524-31EF-4FCC-A7BC-BB2F8AE62875}"/>
              </a:ext>
            </a:extLst>
          </p:cNvPr>
          <p:cNvSpPr txBox="1">
            <a:spLocks/>
          </p:cNvSpPr>
          <p:nvPr/>
        </p:nvSpPr>
        <p:spPr>
          <a:xfrm>
            <a:off x="9245845" y="2997308"/>
            <a:ext cx="412876" cy="3048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500" dirty="0">
                <a:latin typeface="Arial" panose="020B0604020202020204" pitchFamily="34" charset="0"/>
                <a:cs typeface="Arial" panose="020B0604020202020204" pitchFamily="34" charset="0"/>
              </a:rPr>
              <a:t>11</a:t>
            </a:r>
          </a:p>
        </p:txBody>
      </p:sp>
      <p:sp>
        <p:nvSpPr>
          <p:cNvPr id="11" name="Rectángulo 10">
            <a:extLst>
              <a:ext uri="{FF2B5EF4-FFF2-40B4-BE49-F238E27FC236}">
                <a16:creationId xmlns:a16="http://schemas.microsoft.com/office/drawing/2014/main" id="{04BA3D80-2DDC-471B-B44D-C1D4D6E351F0}"/>
              </a:ext>
            </a:extLst>
          </p:cNvPr>
          <p:cNvSpPr/>
          <p:nvPr/>
        </p:nvSpPr>
        <p:spPr>
          <a:xfrm>
            <a:off x="8117093" y="5333215"/>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2" name="Conector recto de flecha 11">
            <a:extLst>
              <a:ext uri="{FF2B5EF4-FFF2-40B4-BE49-F238E27FC236}">
                <a16:creationId xmlns:a16="http://schemas.microsoft.com/office/drawing/2014/main" id="{1AB9505F-26AA-440A-893E-B39D9478AEC5}"/>
              </a:ext>
            </a:extLst>
          </p:cNvPr>
          <p:cNvCxnSpPr>
            <a:cxnSpLocks/>
          </p:cNvCxnSpPr>
          <p:nvPr/>
        </p:nvCxnSpPr>
        <p:spPr>
          <a:xfrm>
            <a:off x="6985939" y="5797212"/>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274ECE2F-18BD-4C02-876D-85095C6E0F13}"/>
              </a:ext>
            </a:extLst>
          </p:cNvPr>
          <p:cNvCxnSpPr>
            <a:cxnSpLocks/>
          </p:cNvCxnSpPr>
          <p:nvPr/>
        </p:nvCxnSpPr>
        <p:spPr>
          <a:xfrm>
            <a:off x="9031493" y="5789340"/>
            <a:ext cx="288671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ítulo 1">
            <a:extLst>
              <a:ext uri="{FF2B5EF4-FFF2-40B4-BE49-F238E27FC236}">
                <a16:creationId xmlns:a16="http://schemas.microsoft.com/office/drawing/2014/main" id="{C3F8C614-83E9-43BC-B1F6-26E7D1ABE038}"/>
              </a:ext>
            </a:extLst>
          </p:cNvPr>
          <p:cNvSpPr txBox="1">
            <a:spLocks/>
          </p:cNvSpPr>
          <p:nvPr/>
        </p:nvSpPr>
        <p:spPr>
          <a:xfrm>
            <a:off x="9031493" y="5509780"/>
            <a:ext cx="3160507" cy="3048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500" dirty="0" err="1">
                <a:latin typeface="Arial" panose="020B0604020202020204" pitchFamily="34" charset="0"/>
                <a:cs typeface="Arial" panose="020B0604020202020204" pitchFamily="34" charset="0"/>
              </a:rPr>
              <a:t>ab,aabb,aaabbb,aaaabbbb</a:t>
            </a:r>
            <a:r>
              <a:rPr lang="es-MX" sz="1500" dirty="0">
                <a:latin typeface="Arial" panose="020B0604020202020204" pitchFamily="34" charset="0"/>
                <a:cs typeface="Arial" panose="020B0604020202020204" pitchFamily="34" charset="0"/>
              </a:rPr>
              <a:t>, …  </a:t>
            </a:r>
          </a:p>
        </p:txBody>
      </p:sp>
    </p:spTree>
    <p:extLst>
      <p:ext uri="{BB962C8B-B14F-4D97-AF65-F5344CB8AC3E}">
        <p14:creationId xmlns:p14="http://schemas.microsoft.com/office/powerpoint/2010/main" val="417556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CC5B3-F89C-2334-9A4B-3AAA860D791F}"/>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F02999CA-2FC5-2AE3-A8AB-10C57A0A0924}"/>
              </a:ext>
            </a:extLst>
          </p:cNvPr>
          <p:cNvSpPr txBox="1">
            <a:spLocks/>
          </p:cNvSpPr>
          <p:nvPr/>
        </p:nvSpPr>
        <p:spPr>
          <a:xfrm>
            <a:off x="3476239" y="1706842"/>
            <a:ext cx="5944370" cy="6805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dirty="0">
                <a:latin typeface="Arial" panose="020B0604020202020204" pitchFamily="34" charset="0"/>
                <a:cs typeface="Arial" panose="020B0604020202020204" pitchFamily="34" charset="0"/>
              </a:rPr>
              <a:t>Conjunto </a:t>
            </a:r>
            <a:r>
              <a:rPr lang="es-ES" sz="3600" b="1" dirty="0">
                <a:latin typeface="Arial" panose="020B0604020202020204" pitchFamily="34" charset="0"/>
                <a:cs typeface="Arial" panose="020B0604020202020204" pitchFamily="34" charset="0"/>
              </a:rPr>
              <a:t>𝔏</a:t>
            </a:r>
            <a:r>
              <a:rPr lang="es-ES" sz="2800" dirty="0">
                <a:latin typeface="Arial" panose="020B0604020202020204" pitchFamily="34" charset="0"/>
                <a:cs typeface="Arial" panose="020B0604020202020204" pitchFamily="34" charset="0"/>
              </a:rPr>
              <a:t> de </a:t>
            </a:r>
          </a:p>
          <a:p>
            <a:pPr algn="ctr"/>
            <a:r>
              <a:rPr lang="es-ES" sz="2800" dirty="0">
                <a:latin typeface="Arial" panose="020B0604020202020204" pitchFamily="34" charset="0"/>
                <a:cs typeface="Arial" panose="020B0604020202020204" pitchFamily="34" charset="0"/>
              </a:rPr>
              <a:t>todos los lenguajes</a:t>
            </a:r>
            <a:endParaRPr lang="es-MX" sz="2800" dirty="0">
              <a:latin typeface="Arial" panose="020B0604020202020204" pitchFamily="34" charset="0"/>
              <a:cs typeface="Arial" panose="020B0604020202020204" pitchFamily="34" charset="0"/>
            </a:endParaRPr>
          </a:p>
        </p:txBody>
      </p:sp>
      <p:sp>
        <p:nvSpPr>
          <p:cNvPr id="10" name="Título 1">
            <a:extLst>
              <a:ext uri="{FF2B5EF4-FFF2-40B4-BE49-F238E27FC236}">
                <a16:creationId xmlns:a16="http://schemas.microsoft.com/office/drawing/2014/main" id="{0D0D8A8D-E695-19A4-F0EF-1BF07CF71C09}"/>
              </a:ext>
            </a:extLst>
          </p:cNvPr>
          <p:cNvSpPr txBox="1">
            <a:spLocks/>
          </p:cNvSpPr>
          <p:nvPr/>
        </p:nvSpPr>
        <p:spPr>
          <a:xfrm>
            <a:off x="5124451" y="4974621"/>
            <a:ext cx="2609849" cy="1375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Conjunto </a:t>
            </a:r>
            <a:r>
              <a:rPr lang="es-MX" sz="2000" b="1" dirty="0">
                <a:latin typeface="Arial" panose="020B0604020202020204" pitchFamily="34" charset="0"/>
                <a:cs typeface="Arial" panose="020B0604020202020204" pitchFamily="34" charset="0"/>
              </a:rPr>
              <a:t>R</a:t>
            </a:r>
            <a:r>
              <a:rPr lang="es-MX" sz="2000" dirty="0">
                <a:latin typeface="Arial" panose="020B0604020202020204" pitchFamily="34" charset="0"/>
                <a:cs typeface="Arial" panose="020B0604020202020204" pitchFamily="34" charset="0"/>
              </a:rPr>
              <a:t> de los lenguajes recursivos</a:t>
            </a:r>
          </a:p>
        </p:txBody>
      </p:sp>
      <p:sp>
        <p:nvSpPr>
          <p:cNvPr id="17" name="Título 1">
            <a:extLst>
              <a:ext uri="{FF2B5EF4-FFF2-40B4-BE49-F238E27FC236}">
                <a16:creationId xmlns:a16="http://schemas.microsoft.com/office/drawing/2014/main" id="{FBA8EE1F-A1E0-FAB5-8160-9A45AF04BD2D}"/>
              </a:ext>
            </a:extLst>
          </p:cNvPr>
          <p:cNvSpPr txBox="1">
            <a:spLocks/>
          </p:cNvSpPr>
          <p:nvPr/>
        </p:nvSpPr>
        <p:spPr>
          <a:xfrm>
            <a:off x="4129216" y="3320359"/>
            <a:ext cx="4638416" cy="2805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Conjunto </a:t>
            </a:r>
            <a:r>
              <a:rPr lang="es-MX" sz="2000" b="1" dirty="0">
                <a:latin typeface="Arial" panose="020B0604020202020204" pitchFamily="34" charset="0"/>
                <a:cs typeface="Arial" panose="020B0604020202020204" pitchFamily="34" charset="0"/>
              </a:rPr>
              <a:t>RE</a:t>
            </a:r>
            <a:r>
              <a:rPr lang="es-MX" sz="2000" dirty="0">
                <a:latin typeface="Arial" panose="020B0604020202020204" pitchFamily="34" charset="0"/>
                <a:cs typeface="Arial" panose="020B0604020202020204" pitchFamily="34" charset="0"/>
              </a:rPr>
              <a:t> de los lenguajes recursivamente </a:t>
            </a:r>
            <a:r>
              <a:rPr lang="es-MX" sz="2000" dirty="0" err="1">
                <a:latin typeface="Arial" panose="020B0604020202020204" pitchFamily="34" charset="0"/>
                <a:cs typeface="Arial" panose="020B0604020202020204" pitchFamily="34" charset="0"/>
              </a:rPr>
              <a:t>enumerables</a:t>
            </a:r>
            <a:endParaRPr lang="es-MX" sz="2000" dirty="0">
              <a:latin typeface="Arial" panose="020B0604020202020204" pitchFamily="34" charset="0"/>
              <a:cs typeface="Arial" panose="020B0604020202020204" pitchFamily="34" charset="0"/>
            </a:endParaRPr>
          </a:p>
        </p:txBody>
      </p:sp>
      <p:sp>
        <p:nvSpPr>
          <p:cNvPr id="5" name="Diagrama de flujo: conector 4">
            <a:extLst>
              <a:ext uri="{FF2B5EF4-FFF2-40B4-BE49-F238E27FC236}">
                <a16:creationId xmlns:a16="http://schemas.microsoft.com/office/drawing/2014/main" id="{6343D50F-E8C2-906D-2A78-95ED21FBAFC3}"/>
              </a:ext>
            </a:extLst>
          </p:cNvPr>
          <p:cNvSpPr/>
          <p:nvPr/>
        </p:nvSpPr>
        <p:spPr>
          <a:xfrm>
            <a:off x="3428230" y="1371601"/>
            <a:ext cx="5944370" cy="496252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Diagrama de flujo: conector 5">
            <a:extLst>
              <a:ext uri="{FF2B5EF4-FFF2-40B4-BE49-F238E27FC236}">
                <a16:creationId xmlns:a16="http://schemas.microsoft.com/office/drawing/2014/main" id="{7CC988FE-ECA6-1E8C-9D3B-0075B715810B}"/>
              </a:ext>
            </a:extLst>
          </p:cNvPr>
          <p:cNvSpPr/>
          <p:nvPr/>
        </p:nvSpPr>
        <p:spPr>
          <a:xfrm>
            <a:off x="4229100" y="2568903"/>
            <a:ext cx="4438649" cy="362211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Diagrama de flujo: conector 12">
            <a:extLst>
              <a:ext uri="{FF2B5EF4-FFF2-40B4-BE49-F238E27FC236}">
                <a16:creationId xmlns:a16="http://schemas.microsoft.com/office/drawing/2014/main" id="{271F4D5E-8681-CD5C-9637-2E618EDF9F2E}"/>
              </a:ext>
            </a:extLst>
          </p:cNvPr>
          <p:cNvSpPr/>
          <p:nvPr/>
        </p:nvSpPr>
        <p:spPr>
          <a:xfrm>
            <a:off x="5124450" y="3952875"/>
            <a:ext cx="2609850" cy="213359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Slide Number Placeholder 2">
            <a:extLst>
              <a:ext uri="{FF2B5EF4-FFF2-40B4-BE49-F238E27FC236}">
                <a16:creationId xmlns:a16="http://schemas.microsoft.com/office/drawing/2014/main" id="{1FF46F80-A2DB-0609-1341-48DEC8AD8ADC}"/>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C0C0C8"/>
                </a:solidFill>
                <a:effectLst/>
                <a:uLnTx/>
                <a:uFillTx/>
                <a:latin typeface="Roboto"/>
                <a:ea typeface="+mn-ea"/>
                <a:cs typeface="+mn-cs"/>
              </a:rPr>
              <a:t>0</a:t>
            </a: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5" name="Título 1">
            <a:extLst>
              <a:ext uri="{FF2B5EF4-FFF2-40B4-BE49-F238E27FC236}">
                <a16:creationId xmlns:a16="http://schemas.microsoft.com/office/drawing/2014/main" id="{4F938E11-0619-DBE8-4472-003AE200FA67}"/>
              </a:ext>
            </a:extLst>
          </p:cNvPr>
          <p:cNvSpPr txBox="1">
            <a:spLocks/>
          </p:cNvSpPr>
          <p:nvPr/>
        </p:nvSpPr>
        <p:spPr>
          <a:xfrm>
            <a:off x="265193" y="275930"/>
            <a:ext cx="11310500" cy="4260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b="1" dirty="0">
                <a:solidFill>
                  <a:srgbClr val="7030A0"/>
                </a:solidFill>
                <a:latin typeface="Arial" panose="020B0604020202020204" pitchFamily="34" charset="0"/>
                <a:cs typeface="Arial" panose="020B0604020202020204" pitchFamily="34" charset="0"/>
              </a:rPr>
              <a:t>Clase 2. La jerarquía de la computabilidad</a:t>
            </a:r>
          </a:p>
        </p:txBody>
      </p:sp>
      <p:sp>
        <p:nvSpPr>
          <p:cNvPr id="2" name="CuadroTexto 1">
            <a:extLst>
              <a:ext uri="{FF2B5EF4-FFF2-40B4-BE49-F238E27FC236}">
                <a16:creationId xmlns:a16="http://schemas.microsoft.com/office/drawing/2014/main" id="{BD5FCE96-3576-A0F9-1C61-E63FF90DEC49}"/>
              </a:ext>
            </a:extLst>
          </p:cNvPr>
          <p:cNvSpPr txBox="1"/>
          <p:nvPr/>
        </p:nvSpPr>
        <p:spPr>
          <a:xfrm>
            <a:off x="9689300" y="5378251"/>
            <a:ext cx="2190034"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Cuentan con MT </a:t>
            </a:r>
          </a:p>
          <a:p>
            <a:r>
              <a:rPr lang="es-ES" dirty="0">
                <a:latin typeface="Arial" panose="020B0604020202020204" pitchFamily="34" charset="0"/>
                <a:cs typeface="Arial" panose="020B0604020202020204" pitchFamily="34" charset="0"/>
              </a:rPr>
              <a:t>que siempre paran</a:t>
            </a:r>
            <a:endParaRPr lang="es-AR" dirty="0"/>
          </a:p>
        </p:txBody>
      </p:sp>
      <p:sp>
        <p:nvSpPr>
          <p:cNvPr id="3" name="CuadroTexto 2">
            <a:extLst>
              <a:ext uri="{FF2B5EF4-FFF2-40B4-BE49-F238E27FC236}">
                <a16:creationId xmlns:a16="http://schemas.microsoft.com/office/drawing/2014/main" id="{7CD1FB64-1D92-21D2-5099-3C3F8218B848}"/>
              </a:ext>
            </a:extLst>
          </p:cNvPr>
          <p:cNvSpPr txBox="1"/>
          <p:nvPr/>
        </p:nvSpPr>
        <p:spPr>
          <a:xfrm>
            <a:off x="9689300" y="3934182"/>
            <a:ext cx="2477043"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Cuentan con MT </a:t>
            </a:r>
          </a:p>
          <a:p>
            <a:r>
              <a:rPr lang="es-ES" dirty="0">
                <a:latin typeface="Arial" panose="020B0604020202020204" pitchFamily="34" charset="0"/>
                <a:cs typeface="Arial" panose="020B0604020202020204" pitchFamily="34" charset="0"/>
              </a:rPr>
              <a:t>que no siempre paran</a:t>
            </a:r>
            <a:endParaRPr lang="es-AR" dirty="0"/>
          </a:p>
        </p:txBody>
      </p:sp>
      <p:sp>
        <p:nvSpPr>
          <p:cNvPr id="4" name="CuadroTexto 3">
            <a:extLst>
              <a:ext uri="{FF2B5EF4-FFF2-40B4-BE49-F238E27FC236}">
                <a16:creationId xmlns:a16="http://schemas.microsoft.com/office/drawing/2014/main" id="{A8838945-50D6-F3BF-B2BE-B26A0ED87F32}"/>
              </a:ext>
            </a:extLst>
          </p:cNvPr>
          <p:cNvSpPr txBox="1"/>
          <p:nvPr/>
        </p:nvSpPr>
        <p:spPr>
          <a:xfrm>
            <a:off x="9636327" y="2443946"/>
            <a:ext cx="2477044" cy="369332"/>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No cuentan con MT</a:t>
            </a:r>
            <a:endParaRPr lang="es-AR" dirty="0"/>
          </a:p>
        </p:txBody>
      </p:sp>
      <p:cxnSp>
        <p:nvCxnSpPr>
          <p:cNvPr id="7" name="Conector recto de flecha 6">
            <a:extLst>
              <a:ext uri="{FF2B5EF4-FFF2-40B4-BE49-F238E27FC236}">
                <a16:creationId xmlns:a16="http://schemas.microsoft.com/office/drawing/2014/main" id="{4F11164F-FDCE-FB4E-753B-794A05D461B6}"/>
              </a:ext>
            </a:extLst>
          </p:cNvPr>
          <p:cNvCxnSpPr>
            <a:cxnSpLocks/>
          </p:cNvCxnSpPr>
          <p:nvPr/>
        </p:nvCxnSpPr>
        <p:spPr>
          <a:xfrm flipH="1">
            <a:off x="6472193" y="5718186"/>
            <a:ext cx="32171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99A005A1-78CC-3E01-35E6-D0CB079EA1D6}"/>
              </a:ext>
            </a:extLst>
          </p:cNvPr>
          <p:cNvCxnSpPr>
            <a:cxnSpLocks/>
          </p:cNvCxnSpPr>
          <p:nvPr/>
        </p:nvCxnSpPr>
        <p:spPr>
          <a:xfrm flipH="1">
            <a:off x="8037113" y="4257348"/>
            <a:ext cx="16521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A537B49C-CBCA-9BF4-3730-8E63CFB7A7B1}"/>
              </a:ext>
            </a:extLst>
          </p:cNvPr>
          <p:cNvCxnSpPr>
            <a:cxnSpLocks/>
          </p:cNvCxnSpPr>
          <p:nvPr/>
        </p:nvCxnSpPr>
        <p:spPr>
          <a:xfrm flipH="1">
            <a:off x="8277225" y="2630853"/>
            <a:ext cx="13591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93187F49-ACD0-3E67-9667-66AC1DEE921C}"/>
              </a:ext>
            </a:extLst>
          </p:cNvPr>
          <p:cNvSpPr/>
          <p:nvPr/>
        </p:nvSpPr>
        <p:spPr>
          <a:xfrm>
            <a:off x="265193" y="4011606"/>
            <a:ext cx="2869363" cy="461665"/>
          </a:xfrm>
          <a:prstGeom prst="rect">
            <a:avLst/>
          </a:prstGeom>
        </p:spPr>
        <p:txBody>
          <a:bodyPr wrap="square">
            <a:spAutoFit/>
          </a:bodyPr>
          <a:lstStyle/>
          <a:p>
            <a:pPr algn="ctr"/>
            <a:r>
              <a:rPr lang="es-MX" sz="2400" dirty="0">
                <a:latin typeface="Arial" panose="020B0604020202020204" pitchFamily="34" charset="0"/>
                <a:cs typeface="Arial" panose="020B0604020202020204" pitchFamily="34" charset="0"/>
              </a:rPr>
              <a:t>problemas</a:t>
            </a:r>
          </a:p>
        </p:txBody>
      </p:sp>
      <p:sp>
        <p:nvSpPr>
          <p:cNvPr id="45" name="Rectángulo 44">
            <a:extLst>
              <a:ext uri="{FF2B5EF4-FFF2-40B4-BE49-F238E27FC236}">
                <a16:creationId xmlns:a16="http://schemas.microsoft.com/office/drawing/2014/main" id="{07BB6A6B-8A99-F16C-091E-C47700B30B42}"/>
              </a:ext>
            </a:extLst>
          </p:cNvPr>
          <p:cNvSpPr/>
          <p:nvPr/>
        </p:nvSpPr>
        <p:spPr>
          <a:xfrm>
            <a:off x="226431" y="4830249"/>
            <a:ext cx="2930537" cy="369332"/>
          </a:xfrm>
          <a:prstGeom prst="rect">
            <a:avLst/>
          </a:prstGeom>
        </p:spPr>
        <p:txBody>
          <a:bodyPr wrap="square">
            <a:spAutoFit/>
          </a:bodyPr>
          <a:lstStyle/>
          <a:p>
            <a:pPr algn="ctr"/>
            <a:r>
              <a:rPr lang="es-MX" dirty="0">
                <a:latin typeface="Arial" panose="020B0604020202020204" pitchFamily="34" charset="0"/>
                <a:cs typeface="Arial" panose="020B0604020202020204" pitchFamily="34" charset="0"/>
              </a:rPr>
              <a:t>computables</a:t>
            </a:r>
          </a:p>
        </p:txBody>
      </p:sp>
      <p:sp>
        <p:nvSpPr>
          <p:cNvPr id="46" name="Rectángulo 45">
            <a:extLst>
              <a:ext uri="{FF2B5EF4-FFF2-40B4-BE49-F238E27FC236}">
                <a16:creationId xmlns:a16="http://schemas.microsoft.com/office/drawing/2014/main" id="{F61369AA-E044-46C4-B085-586A0C3CC887}"/>
              </a:ext>
            </a:extLst>
          </p:cNvPr>
          <p:cNvSpPr/>
          <p:nvPr/>
        </p:nvSpPr>
        <p:spPr>
          <a:xfrm>
            <a:off x="526468" y="5485465"/>
            <a:ext cx="2269288" cy="369332"/>
          </a:xfrm>
          <a:prstGeom prst="rect">
            <a:avLst/>
          </a:prstGeom>
        </p:spPr>
        <p:txBody>
          <a:bodyPr wrap="square">
            <a:spAutoFit/>
          </a:bodyPr>
          <a:lstStyle/>
          <a:p>
            <a:pPr algn="ctr"/>
            <a:r>
              <a:rPr lang="es-MX" dirty="0" err="1">
                <a:latin typeface="Arial" panose="020B0604020202020204" pitchFamily="34" charset="0"/>
                <a:cs typeface="Arial" panose="020B0604020202020204" pitchFamily="34" charset="0"/>
              </a:rPr>
              <a:t>decidibles</a:t>
            </a:r>
            <a:endParaRPr lang="es-MX" dirty="0">
              <a:latin typeface="Arial" panose="020B0604020202020204" pitchFamily="34" charset="0"/>
              <a:cs typeface="Arial" panose="020B0604020202020204" pitchFamily="34" charset="0"/>
            </a:endParaRPr>
          </a:p>
        </p:txBody>
      </p:sp>
      <p:sp>
        <p:nvSpPr>
          <p:cNvPr id="47" name="Diagrama de flujo: conector 46">
            <a:extLst>
              <a:ext uri="{FF2B5EF4-FFF2-40B4-BE49-F238E27FC236}">
                <a16:creationId xmlns:a16="http://schemas.microsoft.com/office/drawing/2014/main" id="{874B728E-27E6-51A4-C782-3C287420C625}"/>
              </a:ext>
            </a:extLst>
          </p:cNvPr>
          <p:cNvSpPr/>
          <p:nvPr/>
        </p:nvSpPr>
        <p:spPr>
          <a:xfrm>
            <a:off x="387813" y="3911245"/>
            <a:ext cx="2546603" cy="240185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Diagrama de flujo: conector 47">
            <a:extLst>
              <a:ext uri="{FF2B5EF4-FFF2-40B4-BE49-F238E27FC236}">
                <a16:creationId xmlns:a16="http://schemas.microsoft.com/office/drawing/2014/main" id="{F3223314-2B2E-6A75-E2A2-E2CC7F433026}"/>
              </a:ext>
            </a:extLst>
          </p:cNvPr>
          <p:cNvSpPr/>
          <p:nvPr/>
        </p:nvSpPr>
        <p:spPr>
          <a:xfrm>
            <a:off x="773217" y="4522315"/>
            <a:ext cx="1775792" cy="16746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0" name="Diagrama de flujo: conector 49">
            <a:extLst>
              <a:ext uri="{FF2B5EF4-FFF2-40B4-BE49-F238E27FC236}">
                <a16:creationId xmlns:a16="http://schemas.microsoft.com/office/drawing/2014/main" id="{EA830F3B-73BC-F31B-EB5D-4F3BA9C1E19D}"/>
              </a:ext>
            </a:extLst>
          </p:cNvPr>
          <p:cNvSpPr/>
          <p:nvPr/>
        </p:nvSpPr>
        <p:spPr>
          <a:xfrm>
            <a:off x="1099492" y="5276174"/>
            <a:ext cx="1094015" cy="798541"/>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4" name="Flecha: a la izquierda y derecha 53">
            <a:extLst>
              <a:ext uri="{FF2B5EF4-FFF2-40B4-BE49-F238E27FC236}">
                <a16:creationId xmlns:a16="http://schemas.microsoft.com/office/drawing/2014/main" id="{A8F1E33A-235A-2055-F14F-3A5F920E7B81}"/>
              </a:ext>
            </a:extLst>
          </p:cNvPr>
          <p:cNvSpPr/>
          <p:nvPr/>
        </p:nvSpPr>
        <p:spPr>
          <a:xfrm>
            <a:off x="3111530" y="5199994"/>
            <a:ext cx="704850" cy="228600"/>
          </a:xfrm>
          <a:prstGeom prst="lef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2768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5510595" y="2179626"/>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DEABDDF1-C07D-4522-BE75-28498FED8797}"/>
              </a:ext>
            </a:extLst>
          </p:cNvPr>
          <p:cNvSpPr/>
          <p:nvPr/>
        </p:nvSpPr>
        <p:spPr>
          <a:xfrm>
            <a:off x="330069" y="175177"/>
            <a:ext cx="11794375" cy="5996513"/>
          </a:xfrm>
          <a:prstGeom prst="rect">
            <a:avLst/>
          </a:prstGeom>
        </p:spPr>
        <p:txBody>
          <a:bodyPr wrap="square">
            <a:spAutoFit/>
          </a:bodyPr>
          <a:lstStyle/>
          <a:p>
            <a:pPr algn="just">
              <a:lnSpc>
                <a:spcPct val="150000"/>
              </a:lnSpc>
              <a:spcAft>
                <a:spcPts val="0"/>
              </a:spcAft>
            </a:pPr>
            <a:r>
              <a:rPr lang="es-AR" sz="2400" b="1" dirty="0">
                <a:solidFill>
                  <a:srgbClr val="000000"/>
                </a:solidFill>
                <a:latin typeface="Arial" panose="020B0604020202020204" pitchFamily="34" charset="0"/>
                <a:ea typeface="Times New Roman" panose="02020603050405020304" pitchFamily="18" charset="0"/>
                <a:cs typeface="Arial" panose="020B0604020202020204" pitchFamily="34" charset="0"/>
              </a:rPr>
              <a:t>Definiciones</a:t>
            </a:r>
          </a:p>
          <a:p>
            <a:pPr algn="just">
              <a:lnSpc>
                <a:spcPct val="150000"/>
              </a:lnSpc>
              <a:spcAft>
                <a:spcPts val="0"/>
              </a:spcAft>
            </a:pPr>
            <a:endPar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285750" indent="-285750" algn="just">
              <a:lnSpc>
                <a:spcPct val="150000"/>
              </a:lnSpc>
              <a:spcAft>
                <a:spcPts val="0"/>
              </a:spcAft>
              <a:buFont typeface="Arial" panose="020B0604020202020204" pitchFamily="34" charset="0"/>
              <a:buChar char="•"/>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Un lenguaje L es </a:t>
            </a: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recursivo</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(L </a:t>
            </a: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R) s</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ii</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existe una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que lo </a:t>
            </a: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acepta y para siempre</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Para toda cadena w del conjunto universal de cadenas </a:t>
            </a:r>
            <a:r>
              <a:rPr lang="es-AR" dirty="0">
                <a:latin typeface="Arial" panose="020B0604020202020204" pitchFamily="34" charset="0"/>
                <a:cs typeface="Arial" panose="020B0604020202020204" pitchFamily="34" charset="0"/>
              </a:rPr>
              <a:t>Ʃ*</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endParaRPr lang="es-MX"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 Si w </a:t>
            </a: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L, entonces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 partir de w para en su estado </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q</a:t>
            </a:r>
            <a:r>
              <a:rPr lang="es-AR" baseline="-25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A</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a:p>
            <a:pPr lvl="0" algn="just">
              <a:lnSpc>
                <a:spcPct val="150000"/>
              </a:lnSpc>
              <a:spcAft>
                <a:spcPts val="0"/>
              </a:spcAft>
            </a:pP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 S</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i w ∉ L, entonces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 partir de w para en su estado </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q</a:t>
            </a:r>
            <a:r>
              <a:rPr lang="es-AR" baseline="-25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R</a:t>
            </a:r>
            <a:endPar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0" algn="just">
              <a:lnSpc>
                <a:spcPct val="150000"/>
              </a:lnSpc>
              <a:spcAft>
                <a:spcPts val="0"/>
              </a:spcAft>
            </a:pPr>
            <a:endPar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0" algn="just">
              <a:lnSpc>
                <a:spcPct val="150000"/>
              </a:lnSpc>
              <a:spcAft>
                <a:spcPts val="0"/>
              </a:spcAft>
            </a:pPr>
            <a:endPar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285750" indent="-285750" algn="just">
              <a:lnSpc>
                <a:spcPct val="150000"/>
              </a:lnSpc>
              <a:spcAft>
                <a:spcPts val="0"/>
              </a:spcAft>
              <a:buFont typeface="Arial" panose="020B0604020202020204" pitchFamily="34" charset="0"/>
              <a:buChar char="•"/>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Un lenguaje L es </a:t>
            </a: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recursivamente numerable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(L </a:t>
            </a: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RE) s</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ii</a:t>
            </a: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existe una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que lo </a:t>
            </a: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acepta</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Para toda cadena w del conjunto universal de cadenas </a:t>
            </a:r>
            <a:r>
              <a:rPr lang="es-AR" dirty="0">
                <a:latin typeface="Arial" panose="020B0604020202020204" pitchFamily="34" charset="0"/>
                <a:cs typeface="Arial" panose="020B0604020202020204" pitchFamily="34" charset="0"/>
              </a:rPr>
              <a:t>Ʃ*</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endParaRPr lang="es-MX"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 Si w </a:t>
            </a: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L, entonces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 partir de w para en su estado </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q</a:t>
            </a:r>
            <a:r>
              <a:rPr lang="es-AR" baseline="-25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A</a:t>
            </a:r>
            <a:endPar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rPr>
              <a:t>	- S</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i w ∉ L, entonces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 partir de w para en su estado </a:t>
            </a:r>
            <a:r>
              <a:rPr lang="es-AR" dirty="0" err="1">
                <a:solidFill>
                  <a:srgbClr val="000000"/>
                </a:solidFill>
                <a:latin typeface="Arial" panose="020B0604020202020204" pitchFamily="34" charset="0"/>
                <a:ea typeface="Times New Roman" panose="02020603050405020304" pitchFamily="18" charset="0"/>
                <a:cs typeface="Arial" panose="020B0604020202020204" pitchFamily="34" charset="0"/>
              </a:rPr>
              <a:t>q</a:t>
            </a:r>
            <a:r>
              <a:rPr lang="es-AR" baseline="-25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R</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o no para</a:t>
            </a:r>
            <a:endParaRPr lang="es-MX"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0" name="Rectángulo 9">
            <a:extLst>
              <a:ext uri="{FF2B5EF4-FFF2-40B4-BE49-F238E27FC236}">
                <a16:creationId xmlns:a16="http://schemas.microsoft.com/office/drawing/2014/main" id="{F1ECD963-7929-4F9C-B97E-66301C0E5263}"/>
              </a:ext>
            </a:extLst>
          </p:cNvPr>
          <p:cNvSpPr/>
          <p:nvPr/>
        </p:nvSpPr>
        <p:spPr>
          <a:xfrm>
            <a:off x="9752429" y="4016692"/>
            <a:ext cx="914400" cy="255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0C320E0A-2926-4FBA-AEB6-8358ED0E13EB}"/>
              </a:ext>
            </a:extLst>
          </p:cNvPr>
          <p:cNvSpPr/>
          <p:nvPr/>
        </p:nvSpPr>
        <p:spPr>
          <a:xfrm>
            <a:off x="9456446" y="2269815"/>
            <a:ext cx="466794" cy="646331"/>
          </a:xfrm>
          <a:prstGeom prst="rect">
            <a:avLst/>
          </a:prstGeom>
        </p:spPr>
        <p:txBody>
          <a:bodyPr wrap="none">
            <a:spAutoFit/>
          </a:bodyPr>
          <a:lstStyle/>
          <a:p>
            <a:r>
              <a:rPr lang="es-ES" sz="3600" dirty="0">
                <a:latin typeface="Arial" panose="020B0604020202020204" pitchFamily="34" charset="0"/>
                <a:cs typeface="Arial" panose="020B0604020202020204" pitchFamily="34" charset="0"/>
              </a:rPr>
              <a:t>𝔏</a:t>
            </a:r>
            <a:endParaRPr lang="es-MX" sz="3600" dirty="0"/>
          </a:p>
        </p:txBody>
      </p:sp>
      <p:sp>
        <p:nvSpPr>
          <p:cNvPr id="12" name="Rectángulo 11">
            <a:extLst>
              <a:ext uri="{FF2B5EF4-FFF2-40B4-BE49-F238E27FC236}">
                <a16:creationId xmlns:a16="http://schemas.microsoft.com/office/drawing/2014/main" id="{D6E66E74-3EB6-407B-840D-3F8C0396D46A}"/>
              </a:ext>
            </a:extLst>
          </p:cNvPr>
          <p:cNvSpPr/>
          <p:nvPr/>
        </p:nvSpPr>
        <p:spPr>
          <a:xfrm>
            <a:off x="9468331" y="3184328"/>
            <a:ext cx="505267" cy="369332"/>
          </a:xfrm>
          <a:prstGeom prst="rect">
            <a:avLst/>
          </a:prstGeom>
        </p:spPr>
        <p:txBody>
          <a:bodyPr wrap="none">
            <a:spAutoFit/>
          </a:bodyPr>
          <a:lstStyle/>
          <a:p>
            <a:r>
              <a:rPr lang="es-ES" dirty="0">
                <a:latin typeface="Arial" panose="020B0604020202020204" pitchFamily="34" charset="0"/>
                <a:ea typeface="Times New Roman" panose="02020603050405020304" pitchFamily="18" charset="0"/>
                <a:cs typeface="Arial" panose="020B0604020202020204" pitchFamily="34" charset="0"/>
              </a:rPr>
              <a:t>RE</a:t>
            </a:r>
            <a:endParaRPr lang="es-MX" dirty="0"/>
          </a:p>
        </p:txBody>
      </p:sp>
      <p:sp>
        <p:nvSpPr>
          <p:cNvPr id="13" name="Rectángulo 12">
            <a:extLst>
              <a:ext uri="{FF2B5EF4-FFF2-40B4-BE49-F238E27FC236}">
                <a16:creationId xmlns:a16="http://schemas.microsoft.com/office/drawing/2014/main" id="{83BCD02C-BC72-4466-9213-3AE13FAD95A6}"/>
              </a:ext>
            </a:extLst>
          </p:cNvPr>
          <p:cNvSpPr/>
          <p:nvPr/>
        </p:nvSpPr>
        <p:spPr>
          <a:xfrm>
            <a:off x="9576740" y="3903192"/>
            <a:ext cx="351378" cy="369332"/>
          </a:xfrm>
          <a:prstGeom prst="rect">
            <a:avLst/>
          </a:prstGeom>
        </p:spPr>
        <p:txBody>
          <a:bodyPr wrap="none">
            <a:spAutoFit/>
          </a:bodyPr>
          <a:lstStyle/>
          <a:p>
            <a:r>
              <a:rPr lang="es-ES" dirty="0">
                <a:latin typeface="Arial" panose="020B0604020202020204" pitchFamily="34" charset="0"/>
                <a:ea typeface="Times New Roman" panose="02020603050405020304" pitchFamily="18" charset="0"/>
                <a:cs typeface="Arial" panose="020B0604020202020204" pitchFamily="34" charset="0"/>
              </a:rPr>
              <a:t>R</a:t>
            </a:r>
            <a:endParaRPr lang="es-MX" dirty="0"/>
          </a:p>
        </p:txBody>
      </p:sp>
      <p:sp>
        <p:nvSpPr>
          <p:cNvPr id="17" name="Diagrama de flujo: conector 16">
            <a:extLst>
              <a:ext uri="{FF2B5EF4-FFF2-40B4-BE49-F238E27FC236}">
                <a16:creationId xmlns:a16="http://schemas.microsoft.com/office/drawing/2014/main" id="{468349FA-A1F9-4343-B90B-B948A7834ECC}"/>
              </a:ext>
            </a:extLst>
          </p:cNvPr>
          <p:cNvSpPr/>
          <p:nvPr/>
        </p:nvSpPr>
        <p:spPr>
          <a:xfrm>
            <a:off x="8416542" y="2315408"/>
            <a:ext cx="2546603" cy="240185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Diagrama de flujo: conector 17">
            <a:extLst>
              <a:ext uri="{FF2B5EF4-FFF2-40B4-BE49-F238E27FC236}">
                <a16:creationId xmlns:a16="http://schemas.microsoft.com/office/drawing/2014/main" id="{60398FA9-0B22-4CEE-BFC0-CB400E9611B0}"/>
              </a:ext>
            </a:extLst>
          </p:cNvPr>
          <p:cNvSpPr/>
          <p:nvPr/>
        </p:nvSpPr>
        <p:spPr>
          <a:xfrm>
            <a:off x="8864534" y="2945259"/>
            <a:ext cx="1775792" cy="167431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Diagrama de flujo: conector 18">
            <a:extLst>
              <a:ext uri="{FF2B5EF4-FFF2-40B4-BE49-F238E27FC236}">
                <a16:creationId xmlns:a16="http://schemas.microsoft.com/office/drawing/2014/main" id="{49DED11E-1C67-4CA1-B828-0BCAB1FB14B1}"/>
              </a:ext>
            </a:extLst>
          </p:cNvPr>
          <p:cNvSpPr/>
          <p:nvPr/>
        </p:nvSpPr>
        <p:spPr>
          <a:xfrm>
            <a:off x="9205422" y="3668713"/>
            <a:ext cx="1094015" cy="83829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Slide Number Placeholder 2">
            <a:extLst>
              <a:ext uri="{FF2B5EF4-FFF2-40B4-BE49-F238E27FC236}">
                <a16:creationId xmlns:a16="http://schemas.microsoft.com/office/drawing/2014/main" id="{E178C12E-04C9-4BEF-8A6C-F993299EFF8E}"/>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Tree>
    <p:extLst>
      <p:ext uri="{BB962C8B-B14F-4D97-AF65-F5344CB8AC3E}">
        <p14:creationId xmlns:p14="http://schemas.microsoft.com/office/powerpoint/2010/main" val="280560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5510595" y="2179626"/>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DEABDDF1-C07D-4522-BE75-28498FED8797}"/>
              </a:ext>
            </a:extLst>
          </p:cNvPr>
          <p:cNvSpPr/>
          <p:nvPr/>
        </p:nvSpPr>
        <p:spPr>
          <a:xfrm>
            <a:off x="225418" y="59254"/>
            <a:ext cx="11659024" cy="1050993"/>
          </a:xfrm>
          <a:prstGeom prst="rect">
            <a:avLst/>
          </a:prstGeom>
        </p:spPr>
        <p:txBody>
          <a:bodyPr wrap="square">
            <a:spAutoFit/>
          </a:bodyPr>
          <a:lstStyle/>
          <a:p>
            <a:pPr algn="just">
              <a:lnSpc>
                <a:spcPct val="150000"/>
              </a:lnSpc>
              <a:spcAft>
                <a:spcPts val="0"/>
              </a:spcAft>
            </a:pPr>
            <a:r>
              <a:rPr lang="es-AR" sz="2400" b="1" dirty="0">
                <a:latin typeface="Arial" panose="020B0604020202020204" pitchFamily="34" charset="0"/>
                <a:ea typeface="Times New Roman" panose="02020603050405020304" pitchFamily="18" charset="0"/>
                <a:cs typeface="Arial" panose="020B0604020202020204" pitchFamily="34" charset="0"/>
              </a:rPr>
              <a:t>Algunas propiedades de la clase R</a:t>
            </a:r>
          </a:p>
          <a:p>
            <a:pPr algn="just">
              <a:lnSpc>
                <a:spcPct val="150000"/>
              </a:lnSpc>
              <a:spcAft>
                <a:spcPts val="0"/>
              </a:spcAft>
            </a:pPr>
            <a:endParaRPr lang="es-AR" sz="20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7" name="Slide Number Placeholder 2">
            <a:extLst>
              <a:ext uri="{FF2B5EF4-FFF2-40B4-BE49-F238E27FC236}">
                <a16:creationId xmlns:a16="http://schemas.microsoft.com/office/drawing/2014/main" id="{ECA88670-4090-4797-87C6-17EDF25E4DC6}"/>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8" name="Rectángulo 7">
            <a:extLst>
              <a:ext uri="{FF2B5EF4-FFF2-40B4-BE49-F238E27FC236}">
                <a16:creationId xmlns:a16="http://schemas.microsoft.com/office/drawing/2014/main" id="{BD2CCC87-9320-437C-BE37-71467E7F07AA}"/>
              </a:ext>
            </a:extLst>
          </p:cNvPr>
          <p:cNvSpPr/>
          <p:nvPr/>
        </p:nvSpPr>
        <p:spPr>
          <a:xfrm>
            <a:off x="271762" y="772057"/>
            <a:ext cx="11343249" cy="3365024"/>
          </a:xfrm>
          <a:prstGeom prst="rect">
            <a:avLst/>
          </a:prstGeom>
        </p:spPr>
        <p:txBody>
          <a:bodyPr wrap="square">
            <a:spAutoFit/>
          </a:bodyPr>
          <a:lstStyle/>
          <a:p>
            <a:pPr>
              <a:lnSpc>
                <a:spcPct val="150000"/>
              </a:lnSpc>
              <a:spcAft>
                <a:spcPts val="0"/>
              </a:spcAft>
            </a:pPr>
            <a:r>
              <a:rPr lang="es-AR" b="1" dirty="0">
                <a:latin typeface="Arial" panose="020B0604020202020204" pitchFamily="34" charset="0"/>
                <a:ea typeface="Times New Roman" panose="02020603050405020304" pitchFamily="18" charset="0"/>
                <a:cs typeface="Arial" panose="020B0604020202020204" pitchFamily="34" charset="0"/>
              </a:rPr>
              <a:t>Propiedad 1. </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rPr>
              <a:t>Si L </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rPr>
              <a:t> R, entonces L</a:t>
            </a:r>
            <a:r>
              <a:rPr lang="es-AR" b="1" baseline="30000" dirty="0">
                <a:solidFill>
                  <a:srgbClr val="0070C0"/>
                </a:solidFill>
                <a:latin typeface="Arial" panose="020B0604020202020204" pitchFamily="34" charset="0"/>
                <a:ea typeface="Times New Roman" panose="02020603050405020304" pitchFamily="18" charset="0"/>
                <a:cs typeface="Arial" panose="020B0604020202020204" pitchFamily="34" charset="0"/>
              </a:rPr>
              <a:t>C</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rPr>
              <a:t> </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ea typeface="Times New Roman" panose="02020603050405020304" pitchFamily="18" charset="0"/>
                <a:cs typeface="Arial" panose="020B0604020202020204" pitchFamily="34" charset="0"/>
              </a:rPr>
              <a:t> R</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tal que L</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es el complemento de L.</a:t>
            </a:r>
          </a:p>
          <a:p>
            <a:pPr>
              <a:lnSpc>
                <a:spcPct val="150000"/>
              </a:lnSpc>
              <a:spcAft>
                <a:spcPts val="0"/>
              </a:spcAft>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Definición: L</a:t>
            </a:r>
            <a:r>
              <a:rPr lang="es-AR" i="1"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i="1" dirty="0">
                <a:latin typeface="Arial" panose="020B0604020202020204" pitchFamily="34" charset="0"/>
                <a:cs typeface="Arial" panose="020B0604020202020204" pitchFamily="34" charset="0"/>
              </a:rPr>
              <a:t>Ʃ* – L), o en otras palabras, </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i="1"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 tiene las cadenas que no tiene L.</a:t>
            </a:r>
          </a:p>
          <a:p>
            <a:pPr>
              <a:lnSpc>
                <a:spcPct val="150000"/>
              </a:lnSpc>
              <a:spcAft>
                <a:spcPts val="0"/>
              </a:spcAft>
            </a:pPr>
            <a:endPar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nSpc>
                <a:spcPct val="150000"/>
              </a:lnSpc>
              <a:spcAft>
                <a:spcPts val="0"/>
              </a:spcAft>
            </a:pP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Prueba.</a:t>
            </a:r>
          </a:p>
          <a:p>
            <a:pPr>
              <a:lnSpc>
                <a:spcPct val="150000"/>
              </a:lnSpc>
              <a:spcAft>
                <a:spcPts val="0"/>
              </a:spcAft>
            </a:pPr>
            <a:r>
              <a:rPr lang="es-AR" u="sng" dirty="0">
                <a:solidFill>
                  <a:srgbClr val="000000"/>
                </a:solidFill>
                <a:latin typeface="Arial" panose="020B0604020202020204" pitchFamily="34" charset="0"/>
                <a:ea typeface="Times New Roman" panose="02020603050405020304" pitchFamily="18" charset="0"/>
                <a:cs typeface="Arial" panose="020B0604020202020204" pitchFamily="34" charset="0"/>
              </a:rPr>
              <a:t>1. Idea general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a:p>
            <a:pPr>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Dada una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que acepta L y para siempre, la idea es construir una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que acepte L</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y pare siempre.</a:t>
            </a:r>
          </a:p>
          <a:p>
            <a:pPr>
              <a:lnSpc>
                <a:spcPct val="150000"/>
              </a:lnSpc>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Propuesta de solución</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construir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r>
              <a:rPr lang="es-AR" dirty="0">
                <a:latin typeface="Arial" panose="020B0604020202020204" pitchFamily="34" charset="0"/>
                <a:ea typeface="Times New Roman" panose="02020603050405020304" pitchFamily="18" charset="0"/>
                <a:cs typeface="Arial" panose="020B0604020202020204" pitchFamily="34" charset="0"/>
              </a:rPr>
              <a:t>como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pero permutando sus estados finales: </a:t>
            </a:r>
            <a:endParaRPr lang="es-MX" dirty="0"/>
          </a:p>
          <a:p>
            <a:pPr>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9" name="Rectángulo 8">
            <a:extLst>
              <a:ext uri="{FF2B5EF4-FFF2-40B4-BE49-F238E27FC236}">
                <a16:creationId xmlns:a16="http://schemas.microsoft.com/office/drawing/2014/main" id="{1BE90941-2481-411F-A08E-E3784B8590B3}"/>
              </a:ext>
            </a:extLst>
          </p:cNvPr>
          <p:cNvSpPr/>
          <p:nvPr/>
        </p:nvSpPr>
        <p:spPr>
          <a:xfrm>
            <a:off x="2572506" y="4943620"/>
            <a:ext cx="351378"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w</a:t>
            </a:r>
            <a:endParaRPr lang="es-MX" dirty="0"/>
          </a:p>
        </p:txBody>
      </p:sp>
      <p:sp>
        <p:nvSpPr>
          <p:cNvPr id="11" name="Rectángulo 10">
            <a:extLst>
              <a:ext uri="{FF2B5EF4-FFF2-40B4-BE49-F238E27FC236}">
                <a16:creationId xmlns:a16="http://schemas.microsoft.com/office/drawing/2014/main" id="{29149F1E-1DAC-48B0-A5AF-B0C4140A90DD}"/>
              </a:ext>
            </a:extLst>
          </p:cNvPr>
          <p:cNvSpPr/>
          <p:nvPr/>
        </p:nvSpPr>
        <p:spPr>
          <a:xfrm>
            <a:off x="3890233" y="4470485"/>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endParaRPr lang="es-MX" dirty="0"/>
          </a:p>
        </p:txBody>
      </p:sp>
      <p:sp>
        <p:nvSpPr>
          <p:cNvPr id="12" name="Rectángulo 11">
            <a:extLst>
              <a:ext uri="{FF2B5EF4-FFF2-40B4-BE49-F238E27FC236}">
                <a16:creationId xmlns:a16="http://schemas.microsoft.com/office/drawing/2014/main" id="{C03B3423-A773-459F-890A-38D8C3CA9B79}"/>
              </a:ext>
            </a:extLst>
          </p:cNvPr>
          <p:cNvSpPr/>
          <p:nvPr/>
        </p:nvSpPr>
        <p:spPr>
          <a:xfrm>
            <a:off x="5558672" y="4464946"/>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13" name="Rectángulo 12">
            <a:extLst>
              <a:ext uri="{FF2B5EF4-FFF2-40B4-BE49-F238E27FC236}">
                <a16:creationId xmlns:a16="http://schemas.microsoft.com/office/drawing/2014/main" id="{2C367983-C0E5-4855-96D2-23B5CEC86C54}"/>
              </a:ext>
            </a:extLst>
          </p:cNvPr>
          <p:cNvSpPr/>
          <p:nvPr/>
        </p:nvSpPr>
        <p:spPr>
          <a:xfrm>
            <a:off x="3977302" y="3889098"/>
            <a:ext cx="572593"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a:t>
            </a:r>
            <a:endParaRPr lang="es-MX" dirty="0"/>
          </a:p>
        </p:txBody>
      </p:sp>
      <p:sp>
        <p:nvSpPr>
          <p:cNvPr id="14" name="Rectángulo 13">
            <a:extLst>
              <a:ext uri="{FF2B5EF4-FFF2-40B4-BE49-F238E27FC236}">
                <a16:creationId xmlns:a16="http://schemas.microsoft.com/office/drawing/2014/main" id="{9BB57B6F-90A7-4201-8E23-B38B336FDD7A}"/>
              </a:ext>
            </a:extLst>
          </p:cNvPr>
          <p:cNvSpPr/>
          <p:nvPr/>
        </p:nvSpPr>
        <p:spPr>
          <a:xfrm>
            <a:off x="5613784" y="5400487"/>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15" name="Rectángulo 14">
            <a:extLst>
              <a:ext uri="{FF2B5EF4-FFF2-40B4-BE49-F238E27FC236}">
                <a16:creationId xmlns:a16="http://schemas.microsoft.com/office/drawing/2014/main" id="{C5107B86-C7BE-4352-BA28-57C51B9D65FB}"/>
              </a:ext>
            </a:extLst>
          </p:cNvPr>
          <p:cNvSpPr/>
          <p:nvPr/>
        </p:nvSpPr>
        <p:spPr>
          <a:xfrm>
            <a:off x="3635495" y="4791936"/>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6" name="Conector recto de flecha 15">
            <a:extLst>
              <a:ext uri="{FF2B5EF4-FFF2-40B4-BE49-F238E27FC236}">
                <a16:creationId xmlns:a16="http://schemas.microsoft.com/office/drawing/2014/main" id="{B3BEA15A-E582-4812-A80A-E2F48E67E019}"/>
              </a:ext>
            </a:extLst>
          </p:cNvPr>
          <p:cNvCxnSpPr>
            <a:cxnSpLocks/>
          </p:cNvCxnSpPr>
          <p:nvPr/>
        </p:nvCxnSpPr>
        <p:spPr>
          <a:xfrm>
            <a:off x="2504341" y="5255933"/>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1506DE30-C5F6-4464-A4F2-A469D4BF5DF7}"/>
              </a:ext>
            </a:extLst>
          </p:cNvPr>
          <p:cNvCxnSpPr>
            <a:cxnSpLocks/>
          </p:cNvCxnSpPr>
          <p:nvPr/>
        </p:nvCxnSpPr>
        <p:spPr>
          <a:xfrm>
            <a:off x="4549895" y="5279996"/>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02A57F70-E27C-4E8E-870F-A6053868D684}"/>
              </a:ext>
            </a:extLst>
          </p:cNvPr>
          <p:cNvCxnSpPr>
            <a:cxnSpLocks/>
          </p:cNvCxnSpPr>
          <p:nvPr/>
        </p:nvCxnSpPr>
        <p:spPr>
          <a:xfrm flipV="1">
            <a:off x="4552804" y="4611184"/>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Diagrama de flujo: proceso 18">
            <a:extLst>
              <a:ext uri="{FF2B5EF4-FFF2-40B4-BE49-F238E27FC236}">
                <a16:creationId xmlns:a16="http://schemas.microsoft.com/office/drawing/2014/main" id="{163E107F-E83B-453A-B8DE-E7F669E145CE}"/>
              </a:ext>
            </a:extLst>
          </p:cNvPr>
          <p:cNvSpPr/>
          <p:nvPr/>
        </p:nvSpPr>
        <p:spPr>
          <a:xfrm>
            <a:off x="2974976" y="4212985"/>
            <a:ext cx="2338483" cy="198756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FEBC706D-4CCF-4EFE-8B08-1BF7DEEEF319}"/>
              </a:ext>
            </a:extLst>
          </p:cNvPr>
          <p:cNvSpPr/>
          <p:nvPr/>
        </p:nvSpPr>
        <p:spPr>
          <a:xfrm>
            <a:off x="4760475" y="5375285"/>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21" name="Rectángulo 20">
            <a:extLst>
              <a:ext uri="{FF2B5EF4-FFF2-40B4-BE49-F238E27FC236}">
                <a16:creationId xmlns:a16="http://schemas.microsoft.com/office/drawing/2014/main" id="{DDC3D51E-9937-4D02-A3DB-DBDFDC8A2889}"/>
              </a:ext>
            </a:extLst>
          </p:cNvPr>
          <p:cNvSpPr/>
          <p:nvPr/>
        </p:nvSpPr>
        <p:spPr>
          <a:xfrm>
            <a:off x="4731492" y="4649612"/>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dirty="0"/>
          </a:p>
        </p:txBody>
      </p:sp>
      <p:sp>
        <p:nvSpPr>
          <p:cNvPr id="24" name="CuadroTexto 23">
            <a:extLst>
              <a:ext uri="{FF2B5EF4-FFF2-40B4-BE49-F238E27FC236}">
                <a16:creationId xmlns:a16="http://schemas.microsoft.com/office/drawing/2014/main" id="{B98CA280-A3B8-48C3-88DF-5F9AD9366614}"/>
              </a:ext>
            </a:extLst>
          </p:cNvPr>
          <p:cNvSpPr txBox="1"/>
          <p:nvPr/>
        </p:nvSpPr>
        <p:spPr>
          <a:xfrm>
            <a:off x="9853441" y="523073"/>
            <a:ext cx="429068"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Ʃ*</a:t>
            </a:r>
            <a:endParaRPr lang="es-AR" dirty="0"/>
          </a:p>
        </p:txBody>
      </p:sp>
      <p:sp>
        <p:nvSpPr>
          <p:cNvPr id="25" name="CuadroTexto 24">
            <a:extLst>
              <a:ext uri="{FF2B5EF4-FFF2-40B4-BE49-F238E27FC236}">
                <a16:creationId xmlns:a16="http://schemas.microsoft.com/office/drawing/2014/main" id="{96F90421-AB10-4B92-9829-1C53F1984EF8}"/>
              </a:ext>
            </a:extLst>
          </p:cNvPr>
          <p:cNvSpPr txBox="1"/>
          <p:nvPr/>
        </p:nvSpPr>
        <p:spPr>
          <a:xfrm>
            <a:off x="6424995" y="4485507"/>
            <a:ext cx="4734237" cy="1154675"/>
          </a:xfrm>
          <a:prstGeom prst="rect">
            <a:avLst/>
          </a:prstGeom>
          <a:noFill/>
        </p:spPr>
        <p:txBody>
          <a:bodyPr wrap="square">
            <a:spAutoFit/>
          </a:bodyPr>
          <a:lstStyle/>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acepta L y para siempre por </a:t>
            </a:r>
            <a:r>
              <a:rPr lang="es-AR" sz="1600" dirty="0">
                <a:latin typeface="Arial" panose="020B0604020202020204" pitchFamily="34" charset="0"/>
                <a:ea typeface="Times New Roman" panose="02020603050405020304" pitchFamily="18" charset="0"/>
                <a:cs typeface="Arial" panose="020B0604020202020204" pitchFamily="34" charset="0"/>
              </a:rPr>
              <a:t>hipótesis (L </a:t>
            </a:r>
            <a:r>
              <a:rPr lang="es-AR" sz="16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600" dirty="0">
                <a:latin typeface="Arial" panose="020B0604020202020204" pitchFamily="34" charset="0"/>
                <a:ea typeface="Times New Roman" panose="02020603050405020304" pitchFamily="18" charset="0"/>
                <a:cs typeface="Arial" panose="020B0604020202020204" pitchFamily="34" charset="0"/>
              </a:rPr>
              <a:t> R).</a:t>
            </a:r>
          </a:p>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Entonces 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sz="1600"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acepta L</a:t>
            </a:r>
            <a:r>
              <a:rPr lang="es-AR" sz="1600"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y para siempre,</a:t>
            </a:r>
          </a:p>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y así </a:t>
            </a:r>
            <a:r>
              <a:rPr lang="es-AR" sz="1600" dirty="0">
                <a:latin typeface="Arial" panose="020B0604020202020204" pitchFamily="34" charset="0"/>
                <a:ea typeface="Times New Roman" panose="02020603050405020304" pitchFamily="18" charset="0"/>
                <a:cs typeface="Arial" panose="020B0604020202020204" pitchFamily="34" charset="0"/>
              </a:rPr>
              <a:t>también L</a:t>
            </a:r>
            <a:r>
              <a:rPr lang="es-AR" sz="1600" baseline="30000" dirty="0">
                <a:latin typeface="Arial" panose="020B0604020202020204" pitchFamily="34" charset="0"/>
                <a:ea typeface="Times New Roman" panose="02020603050405020304" pitchFamily="18" charset="0"/>
                <a:cs typeface="Arial" panose="020B0604020202020204" pitchFamily="34" charset="0"/>
              </a:rPr>
              <a:t>C</a:t>
            </a:r>
            <a:r>
              <a:rPr lang="es-AR" sz="1600" dirty="0">
                <a:latin typeface="Arial" panose="020B0604020202020204" pitchFamily="34" charset="0"/>
                <a:ea typeface="Times New Roman" panose="02020603050405020304" pitchFamily="18" charset="0"/>
                <a:cs typeface="Arial" panose="020B0604020202020204" pitchFamily="34" charset="0"/>
              </a:rPr>
              <a:t> </a:t>
            </a:r>
            <a:r>
              <a:rPr lang="es-AR" sz="16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600" dirty="0">
                <a:latin typeface="Arial" panose="020B0604020202020204" pitchFamily="34" charset="0"/>
                <a:ea typeface="Times New Roman" panose="02020603050405020304" pitchFamily="18" charset="0"/>
                <a:cs typeface="Arial" panose="020B0604020202020204" pitchFamily="34" charset="0"/>
              </a:rPr>
              <a:t> R.</a:t>
            </a:r>
          </a:p>
        </p:txBody>
      </p:sp>
      <p:sp>
        <p:nvSpPr>
          <p:cNvPr id="6" name="Diagrama de flujo: retraso 5">
            <a:extLst>
              <a:ext uri="{FF2B5EF4-FFF2-40B4-BE49-F238E27FC236}">
                <a16:creationId xmlns:a16="http://schemas.microsoft.com/office/drawing/2014/main" id="{431628EA-03F3-460E-9EDF-B92E02919C17}"/>
              </a:ext>
            </a:extLst>
          </p:cNvPr>
          <p:cNvSpPr/>
          <p:nvPr/>
        </p:nvSpPr>
        <p:spPr>
          <a:xfrm rot="5400000">
            <a:off x="9718508" y="1415626"/>
            <a:ext cx="611233" cy="776530"/>
          </a:xfrm>
          <a:prstGeom prst="flowChartDelay">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Diagrama de flujo: retraso 29">
            <a:extLst>
              <a:ext uri="{FF2B5EF4-FFF2-40B4-BE49-F238E27FC236}">
                <a16:creationId xmlns:a16="http://schemas.microsoft.com/office/drawing/2014/main" id="{102ED8BF-C998-4886-9194-22E01787CA07}"/>
              </a:ext>
            </a:extLst>
          </p:cNvPr>
          <p:cNvSpPr/>
          <p:nvPr/>
        </p:nvSpPr>
        <p:spPr>
          <a:xfrm rot="-5400000">
            <a:off x="9717802" y="795074"/>
            <a:ext cx="612648" cy="776529"/>
          </a:xfrm>
          <a:prstGeom prst="flowChartDelay">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CuadroTexto 33">
            <a:extLst>
              <a:ext uri="{FF2B5EF4-FFF2-40B4-BE49-F238E27FC236}">
                <a16:creationId xmlns:a16="http://schemas.microsoft.com/office/drawing/2014/main" id="{46A29D5B-22F2-45C5-A473-7F7EE2F90E17}"/>
              </a:ext>
            </a:extLst>
          </p:cNvPr>
          <p:cNvSpPr txBox="1"/>
          <p:nvPr/>
        </p:nvSpPr>
        <p:spPr>
          <a:xfrm>
            <a:off x="9872454" y="1070069"/>
            <a:ext cx="311158"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endParaRPr lang="es-AR" sz="1600" dirty="0"/>
          </a:p>
        </p:txBody>
      </p:sp>
      <p:sp>
        <p:nvSpPr>
          <p:cNvPr id="36" name="CuadroTexto 35">
            <a:extLst>
              <a:ext uri="{FF2B5EF4-FFF2-40B4-BE49-F238E27FC236}">
                <a16:creationId xmlns:a16="http://schemas.microsoft.com/office/drawing/2014/main" id="{04AADA67-5053-4D0A-97B0-9E11CE6B9EB7}"/>
              </a:ext>
            </a:extLst>
          </p:cNvPr>
          <p:cNvSpPr txBox="1"/>
          <p:nvPr/>
        </p:nvSpPr>
        <p:spPr>
          <a:xfrm>
            <a:off x="9872454" y="1601679"/>
            <a:ext cx="448788" cy="338554"/>
          </a:xfrm>
          <a:prstGeom prst="rect">
            <a:avLst/>
          </a:prstGeom>
          <a:noFill/>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sz="1600"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 </a:t>
            </a:r>
            <a:endParaRPr lang="es-AR" sz="1600" dirty="0"/>
          </a:p>
        </p:txBody>
      </p:sp>
    </p:spTree>
    <p:extLst>
      <p:ext uri="{BB962C8B-B14F-4D97-AF65-F5344CB8AC3E}">
        <p14:creationId xmlns:p14="http://schemas.microsoft.com/office/powerpoint/2010/main" val="307314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41BF064-EFC4-4AC8-9F8E-7975792B4F26}"/>
              </a:ext>
            </a:extLst>
          </p:cNvPr>
          <p:cNvSpPr/>
          <p:nvPr/>
        </p:nvSpPr>
        <p:spPr>
          <a:xfrm>
            <a:off x="248960" y="134774"/>
            <a:ext cx="11526129" cy="3780522"/>
          </a:xfrm>
          <a:prstGeom prst="rect">
            <a:avLst/>
          </a:prstGeom>
        </p:spPr>
        <p:txBody>
          <a:bodyPr wrap="square">
            <a:spAutoFit/>
          </a:bodyPr>
          <a:lstStyle/>
          <a:p>
            <a:pPr algn="just">
              <a:lnSpc>
                <a:spcPct val="150000"/>
              </a:lnSpc>
            </a:pPr>
            <a:r>
              <a:rPr lang="es-AR" b="1" dirty="0">
                <a:latin typeface="Arial" panose="020B0604020202020204" pitchFamily="34" charset="0"/>
                <a:ea typeface="Times New Roman" panose="02020603050405020304" pitchFamily="18" charset="0"/>
                <a:cs typeface="Arial" panose="020B0604020202020204" pitchFamily="34" charset="0"/>
              </a:rPr>
              <a:t>Propiedad 2. </a:t>
            </a:r>
            <a:r>
              <a:rPr lang="es-AR" b="1" dirty="0">
                <a:solidFill>
                  <a:srgbClr val="0070C0"/>
                </a:solidFill>
                <a:latin typeface="Arial" panose="020B0604020202020204" pitchFamily="34" charset="0"/>
                <a:cs typeface="Arial" panose="020B0604020202020204" pitchFamily="34" charset="0"/>
              </a:rPr>
              <a:t>Si L</a:t>
            </a:r>
            <a:r>
              <a:rPr lang="es-AR" b="1" baseline="-25000" dirty="0">
                <a:solidFill>
                  <a:srgbClr val="0070C0"/>
                </a:solidFill>
                <a:latin typeface="Arial" panose="020B0604020202020204" pitchFamily="34" charset="0"/>
                <a:cs typeface="Arial" panose="020B0604020202020204" pitchFamily="34" charset="0"/>
              </a:rPr>
              <a:t>1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cs typeface="Arial" panose="020B0604020202020204" pitchFamily="34" charset="0"/>
              </a:rPr>
              <a:t> R  y  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a:t>
            </a:r>
            <a:r>
              <a:rPr lang="es-AR" b="1" dirty="0">
                <a:solidFill>
                  <a:srgbClr val="0070C0"/>
                </a:solidFill>
                <a:latin typeface="Arial" panose="020B0604020202020204" pitchFamily="34" charset="0"/>
                <a:cs typeface="Arial" panose="020B0604020202020204" pitchFamily="34" charset="0"/>
              </a:rPr>
              <a:t> R, entonces L</a:t>
            </a:r>
            <a:r>
              <a:rPr lang="es-AR" b="1" baseline="-25000" dirty="0">
                <a:solidFill>
                  <a:srgbClr val="0070C0"/>
                </a:solidFill>
                <a:latin typeface="Arial" panose="020B0604020202020204" pitchFamily="34" charset="0"/>
                <a:cs typeface="Arial" panose="020B0604020202020204" pitchFamily="34" charset="0"/>
              </a:rPr>
              <a:t>1 </a:t>
            </a:r>
            <a:r>
              <a:rPr lang="es-ES" b="1" dirty="0">
                <a:solidFill>
                  <a:srgbClr val="0070C0"/>
                </a:solidFill>
                <a:latin typeface="Arial" panose="020B060402020202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rPr>
              <a:t> 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cs typeface="Arial" panose="020B0604020202020204" pitchFamily="34" charset="0"/>
              </a:rPr>
              <a:t> R</a:t>
            </a:r>
            <a:r>
              <a:rPr lang="es-AR" dirty="0">
                <a:latin typeface="Arial" panose="020B0604020202020204" pitchFamily="34" charset="0"/>
                <a:cs typeface="Arial" panose="020B0604020202020204" pitchFamily="34" charset="0"/>
              </a:rPr>
              <a:t>, tal que 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sym typeface="Symbol" panose="05050102010706020507" pitchFamily="18" charset="2"/>
              </a:rPr>
              <a:t>es la intersección de</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y</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 </a:t>
            </a:r>
          </a:p>
          <a:p>
            <a:pPr algn="just">
              <a:lnSpc>
                <a:spcPct val="150000"/>
              </a:lnSpc>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Definición: </a:t>
            </a:r>
            <a:r>
              <a:rPr lang="es-AR" i="1" dirty="0">
                <a:latin typeface="Arial" panose="020B0604020202020204" pitchFamily="34" charset="0"/>
                <a:cs typeface="Arial" panose="020B0604020202020204" pitchFamily="34" charset="0"/>
              </a:rPr>
              <a:t>L</a:t>
            </a:r>
            <a:r>
              <a:rPr lang="es-AR" i="1" baseline="-25000" dirty="0">
                <a:latin typeface="Arial" panose="020B0604020202020204" pitchFamily="34" charset="0"/>
                <a:cs typeface="Arial" panose="020B0604020202020204" pitchFamily="34" charset="0"/>
              </a:rPr>
              <a:t>1 </a:t>
            </a:r>
            <a:r>
              <a:rPr lang="es-ES" i="1" dirty="0">
                <a:latin typeface="Arial" panose="020B0604020202020204" pitchFamily="34" charset="0"/>
                <a:cs typeface="Arial" panose="020B0604020202020204" pitchFamily="34" charset="0"/>
              </a:rPr>
              <a:t>⋂</a:t>
            </a:r>
            <a:r>
              <a:rPr lang="es-AR" i="1" dirty="0">
                <a:latin typeface="Arial" panose="020B0604020202020204" pitchFamily="34" charset="0"/>
                <a:cs typeface="Arial" panose="020B0604020202020204" pitchFamily="34" charset="0"/>
              </a:rPr>
              <a:t> L</a:t>
            </a:r>
            <a:r>
              <a:rPr lang="es-AR" i="1" baseline="-25000" dirty="0">
                <a:latin typeface="Arial" panose="020B0604020202020204" pitchFamily="34" charset="0"/>
                <a:cs typeface="Arial" panose="020B0604020202020204" pitchFamily="34" charset="0"/>
              </a:rPr>
              <a:t>2 </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tiene las cadenas que están en </a:t>
            </a:r>
            <a:r>
              <a:rPr lang="es-AR" i="1" dirty="0">
                <a:latin typeface="Arial" panose="020B0604020202020204" pitchFamily="34" charset="0"/>
                <a:cs typeface="Arial" panose="020B0604020202020204" pitchFamily="34" charset="0"/>
              </a:rPr>
              <a:t>L</a:t>
            </a:r>
            <a:r>
              <a:rPr lang="es-AR" i="1" baseline="-25000" dirty="0">
                <a:latin typeface="Arial" panose="020B0604020202020204" pitchFamily="34" charset="0"/>
                <a:cs typeface="Arial" panose="020B0604020202020204" pitchFamily="34" charset="0"/>
              </a:rPr>
              <a:t>1 </a:t>
            </a:r>
            <a:r>
              <a:rPr lang="es-ES" i="1" dirty="0">
                <a:latin typeface="Arial" panose="020B0604020202020204" pitchFamily="34" charset="0"/>
                <a:cs typeface="Arial" panose="020B0604020202020204" pitchFamily="34" charset="0"/>
              </a:rPr>
              <a:t>y</a:t>
            </a:r>
            <a:r>
              <a:rPr lang="es-AR" i="1" dirty="0">
                <a:latin typeface="Arial" panose="020B0604020202020204" pitchFamily="34" charset="0"/>
                <a:cs typeface="Arial" panose="020B0604020202020204" pitchFamily="34" charset="0"/>
              </a:rPr>
              <a:t> L</a:t>
            </a:r>
            <a:r>
              <a:rPr lang="es-AR" i="1" baseline="-25000" dirty="0">
                <a:latin typeface="Arial" panose="020B0604020202020204" pitchFamily="34" charset="0"/>
                <a:cs typeface="Arial" panose="020B0604020202020204" pitchFamily="34" charset="0"/>
              </a:rPr>
              <a:t>2</a:t>
            </a:r>
            <a:r>
              <a:rPr lang="es-AR" i="1" dirty="0">
                <a:latin typeface="Arial" panose="020B0604020202020204" pitchFamily="34" charset="0"/>
                <a:cs typeface="Arial" panose="020B0604020202020204" pitchFamily="34" charset="0"/>
                <a:sym typeface="Symbol" panose="05050102010706020507" pitchFamily="18" charset="2"/>
              </a:rPr>
              <a:t>. </a:t>
            </a:r>
            <a:r>
              <a:rPr lang="es-AR" i="1" dirty="0">
                <a:latin typeface="Arial" panose="020B0604020202020204" pitchFamily="34" charset="0"/>
                <a:cs typeface="Arial" panose="020B0604020202020204" pitchFamily="34" charset="0"/>
              </a:rPr>
              <a:t> </a:t>
            </a:r>
          </a:p>
          <a:p>
            <a:pPr algn="just">
              <a:lnSpc>
                <a:spcPct val="150000"/>
              </a:lnSpc>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endPar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Prueba.</a:t>
            </a:r>
          </a:p>
          <a:p>
            <a:pPr algn="just">
              <a:lnSpc>
                <a:spcPct val="150000"/>
              </a:lnSpc>
              <a:spcAft>
                <a:spcPts val="0"/>
              </a:spcAft>
            </a:pPr>
            <a:r>
              <a:rPr lang="es-AR" u="sng" dirty="0">
                <a:solidFill>
                  <a:srgbClr val="000000"/>
                </a:solidFill>
                <a:latin typeface="Arial" panose="020B0604020202020204" pitchFamily="34" charset="0"/>
                <a:ea typeface="Times New Roman" panose="02020603050405020304" pitchFamily="18" charset="0"/>
                <a:cs typeface="Arial" panose="020B0604020202020204" pitchFamily="34" charset="0"/>
              </a:rPr>
              <a:t>1. Idea general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Dadas dos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y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que respectivamente aceptan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y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y paran siempre, la idea es construir una MT M que acepte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y pare siempre. </a:t>
            </a:r>
          </a:p>
          <a:p>
            <a:pPr algn="just">
              <a:lnSpc>
                <a:spcPct val="150000"/>
              </a:lnSpc>
              <a:spcAft>
                <a:spcPts val="0"/>
              </a:spcAft>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Propuesta de solución</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ejecutar secuencialmente las dos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y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endParaRPr lang="es-MX" dirty="0">
              <a:latin typeface="Arial" panose="020B0604020202020204" pitchFamily="34" charset="0"/>
              <a:ea typeface="Times New Roman" panose="02020603050405020304" pitchFamily="18" charset="0"/>
              <a:cs typeface="Arial" panose="020B0604020202020204" pitchFamily="34" charset="0"/>
            </a:endParaRPr>
          </a:p>
        </p:txBody>
      </p:sp>
      <p:sp>
        <p:nvSpPr>
          <p:cNvPr id="4" name="Rectángulo 3">
            <a:extLst>
              <a:ext uri="{FF2B5EF4-FFF2-40B4-BE49-F238E27FC236}">
                <a16:creationId xmlns:a16="http://schemas.microsoft.com/office/drawing/2014/main" id="{A59D83AE-B1DF-4187-A344-5120412A302C}"/>
              </a:ext>
            </a:extLst>
          </p:cNvPr>
          <p:cNvSpPr/>
          <p:nvPr/>
        </p:nvSpPr>
        <p:spPr>
          <a:xfrm>
            <a:off x="2937623" y="4638811"/>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endParaRPr lang="es-MX" dirty="0"/>
          </a:p>
        </p:txBody>
      </p:sp>
      <p:sp>
        <p:nvSpPr>
          <p:cNvPr id="5" name="Rectángulo 4">
            <a:extLst>
              <a:ext uri="{FF2B5EF4-FFF2-40B4-BE49-F238E27FC236}">
                <a16:creationId xmlns:a16="http://schemas.microsoft.com/office/drawing/2014/main" id="{3A890B64-7C8B-4460-A7E9-52B563DDE71E}"/>
              </a:ext>
            </a:extLst>
          </p:cNvPr>
          <p:cNvSpPr/>
          <p:nvPr/>
        </p:nvSpPr>
        <p:spPr>
          <a:xfrm>
            <a:off x="4520715" y="4648203"/>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sp>
        <p:nvSpPr>
          <p:cNvPr id="11" name="Rectángulo 10">
            <a:extLst>
              <a:ext uri="{FF2B5EF4-FFF2-40B4-BE49-F238E27FC236}">
                <a16:creationId xmlns:a16="http://schemas.microsoft.com/office/drawing/2014/main" id="{97B7F953-A15B-4CEC-B1AD-52FC65ED5987}"/>
              </a:ext>
            </a:extLst>
          </p:cNvPr>
          <p:cNvSpPr/>
          <p:nvPr/>
        </p:nvSpPr>
        <p:spPr>
          <a:xfrm>
            <a:off x="3767955" y="4059752"/>
            <a:ext cx="37702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dirty="0"/>
          </a:p>
        </p:txBody>
      </p:sp>
      <p:sp>
        <p:nvSpPr>
          <p:cNvPr id="13" name="Rectángulo 12">
            <a:extLst>
              <a:ext uri="{FF2B5EF4-FFF2-40B4-BE49-F238E27FC236}">
                <a16:creationId xmlns:a16="http://schemas.microsoft.com/office/drawing/2014/main" id="{226E3E0A-EF5F-4FE1-BBCD-17C525900E08}"/>
              </a:ext>
            </a:extLst>
          </p:cNvPr>
          <p:cNvSpPr/>
          <p:nvPr/>
        </p:nvSpPr>
        <p:spPr>
          <a:xfrm>
            <a:off x="1696098" y="5082728"/>
            <a:ext cx="351378"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w</a:t>
            </a:r>
            <a:endParaRPr lang="es-MX" dirty="0"/>
          </a:p>
        </p:txBody>
      </p:sp>
      <p:sp>
        <p:nvSpPr>
          <p:cNvPr id="15" name="Rectángulo 14">
            <a:extLst>
              <a:ext uri="{FF2B5EF4-FFF2-40B4-BE49-F238E27FC236}">
                <a16:creationId xmlns:a16="http://schemas.microsoft.com/office/drawing/2014/main" id="{C592C71A-FC9F-4478-81CB-580ADBB61728}"/>
              </a:ext>
            </a:extLst>
          </p:cNvPr>
          <p:cNvSpPr/>
          <p:nvPr/>
        </p:nvSpPr>
        <p:spPr>
          <a:xfrm>
            <a:off x="6606253" y="4374660"/>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18" name="Rectángulo 17">
            <a:extLst>
              <a:ext uri="{FF2B5EF4-FFF2-40B4-BE49-F238E27FC236}">
                <a16:creationId xmlns:a16="http://schemas.microsoft.com/office/drawing/2014/main" id="{C316CD6E-E8BA-4C82-ADCF-3E629ABFB658}"/>
              </a:ext>
            </a:extLst>
          </p:cNvPr>
          <p:cNvSpPr/>
          <p:nvPr/>
        </p:nvSpPr>
        <p:spPr>
          <a:xfrm>
            <a:off x="2711416" y="4981777"/>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9" name="Conector recto de flecha 18">
            <a:extLst>
              <a:ext uri="{FF2B5EF4-FFF2-40B4-BE49-F238E27FC236}">
                <a16:creationId xmlns:a16="http://schemas.microsoft.com/office/drawing/2014/main" id="{A68D917E-F72C-4AC6-9CDF-6FD2E3D592BB}"/>
              </a:ext>
            </a:extLst>
          </p:cNvPr>
          <p:cNvCxnSpPr>
            <a:cxnSpLocks/>
          </p:cNvCxnSpPr>
          <p:nvPr/>
        </p:nvCxnSpPr>
        <p:spPr>
          <a:xfrm>
            <a:off x="1394054" y="5410969"/>
            <a:ext cx="130684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05B1E080-7E40-45B4-9755-CA8AB7008232}"/>
              </a:ext>
            </a:extLst>
          </p:cNvPr>
          <p:cNvCxnSpPr>
            <a:cxnSpLocks/>
            <a:endCxn id="25" idx="1"/>
          </p:cNvCxnSpPr>
          <p:nvPr/>
        </p:nvCxnSpPr>
        <p:spPr>
          <a:xfrm>
            <a:off x="3620184" y="5410969"/>
            <a:ext cx="2990345" cy="7259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Diagrama de flujo: proceso 22">
            <a:extLst>
              <a:ext uri="{FF2B5EF4-FFF2-40B4-BE49-F238E27FC236}">
                <a16:creationId xmlns:a16="http://schemas.microsoft.com/office/drawing/2014/main" id="{C54245ED-AF79-4266-AFDC-6B846C87579E}"/>
              </a:ext>
            </a:extLst>
          </p:cNvPr>
          <p:cNvSpPr/>
          <p:nvPr/>
        </p:nvSpPr>
        <p:spPr>
          <a:xfrm>
            <a:off x="2209007" y="4386168"/>
            <a:ext cx="3535424" cy="1997477"/>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Rectángulo 23">
            <a:extLst>
              <a:ext uri="{FF2B5EF4-FFF2-40B4-BE49-F238E27FC236}">
                <a16:creationId xmlns:a16="http://schemas.microsoft.com/office/drawing/2014/main" id="{EE6F58BE-F8F8-401F-9A7B-B2F7842C79FF}"/>
              </a:ext>
            </a:extLst>
          </p:cNvPr>
          <p:cNvSpPr/>
          <p:nvPr/>
        </p:nvSpPr>
        <p:spPr>
          <a:xfrm>
            <a:off x="3786540" y="5082728"/>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25" name="Rectángulo 24">
            <a:extLst>
              <a:ext uri="{FF2B5EF4-FFF2-40B4-BE49-F238E27FC236}">
                <a16:creationId xmlns:a16="http://schemas.microsoft.com/office/drawing/2014/main" id="{81C7C925-E010-49B0-A62D-D416FD1BD5CE}"/>
              </a:ext>
            </a:extLst>
          </p:cNvPr>
          <p:cNvSpPr/>
          <p:nvPr/>
        </p:nvSpPr>
        <p:spPr>
          <a:xfrm>
            <a:off x="6610529" y="5952295"/>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dirty="0"/>
          </a:p>
        </p:txBody>
      </p:sp>
      <p:cxnSp>
        <p:nvCxnSpPr>
          <p:cNvPr id="26" name="Conector recto de flecha 25">
            <a:extLst>
              <a:ext uri="{FF2B5EF4-FFF2-40B4-BE49-F238E27FC236}">
                <a16:creationId xmlns:a16="http://schemas.microsoft.com/office/drawing/2014/main" id="{B4571B4B-E648-469D-A765-F7599457D281}"/>
              </a:ext>
            </a:extLst>
          </p:cNvPr>
          <p:cNvCxnSpPr>
            <a:cxnSpLocks/>
            <a:endCxn id="27" idx="1"/>
          </p:cNvCxnSpPr>
          <p:nvPr/>
        </p:nvCxnSpPr>
        <p:spPr>
          <a:xfrm>
            <a:off x="3630232" y="5410969"/>
            <a:ext cx="664276" cy="183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529DA916-785B-431A-984C-C13D0D0A0FF7}"/>
              </a:ext>
            </a:extLst>
          </p:cNvPr>
          <p:cNvSpPr/>
          <p:nvPr/>
        </p:nvSpPr>
        <p:spPr>
          <a:xfrm>
            <a:off x="4294508" y="4972159"/>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3" name="Conector recto de flecha 42">
            <a:extLst>
              <a:ext uri="{FF2B5EF4-FFF2-40B4-BE49-F238E27FC236}">
                <a16:creationId xmlns:a16="http://schemas.microsoft.com/office/drawing/2014/main" id="{F1FF40A5-5C21-4E87-AF89-B3FB94520012}"/>
              </a:ext>
            </a:extLst>
          </p:cNvPr>
          <p:cNvCxnSpPr>
            <a:cxnSpLocks/>
            <a:endCxn id="25" idx="1"/>
          </p:cNvCxnSpPr>
          <p:nvPr/>
        </p:nvCxnSpPr>
        <p:spPr>
          <a:xfrm>
            <a:off x="5208908" y="5407587"/>
            <a:ext cx="1401621" cy="7293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F70998BD-BD2F-4940-8EDE-466CA5CAFEF3}"/>
              </a:ext>
            </a:extLst>
          </p:cNvPr>
          <p:cNvCxnSpPr>
            <a:cxnSpLocks/>
            <a:stCxn id="27" idx="3"/>
          </p:cNvCxnSpPr>
          <p:nvPr/>
        </p:nvCxnSpPr>
        <p:spPr>
          <a:xfrm flipV="1">
            <a:off x="5208908" y="4669859"/>
            <a:ext cx="1427328" cy="7595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Diagrama de flujo: conector 20">
            <a:extLst>
              <a:ext uri="{FF2B5EF4-FFF2-40B4-BE49-F238E27FC236}">
                <a16:creationId xmlns:a16="http://schemas.microsoft.com/office/drawing/2014/main" id="{34821828-5664-43E9-9EB0-71266630AF6C}"/>
              </a:ext>
            </a:extLst>
          </p:cNvPr>
          <p:cNvSpPr/>
          <p:nvPr/>
        </p:nvSpPr>
        <p:spPr>
          <a:xfrm>
            <a:off x="7528843" y="814893"/>
            <a:ext cx="1508625" cy="104854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Diagrama de flujo: conector 27">
            <a:extLst>
              <a:ext uri="{FF2B5EF4-FFF2-40B4-BE49-F238E27FC236}">
                <a16:creationId xmlns:a16="http://schemas.microsoft.com/office/drawing/2014/main" id="{49FBB90E-18EB-48B5-B856-2CDAAE531EE4}"/>
              </a:ext>
            </a:extLst>
          </p:cNvPr>
          <p:cNvSpPr/>
          <p:nvPr/>
        </p:nvSpPr>
        <p:spPr>
          <a:xfrm>
            <a:off x="8283155" y="805275"/>
            <a:ext cx="1508625" cy="104854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CuadroTexto 28">
            <a:extLst>
              <a:ext uri="{FF2B5EF4-FFF2-40B4-BE49-F238E27FC236}">
                <a16:creationId xmlns:a16="http://schemas.microsoft.com/office/drawing/2014/main" id="{8DF524D9-C595-43DA-90AC-6DEC2D864C48}"/>
              </a:ext>
            </a:extLst>
          </p:cNvPr>
          <p:cNvSpPr txBox="1"/>
          <p:nvPr/>
        </p:nvSpPr>
        <p:spPr>
          <a:xfrm>
            <a:off x="7790956" y="1144883"/>
            <a:ext cx="492198"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AR" sz="1600" dirty="0"/>
          </a:p>
        </p:txBody>
      </p:sp>
      <p:sp>
        <p:nvSpPr>
          <p:cNvPr id="30" name="CuadroTexto 29">
            <a:extLst>
              <a:ext uri="{FF2B5EF4-FFF2-40B4-BE49-F238E27FC236}">
                <a16:creationId xmlns:a16="http://schemas.microsoft.com/office/drawing/2014/main" id="{72F447A1-860A-4490-BEE5-6045CA149ACB}"/>
              </a:ext>
            </a:extLst>
          </p:cNvPr>
          <p:cNvSpPr txBox="1"/>
          <p:nvPr/>
        </p:nvSpPr>
        <p:spPr>
          <a:xfrm>
            <a:off x="9149252" y="1144883"/>
            <a:ext cx="420153"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AR" sz="1600" dirty="0"/>
          </a:p>
        </p:txBody>
      </p:sp>
      <p:sp>
        <p:nvSpPr>
          <p:cNvPr id="9" name="Elipse 8">
            <a:extLst>
              <a:ext uri="{FF2B5EF4-FFF2-40B4-BE49-F238E27FC236}">
                <a16:creationId xmlns:a16="http://schemas.microsoft.com/office/drawing/2014/main" id="{9662D971-7B0D-45B9-A7B5-B08E32FFB360}"/>
              </a:ext>
            </a:extLst>
          </p:cNvPr>
          <p:cNvSpPr/>
          <p:nvPr/>
        </p:nvSpPr>
        <p:spPr>
          <a:xfrm>
            <a:off x="8283154" y="909364"/>
            <a:ext cx="754312" cy="91440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Slide Number Placeholder 2">
            <a:extLst>
              <a:ext uri="{FF2B5EF4-FFF2-40B4-BE49-F238E27FC236}">
                <a16:creationId xmlns:a16="http://schemas.microsoft.com/office/drawing/2014/main" id="{DDBEA7E7-1C30-4A28-B24C-BED42685B1C8}"/>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1" name="CuadroTexto 30">
            <a:extLst>
              <a:ext uri="{FF2B5EF4-FFF2-40B4-BE49-F238E27FC236}">
                <a16:creationId xmlns:a16="http://schemas.microsoft.com/office/drawing/2014/main" id="{A35B926C-8354-4E8F-B9C8-76D824824A82}"/>
              </a:ext>
            </a:extLst>
          </p:cNvPr>
          <p:cNvSpPr txBox="1"/>
          <p:nvPr/>
        </p:nvSpPr>
        <p:spPr>
          <a:xfrm>
            <a:off x="8282911" y="1156050"/>
            <a:ext cx="1076417"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 </a:t>
            </a:r>
            <a:r>
              <a:rPr lang="es-ES" sz="1600" dirty="0">
                <a:latin typeface="Arial" panose="020B0604020202020204" pitchFamily="34" charset="0"/>
                <a:cs typeface="Arial" panose="020B0604020202020204" pitchFamily="34" charset="0"/>
              </a:rPr>
              <a:t>⋂</a:t>
            </a:r>
            <a:r>
              <a:rPr lang="es-AR" sz="1600" dirty="0">
                <a:latin typeface="Arial" panose="020B0604020202020204" pitchFamily="34" charset="0"/>
                <a:cs typeface="Arial" panose="020B0604020202020204" pitchFamily="34" charset="0"/>
              </a:rPr>
              <a:t> L</a:t>
            </a:r>
            <a:r>
              <a:rPr lang="es-AR" sz="1600" baseline="-25000" dirty="0">
                <a:latin typeface="Arial" panose="020B0604020202020204" pitchFamily="34" charset="0"/>
                <a:cs typeface="Arial" panose="020B0604020202020204" pitchFamily="34" charset="0"/>
              </a:rPr>
              <a:t>2 </a:t>
            </a:r>
            <a:endParaRPr lang="es-AR" sz="1600" dirty="0"/>
          </a:p>
        </p:txBody>
      </p:sp>
      <p:sp>
        <p:nvSpPr>
          <p:cNvPr id="32" name="CuadroTexto 31">
            <a:extLst>
              <a:ext uri="{FF2B5EF4-FFF2-40B4-BE49-F238E27FC236}">
                <a16:creationId xmlns:a16="http://schemas.microsoft.com/office/drawing/2014/main" id="{0AC7B440-6B20-403E-9264-FFA2B49DAAFD}"/>
              </a:ext>
            </a:extLst>
          </p:cNvPr>
          <p:cNvSpPr txBox="1"/>
          <p:nvPr/>
        </p:nvSpPr>
        <p:spPr>
          <a:xfrm>
            <a:off x="7168663" y="4743992"/>
            <a:ext cx="4460487" cy="1523559"/>
          </a:xfrm>
          <a:prstGeom prst="rect">
            <a:avLst/>
          </a:prstGeom>
          <a:noFill/>
        </p:spPr>
        <p:txBody>
          <a:bodyPr wrap="square">
            <a:spAutoFit/>
          </a:bodyPr>
          <a:lstStyle/>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 acepta sólo las cadenas que pasan por los  “filtros” de 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 </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y 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 para siempre porque 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 </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y M</a:t>
            </a:r>
            <a:r>
              <a:rPr lang="es-AR" sz="16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 </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paran siempre.</a:t>
            </a:r>
          </a:p>
          <a:p>
            <a:pPr>
              <a:lnSpc>
                <a:spcPct val="150000"/>
              </a:lnSpc>
              <a:spcAft>
                <a:spcPts val="0"/>
              </a:spcAft>
            </a:pP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Por lo tanto, </a:t>
            </a:r>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 </a:t>
            </a:r>
            <a:r>
              <a:rPr lang="es-ES" sz="1600" dirty="0">
                <a:latin typeface="Arial" panose="020B0604020202020204" pitchFamily="34" charset="0"/>
                <a:cs typeface="Arial" panose="020B0604020202020204" pitchFamily="34" charset="0"/>
              </a:rPr>
              <a:t>⋂</a:t>
            </a:r>
            <a:r>
              <a:rPr lang="es-AR" sz="1600" dirty="0">
                <a:latin typeface="Arial" panose="020B0604020202020204" pitchFamily="34" charset="0"/>
                <a:cs typeface="Arial" panose="020B0604020202020204" pitchFamily="34" charset="0"/>
              </a:rPr>
              <a:t> L</a:t>
            </a:r>
            <a:r>
              <a:rPr lang="es-AR" sz="1600" baseline="-25000" dirty="0">
                <a:latin typeface="Arial" panose="020B0604020202020204" pitchFamily="34" charset="0"/>
                <a:cs typeface="Arial" panose="020B0604020202020204" pitchFamily="34" charset="0"/>
              </a:rPr>
              <a:t>2 </a:t>
            </a:r>
            <a:r>
              <a:rPr lang="es-AR" sz="16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600" dirty="0">
                <a:latin typeface="Arial" panose="020B0604020202020204" pitchFamily="34" charset="0"/>
                <a:ea typeface="Times New Roman" panose="02020603050405020304" pitchFamily="18" charset="0"/>
                <a:cs typeface="Arial" panose="020B0604020202020204" pitchFamily="34" charset="0"/>
              </a:rPr>
              <a:t> R.</a:t>
            </a:r>
            <a:endPar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406135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5510595" y="2179626"/>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DEABDDF1-C07D-4522-BE75-28498FED8797}"/>
              </a:ext>
            </a:extLst>
          </p:cNvPr>
          <p:cNvSpPr/>
          <p:nvPr/>
        </p:nvSpPr>
        <p:spPr>
          <a:xfrm>
            <a:off x="262597" y="48538"/>
            <a:ext cx="11659024" cy="1050993"/>
          </a:xfrm>
          <a:prstGeom prst="rect">
            <a:avLst/>
          </a:prstGeom>
        </p:spPr>
        <p:txBody>
          <a:bodyPr wrap="square">
            <a:spAutoFit/>
          </a:bodyPr>
          <a:lstStyle/>
          <a:p>
            <a:pPr algn="just">
              <a:lnSpc>
                <a:spcPct val="150000"/>
              </a:lnSpc>
              <a:spcAft>
                <a:spcPts val="0"/>
              </a:spcAft>
            </a:pPr>
            <a:r>
              <a:rPr lang="es-AR" sz="2400" b="1" dirty="0">
                <a:latin typeface="Arial" panose="020B0604020202020204" pitchFamily="34" charset="0"/>
                <a:ea typeface="Times New Roman" panose="02020603050405020304" pitchFamily="18" charset="0"/>
                <a:cs typeface="Arial" panose="020B0604020202020204" pitchFamily="34" charset="0"/>
              </a:rPr>
              <a:t>Algunas propiedades de la clase RE</a:t>
            </a:r>
          </a:p>
          <a:p>
            <a:pPr algn="just">
              <a:lnSpc>
                <a:spcPct val="150000"/>
              </a:lnSpc>
              <a:spcAft>
                <a:spcPts val="0"/>
              </a:spcAft>
            </a:pPr>
            <a:endParaRPr lang="es-AR" sz="2000" u="sng"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10" name="Rectángulo 9">
            <a:extLst>
              <a:ext uri="{FF2B5EF4-FFF2-40B4-BE49-F238E27FC236}">
                <a16:creationId xmlns:a16="http://schemas.microsoft.com/office/drawing/2014/main" id="{F1ECD963-7929-4F9C-B97E-66301C0E5263}"/>
              </a:ext>
            </a:extLst>
          </p:cNvPr>
          <p:cNvSpPr/>
          <p:nvPr/>
        </p:nvSpPr>
        <p:spPr>
          <a:xfrm>
            <a:off x="9685848" y="3434019"/>
            <a:ext cx="914400" cy="255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274D3FFC-1211-4D8D-9F2D-08EE34B5982A}"/>
              </a:ext>
            </a:extLst>
          </p:cNvPr>
          <p:cNvSpPr/>
          <p:nvPr/>
        </p:nvSpPr>
        <p:spPr>
          <a:xfrm>
            <a:off x="270379" y="868964"/>
            <a:ext cx="11651242" cy="3295774"/>
          </a:xfrm>
          <a:prstGeom prst="rect">
            <a:avLst/>
          </a:prstGeom>
        </p:spPr>
        <p:txBody>
          <a:bodyPr wrap="square">
            <a:spAutoFit/>
          </a:bodyPr>
          <a:lstStyle/>
          <a:p>
            <a:pPr algn="just">
              <a:lnSpc>
                <a:spcPct val="150000"/>
              </a:lnSpc>
            </a:pPr>
            <a:r>
              <a:rPr lang="es-AR" b="1" dirty="0">
                <a:latin typeface="Arial" panose="020B0604020202020204" pitchFamily="34" charset="0"/>
                <a:ea typeface="Times New Roman" panose="02020603050405020304" pitchFamily="18" charset="0"/>
                <a:cs typeface="Arial" panose="020B0604020202020204" pitchFamily="34" charset="0"/>
              </a:rPr>
              <a:t>Propiedad 3. </a:t>
            </a:r>
            <a:r>
              <a:rPr lang="es-AR" b="1" dirty="0">
                <a:solidFill>
                  <a:srgbClr val="0070C0"/>
                </a:solidFill>
                <a:latin typeface="Arial" panose="020B0604020202020204" pitchFamily="34" charset="0"/>
                <a:cs typeface="Arial" panose="020B0604020202020204" pitchFamily="34" charset="0"/>
              </a:rPr>
              <a:t>Si L</a:t>
            </a:r>
            <a:r>
              <a:rPr lang="es-AR" b="1" baseline="-25000" dirty="0">
                <a:solidFill>
                  <a:srgbClr val="0070C0"/>
                </a:solidFill>
                <a:latin typeface="Arial" panose="020B0604020202020204" pitchFamily="34" charset="0"/>
                <a:cs typeface="Arial" panose="020B0604020202020204" pitchFamily="34" charset="0"/>
              </a:rPr>
              <a:t>1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cs typeface="Arial" panose="020B0604020202020204" pitchFamily="34" charset="0"/>
              </a:rPr>
              <a:t> RE  y  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a:t>
            </a:r>
            <a:r>
              <a:rPr lang="es-AR" b="1" dirty="0">
                <a:solidFill>
                  <a:srgbClr val="0070C0"/>
                </a:solidFill>
                <a:latin typeface="Arial" panose="020B0604020202020204" pitchFamily="34" charset="0"/>
                <a:cs typeface="Arial" panose="020B0604020202020204" pitchFamily="34" charset="0"/>
              </a:rPr>
              <a:t> RE, entonces L</a:t>
            </a:r>
            <a:r>
              <a:rPr lang="es-AR" b="1" baseline="-25000" dirty="0">
                <a:solidFill>
                  <a:srgbClr val="0070C0"/>
                </a:solidFill>
                <a:latin typeface="Arial" panose="020B0604020202020204" pitchFamily="34" charset="0"/>
                <a:cs typeface="Arial" panose="020B0604020202020204" pitchFamily="34" charset="0"/>
              </a:rPr>
              <a:t>1 </a:t>
            </a:r>
            <a:r>
              <a:rPr lang="es-ES" b="1" dirty="0">
                <a:solidFill>
                  <a:srgbClr val="0070C0"/>
                </a:solidFill>
                <a:latin typeface="Arial" panose="020B060402020202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rPr>
              <a:t> 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a:t>
            </a:r>
            <a:r>
              <a:rPr lang="es-AR" b="1" dirty="0">
                <a:solidFill>
                  <a:srgbClr val="0070C0"/>
                </a:solidFill>
                <a:latin typeface="Arial" panose="020B0604020202020204" pitchFamily="34" charset="0"/>
                <a:cs typeface="Arial" panose="020B0604020202020204" pitchFamily="34" charset="0"/>
              </a:rPr>
              <a:t> RE</a:t>
            </a:r>
            <a:r>
              <a:rPr lang="es-AR" dirty="0">
                <a:latin typeface="Arial" panose="020B0604020202020204" pitchFamily="34" charset="0"/>
                <a:cs typeface="Arial" panose="020B0604020202020204" pitchFamily="34" charset="0"/>
              </a:rPr>
              <a:t>, tal que</a:t>
            </a:r>
            <a:r>
              <a:rPr lang="es-AR" dirty="0">
                <a:solidFill>
                  <a:srgbClr val="0070C0"/>
                </a:solidFill>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es la unión de</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y</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gn="just">
              <a:lnSpc>
                <a:spcPct val="150000"/>
              </a:lnSpc>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Definición: </a:t>
            </a:r>
            <a:r>
              <a:rPr lang="es-AR" i="1" dirty="0">
                <a:latin typeface="Arial" panose="020B0604020202020204" pitchFamily="34" charset="0"/>
                <a:cs typeface="Arial" panose="020B0604020202020204" pitchFamily="34" charset="0"/>
              </a:rPr>
              <a:t>L</a:t>
            </a:r>
            <a:r>
              <a:rPr lang="es-AR" i="1" baseline="-25000" dirty="0">
                <a:latin typeface="Arial" panose="020B0604020202020204" pitchFamily="34" charset="0"/>
                <a:cs typeface="Arial" panose="020B0604020202020204" pitchFamily="34" charset="0"/>
              </a:rPr>
              <a:t>1 </a:t>
            </a:r>
            <a:r>
              <a:rPr lang="es-ES" i="1" dirty="0">
                <a:latin typeface="Arial" panose="020B0604020202020204" pitchFamily="34" charset="0"/>
                <a:cs typeface="Arial" panose="020B0604020202020204" pitchFamily="34" charset="0"/>
              </a:rPr>
              <a:t>⋃</a:t>
            </a:r>
            <a:r>
              <a:rPr lang="es-AR" i="1" dirty="0">
                <a:latin typeface="Arial" panose="020B0604020202020204" pitchFamily="34" charset="0"/>
                <a:cs typeface="Arial" panose="020B0604020202020204" pitchFamily="34" charset="0"/>
              </a:rPr>
              <a:t> L</a:t>
            </a:r>
            <a:r>
              <a:rPr lang="es-AR" i="1" baseline="-25000" dirty="0">
                <a:latin typeface="Arial" panose="020B0604020202020204" pitchFamily="34" charset="0"/>
                <a:cs typeface="Arial" panose="020B0604020202020204" pitchFamily="34" charset="0"/>
              </a:rPr>
              <a:t>2</a:t>
            </a:r>
            <a:r>
              <a:rPr lang="es-AR" i="1" dirty="0">
                <a:latin typeface="Arial" panose="020B0604020202020204" pitchFamily="34" charset="0"/>
                <a:cs typeface="Arial" panose="020B0604020202020204" pitchFamily="34" charset="0"/>
              </a:rPr>
              <a:t> </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tiene las cadenas que están en </a:t>
            </a:r>
            <a:r>
              <a:rPr lang="es-AR" i="1" dirty="0">
                <a:latin typeface="Arial" panose="020B0604020202020204" pitchFamily="34" charset="0"/>
                <a:cs typeface="Arial" panose="020B0604020202020204" pitchFamily="34" charset="0"/>
              </a:rPr>
              <a:t>L</a:t>
            </a:r>
            <a:r>
              <a:rPr lang="es-AR" i="1" baseline="-25000" dirty="0">
                <a:latin typeface="Arial" panose="020B0604020202020204" pitchFamily="34" charset="0"/>
                <a:cs typeface="Arial" panose="020B0604020202020204" pitchFamily="34" charset="0"/>
              </a:rPr>
              <a:t>1 </a:t>
            </a:r>
            <a:r>
              <a:rPr lang="es-ES" i="1" dirty="0">
                <a:latin typeface="Arial" panose="020B0604020202020204" pitchFamily="34" charset="0"/>
                <a:cs typeface="Arial" panose="020B0604020202020204" pitchFamily="34" charset="0"/>
              </a:rPr>
              <a:t>o</a:t>
            </a:r>
            <a:r>
              <a:rPr lang="es-AR" i="1" dirty="0">
                <a:latin typeface="Arial" panose="020B0604020202020204" pitchFamily="34" charset="0"/>
                <a:cs typeface="Arial" panose="020B0604020202020204" pitchFamily="34" charset="0"/>
              </a:rPr>
              <a:t> L</a:t>
            </a:r>
            <a:r>
              <a:rPr lang="es-AR" i="1" baseline="-25000" dirty="0">
                <a:latin typeface="Arial" panose="020B0604020202020204" pitchFamily="34" charset="0"/>
                <a:cs typeface="Arial" panose="020B0604020202020204" pitchFamily="34" charset="0"/>
              </a:rPr>
              <a:t>2</a:t>
            </a:r>
            <a:r>
              <a:rPr lang="es-AR" i="1" dirty="0">
                <a:latin typeface="Arial" panose="020B0604020202020204" pitchFamily="34" charset="0"/>
                <a:cs typeface="Arial" panose="020B0604020202020204" pitchFamily="34" charset="0"/>
                <a:sym typeface="Symbol" panose="05050102010706020507" pitchFamily="18" charset="2"/>
              </a:rPr>
              <a:t>. </a:t>
            </a:r>
            <a:r>
              <a:rPr lang="es-AR" i="1" dirty="0">
                <a:latin typeface="Arial" panose="020B0604020202020204" pitchFamily="34" charset="0"/>
                <a:cs typeface="Arial" panose="020B0604020202020204" pitchFamily="34" charset="0"/>
              </a:rPr>
              <a:t> </a:t>
            </a:r>
          </a:p>
          <a:p>
            <a:pPr algn="just">
              <a:lnSpc>
                <a:spcPct val="150000"/>
              </a:lnSpc>
              <a:spcAft>
                <a:spcPts val="0"/>
              </a:spcAft>
            </a:pPr>
            <a:endParaRPr lang="es-AR" sz="10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0"/>
              </a:spcAft>
            </a:pPr>
            <a:r>
              <a:rPr lang="es-AR" b="1" dirty="0">
                <a:solidFill>
                  <a:srgbClr val="000000"/>
                </a:solidFill>
                <a:latin typeface="Arial" panose="020B0604020202020204" pitchFamily="34" charset="0"/>
                <a:ea typeface="Times New Roman" panose="02020603050405020304" pitchFamily="18" charset="0"/>
                <a:cs typeface="Arial" panose="020B0604020202020204" pitchFamily="34" charset="0"/>
              </a:rPr>
              <a:t>Prueba.</a:t>
            </a:r>
          </a:p>
          <a:p>
            <a:pPr algn="just">
              <a:lnSpc>
                <a:spcPct val="150000"/>
              </a:lnSpc>
              <a:spcAft>
                <a:spcPts val="0"/>
              </a:spcAft>
            </a:pPr>
            <a:r>
              <a:rPr lang="es-AR" u="sng" dirty="0">
                <a:solidFill>
                  <a:srgbClr val="000000"/>
                </a:solidFill>
                <a:latin typeface="Arial" panose="020B0604020202020204" pitchFamily="34" charset="0"/>
                <a:ea typeface="Times New Roman" panose="02020603050405020304" pitchFamily="18" charset="0"/>
                <a:cs typeface="Arial" panose="020B0604020202020204" pitchFamily="34" charset="0"/>
              </a:rPr>
              <a:t>1. Idea general</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Dadas dos MT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y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que respectivamente aceptan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y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la idea es construir una MT M que acepte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algn="just">
              <a:lnSpc>
                <a:spcPct val="150000"/>
              </a:lnSpc>
            </a:pPr>
            <a:endParaRPr lang="es-AR" sz="500" i="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pPr>
            <a:r>
              <a:rPr lang="es-AR" i="1" dirty="0">
                <a:solidFill>
                  <a:srgbClr val="000000"/>
                </a:solidFill>
                <a:latin typeface="Arial" panose="020B0604020202020204" pitchFamily="34" charset="0"/>
                <a:ea typeface="Times New Roman" panose="02020603050405020304" pitchFamily="18" charset="0"/>
                <a:cs typeface="Arial" panose="020B0604020202020204" pitchFamily="34" charset="0"/>
              </a:rPr>
              <a:t>Propuesta de solución</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ejecutar las dos MT en paralelo: </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pPr>
            <a:r>
              <a:rPr lang="es-AR" dirty="0">
                <a:latin typeface="Arial" panose="020B0604020202020204" pitchFamily="34"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p:txBody>
      </p:sp>
      <p:sp>
        <p:nvSpPr>
          <p:cNvPr id="8" name="Diagrama de flujo: conector 7">
            <a:extLst>
              <a:ext uri="{FF2B5EF4-FFF2-40B4-BE49-F238E27FC236}">
                <a16:creationId xmlns:a16="http://schemas.microsoft.com/office/drawing/2014/main" id="{399EEEBE-2D84-4550-9FBD-F012A24163EA}"/>
              </a:ext>
            </a:extLst>
          </p:cNvPr>
          <p:cNvSpPr/>
          <p:nvPr/>
        </p:nvSpPr>
        <p:spPr>
          <a:xfrm>
            <a:off x="7159347" y="1460805"/>
            <a:ext cx="1508625" cy="1048549"/>
          </a:xfrm>
          <a:prstGeom prst="flowChartConnec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Diagrama de flujo: conector 8">
            <a:extLst>
              <a:ext uri="{FF2B5EF4-FFF2-40B4-BE49-F238E27FC236}">
                <a16:creationId xmlns:a16="http://schemas.microsoft.com/office/drawing/2014/main" id="{EAE91E0D-902C-47B1-95DA-EA8FD8ED8C1F}"/>
              </a:ext>
            </a:extLst>
          </p:cNvPr>
          <p:cNvSpPr/>
          <p:nvPr/>
        </p:nvSpPr>
        <p:spPr>
          <a:xfrm>
            <a:off x="7913659" y="1451187"/>
            <a:ext cx="1508625" cy="1048549"/>
          </a:xfrm>
          <a:prstGeom prst="flowChartConnec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C2B5A358-63AD-4785-A527-24DE5CB6F987}"/>
              </a:ext>
            </a:extLst>
          </p:cNvPr>
          <p:cNvSpPr txBox="1"/>
          <p:nvPr/>
        </p:nvSpPr>
        <p:spPr>
          <a:xfrm>
            <a:off x="7421460" y="1795326"/>
            <a:ext cx="492198"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AR" sz="1600" dirty="0"/>
          </a:p>
        </p:txBody>
      </p:sp>
      <p:sp>
        <p:nvSpPr>
          <p:cNvPr id="12" name="CuadroTexto 11">
            <a:extLst>
              <a:ext uri="{FF2B5EF4-FFF2-40B4-BE49-F238E27FC236}">
                <a16:creationId xmlns:a16="http://schemas.microsoft.com/office/drawing/2014/main" id="{3E009394-215D-4FDA-A5DE-155FAAF95EE9}"/>
              </a:ext>
            </a:extLst>
          </p:cNvPr>
          <p:cNvSpPr txBox="1"/>
          <p:nvPr/>
        </p:nvSpPr>
        <p:spPr>
          <a:xfrm>
            <a:off x="8792055" y="1810294"/>
            <a:ext cx="420153"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AR" sz="1600" dirty="0"/>
          </a:p>
        </p:txBody>
      </p:sp>
      <p:sp>
        <p:nvSpPr>
          <p:cNvPr id="14" name="Elipse 13">
            <a:extLst>
              <a:ext uri="{FF2B5EF4-FFF2-40B4-BE49-F238E27FC236}">
                <a16:creationId xmlns:a16="http://schemas.microsoft.com/office/drawing/2014/main" id="{9E015B84-B12C-4E8B-8D91-83E9458065CB}"/>
              </a:ext>
            </a:extLst>
          </p:cNvPr>
          <p:cNvSpPr/>
          <p:nvPr/>
        </p:nvSpPr>
        <p:spPr>
          <a:xfrm>
            <a:off x="7913659" y="1537760"/>
            <a:ext cx="754312" cy="914400"/>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8" name="Rectángulo 67">
            <a:extLst>
              <a:ext uri="{FF2B5EF4-FFF2-40B4-BE49-F238E27FC236}">
                <a16:creationId xmlns:a16="http://schemas.microsoft.com/office/drawing/2014/main" id="{1CACF860-AC03-487D-850A-FCF25975D526}"/>
              </a:ext>
            </a:extLst>
          </p:cNvPr>
          <p:cNvSpPr/>
          <p:nvPr/>
        </p:nvSpPr>
        <p:spPr>
          <a:xfrm>
            <a:off x="7298850" y="4876723"/>
            <a:ext cx="4246868" cy="416011"/>
          </a:xfrm>
          <a:prstGeom prst="rect">
            <a:avLst/>
          </a:prstGeom>
        </p:spPr>
        <p:txBody>
          <a:bodyPr wrap="square">
            <a:spAutoFit/>
          </a:bodyPr>
          <a:lstStyle/>
          <a:p>
            <a:pPr algn="just">
              <a:lnSpc>
                <a:spcPct val="150000"/>
              </a:lnSpc>
              <a:spcAft>
                <a:spcPts val="0"/>
              </a:spcAft>
            </a:pPr>
            <a:r>
              <a:rPr lang="es-AR" sz="1600" dirty="0">
                <a:latin typeface="Arial" panose="020B0604020202020204" pitchFamily="34" charset="0"/>
                <a:ea typeface="Times New Roman" panose="02020603050405020304" pitchFamily="18" charset="0"/>
                <a:cs typeface="Arial" panose="020B0604020202020204" pitchFamily="34" charset="0"/>
              </a:rPr>
              <a:t>M acepta </a:t>
            </a:r>
            <a:r>
              <a:rPr lang="es-AR" sz="1600" dirty="0" err="1">
                <a:latin typeface="Arial" panose="020B0604020202020204" pitchFamily="34" charset="0"/>
                <a:ea typeface="Times New Roman" panose="02020603050405020304" pitchFamily="18" charset="0"/>
                <a:cs typeface="Arial" panose="020B0604020202020204" pitchFamily="34" charset="0"/>
              </a:rPr>
              <a:t>sii</a:t>
            </a:r>
            <a:r>
              <a:rPr lang="es-AR" sz="1600" dirty="0">
                <a:latin typeface="Arial" panose="020B0604020202020204" pitchFamily="34" charset="0"/>
                <a:ea typeface="Times New Roman" panose="02020603050405020304" pitchFamily="18" charset="0"/>
                <a:cs typeface="Arial" panose="020B0604020202020204" pitchFamily="34" charset="0"/>
              </a:rPr>
              <a:t> alguna acepta</a:t>
            </a:r>
            <a:endParaRPr lang="es-MX" sz="1600" dirty="0">
              <a:latin typeface="Arial" panose="020B0604020202020204" pitchFamily="34" charset="0"/>
              <a:ea typeface="Times New Roman" panose="02020603050405020304" pitchFamily="18" charset="0"/>
              <a:cs typeface="Arial" panose="020B0604020202020204" pitchFamily="34" charset="0"/>
            </a:endParaRPr>
          </a:p>
        </p:txBody>
      </p:sp>
      <p:sp>
        <p:nvSpPr>
          <p:cNvPr id="70" name="Slide Number Placeholder 2">
            <a:extLst>
              <a:ext uri="{FF2B5EF4-FFF2-40B4-BE49-F238E27FC236}">
                <a16:creationId xmlns:a16="http://schemas.microsoft.com/office/drawing/2014/main" id="{50829A35-C05F-4C30-AA6B-2ABC48D71761}"/>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6" name="CuadroTexto 45">
            <a:extLst>
              <a:ext uri="{FF2B5EF4-FFF2-40B4-BE49-F238E27FC236}">
                <a16:creationId xmlns:a16="http://schemas.microsoft.com/office/drawing/2014/main" id="{180AA5B1-6319-46BF-BE7A-F6563A159FA9}"/>
              </a:ext>
            </a:extLst>
          </p:cNvPr>
          <p:cNvSpPr txBox="1"/>
          <p:nvPr/>
        </p:nvSpPr>
        <p:spPr>
          <a:xfrm>
            <a:off x="7959338" y="2464459"/>
            <a:ext cx="914400"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 </a:t>
            </a:r>
            <a:r>
              <a:rPr lang="es-ES" sz="1600" dirty="0">
                <a:latin typeface="Arial" panose="020B0604020202020204" pitchFamily="34" charset="0"/>
                <a:cs typeface="Arial" panose="020B0604020202020204" pitchFamily="34" charset="0"/>
              </a:rPr>
              <a:t>⋃</a:t>
            </a:r>
            <a:r>
              <a:rPr lang="es-AR" sz="1600" dirty="0">
                <a:latin typeface="Arial" panose="020B0604020202020204" pitchFamily="34" charset="0"/>
                <a:cs typeface="Arial" panose="020B0604020202020204" pitchFamily="34" charset="0"/>
              </a:rPr>
              <a:t> L</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 </a:t>
            </a:r>
            <a:endParaRPr lang="es-AR" sz="1600" dirty="0"/>
          </a:p>
        </p:txBody>
      </p:sp>
      <p:sp>
        <p:nvSpPr>
          <p:cNvPr id="3" name="Rectángulo 2">
            <a:extLst>
              <a:ext uri="{FF2B5EF4-FFF2-40B4-BE49-F238E27FC236}">
                <a16:creationId xmlns:a16="http://schemas.microsoft.com/office/drawing/2014/main" id="{25DF56AB-03EA-519B-BE83-F452DD090905}"/>
              </a:ext>
            </a:extLst>
          </p:cNvPr>
          <p:cNvSpPr/>
          <p:nvPr/>
        </p:nvSpPr>
        <p:spPr>
          <a:xfrm>
            <a:off x="4479126" y="4447216"/>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endParaRPr lang="es-MX" dirty="0"/>
          </a:p>
        </p:txBody>
      </p:sp>
      <p:sp>
        <p:nvSpPr>
          <p:cNvPr id="5" name="Rectángulo 4">
            <a:extLst>
              <a:ext uri="{FF2B5EF4-FFF2-40B4-BE49-F238E27FC236}">
                <a16:creationId xmlns:a16="http://schemas.microsoft.com/office/drawing/2014/main" id="{4B303751-2317-511D-066D-6796E0C3912C}"/>
              </a:ext>
            </a:extLst>
          </p:cNvPr>
          <p:cNvSpPr/>
          <p:nvPr/>
        </p:nvSpPr>
        <p:spPr>
          <a:xfrm>
            <a:off x="4519326" y="5511661"/>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sp>
        <p:nvSpPr>
          <p:cNvPr id="6" name="Rectángulo 5">
            <a:extLst>
              <a:ext uri="{FF2B5EF4-FFF2-40B4-BE49-F238E27FC236}">
                <a16:creationId xmlns:a16="http://schemas.microsoft.com/office/drawing/2014/main" id="{36CB4134-CEED-54F2-2E3A-9FC21906A105}"/>
              </a:ext>
            </a:extLst>
          </p:cNvPr>
          <p:cNvSpPr/>
          <p:nvPr/>
        </p:nvSpPr>
        <p:spPr>
          <a:xfrm>
            <a:off x="4274368" y="4203898"/>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Diagrama de flujo: proceso 12">
            <a:extLst>
              <a:ext uri="{FF2B5EF4-FFF2-40B4-BE49-F238E27FC236}">
                <a16:creationId xmlns:a16="http://schemas.microsoft.com/office/drawing/2014/main" id="{D9CE8726-23FC-C6EF-E4F6-308B25D9F70C}"/>
              </a:ext>
            </a:extLst>
          </p:cNvPr>
          <p:cNvSpPr/>
          <p:nvPr/>
        </p:nvSpPr>
        <p:spPr>
          <a:xfrm>
            <a:off x="3562897" y="4101137"/>
            <a:ext cx="2193648" cy="217993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5" name="Conector recto de flecha 14">
            <a:extLst>
              <a:ext uri="{FF2B5EF4-FFF2-40B4-BE49-F238E27FC236}">
                <a16:creationId xmlns:a16="http://schemas.microsoft.com/office/drawing/2014/main" id="{93940A20-F64E-24C6-F1A2-CDACF887E064}"/>
              </a:ext>
            </a:extLst>
          </p:cNvPr>
          <p:cNvCxnSpPr>
            <a:cxnSpLocks/>
          </p:cNvCxnSpPr>
          <p:nvPr/>
        </p:nvCxnSpPr>
        <p:spPr>
          <a:xfrm flipV="1">
            <a:off x="3782545" y="4642563"/>
            <a:ext cx="478429" cy="8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06B4FCBC-FE82-2D04-9994-E01EDFB5545F}"/>
              </a:ext>
            </a:extLst>
          </p:cNvPr>
          <p:cNvSpPr/>
          <p:nvPr/>
        </p:nvSpPr>
        <p:spPr>
          <a:xfrm>
            <a:off x="4282469" y="5254401"/>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7" name="Conector recto 16">
            <a:extLst>
              <a:ext uri="{FF2B5EF4-FFF2-40B4-BE49-F238E27FC236}">
                <a16:creationId xmlns:a16="http://schemas.microsoft.com/office/drawing/2014/main" id="{71FFA864-0B66-AF73-3823-6BE53FD2199D}"/>
              </a:ext>
            </a:extLst>
          </p:cNvPr>
          <p:cNvCxnSpPr>
            <a:cxnSpLocks/>
          </p:cNvCxnSpPr>
          <p:nvPr/>
        </p:nvCxnSpPr>
        <p:spPr>
          <a:xfrm>
            <a:off x="3753185" y="4643729"/>
            <a:ext cx="0" cy="10048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2616DFDA-B284-16F5-8714-1A2DE24518F0}"/>
              </a:ext>
            </a:extLst>
          </p:cNvPr>
          <p:cNvSpPr/>
          <p:nvPr/>
        </p:nvSpPr>
        <p:spPr>
          <a:xfrm>
            <a:off x="4443966" y="3763975"/>
            <a:ext cx="44114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a:t>
            </a:r>
            <a:endParaRPr lang="es-MX" dirty="0"/>
          </a:p>
        </p:txBody>
      </p:sp>
      <p:cxnSp>
        <p:nvCxnSpPr>
          <p:cNvPr id="47" name="Conector recto de flecha 46">
            <a:extLst>
              <a:ext uri="{FF2B5EF4-FFF2-40B4-BE49-F238E27FC236}">
                <a16:creationId xmlns:a16="http://schemas.microsoft.com/office/drawing/2014/main" id="{56087A9D-2277-F4AE-630D-19F97759A3D2}"/>
              </a:ext>
            </a:extLst>
          </p:cNvPr>
          <p:cNvCxnSpPr>
            <a:cxnSpLocks/>
          </p:cNvCxnSpPr>
          <p:nvPr/>
        </p:nvCxnSpPr>
        <p:spPr>
          <a:xfrm flipV="1">
            <a:off x="3764362" y="5647729"/>
            <a:ext cx="539407" cy="8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ángulo 49">
            <a:extLst>
              <a:ext uri="{FF2B5EF4-FFF2-40B4-BE49-F238E27FC236}">
                <a16:creationId xmlns:a16="http://schemas.microsoft.com/office/drawing/2014/main" id="{C34642AA-9893-D203-39BA-1063F94FEAFE}"/>
              </a:ext>
            </a:extLst>
          </p:cNvPr>
          <p:cNvSpPr/>
          <p:nvPr/>
        </p:nvSpPr>
        <p:spPr>
          <a:xfrm>
            <a:off x="3279959" y="4900063"/>
            <a:ext cx="351378"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w</a:t>
            </a:r>
            <a:endParaRPr lang="es-MX" dirty="0"/>
          </a:p>
        </p:txBody>
      </p:sp>
      <p:cxnSp>
        <p:nvCxnSpPr>
          <p:cNvPr id="51" name="Conector recto de flecha 50">
            <a:extLst>
              <a:ext uri="{FF2B5EF4-FFF2-40B4-BE49-F238E27FC236}">
                <a16:creationId xmlns:a16="http://schemas.microsoft.com/office/drawing/2014/main" id="{CC3E01FB-E374-804D-4163-1CEA0EEAF8B9}"/>
              </a:ext>
            </a:extLst>
          </p:cNvPr>
          <p:cNvCxnSpPr>
            <a:cxnSpLocks/>
          </p:cNvCxnSpPr>
          <p:nvPr/>
        </p:nvCxnSpPr>
        <p:spPr>
          <a:xfrm>
            <a:off x="3383665" y="5198774"/>
            <a:ext cx="38471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58D34ECB-A1C1-4EF6-FC3F-71A5DCBFC3A2}"/>
              </a:ext>
            </a:extLst>
          </p:cNvPr>
          <p:cNvCxnSpPr>
            <a:cxnSpLocks/>
          </p:cNvCxnSpPr>
          <p:nvPr/>
        </p:nvCxnSpPr>
        <p:spPr>
          <a:xfrm>
            <a:off x="4517357" y="6295083"/>
            <a:ext cx="0" cy="3986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68D4E1F7-F26C-57BA-E19B-31F5E1BD501F}"/>
              </a:ext>
            </a:extLst>
          </p:cNvPr>
          <p:cNvCxnSpPr>
            <a:cxnSpLocks/>
          </p:cNvCxnSpPr>
          <p:nvPr/>
        </p:nvCxnSpPr>
        <p:spPr>
          <a:xfrm flipV="1">
            <a:off x="4535944" y="6693687"/>
            <a:ext cx="349168"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CDB4EF7E-E0EF-EB9F-68F9-4DF4177EB11A}"/>
              </a:ext>
            </a:extLst>
          </p:cNvPr>
          <p:cNvCxnSpPr>
            <a:cxnSpLocks/>
          </p:cNvCxnSpPr>
          <p:nvPr/>
        </p:nvCxnSpPr>
        <p:spPr>
          <a:xfrm flipV="1">
            <a:off x="4916263" y="6295083"/>
            <a:ext cx="0" cy="3986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de flecha 58">
            <a:extLst>
              <a:ext uri="{FF2B5EF4-FFF2-40B4-BE49-F238E27FC236}">
                <a16:creationId xmlns:a16="http://schemas.microsoft.com/office/drawing/2014/main" id="{B4BF5100-9B26-F6E3-9E98-318508FCCD72}"/>
              </a:ext>
            </a:extLst>
          </p:cNvPr>
          <p:cNvCxnSpPr>
            <a:cxnSpLocks/>
          </p:cNvCxnSpPr>
          <p:nvPr/>
        </p:nvCxnSpPr>
        <p:spPr>
          <a:xfrm>
            <a:off x="5769939" y="5164960"/>
            <a:ext cx="928812" cy="48276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a:extLst>
              <a:ext uri="{FF2B5EF4-FFF2-40B4-BE49-F238E27FC236}">
                <a16:creationId xmlns:a16="http://schemas.microsoft.com/office/drawing/2014/main" id="{52D63090-DC28-0E38-C02A-DB8A48318719}"/>
              </a:ext>
            </a:extLst>
          </p:cNvPr>
          <p:cNvCxnSpPr>
            <a:cxnSpLocks/>
          </p:cNvCxnSpPr>
          <p:nvPr/>
        </p:nvCxnSpPr>
        <p:spPr>
          <a:xfrm flipV="1">
            <a:off x="5772848" y="4642563"/>
            <a:ext cx="925903" cy="5184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B84DAC7A-7399-BD7A-8033-CAB10C7A43EA}"/>
              </a:ext>
            </a:extLst>
          </p:cNvPr>
          <p:cNvSpPr/>
          <p:nvPr/>
        </p:nvSpPr>
        <p:spPr>
          <a:xfrm>
            <a:off x="6698751" y="4447216"/>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20" name="Rectángulo 19">
            <a:extLst>
              <a:ext uri="{FF2B5EF4-FFF2-40B4-BE49-F238E27FC236}">
                <a16:creationId xmlns:a16="http://schemas.microsoft.com/office/drawing/2014/main" id="{C8B1E505-F440-534B-E2BC-EC2DF9FBBF68}"/>
              </a:ext>
            </a:extLst>
          </p:cNvPr>
          <p:cNvSpPr/>
          <p:nvPr/>
        </p:nvSpPr>
        <p:spPr>
          <a:xfrm>
            <a:off x="6698751" y="5406344"/>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dirty="0"/>
          </a:p>
        </p:txBody>
      </p:sp>
    </p:spTree>
    <p:extLst>
      <p:ext uri="{BB962C8B-B14F-4D97-AF65-F5344CB8AC3E}">
        <p14:creationId xmlns:p14="http://schemas.microsoft.com/office/powerpoint/2010/main" val="4004162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B6C96967-42A2-4FC7-9B38-85A57EEA0663}"/>
              </a:ext>
            </a:extLst>
          </p:cNvPr>
          <p:cNvSpPr txBox="1">
            <a:spLocks/>
          </p:cNvSpPr>
          <p:nvPr/>
        </p:nvSpPr>
        <p:spPr>
          <a:xfrm>
            <a:off x="339472" y="33951"/>
            <a:ext cx="9181896" cy="72199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0"/>
              </a:spcAft>
            </a:pPr>
            <a:r>
              <a:rPr lang="es-AR" sz="2400" b="1" dirty="0">
                <a:latin typeface="Arial" panose="020B0604020202020204" pitchFamily="34" charset="0"/>
                <a:ea typeface="Times New Roman" panose="02020603050405020304" pitchFamily="18" charset="0"/>
                <a:cs typeface="Arial" panose="020B0604020202020204" pitchFamily="34" charset="0"/>
              </a:rPr>
              <a:t>Versión definitiva de la jerarquía de la computabilidad</a:t>
            </a:r>
          </a:p>
        </p:txBody>
      </p:sp>
      <p:sp>
        <p:nvSpPr>
          <p:cNvPr id="12" name="Rectángulo 11">
            <a:extLst>
              <a:ext uri="{FF2B5EF4-FFF2-40B4-BE49-F238E27FC236}">
                <a16:creationId xmlns:a16="http://schemas.microsoft.com/office/drawing/2014/main" id="{007CE1C9-62C7-4720-B776-40BA39D797AD}"/>
              </a:ext>
            </a:extLst>
          </p:cNvPr>
          <p:cNvSpPr/>
          <p:nvPr/>
        </p:nvSpPr>
        <p:spPr>
          <a:xfrm>
            <a:off x="3178466" y="1714718"/>
            <a:ext cx="740331" cy="369332"/>
          </a:xfrm>
          <a:prstGeom prst="rect">
            <a:avLst/>
          </a:prstGeom>
        </p:spPr>
        <p:txBody>
          <a:bodyPr wrap="none">
            <a:spAutoFit/>
          </a:bodyPr>
          <a:lstStyle/>
          <a:p>
            <a:r>
              <a:rPr lang="es-MX" dirty="0">
                <a:solidFill>
                  <a:schemeClr val="bg1"/>
                </a:solidFill>
                <a:latin typeface="Arial" panose="020B0604020202020204" pitchFamily="34" charset="0"/>
                <a:cs typeface="Arial" panose="020B0604020202020204" pitchFamily="34" charset="0"/>
              </a:rPr>
              <a:t>Titulo</a:t>
            </a:r>
          </a:p>
        </p:txBody>
      </p:sp>
      <p:sp>
        <p:nvSpPr>
          <p:cNvPr id="10" name="Rectángulo 9">
            <a:extLst>
              <a:ext uri="{FF2B5EF4-FFF2-40B4-BE49-F238E27FC236}">
                <a16:creationId xmlns:a16="http://schemas.microsoft.com/office/drawing/2014/main" id="{255F76E2-D3E4-41A4-B9AC-C1AA073A8C93}"/>
              </a:ext>
            </a:extLst>
          </p:cNvPr>
          <p:cNvSpPr/>
          <p:nvPr/>
        </p:nvSpPr>
        <p:spPr>
          <a:xfrm>
            <a:off x="5734690" y="4018481"/>
            <a:ext cx="6157586" cy="369332"/>
          </a:xfrm>
          <a:prstGeom prst="rect">
            <a:avLst/>
          </a:prstGeom>
        </p:spPr>
        <p:txBody>
          <a:bodyPr wrap="square">
            <a:spAutoFit/>
          </a:bodyPr>
          <a:lstStyle/>
          <a:p>
            <a:pPr>
              <a:spcAft>
                <a:spcPts val="0"/>
              </a:spcAft>
            </a:pPr>
            <a:r>
              <a:rPr lang="es-ES" b="1" dirty="0">
                <a:latin typeface="Arial" panose="020B0604020202020204" pitchFamily="34" charset="0"/>
                <a:cs typeface="Arial" panose="020B0604020202020204" pitchFamily="34" charset="0"/>
              </a:rPr>
              <a:t>CO-RE </a:t>
            </a:r>
            <a:r>
              <a:rPr lang="es-AR" b="1" dirty="0">
                <a:latin typeface="Arial" panose="020B0604020202020204" pitchFamily="34" charset="0"/>
                <a:cs typeface="Arial" panose="020B0604020202020204" pitchFamily="34" charset="0"/>
              </a:rPr>
              <a:t>tiene los complementos de los lenguajes de RE</a:t>
            </a:r>
          </a:p>
        </p:txBody>
      </p:sp>
      <p:sp>
        <p:nvSpPr>
          <p:cNvPr id="19" name="Rectángulo 18">
            <a:extLst>
              <a:ext uri="{FF2B5EF4-FFF2-40B4-BE49-F238E27FC236}">
                <a16:creationId xmlns:a16="http://schemas.microsoft.com/office/drawing/2014/main" id="{76DD667E-2CD3-42AA-8FE4-97EF13D9B6C3}"/>
              </a:ext>
            </a:extLst>
          </p:cNvPr>
          <p:cNvSpPr/>
          <p:nvPr/>
        </p:nvSpPr>
        <p:spPr>
          <a:xfrm>
            <a:off x="8403818" y="1288899"/>
            <a:ext cx="466794" cy="646331"/>
          </a:xfrm>
          <a:prstGeom prst="rect">
            <a:avLst/>
          </a:prstGeom>
        </p:spPr>
        <p:txBody>
          <a:bodyPr wrap="none">
            <a:spAutoFit/>
          </a:bodyPr>
          <a:lstStyle/>
          <a:p>
            <a:r>
              <a:rPr lang="es-ES" sz="3600" dirty="0">
                <a:latin typeface="Arial" panose="020B0604020202020204" pitchFamily="34" charset="0"/>
                <a:ea typeface="Times New Roman" panose="02020603050405020304" pitchFamily="18" charset="0"/>
                <a:cs typeface="Arial" panose="020B0604020202020204" pitchFamily="34" charset="0"/>
              </a:rPr>
              <a:t>𝔏</a:t>
            </a:r>
            <a:endParaRPr lang="es-MX" sz="3600" dirty="0"/>
          </a:p>
        </p:txBody>
      </p:sp>
      <p:sp>
        <p:nvSpPr>
          <p:cNvPr id="28" name="Rectángulo 27">
            <a:extLst>
              <a:ext uri="{FF2B5EF4-FFF2-40B4-BE49-F238E27FC236}">
                <a16:creationId xmlns:a16="http://schemas.microsoft.com/office/drawing/2014/main" id="{63E47761-5753-4074-AE1A-B8EBDF761D87}"/>
              </a:ext>
            </a:extLst>
          </p:cNvPr>
          <p:cNvSpPr/>
          <p:nvPr/>
        </p:nvSpPr>
        <p:spPr>
          <a:xfrm>
            <a:off x="2240265" y="2286007"/>
            <a:ext cx="542136" cy="400110"/>
          </a:xfrm>
          <a:prstGeom prst="rect">
            <a:avLst/>
          </a:prstGeom>
        </p:spPr>
        <p:txBody>
          <a:bodyPr wrap="none">
            <a:spAutoFit/>
          </a:bodyPr>
          <a:lstStyle/>
          <a:p>
            <a:r>
              <a:rPr lang="es-E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RE</a:t>
            </a:r>
            <a:endParaRPr lang="es-MX" sz="2000" dirty="0"/>
          </a:p>
        </p:txBody>
      </p:sp>
      <p:sp>
        <p:nvSpPr>
          <p:cNvPr id="29" name="Rectángulo 28">
            <a:extLst>
              <a:ext uri="{FF2B5EF4-FFF2-40B4-BE49-F238E27FC236}">
                <a16:creationId xmlns:a16="http://schemas.microsoft.com/office/drawing/2014/main" id="{0BA03FE7-9428-4D16-81A7-16D61F53704A}"/>
              </a:ext>
            </a:extLst>
          </p:cNvPr>
          <p:cNvSpPr/>
          <p:nvPr/>
        </p:nvSpPr>
        <p:spPr>
          <a:xfrm>
            <a:off x="2335644" y="2896883"/>
            <a:ext cx="370614" cy="400110"/>
          </a:xfrm>
          <a:prstGeom prst="rect">
            <a:avLst/>
          </a:prstGeom>
        </p:spPr>
        <p:txBody>
          <a:bodyPr wrap="none">
            <a:spAutoFit/>
          </a:bodyPr>
          <a:lstStyle/>
          <a:p>
            <a:r>
              <a:rPr lang="es-E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R</a:t>
            </a:r>
            <a:endParaRPr lang="es-MX" sz="2000" dirty="0"/>
          </a:p>
        </p:txBody>
      </p:sp>
      <p:sp>
        <p:nvSpPr>
          <p:cNvPr id="30" name="Diagrama de flujo: conector 29">
            <a:extLst>
              <a:ext uri="{FF2B5EF4-FFF2-40B4-BE49-F238E27FC236}">
                <a16:creationId xmlns:a16="http://schemas.microsoft.com/office/drawing/2014/main" id="{C1C01A67-8A05-433D-90BB-9EC3860E5E2B}"/>
              </a:ext>
            </a:extLst>
          </p:cNvPr>
          <p:cNvSpPr/>
          <p:nvPr/>
        </p:nvSpPr>
        <p:spPr>
          <a:xfrm>
            <a:off x="1284878" y="1408915"/>
            <a:ext cx="2352437" cy="219032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Diagrama de flujo: conector 30">
            <a:extLst>
              <a:ext uri="{FF2B5EF4-FFF2-40B4-BE49-F238E27FC236}">
                <a16:creationId xmlns:a16="http://schemas.microsoft.com/office/drawing/2014/main" id="{B5A93E53-8450-41A7-973B-4C7C3F56C8A8}"/>
              </a:ext>
            </a:extLst>
          </p:cNvPr>
          <p:cNvSpPr/>
          <p:nvPr/>
        </p:nvSpPr>
        <p:spPr>
          <a:xfrm>
            <a:off x="1656111" y="2105473"/>
            <a:ext cx="1666699" cy="138460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Diagrama de flujo: conector 31">
            <a:extLst>
              <a:ext uri="{FF2B5EF4-FFF2-40B4-BE49-F238E27FC236}">
                <a16:creationId xmlns:a16="http://schemas.microsoft.com/office/drawing/2014/main" id="{B892AF74-6562-4793-BD76-547739782570}"/>
              </a:ext>
            </a:extLst>
          </p:cNvPr>
          <p:cNvSpPr/>
          <p:nvPr/>
        </p:nvSpPr>
        <p:spPr>
          <a:xfrm>
            <a:off x="2077335" y="2781463"/>
            <a:ext cx="867996" cy="56106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4E78CF56-9303-4988-A0CF-2B1012FC699F}"/>
              </a:ext>
            </a:extLst>
          </p:cNvPr>
          <p:cNvSpPr/>
          <p:nvPr/>
        </p:nvSpPr>
        <p:spPr>
          <a:xfrm>
            <a:off x="2242716" y="1398654"/>
            <a:ext cx="466794" cy="646331"/>
          </a:xfrm>
          <a:prstGeom prst="rect">
            <a:avLst/>
          </a:prstGeom>
        </p:spPr>
        <p:txBody>
          <a:bodyPr wrap="none">
            <a:spAutoFit/>
          </a:bodyPr>
          <a:lstStyle/>
          <a:p>
            <a:r>
              <a:rPr lang="es-ES" sz="3600" dirty="0">
                <a:latin typeface="Arial" panose="020B0604020202020204" pitchFamily="34" charset="0"/>
                <a:ea typeface="Times New Roman" panose="02020603050405020304" pitchFamily="18" charset="0"/>
                <a:cs typeface="Arial" panose="020B0604020202020204" pitchFamily="34" charset="0"/>
              </a:rPr>
              <a:t>𝔏</a:t>
            </a:r>
            <a:endParaRPr lang="es-MX" sz="3600" dirty="0"/>
          </a:p>
        </p:txBody>
      </p:sp>
      <p:sp>
        <p:nvSpPr>
          <p:cNvPr id="45" name="Diagrama de flujo: conector 44">
            <a:extLst>
              <a:ext uri="{FF2B5EF4-FFF2-40B4-BE49-F238E27FC236}">
                <a16:creationId xmlns:a16="http://schemas.microsoft.com/office/drawing/2014/main" id="{E5E976F4-C5CC-49AF-B49C-E3C4C073BFD4}"/>
              </a:ext>
            </a:extLst>
          </p:cNvPr>
          <p:cNvSpPr/>
          <p:nvPr/>
        </p:nvSpPr>
        <p:spPr>
          <a:xfrm>
            <a:off x="6650098" y="2151623"/>
            <a:ext cx="2303753" cy="1190899"/>
          </a:xfrm>
          <a:prstGeom prst="flowChartConnector">
            <a:avLst/>
          </a:prstGeom>
          <a:solidFill>
            <a:schemeClr val="accent2">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Diagrama de flujo: conector 45">
            <a:extLst>
              <a:ext uri="{FF2B5EF4-FFF2-40B4-BE49-F238E27FC236}">
                <a16:creationId xmlns:a16="http://schemas.microsoft.com/office/drawing/2014/main" id="{2C42EDAC-35C9-4C32-8567-BBB876334C80}"/>
              </a:ext>
            </a:extLst>
          </p:cNvPr>
          <p:cNvSpPr/>
          <p:nvPr/>
        </p:nvSpPr>
        <p:spPr>
          <a:xfrm>
            <a:off x="8238094" y="2150151"/>
            <a:ext cx="2484634" cy="1140260"/>
          </a:xfrm>
          <a:prstGeom prst="flowChartConnector">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Diagrama de flujo: conector 46">
            <a:extLst>
              <a:ext uri="{FF2B5EF4-FFF2-40B4-BE49-F238E27FC236}">
                <a16:creationId xmlns:a16="http://schemas.microsoft.com/office/drawing/2014/main" id="{8970F828-8B94-4E5F-83B7-54CE4A5645A0}"/>
              </a:ext>
            </a:extLst>
          </p:cNvPr>
          <p:cNvSpPr/>
          <p:nvPr/>
        </p:nvSpPr>
        <p:spPr>
          <a:xfrm>
            <a:off x="6534150" y="1347898"/>
            <a:ext cx="4340996" cy="269383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Slide Number Placeholder 2">
            <a:extLst>
              <a:ext uri="{FF2B5EF4-FFF2-40B4-BE49-F238E27FC236}">
                <a16:creationId xmlns:a16="http://schemas.microsoft.com/office/drawing/2014/main" id="{BBBED0E3-FECC-4E6A-A706-04A0DFB73BCE}"/>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1" name="CuadroTexto 50">
            <a:extLst>
              <a:ext uri="{FF2B5EF4-FFF2-40B4-BE49-F238E27FC236}">
                <a16:creationId xmlns:a16="http://schemas.microsoft.com/office/drawing/2014/main" id="{BB5A7471-BA56-45D2-9E95-223AB6251A78}"/>
              </a:ext>
            </a:extLst>
          </p:cNvPr>
          <p:cNvSpPr txBox="1"/>
          <p:nvPr/>
        </p:nvSpPr>
        <p:spPr>
          <a:xfrm>
            <a:off x="7614666" y="908844"/>
            <a:ext cx="3344869" cy="369332"/>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Segunda versión</a:t>
            </a:r>
            <a:endParaRPr lang="es-MX" sz="2400" b="1" dirty="0"/>
          </a:p>
        </p:txBody>
      </p:sp>
      <p:sp>
        <p:nvSpPr>
          <p:cNvPr id="23" name="CuadroTexto 22">
            <a:extLst>
              <a:ext uri="{FF2B5EF4-FFF2-40B4-BE49-F238E27FC236}">
                <a16:creationId xmlns:a16="http://schemas.microsoft.com/office/drawing/2014/main" id="{20C97BAD-2681-42AF-90D7-31D44223E662}"/>
              </a:ext>
            </a:extLst>
          </p:cNvPr>
          <p:cNvSpPr txBox="1"/>
          <p:nvPr/>
        </p:nvSpPr>
        <p:spPr>
          <a:xfrm>
            <a:off x="1489375" y="922340"/>
            <a:ext cx="3344869" cy="369332"/>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Primera versión</a:t>
            </a:r>
            <a:endParaRPr lang="es-MX" sz="2400" b="1" dirty="0"/>
          </a:p>
        </p:txBody>
      </p:sp>
      <p:sp>
        <p:nvSpPr>
          <p:cNvPr id="33" name="Rectángulo 32">
            <a:extLst>
              <a:ext uri="{FF2B5EF4-FFF2-40B4-BE49-F238E27FC236}">
                <a16:creationId xmlns:a16="http://schemas.microsoft.com/office/drawing/2014/main" id="{80FBB9AB-0BC7-49BA-8F14-B9EF3BED3328}"/>
              </a:ext>
            </a:extLst>
          </p:cNvPr>
          <p:cNvSpPr/>
          <p:nvPr/>
        </p:nvSpPr>
        <p:spPr>
          <a:xfrm>
            <a:off x="8454788" y="2514377"/>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1</a:t>
            </a:r>
          </a:p>
        </p:txBody>
      </p:sp>
      <p:sp>
        <p:nvSpPr>
          <p:cNvPr id="34" name="Rectángulo 33">
            <a:extLst>
              <a:ext uri="{FF2B5EF4-FFF2-40B4-BE49-F238E27FC236}">
                <a16:creationId xmlns:a16="http://schemas.microsoft.com/office/drawing/2014/main" id="{77DCF4F1-211C-44F2-BEF0-7D15838E52FA}"/>
              </a:ext>
            </a:extLst>
          </p:cNvPr>
          <p:cNvSpPr/>
          <p:nvPr/>
        </p:nvSpPr>
        <p:spPr>
          <a:xfrm>
            <a:off x="7082954" y="2520150"/>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2</a:t>
            </a:r>
          </a:p>
        </p:txBody>
      </p:sp>
      <p:sp>
        <p:nvSpPr>
          <p:cNvPr id="35" name="Rectángulo 34">
            <a:extLst>
              <a:ext uri="{FF2B5EF4-FFF2-40B4-BE49-F238E27FC236}">
                <a16:creationId xmlns:a16="http://schemas.microsoft.com/office/drawing/2014/main" id="{872B47C6-B8A4-42D4-8D8E-7315264C3F8B}"/>
              </a:ext>
            </a:extLst>
          </p:cNvPr>
          <p:cNvSpPr/>
          <p:nvPr/>
        </p:nvSpPr>
        <p:spPr>
          <a:xfrm>
            <a:off x="9733419" y="2496521"/>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3</a:t>
            </a:r>
          </a:p>
        </p:txBody>
      </p:sp>
      <p:sp>
        <p:nvSpPr>
          <p:cNvPr id="36" name="Rectángulo 35">
            <a:extLst>
              <a:ext uri="{FF2B5EF4-FFF2-40B4-BE49-F238E27FC236}">
                <a16:creationId xmlns:a16="http://schemas.microsoft.com/office/drawing/2014/main" id="{520E1418-D851-4F41-8A02-BAAA26F45CAF}"/>
              </a:ext>
            </a:extLst>
          </p:cNvPr>
          <p:cNvSpPr/>
          <p:nvPr/>
        </p:nvSpPr>
        <p:spPr>
          <a:xfrm>
            <a:off x="8480762" y="1721819"/>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4</a:t>
            </a:r>
          </a:p>
        </p:txBody>
      </p:sp>
      <p:sp>
        <p:nvSpPr>
          <p:cNvPr id="37" name="Rectángulo 36">
            <a:extLst>
              <a:ext uri="{FF2B5EF4-FFF2-40B4-BE49-F238E27FC236}">
                <a16:creationId xmlns:a16="http://schemas.microsoft.com/office/drawing/2014/main" id="{A6AB8C89-9597-4C76-BD56-6A296381248B}"/>
              </a:ext>
            </a:extLst>
          </p:cNvPr>
          <p:cNvSpPr/>
          <p:nvPr/>
        </p:nvSpPr>
        <p:spPr>
          <a:xfrm>
            <a:off x="299724" y="4600983"/>
            <a:ext cx="5215252" cy="2277547"/>
          </a:xfrm>
          <a:prstGeom prst="rect">
            <a:avLst/>
          </a:prstGeom>
        </p:spPr>
        <p:txBody>
          <a:bodyPr wrap="square">
            <a:spAutoFit/>
          </a:bodyPr>
          <a:lstStyle/>
          <a:p>
            <a:r>
              <a:rPr lang="es-AR" b="1" dirty="0">
                <a:solidFill>
                  <a:srgbClr val="C00000"/>
                </a:solidFill>
                <a:latin typeface="Arial" panose="020B0604020202020204" pitchFamily="34" charset="0"/>
                <a:cs typeface="Arial" panose="020B0604020202020204" pitchFamily="34" charset="0"/>
              </a:rPr>
              <a:t>Región 1 (los lenguajes más “fáciles”).</a:t>
            </a:r>
            <a:r>
              <a:rPr lang="es-AR" dirty="0">
                <a:solidFill>
                  <a:srgbClr val="C00000"/>
                </a:solidFill>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R es la clase de los lenguajes recursivos.</a:t>
            </a:r>
          </a:p>
          <a:p>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está en R, entonces también L</a:t>
            </a:r>
            <a:r>
              <a:rPr lang="es-AR" baseline="-25000" dirty="0">
                <a:latin typeface="Arial" panose="020B0604020202020204" pitchFamily="34" charset="0"/>
                <a:cs typeface="Arial" panose="020B0604020202020204" pitchFamily="34" charset="0"/>
              </a:rPr>
              <a:t>1</a:t>
            </a:r>
            <a:r>
              <a:rPr lang="es-AR" baseline="30000" dirty="0">
                <a:latin typeface="Arial" panose="020B0604020202020204" pitchFamily="34" charset="0"/>
                <a:cs typeface="Arial" panose="020B0604020202020204" pitchFamily="34" charset="0"/>
              </a:rPr>
              <a:t>C </a:t>
            </a:r>
            <a:r>
              <a:rPr lang="es-AR" dirty="0">
                <a:latin typeface="Arial" panose="020B0604020202020204" pitchFamily="34" charset="0"/>
                <a:cs typeface="Arial" panose="020B0604020202020204" pitchFamily="34" charset="0"/>
              </a:rPr>
              <a:t>está en R. </a:t>
            </a:r>
          </a:p>
          <a:p>
            <a:pPr marL="457200" indent="-457200">
              <a:buAutoNum type="arabicPeriod"/>
            </a:pPr>
            <a:endParaRPr lang="es-AR" dirty="0">
              <a:latin typeface="Arial" panose="020B0604020202020204" pitchFamily="34" charset="0"/>
              <a:cs typeface="Arial" panose="020B0604020202020204" pitchFamily="34" charset="0"/>
            </a:endParaRPr>
          </a:p>
          <a:p>
            <a:r>
              <a:rPr lang="es-AR" b="1" dirty="0">
                <a:solidFill>
                  <a:srgbClr val="C00000"/>
                </a:solidFill>
                <a:latin typeface="Arial" panose="020B0604020202020204" pitchFamily="34" charset="0"/>
                <a:cs typeface="Arial" panose="020B0604020202020204" pitchFamily="34" charset="0"/>
              </a:rPr>
              <a:t>Región 2.</a:t>
            </a:r>
            <a:r>
              <a:rPr lang="es-AR" dirty="0">
                <a:solidFill>
                  <a:srgbClr val="C00000"/>
                </a:solidFill>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Clase RE – R.</a:t>
            </a:r>
          </a:p>
          <a:p>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está en RE, entonces L</a:t>
            </a:r>
            <a:r>
              <a:rPr lang="es-AR" baseline="-25000" dirty="0">
                <a:latin typeface="Arial" panose="020B0604020202020204" pitchFamily="34" charset="0"/>
                <a:cs typeface="Arial" panose="020B0604020202020204" pitchFamily="34" charset="0"/>
              </a:rPr>
              <a:t>2</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está en CO-RE.</a:t>
            </a:r>
          </a:p>
          <a:p>
            <a:pPr marL="457200" indent="-457200">
              <a:buAutoNum type="arabicPeriod"/>
            </a:pPr>
            <a:endParaRPr lang="es-AR" sz="1600" dirty="0">
              <a:latin typeface="Arial" panose="020B0604020202020204" pitchFamily="34" charset="0"/>
              <a:cs typeface="Arial" panose="020B0604020202020204" pitchFamily="34" charset="0"/>
            </a:endParaRPr>
          </a:p>
        </p:txBody>
      </p:sp>
      <p:sp>
        <p:nvSpPr>
          <p:cNvPr id="27" name="Elipse 26">
            <a:extLst>
              <a:ext uri="{FF2B5EF4-FFF2-40B4-BE49-F238E27FC236}">
                <a16:creationId xmlns:a16="http://schemas.microsoft.com/office/drawing/2014/main" id="{50FEE47C-0AB0-4AF8-A174-F3FD299EFE71}"/>
              </a:ext>
            </a:extLst>
          </p:cNvPr>
          <p:cNvSpPr/>
          <p:nvPr/>
        </p:nvSpPr>
        <p:spPr>
          <a:xfrm>
            <a:off x="8228155" y="2322987"/>
            <a:ext cx="659974" cy="821017"/>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1" name="Rectángulo 40">
            <a:extLst>
              <a:ext uri="{FF2B5EF4-FFF2-40B4-BE49-F238E27FC236}">
                <a16:creationId xmlns:a16="http://schemas.microsoft.com/office/drawing/2014/main" id="{5F4C23B3-8374-4DC2-88A5-99E85403FF41}"/>
              </a:ext>
            </a:extLst>
          </p:cNvPr>
          <p:cNvSpPr/>
          <p:nvPr/>
        </p:nvSpPr>
        <p:spPr>
          <a:xfrm>
            <a:off x="8431844" y="2556915"/>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1</a:t>
            </a:r>
          </a:p>
        </p:txBody>
      </p:sp>
      <p:sp>
        <p:nvSpPr>
          <p:cNvPr id="44" name="CuadroTexto 43">
            <a:extLst>
              <a:ext uri="{FF2B5EF4-FFF2-40B4-BE49-F238E27FC236}">
                <a16:creationId xmlns:a16="http://schemas.microsoft.com/office/drawing/2014/main" id="{D55D553C-FE86-4DA3-9C3F-5DDAE3CD768B}"/>
              </a:ext>
            </a:extLst>
          </p:cNvPr>
          <p:cNvSpPr txBox="1"/>
          <p:nvPr/>
        </p:nvSpPr>
        <p:spPr>
          <a:xfrm>
            <a:off x="8230273" y="2770184"/>
            <a:ext cx="410592"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1</a:t>
            </a:r>
            <a:endParaRPr lang="es-AR" sz="1400" dirty="0"/>
          </a:p>
        </p:txBody>
      </p:sp>
      <p:sp>
        <p:nvSpPr>
          <p:cNvPr id="48" name="CuadroTexto 47">
            <a:extLst>
              <a:ext uri="{FF2B5EF4-FFF2-40B4-BE49-F238E27FC236}">
                <a16:creationId xmlns:a16="http://schemas.microsoft.com/office/drawing/2014/main" id="{C12BB082-66EB-4497-A488-D555A1CF74AB}"/>
              </a:ext>
            </a:extLst>
          </p:cNvPr>
          <p:cNvSpPr txBox="1"/>
          <p:nvPr/>
        </p:nvSpPr>
        <p:spPr>
          <a:xfrm>
            <a:off x="8490356" y="2761493"/>
            <a:ext cx="481613"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1</a:t>
            </a:r>
            <a:r>
              <a:rPr lang="es-AR" sz="1400" baseline="30000" dirty="0">
                <a:latin typeface="Arial" panose="020B0604020202020204" pitchFamily="34" charset="0"/>
                <a:cs typeface="Arial" panose="020B0604020202020204" pitchFamily="34" charset="0"/>
              </a:rPr>
              <a:t>C</a:t>
            </a:r>
            <a:endParaRPr lang="es-AR" sz="1400" dirty="0">
              <a:latin typeface="Arial" panose="020B0604020202020204" pitchFamily="34" charset="0"/>
              <a:cs typeface="Arial" panose="020B0604020202020204" pitchFamily="34" charset="0"/>
            </a:endParaRPr>
          </a:p>
        </p:txBody>
      </p:sp>
      <p:sp>
        <p:nvSpPr>
          <p:cNvPr id="50" name="CuadroTexto 49">
            <a:extLst>
              <a:ext uri="{FF2B5EF4-FFF2-40B4-BE49-F238E27FC236}">
                <a16:creationId xmlns:a16="http://schemas.microsoft.com/office/drawing/2014/main" id="{7D223DDA-125A-46C1-994A-D5C262D85E89}"/>
              </a:ext>
            </a:extLst>
          </p:cNvPr>
          <p:cNvSpPr txBox="1"/>
          <p:nvPr/>
        </p:nvSpPr>
        <p:spPr>
          <a:xfrm>
            <a:off x="7586119" y="2788090"/>
            <a:ext cx="410592"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2</a:t>
            </a:r>
            <a:endParaRPr lang="es-AR" sz="1400" dirty="0"/>
          </a:p>
        </p:txBody>
      </p:sp>
      <p:sp>
        <p:nvSpPr>
          <p:cNvPr id="53" name="CuadroTexto 52">
            <a:extLst>
              <a:ext uri="{FF2B5EF4-FFF2-40B4-BE49-F238E27FC236}">
                <a16:creationId xmlns:a16="http://schemas.microsoft.com/office/drawing/2014/main" id="{2A67CCE4-C032-4244-A1EB-5ED6E0649406}"/>
              </a:ext>
            </a:extLst>
          </p:cNvPr>
          <p:cNvSpPr txBox="1"/>
          <p:nvPr/>
        </p:nvSpPr>
        <p:spPr>
          <a:xfrm>
            <a:off x="9270328" y="2777226"/>
            <a:ext cx="481613"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2</a:t>
            </a:r>
            <a:r>
              <a:rPr lang="es-AR" sz="1400" baseline="30000" dirty="0">
                <a:latin typeface="Arial" panose="020B0604020202020204" pitchFamily="34" charset="0"/>
                <a:cs typeface="Arial" panose="020B0604020202020204" pitchFamily="34" charset="0"/>
              </a:rPr>
              <a:t>C</a:t>
            </a:r>
            <a:endParaRPr lang="es-AR" sz="1400" dirty="0">
              <a:latin typeface="Arial" panose="020B0604020202020204" pitchFamily="34" charset="0"/>
              <a:cs typeface="Arial" panose="020B0604020202020204" pitchFamily="34" charset="0"/>
            </a:endParaRPr>
          </a:p>
        </p:txBody>
      </p:sp>
      <p:sp>
        <p:nvSpPr>
          <p:cNvPr id="54" name="CuadroTexto 53">
            <a:extLst>
              <a:ext uri="{FF2B5EF4-FFF2-40B4-BE49-F238E27FC236}">
                <a16:creationId xmlns:a16="http://schemas.microsoft.com/office/drawing/2014/main" id="{07A012CC-5CCF-4C90-9FC5-C85D2F96B345}"/>
              </a:ext>
            </a:extLst>
          </p:cNvPr>
          <p:cNvSpPr txBox="1"/>
          <p:nvPr/>
        </p:nvSpPr>
        <p:spPr>
          <a:xfrm>
            <a:off x="8105405" y="3490082"/>
            <a:ext cx="848446"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3</a:t>
            </a:r>
            <a:endParaRPr lang="es-AR" sz="1400" dirty="0"/>
          </a:p>
        </p:txBody>
      </p:sp>
      <p:sp>
        <p:nvSpPr>
          <p:cNvPr id="55" name="CuadroTexto 54">
            <a:extLst>
              <a:ext uri="{FF2B5EF4-FFF2-40B4-BE49-F238E27FC236}">
                <a16:creationId xmlns:a16="http://schemas.microsoft.com/office/drawing/2014/main" id="{7D6032AF-C0ED-43E8-BACD-0BB01664B4B3}"/>
              </a:ext>
            </a:extLst>
          </p:cNvPr>
          <p:cNvSpPr txBox="1"/>
          <p:nvPr/>
        </p:nvSpPr>
        <p:spPr>
          <a:xfrm>
            <a:off x="9016562" y="3504192"/>
            <a:ext cx="481613"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3</a:t>
            </a:r>
            <a:r>
              <a:rPr lang="es-AR" sz="1400" baseline="30000" dirty="0">
                <a:latin typeface="Arial" panose="020B0604020202020204" pitchFamily="34" charset="0"/>
                <a:cs typeface="Arial" panose="020B0604020202020204" pitchFamily="34" charset="0"/>
              </a:rPr>
              <a:t>C</a:t>
            </a:r>
            <a:endParaRPr lang="es-AR" sz="1400" dirty="0">
              <a:latin typeface="Arial" panose="020B0604020202020204" pitchFamily="34" charset="0"/>
              <a:cs typeface="Arial" panose="020B0604020202020204" pitchFamily="34" charset="0"/>
            </a:endParaRPr>
          </a:p>
        </p:txBody>
      </p:sp>
      <p:sp>
        <p:nvSpPr>
          <p:cNvPr id="67" name="CuadroTexto 66">
            <a:extLst>
              <a:ext uri="{FF2B5EF4-FFF2-40B4-BE49-F238E27FC236}">
                <a16:creationId xmlns:a16="http://schemas.microsoft.com/office/drawing/2014/main" id="{40555942-B481-4198-98AC-9618F9415DA2}"/>
              </a:ext>
            </a:extLst>
          </p:cNvPr>
          <p:cNvSpPr txBox="1"/>
          <p:nvPr/>
        </p:nvSpPr>
        <p:spPr>
          <a:xfrm>
            <a:off x="6734784" y="4619649"/>
            <a:ext cx="5304816" cy="2123658"/>
          </a:xfrm>
          <a:prstGeom prst="rect">
            <a:avLst/>
          </a:prstGeom>
          <a:noFill/>
        </p:spPr>
        <p:txBody>
          <a:bodyPr wrap="square">
            <a:spAutoFit/>
          </a:bodyPr>
          <a:lstStyle/>
          <a:p>
            <a:r>
              <a:rPr lang="es-AR" b="1" dirty="0">
                <a:solidFill>
                  <a:srgbClr val="C00000"/>
                </a:solidFill>
                <a:latin typeface="Arial" panose="020B0604020202020204" pitchFamily="34" charset="0"/>
                <a:cs typeface="Arial" panose="020B0604020202020204" pitchFamily="34" charset="0"/>
              </a:rPr>
              <a:t>Región 3.</a:t>
            </a:r>
            <a:r>
              <a:rPr lang="es-AR" dirty="0">
                <a:solidFill>
                  <a:srgbClr val="C00000"/>
                </a:solidFill>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Clase CO-RE – R.</a:t>
            </a:r>
          </a:p>
          <a:p>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está en CO-RE, entonces L</a:t>
            </a:r>
            <a:r>
              <a:rPr lang="es-AR" baseline="-25000" dirty="0">
                <a:latin typeface="Arial" panose="020B0604020202020204" pitchFamily="34" charset="0"/>
                <a:cs typeface="Arial" panose="020B0604020202020204" pitchFamily="34" charset="0"/>
              </a:rPr>
              <a:t>2</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está en RE.</a:t>
            </a:r>
          </a:p>
          <a:p>
            <a:endParaRPr lang="es-AR" dirty="0">
              <a:latin typeface="Arial" panose="020B0604020202020204" pitchFamily="34" charset="0"/>
              <a:cs typeface="Arial" panose="020B0604020202020204" pitchFamily="34" charset="0"/>
            </a:endParaRPr>
          </a:p>
          <a:p>
            <a:r>
              <a:rPr lang="es-AR" b="1" dirty="0">
                <a:solidFill>
                  <a:srgbClr val="C00000"/>
                </a:solidFill>
                <a:latin typeface="Arial" panose="020B0604020202020204" pitchFamily="34" charset="0"/>
                <a:cs typeface="Arial" panose="020B0604020202020204" pitchFamily="34" charset="0"/>
              </a:rPr>
              <a:t>Región 4 (los lenguajes más “difíciles”). </a:t>
            </a:r>
            <a:r>
              <a:rPr lang="es-AR" dirty="0">
                <a:solidFill>
                  <a:srgbClr val="C00000"/>
                </a:solidFill>
                <a:latin typeface="Arial" panose="020B0604020202020204" pitchFamily="34" charset="0"/>
                <a:cs typeface="Arial" panose="020B0604020202020204" pitchFamily="34" charset="0"/>
              </a:rPr>
              <a:t> </a:t>
            </a:r>
          </a:p>
          <a:p>
            <a:r>
              <a:rPr lang="es-AR" dirty="0">
                <a:latin typeface="Arial" panose="020B0604020202020204" pitchFamily="34" charset="0"/>
                <a:cs typeface="Arial" panose="020B0604020202020204" pitchFamily="34" charset="0"/>
              </a:rPr>
              <a:t>Clase </a:t>
            </a:r>
            <a:r>
              <a:rPr lang="es-ES" sz="2400" dirty="0">
                <a:latin typeface="Arial" panose="020B0604020202020204" pitchFamily="34" charset="0"/>
                <a:ea typeface="Times New Roman" panose="02020603050405020304" pitchFamily="18" charset="0"/>
                <a:cs typeface="Arial" panose="020B0604020202020204" pitchFamily="34" charset="0"/>
              </a:rPr>
              <a:t>𝔏</a:t>
            </a:r>
            <a:r>
              <a:rPr lang="es-ES" dirty="0">
                <a:latin typeface="Arial" panose="020B0604020202020204" pitchFamily="34" charset="0"/>
                <a:ea typeface="Times New Roman" panose="02020603050405020304" pitchFamily="18" charset="0"/>
                <a:cs typeface="Arial" panose="020B0604020202020204" pitchFamily="34" charset="0"/>
              </a:rPr>
              <a:t> –</a:t>
            </a:r>
            <a:r>
              <a:rPr lang="es-AR" dirty="0">
                <a:latin typeface="Arial" panose="020B0604020202020204" pitchFamily="34" charset="0"/>
                <a:ea typeface="Calibri" panose="020F0502020204030204" pitchFamily="34" charset="0"/>
                <a:cs typeface="Arial" panose="020B0604020202020204" pitchFamily="34" charset="0"/>
              </a:rPr>
              <a:t> (RE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CO-RE).</a:t>
            </a:r>
          </a:p>
          <a:p>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está en la clase, también está L</a:t>
            </a:r>
            <a:r>
              <a:rPr lang="es-AR" baseline="-25000" dirty="0">
                <a:latin typeface="Arial" panose="020B0604020202020204" pitchFamily="34" charset="0"/>
                <a:cs typeface="Arial" panose="020B0604020202020204" pitchFamily="34" charset="0"/>
              </a:rPr>
              <a:t>3</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a:t>
            </a:r>
            <a:endParaRPr lang="es-AR" sz="1800" dirty="0">
              <a:latin typeface="Arial" panose="020B0604020202020204" pitchFamily="34" charset="0"/>
              <a:cs typeface="Arial" panose="020B0604020202020204" pitchFamily="34" charset="0"/>
            </a:endParaRPr>
          </a:p>
        </p:txBody>
      </p:sp>
      <p:sp>
        <p:nvSpPr>
          <p:cNvPr id="2" name="Rectángulo 1">
            <a:extLst>
              <a:ext uri="{FF2B5EF4-FFF2-40B4-BE49-F238E27FC236}">
                <a16:creationId xmlns:a16="http://schemas.microsoft.com/office/drawing/2014/main" id="{2D755B45-4674-F5DA-C154-37820B2A35FE}"/>
              </a:ext>
            </a:extLst>
          </p:cNvPr>
          <p:cNvSpPr/>
          <p:nvPr/>
        </p:nvSpPr>
        <p:spPr>
          <a:xfrm>
            <a:off x="6997172" y="2245707"/>
            <a:ext cx="542136" cy="400110"/>
          </a:xfrm>
          <a:prstGeom prst="rect">
            <a:avLst/>
          </a:prstGeom>
        </p:spPr>
        <p:txBody>
          <a:bodyPr wrap="none">
            <a:spAutoFit/>
          </a:bodyPr>
          <a:lstStyle/>
          <a:p>
            <a:r>
              <a:rPr lang="es-AR" sz="2000" dirty="0">
                <a:solidFill>
                  <a:srgbClr val="7030A0"/>
                </a:solidFill>
                <a:latin typeface="Arial" panose="020B0604020202020204" pitchFamily="34" charset="0"/>
                <a:cs typeface="Arial" panose="020B0604020202020204" pitchFamily="34" charset="0"/>
              </a:rPr>
              <a:t>RE</a:t>
            </a:r>
            <a:endParaRPr lang="es-MX" sz="2000" dirty="0">
              <a:solidFill>
                <a:srgbClr val="7030A0"/>
              </a:solidFill>
            </a:endParaRPr>
          </a:p>
        </p:txBody>
      </p:sp>
      <p:sp>
        <p:nvSpPr>
          <p:cNvPr id="4" name="Rectángulo 3">
            <a:extLst>
              <a:ext uri="{FF2B5EF4-FFF2-40B4-BE49-F238E27FC236}">
                <a16:creationId xmlns:a16="http://schemas.microsoft.com/office/drawing/2014/main" id="{3514AE62-6A8B-FB97-9ED5-582BB0BBB4E9}"/>
              </a:ext>
            </a:extLst>
          </p:cNvPr>
          <p:cNvSpPr/>
          <p:nvPr/>
        </p:nvSpPr>
        <p:spPr>
          <a:xfrm>
            <a:off x="9393648" y="2239250"/>
            <a:ext cx="1563232" cy="400110"/>
          </a:xfrm>
          <a:prstGeom prst="rect">
            <a:avLst/>
          </a:prstGeom>
        </p:spPr>
        <p:txBody>
          <a:bodyPr wrap="square">
            <a:spAutoFit/>
          </a:bodyPr>
          <a:lstStyle/>
          <a:p>
            <a:r>
              <a:rPr lang="es-AR" sz="2000" dirty="0">
                <a:solidFill>
                  <a:schemeClr val="accent6"/>
                </a:solidFill>
                <a:latin typeface="Arial" panose="020B0604020202020204" pitchFamily="34" charset="0"/>
                <a:cs typeface="Arial" panose="020B0604020202020204" pitchFamily="34" charset="0"/>
              </a:rPr>
              <a:t>CO-RE</a:t>
            </a:r>
            <a:endParaRPr lang="es-MX" sz="2000" dirty="0">
              <a:solidFill>
                <a:schemeClr val="accent6"/>
              </a:solidFill>
            </a:endParaRPr>
          </a:p>
        </p:txBody>
      </p:sp>
      <p:sp>
        <p:nvSpPr>
          <p:cNvPr id="5" name="Rectángulo 4">
            <a:extLst>
              <a:ext uri="{FF2B5EF4-FFF2-40B4-BE49-F238E27FC236}">
                <a16:creationId xmlns:a16="http://schemas.microsoft.com/office/drawing/2014/main" id="{A47A9271-C670-BF19-9DF5-B592DC283775}"/>
              </a:ext>
            </a:extLst>
          </p:cNvPr>
          <p:cNvSpPr/>
          <p:nvPr/>
        </p:nvSpPr>
        <p:spPr>
          <a:xfrm>
            <a:off x="8385139" y="2315859"/>
            <a:ext cx="370614"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R</a:t>
            </a:r>
            <a:endParaRPr lang="es-MX" sz="2000" dirty="0"/>
          </a:p>
        </p:txBody>
      </p:sp>
      <p:sp>
        <p:nvSpPr>
          <p:cNvPr id="3" name="Flecha: hacia arriba 2">
            <a:extLst>
              <a:ext uri="{FF2B5EF4-FFF2-40B4-BE49-F238E27FC236}">
                <a16:creationId xmlns:a16="http://schemas.microsoft.com/office/drawing/2014/main" id="{44DE7CE6-43D8-2D3D-EA84-23AF67F9A25D}"/>
              </a:ext>
            </a:extLst>
          </p:cNvPr>
          <p:cNvSpPr/>
          <p:nvPr/>
        </p:nvSpPr>
        <p:spPr>
          <a:xfrm rot="5400000">
            <a:off x="4911212" y="2041057"/>
            <a:ext cx="484632" cy="978408"/>
          </a:xfrm>
          <a:prstGeom prst="up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CuadroTexto 6">
            <a:extLst>
              <a:ext uri="{FF2B5EF4-FFF2-40B4-BE49-F238E27FC236}">
                <a16:creationId xmlns:a16="http://schemas.microsoft.com/office/drawing/2014/main" id="{61DF788F-DA01-C293-C1D0-78C1FCA11099}"/>
              </a:ext>
            </a:extLst>
          </p:cNvPr>
          <p:cNvSpPr txBox="1"/>
          <p:nvPr/>
        </p:nvSpPr>
        <p:spPr>
          <a:xfrm>
            <a:off x="3330631" y="3272876"/>
            <a:ext cx="3472688" cy="369332"/>
          </a:xfrm>
          <a:prstGeom prst="rect">
            <a:avLst/>
          </a:prstGeom>
          <a:noFill/>
        </p:spPr>
        <p:txBody>
          <a:bodyPr wrap="square">
            <a:spAutoFit/>
          </a:bodyPr>
          <a:lstStyle/>
          <a:p>
            <a:r>
              <a:rPr lang="es-AR" b="1" dirty="0">
                <a:latin typeface="Arial" panose="020B0604020202020204" pitchFamily="34" charset="0"/>
                <a:ea typeface="Times New Roman" panose="02020603050405020304" pitchFamily="18" charset="0"/>
                <a:cs typeface="Arial" panose="020B0604020202020204" pitchFamily="34" charset="0"/>
              </a:rPr>
              <a:t>Propiedad 4. </a:t>
            </a:r>
            <a:r>
              <a:rPr lang="es-AR" b="1" dirty="0">
                <a:solidFill>
                  <a:srgbClr val="0070C0"/>
                </a:solidFill>
                <a:latin typeface="Arial" panose="020B0604020202020204" pitchFamily="34" charset="0"/>
                <a:cs typeface="Arial" panose="020B0604020202020204" pitchFamily="34" charset="0"/>
              </a:rPr>
              <a:t>R = RE </a:t>
            </a:r>
            <a:r>
              <a:rPr lang="es-ES" b="1" dirty="0">
                <a:solidFill>
                  <a:srgbClr val="0070C0"/>
                </a:solidFill>
                <a:latin typeface="Arial" panose="020B060402020202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rPr>
              <a:t> CO-RE</a:t>
            </a:r>
            <a:endParaRPr lang="es-AR" dirty="0"/>
          </a:p>
        </p:txBody>
      </p:sp>
    </p:spTree>
    <p:extLst>
      <p:ext uri="{BB962C8B-B14F-4D97-AF65-F5344CB8AC3E}">
        <p14:creationId xmlns:p14="http://schemas.microsoft.com/office/powerpoint/2010/main" val="1122554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59D83AE-B1DF-4187-A344-5120412A302C}"/>
              </a:ext>
            </a:extLst>
          </p:cNvPr>
          <p:cNvSpPr/>
          <p:nvPr/>
        </p:nvSpPr>
        <p:spPr>
          <a:xfrm>
            <a:off x="2189493" y="4302162"/>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endParaRPr lang="es-MX" dirty="0"/>
          </a:p>
        </p:txBody>
      </p:sp>
      <p:sp>
        <p:nvSpPr>
          <p:cNvPr id="5" name="Rectángulo 4">
            <a:extLst>
              <a:ext uri="{FF2B5EF4-FFF2-40B4-BE49-F238E27FC236}">
                <a16:creationId xmlns:a16="http://schemas.microsoft.com/office/drawing/2014/main" id="{3A890B64-7C8B-4460-A7E9-52B563DDE71E}"/>
              </a:ext>
            </a:extLst>
          </p:cNvPr>
          <p:cNvSpPr/>
          <p:nvPr/>
        </p:nvSpPr>
        <p:spPr>
          <a:xfrm>
            <a:off x="3772585" y="4311554"/>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sp>
        <p:nvSpPr>
          <p:cNvPr id="11" name="Rectángulo 10">
            <a:extLst>
              <a:ext uri="{FF2B5EF4-FFF2-40B4-BE49-F238E27FC236}">
                <a16:creationId xmlns:a16="http://schemas.microsoft.com/office/drawing/2014/main" id="{97B7F953-A15B-4CEC-B1AD-52FC65ED5987}"/>
              </a:ext>
            </a:extLst>
          </p:cNvPr>
          <p:cNvSpPr/>
          <p:nvPr/>
        </p:nvSpPr>
        <p:spPr>
          <a:xfrm>
            <a:off x="3019825" y="3723103"/>
            <a:ext cx="37702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dirty="0"/>
          </a:p>
        </p:txBody>
      </p:sp>
      <p:sp>
        <p:nvSpPr>
          <p:cNvPr id="13" name="Rectángulo 12">
            <a:extLst>
              <a:ext uri="{FF2B5EF4-FFF2-40B4-BE49-F238E27FC236}">
                <a16:creationId xmlns:a16="http://schemas.microsoft.com/office/drawing/2014/main" id="{226E3E0A-EF5F-4FE1-BBCD-17C525900E08}"/>
              </a:ext>
            </a:extLst>
          </p:cNvPr>
          <p:cNvSpPr/>
          <p:nvPr/>
        </p:nvSpPr>
        <p:spPr>
          <a:xfrm>
            <a:off x="947968" y="4746079"/>
            <a:ext cx="351378"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w</a:t>
            </a:r>
            <a:endParaRPr lang="es-MX" dirty="0"/>
          </a:p>
        </p:txBody>
      </p:sp>
      <p:sp>
        <p:nvSpPr>
          <p:cNvPr id="15" name="Rectángulo 14">
            <a:extLst>
              <a:ext uri="{FF2B5EF4-FFF2-40B4-BE49-F238E27FC236}">
                <a16:creationId xmlns:a16="http://schemas.microsoft.com/office/drawing/2014/main" id="{C592C71A-FC9F-4478-81CB-580ADBB61728}"/>
              </a:ext>
            </a:extLst>
          </p:cNvPr>
          <p:cNvSpPr/>
          <p:nvPr/>
        </p:nvSpPr>
        <p:spPr>
          <a:xfrm>
            <a:off x="5858123" y="4038011"/>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18" name="Rectángulo 17">
            <a:extLst>
              <a:ext uri="{FF2B5EF4-FFF2-40B4-BE49-F238E27FC236}">
                <a16:creationId xmlns:a16="http://schemas.microsoft.com/office/drawing/2014/main" id="{C316CD6E-E8BA-4C82-ADCF-3E629ABFB658}"/>
              </a:ext>
            </a:extLst>
          </p:cNvPr>
          <p:cNvSpPr/>
          <p:nvPr/>
        </p:nvSpPr>
        <p:spPr>
          <a:xfrm>
            <a:off x="1963286" y="4645128"/>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9" name="Conector recto de flecha 18">
            <a:extLst>
              <a:ext uri="{FF2B5EF4-FFF2-40B4-BE49-F238E27FC236}">
                <a16:creationId xmlns:a16="http://schemas.microsoft.com/office/drawing/2014/main" id="{A68D917E-F72C-4AC6-9CDF-6FD2E3D592BB}"/>
              </a:ext>
            </a:extLst>
          </p:cNvPr>
          <p:cNvCxnSpPr>
            <a:cxnSpLocks/>
          </p:cNvCxnSpPr>
          <p:nvPr/>
        </p:nvCxnSpPr>
        <p:spPr>
          <a:xfrm>
            <a:off x="645924" y="5074320"/>
            <a:ext cx="130684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05B1E080-7E40-45B4-9755-CA8AB7008232}"/>
              </a:ext>
            </a:extLst>
          </p:cNvPr>
          <p:cNvCxnSpPr>
            <a:cxnSpLocks/>
            <a:endCxn id="25" idx="1"/>
          </p:cNvCxnSpPr>
          <p:nvPr/>
        </p:nvCxnSpPr>
        <p:spPr>
          <a:xfrm>
            <a:off x="2872054" y="5074320"/>
            <a:ext cx="2990345" cy="7259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Diagrama de flujo: proceso 22">
            <a:extLst>
              <a:ext uri="{FF2B5EF4-FFF2-40B4-BE49-F238E27FC236}">
                <a16:creationId xmlns:a16="http://schemas.microsoft.com/office/drawing/2014/main" id="{C54245ED-AF79-4266-AFDC-6B846C87579E}"/>
              </a:ext>
            </a:extLst>
          </p:cNvPr>
          <p:cNvSpPr/>
          <p:nvPr/>
        </p:nvSpPr>
        <p:spPr>
          <a:xfrm>
            <a:off x="1460877" y="4049519"/>
            <a:ext cx="3535424" cy="1997477"/>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Rectángulo 23">
            <a:extLst>
              <a:ext uri="{FF2B5EF4-FFF2-40B4-BE49-F238E27FC236}">
                <a16:creationId xmlns:a16="http://schemas.microsoft.com/office/drawing/2014/main" id="{EE6F58BE-F8F8-401F-9A7B-B2F7842C79FF}"/>
              </a:ext>
            </a:extLst>
          </p:cNvPr>
          <p:cNvSpPr/>
          <p:nvPr/>
        </p:nvSpPr>
        <p:spPr>
          <a:xfrm>
            <a:off x="3038410" y="4746079"/>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25" name="Rectángulo 24">
            <a:extLst>
              <a:ext uri="{FF2B5EF4-FFF2-40B4-BE49-F238E27FC236}">
                <a16:creationId xmlns:a16="http://schemas.microsoft.com/office/drawing/2014/main" id="{81C7C925-E010-49B0-A62D-D416FD1BD5CE}"/>
              </a:ext>
            </a:extLst>
          </p:cNvPr>
          <p:cNvSpPr/>
          <p:nvPr/>
        </p:nvSpPr>
        <p:spPr>
          <a:xfrm>
            <a:off x="5862399" y="5615646"/>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dirty="0"/>
          </a:p>
        </p:txBody>
      </p:sp>
      <p:cxnSp>
        <p:nvCxnSpPr>
          <p:cNvPr id="26" name="Conector recto de flecha 25">
            <a:extLst>
              <a:ext uri="{FF2B5EF4-FFF2-40B4-BE49-F238E27FC236}">
                <a16:creationId xmlns:a16="http://schemas.microsoft.com/office/drawing/2014/main" id="{B4571B4B-E648-469D-A765-F7599457D281}"/>
              </a:ext>
            </a:extLst>
          </p:cNvPr>
          <p:cNvCxnSpPr>
            <a:cxnSpLocks/>
            <a:endCxn id="27" idx="1"/>
          </p:cNvCxnSpPr>
          <p:nvPr/>
        </p:nvCxnSpPr>
        <p:spPr>
          <a:xfrm>
            <a:off x="2882102" y="5074320"/>
            <a:ext cx="664276" cy="183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529DA916-785B-431A-984C-C13D0D0A0FF7}"/>
              </a:ext>
            </a:extLst>
          </p:cNvPr>
          <p:cNvSpPr/>
          <p:nvPr/>
        </p:nvSpPr>
        <p:spPr>
          <a:xfrm>
            <a:off x="3546378" y="4635510"/>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3" name="Conector recto de flecha 42">
            <a:extLst>
              <a:ext uri="{FF2B5EF4-FFF2-40B4-BE49-F238E27FC236}">
                <a16:creationId xmlns:a16="http://schemas.microsoft.com/office/drawing/2014/main" id="{F1FF40A5-5C21-4E87-AF89-B3FB94520012}"/>
              </a:ext>
            </a:extLst>
          </p:cNvPr>
          <p:cNvCxnSpPr>
            <a:cxnSpLocks/>
            <a:endCxn id="25" idx="1"/>
          </p:cNvCxnSpPr>
          <p:nvPr/>
        </p:nvCxnSpPr>
        <p:spPr>
          <a:xfrm>
            <a:off x="4460778" y="5070938"/>
            <a:ext cx="1401621" cy="7293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F70998BD-BD2F-4940-8EDE-466CA5CAFEF3}"/>
              </a:ext>
            </a:extLst>
          </p:cNvPr>
          <p:cNvCxnSpPr>
            <a:cxnSpLocks/>
            <a:stCxn id="27" idx="3"/>
          </p:cNvCxnSpPr>
          <p:nvPr/>
        </p:nvCxnSpPr>
        <p:spPr>
          <a:xfrm flipV="1">
            <a:off x="4460778" y="4333210"/>
            <a:ext cx="1427328" cy="7595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Slide Number Placeholder 2">
            <a:extLst>
              <a:ext uri="{FF2B5EF4-FFF2-40B4-BE49-F238E27FC236}">
                <a16:creationId xmlns:a16="http://schemas.microsoft.com/office/drawing/2014/main" id="{DDBEA7E7-1C30-4A28-B24C-BED42685B1C8}"/>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2" name="CuadroTexto 31">
            <a:extLst>
              <a:ext uri="{FF2B5EF4-FFF2-40B4-BE49-F238E27FC236}">
                <a16:creationId xmlns:a16="http://schemas.microsoft.com/office/drawing/2014/main" id="{0AC7B440-6B20-403E-9264-FFA2B49DAAFD}"/>
              </a:ext>
            </a:extLst>
          </p:cNvPr>
          <p:cNvSpPr txBox="1"/>
          <p:nvPr/>
        </p:nvSpPr>
        <p:spPr>
          <a:xfrm>
            <a:off x="538399" y="2880663"/>
            <a:ext cx="5450076" cy="456535"/>
          </a:xfrm>
          <a:prstGeom prst="rect">
            <a:avLst/>
          </a:prstGeom>
          <a:noFill/>
        </p:spPr>
        <p:txBody>
          <a:bodyPr wrap="square">
            <a:spAutoFit/>
          </a:bodyPr>
          <a:lstStyle/>
          <a:p>
            <a:pPr>
              <a:lnSpc>
                <a:spcPct val="150000"/>
              </a:lnSpc>
              <a:spcAft>
                <a:spcPts val="0"/>
              </a:spcAft>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decide el lenguaje de las cadenas</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a</a:t>
            </a:r>
            <a:r>
              <a:rPr lang="es-AR" baseline="30000" dirty="0" err="1">
                <a:latin typeface="Arial" panose="020B0604020202020204" pitchFamily="34" charset="0"/>
                <a:cs typeface="Arial" panose="020B0604020202020204" pitchFamily="34" charset="0"/>
              </a:rPr>
              <a:t>n</a:t>
            </a:r>
            <a:r>
              <a:rPr lang="es-AR" dirty="0" err="1">
                <a:latin typeface="Arial" panose="020B0604020202020204" pitchFamily="34" charset="0"/>
                <a:cs typeface="Arial" panose="020B0604020202020204" pitchFamily="34" charset="0"/>
              </a:rPr>
              <a:t>b</a:t>
            </a:r>
            <a:r>
              <a:rPr lang="es-AR" baseline="30000" dirty="0" err="1">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 con n </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1</a:t>
            </a: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6" name="Rectángulo 5">
            <a:extLst>
              <a:ext uri="{FF2B5EF4-FFF2-40B4-BE49-F238E27FC236}">
                <a16:creationId xmlns:a16="http://schemas.microsoft.com/office/drawing/2014/main" id="{68EBFB56-57B1-B62B-97E2-12E3BCC8955E}"/>
              </a:ext>
            </a:extLst>
          </p:cNvPr>
          <p:cNvSpPr/>
          <p:nvPr/>
        </p:nvSpPr>
        <p:spPr>
          <a:xfrm>
            <a:off x="4479211" y="2603712"/>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7" name="Rectángulo 6">
            <a:extLst>
              <a:ext uri="{FF2B5EF4-FFF2-40B4-BE49-F238E27FC236}">
                <a16:creationId xmlns:a16="http://schemas.microsoft.com/office/drawing/2014/main" id="{4306379C-6D75-BEBF-ACD3-8605C7C2B49D}"/>
              </a:ext>
            </a:extLst>
          </p:cNvPr>
          <p:cNvSpPr/>
          <p:nvPr/>
        </p:nvSpPr>
        <p:spPr>
          <a:xfrm>
            <a:off x="4414327" y="1618237"/>
            <a:ext cx="36420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sí</a:t>
            </a:r>
            <a:endParaRPr lang="es-MX" dirty="0"/>
          </a:p>
        </p:txBody>
      </p:sp>
      <p:sp>
        <p:nvSpPr>
          <p:cNvPr id="8" name="Rectángulo 7">
            <a:extLst>
              <a:ext uri="{FF2B5EF4-FFF2-40B4-BE49-F238E27FC236}">
                <a16:creationId xmlns:a16="http://schemas.microsoft.com/office/drawing/2014/main" id="{1C0BF3A7-A381-367D-D84F-F99ACE53570E}"/>
              </a:ext>
            </a:extLst>
          </p:cNvPr>
          <p:cNvSpPr/>
          <p:nvPr/>
        </p:nvSpPr>
        <p:spPr>
          <a:xfrm>
            <a:off x="2461336" y="1971912"/>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0" name="Conector recto de flecha 9">
            <a:extLst>
              <a:ext uri="{FF2B5EF4-FFF2-40B4-BE49-F238E27FC236}">
                <a16:creationId xmlns:a16="http://schemas.microsoft.com/office/drawing/2014/main" id="{56BC83C2-9F94-07B4-034F-109208F08502}"/>
              </a:ext>
            </a:extLst>
          </p:cNvPr>
          <p:cNvCxnSpPr>
            <a:cxnSpLocks/>
          </p:cNvCxnSpPr>
          <p:nvPr/>
        </p:nvCxnSpPr>
        <p:spPr>
          <a:xfrm>
            <a:off x="1330182" y="2435909"/>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768BD336-7030-EFFD-BFE3-C2AA80E48AD5}"/>
              </a:ext>
            </a:extLst>
          </p:cNvPr>
          <p:cNvCxnSpPr>
            <a:cxnSpLocks/>
          </p:cNvCxnSpPr>
          <p:nvPr/>
        </p:nvCxnSpPr>
        <p:spPr>
          <a:xfrm>
            <a:off x="3375736" y="2459972"/>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ítulo 1">
            <a:extLst>
              <a:ext uri="{FF2B5EF4-FFF2-40B4-BE49-F238E27FC236}">
                <a16:creationId xmlns:a16="http://schemas.microsoft.com/office/drawing/2014/main" id="{F1E6BECF-71FB-4BC8-C722-3A2A2E19C60C}"/>
              </a:ext>
            </a:extLst>
          </p:cNvPr>
          <p:cNvSpPr txBox="1">
            <a:spLocks/>
          </p:cNvSpPr>
          <p:nvPr/>
        </p:nvSpPr>
        <p:spPr>
          <a:xfrm>
            <a:off x="1781344" y="2171246"/>
            <a:ext cx="1255362" cy="304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w</a:t>
            </a:r>
          </a:p>
        </p:txBody>
      </p:sp>
      <p:cxnSp>
        <p:nvCxnSpPr>
          <p:cNvPr id="16" name="Conector recto de flecha 15">
            <a:extLst>
              <a:ext uri="{FF2B5EF4-FFF2-40B4-BE49-F238E27FC236}">
                <a16:creationId xmlns:a16="http://schemas.microsoft.com/office/drawing/2014/main" id="{D2E96286-EED8-47D3-9E72-17598EF12E54}"/>
              </a:ext>
            </a:extLst>
          </p:cNvPr>
          <p:cNvCxnSpPr>
            <a:cxnSpLocks/>
          </p:cNvCxnSpPr>
          <p:nvPr/>
        </p:nvCxnSpPr>
        <p:spPr>
          <a:xfrm flipV="1">
            <a:off x="3378645" y="1791160"/>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ítulo 1">
            <a:extLst>
              <a:ext uri="{FF2B5EF4-FFF2-40B4-BE49-F238E27FC236}">
                <a16:creationId xmlns:a16="http://schemas.microsoft.com/office/drawing/2014/main" id="{23E642FB-4EDA-EF86-1EAF-0CD632D3CEF1}"/>
              </a:ext>
            </a:extLst>
          </p:cNvPr>
          <p:cNvSpPr txBox="1">
            <a:spLocks/>
          </p:cNvSpPr>
          <p:nvPr/>
        </p:nvSpPr>
        <p:spPr>
          <a:xfrm>
            <a:off x="2754996" y="1690651"/>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8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800" dirty="0">
              <a:latin typeface="Arial" panose="020B0604020202020204" pitchFamily="34" charset="0"/>
              <a:cs typeface="Arial" panose="020B0604020202020204" pitchFamily="34" charset="0"/>
            </a:endParaRPr>
          </a:p>
        </p:txBody>
      </p:sp>
      <p:sp>
        <p:nvSpPr>
          <p:cNvPr id="20" name="CuadroTexto 19">
            <a:extLst>
              <a:ext uri="{FF2B5EF4-FFF2-40B4-BE49-F238E27FC236}">
                <a16:creationId xmlns:a16="http://schemas.microsoft.com/office/drawing/2014/main" id="{687FF429-4CF2-EFED-5274-3EE6567A9850}"/>
              </a:ext>
            </a:extLst>
          </p:cNvPr>
          <p:cNvSpPr txBox="1"/>
          <p:nvPr/>
        </p:nvSpPr>
        <p:spPr>
          <a:xfrm>
            <a:off x="531068" y="6044059"/>
            <a:ext cx="6641960" cy="463075"/>
          </a:xfrm>
          <a:prstGeom prst="rect">
            <a:avLst/>
          </a:prstGeom>
          <a:noFill/>
        </p:spPr>
        <p:txBody>
          <a:bodyPr wrap="square">
            <a:spAutoFit/>
          </a:bodyPr>
          <a:lstStyle/>
          <a:p>
            <a:pPr>
              <a:lnSpc>
                <a:spcPct val="150000"/>
              </a:lnSpc>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decide la intersección de los lenguajes que deciden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r>
              <a:rPr lang="es-MX" dirty="0"/>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y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sp>
        <p:nvSpPr>
          <p:cNvPr id="36" name="Rectángulo 35">
            <a:extLst>
              <a:ext uri="{FF2B5EF4-FFF2-40B4-BE49-F238E27FC236}">
                <a16:creationId xmlns:a16="http://schemas.microsoft.com/office/drawing/2014/main" id="{55DBE385-A213-22A7-862F-CFB895D1CE1E}"/>
              </a:ext>
            </a:extLst>
          </p:cNvPr>
          <p:cNvSpPr/>
          <p:nvPr/>
        </p:nvSpPr>
        <p:spPr>
          <a:xfrm>
            <a:off x="6712905" y="2912453"/>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37" name="Rectángulo 36">
            <a:extLst>
              <a:ext uri="{FF2B5EF4-FFF2-40B4-BE49-F238E27FC236}">
                <a16:creationId xmlns:a16="http://schemas.microsoft.com/office/drawing/2014/main" id="{EE06AB05-C103-12CD-311C-AA58350A1095}"/>
              </a:ext>
            </a:extLst>
          </p:cNvPr>
          <p:cNvSpPr/>
          <p:nvPr/>
        </p:nvSpPr>
        <p:spPr>
          <a:xfrm>
            <a:off x="9022661" y="1831631"/>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8" name="Conector recto de flecha 37">
            <a:extLst>
              <a:ext uri="{FF2B5EF4-FFF2-40B4-BE49-F238E27FC236}">
                <a16:creationId xmlns:a16="http://schemas.microsoft.com/office/drawing/2014/main" id="{A5F63499-691A-816E-CD79-57197A7258E7}"/>
              </a:ext>
            </a:extLst>
          </p:cNvPr>
          <p:cNvCxnSpPr>
            <a:cxnSpLocks/>
          </p:cNvCxnSpPr>
          <p:nvPr/>
        </p:nvCxnSpPr>
        <p:spPr>
          <a:xfrm>
            <a:off x="6558689" y="3262523"/>
            <a:ext cx="112095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Diagrama de flujo: proceso 38">
            <a:extLst>
              <a:ext uri="{FF2B5EF4-FFF2-40B4-BE49-F238E27FC236}">
                <a16:creationId xmlns:a16="http://schemas.microsoft.com/office/drawing/2014/main" id="{63A4D739-CE1C-3618-2048-915AE8FAF06D}"/>
              </a:ext>
            </a:extLst>
          </p:cNvPr>
          <p:cNvSpPr/>
          <p:nvPr/>
        </p:nvSpPr>
        <p:spPr>
          <a:xfrm>
            <a:off x="7170212" y="1625083"/>
            <a:ext cx="4133432" cy="3577756"/>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0" name="Conector recto de flecha 39">
            <a:extLst>
              <a:ext uri="{FF2B5EF4-FFF2-40B4-BE49-F238E27FC236}">
                <a16:creationId xmlns:a16="http://schemas.microsoft.com/office/drawing/2014/main" id="{D34D7FDF-1FA6-48BE-FB6F-7424DB3B1B4D}"/>
              </a:ext>
            </a:extLst>
          </p:cNvPr>
          <p:cNvCxnSpPr>
            <a:cxnSpLocks/>
            <a:endCxn id="37" idx="1"/>
          </p:cNvCxnSpPr>
          <p:nvPr/>
        </p:nvCxnSpPr>
        <p:spPr>
          <a:xfrm>
            <a:off x="7679630" y="2288831"/>
            <a:ext cx="134303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ángulo 40">
            <a:extLst>
              <a:ext uri="{FF2B5EF4-FFF2-40B4-BE49-F238E27FC236}">
                <a16:creationId xmlns:a16="http://schemas.microsoft.com/office/drawing/2014/main" id="{C89FC03A-5EB5-440D-639D-14C4B2D2708D}"/>
              </a:ext>
            </a:extLst>
          </p:cNvPr>
          <p:cNvSpPr/>
          <p:nvPr/>
        </p:nvSpPr>
        <p:spPr>
          <a:xfrm>
            <a:off x="9015646" y="3712624"/>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2" name="Conector recto 41">
            <a:extLst>
              <a:ext uri="{FF2B5EF4-FFF2-40B4-BE49-F238E27FC236}">
                <a16:creationId xmlns:a16="http://schemas.microsoft.com/office/drawing/2014/main" id="{1544D913-C510-DAE9-828A-C0BFCB69F141}"/>
              </a:ext>
            </a:extLst>
          </p:cNvPr>
          <p:cNvCxnSpPr>
            <a:cxnSpLocks/>
          </p:cNvCxnSpPr>
          <p:nvPr/>
        </p:nvCxnSpPr>
        <p:spPr>
          <a:xfrm>
            <a:off x="7679630" y="2288831"/>
            <a:ext cx="0" cy="19067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4F75D737-1E39-2005-9C1D-9CE279770E95}"/>
              </a:ext>
            </a:extLst>
          </p:cNvPr>
          <p:cNvCxnSpPr>
            <a:cxnSpLocks/>
          </p:cNvCxnSpPr>
          <p:nvPr/>
        </p:nvCxnSpPr>
        <p:spPr>
          <a:xfrm>
            <a:off x="7671005" y="4195585"/>
            <a:ext cx="134303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ángulo 44">
            <a:extLst>
              <a:ext uri="{FF2B5EF4-FFF2-40B4-BE49-F238E27FC236}">
                <a16:creationId xmlns:a16="http://schemas.microsoft.com/office/drawing/2014/main" id="{0BFAD17B-137E-B624-058D-0CAEED962472}"/>
              </a:ext>
            </a:extLst>
          </p:cNvPr>
          <p:cNvSpPr/>
          <p:nvPr/>
        </p:nvSpPr>
        <p:spPr>
          <a:xfrm>
            <a:off x="9279120" y="1311747"/>
            <a:ext cx="44114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a:t>
            </a:r>
            <a:endParaRPr lang="es-MX" dirty="0"/>
          </a:p>
        </p:txBody>
      </p:sp>
      <p:cxnSp>
        <p:nvCxnSpPr>
          <p:cNvPr id="46" name="Conector recto de flecha 45">
            <a:extLst>
              <a:ext uri="{FF2B5EF4-FFF2-40B4-BE49-F238E27FC236}">
                <a16:creationId xmlns:a16="http://schemas.microsoft.com/office/drawing/2014/main" id="{09B82924-993D-4933-175B-D7215CD9201E}"/>
              </a:ext>
            </a:extLst>
          </p:cNvPr>
          <p:cNvCxnSpPr>
            <a:cxnSpLocks/>
          </p:cNvCxnSpPr>
          <p:nvPr/>
        </p:nvCxnSpPr>
        <p:spPr>
          <a:xfrm>
            <a:off x="9937061" y="2288831"/>
            <a:ext cx="194264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ángulo 47">
            <a:extLst>
              <a:ext uri="{FF2B5EF4-FFF2-40B4-BE49-F238E27FC236}">
                <a16:creationId xmlns:a16="http://schemas.microsoft.com/office/drawing/2014/main" id="{1ACF6094-84C3-6B47-F944-885EB8003511}"/>
              </a:ext>
            </a:extLst>
          </p:cNvPr>
          <p:cNvSpPr/>
          <p:nvPr/>
        </p:nvSpPr>
        <p:spPr>
          <a:xfrm>
            <a:off x="11409573" y="2000794"/>
            <a:ext cx="364202"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50" name="CuadroTexto 49">
            <a:extLst>
              <a:ext uri="{FF2B5EF4-FFF2-40B4-BE49-F238E27FC236}">
                <a16:creationId xmlns:a16="http://schemas.microsoft.com/office/drawing/2014/main" id="{0815E647-57CB-D3D0-8640-20D0C3C21721}"/>
              </a:ext>
            </a:extLst>
          </p:cNvPr>
          <p:cNvSpPr txBox="1"/>
          <p:nvPr/>
        </p:nvSpPr>
        <p:spPr>
          <a:xfrm>
            <a:off x="10439470" y="1981912"/>
            <a:ext cx="682278" cy="369332"/>
          </a:xfrm>
          <a:prstGeom prst="rect">
            <a:avLst/>
          </a:prstGeom>
          <a:noFill/>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51" name="Rectángulo 50">
            <a:extLst>
              <a:ext uri="{FF2B5EF4-FFF2-40B4-BE49-F238E27FC236}">
                <a16:creationId xmlns:a16="http://schemas.microsoft.com/office/drawing/2014/main" id="{9F594D74-6484-76B1-C566-BAA744754BDC}"/>
              </a:ext>
            </a:extLst>
          </p:cNvPr>
          <p:cNvSpPr/>
          <p:nvPr/>
        </p:nvSpPr>
        <p:spPr>
          <a:xfrm>
            <a:off x="9232190" y="2079849"/>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endParaRPr lang="es-MX" dirty="0"/>
          </a:p>
        </p:txBody>
      </p:sp>
      <p:sp>
        <p:nvSpPr>
          <p:cNvPr id="52" name="Rectángulo 51">
            <a:extLst>
              <a:ext uri="{FF2B5EF4-FFF2-40B4-BE49-F238E27FC236}">
                <a16:creationId xmlns:a16="http://schemas.microsoft.com/office/drawing/2014/main" id="{017B0504-89AC-5466-132A-47271D4F38BA}"/>
              </a:ext>
            </a:extLst>
          </p:cNvPr>
          <p:cNvSpPr/>
          <p:nvPr/>
        </p:nvSpPr>
        <p:spPr>
          <a:xfrm>
            <a:off x="9285965" y="3985157"/>
            <a:ext cx="46198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cxnSp>
        <p:nvCxnSpPr>
          <p:cNvPr id="53" name="Conector recto de flecha 52">
            <a:extLst>
              <a:ext uri="{FF2B5EF4-FFF2-40B4-BE49-F238E27FC236}">
                <a16:creationId xmlns:a16="http://schemas.microsoft.com/office/drawing/2014/main" id="{2A30E871-31BD-4C40-39C4-6AB00A31CA71}"/>
              </a:ext>
            </a:extLst>
          </p:cNvPr>
          <p:cNvCxnSpPr>
            <a:cxnSpLocks/>
          </p:cNvCxnSpPr>
          <p:nvPr/>
        </p:nvCxnSpPr>
        <p:spPr>
          <a:xfrm>
            <a:off x="9937061" y="4169823"/>
            <a:ext cx="194264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CuadroTexto 53">
            <a:extLst>
              <a:ext uri="{FF2B5EF4-FFF2-40B4-BE49-F238E27FC236}">
                <a16:creationId xmlns:a16="http://schemas.microsoft.com/office/drawing/2014/main" id="{BF059137-E01E-3397-DDA6-2FFA849E8D73}"/>
              </a:ext>
            </a:extLst>
          </p:cNvPr>
          <p:cNvSpPr txBox="1"/>
          <p:nvPr/>
        </p:nvSpPr>
        <p:spPr>
          <a:xfrm>
            <a:off x="10498962" y="3839390"/>
            <a:ext cx="682278" cy="369332"/>
          </a:xfrm>
          <a:prstGeom prst="rect">
            <a:avLst/>
          </a:prstGeom>
          <a:noFill/>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55" name="Rectángulo 54">
            <a:extLst>
              <a:ext uri="{FF2B5EF4-FFF2-40B4-BE49-F238E27FC236}">
                <a16:creationId xmlns:a16="http://schemas.microsoft.com/office/drawing/2014/main" id="{AB2B6CDE-1D13-2641-CEBB-6AE18DF58397}"/>
              </a:ext>
            </a:extLst>
          </p:cNvPr>
          <p:cNvSpPr/>
          <p:nvPr/>
        </p:nvSpPr>
        <p:spPr>
          <a:xfrm>
            <a:off x="11409573" y="3850460"/>
            <a:ext cx="364202"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sp>
        <p:nvSpPr>
          <p:cNvPr id="56" name="CuadroTexto 55">
            <a:extLst>
              <a:ext uri="{FF2B5EF4-FFF2-40B4-BE49-F238E27FC236}">
                <a16:creationId xmlns:a16="http://schemas.microsoft.com/office/drawing/2014/main" id="{6F9BD3B5-4F39-4173-7F8A-F7FC02155844}"/>
              </a:ext>
            </a:extLst>
          </p:cNvPr>
          <p:cNvSpPr txBox="1"/>
          <p:nvPr/>
        </p:nvSpPr>
        <p:spPr>
          <a:xfrm>
            <a:off x="7326236" y="5527013"/>
            <a:ext cx="4544793" cy="878574"/>
          </a:xfrm>
          <a:prstGeom prst="rect">
            <a:avLst/>
          </a:prstGeom>
          <a:noFill/>
        </p:spPr>
        <p:txBody>
          <a:bodyPr wrap="square">
            <a:spAutoFit/>
          </a:bodyPr>
          <a:lstStyle/>
          <a:p>
            <a:pPr>
              <a:lnSpc>
                <a:spcPct val="150000"/>
              </a:lnSpc>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reconoce la unión de los lenguajes que </a:t>
            </a:r>
          </a:p>
          <a:p>
            <a:pPr>
              <a:lnSpc>
                <a:spcPct val="150000"/>
              </a:lnSpc>
            </a:pP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reconocen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1</a:t>
            </a:r>
            <a:r>
              <a:rPr lang="es-MX" dirty="0"/>
              <a:t>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y 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 </a:t>
            </a:r>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(puede no parar)</a:t>
            </a:r>
            <a:endPar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2" name="Rectángulo 1">
            <a:extLst>
              <a:ext uri="{FF2B5EF4-FFF2-40B4-BE49-F238E27FC236}">
                <a16:creationId xmlns:a16="http://schemas.microsoft.com/office/drawing/2014/main" id="{C7FFDB3F-592E-98ED-6F41-08C080E22507}"/>
              </a:ext>
            </a:extLst>
          </p:cNvPr>
          <p:cNvSpPr/>
          <p:nvPr/>
        </p:nvSpPr>
        <p:spPr>
          <a:xfrm>
            <a:off x="229115" y="918940"/>
            <a:ext cx="11462807" cy="461665"/>
          </a:xfrm>
          <a:prstGeom prst="rect">
            <a:avLst/>
          </a:prstGeom>
        </p:spPr>
        <p:txBody>
          <a:bodyPr wrap="square">
            <a:spAutoFit/>
          </a:bodyPr>
          <a:lstStyle/>
          <a:p>
            <a:pPr algn="just"/>
            <a:r>
              <a:rPr lang="es-AR" sz="2400" b="1" dirty="0">
                <a:solidFill>
                  <a:srgbClr val="000000"/>
                </a:solidFill>
                <a:latin typeface="Arial" panose="020B0604020202020204" pitchFamily="34" charset="0"/>
                <a:cs typeface="Arial" panose="020B0604020202020204" pitchFamily="34" charset="0"/>
              </a:rPr>
              <a:t>Hasta la clase 2: pruebas constructivas</a:t>
            </a:r>
          </a:p>
        </p:txBody>
      </p:sp>
      <p:sp>
        <p:nvSpPr>
          <p:cNvPr id="9" name="Rectángulo 8">
            <a:extLst>
              <a:ext uri="{FF2B5EF4-FFF2-40B4-BE49-F238E27FC236}">
                <a16:creationId xmlns:a16="http://schemas.microsoft.com/office/drawing/2014/main" id="{EEDB8774-518D-FA4D-16E9-E4A66508CBAE}"/>
              </a:ext>
            </a:extLst>
          </p:cNvPr>
          <p:cNvSpPr/>
          <p:nvPr/>
        </p:nvSpPr>
        <p:spPr>
          <a:xfrm>
            <a:off x="229115" y="124144"/>
            <a:ext cx="11705046"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3. Diagonalización</a:t>
            </a:r>
          </a:p>
        </p:txBody>
      </p:sp>
      <p:cxnSp>
        <p:nvCxnSpPr>
          <p:cNvPr id="3" name="Conector recto 2">
            <a:extLst>
              <a:ext uri="{FF2B5EF4-FFF2-40B4-BE49-F238E27FC236}">
                <a16:creationId xmlns:a16="http://schemas.microsoft.com/office/drawing/2014/main" id="{593FFACC-3B97-8458-C3F8-89ACF0889918}"/>
              </a:ext>
            </a:extLst>
          </p:cNvPr>
          <p:cNvCxnSpPr>
            <a:cxnSpLocks/>
          </p:cNvCxnSpPr>
          <p:nvPr/>
        </p:nvCxnSpPr>
        <p:spPr>
          <a:xfrm>
            <a:off x="9279120" y="5229743"/>
            <a:ext cx="0" cy="3986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649BA85E-F04C-8E9A-3405-042EA87B0398}"/>
              </a:ext>
            </a:extLst>
          </p:cNvPr>
          <p:cNvCxnSpPr>
            <a:cxnSpLocks/>
          </p:cNvCxnSpPr>
          <p:nvPr/>
        </p:nvCxnSpPr>
        <p:spPr>
          <a:xfrm flipV="1">
            <a:off x="9297707" y="5628347"/>
            <a:ext cx="349168"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D86B8506-87D8-9FBA-471D-3D37D08AE661}"/>
              </a:ext>
            </a:extLst>
          </p:cNvPr>
          <p:cNvCxnSpPr>
            <a:cxnSpLocks/>
          </p:cNvCxnSpPr>
          <p:nvPr/>
        </p:nvCxnSpPr>
        <p:spPr>
          <a:xfrm flipV="1">
            <a:off x="9678026" y="5229743"/>
            <a:ext cx="0" cy="3986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196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C4F8E59B-11D3-410E-ACB8-4411D6F0278B}"/>
              </a:ext>
            </a:extLst>
          </p:cNvPr>
          <p:cNvSpPr/>
          <p:nvPr/>
        </p:nvSpPr>
        <p:spPr>
          <a:xfrm>
            <a:off x="322342" y="374217"/>
            <a:ext cx="11526757" cy="5216813"/>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Ahora: prueba no constructiva</a:t>
            </a:r>
          </a:p>
          <a:p>
            <a:endParaRPr lang="es-AR" dirty="0">
              <a:latin typeface="Arial" panose="020B0604020202020204" pitchFamily="34" charset="0"/>
              <a:cs typeface="Arial" panose="020B0604020202020204" pitchFamily="34" charset="0"/>
            </a:endParaRP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Primer lenguaje </a:t>
            </a:r>
            <a:r>
              <a:rPr lang="es-AR" b="1" dirty="0">
                <a:solidFill>
                  <a:srgbClr val="0070C0"/>
                </a:solidFill>
                <a:latin typeface="Arial" panose="020B0604020202020204" pitchFamily="34" charset="0"/>
                <a:cs typeface="Arial" panose="020B0604020202020204" pitchFamily="34" charset="0"/>
              </a:rPr>
              <a:t>D</a:t>
            </a:r>
            <a:r>
              <a:rPr lang="es-AR" dirty="0">
                <a:latin typeface="Arial" panose="020B0604020202020204" pitchFamily="34" charset="0"/>
                <a:cs typeface="Arial" panose="020B0604020202020204" pitchFamily="34" charset="0"/>
              </a:rPr>
              <a:t> en RE – R, para probar </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rPr>
              <a:t>R </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rPr>
              <a:t> RE</a:t>
            </a:r>
          </a:p>
          <a:p>
            <a:endParaRPr lang="es-AR" sz="12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Primer lenguaje </a:t>
            </a:r>
            <a:r>
              <a:rPr lang="es-AR" b="1" dirty="0">
                <a:solidFill>
                  <a:srgbClr val="0070C0"/>
                </a:solidFill>
                <a:latin typeface="Arial" panose="020B0604020202020204" pitchFamily="34" charset="0"/>
                <a:cs typeface="Arial" panose="020B0604020202020204" pitchFamily="34" charset="0"/>
              </a:rPr>
              <a:t>D</a:t>
            </a:r>
            <a:r>
              <a:rPr lang="es-AR" sz="1800" b="1" baseline="30000" dirty="0">
                <a:solidFill>
                  <a:srgbClr val="0070C0"/>
                </a:solidFill>
                <a:latin typeface="Arial" panose="020B0604020202020204" pitchFamily="34" charset="0"/>
                <a:cs typeface="Arial" panose="020B0604020202020204" pitchFamily="34" charset="0"/>
              </a:rPr>
              <a:t>C</a:t>
            </a:r>
            <a:r>
              <a:rPr lang="es-MX" baseline="30000" dirty="0"/>
              <a:t>  </a:t>
            </a:r>
            <a:r>
              <a:rPr lang="es-AR" dirty="0">
                <a:latin typeface="Arial" panose="020B0604020202020204" pitchFamily="34" charset="0"/>
                <a:cs typeface="Arial" panose="020B0604020202020204" pitchFamily="34" charset="0"/>
              </a:rPr>
              <a:t>en CO-RE – R, para probar </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rPr>
              <a:t>RE </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800" b="1" dirty="0">
                <a:solidFill>
                  <a:srgbClr val="0070C0"/>
                </a:solidFill>
                <a:latin typeface="Arial" panose="020B0604020202020204" pitchFamily="34" charset="0"/>
                <a:ea typeface="Times New Roman" panose="02020603050405020304" pitchFamily="18" charset="0"/>
                <a:cs typeface="Arial" panose="020B0604020202020204" pitchFamily="34" charset="0"/>
              </a:rPr>
              <a:t> </a:t>
            </a:r>
            <a:r>
              <a:rPr lang="es-ES" sz="1800" b="1" dirty="0">
                <a:solidFill>
                  <a:srgbClr val="0070C0"/>
                </a:solidFill>
                <a:latin typeface="Arial" panose="020B0604020202020204" pitchFamily="34" charset="0"/>
                <a:ea typeface="Times New Roman" panose="02020603050405020304" pitchFamily="18" charset="0"/>
                <a:cs typeface="Arial" panose="020B0604020202020204" pitchFamily="34" charset="0"/>
              </a:rPr>
              <a:t>𝔏</a:t>
            </a: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p:txBody>
      </p:sp>
      <p:sp>
        <p:nvSpPr>
          <p:cNvPr id="26" name="Slide Number Placeholder 2">
            <a:extLst>
              <a:ext uri="{FF2B5EF4-FFF2-40B4-BE49-F238E27FC236}">
                <a16:creationId xmlns:a16="http://schemas.microsoft.com/office/drawing/2014/main" id="{690017FF-5AEE-4A38-A250-2EC7E8E4091C}"/>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Rectángulo 4">
            <a:extLst>
              <a:ext uri="{FF2B5EF4-FFF2-40B4-BE49-F238E27FC236}">
                <a16:creationId xmlns:a16="http://schemas.microsoft.com/office/drawing/2014/main" id="{459392F5-E669-C720-5722-3F060663BA55}"/>
              </a:ext>
            </a:extLst>
          </p:cNvPr>
          <p:cNvSpPr/>
          <p:nvPr/>
        </p:nvSpPr>
        <p:spPr>
          <a:xfrm>
            <a:off x="5824959" y="3167968"/>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R</a:t>
            </a:r>
            <a:endParaRPr lang="es-MX" dirty="0"/>
          </a:p>
        </p:txBody>
      </p:sp>
      <p:sp>
        <p:nvSpPr>
          <p:cNvPr id="6" name="Rectángulo 5">
            <a:extLst>
              <a:ext uri="{FF2B5EF4-FFF2-40B4-BE49-F238E27FC236}">
                <a16:creationId xmlns:a16="http://schemas.microsoft.com/office/drawing/2014/main" id="{85D603D1-1344-DC76-537D-4660171FF3C6}"/>
              </a:ext>
            </a:extLst>
          </p:cNvPr>
          <p:cNvSpPr/>
          <p:nvPr/>
        </p:nvSpPr>
        <p:spPr>
          <a:xfrm>
            <a:off x="4267777" y="3017692"/>
            <a:ext cx="50526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RE</a:t>
            </a:r>
            <a:endParaRPr lang="es-MX" dirty="0"/>
          </a:p>
        </p:txBody>
      </p:sp>
      <p:sp>
        <p:nvSpPr>
          <p:cNvPr id="7" name="Rectángulo 6">
            <a:extLst>
              <a:ext uri="{FF2B5EF4-FFF2-40B4-BE49-F238E27FC236}">
                <a16:creationId xmlns:a16="http://schemas.microsoft.com/office/drawing/2014/main" id="{A75775BC-7BA5-901B-C855-8608602D913C}"/>
              </a:ext>
            </a:extLst>
          </p:cNvPr>
          <p:cNvSpPr/>
          <p:nvPr/>
        </p:nvSpPr>
        <p:spPr>
          <a:xfrm>
            <a:off x="6797497" y="2998691"/>
            <a:ext cx="1011815"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CO-RE</a:t>
            </a:r>
            <a:endParaRPr lang="es-MX" dirty="0"/>
          </a:p>
        </p:txBody>
      </p:sp>
      <p:sp>
        <p:nvSpPr>
          <p:cNvPr id="8" name="Diagrama de flujo: conector 7">
            <a:extLst>
              <a:ext uri="{FF2B5EF4-FFF2-40B4-BE49-F238E27FC236}">
                <a16:creationId xmlns:a16="http://schemas.microsoft.com/office/drawing/2014/main" id="{6896882E-460E-9219-863C-4505BC9300C6}"/>
              </a:ext>
            </a:extLst>
          </p:cNvPr>
          <p:cNvSpPr/>
          <p:nvPr/>
        </p:nvSpPr>
        <p:spPr>
          <a:xfrm>
            <a:off x="3699488" y="2903613"/>
            <a:ext cx="2763748" cy="141305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Diagrama de flujo: conector 8">
            <a:extLst>
              <a:ext uri="{FF2B5EF4-FFF2-40B4-BE49-F238E27FC236}">
                <a16:creationId xmlns:a16="http://schemas.microsoft.com/office/drawing/2014/main" id="{71443429-AD07-9331-33FA-602694DFB361}"/>
              </a:ext>
            </a:extLst>
          </p:cNvPr>
          <p:cNvSpPr/>
          <p:nvPr/>
        </p:nvSpPr>
        <p:spPr>
          <a:xfrm>
            <a:off x="5440568" y="2911883"/>
            <a:ext cx="2763747" cy="140478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F049BBCB-77E5-D9D4-D52E-EB53868915E8}"/>
              </a:ext>
            </a:extLst>
          </p:cNvPr>
          <p:cNvSpPr/>
          <p:nvPr/>
        </p:nvSpPr>
        <p:spPr>
          <a:xfrm>
            <a:off x="6835487" y="3750829"/>
            <a:ext cx="431528" cy="338554"/>
          </a:xfrm>
          <a:prstGeom prst="rect">
            <a:avLst/>
          </a:prstGeom>
        </p:spPr>
        <p:txBody>
          <a:bodyPr wrap="none">
            <a:spAutoFit/>
          </a:bodyPr>
          <a:lstStyle/>
          <a:p>
            <a:r>
              <a:rPr lang="es-AR" sz="1600" b="1" dirty="0">
                <a:solidFill>
                  <a:srgbClr val="0070C0"/>
                </a:solidFill>
                <a:latin typeface="Arial" panose="020B0604020202020204" pitchFamily="34" charset="0"/>
                <a:cs typeface="Arial" panose="020B0604020202020204" pitchFamily="34" charset="0"/>
              </a:rPr>
              <a:t>D</a:t>
            </a:r>
            <a:r>
              <a:rPr lang="es-AR" sz="1600" b="1" baseline="30000" dirty="0">
                <a:solidFill>
                  <a:srgbClr val="0070C0"/>
                </a:solidFill>
                <a:latin typeface="Arial" panose="020B0604020202020204" pitchFamily="34" charset="0"/>
                <a:cs typeface="Arial" panose="020B0604020202020204" pitchFamily="34" charset="0"/>
              </a:rPr>
              <a:t>C</a:t>
            </a:r>
            <a:endParaRPr lang="es-MX" sz="1600" b="1" dirty="0">
              <a:solidFill>
                <a:srgbClr val="0070C0"/>
              </a:solidFill>
            </a:endParaRPr>
          </a:p>
        </p:txBody>
      </p:sp>
      <p:sp>
        <p:nvSpPr>
          <p:cNvPr id="11" name="Rectángulo 10">
            <a:extLst>
              <a:ext uri="{FF2B5EF4-FFF2-40B4-BE49-F238E27FC236}">
                <a16:creationId xmlns:a16="http://schemas.microsoft.com/office/drawing/2014/main" id="{B7FC5355-71FB-1F76-F538-5D861CF5E562}"/>
              </a:ext>
            </a:extLst>
          </p:cNvPr>
          <p:cNvSpPr/>
          <p:nvPr/>
        </p:nvSpPr>
        <p:spPr>
          <a:xfrm>
            <a:off x="4736175" y="3750829"/>
            <a:ext cx="332142" cy="338554"/>
          </a:xfrm>
          <a:prstGeom prst="rect">
            <a:avLst/>
          </a:prstGeom>
        </p:spPr>
        <p:txBody>
          <a:bodyPr wrap="none">
            <a:spAutoFit/>
          </a:bodyPr>
          <a:lstStyle/>
          <a:p>
            <a:r>
              <a:rPr lang="es-AR" sz="1600" b="1" dirty="0">
                <a:solidFill>
                  <a:srgbClr val="0070C0"/>
                </a:solidFill>
                <a:latin typeface="Arial" panose="020B0604020202020204" pitchFamily="34" charset="0"/>
                <a:cs typeface="Arial" panose="020B0604020202020204" pitchFamily="34" charset="0"/>
              </a:rPr>
              <a:t>D</a:t>
            </a:r>
            <a:endParaRPr lang="es-MX" sz="1600" b="1" dirty="0">
              <a:solidFill>
                <a:srgbClr val="0070C0"/>
              </a:solidFill>
            </a:endParaRPr>
          </a:p>
        </p:txBody>
      </p:sp>
      <p:sp>
        <p:nvSpPr>
          <p:cNvPr id="14" name="Rectángulo 13">
            <a:extLst>
              <a:ext uri="{FF2B5EF4-FFF2-40B4-BE49-F238E27FC236}">
                <a16:creationId xmlns:a16="http://schemas.microsoft.com/office/drawing/2014/main" id="{5F852841-6746-859B-A62C-D58FECE00AA1}"/>
              </a:ext>
            </a:extLst>
          </p:cNvPr>
          <p:cNvSpPr/>
          <p:nvPr/>
        </p:nvSpPr>
        <p:spPr>
          <a:xfrm>
            <a:off x="5720763" y="2397404"/>
            <a:ext cx="436338" cy="584775"/>
          </a:xfrm>
          <a:prstGeom prst="rect">
            <a:avLst/>
          </a:prstGeom>
        </p:spPr>
        <p:txBody>
          <a:bodyPr wrap="square">
            <a:spAutoFit/>
          </a:bodyPr>
          <a:lstStyle/>
          <a:p>
            <a:r>
              <a:rPr lang="es-ES" sz="3200" dirty="0">
                <a:latin typeface="Arial" panose="020B0604020202020204" pitchFamily="34" charset="0"/>
                <a:ea typeface="Times New Roman" panose="02020603050405020304" pitchFamily="18" charset="0"/>
                <a:cs typeface="Arial" panose="020B0604020202020204" pitchFamily="34" charset="0"/>
              </a:rPr>
              <a:t>𝔏</a:t>
            </a:r>
            <a:endParaRPr lang="es-MX" sz="3200" dirty="0"/>
          </a:p>
        </p:txBody>
      </p:sp>
      <p:sp>
        <p:nvSpPr>
          <p:cNvPr id="18" name="Diagrama de flujo: conector 17">
            <a:extLst>
              <a:ext uri="{FF2B5EF4-FFF2-40B4-BE49-F238E27FC236}">
                <a16:creationId xmlns:a16="http://schemas.microsoft.com/office/drawing/2014/main" id="{2E2DD09C-FA70-09AA-DBAF-47A331802A58}"/>
              </a:ext>
            </a:extLst>
          </p:cNvPr>
          <p:cNvSpPr/>
          <p:nvPr/>
        </p:nvSpPr>
        <p:spPr>
          <a:xfrm>
            <a:off x="3031667" y="2433326"/>
            <a:ext cx="5825775" cy="229316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8AE4B9B6-A1A4-328A-8C84-382FD728E558}"/>
              </a:ext>
            </a:extLst>
          </p:cNvPr>
          <p:cNvSpPr txBox="1"/>
          <p:nvPr/>
        </p:nvSpPr>
        <p:spPr>
          <a:xfrm>
            <a:off x="-426295" y="5182269"/>
            <a:ext cx="12618295" cy="1200329"/>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	Primero, prueba constructiva de que </a:t>
            </a:r>
            <a:r>
              <a:rPr lang="es-AR" b="1" dirty="0">
                <a:latin typeface="Arial" panose="020B0604020202020204" pitchFamily="34" charset="0"/>
                <a:cs typeface="Arial" panose="020B0604020202020204" pitchFamily="34" charset="0"/>
              </a:rPr>
              <a:t>D </a:t>
            </a:r>
            <a:r>
              <a:rPr lang="es-AR"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sz="1800" b="1" dirty="0">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RE</a:t>
            </a:r>
            <a:r>
              <a:rPr lang="es-AR" dirty="0">
                <a:latin typeface="Arial" panose="020B0604020202020204" pitchFamily="34" charset="0"/>
                <a:cs typeface="Arial" panose="020B0604020202020204" pitchFamily="34" charset="0"/>
              </a:rPr>
              <a:t>.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Luego, prueba </a:t>
            </a:r>
            <a:r>
              <a:rPr lang="es-AR" b="1" dirty="0">
                <a:latin typeface="Arial" panose="020B0604020202020204" pitchFamily="34" charset="0"/>
                <a:cs typeface="Arial" panose="020B0604020202020204" pitchFamily="34" charset="0"/>
              </a:rPr>
              <a:t>por diagonalización </a:t>
            </a:r>
            <a:r>
              <a:rPr lang="es-AR" dirty="0">
                <a:latin typeface="Arial" panose="020B0604020202020204" pitchFamily="34" charset="0"/>
                <a:cs typeface="Arial" panose="020B0604020202020204" pitchFamily="34" charset="0"/>
              </a:rPr>
              <a:t>(no constructiva</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de que </a:t>
            </a:r>
            <a:r>
              <a:rPr lang="es-AR" sz="1800" b="1" dirty="0">
                <a:latin typeface="Arial" panose="020B0604020202020204" pitchFamily="34" charset="0"/>
                <a:cs typeface="Arial" panose="020B0604020202020204" pitchFamily="34" charset="0"/>
              </a:rPr>
              <a:t>D</a:t>
            </a:r>
            <a:r>
              <a:rPr lang="es-AR" sz="1800" b="1" baseline="30000" dirty="0">
                <a:latin typeface="Arial" panose="020B0604020202020204" pitchFamily="34" charset="0"/>
                <a:cs typeface="Arial" panose="020B0604020202020204" pitchFamily="34" charset="0"/>
              </a:rPr>
              <a:t>C </a:t>
            </a:r>
            <a:r>
              <a:rPr lang="es-AR" sz="1800" b="1" dirty="0">
                <a:effectLst/>
                <a:latin typeface="Arial" panose="020B0604020202020204" pitchFamily="34" charset="0"/>
                <a:ea typeface="Calibri" panose="020F0502020204030204" pitchFamily="34" charset="0"/>
                <a:cs typeface="Arial" panose="020B0604020202020204" pitchFamily="34" charset="0"/>
              </a:rPr>
              <a:t>∉ RE</a:t>
            </a:r>
            <a:r>
              <a:rPr lang="es-AR" sz="1800" dirty="0">
                <a:effectLst/>
                <a:latin typeface="Arial" panose="020B0604020202020204" pitchFamily="34" charset="0"/>
                <a:ea typeface="Calibri" panose="020F0502020204030204" pitchFamily="34" charset="0"/>
                <a:cs typeface="Arial" panose="020B0604020202020204" pitchFamily="34" charset="0"/>
              </a:rPr>
              <a:t>.</a:t>
            </a:r>
          </a:p>
          <a:p>
            <a:endParaRPr lang="es-AR" sz="900" dirty="0">
              <a:effectLst/>
              <a:latin typeface="Arial" panose="020B0604020202020204" pitchFamily="34" charset="0"/>
              <a:ea typeface="Calibri" panose="020F0502020204030204" pitchFamily="34" charset="0"/>
              <a:cs typeface="Arial" panose="020B0604020202020204" pitchFamily="34" charset="0"/>
            </a:endParaRPr>
          </a:p>
          <a:p>
            <a:r>
              <a:rPr lang="es-AR" dirty="0">
                <a:latin typeface="Arial" panose="020B0604020202020204" pitchFamily="34" charset="0"/>
                <a:ea typeface="Calibri" panose="020F0502020204030204" pitchFamily="34" charset="0"/>
                <a:cs typeface="Arial" panose="020B0604020202020204" pitchFamily="34" charset="0"/>
              </a:rPr>
              <a:t>	Finalmente, conclusión de que </a:t>
            </a:r>
            <a:r>
              <a:rPr lang="es-AR" b="1" dirty="0">
                <a:latin typeface="Arial" panose="020B0604020202020204" pitchFamily="34" charset="0"/>
                <a:ea typeface="Calibri" panose="020F0502020204030204" pitchFamily="34" charset="0"/>
                <a:cs typeface="Arial" panose="020B0604020202020204" pitchFamily="34" charset="0"/>
              </a:rPr>
              <a:t>D</a:t>
            </a:r>
            <a:r>
              <a:rPr lang="es-AR" sz="1800" b="1" dirty="0">
                <a:effectLst/>
                <a:latin typeface="Arial" panose="020B0604020202020204" pitchFamily="34" charset="0"/>
                <a:ea typeface="Calibri" panose="020F0502020204030204" pitchFamily="34" charset="0"/>
                <a:cs typeface="Arial" panose="020B0604020202020204" pitchFamily="34" charset="0"/>
              </a:rPr>
              <a:t> ∉ R </a:t>
            </a:r>
            <a:r>
              <a:rPr lang="es-AR" sz="1800" dirty="0">
                <a:effectLst/>
                <a:latin typeface="Arial" panose="020B0604020202020204" pitchFamily="34" charset="0"/>
                <a:ea typeface="Calibri" panose="020F0502020204030204" pitchFamily="34" charset="0"/>
                <a:cs typeface="Arial" panose="020B0604020202020204" pitchFamily="34" charset="0"/>
              </a:rPr>
              <a:t>(porque si D</a:t>
            </a:r>
            <a:r>
              <a:rPr lang="es-AR" dirty="0">
                <a:latin typeface="Arial" panose="020B0604020202020204" pitchFamily="34" charset="0"/>
                <a:cs typeface="Arial" panose="020B0604020202020204" pitchFamily="34" charset="0"/>
              </a:rPr>
              <a:t> </a:t>
            </a:r>
            <a:r>
              <a:rPr lang="es-AR"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sz="1800" dirty="0">
                <a:effectLst/>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R, entonces también D</a:t>
            </a:r>
            <a:r>
              <a:rPr lang="es-AR" sz="1800" baseline="30000" dirty="0">
                <a:latin typeface="Arial" panose="020B0604020202020204" pitchFamily="34" charset="0"/>
                <a:cs typeface="Arial" panose="020B0604020202020204" pitchFamily="34" charset="0"/>
              </a:rPr>
              <a:t>C </a:t>
            </a:r>
            <a:r>
              <a:rPr lang="es-AR"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sz="1800" dirty="0">
                <a:effectLst/>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R, absurdo porque D</a:t>
            </a:r>
            <a:r>
              <a:rPr lang="es-AR" sz="1800" baseline="30000" dirty="0">
                <a:latin typeface="Arial" panose="020B0604020202020204" pitchFamily="34" charset="0"/>
                <a:cs typeface="Arial" panose="020B0604020202020204" pitchFamily="34" charset="0"/>
              </a:rPr>
              <a:t>C </a:t>
            </a:r>
            <a:r>
              <a:rPr lang="es-AR" sz="1800" dirty="0">
                <a:effectLst/>
                <a:latin typeface="Arial" panose="020B0604020202020204" pitchFamily="34" charset="0"/>
                <a:ea typeface="Calibri" panose="020F0502020204030204" pitchFamily="34" charset="0"/>
                <a:cs typeface="Arial" panose="020B0604020202020204" pitchFamily="34" charset="0"/>
              </a:rPr>
              <a:t>∉ RE).</a:t>
            </a:r>
          </a:p>
        </p:txBody>
      </p:sp>
    </p:spTree>
    <p:extLst>
      <p:ext uri="{BB962C8B-B14F-4D97-AF65-F5344CB8AC3E}">
        <p14:creationId xmlns:p14="http://schemas.microsoft.com/office/powerpoint/2010/main" val="2861576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5540412" y="182396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3" name="Tabla 2">
            <a:extLst>
              <a:ext uri="{FF2B5EF4-FFF2-40B4-BE49-F238E27FC236}">
                <a16:creationId xmlns:a16="http://schemas.microsoft.com/office/drawing/2014/main" id="{B694E4D9-725D-41C5-A31A-09AC0AA47A36}"/>
              </a:ext>
            </a:extLst>
          </p:cNvPr>
          <p:cNvGraphicFramePr>
            <a:graphicFrameLocks noGrp="1"/>
          </p:cNvGraphicFramePr>
          <p:nvPr/>
        </p:nvGraphicFramePr>
        <p:xfrm>
          <a:off x="2340167" y="864054"/>
          <a:ext cx="6945421" cy="2283968"/>
        </p:xfrm>
        <a:graphic>
          <a:graphicData uri="http://schemas.openxmlformats.org/drawingml/2006/table">
            <a:tbl>
              <a:tblPr firstRow="1" firstCol="1" lastRow="1" lastCol="1" bandRow="1" bandCol="1">
                <a:tableStyleId>{5C22544A-7EE6-4342-B048-85BDC9FD1C3A}</a:tableStyleId>
              </a:tblPr>
              <a:tblGrid>
                <a:gridCol w="1062629">
                  <a:extLst>
                    <a:ext uri="{9D8B030D-6E8A-4147-A177-3AD203B41FA5}">
                      <a16:colId xmlns:a16="http://schemas.microsoft.com/office/drawing/2014/main" val="1414776165"/>
                    </a:ext>
                  </a:extLst>
                </a:gridCol>
                <a:gridCol w="979964">
                  <a:extLst>
                    <a:ext uri="{9D8B030D-6E8A-4147-A177-3AD203B41FA5}">
                      <a16:colId xmlns:a16="http://schemas.microsoft.com/office/drawing/2014/main" val="4235091392"/>
                    </a:ext>
                  </a:extLst>
                </a:gridCol>
                <a:gridCol w="979964">
                  <a:extLst>
                    <a:ext uri="{9D8B030D-6E8A-4147-A177-3AD203B41FA5}">
                      <a16:colId xmlns:a16="http://schemas.microsoft.com/office/drawing/2014/main" val="1365436837"/>
                    </a:ext>
                  </a:extLst>
                </a:gridCol>
                <a:gridCol w="979964">
                  <a:extLst>
                    <a:ext uri="{9D8B030D-6E8A-4147-A177-3AD203B41FA5}">
                      <a16:colId xmlns:a16="http://schemas.microsoft.com/office/drawing/2014/main" val="2320782946"/>
                    </a:ext>
                  </a:extLst>
                </a:gridCol>
                <a:gridCol w="981468">
                  <a:extLst>
                    <a:ext uri="{9D8B030D-6E8A-4147-A177-3AD203B41FA5}">
                      <a16:colId xmlns:a16="http://schemas.microsoft.com/office/drawing/2014/main" val="3836629598"/>
                    </a:ext>
                  </a:extLst>
                </a:gridCol>
                <a:gridCol w="979964">
                  <a:extLst>
                    <a:ext uri="{9D8B030D-6E8A-4147-A177-3AD203B41FA5}">
                      <a16:colId xmlns:a16="http://schemas.microsoft.com/office/drawing/2014/main" val="1183423185"/>
                    </a:ext>
                  </a:extLst>
                </a:gridCol>
                <a:gridCol w="981468">
                  <a:extLst>
                    <a:ext uri="{9D8B030D-6E8A-4147-A177-3AD203B41FA5}">
                      <a16:colId xmlns:a16="http://schemas.microsoft.com/office/drawing/2014/main" val="3363770922"/>
                    </a:ext>
                  </a:extLst>
                </a:gridCol>
              </a:tblGrid>
              <a:tr h="0">
                <a:tc>
                  <a:txBody>
                    <a:bodyPr/>
                    <a:lstStyle/>
                    <a:p>
                      <a:pPr algn="ctr">
                        <a:lnSpc>
                          <a:spcPct val="150000"/>
                        </a:lnSpc>
                        <a:spcAft>
                          <a:spcPts val="0"/>
                        </a:spcAft>
                      </a:pPr>
                      <a:r>
                        <a:rPr lang="es-ES" sz="1800" b="1" dirty="0">
                          <a:solidFill>
                            <a:schemeClr val="tx1"/>
                          </a:solidFill>
                          <a:effectLst/>
                          <a:latin typeface="Arial" panose="020B0604020202020204" pitchFamily="34" charset="0"/>
                          <a:cs typeface="Arial" panose="020B0604020202020204" pitchFamily="34" charset="0"/>
                        </a:rPr>
                        <a:t>T </a:t>
                      </a:r>
                      <a:endParaRPr lang="es-MX" sz="18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w</a:t>
                      </a:r>
                      <a:r>
                        <a:rPr lang="es-ES" sz="1600" b="1" baseline="-25000" dirty="0">
                          <a:solidFill>
                            <a:schemeClr val="tx1"/>
                          </a:solidFill>
                          <a:effectLst/>
                          <a:latin typeface="Arial" panose="020B0604020202020204" pitchFamily="34" charset="0"/>
                          <a:cs typeface="Arial" panose="020B0604020202020204" pitchFamily="34" charset="0"/>
                        </a:rPr>
                        <a:t>0</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w</a:t>
                      </a:r>
                      <a:r>
                        <a:rPr lang="es-ES" sz="1600" b="1" baseline="-25000" dirty="0">
                          <a:solidFill>
                            <a:schemeClr val="tx1"/>
                          </a:solidFill>
                          <a:effectLst/>
                          <a:latin typeface="Arial" panose="020B0604020202020204" pitchFamily="34" charset="0"/>
                          <a:cs typeface="Arial" panose="020B0604020202020204" pitchFamily="34" charset="0"/>
                        </a:rPr>
                        <a:t>1</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w</a:t>
                      </a:r>
                      <a:r>
                        <a:rPr lang="es-ES" sz="1600" b="1" baseline="-25000" dirty="0">
                          <a:solidFill>
                            <a:schemeClr val="tx1"/>
                          </a:solidFill>
                          <a:effectLst/>
                          <a:latin typeface="Arial" panose="020B0604020202020204" pitchFamily="34" charset="0"/>
                          <a:cs typeface="Arial" panose="020B0604020202020204" pitchFamily="34" charset="0"/>
                        </a:rPr>
                        <a:t>2</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w</a:t>
                      </a:r>
                      <a:r>
                        <a:rPr lang="es-ES" sz="1600" b="1" baseline="-25000" dirty="0">
                          <a:solidFill>
                            <a:schemeClr val="tx1"/>
                          </a:solidFill>
                          <a:effectLst/>
                          <a:latin typeface="Arial" panose="020B0604020202020204" pitchFamily="34" charset="0"/>
                          <a:cs typeface="Arial" panose="020B0604020202020204" pitchFamily="34" charset="0"/>
                        </a:rPr>
                        <a:t>3</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w</a:t>
                      </a:r>
                      <a:r>
                        <a:rPr lang="es-ES" sz="1600" b="1" baseline="-25000" dirty="0">
                          <a:solidFill>
                            <a:schemeClr val="tx1"/>
                          </a:solidFill>
                          <a:effectLst/>
                          <a:latin typeface="Arial" panose="020B0604020202020204" pitchFamily="34" charset="0"/>
                          <a:cs typeface="Arial" panose="020B0604020202020204" pitchFamily="34" charset="0"/>
                        </a:rPr>
                        <a:t>4</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14324667"/>
                  </a:ext>
                </a:extLst>
              </a:tr>
              <a:tr h="0">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M</a:t>
                      </a:r>
                      <a:r>
                        <a:rPr lang="es-ES" sz="1600" b="1" baseline="-25000" dirty="0">
                          <a:solidFill>
                            <a:schemeClr val="tx1"/>
                          </a:solidFill>
                          <a:effectLst/>
                          <a:latin typeface="Arial" panose="020B0604020202020204" pitchFamily="34" charset="0"/>
                          <a:cs typeface="Arial" panose="020B0604020202020204" pitchFamily="34" charset="0"/>
                        </a:rPr>
                        <a:t>0</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cs typeface="Arial" panose="020B0604020202020204" pitchFamily="34" charset="0"/>
                        </a:rPr>
                        <a:t>1</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Aft>
                          <a:spcPts val="0"/>
                        </a:spcAft>
                      </a:pPr>
                      <a:r>
                        <a:rPr lang="es-ES" sz="1600">
                          <a:solidFill>
                            <a:schemeClr val="tx1"/>
                          </a:solidFill>
                          <a:effectLst/>
                          <a:latin typeface="Arial" panose="020B0604020202020204" pitchFamily="34" charset="0"/>
                          <a:cs typeface="Arial" panose="020B0604020202020204" pitchFamily="34" charset="0"/>
                        </a:rPr>
                        <a:t>0</a:t>
                      </a:r>
                      <a:endParaRPr lang="es-MX" sz="16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a:solidFill>
                            <a:schemeClr val="tx1"/>
                          </a:solidFill>
                          <a:effectLst/>
                          <a:latin typeface="Arial" panose="020B0604020202020204" pitchFamily="34" charset="0"/>
                          <a:cs typeface="Arial" panose="020B0604020202020204" pitchFamily="34" charset="0"/>
                        </a:rPr>
                        <a:t>1</a:t>
                      </a:r>
                      <a:endParaRPr lang="es-MX" sz="16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7930408"/>
                  </a:ext>
                </a:extLst>
              </a:tr>
              <a:tr h="0">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M</a:t>
                      </a:r>
                      <a:r>
                        <a:rPr lang="es-ES" sz="1600" b="1" baseline="-25000" dirty="0">
                          <a:solidFill>
                            <a:schemeClr val="tx1"/>
                          </a:solidFill>
                          <a:effectLst/>
                          <a:latin typeface="Arial" panose="020B0604020202020204" pitchFamily="34" charset="0"/>
                          <a:cs typeface="Arial" panose="020B0604020202020204" pitchFamily="34" charset="0"/>
                        </a:rPr>
                        <a:t>1</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cs typeface="Arial" panose="020B0604020202020204" pitchFamily="34" charset="0"/>
                        </a:rPr>
                        <a:t>0</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0</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a:solidFill>
                            <a:schemeClr val="tx1"/>
                          </a:solidFill>
                          <a:effectLst/>
                          <a:latin typeface="Arial" panose="020B0604020202020204" pitchFamily="34" charset="0"/>
                          <a:cs typeface="Arial" panose="020B0604020202020204" pitchFamily="34" charset="0"/>
                        </a:rPr>
                        <a:t>1</a:t>
                      </a:r>
                      <a:endParaRPr lang="es-MX" sz="16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a:solidFill>
                            <a:schemeClr val="tx1"/>
                          </a:solidFill>
                          <a:effectLst/>
                          <a:latin typeface="Arial" panose="020B0604020202020204" pitchFamily="34" charset="0"/>
                          <a:cs typeface="Arial" panose="020B0604020202020204" pitchFamily="34" charset="0"/>
                        </a:rPr>
                        <a:t>0</a:t>
                      </a:r>
                      <a:endParaRPr lang="es-MX" sz="16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3958407"/>
                  </a:ext>
                </a:extLst>
              </a:tr>
              <a:tr h="0">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M</a:t>
                      </a:r>
                      <a:r>
                        <a:rPr lang="es-ES" sz="1600" b="1" baseline="-25000" dirty="0">
                          <a:solidFill>
                            <a:schemeClr val="tx1"/>
                          </a:solidFill>
                          <a:effectLst/>
                          <a:latin typeface="Arial" panose="020B0604020202020204" pitchFamily="34" charset="0"/>
                          <a:cs typeface="Arial" panose="020B0604020202020204" pitchFamily="34" charset="0"/>
                        </a:rPr>
                        <a:t>2</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0</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a:solidFill>
                            <a:schemeClr val="tx1"/>
                          </a:solidFill>
                          <a:effectLst/>
                          <a:latin typeface="Arial" panose="020B0604020202020204" pitchFamily="34" charset="0"/>
                          <a:cs typeface="Arial" panose="020B0604020202020204" pitchFamily="34" charset="0"/>
                        </a:rPr>
                        <a:t>0</a:t>
                      </a:r>
                      <a:endParaRPr lang="es-MX" sz="160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cs typeface="Arial" panose="020B0604020202020204" pitchFamily="34" charset="0"/>
                        </a:rPr>
                        <a:t>1</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0</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9530167"/>
                  </a:ext>
                </a:extLst>
              </a:tr>
              <a:tr h="0">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M</a:t>
                      </a:r>
                      <a:r>
                        <a:rPr lang="es-ES" sz="1600" b="1" baseline="-25000" dirty="0">
                          <a:solidFill>
                            <a:schemeClr val="tx1"/>
                          </a:solidFill>
                          <a:effectLst/>
                          <a:latin typeface="Arial" panose="020B0604020202020204" pitchFamily="34" charset="0"/>
                          <a:cs typeface="Arial" panose="020B0604020202020204" pitchFamily="34" charset="0"/>
                        </a:rPr>
                        <a:t>3</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0</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cs typeface="Arial" panose="020B0604020202020204" pitchFamily="34" charset="0"/>
                        </a:rPr>
                        <a:t>1</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4230657"/>
                  </a:ext>
                </a:extLst>
              </a:tr>
              <a:tr h="0">
                <a:tc>
                  <a:txBody>
                    <a:bodyPr/>
                    <a:lstStyle/>
                    <a:p>
                      <a:pPr algn="ctr">
                        <a:lnSpc>
                          <a:spcPct val="150000"/>
                        </a:lnSpc>
                        <a:spcAft>
                          <a:spcPts val="0"/>
                        </a:spcAft>
                      </a:pPr>
                      <a:r>
                        <a:rPr lang="es-ES" sz="1600" b="1" dirty="0">
                          <a:solidFill>
                            <a:schemeClr val="tx1"/>
                          </a:solidFill>
                          <a:effectLst/>
                          <a:latin typeface="Arial" panose="020B0604020202020204" pitchFamily="34" charset="0"/>
                          <a:cs typeface="Arial" panose="020B0604020202020204" pitchFamily="34" charset="0"/>
                        </a:rPr>
                        <a:t>M</a:t>
                      </a:r>
                      <a:r>
                        <a:rPr lang="es-ES" sz="1600" b="1" baseline="-25000" dirty="0">
                          <a:solidFill>
                            <a:schemeClr val="tx1"/>
                          </a:solidFill>
                          <a:effectLst/>
                          <a:latin typeface="Arial" panose="020B0604020202020204" pitchFamily="34" charset="0"/>
                          <a:cs typeface="Arial" panose="020B0604020202020204" pitchFamily="34" charset="0"/>
                        </a:rPr>
                        <a:t>4</a:t>
                      </a:r>
                      <a:endParaRPr lang="es-MX" sz="16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0</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1</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cs typeface="Arial" panose="020B0604020202020204" pitchFamily="34" charset="0"/>
                        </a:rPr>
                        <a:t>0</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Aft>
                          <a:spcPts val="0"/>
                        </a:spcAft>
                      </a:pPr>
                      <a:r>
                        <a:rPr lang="es-ES" sz="1600" dirty="0">
                          <a:solidFill>
                            <a:schemeClr val="tx1"/>
                          </a:solidFill>
                          <a:effectLst/>
                          <a:latin typeface="Arial" panose="020B0604020202020204" pitchFamily="34" charset="0"/>
                          <a:cs typeface="Arial" panose="020B0604020202020204" pitchFamily="34" charset="0"/>
                        </a:rPr>
                        <a:t>…..</a:t>
                      </a:r>
                      <a:endParaRPr lang="es-MX" sz="16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5846402"/>
                  </a:ext>
                </a:extLst>
              </a:tr>
              <a:tr h="0">
                <a:tc>
                  <a:txBody>
                    <a:bodyPr/>
                    <a:lstStyle/>
                    <a:p>
                      <a:pPr algn="ctr">
                        <a:lnSpc>
                          <a:spcPct val="150000"/>
                        </a:lnSpc>
                        <a:spcAft>
                          <a:spcPts val="0"/>
                        </a:spcAft>
                      </a:pPr>
                      <a:r>
                        <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50000"/>
                        </a:lnSpc>
                        <a:spcAft>
                          <a:spcPts val="0"/>
                        </a:spcAft>
                      </a:pPr>
                      <a:r>
                        <a:rPr lang="es-ES" sz="1600" b="1" baseline="0" dirty="0">
                          <a:solidFill>
                            <a:schemeClr val="tx1"/>
                          </a:solidFill>
                          <a:effectLst/>
                          <a:latin typeface="Arial" panose="020B0604020202020204" pitchFamily="34" charset="0"/>
                          <a:cs typeface="Arial" panose="020B0604020202020204" pitchFamily="34" charset="0"/>
                        </a:rPr>
                        <a:t>.....</a:t>
                      </a:r>
                      <a:endPar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chemeClr val="tx1"/>
                          </a:solidFill>
                          <a:effectLst/>
                          <a:latin typeface="Arial" panose="020B0604020202020204" pitchFamily="34" charset="0"/>
                          <a:cs typeface="Arial" panose="020B0604020202020204" pitchFamily="34" charset="0"/>
                        </a:rPr>
                        <a:t>…..</a:t>
                      </a:r>
                      <a:endPar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chemeClr val="tx1"/>
                          </a:solidFill>
                          <a:effectLst/>
                          <a:latin typeface="Arial" panose="020B0604020202020204" pitchFamily="34" charset="0"/>
                          <a:cs typeface="Arial" panose="020B0604020202020204" pitchFamily="34" charset="0"/>
                        </a:rPr>
                        <a:t>.....</a:t>
                      </a:r>
                      <a:endPar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chemeClr val="tx1"/>
                          </a:solidFill>
                          <a:effectLst/>
                          <a:latin typeface="Arial" panose="020B0604020202020204" pitchFamily="34" charset="0"/>
                          <a:cs typeface="Arial" panose="020B0604020202020204" pitchFamily="34" charset="0"/>
                        </a:rPr>
                        <a:t>….</a:t>
                      </a:r>
                      <a:endPar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chemeClr val="tx1"/>
                          </a:solidFill>
                          <a:effectLst/>
                          <a:latin typeface="Arial" panose="020B0604020202020204" pitchFamily="34" charset="0"/>
                          <a:cs typeface="Arial" panose="020B0604020202020204" pitchFamily="34" charset="0"/>
                        </a:rPr>
                        <a:t>..…</a:t>
                      </a:r>
                      <a:endParaRPr lang="es-MX" sz="1600" b="1" baseline="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s-ES"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rPr>
                        <a:t>…..</a:t>
                      </a:r>
                      <a:endParaRPr lang="es-MX" sz="1600" b="1" baseline="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295799338"/>
                  </a:ext>
                </a:extLst>
              </a:tr>
            </a:tbl>
          </a:graphicData>
        </a:graphic>
      </p:graphicFrame>
      <p:sp>
        <p:nvSpPr>
          <p:cNvPr id="6" name="Rectángulo 5">
            <a:extLst>
              <a:ext uri="{FF2B5EF4-FFF2-40B4-BE49-F238E27FC236}">
                <a16:creationId xmlns:a16="http://schemas.microsoft.com/office/drawing/2014/main" id="{5BBDCD0E-81EB-4B93-B42C-CD592D0DA956}"/>
              </a:ext>
            </a:extLst>
          </p:cNvPr>
          <p:cNvSpPr/>
          <p:nvPr/>
        </p:nvSpPr>
        <p:spPr>
          <a:xfrm>
            <a:off x="451337" y="3414517"/>
            <a:ext cx="11453618" cy="1354217"/>
          </a:xfrm>
          <a:prstGeom prst="rect">
            <a:avLst/>
          </a:prstGeom>
        </p:spPr>
        <p:txBody>
          <a:bodyPr wrap="square">
            <a:spAutoFit/>
          </a:bodyPr>
          <a:lstStyle/>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La diagonal de T representa el lenguaje </a:t>
            </a:r>
            <a:r>
              <a:rPr lang="es-AR" b="1" dirty="0">
                <a:latin typeface="Arial" panose="020B0604020202020204" pitchFamily="34" charset="0"/>
                <a:cs typeface="Arial" panose="020B0604020202020204" pitchFamily="34" charset="0"/>
              </a:rPr>
              <a:t>D = {</a:t>
            </a:r>
            <a:r>
              <a:rPr lang="es-AR" b="1" dirty="0" err="1">
                <a:latin typeface="Arial" panose="020B0604020202020204" pitchFamily="34" charset="0"/>
                <a:cs typeface="Arial" panose="020B0604020202020204" pitchFamily="34" charset="0"/>
              </a:rPr>
              <a:t>w</a:t>
            </a:r>
            <a:r>
              <a:rPr lang="es-AR" b="1" baseline="-25000" dirty="0" err="1">
                <a:latin typeface="Arial" panose="020B0604020202020204" pitchFamily="34" charset="0"/>
                <a:cs typeface="Arial" panose="020B0604020202020204" pitchFamily="34" charset="0"/>
              </a:rPr>
              <a:t>i</a:t>
            </a:r>
            <a:r>
              <a:rPr lang="es-AR" b="1" baseline="-25000"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 M</a:t>
            </a:r>
            <a:r>
              <a:rPr lang="es-AR" b="1" baseline="-25000" dirty="0">
                <a:latin typeface="Arial" panose="020B0604020202020204" pitchFamily="34" charset="0"/>
                <a:cs typeface="Arial" panose="020B0604020202020204" pitchFamily="34" charset="0"/>
              </a:rPr>
              <a:t>i </a:t>
            </a:r>
            <a:r>
              <a:rPr lang="es-AR" b="1" dirty="0">
                <a:latin typeface="Arial" panose="020B0604020202020204" pitchFamily="34" charset="0"/>
                <a:cs typeface="Arial" panose="020B0604020202020204" pitchFamily="34" charset="0"/>
              </a:rPr>
              <a:t>acepta </a:t>
            </a:r>
            <a:r>
              <a:rPr lang="es-AR" b="1" dirty="0" err="1">
                <a:latin typeface="Arial" panose="020B0604020202020204" pitchFamily="34" charset="0"/>
                <a:cs typeface="Arial" panose="020B0604020202020204" pitchFamily="34" charset="0"/>
              </a:rPr>
              <a:t>w</a:t>
            </a:r>
            <a:r>
              <a:rPr lang="es-AR" b="1" baseline="-25000" dirty="0" err="1">
                <a:latin typeface="Arial" panose="020B0604020202020204" pitchFamily="34" charset="0"/>
                <a:cs typeface="Arial" panose="020B0604020202020204" pitchFamily="34" charset="0"/>
              </a:rPr>
              <a:t>i</a:t>
            </a:r>
            <a:r>
              <a:rPr lang="es-AR" b="1" dirty="0">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pPr>
            <a:endParaRPr lang="es-AR" sz="500" b="1"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t>
            </a:r>
            <a:endParaRPr lang="es-AR" sz="25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La diagonal de T con los 1 y 0 invertidos representa el lenguaje: </a:t>
            </a:r>
            <a:r>
              <a:rPr lang="es-AR" b="1" dirty="0">
                <a:latin typeface="Arial" panose="020B0604020202020204" pitchFamily="34" charset="0"/>
                <a:cs typeface="Arial" panose="020B0604020202020204" pitchFamily="34" charset="0"/>
              </a:rPr>
              <a:t>D</a:t>
            </a:r>
            <a:r>
              <a:rPr lang="es-AR" b="1" baseline="30000" dirty="0">
                <a:latin typeface="Arial" panose="020B0604020202020204" pitchFamily="34" charset="0"/>
                <a:cs typeface="Arial" panose="020B0604020202020204" pitchFamily="34" charset="0"/>
              </a:rPr>
              <a:t>C</a:t>
            </a:r>
            <a:r>
              <a:rPr lang="es-AR" b="1" dirty="0">
                <a:latin typeface="Arial" panose="020B0604020202020204" pitchFamily="34" charset="0"/>
                <a:cs typeface="Arial" panose="020B0604020202020204" pitchFamily="34" charset="0"/>
              </a:rPr>
              <a:t> = {</a:t>
            </a:r>
            <a:r>
              <a:rPr lang="es-AR" b="1" dirty="0" err="1">
                <a:latin typeface="Arial" panose="020B0604020202020204" pitchFamily="34" charset="0"/>
                <a:cs typeface="Arial" panose="020B0604020202020204" pitchFamily="34" charset="0"/>
              </a:rPr>
              <a:t>w</a:t>
            </a:r>
            <a:r>
              <a:rPr lang="es-AR" b="1" baseline="-25000" dirty="0" err="1">
                <a:latin typeface="Arial" panose="020B0604020202020204" pitchFamily="34" charset="0"/>
                <a:cs typeface="Arial" panose="020B0604020202020204" pitchFamily="34" charset="0"/>
              </a:rPr>
              <a:t>i</a:t>
            </a:r>
            <a:r>
              <a:rPr lang="es-AR" b="1" baseline="-25000"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 M</a:t>
            </a:r>
            <a:r>
              <a:rPr lang="es-AR" b="1" baseline="-25000" dirty="0">
                <a:latin typeface="Arial" panose="020B0604020202020204" pitchFamily="34" charset="0"/>
                <a:cs typeface="Arial" panose="020B0604020202020204" pitchFamily="34" charset="0"/>
              </a:rPr>
              <a:t>i </a:t>
            </a:r>
            <a:r>
              <a:rPr lang="es-AR" b="1" dirty="0">
                <a:latin typeface="Arial" panose="020B0604020202020204" pitchFamily="34" charset="0"/>
                <a:cs typeface="Arial" panose="020B0604020202020204" pitchFamily="34" charset="0"/>
              </a:rPr>
              <a:t>rechaza </a:t>
            </a:r>
            <a:r>
              <a:rPr lang="es-AR" b="1" dirty="0" err="1">
                <a:latin typeface="Arial" panose="020B0604020202020204" pitchFamily="34" charset="0"/>
                <a:cs typeface="Arial" panose="020B0604020202020204" pitchFamily="34" charset="0"/>
              </a:rPr>
              <a:t>w</a:t>
            </a:r>
            <a:r>
              <a:rPr lang="es-AR" b="1" baseline="-25000" dirty="0" err="1">
                <a:latin typeface="Arial" panose="020B0604020202020204" pitchFamily="34" charset="0"/>
                <a:cs typeface="Arial" panose="020B0604020202020204" pitchFamily="34" charset="0"/>
              </a:rPr>
              <a:t>i</a:t>
            </a:r>
            <a:r>
              <a:rPr lang="es-AR" b="1" dirty="0">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pPr>
            <a:endParaRPr lang="es-AR" sz="500" b="1"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t>
            </a:r>
            <a:endParaRPr lang="es-AR" dirty="0">
              <a:solidFill>
                <a:srgbClr val="0070C0"/>
              </a:solidFill>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2F58C47E-86EF-49DB-87D2-5EFA2EC09801}"/>
              </a:ext>
            </a:extLst>
          </p:cNvPr>
          <p:cNvSpPr/>
          <p:nvPr/>
        </p:nvSpPr>
        <p:spPr>
          <a:xfrm>
            <a:off x="343687" y="190460"/>
            <a:ext cx="9196493" cy="461665"/>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Detalle de la diagonalización</a:t>
            </a:r>
            <a:endParaRPr lang="es-AR" sz="2400" b="1" dirty="0">
              <a:solidFill>
                <a:srgbClr val="0070C0"/>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22F8E716-59B9-432C-8925-526D27FB9901}"/>
              </a:ext>
            </a:extLst>
          </p:cNvPr>
          <p:cNvSpPr/>
          <p:nvPr/>
        </p:nvSpPr>
        <p:spPr>
          <a:xfrm>
            <a:off x="461417" y="5522543"/>
            <a:ext cx="7938061" cy="923330"/>
          </a:xfrm>
          <a:prstGeom prst="rect">
            <a:avLst/>
          </a:prstGeom>
        </p:spPr>
        <p:txBody>
          <a:bodyPr wrap="square">
            <a:spAutoFit/>
          </a:bodyPr>
          <a:lstStyle/>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Se cumple: 		(1) </a:t>
            </a:r>
            <a:r>
              <a:rPr lang="es-AR" b="1" dirty="0">
                <a:latin typeface="Arial" panose="020B0604020202020204" pitchFamily="34" charset="0"/>
                <a:cs typeface="Arial" panose="020B0604020202020204" pitchFamily="34" charset="0"/>
              </a:rPr>
              <a:t>D está en RE – R </a:t>
            </a:r>
          </a:p>
          <a:p>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   	(2)</a:t>
            </a:r>
            <a:r>
              <a:rPr lang="es-AR" b="1" dirty="0">
                <a:latin typeface="Arial" panose="020B0604020202020204" pitchFamily="34" charset="0"/>
                <a:cs typeface="Arial" panose="020B0604020202020204" pitchFamily="34" charset="0"/>
              </a:rPr>
              <a:t> D</a:t>
            </a:r>
            <a:r>
              <a:rPr lang="es-AR" b="1" baseline="30000" dirty="0">
                <a:latin typeface="Arial" panose="020B0604020202020204" pitchFamily="34" charset="0"/>
                <a:cs typeface="Arial" panose="020B0604020202020204" pitchFamily="34" charset="0"/>
              </a:rPr>
              <a:t>C</a:t>
            </a:r>
            <a:r>
              <a:rPr lang="es-AR" b="1" dirty="0">
                <a:latin typeface="Arial" panose="020B0604020202020204" pitchFamily="34" charset="0"/>
                <a:cs typeface="Arial" panose="020B0604020202020204" pitchFamily="34" charset="0"/>
              </a:rPr>
              <a:t> está en CO-RE – R </a:t>
            </a:r>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endParaRPr lang="es-MX" dirty="0">
              <a:solidFill>
                <a:srgbClr val="FF0000"/>
              </a:solidFill>
            </a:endParaRPr>
          </a:p>
        </p:txBody>
      </p:sp>
      <p:sp>
        <p:nvSpPr>
          <p:cNvPr id="10" name="Rectángulo 9">
            <a:extLst>
              <a:ext uri="{FF2B5EF4-FFF2-40B4-BE49-F238E27FC236}">
                <a16:creationId xmlns:a16="http://schemas.microsoft.com/office/drawing/2014/main" id="{1AC445C1-ACBB-4F8B-B4D1-9357F92213D9}"/>
              </a:ext>
            </a:extLst>
          </p:cNvPr>
          <p:cNvSpPr/>
          <p:nvPr/>
        </p:nvSpPr>
        <p:spPr>
          <a:xfrm>
            <a:off x="9054322" y="5479430"/>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R</a:t>
            </a:r>
            <a:endParaRPr lang="es-MX" dirty="0"/>
          </a:p>
        </p:txBody>
      </p:sp>
      <p:sp>
        <p:nvSpPr>
          <p:cNvPr id="11" name="Rectángulo 10">
            <a:extLst>
              <a:ext uri="{FF2B5EF4-FFF2-40B4-BE49-F238E27FC236}">
                <a16:creationId xmlns:a16="http://schemas.microsoft.com/office/drawing/2014/main" id="{FEDE824E-FA6D-470E-9D99-3A4986AF81DA}"/>
              </a:ext>
            </a:extLst>
          </p:cNvPr>
          <p:cNvSpPr/>
          <p:nvPr/>
        </p:nvSpPr>
        <p:spPr>
          <a:xfrm>
            <a:off x="7700982" y="5479643"/>
            <a:ext cx="50526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RE</a:t>
            </a:r>
            <a:endParaRPr lang="es-MX" dirty="0"/>
          </a:p>
        </p:txBody>
      </p:sp>
      <p:sp>
        <p:nvSpPr>
          <p:cNvPr id="12" name="Rectángulo 11">
            <a:extLst>
              <a:ext uri="{FF2B5EF4-FFF2-40B4-BE49-F238E27FC236}">
                <a16:creationId xmlns:a16="http://schemas.microsoft.com/office/drawing/2014/main" id="{8E95E6A1-F3D1-406C-B0D2-A525ED1F5E58}"/>
              </a:ext>
            </a:extLst>
          </p:cNvPr>
          <p:cNvSpPr/>
          <p:nvPr/>
        </p:nvSpPr>
        <p:spPr>
          <a:xfrm>
            <a:off x="9924031" y="5472184"/>
            <a:ext cx="1011815"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CO-RE</a:t>
            </a:r>
            <a:endParaRPr lang="es-MX" dirty="0"/>
          </a:p>
        </p:txBody>
      </p:sp>
      <p:sp>
        <p:nvSpPr>
          <p:cNvPr id="13" name="Diagrama de flujo: conector 12">
            <a:extLst>
              <a:ext uri="{FF2B5EF4-FFF2-40B4-BE49-F238E27FC236}">
                <a16:creationId xmlns:a16="http://schemas.microsoft.com/office/drawing/2014/main" id="{8525A8AD-CB1A-45DF-9B0B-CC3706949370}"/>
              </a:ext>
            </a:extLst>
          </p:cNvPr>
          <p:cNvSpPr/>
          <p:nvPr/>
        </p:nvSpPr>
        <p:spPr>
          <a:xfrm>
            <a:off x="7485622" y="5336707"/>
            <a:ext cx="2418666" cy="102418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Diagrama de flujo: conector 13">
            <a:extLst>
              <a:ext uri="{FF2B5EF4-FFF2-40B4-BE49-F238E27FC236}">
                <a16:creationId xmlns:a16="http://schemas.microsoft.com/office/drawing/2014/main" id="{05414AF3-ACD1-418D-828C-F0575280D9F4}"/>
              </a:ext>
            </a:extLst>
          </p:cNvPr>
          <p:cNvSpPr/>
          <p:nvPr/>
        </p:nvSpPr>
        <p:spPr>
          <a:xfrm>
            <a:off x="8621946" y="5290587"/>
            <a:ext cx="2289209" cy="105479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64D3BA2D-177A-4502-8F7E-83C23C668E40}"/>
              </a:ext>
            </a:extLst>
          </p:cNvPr>
          <p:cNvSpPr/>
          <p:nvPr/>
        </p:nvSpPr>
        <p:spPr>
          <a:xfrm>
            <a:off x="9891208" y="5984208"/>
            <a:ext cx="431528" cy="338554"/>
          </a:xfrm>
          <a:prstGeom prst="rect">
            <a:avLst/>
          </a:prstGeom>
        </p:spPr>
        <p:txBody>
          <a:bodyPr wrap="none">
            <a:spAutoFit/>
          </a:bodyPr>
          <a:lstStyle/>
          <a:p>
            <a:r>
              <a:rPr lang="es-AR" sz="1600" b="1" dirty="0">
                <a:solidFill>
                  <a:srgbClr val="0070C0"/>
                </a:solidFill>
                <a:latin typeface="Arial" panose="020B0604020202020204" pitchFamily="34" charset="0"/>
                <a:cs typeface="Arial" panose="020B0604020202020204" pitchFamily="34" charset="0"/>
              </a:rPr>
              <a:t>D</a:t>
            </a:r>
            <a:r>
              <a:rPr lang="es-AR" sz="1600" b="1" baseline="30000" dirty="0">
                <a:solidFill>
                  <a:srgbClr val="0070C0"/>
                </a:solidFill>
                <a:latin typeface="Arial" panose="020B0604020202020204" pitchFamily="34" charset="0"/>
                <a:cs typeface="Arial" panose="020B0604020202020204" pitchFamily="34" charset="0"/>
              </a:rPr>
              <a:t>C</a:t>
            </a:r>
            <a:endParaRPr lang="es-MX" sz="1600" b="1" dirty="0">
              <a:solidFill>
                <a:srgbClr val="0070C0"/>
              </a:solidFill>
            </a:endParaRPr>
          </a:p>
        </p:txBody>
      </p:sp>
      <p:sp>
        <p:nvSpPr>
          <p:cNvPr id="17" name="Rectángulo 16">
            <a:extLst>
              <a:ext uri="{FF2B5EF4-FFF2-40B4-BE49-F238E27FC236}">
                <a16:creationId xmlns:a16="http://schemas.microsoft.com/office/drawing/2014/main" id="{28B596CE-0300-47A8-AB6C-9D322EDF15A2}"/>
              </a:ext>
            </a:extLst>
          </p:cNvPr>
          <p:cNvSpPr/>
          <p:nvPr/>
        </p:nvSpPr>
        <p:spPr>
          <a:xfrm>
            <a:off x="8289804" y="5993716"/>
            <a:ext cx="332142" cy="338554"/>
          </a:xfrm>
          <a:prstGeom prst="rect">
            <a:avLst/>
          </a:prstGeom>
        </p:spPr>
        <p:txBody>
          <a:bodyPr wrap="none">
            <a:spAutoFit/>
          </a:bodyPr>
          <a:lstStyle/>
          <a:p>
            <a:r>
              <a:rPr lang="es-AR" sz="1600" b="1" dirty="0">
                <a:solidFill>
                  <a:srgbClr val="0070C0"/>
                </a:solidFill>
                <a:latin typeface="Arial" panose="020B0604020202020204" pitchFamily="34" charset="0"/>
                <a:cs typeface="Arial" panose="020B0604020202020204" pitchFamily="34" charset="0"/>
              </a:rPr>
              <a:t>D</a:t>
            </a:r>
            <a:endParaRPr lang="es-MX" sz="1600" b="1" dirty="0">
              <a:solidFill>
                <a:srgbClr val="0070C0"/>
              </a:solidFill>
            </a:endParaRPr>
          </a:p>
        </p:txBody>
      </p:sp>
      <p:sp>
        <p:nvSpPr>
          <p:cNvPr id="8" name="Slide Number Placeholder 2">
            <a:extLst>
              <a:ext uri="{FF2B5EF4-FFF2-40B4-BE49-F238E27FC236}">
                <a16:creationId xmlns:a16="http://schemas.microsoft.com/office/drawing/2014/main" id="{DFD441BA-938D-CB5F-57EE-4653E1B3F558}"/>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9" name="Elipse 8">
            <a:extLst>
              <a:ext uri="{FF2B5EF4-FFF2-40B4-BE49-F238E27FC236}">
                <a16:creationId xmlns:a16="http://schemas.microsoft.com/office/drawing/2014/main" id="{3C8DB63F-64EA-20FC-676D-D7F1D777C787}"/>
              </a:ext>
            </a:extLst>
          </p:cNvPr>
          <p:cNvSpPr/>
          <p:nvPr/>
        </p:nvSpPr>
        <p:spPr>
          <a:xfrm>
            <a:off x="11410959" y="1754979"/>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Rectángulo 31">
            <a:extLst>
              <a:ext uri="{FF2B5EF4-FFF2-40B4-BE49-F238E27FC236}">
                <a16:creationId xmlns:a16="http://schemas.microsoft.com/office/drawing/2014/main" id="{A2871421-E80E-3092-A826-A57C2521819F}"/>
              </a:ext>
            </a:extLst>
          </p:cNvPr>
          <p:cNvSpPr/>
          <p:nvPr/>
        </p:nvSpPr>
        <p:spPr>
          <a:xfrm>
            <a:off x="8963083" y="4821216"/>
            <a:ext cx="436338" cy="584775"/>
          </a:xfrm>
          <a:prstGeom prst="rect">
            <a:avLst/>
          </a:prstGeom>
        </p:spPr>
        <p:txBody>
          <a:bodyPr wrap="square">
            <a:spAutoFit/>
          </a:bodyPr>
          <a:lstStyle/>
          <a:p>
            <a:r>
              <a:rPr lang="es-ES" sz="3200" dirty="0">
                <a:latin typeface="Arial" panose="020B0604020202020204" pitchFamily="34" charset="0"/>
                <a:ea typeface="Times New Roman" panose="02020603050405020304" pitchFamily="18" charset="0"/>
                <a:cs typeface="Arial" panose="020B0604020202020204" pitchFamily="34" charset="0"/>
              </a:rPr>
              <a:t>𝔏</a:t>
            </a:r>
            <a:endParaRPr lang="es-MX" sz="3200" dirty="0"/>
          </a:p>
        </p:txBody>
      </p:sp>
      <p:sp>
        <p:nvSpPr>
          <p:cNvPr id="38" name="Diagrama de flujo: conector 37">
            <a:extLst>
              <a:ext uri="{FF2B5EF4-FFF2-40B4-BE49-F238E27FC236}">
                <a16:creationId xmlns:a16="http://schemas.microsoft.com/office/drawing/2014/main" id="{C76898AC-0BFE-4A3C-E981-FA84103D6027}"/>
              </a:ext>
            </a:extLst>
          </p:cNvPr>
          <p:cNvSpPr/>
          <p:nvPr/>
        </p:nvSpPr>
        <p:spPr>
          <a:xfrm>
            <a:off x="6959971" y="4890500"/>
            <a:ext cx="4450987" cy="174121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530460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BED12C5-451F-4B14-9C0F-53997B137781}"/>
              </a:ext>
            </a:extLst>
          </p:cNvPr>
          <p:cNvSpPr/>
          <p:nvPr/>
        </p:nvSpPr>
        <p:spPr>
          <a:xfrm>
            <a:off x="246718" y="945314"/>
            <a:ext cx="11362922" cy="646331"/>
          </a:xfrm>
          <a:prstGeom prst="rect">
            <a:avLst/>
          </a:prstGeom>
        </p:spPr>
        <p:txBody>
          <a:bodyPr wrap="square">
            <a:spAutoFit/>
          </a:bodyPr>
          <a:lstStyle/>
          <a:p>
            <a:pPr marL="342900" indent="-342900" algn="just">
              <a:buFont typeface="Arial" panose="020B0604020202020204" pitchFamily="34" charset="0"/>
              <a:buChar char="•"/>
            </a:pPr>
            <a:r>
              <a:rPr lang="es-MX" dirty="0">
                <a:latin typeface="Arial" panose="020B0604020202020204" pitchFamily="34" charset="0"/>
                <a:cs typeface="Arial" panose="020B0604020202020204" pitchFamily="34" charset="0"/>
              </a:rPr>
              <a:t>Una máquina de Turing universal (MT U) es una máquina de Turing capaz de ejecutar otra (noción de </a:t>
            </a:r>
            <a:r>
              <a:rPr lang="es-MX" b="1" dirty="0">
                <a:latin typeface="Arial" panose="020B0604020202020204" pitchFamily="34" charset="0"/>
                <a:cs typeface="Arial" panose="020B0604020202020204" pitchFamily="34" charset="0"/>
              </a:rPr>
              <a:t>programa almacenado</a:t>
            </a:r>
            <a:r>
              <a:rPr lang="es-MX" dirty="0">
                <a:latin typeface="Arial" panose="020B0604020202020204" pitchFamily="34" charset="0"/>
                <a:cs typeface="Arial" panose="020B0604020202020204" pitchFamily="34" charset="0"/>
              </a:rPr>
              <a:t>, Turing 1936). El esquema más general es:</a:t>
            </a:r>
          </a:p>
        </p:txBody>
      </p:sp>
      <p:sp>
        <p:nvSpPr>
          <p:cNvPr id="4" name="Rectángulo 3">
            <a:extLst>
              <a:ext uri="{FF2B5EF4-FFF2-40B4-BE49-F238E27FC236}">
                <a16:creationId xmlns:a16="http://schemas.microsoft.com/office/drawing/2014/main" id="{D55DA5BC-355B-4166-A16F-C433E1A73454}"/>
              </a:ext>
            </a:extLst>
          </p:cNvPr>
          <p:cNvSpPr/>
          <p:nvPr/>
        </p:nvSpPr>
        <p:spPr>
          <a:xfrm>
            <a:off x="1384850" y="3019103"/>
            <a:ext cx="109517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(&lt;M&gt;, w)</a:t>
            </a:r>
            <a:endParaRPr lang="es-MX" dirty="0"/>
          </a:p>
        </p:txBody>
      </p:sp>
      <p:sp>
        <p:nvSpPr>
          <p:cNvPr id="12" name="Rectángulo 11">
            <a:extLst>
              <a:ext uri="{FF2B5EF4-FFF2-40B4-BE49-F238E27FC236}">
                <a16:creationId xmlns:a16="http://schemas.microsoft.com/office/drawing/2014/main" id="{72248AF5-FA9A-4B13-92E4-E46996742B09}"/>
              </a:ext>
            </a:extLst>
          </p:cNvPr>
          <p:cNvSpPr/>
          <p:nvPr/>
        </p:nvSpPr>
        <p:spPr>
          <a:xfrm>
            <a:off x="3459929" y="1958605"/>
            <a:ext cx="806824" cy="400110"/>
          </a:xfrm>
          <a:prstGeom prst="rect">
            <a:avLst/>
          </a:prstGeom>
        </p:spPr>
        <p:txBody>
          <a:bodyPr wrap="none">
            <a:spAutoFit/>
          </a:bodyPr>
          <a:lstStyle/>
          <a:p>
            <a:r>
              <a:rPr lang="es-MX" sz="2000" b="1" dirty="0">
                <a:latin typeface="Arial" panose="020B0604020202020204" pitchFamily="34" charset="0"/>
                <a:cs typeface="Arial" panose="020B0604020202020204" pitchFamily="34" charset="0"/>
              </a:rPr>
              <a:t>MT U</a:t>
            </a:r>
            <a:endParaRPr lang="es-MX" sz="2000" b="1" dirty="0"/>
          </a:p>
        </p:txBody>
      </p:sp>
      <p:sp>
        <p:nvSpPr>
          <p:cNvPr id="13" name="Rectángulo 12">
            <a:extLst>
              <a:ext uri="{FF2B5EF4-FFF2-40B4-BE49-F238E27FC236}">
                <a16:creationId xmlns:a16="http://schemas.microsoft.com/office/drawing/2014/main" id="{20DF8C83-5893-4A23-A54B-2F2E8E556B02}"/>
              </a:ext>
            </a:extLst>
          </p:cNvPr>
          <p:cNvSpPr/>
          <p:nvPr/>
        </p:nvSpPr>
        <p:spPr>
          <a:xfrm>
            <a:off x="8771797" y="2442684"/>
            <a:ext cx="997389"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(&lt;M&gt;, w)</a:t>
            </a:r>
            <a:endParaRPr lang="es-MX" sz="1600" dirty="0"/>
          </a:p>
        </p:txBody>
      </p:sp>
      <p:sp>
        <p:nvSpPr>
          <p:cNvPr id="14" name="Rectángulo 13">
            <a:extLst>
              <a:ext uri="{FF2B5EF4-FFF2-40B4-BE49-F238E27FC236}">
                <a16:creationId xmlns:a16="http://schemas.microsoft.com/office/drawing/2014/main" id="{D308A1CD-89D4-4A46-BCAC-10CAB3F402CE}"/>
              </a:ext>
            </a:extLst>
          </p:cNvPr>
          <p:cNvSpPr/>
          <p:nvPr/>
        </p:nvSpPr>
        <p:spPr>
          <a:xfrm>
            <a:off x="7149975" y="3075007"/>
            <a:ext cx="1903534" cy="369332"/>
          </a:xfrm>
          <a:prstGeom prst="rect">
            <a:avLst/>
          </a:prstGeom>
        </p:spPr>
        <p:txBody>
          <a:bodyPr wrap="none">
            <a:spAutoFit/>
          </a:bodyPr>
          <a:lstStyle/>
          <a:p>
            <a:r>
              <a:rPr lang="es-MX" b="1" dirty="0"/>
              <a:t>cinta de ejecución</a:t>
            </a:r>
          </a:p>
        </p:txBody>
      </p:sp>
      <p:sp>
        <p:nvSpPr>
          <p:cNvPr id="15" name="Rectángulo 14">
            <a:extLst>
              <a:ext uri="{FF2B5EF4-FFF2-40B4-BE49-F238E27FC236}">
                <a16:creationId xmlns:a16="http://schemas.microsoft.com/office/drawing/2014/main" id="{70736EBA-902E-4846-8206-A9E101FBF5BF}"/>
              </a:ext>
            </a:extLst>
          </p:cNvPr>
          <p:cNvSpPr/>
          <p:nvPr/>
        </p:nvSpPr>
        <p:spPr>
          <a:xfrm>
            <a:off x="7140969" y="2081857"/>
            <a:ext cx="2212727" cy="369332"/>
          </a:xfrm>
          <a:prstGeom prst="rect">
            <a:avLst/>
          </a:prstGeom>
        </p:spPr>
        <p:txBody>
          <a:bodyPr wrap="square">
            <a:spAutoFit/>
          </a:bodyPr>
          <a:lstStyle/>
          <a:p>
            <a:r>
              <a:rPr lang="es-MX" b="1" dirty="0"/>
              <a:t>cinta de la entrada</a:t>
            </a:r>
          </a:p>
        </p:txBody>
      </p:sp>
      <p:sp>
        <p:nvSpPr>
          <p:cNvPr id="16" name="Rectángulo 15">
            <a:extLst>
              <a:ext uri="{FF2B5EF4-FFF2-40B4-BE49-F238E27FC236}">
                <a16:creationId xmlns:a16="http://schemas.microsoft.com/office/drawing/2014/main" id="{4497BB15-A369-4350-B485-23343122CD21}"/>
              </a:ext>
            </a:extLst>
          </p:cNvPr>
          <p:cNvSpPr/>
          <p:nvPr/>
        </p:nvSpPr>
        <p:spPr>
          <a:xfrm>
            <a:off x="277035" y="5656939"/>
            <a:ext cx="11430266" cy="646331"/>
          </a:xfrm>
          <a:prstGeom prst="rect">
            <a:avLst/>
          </a:prstGeom>
        </p:spPr>
        <p:txBody>
          <a:bodyPr wrap="square">
            <a:spAutoFit/>
          </a:bodyPr>
          <a:lstStyle/>
          <a:p>
            <a:pPr marL="342900" indent="-342900" algn="just">
              <a:buFont typeface="Arial" panose="020B0604020202020204" pitchFamily="34" charset="0"/>
              <a:buChar char="•"/>
            </a:pPr>
            <a:r>
              <a:rPr lang="es-MX" dirty="0">
                <a:latin typeface="Arial" panose="020B0604020202020204" pitchFamily="34" charset="0"/>
                <a:cs typeface="Arial" panose="020B0604020202020204" pitchFamily="34" charset="0"/>
              </a:rPr>
              <a:t>La MT U recibe como entrada una </a:t>
            </a:r>
            <a:r>
              <a:rPr lang="es-MX" b="1" dirty="0">
                <a:latin typeface="Arial" panose="020B0604020202020204" pitchFamily="34" charset="0"/>
                <a:cs typeface="Arial" panose="020B0604020202020204" pitchFamily="34" charset="0"/>
              </a:rPr>
              <a:t>MT M</a:t>
            </a:r>
            <a:r>
              <a:rPr lang="es-MX" dirty="0">
                <a:latin typeface="Arial" panose="020B0604020202020204" pitchFamily="34" charset="0"/>
                <a:cs typeface="Arial" panose="020B0604020202020204" pitchFamily="34" charset="0"/>
              </a:rPr>
              <a:t> (codificada mediante una cadena &lt;M&gt;) y una </a:t>
            </a:r>
            <a:r>
              <a:rPr lang="es-MX" b="1" dirty="0">
                <a:latin typeface="Arial" panose="020B0604020202020204" pitchFamily="34" charset="0"/>
                <a:cs typeface="Arial" panose="020B0604020202020204" pitchFamily="34" charset="0"/>
              </a:rPr>
              <a:t>cadena w</a:t>
            </a:r>
            <a:r>
              <a:rPr lang="es-MX" dirty="0">
                <a:latin typeface="Arial" panose="020B0604020202020204" pitchFamily="34" charset="0"/>
                <a:cs typeface="Arial" panose="020B0604020202020204" pitchFamily="34" charset="0"/>
              </a:rPr>
              <a:t>, </a:t>
            </a:r>
          </a:p>
          <a:p>
            <a:pPr algn="just"/>
            <a:r>
              <a:rPr lang="es-MX" dirty="0">
                <a:latin typeface="Arial" panose="020B0604020202020204" pitchFamily="34" charset="0"/>
                <a:cs typeface="Arial" panose="020B0604020202020204" pitchFamily="34" charset="0"/>
              </a:rPr>
              <a:t>      y </a:t>
            </a:r>
            <a:r>
              <a:rPr lang="es-MX" b="1" dirty="0">
                <a:latin typeface="Arial" panose="020B0604020202020204" pitchFamily="34" charset="0"/>
                <a:cs typeface="Arial" panose="020B0604020202020204" pitchFamily="34" charset="0"/>
              </a:rPr>
              <a:t>ejecuta M a partir de w</a:t>
            </a:r>
            <a:r>
              <a:rPr lang="es-MX" dirty="0">
                <a:latin typeface="Arial" panose="020B0604020202020204" pitchFamily="34" charset="0"/>
                <a:cs typeface="Arial" panose="020B0604020202020204" pitchFamily="34" charset="0"/>
              </a:rPr>
              <a:t>. Puede tener una o más cintas de ejecución.</a:t>
            </a:r>
          </a:p>
        </p:txBody>
      </p:sp>
      <p:sp>
        <p:nvSpPr>
          <p:cNvPr id="17" name="Rectángulo 16">
            <a:extLst>
              <a:ext uri="{FF2B5EF4-FFF2-40B4-BE49-F238E27FC236}">
                <a16:creationId xmlns:a16="http://schemas.microsoft.com/office/drawing/2014/main" id="{424D9D5F-CE94-4661-B1F9-2334C109B5C0}"/>
              </a:ext>
            </a:extLst>
          </p:cNvPr>
          <p:cNvSpPr/>
          <p:nvPr/>
        </p:nvSpPr>
        <p:spPr>
          <a:xfrm>
            <a:off x="8449019" y="3451539"/>
            <a:ext cx="2467342"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U ejecuta M a partir de w</a:t>
            </a:r>
          </a:p>
        </p:txBody>
      </p:sp>
      <p:sp>
        <p:nvSpPr>
          <p:cNvPr id="21" name="Rectángulo 20">
            <a:extLst>
              <a:ext uri="{FF2B5EF4-FFF2-40B4-BE49-F238E27FC236}">
                <a16:creationId xmlns:a16="http://schemas.microsoft.com/office/drawing/2014/main" id="{06C6E767-4B46-44C9-B4FD-FFCCDDCFF330}"/>
              </a:ext>
            </a:extLst>
          </p:cNvPr>
          <p:cNvSpPr/>
          <p:nvPr/>
        </p:nvSpPr>
        <p:spPr>
          <a:xfrm>
            <a:off x="2854535" y="3019103"/>
            <a:ext cx="351378"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w</a:t>
            </a:r>
            <a:endParaRPr lang="es-MX" dirty="0"/>
          </a:p>
        </p:txBody>
      </p:sp>
      <p:sp>
        <p:nvSpPr>
          <p:cNvPr id="22" name="Rectángulo 21">
            <a:extLst>
              <a:ext uri="{FF2B5EF4-FFF2-40B4-BE49-F238E27FC236}">
                <a16:creationId xmlns:a16="http://schemas.microsoft.com/office/drawing/2014/main" id="{E13B6EBA-C12A-4173-8236-5AB7629A21E6}"/>
              </a:ext>
            </a:extLst>
          </p:cNvPr>
          <p:cNvSpPr/>
          <p:nvPr/>
        </p:nvSpPr>
        <p:spPr>
          <a:xfrm>
            <a:off x="5707606" y="3651626"/>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dirty="0"/>
          </a:p>
        </p:txBody>
      </p:sp>
      <p:sp>
        <p:nvSpPr>
          <p:cNvPr id="23" name="Rectángulo 22">
            <a:extLst>
              <a:ext uri="{FF2B5EF4-FFF2-40B4-BE49-F238E27FC236}">
                <a16:creationId xmlns:a16="http://schemas.microsoft.com/office/drawing/2014/main" id="{B71DB1F6-833D-4206-BB32-8E25EF76EA88}"/>
              </a:ext>
            </a:extLst>
          </p:cNvPr>
          <p:cNvSpPr/>
          <p:nvPr/>
        </p:nvSpPr>
        <p:spPr>
          <a:xfrm>
            <a:off x="3495455" y="2937701"/>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4" name="Conector recto de flecha 23">
            <a:extLst>
              <a:ext uri="{FF2B5EF4-FFF2-40B4-BE49-F238E27FC236}">
                <a16:creationId xmlns:a16="http://schemas.microsoft.com/office/drawing/2014/main" id="{84A2FA8E-A114-4977-8766-4190DAE8799C}"/>
              </a:ext>
            </a:extLst>
          </p:cNvPr>
          <p:cNvCxnSpPr>
            <a:cxnSpLocks/>
          </p:cNvCxnSpPr>
          <p:nvPr/>
        </p:nvCxnSpPr>
        <p:spPr>
          <a:xfrm>
            <a:off x="2634670" y="3357042"/>
            <a:ext cx="82525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26BDAC4D-482C-4AF8-84CE-0FDB14BC6B1A}"/>
              </a:ext>
            </a:extLst>
          </p:cNvPr>
          <p:cNvCxnSpPr>
            <a:cxnSpLocks/>
          </p:cNvCxnSpPr>
          <p:nvPr/>
        </p:nvCxnSpPr>
        <p:spPr>
          <a:xfrm flipV="1">
            <a:off x="4392929" y="2769310"/>
            <a:ext cx="1252027" cy="59868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Diagrama de flujo: proceso 25">
            <a:extLst>
              <a:ext uri="{FF2B5EF4-FFF2-40B4-BE49-F238E27FC236}">
                <a16:creationId xmlns:a16="http://schemas.microsoft.com/office/drawing/2014/main" id="{3446D5F2-77D1-4288-ABD2-EE4AFB53B487}"/>
              </a:ext>
            </a:extLst>
          </p:cNvPr>
          <p:cNvSpPr/>
          <p:nvPr/>
        </p:nvSpPr>
        <p:spPr>
          <a:xfrm>
            <a:off x="2618239" y="2314782"/>
            <a:ext cx="2629421" cy="2347023"/>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54DE3657-70CE-478E-AA2F-9131E84629AA}"/>
              </a:ext>
            </a:extLst>
          </p:cNvPr>
          <p:cNvSpPr/>
          <p:nvPr/>
        </p:nvSpPr>
        <p:spPr>
          <a:xfrm>
            <a:off x="5635159" y="2583172"/>
            <a:ext cx="44114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dirty="0"/>
          </a:p>
        </p:txBody>
      </p:sp>
      <p:cxnSp>
        <p:nvCxnSpPr>
          <p:cNvPr id="31" name="Conector recto 30">
            <a:extLst>
              <a:ext uri="{FF2B5EF4-FFF2-40B4-BE49-F238E27FC236}">
                <a16:creationId xmlns:a16="http://schemas.microsoft.com/office/drawing/2014/main" id="{F57845C3-C976-4F6F-89D1-2FE89767E559}"/>
              </a:ext>
            </a:extLst>
          </p:cNvPr>
          <p:cNvCxnSpPr>
            <a:cxnSpLocks/>
          </p:cNvCxnSpPr>
          <p:nvPr/>
        </p:nvCxnSpPr>
        <p:spPr>
          <a:xfrm>
            <a:off x="3737474" y="3860812"/>
            <a:ext cx="0" cy="3986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16A70DE3-7F95-4AA4-B252-1D4CB34F593A}"/>
              </a:ext>
            </a:extLst>
          </p:cNvPr>
          <p:cNvCxnSpPr>
            <a:cxnSpLocks/>
          </p:cNvCxnSpPr>
          <p:nvPr/>
        </p:nvCxnSpPr>
        <p:spPr>
          <a:xfrm flipV="1">
            <a:off x="3737474" y="4259416"/>
            <a:ext cx="349168"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FFA3FC85-05A6-4BFF-8120-4013AA51F9A4}"/>
              </a:ext>
            </a:extLst>
          </p:cNvPr>
          <p:cNvCxnSpPr>
            <a:cxnSpLocks/>
          </p:cNvCxnSpPr>
          <p:nvPr/>
        </p:nvCxnSpPr>
        <p:spPr>
          <a:xfrm flipV="1">
            <a:off x="4086642" y="3860812"/>
            <a:ext cx="0" cy="3986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ángulo 38">
            <a:extLst>
              <a:ext uri="{FF2B5EF4-FFF2-40B4-BE49-F238E27FC236}">
                <a16:creationId xmlns:a16="http://schemas.microsoft.com/office/drawing/2014/main" id="{4B6AD5BC-2249-41DD-B3D7-1710071648E3}"/>
              </a:ext>
            </a:extLst>
          </p:cNvPr>
          <p:cNvSpPr/>
          <p:nvPr/>
        </p:nvSpPr>
        <p:spPr>
          <a:xfrm>
            <a:off x="3719087" y="2605587"/>
            <a:ext cx="441146" cy="369332"/>
          </a:xfrm>
          <a:prstGeom prst="rect">
            <a:avLst/>
          </a:prstGeom>
        </p:spPr>
        <p:txBody>
          <a:bodyPr wrap="non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 </a:t>
            </a:r>
            <a:endParaRPr lang="es-MX" dirty="0"/>
          </a:p>
        </p:txBody>
      </p:sp>
      <p:cxnSp>
        <p:nvCxnSpPr>
          <p:cNvPr id="40" name="Conector recto de flecha 39">
            <a:extLst>
              <a:ext uri="{FF2B5EF4-FFF2-40B4-BE49-F238E27FC236}">
                <a16:creationId xmlns:a16="http://schemas.microsoft.com/office/drawing/2014/main" id="{630DA4DD-F9DE-4100-946E-487D38BD70F6}"/>
              </a:ext>
            </a:extLst>
          </p:cNvPr>
          <p:cNvCxnSpPr>
            <a:cxnSpLocks/>
            <a:stCxn id="23" idx="3"/>
          </p:cNvCxnSpPr>
          <p:nvPr/>
        </p:nvCxnSpPr>
        <p:spPr>
          <a:xfrm>
            <a:off x="4409855" y="3394901"/>
            <a:ext cx="1326600" cy="491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AF8A9260-BBD2-454C-ADCC-074FB5430FA4}"/>
              </a:ext>
            </a:extLst>
          </p:cNvPr>
          <p:cNvCxnSpPr>
            <a:cxnSpLocks/>
          </p:cNvCxnSpPr>
          <p:nvPr/>
        </p:nvCxnSpPr>
        <p:spPr>
          <a:xfrm rot="60000" flipV="1">
            <a:off x="1275639" y="3346091"/>
            <a:ext cx="1342600" cy="219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A72DDF06-C9C7-4CFB-ABFA-7D1273A1B7E0}"/>
              </a:ext>
            </a:extLst>
          </p:cNvPr>
          <p:cNvCxnSpPr>
            <a:cxnSpLocks/>
          </p:cNvCxnSpPr>
          <p:nvPr/>
        </p:nvCxnSpPr>
        <p:spPr>
          <a:xfrm>
            <a:off x="3737474" y="4661805"/>
            <a:ext cx="0" cy="3986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B2AC69B8-324D-44D1-B281-AA0BCD273246}"/>
              </a:ext>
            </a:extLst>
          </p:cNvPr>
          <p:cNvCxnSpPr>
            <a:cxnSpLocks/>
          </p:cNvCxnSpPr>
          <p:nvPr/>
        </p:nvCxnSpPr>
        <p:spPr>
          <a:xfrm flipV="1">
            <a:off x="3737474" y="5060409"/>
            <a:ext cx="349168"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1B749B88-C49C-4853-A8F3-3B11E4E00D5F}"/>
              </a:ext>
            </a:extLst>
          </p:cNvPr>
          <p:cNvCxnSpPr>
            <a:cxnSpLocks/>
          </p:cNvCxnSpPr>
          <p:nvPr/>
        </p:nvCxnSpPr>
        <p:spPr>
          <a:xfrm flipV="1">
            <a:off x="4086642" y="4661805"/>
            <a:ext cx="0" cy="3986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D8F3775F-D13C-496A-B7CA-5E42FF42D3EE}"/>
              </a:ext>
            </a:extLst>
          </p:cNvPr>
          <p:cNvCxnSpPr>
            <a:cxnSpLocks/>
          </p:cNvCxnSpPr>
          <p:nvPr/>
        </p:nvCxnSpPr>
        <p:spPr>
          <a:xfrm>
            <a:off x="3912058" y="4259416"/>
            <a:ext cx="0" cy="40238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Conector recto 79">
            <a:extLst>
              <a:ext uri="{FF2B5EF4-FFF2-40B4-BE49-F238E27FC236}">
                <a16:creationId xmlns:a16="http://schemas.microsoft.com/office/drawing/2014/main" id="{CCB8FE08-39EF-4D8B-88F2-DC2670668555}"/>
              </a:ext>
            </a:extLst>
          </p:cNvPr>
          <p:cNvCxnSpPr>
            <a:cxnSpLocks/>
          </p:cNvCxnSpPr>
          <p:nvPr/>
        </p:nvCxnSpPr>
        <p:spPr>
          <a:xfrm>
            <a:off x="7981784" y="2419055"/>
            <a:ext cx="2934577" cy="155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E0D4E57E-DECF-458D-BAC0-E97428C872E4}"/>
              </a:ext>
            </a:extLst>
          </p:cNvPr>
          <p:cNvCxnSpPr>
            <a:cxnSpLocks/>
          </p:cNvCxnSpPr>
          <p:nvPr/>
        </p:nvCxnSpPr>
        <p:spPr>
          <a:xfrm>
            <a:off x="7981784" y="2800790"/>
            <a:ext cx="2934577" cy="152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Conector recto 81">
            <a:extLst>
              <a:ext uri="{FF2B5EF4-FFF2-40B4-BE49-F238E27FC236}">
                <a16:creationId xmlns:a16="http://schemas.microsoft.com/office/drawing/2014/main" id="{06622EEC-CBEC-4F62-93CE-2CF96D0D2D7F}"/>
              </a:ext>
            </a:extLst>
          </p:cNvPr>
          <p:cNvCxnSpPr>
            <a:cxnSpLocks/>
          </p:cNvCxnSpPr>
          <p:nvPr/>
        </p:nvCxnSpPr>
        <p:spPr>
          <a:xfrm>
            <a:off x="7981784" y="3408400"/>
            <a:ext cx="2934577" cy="185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ector recto 82">
            <a:extLst>
              <a:ext uri="{FF2B5EF4-FFF2-40B4-BE49-F238E27FC236}">
                <a16:creationId xmlns:a16="http://schemas.microsoft.com/office/drawing/2014/main" id="{7E3B40BA-7053-4BD5-A41F-58DD6BB3AD46}"/>
              </a:ext>
            </a:extLst>
          </p:cNvPr>
          <p:cNvCxnSpPr>
            <a:cxnSpLocks/>
          </p:cNvCxnSpPr>
          <p:nvPr/>
        </p:nvCxnSpPr>
        <p:spPr>
          <a:xfrm>
            <a:off x="8035779" y="3807452"/>
            <a:ext cx="2934577" cy="158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tángulo 83">
            <a:extLst>
              <a:ext uri="{FF2B5EF4-FFF2-40B4-BE49-F238E27FC236}">
                <a16:creationId xmlns:a16="http://schemas.microsoft.com/office/drawing/2014/main" id="{6A0E8C5C-48A9-4C40-90AD-B66307ABBF97}"/>
              </a:ext>
            </a:extLst>
          </p:cNvPr>
          <p:cNvSpPr/>
          <p:nvPr/>
        </p:nvSpPr>
        <p:spPr>
          <a:xfrm>
            <a:off x="9309483" y="4544190"/>
            <a:ext cx="345983"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5" name="Conector recto de flecha 84">
            <a:extLst>
              <a:ext uri="{FF2B5EF4-FFF2-40B4-BE49-F238E27FC236}">
                <a16:creationId xmlns:a16="http://schemas.microsoft.com/office/drawing/2014/main" id="{98567223-36C1-4027-9B28-5D4C8B9499B1}"/>
              </a:ext>
            </a:extLst>
          </p:cNvPr>
          <p:cNvCxnSpPr>
            <a:cxnSpLocks/>
            <a:stCxn id="84" idx="0"/>
          </p:cNvCxnSpPr>
          <p:nvPr/>
        </p:nvCxnSpPr>
        <p:spPr>
          <a:xfrm flipH="1" flipV="1">
            <a:off x="9383073" y="2888761"/>
            <a:ext cx="99402" cy="16554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onector recto de flecha 85">
            <a:extLst>
              <a:ext uri="{FF2B5EF4-FFF2-40B4-BE49-F238E27FC236}">
                <a16:creationId xmlns:a16="http://schemas.microsoft.com/office/drawing/2014/main" id="{4D2B4870-B0B5-4979-9294-BC063FEFE222}"/>
              </a:ext>
            </a:extLst>
          </p:cNvPr>
          <p:cNvCxnSpPr>
            <a:cxnSpLocks/>
            <a:stCxn id="84" idx="0"/>
          </p:cNvCxnSpPr>
          <p:nvPr/>
        </p:nvCxnSpPr>
        <p:spPr>
          <a:xfrm flipH="1" flipV="1">
            <a:off x="8691937" y="3868875"/>
            <a:ext cx="790538" cy="675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Slide Number Placeholder 2">
            <a:extLst>
              <a:ext uri="{FF2B5EF4-FFF2-40B4-BE49-F238E27FC236}">
                <a16:creationId xmlns:a16="http://schemas.microsoft.com/office/drawing/2014/main" id="{F0799233-F60F-4018-A283-23A3EED96179}"/>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C60C81F2-33E4-99AC-F8CB-A1CF07E2A600}"/>
              </a:ext>
            </a:extLst>
          </p:cNvPr>
          <p:cNvSpPr/>
          <p:nvPr/>
        </p:nvSpPr>
        <p:spPr>
          <a:xfrm>
            <a:off x="226290" y="201897"/>
            <a:ext cx="11739419"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Máquina de Turing universal</a:t>
            </a:r>
          </a:p>
        </p:txBody>
      </p:sp>
    </p:spTree>
    <p:extLst>
      <p:ext uri="{BB962C8B-B14F-4D97-AF65-F5344CB8AC3E}">
        <p14:creationId xmlns:p14="http://schemas.microsoft.com/office/powerpoint/2010/main" val="478025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5510595" y="2179626"/>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DEABDDF1-C07D-4522-BE75-28498FED8797}"/>
              </a:ext>
            </a:extLst>
          </p:cNvPr>
          <p:cNvSpPr/>
          <p:nvPr/>
        </p:nvSpPr>
        <p:spPr>
          <a:xfrm>
            <a:off x="289582" y="1008095"/>
            <a:ext cx="11343844" cy="5324535"/>
          </a:xfrm>
          <a:prstGeom prst="rect">
            <a:avLst/>
          </a:prstGeom>
        </p:spPr>
        <p:txBody>
          <a:bodyPr wrap="square">
            <a:spAutoFit/>
          </a:bodyPr>
          <a:lstStyle/>
          <a:p>
            <a:pPr marL="285750" lvl="0"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Codificación con números en binario. Para enumerar las cadenas utilizamos </a:t>
            </a:r>
            <a:r>
              <a:rPr lang="es-AR" b="1" dirty="0">
                <a:latin typeface="Arial" panose="020B0604020202020204" pitchFamily="34" charset="0"/>
                <a:cs typeface="Arial" panose="020B0604020202020204" pitchFamily="34" charset="0"/>
              </a:rPr>
              <a:t>el orden canónico:</a:t>
            </a:r>
          </a:p>
          <a:p>
            <a:pPr lvl="0" algn="just"/>
            <a:endParaRPr lang="es-AR" b="1"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1) De menor a mayor longitud.</a:t>
            </a:r>
          </a:p>
          <a:p>
            <a:pPr lvl="0" algn="just"/>
            <a:endParaRPr lang="es-AR" sz="900"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2) Con longitudes iguales desempata el orden alfanumérico (números y símbolos especiales). </a:t>
            </a:r>
          </a:p>
          <a:p>
            <a:pPr lvl="0" algn="just"/>
            <a:endParaRPr lang="es-AR" sz="2000" dirty="0">
              <a:latin typeface="Arial" panose="020B0604020202020204" pitchFamily="34" charset="0"/>
              <a:cs typeface="Arial" panose="020B0604020202020204" pitchFamily="34" charset="0"/>
            </a:endParaRPr>
          </a:p>
          <a:p>
            <a:pPr lvl="0"/>
            <a:endParaRPr lang="es-AR" sz="2000" dirty="0">
              <a:latin typeface="Arial" panose="020B0604020202020204" pitchFamily="34" charset="0"/>
              <a:cs typeface="Arial" panose="020B0604020202020204" pitchFamily="34" charset="0"/>
            </a:endParaRPr>
          </a:p>
          <a:p>
            <a:pPr lvl="0"/>
            <a:endParaRPr lang="es-AR" sz="20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La siguiente MT M obtiene la MT M</a:t>
            </a:r>
            <a:r>
              <a:rPr lang="es-AR" baseline="-25000" dirty="0">
                <a:latin typeface="Arial" panose="020B0604020202020204" pitchFamily="34" charset="0"/>
                <a:cs typeface="Arial" panose="020B0604020202020204" pitchFamily="34" charset="0"/>
              </a:rPr>
              <a:t>i </a:t>
            </a:r>
            <a:r>
              <a:rPr lang="es-AR" dirty="0">
                <a:latin typeface="Arial" panose="020B0604020202020204" pitchFamily="34" charset="0"/>
                <a:cs typeface="Arial" panose="020B0604020202020204" pitchFamily="34" charset="0"/>
              </a:rPr>
              <a:t>según el orden canónico. Dada una entrada i, M hace:</a:t>
            </a:r>
          </a:p>
          <a:p>
            <a:pPr marL="285750" indent="-285750" algn="just">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914400" lvl="1" indent="-457200" algn="just">
              <a:buFont typeface="+mj-lt"/>
              <a:buAutoNum type="arabicPeriod"/>
            </a:pPr>
            <a:r>
              <a:rPr lang="es-AR" dirty="0">
                <a:latin typeface="Arial" panose="020B0604020202020204" pitchFamily="34" charset="0"/>
                <a:cs typeface="Arial" panose="020B0604020202020204" pitchFamily="34" charset="0"/>
              </a:rPr>
              <a:t>Hace n := 0.</a:t>
            </a:r>
          </a:p>
          <a:p>
            <a:pPr marL="914400" lvl="1" indent="-457200" algn="just">
              <a:buFont typeface="+mj-lt"/>
              <a:buAutoNum type="arabicPeriod"/>
            </a:pPr>
            <a:endParaRPr lang="es-MX" sz="700" dirty="0">
              <a:latin typeface="Arial" panose="020B0604020202020204" pitchFamily="34" charset="0"/>
              <a:cs typeface="Arial" panose="020B0604020202020204" pitchFamily="34" charset="0"/>
            </a:endParaRPr>
          </a:p>
          <a:p>
            <a:pPr marL="914400" lvl="1" indent="-457200" algn="just">
              <a:buFont typeface="+mj-lt"/>
              <a:buAutoNum type="arabicPeriod"/>
            </a:pPr>
            <a:r>
              <a:rPr lang="es-AR" dirty="0">
                <a:latin typeface="Arial" panose="020B0604020202020204" pitchFamily="34" charset="0"/>
                <a:cs typeface="Arial" panose="020B0604020202020204" pitchFamily="34" charset="0"/>
              </a:rPr>
              <a:t>Genera la siguiente cadena v según el orden canónico.</a:t>
            </a:r>
          </a:p>
          <a:p>
            <a:pPr marL="914400" lvl="1" indent="-457200" algn="just">
              <a:buFont typeface="+mj-lt"/>
              <a:buAutoNum type="arabicPeriod"/>
            </a:pPr>
            <a:endParaRPr lang="es-MX" sz="700" dirty="0">
              <a:latin typeface="Arial" panose="020B0604020202020204" pitchFamily="34" charset="0"/>
              <a:cs typeface="Arial" panose="020B0604020202020204" pitchFamily="34" charset="0"/>
            </a:endParaRPr>
          </a:p>
          <a:p>
            <a:pPr marL="914400" lvl="1" indent="-457200" algn="just">
              <a:buFont typeface="+mj-lt"/>
              <a:buAutoNum type="arabicPeriod"/>
            </a:pPr>
            <a:r>
              <a:rPr lang="es-AR" dirty="0">
                <a:latin typeface="Arial" panose="020B0604020202020204" pitchFamily="34" charset="0"/>
                <a:cs typeface="Arial" panose="020B0604020202020204" pitchFamily="34" charset="0"/>
              </a:rPr>
              <a:t>Si v no es el código de una MT vuelve al paso 2.</a:t>
            </a:r>
          </a:p>
          <a:p>
            <a:pPr marL="914400" lvl="1" indent="-457200" algn="just">
              <a:buFont typeface="+mj-lt"/>
              <a:buAutoNum type="arabicPeriod"/>
            </a:pPr>
            <a:endParaRPr lang="es-MX" sz="700" dirty="0">
              <a:latin typeface="Arial" panose="020B0604020202020204" pitchFamily="34" charset="0"/>
              <a:cs typeface="Arial" panose="020B0604020202020204" pitchFamily="34" charset="0"/>
            </a:endParaRPr>
          </a:p>
          <a:p>
            <a:pPr marL="914400" lvl="1" indent="-457200" algn="just">
              <a:buFont typeface="+mj-lt"/>
              <a:buAutoNum type="arabicPeriod"/>
            </a:pPr>
            <a:r>
              <a:rPr lang="es-AR" dirty="0">
                <a:latin typeface="Arial" panose="020B0604020202020204" pitchFamily="34" charset="0"/>
                <a:cs typeface="Arial" panose="020B0604020202020204" pitchFamily="34" charset="0"/>
              </a:rPr>
              <a:t>Si n = i, devuelve v</a:t>
            </a:r>
            <a:r>
              <a:rPr lang="es-AR" b="1" dirty="0">
                <a:latin typeface="Arial" panose="020B0604020202020204" pitchFamily="34" charset="0"/>
                <a:cs typeface="Arial" panose="020B0604020202020204" pitchFamily="34" charset="0"/>
              </a:rPr>
              <a:t> (v es el código de la MT M</a:t>
            </a:r>
            <a:r>
              <a:rPr lang="es-AR" b="1" baseline="-25000" dirty="0">
                <a:latin typeface="Arial" panose="020B0604020202020204" pitchFamily="34" charset="0"/>
                <a:cs typeface="Arial" panose="020B0604020202020204" pitchFamily="34" charset="0"/>
              </a:rPr>
              <a:t>i</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y para.</a:t>
            </a:r>
          </a:p>
          <a:p>
            <a:pPr marL="914400" lvl="1" indent="-457200" algn="just">
              <a:buFont typeface="+mj-lt"/>
              <a:buAutoNum type="arabicPeriod"/>
            </a:pPr>
            <a:endParaRPr lang="es-AR" sz="700" dirty="0">
              <a:latin typeface="Arial" panose="020B0604020202020204" pitchFamily="34" charset="0"/>
              <a:cs typeface="Arial" panose="020B0604020202020204" pitchFamily="34" charset="0"/>
            </a:endParaRPr>
          </a:p>
          <a:p>
            <a:pPr lvl="1" algn="just"/>
            <a:r>
              <a:rPr lang="es-AR" dirty="0">
                <a:latin typeface="Arial" panose="020B0604020202020204" pitchFamily="34" charset="0"/>
                <a:cs typeface="Arial" panose="020B0604020202020204" pitchFamily="34" charset="0"/>
              </a:rPr>
              <a:t>       Si n </a:t>
            </a:r>
            <a:r>
              <a:rPr lang="es-AR" sz="1800" dirty="0">
                <a:effectLst/>
                <a:latin typeface="Arial" panose="020B0604020202020204" pitchFamily="34" charset="0"/>
                <a:ea typeface="Calibri" panose="020F0502020204030204" pitchFamily="34" charset="0"/>
              </a:rPr>
              <a:t>≠</a:t>
            </a:r>
            <a:r>
              <a:rPr lang="es-AR" dirty="0">
                <a:latin typeface="Arial" panose="020B0604020202020204" pitchFamily="34" charset="0"/>
                <a:cs typeface="Arial" panose="020B0604020202020204" pitchFamily="34" charset="0"/>
              </a:rPr>
              <a:t> i, hace n := n + 1 y vuelve al paso 2.</a:t>
            </a:r>
          </a:p>
          <a:p>
            <a:pPr lvl="0" algn="just">
              <a:lnSpc>
                <a:spcPct val="150000"/>
              </a:lnSpc>
            </a:pPr>
            <a:endParaRPr lang="es-AR" dirty="0">
              <a:latin typeface="Arial" panose="020B0604020202020204" pitchFamily="34" charset="0"/>
              <a:cs typeface="Arial" panose="020B0604020202020204" pitchFamily="34" charset="0"/>
            </a:endParaRPr>
          </a:p>
          <a:p>
            <a:pPr marL="360000" lvl="0" algn="just"/>
            <a:r>
              <a:rPr lang="es-AR" dirty="0">
                <a:latin typeface="Arial" panose="020B0604020202020204" pitchFamily="34" charset="0"/>
                <a:cs typeface="Arial" panose="020B0604020202020204" pitchFamily="34" charset="0"/>
              </a:rPr>
              <a:t>Validar que v es el código de una MT implica un chequeo sintáctico.</a:t>
            </a:r>
          </a:p>
        </p:txBody>
      </p:sp>
      <p:sp>
        <p:nvSpPr>
          <p:cNvPr id="5" name="Slide Number Placeholder 2">
            <a:extLst>
              <a:ext uri="{FF2B5EF4-FFF2-40B4-BE49-F238E27FC236}">
                <a16:creationId xmlns:a16="http://schemas.microsoft.com/office/drawing/2014/main" id="{E2677ED7-791E-434B-9495-0ABF16C1F05F}"/>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19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71BADB43-AB6C-63EF-27BC-C0E2F4075FB3}"/>
              </a:ext>
            </a:extLst>
          </p:cNvPr>
          <p:cNvSpPr/>
          <p:nvPr/>
        </p:nvSpPr>
        <p:spPr>
          <a:xfrm>
            <a:off x="229974" y="225326"/>
            <a:ext cx="1179079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Codificación y enumeración de las máquinas de Turing</a:t>
            </a:r>
          </a:p>
        </p:txBody>
      </p:sp>
    </p:spTree>
    <p:extLst>
      <p:ext uri="{BB962C8B-B14F-4D97-AF65-F5344CB8AC3E}">
        <p14:creationId xmlns:p14="http://schemas.microsoft.com/office/powerpoint/2010/main" val="961521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BE663076-61C3-401B-B6E3-1DDB4688C8D6}"/>
              </a:ext>
            </a:extLst>
          </p:cNvPr>
          <p:cNvSpPr/>
          <p:nvPr/>
        </p:nvSpPr>
        <p:spPr>
          <a:xfrm>
            <a:off x="3319037" y="4239042"/>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DEABDDF1-C07D-4522-BE75-28498FED8797}"/>
              </a:ext>
            </a:extLst>
          </p:cNvPr>
          <p:cNvSpPr/>
          <p:nvPr/>
        </p:nvSpPr>
        <p:spPr>
          <a:xfrm>
            <a:off x="388205" y="1109545"/>
            <a:ext cx="11839072" cy="5509200"/>
          </a:xfrm>
          <a:prstGeom prst="rect">
            <a:avLst/>
          </a:prstGeom>
        </p:spPr>
        <p:txBody>
          <a:bodyPr wrap="square">
            <a:spAutoFit/>
          </a:bodyPr>
          <a:lstStyle/>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Dada una MT M y una cadena w, ¿M para a partir de w?</a:t>
            </a:r>
          </a:p>
          <a:p>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El lenguaje que representa el problema es </a:t>
            </a:r>
            <a:r>
              <a:rPr lang="es-AR" b="1" dirty="0">
                <a:latin typeface="Arial" panose="020B0604020202020204" pitchFamily="34" charset="0"/>
                <a:cs typeface="Arial" panose="020B0604020202020204" pitchFamily="34" charset="0"/>
              </a:rPr>
              <a:t>HP = {(&lt;M&gt;, w) | M para a partir de w}.</a:t>
            </a:r>
          </a:p>
          <a:p>
            <a:pPr marL="285750" indent="-285750">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HP pertenece al conjunto </a:t>
            </a:r>
            <a:r>
              <a:rPr lang="es-AR" b="1" dirty="0">
                <a:solidFill>
                  <a:srgbClr val="0070C0"/>
                </a:solidFill>
                <a:latin typeface="Arial" panose="020B0604020202020204" pitchFamily="34" charset="0"/>
                <a:cs typeface="Arial" panose="020B0604020202020204" pitchFamily="34" charset="0"/>
              </a:rPr>
              <a:t>RE – R</a:t>
            </a:r>
            <a:r>
              <a:rPr lang="es-AR" dirty="0">
                <a:latin typeface="Arial" panose="020B0604020202020204" pitchFamily="34" charset="0"/>
                <a:cs typeface="Arial" panose="020B0604020202020204" pitchFamily="34" charset="0"/>
              </a:rPr>
              <a:t>. Probado por Turing en 1936 (por diagonalización).</a:t>
            </a: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lvl="0"/>
            <a:endParaRPr lang="es-AR" sz="2500" dirty="0">
              <a:latin typeface="Arial" panose="020B0604020202020204" pitchFamily="34" charset="0"/>
              <a:cs typeface="Arial" panose="020B0604020202020204" pitchFamily="34" charset="0"/>
            </a:endParaRPr>
          </a:p>
          <a:p>
            <a:endParaRPr lang="es-AR" sz="2500" dirty="0">
              <a:solidFill>
                <a:srgbClr val="0070C0"/>
              </a:solidFill>
              <a:latin typeface="Arial" panose="020B0604020202020204" pitchFamily="34" charset="0"/>
              <a:cs typeface="Arial" panose="020B0604020202020204" pitchFamily="34" charset="0"/>
            </a:endParaRPr>
          </a:p>
          <a:p>
            <a:endParaRPr lang="es-AR" sz="2500" dirty="0">
              <a:solidFill>
                <a:srgbClr val="0070C0"/>
              </a:solidFill>
              <a:latin typeface="Arial" panose="020B0604020202020204" pitchFamily="34" charset="0"/>
              <a:cs typeface="Arial" panose="020B0604020202020204" pitchFamily="34" charset="0"/>
            </a:endParaRPr>
          </a:p>
          <a:p>
            <a:endParaRPr lang="es-AR" sz="2500" dirty="0">
              <a:solidFill>
                <a:srgbClr val="0070C0"/>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14046F03-F105-0A9B-80E6-3AE6B12EEB81}"/>
              </a:ext>
            </a:extLst>
          </p:cNvPr>
          <p:cNvSpPr/>
          <p:nvPr/>
        </p:nvSpPr>
        <p:spPr>
          <a:xfrm>
            <a:off x="5757618" y="3717191"/>
            <a:ext cx="466794" cy="646331"/>
          </a:xfrm>
          <a:prstGeom prst="rect">
            <a:avLst/>
          </a:prstGeom>
        </p:spPr>
        <p:txBody>
          <a:bodyPr wrap="none">
            <a:spAutoFit/>
          </a:bodyPr>
          <a:lstStyle/>
          <a:p>
            <a:r>
              <a:rPr lang="es-ES" sz="3600" dirty="0">
                <a:latin typeface="Arial" panose="020B0604020202020204" pitchFamily="34" charset="0"/>
                <a:ea typeface="Times New Roman" panose="02020603050405020304" pitchFamily="18" charset="0"/>
                <a:cs typeface="Arial" panose="020B0604020202020204" pitchFamily="34" charset="0"/>
              </a:rPr>
              <a:t>𝔏</a:t>
            </a:r>
            <a:endParaRPr lang="es-MX" sz="3600" dirty="0"/>
          </a:p>
        </p:txBody>
      </p:sp>
      <p:sp>
        <p:nvSpPr>
          <p:cNvPr id="19" name="Diagrama de flujo: conector 18">
            <a:extLst>
              <a:ext uri="{FF2B5EF4-FFF2-40B4-BE49-F238E27FC236}">
                <a16:creationId xmlns:a16="http://schemas.microsoft.com/office/drawing/2014/main" id="{48E1F155-80E9-DB56-C5B0-E0EBCD9ED4D2}"/>
              </a:ext>
            </a:extLst>
          </p:cNvPr>
          <p:cNvSpPr/>
          <p:nvPr/>
        </p:nvSpPr>
        <p:spPr>
          <a:xfrm>
            <a:off x="4095619" y="4157733"/>
            <a:ext cx="2249584" cy="1190899"/>
          </a:xfrm>
          <a:prstGeom prst="flowChartConnector">
            <a:avLst/>
          </a:prstGeom>
          <a:solidFill>
            <a:schemeClr val="accent2">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Diagrama de flujo: conector 19">
            <a:extLst>
              <a:ext uri="{FF2B5EF4-FFF2-40B4-BE49-F238E27FC236}">
                <a16:creationId xmlns:a16="http://schemas.microsoft.com/office/drawing/2014/main" id="{5806AAA9-810C-9A1C-0901-1EA9B19A5848}"/>
              </a:ext>
            </a:extLst>
          </p:cNvPr>
          <p:cNvSpPr/>
          <p:nvPr/>
        </p:nvSpPr>
        <p:spPr>
          <a:xfrm>
            <a:off x="5629446" y="4156261"/>
            <a:ext cx="2479108" cy="1140260"/>
          </a:xfrm>
          <a:prstGeom prst="flowChartConnector">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Diagrama de flujo: conector 20">
            <a:extLst>
              <a:ext uri="{FF2B5EF4-FFF2-40B4-BE49-F238E27FC236}">
                <a16:creationId xmlns:a16="http://schemas.microsoft.com/office/drawing/2014/main" id="{ECED0E66-0483-E266-F374-EEB17CF7EBDE}"/>
              </a:ext>
            </a:extLst>
          </p:cNvPr>
          <p:cNvSpPr/>
          <p:nvPr/>
        </p:nvSpPr>
        <p:spPr>
          <a:xfrm>
            <a:off x="3925502" y="3777075"/>
            <a:ext cx="4340996" cy="192683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9FDA38D3-72E5-D1E8-AADF-D26576FCD967}"/>
              </a:ext>
            </a:extLst>
          </p:cNvPr>
          <p:cNvSpPr/>
          <p:nvPr/>
        </p:nvSpPr>
        <p:spPr>
          <a:xfrm>
            <a:off x="5846140" y="4520487"/>
            <a:ext cx="312906" cy="369332"/>
          </a:xfrm>
          <a:prstGeom prst="rect">
            <a:avLst/>
          </a:prstGeom>
        </p:spPr>
        <p:txBody>
          <a:bodyPr wrap="none">
            <a:spAutoFit/>
          </a:bodyPr>
          <a:lstStyle/>
          <a:p>
            <a:r>
              <a:rPr lang="es-AR" b="1" dirty="0">
                <a:solidFill>
                  <a:srgbClr val="C00000"/>
                </a:solidFill>
                <a:latin typeface="Arial" panose="020B0604020202020204" pitchFamily="34" charset="0"/>
                <a:ea typeface="Calibri" panose="020F0502020204030204" pitchFamily="34" charset="0"/>
                <a:cs typeface="Arial" panose="020B0604020202020204" pitchFamily="34" charset="0"/>
              </a:rPr>
              <a:t>1</a:t>
            </a:r>
          </a:p>
        </p:txBody>
      </p:sp>
      <p:sp>
        <p:nvSpPr>
          <p:cNvPr id="26" name="Elipse 25">
            <a:extLst>
              <a:ext uri="{FF2B5EF4-FFF2-40B4-BE49-F238E27FC236}">
                <a16:creationId xmlns:a16="http://schemas.microsoft.com/office/drawing/2014/main" id="{C4DC2FB5-726F-5364-8F75-6BE8350970AB}"/>
              </a:ext>
            </a:extLst>
          </p:cNvPr>
          <p:cNvSpPr/>
          <p:nvPr/>
        </p:nvSpPr>
        <p:spPr>
          <a:xfrm>
            <a:off x="5633067" y="4338778"/>
            <a:ext cx="754312" cy="803138"/>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CuadroTexto 29">
            <a:extLst>
              <a:ext uri="{FF2B5EF4-FFF2-40B4-BE49-F238E27FC236}">
                <a16:creationId xmlns:a16="http://schemas.microsoft.com/office/drawing/2014/main" id="{E8FF7D4A-A4A6-D529-0F9D-900318359E71}"/>
              </a:ext>
            </a:extLst>
          </p:cNvPr>
          <p:cNvSpPr txBox="1"/>
          <p:nvPr/>
        </p:nvSpPr>
        <p:spPr>
          <a:xfrm>
            <a:off x="4112303" y="4583905"/>
            <a:ext cx="694761" cy="338554"/>
          </a:xfrm>
          <a:prstGeom prst="rect">
            <a:avLst/>
          </a:prstGeom>
          <a:noFill/>
        </p:spPr>
        <p:txBody>
          <a:bodyPr wrap="square">
            <a:spAutoFit/>
          </a:bodyPr>
          <a:lstStyle/>
          <a:p>
            <a:r>
              <a:rPr lang="es-AR" sz="1600" b="1" dirty="0">
                <a:solidFill>
                  <a:srgbClr val="0070C0"/>
                </a:solidFill>
                <a:latin typeface="Arial" panose="020B0604020202020204" pitchFamily="34" charset="0"/>
                <a:cs typeface="Arial" panose="020B0604020202020204" pitchFamily="34" charset="0"/>
              </a:rPr>
              <a:t>HP</a:t>
            </a:r>
            <a:endParaRPr lang="es-AR" sz="1600" b="1" dirty="0">
              <a:solidFill>
                <a:srgbClr val="0070C0"/>
              </a:solidFill>
            </a:endParaRPr>
          </a:p>
        </p:txBody>
      </p:sp>
      <p:sp>
        <p:nvSpPr>
          <p:cNvPr id="34" name="Rectángulo 33">
            <a:extLst>
              <a:ext uri="{FF2B5EF4-FFF2-40B4-BE49-F238E27FC236}">
                <a16:creationId xmlns:a16="http://schemas.microsoft.com/office/drawing/2014/main" id="{274298B0-6D4B-FEE7-902B-86C9799A1163}"/>
              </a:ext>
            </a:extLst>
          </p:cNvPr>
          <p:cNvSpPr/>
          <p:nvPr/>
        </p:nvSpPr>
        <p:spPr>
          <a:xfrm>
            <a:off x="4777730" y="4204872"/>
            <a:ext cx="542136"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RE</a:t>
            </a:r>
            <a:endParaRPr lang="es-MX" sz="2000" dirty="0"/>
          </a:p>
        </p:txBody>
      </p:sp>
      <p:sp>
        <p:nvSpPr>
          <p:cNvPr id="35" name="Rectángulo 34">
            <a:extLst>
              <a:ext uri="{FF2B5EF4-FFF2-40B4-BE49-F238E27FC236}">
                <a16:creationId xmlns:a16="http://schemas.microsoft.com/office/drawing/2014/main" id="{8F85F778-3250-40DC-C79A-635DD80D0BB2}"/>
              </a:ext>
            </a:extLst>
          </p:cNvPr>
          <p:cNvSpPr/>
          <p:nvPr/>
        </p:nvSpPr>
        <p:spPr>
          <a:xfrm>
            <a:off x="6545322" y="4171867"/>
            <a:ext cx="1563232" cy="400110"/>
          </a:xfrm>
          <a:prstGeom prst="rect">
            <a:avLst/>
          </a:prstGeom>
        </p:spPr>
        <p:txBody>
          <a:bodyPr wrap="square">
            <a:spAutoFit/>
          </a:bodyPr>
          <a:lstStyle/>
          <a:p>
            <a:r>
              <a:rPr lang="es-AR" sz="2000" dirty="0">
                <a:latin typeface="Arial" panose="020B0604020202020204" pitchFamily="34" charset="0"/>
                <a:cs typeface="Arial" panose="020B0604020202020204" pitchFamily="34" charset="0"/>
              </a:rPr>
              <a:t>CO-RE</a:t>
            </a:r>
            <a:endParaRPr lang="es-MX" sz="2000" dirty="0"/>
          </a:p>
        </p:txBody>
      </p:sp>
      <p:sp>
        <p:nvSpPr>
          <p:cNvPr id="36" name="Rectángulo 35">
            <a:extLst>
              <a:ext uri="{FF2B5EF4-FFF2-40B4-BE49-F238E27FC236}">
                <a16:creationId xmlns:a16="http://schemas.microsoft.com/office/drawing/2014/main" id="{940392D1-9C3C-52B5-4E4B-E31DD36B7EE0}"/>
              </a:ext>
            </a:extLst>
          </p:cNvPr>
          <p:cNvSpPr/>
          <p:nvPr/>
        </p:nvSpPr>
        <p:spPr>
          <a:xfrm>
            <a:off x="5865664" y="4500871"/>
            <a:ext cx="370614"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R</a:t>
            </a:r>
            <a:endParaRPr lang="es-MX" sz="2000" dirty="0"/>
          </a:p>
        </p:txBody>
      </p:sp>
      <p:sp>
        <p:nvSpPr>
          <p:cNvPr id="23" name="Rectángulo 22">
            <a:extLst>
              <a:ext uri="{FF2B5EF4-FFF2-40B4-BE49-F238E27FC236}">
                <a16:creationId xmlns:a16="http://schemas.microsoft.com/office/drawing/2014/main" id="{43B8B8F3-AF9C-55DC-636F-1D6B054CF51C}"/>
              </a:ext>
            </a:extLst>
          </p:cNvPr>
          <p:cNvSpPr/>
          <p:nvPr/>
        </p:nvSpPr>
        <p:spPr>
          <a:xfrm>
            <a:off x="388205" y="168674"/>
            <a:ext cx="11688048"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Problema de la detención de una MT (</a:t>
            </a:r>
            <a:r>
              <a:rPr lang="es-MX" sz="2400" b="1" i="1" dirty="0" err="1">
                <a:latin typeface="Arial" panose="020B0604020202020204" pitchFamily="34" charset="0"/>
                <a:cs typeface="Arial" panose="020B0604020202020204" pitchFamily="34" charset="0"/>
              </a:rPr>
              <a:t>halting</a:t>
            </a:r>
            <a:r>
              <a:rPr lang="es-MX" sz="2400" b="1" i="1" dirty="0">
                <a:latin typeface="Arial" panose="020B0604020202020204" pitchFamily="34" charset="0"/>
                <a:cs typeface="Arial" panose="020B0604020202020204" pitchFamily="34" charset="0"/>
              </a:rPr>
              <a:t> </a:t>
            </a:r>
            <a:r>
              <a:rPr lang="es-MX" sz="2400" b="1" i="1" dirty="0" err="1">
                <a:latin typeface="Arial" panose="020B0604020202020204" pitchFamily="34" charset="0"/>
                <a:cs typeface="Arial" panose="020B0604020202020204" pitchFamily="34" charset="0"/>
              </a:rPr>
              <a:t>problem</a:t>
            </a:r>
            <a:r>
              <a:rPr lang="es-MX" sz="2400" b="1" dirty="0">
                <a:latin typeface="Arial" panose="020B0604020202020204" pitchFamily="34" charset="0"/>
                <a:cs typeface="Arial" panose="020B0604020202020204" pitchFamily="34" charset="0"/>
              </a:rPr>
              <a:t>)</a:t>
            </a:r>
          </a:p>
        </p:txBody>
      </p:sp>
      <p:sp>
        <p:nvSpPr>
          <p:cNvPr id="27" name="Slide Number Placeholder 2">
            <a:extLst>
              <a:ext uri="{FF2B5EF4-FFF2-40B4-BE49-F238E27FC236}">
                <a16:creationId xmlns:a16="http://schemas.microsoft.com/office/drawing/2014/main" id="{8609E645-5843-886E-F0A8-93D9BE1028CE}"/>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Tree>
    <p:extLst>
      <p:ext uri="{BB962C8B-B14F-4D97-AF65-F5344CB8AC3E}">
        <p14:creationId xmlns:p14="http://schemas.microsoft.com/office/powerpoint/2010/main" val="4202620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7CE638D9-4BAC-424B-9FB0-D35C68EF203F}"/>
              </a:ext>
            </a:extLst>
          </p:cNvPr>
          <p:cNvSpPr>
            <a:spLocks noChangeArrowheads="1"/>
          </p:cNvSpPr>
          <p:nvPr/>
        </p:nvSpPr>
        <p:spPr bwMode="auto">
          <a:xfrm>
            <a:off x="275099" y="887495"/>
            <a:ext cx="11372914" cy="57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buClrTx/>
              <a:buSzTx/>
              <a:buFont typeface="Arial" panose="020B0604020202020204" pitchFamily="34" charset="0"/>
              <a:buChar char="•"/>
              <a:tabLst/>
            </a:pPr>
            <a:r>
              <a:rPr kumimoji="0" lang="es-AR" altLang="es-MX"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Ejemplo 1. </a:t>
            </a:r>
            <a:r>
              <a:rPr kumimoji="0" lang="es-AR" altLang="es-MX"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Si una MT se mueve en un espacio limitado, se puede detectar cuándo entra en un </a:t>
            </a:r>
            <a:r>
              <a:rPr kumimoji="0" lang="es-AR" altLang="es-MX"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loop</a:t>
            </a:r>
            <a:r>
              <a:rPr kumimoji="0" lang="es-AR" altLang="es-MX"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marR="0" lvl="0" indent="0" algn="just" defTabSz="914400" rtl="0" eaLnBrk="0" fontAlgn="base" latinLnBrk="0" hangingPunct="0">
              <a:buClrTx/>
              <a:buSzTx/>
              <a:buFontTx/>
              <a:buNone/>
              <a:tabLst/>
            </a:pPr>
            <a:endParaRPr kumimoji="0" lang="es-MX" altLang="es-MX" sz="9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just" defTabSz="914400" rtl="0" eaLnBrk="0" fontAlgn="base" latinLnBrk="0" hangingPunct="0">
              <a:buClrTx/>
              <a:buSzTx/>
              <a:tabLst/>
            </a:pPr>
            <a:r>
              <a:rPr kumimoji="0" lang="es-AR" altLang="es-MX"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Por</a:t>
            </a:r>
            <a:r>
              <a:rPr kumimoji="0" lang="es-AR" altLang="es-MX" b="0"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ejemplo, supongamos que una MT M con una cinta se mueve en no más de K celdas.</a:t>
            </a:r>
          </a:p>
          <a:p>
            <a:pPr marR="0" lvl="0" algn="just" defTabSz="914400" rtl="0" eaLnBrk="0" fontAlgn="base" latinLnBrk="0" hangingPunct="0">
              <a:buClrTx/>
              <a:buSzTx/>
              <a:tabLst/>
            </a:pPr>
            <a:endParaRPr lang="es-AR" altLang="es-MX" sz="9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r>
              <a:rPr kumimoji="0" lang="es-AR" altLang="es-MX" b="1"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¿Por cuántas configuraciones distintas puede pasar M antes de </a:t>
            </a:r>
            <a:r>
              <a:rPr kumimoji="0" lang="es-AR" altLang="es-MX" b="1" i="0" u="none" strike="noStrike" cap="none" normalizeH="0" dirty="0" err="1">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loopear</a:t>
            </a:r>
            <a:r>
              <a:rPr kumimoji="0" lang="es-AR" altLang="es-MX" b="1"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R="0" lvl="0" algn="just" defTabSz="914400" rtl="0" eaLnBrk="0" fontAlgn="base" latinLnBrk="0" hangingPunct="0">
              <a:buClrTx/>
              <a:buSzTx/>
              <a:tabLst/>
            </a:pPr>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kumimoji="0" lang="es-AR" altLang="es-MX" b="0"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kumimoji="0" lang="es-AR" altLang="es-MX" b="0"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kumimoji="0" lang="es-AR" altLang="es-MX" b="0"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kumimoji="0" lang="es-AR" altLang="es-MX" b="0" i="0" u="none" strike="noStrike" cap="none" normalizeH="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R="0" lvl="0" algn="just" defTabSz="914400" rtl="0" eaLnBrk="0" fontAlgn="base" latinLnBrk="0" hangingPunct="0">
              <a:buClrTx/>
              <a:buSzTx/>
              <a:tabLst/>
            </a:pPr>
            <a:endParaRPr kumimoji="0" lang="es-AR" altLang="es-MX"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sz="20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Si M tiene |Q| estados y |</a:t>
            </a:r>
            <a:r>
              <a:rPr lang="es-AR" sz="1800" dirty="0">
                <a:effectLst/>
                <a:latin typeface="Arial" panose="020B0604020202020204" pitchFamily="34" charset="0"/>
                <a:ea typeface="Calibri" panose="020F0502020204030204" pitchFamily="34" charset="0"/>
              </a:rPr>
              <a:t>Γ</a:t>
            </a:r>
            <a:r>
              <a:rPr lang="es-AR" dirty="0">
                <a:latin typeface="Arial" panose="020B0604020202020204" pitchFamily="34" charset="0"/>
                <a:cs typeface="Arial" panose="020B0604020202020204" pitchFamily="34" charset="0"/>
              </a:rPr>
              <a:t>| símbolos, antes de repetir una configuración hará a lo sumo: </a:t>
            </a:r>
          </a:p>
          <a:p>
            <a:pPr algn="just"/>
            <a:endParaRPr lang="es-AR" sz="900" b="1" dirty="0">
              <a:latin typeface="Arial" panose="020B0604020202020204" pitchFamily="34" charset="0"/>
              <a:cs typeface="Arial" panose="020B0604020202020204" pitchFamily="34" charset="0"/>
            </a:endParaRPr>
          </a:p>
          <a:p>
            <a:pPr algn="ctr"/>
            <a:r>
              <a:rPr lang="es-AR" b="1" dirty="0">
                <a:latin typeface="Arial" panose="020B0604020202020204" pitchFamily="34" charset="0"/>
                <a:cs typeface="Arial" panose="020B0604020202020204" pitchFamily="34" charset="0"/>
              </a:rPr>
              <a:t>K.|Q|.|</a:t>
            </a:r>
            <a:r>
              <a:rPr lang="es-AR" sz="1800" b="1" dirty="0">
                <a:effectLst/>
                <a:latin typeface="Arial" panose="020B0604020202020204" pitchFamily="34" charset="0"/>
                <a:ea typeface="Calibri" panose="020F0502020204030204" pitchFamily="34" charset="0"/>
              </a:rPr>
              <a:t>Γ</a:t>
            </a:r>
            <a:r>
              <a:rPr lang="es-AR" b="1" dirty="0">
                <a:latin typeface="Arial" panose="020B0604020202020204" pitchFamily="34" charset="0"/>
                <a:cs typeface="Arial" panose="020B0604020202020204" pitchFamily="34" charset="0"/>
              </a:rPr>
              <a:t>|</a:t>
            </a:r>
            <a:r>
              <a:rPr lang="es-AR" b="1" baseline="30000" dirty="0">
                <a:latin typeface="Arial" panose="020B0604020202020204" pitchFamily="34" charset="0"/>
                <a:cs typeface="Arial" panose="020B0604020202020204" pitchFamily="34" charset="0"/>
              </a:rPr>
              <a:t>K</a:t>
            </a:r>
            <a:r>
              <a:rPr lang="es-AR" b="1" dirty="0">
                <a:latin typeface="Arial" panose="020B0604020202020204" pitchFamily="34" charset="0"/>
                <a:cs typeface="Arial" panose="020B0604020202020204" pitchFamily="34" charset="0"/>
              </a:rPr>
              <a:t> pasos      </a:t>
            </a:r>
            <a:r>
              <a:rPr lang="es-AR" dirty="0">
                <a:latin typeface="Arial" panose="020B0604020202020204" pitchFamily="34" charset="0"/>
                <a:cs typeface="Arial" panose="020B0604020202020204" pitchFamily="34" charset="0"/>
              </a:rPr>
              <a:t>(K posiciones, |Q| estados, |</a:t>
            </a:r>
            <a:r>
              <a:rPr lang="es-AR" sz="1800" dirty="0">
                <a:effectLst/>
                <a:latin typeface="Arial" panose="020B0604020202020204" pitchFamily="34" charset="0"/>
                <a:ea typeface="Calibri" panose="020F0502020204030204" pitchFamily="34" charset="0"/>
              </a:rPr>
              <a:t>Γ</a:t>
            </a:r>
            <a:r>
              <a:rPr lang="es-AR" dirty="0">
                <a:latin typeface="Arial" panose="020B0604020202020204" pitchFamily="34" charset="0"/>
                <a:cs typeface="Arial" panose="020B0604020202020204" pitchFamily="34" charset="0"/>
              </a:rPr>
              <a:t>|</a:t>
            </a:r>
            <a:r>
              <a:rPr lang="es-AR" baseline="30000" dirty="0">
                <a:latin typeface="Arial" panose="020B0604020202020204" pitchFamily="34" charset="0"/>
                <a:cs typeface="Arial" panose="020B0604020202020204" pitchFamily="34" charset="0"/>
              </a:rPr>
              <a:t>K</a:t>
            </a:r>
            <a:r>
              <a:rPr lang="es-AR" dirty="0">
                <a:latin typeface="Arial" panose="020B0604020202020204" pitchFamily="34" charset="0"/>
                <a:cs typeface="Arial" panose="020B0604020202020204" pitchFamily="34" charset="0"/>
              </a:rPr>
              <a:t> contenidos). </a:t>
            </a:r>
          </a:p>
          <a:p>
            <a:pPr algn="ctr"/>
            <a:endParaRPr lang="es-AR" sz="2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Se puede detectar si una MT </a:t>
            </a:r>
            <a:r>
              <a:rPr lang="es-AR" dirty="0" err="1">
                <a:latin typeface="Arial" panose="020B0604020202020204" pitchFamily="34" charset="0"/>
                <a:cs typeface="Arial" panose="020B0604020202020204" pitchFamily="34" charset="0"/>
              </a:rPr>
              <a:t>loopea</a:t>
            </a:r>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ejecutándola y llevando la cuenta de sus pasos</a:t>
            </a:r>
            <a:r>
              <a:rPr lang="es-AR" dirty="0">
                <a:latin typeface="Arial" panose="020B0604020202020204" pitchFamily="34" charset="0"/>
                <a:cs typeface="Arial" panose="020B0604020202020204" pitchFamily="34" charset="0"/>
              </a:rPr>
              <a:t>.</a:t>
            </a:r>
          </a:p>
          <a:p>
            <a:pPr algn="just"/>
            <a:endParaRPr lang="es-AR" sz="500"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0DA63583-3984-49DC-A671-1571E01641B2}"/>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6" name="Rectángulo 5">
            <a:extLst>
              <a:ext uri="{FF2B5EF4-FFF2-40B4-BE49-F238E27FC236}">
                <a16:creationId xmlns:a16="http://schemas.microsoft.com/office/drawing/2014/main" id="{8AAE0E3A-D883-4204-924B-A90010001B08}"/>
              </a:ext>
            </a:extLst>
          </p:cNvPr>
          <p:cNvSpPr/>
          <p:nvPr/>
        </p:nvSpPr>
        <p:spPr>
          <a:xfrm>
            <a:off x="6829050" y="3611390"/>
            <a:ext cx="3098982" cy="1031051"/>
          </a:xfrm>
          <a:prstGeom prst="rect">
            <a:avLst/>
          </a:prstGeom>
        </p:spPr>
        <p:txBody>
          <a:bodyPr wrap="square">
            <a:spAutoFit/>
          </a:bodyPr>
          <a:lstStyle/>
          <a:p>
            <a:pPr algn="just"/>
            <a:r>
              <a:rPr lang="es-AR" sz="1400" dirty="0">
                <a:latin typeface="Arial" panose="020B0604020202020204" pitchFamily="34" charset="0"/>
                <a:cs typeface="Arial" panose="020B0604020202020204" pitchFamily="34" charset="0"/>
              </a:rPr>
              <a:t>Una configuración de una MT tiene:</a:t>
            </a:r>
          </a:p>
          <a:p>
            <a:pPr algn="just"/>
            <a:endParaRPr lang="es-AR" sz="500" dirty="0">
              <a:latin typeface="Arial" panose="020B0604020202020204" pitchFamily="34" charset="0"/>
              <a:cs typeface="Arial" panose="020B0604020202020204" pitchFamily="34" charset="0"/>
            </a:endParaRPr>
          </a:p>
          <a:p>
            <a:pPr algn="just"/>
            <a:r>
              <a:rPr lang="es-AR" sz="1400" dirty="0">
                <a:latin typeface="Arial" panose="020B0604020202020204" pitchFamily="34" charset="0"/>
                <a:cs typeface="Arial" panose="020B0604020202020204" pitchFamily="34" charset="0"/>
              </a:rPr>
              <a:t>(a) una posición</a:t>
            </a:r>
          </a:p>
          <a:p>
            <a:pPr algn="just"/>
            <a:r>
              <a:rPr lang="es-AR" sz="1400" dirty="0">
                <a:latin typeface="Arial" panose="020B0604020202020204" pitchFamily="34" charset="0"/>
                <a:cs typeface="Arial" panose="020B0604020202020204" pitchFamily="34" charset="0"/>
              </a:rPr>
              <a:t>(b) un estado</a:t>
            </a:r>
          </a:p>
          <a:p>
            <a:pPr algn="just"/>
            <a:r>
              <a:rPr lang="es-AR" sz="1400" dirty="0">
                <a:latin typeface="Arial" panose="020B0604020202020204" pitchFamily="34" charset="0"/>
                <a:cs typeface="Arial" panose="020B0604020202020204" pitchFamily="34" charset="0"/>
              </a:rPr>
              <a:t>(c) un contenido</a:t>
            </a:r>
          </a:p>
        </p:txBody>
      </p:sp>
      <p:sp>
        <p:nvSpPr>
          <p:cNvPr id="11" name="Rectángulo 10">
            <a:extLst>
              <a:ext uri="{FF2B5EF4-FFF2-40B4-BE49-F238E27FC236}">
                <a16:creationId xmlns:a16="http://schemas.microsoft.com/office/drawing/2014/main" id="{D51FF17F-0A92-4BD7-BDDA-70321DB03998}"/>
              </a:ext>
            </a:extLst>
          </p:cNvPr>
          <p:cNvSpPr/>
          <p:nvPr/>
        </p:nvSpPr>
        <p:spPr>
          <a:xfrm>
            <a:off x="5961556" y="4322894"/>
            <a:ext cx="312906"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q</a:t>
            </a:r>
            <a:endParaRPr lang="es-MX" dirty="0"/>
          </a:p>
        </p:txBody>
      </p:sp>
      <p:sp>
        <p:nvSpPr>
          <p:cNvPr id="15" name="Título 1">
            <a:extLst>
              <a:ext uri="{FF2B5EF4-FFF2-40B4-BE49-F238E27FC236}">
                <a16:creationId xmlns:a16="http://schemas.microsoft.com/office/drawing/2014/main" id="{147524D6-A0C3-42EA-A663-C81C99E07CFD}"/>
              </a:ext>
            </a:extLst>
          </p:cNvPr>
          <p:cNvSpPr txBox="1">
            <a:spLocks/>
          </p:cNvSpPr>
          <p:nvPr/>
        </p:nvSpPr>
        <p:spPr>
          <a:xfrm>
            <a:off x="2935650" y="2792649"/>
            <a:ext cx="5225047" cy="4621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400" dirty="0">
                <a:latin typeface="Arial" panose="020B0604020202020204" pitchFamily="34" charset="0"/>
                <a:cs typeface="Arial" panose="020B0604020202020204" pitchFamily="34" charset="0"/>
              </a:rPr>
              <a:t>           a         B        t         n       .…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5        c</a:t>
            </a:r>
          </a:p>
        </p:txBody>
      </p:sp>
      <p:sp>
        <p:nvSpPr>
          <p:cNvPr id="16" name="Rectángulo 15">
            <a:extLst>
              <a:ext uri="{FF2B5EF4-FFF2-40B4-BE49-F238E27FC236}">
                <a16:creationId xmlns:a16="http://schemas.microsoft.com/office/drawing/2014/main" id="{E4DC47A4-3480-44D4-AA7A-C32A5F638F13}"/>
              </a:ext>
            </a:extLst>
          </p:cNvPr>
          <p:cNvSpPr/>
          <p:nvPr/>
        </p:nvSpPr>
        <p:spPr>
          <a:xfrm>
            <a:off x="3360225" y="2771199"/>
            <a:ext cx="4618809" cy="4923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7" name="Conector recto 16">
            <a:extLst>
              <a:ext uri="{FF2B5EF4-FFF2-40B4-BE49-F238E27FC236}">
                <a16:creationId xmlns:a16="http://schemas.microsoft.com/office/drawing/2014/main" id="{0AC83CA4-68C4-4058-933A-B6B32CDAD32D}"/>
              </a:ext>
            </a:extLst>
          </p:cNvPr>
          <p:cNvCxnSpPr>
            <a:cxnSpLocks/>
          </p:cNvCxnSpPr>
          <p:nvPr/>
        </p:nvCxnSpPr>
        <p:spPr>
          <a:xfrm>
            <a:off x="3850462" y="2762321"/>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A810E366-62AA-41A3-AFD3-F44601D3FC36}"/>
              </a:ext>
            </a:extLst>
          </p:cNvPr>
          <p:cNvCxnSpPr>
            <a:cxnSpLocks/>
          </p:cNvCxnSpPr>
          <p:nvPr/>
        </p:nvCxnSpPr>
        <p:spPr>
          <a:xfrm>
            <a:off x="4355789" y="2771199"/>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AB72174F-19D5-413A-9EAB-33DCD1131927}"/>
              </a:ext>
            </a:extLst>
          </p:cNvPr>
          <p:cNvCxnSpPr>
            <a:cxnSpLocks/>
          </p:cNvCxnSpPr>
          <p:nvPr/>
        </p:nvCxnSpPr>
        <p:spPr>
          <a:xfrm>
            <a:off x="4873032" y="2762321"/>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2F66C3C9-CDCA-420D-8543-DFED7A79CE4D}"/>
              </a:ext>
            </a:extLst>
          </p:cNvPr>
          <p:cNvCxnSpPr>
            <a:cxnSpLocks/>
          </p:cNvCxnSpPr>
          <p:nvPr/>
        </p:nvCxnSpPr>
        <p:spPr>
          <a:xfrm>
            <a:off x="5398525" y="2771199"/>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C5E6CA57-4D9F-4EDF-8193-0F96C6AE2591}"/>
              </a:ext>
            </a:extLst>
          </p:cNvPr>
          <p:cNvCxnSpPr>
            <a:cxnSpLocks/>
          </p:cNvCxnSpPr>
          <p:nvPr/>
        </p:nvCxnSpPr>
        <p:spPr>
          <a:xfrm>
            <a:off x="5895830" y="2771199"/>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F147E971-CE97-4289-BC88-851503E92A24}"/>
              </a:ext>
            </a:extLst>
          </p:cNvPr>
          <p:cNvCxnSpPr>
            <a:cxnSpLocks/>
          </p:cNvCxnSpPr>
          <p:nvPr/>
        </p:nvCxnSpPr>
        <p:spPr>
          <a:xfrm>
            <a:off x="6393136" y="2790596"/>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22166CC-211B-4A29-AD04-0B3AF901E592}"/>
              </a:ext>
            </a:extLst>
          </p:cNvPr>
          <p:cNvCxnSpPr>
            <a:cxnSpLocks/>
          </p:cNvCxnSpPr>
          <p:nvPr/>
        </p:nvCxnSpPr>
        <p:spPr>
          <a:xfrm>
            <a:off x="6936886" y="2771199"/>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BB70885F-811D-4A48-B1AF-51A3E7FA7E6A}"/>
              </a:ext>
            </a:extLst>
          </p:cNvPr>
          <p:cNvCxnSpPr>
            <a:cxnSpLocks/>
          </p:cNvCxnSpPr>
          <p:nvPr/>
        </p:nvCxnSpPr>
        <p:spPr>
          <a:xfrm>
            <a:off x="7451914" y="2762321"/>
            <a:ext cx="0" cy="5012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Diagrama de flujo: proceso 24">
            <a:extLst>
              <a:ext uri="{FF2B5EF4-FFF2-40B4-BE49-F238E27FC236}">
                <a16:creationId xmlns:a16="http://schemas.microsoft.com/office/drawing/2014/main" id="{87D45816-081E-4B58-8640-24989B702A1A}"/>
              </a:ext>
            </a:extLst>
          </p:cNvPr>
          <p:cNvSpPr/>
          <p:nvPr/>
        </p:nvSpPr>
        <p:spPr>
          <a:xfrm>
            <a:off x="5895830" y="4267949"/>
            <a:ext cx="444358" cy="462963"/>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6" name="Conector recto de flecha 25">
            <a:extLst>
              <a:ext uri="{FF2B5EF4-FFF2-40B4-BE49-F238E27FC236}">
                <a16:creationId xmlns:a16="http://schemas.microsoft.com/office/drawing/2014/main" id="{2D0D6608-56FA-4580-B0CF-C4B0C978E4A7}"/>
              </a:ext>
            </a:extLst>
          </p:cNvPr>
          <p:cNvCxnSpPr>
            <a:cxnSpLocks/>
            <a:stCxn id="25" idx="0"/>
            <a:endCxn id="16" idx="2"/>
          </p:cNvCxnSpPr>
          <p:nvPr/>
        </p:nvCxnSpPr>
        <p:spPr>
          <a:xfrm flipH="1" flipV="1">
            <a:off x="5669630" y="3263527"/>
            <a:ext cx="448379" cy="10044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571D7C8F-3F22-4AE5-ABD3-52BBE2DBF85F}"/>
              </a:ext>
            </a:extLst>
          </p:cNvPr>
          <p:cNvSpPr/>
          <p:nvPr/>
        </p:nvSpPr>
        <p:spPr>
          <a:xfrm>
            <a:off x="3230031" y="2462868"/>
            <a:ext cx="790601"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celda 1</a:t>
            </a:r>
            <a:endParaRPr lang="es-MX" sz="1400" dirty="0"/>
          </a:p>
        </p:txBody>
      </p:sp>
      <p:sp>
        <p:nvSpPr>
          <p:cNvPr id="29" name="CuadroTexto 28">
            <a:extLst>
              <a:ext uri="{FF2B5EF4-FFF2-40B4-BE49-F238E27FC236}">
                <a16:creationId xmlns:a16="http://schemas.microsoft.com/office/drawing/2014/main" id="{62532A8E-218A-466A-91E9-3A22B1B30035}"/>
              </a:ext>
            </a:extLst>
          </p:cNvPr>
          <p:cNvSpPr txBox="1"/>
          <p:nvPr/>
        </p:nvSpPr>
        <p:spPr>
          <a:xfrm>
            <a:off x="7308376" y="2454544"/>
            <a:ext cx="1008981" cy="307777"/>
          </a:xfrm>
          <a:prstGeom prst="rect">
            <a:avLst/>
          </a:prstGeom>
          <a:noFill/>
        </p:spPr>
        <p:txBody>
          <a:bodyPr wrap="square">
            <a:spAutoFit/>
          </a:bodyPr>
          <a:lstStyle/>
          <a:p>
            <a:r>
              <a:rPr lang="es-MX" sz="1400" dirty="0">
                <a:latin typeface="Arial" panose="020B0604020202020204" pitchFamily="34" charset="0"/>
                <a:cs typeface="Arial" panose="020B0604020202020204" pitchFamily="34" charset="0"/>
              </a:rPr>
              <a:t>celda K</a:t>
            </a:r>
            <a:endParaRPr lang="es-MX" sz="1400" dirty="0"/>
          </a:p>
        </p:txBody>
      </p:sp>
      <p:sp>
        <p:nvSpPr>
          <p:cNvPr id="2" name="Rectángulo 1">
            <a:extLst>
              <a:ext uri="{FF2B5EF4-FFF2-40B4-BE49-F238E27FC236}">
                <a16:creationId xmlns:a16="http://schemas.microsoft.com/office/drawing/2014/main" id="{4F9A818A-C1DF-A19F-5519-57F03F8DB571}"/>
              </a:ext>
            </a:extLst>
          </p:cNvPr>
          <p:cNvSpPr/>
          <p:nvPr/>
        </p:nvSpPr>
        <p:spPr>
          <a:xfrm>
            <a:off x="269633" y="139369"/>
            <a:ext cx="11646141"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Cómo burlar al </a:t>
            </a:r>
            <a:r>
              <a:rPr lang="es-MX" sz="2400" b="1" i="1" dirty="0" err="1">
                <a:latin typeface="Arial" panose="020B0604020202020204" pitchFamily="34" charset="0"/>
                <a:cs typeface="Arial" panose="020B0604020202020204" pitchFamily="34" charset="0"/>
              </a:rPr>
              <a:t>halting</a:t>
            </a:r>
            <a:r>
              <a:rPr lang="es-MX" sz="2400" b="1" i="1" dirty="0">
                <a:latin typeface="Arial" panose="020B0604020202020204" pitchFamily="34" charset="0"/>
                <a:cs typeface="Arial" panose="020B0604020202020204" pitchFamily="34" charset="0"/>
              </a:rPr>
              <a:t> </a:t>
            </a:r>
            <a:r>
              <a:rPr lang="es-MX" sz="2400" b="1" i="1" dirty="0" err="1">
                <a:latin typeface="Arial" panose="020B0604020202020204" pitchFamily="34" charset="0"/>
                <a:cs typeface="Arial" panose="020B0604020202020204" pitchFamily="34" charset="0"/>
              </a:rPr>
              <a:t>problem</a:t>
            </a:r>
            <a:endParaRPr lang="es-ES" sz="2400" b="1" i="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60601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7CE638D9-4BAC-424B-9FB0-D35C68EF203F}"/>
              </a:ext>
            </a:extLst>
          </p:cNvPr>
          <p:cNvSpPr>
            <a:spLocks noChangeArrowheads="1"/>
          </p:cNvSpPr>
          <p:nvPr/>
        </p:nvSpPr>
        <p:spPr bwMode="auto">
          <a:xfrm>
            <a:off x="269634" y="740188"/>
            <a:ext cx="11560415"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buFont typeface="Arial" panose="020B0604020202020204" pitchFamily="34" charset="0"/>
              <a:buChar char="•"/>
            </a:pPr>
            <a:r>
              <a:rPr lang="es-AR" b="1" dirty="0">
                <a:latin typeface="Arial" panose="020B0604020202020204" pitchFamily="34" charset="0"/>
                <a:cs typeface="Arial" panose="020B0604020202020204" pitchFamily="34" charset="0"/>
              </a:rPr>
              <a:t>Ejemplo 2. </a:t>
            </a:r>
            <a:r>
              <a:rPr lang="es-AR" dirty="0">
                <a:latin typeface="Arial" panose="020B0604020202020204" pitchFamily="34" charset="0"/>
                <a:cs typeface="Arial" panose="020B0604020202020204" pitchFamily="34" charset="0"/>
              </a:rPr>
              <a:t>¿Cómo detectar si una MT M acepta al menos una cadena?</a:t>
            </a:r>
          </a:p>
          <a:p>
            <a:pPr marL="360000" lvl="0" algn="just" eaLnBrk="0" fontAlgn="base" hangingPunct="0"/>
            <a:endParaRPr lang="es-AR" dirty="0">
              <a:latin typeface="Arial" panose="020B0604020202020204" pitchFamily="34" charset="0"/>
              <a:cs typeface="Arial" panose="020B0604020202020204" pitchFamily="34" charset="0"/>
            </a:endParaRPr>
          </a:p>
          <a:p>
            <a:pPr marL="288000" lvl="0" algn="just" eaLnBrk="0" fontAlgn="base" hangingPunct="0"/>
            <a:r>
              <a:rPr lang="es-ES" dirty="0">
                <a:latin typeface="Arial" panose="020B0604020202020204" pitchFamily="34" charset="0"/>
                <a:cs typeface="Arial" panose="020B0604020202020204" pitchFamily="34" charset="0"/>
              </a:rPr>
              <a:t>Tenemos que tener cuidado en cómo construimos </a:t>
            </a:r>
            <a:r>
              <a:rPr lang="es-AR" dirty="0">
                <a:latin typeface="Arial" panose="020B0604020202020204" pitchFamily="34" charset="0"/>
                <a:cs typeface="Arial" panose="020B0604020202020204" pitchFamily="34" charset="0"/>
              </a:rPr>
              <a:t>una MT M´ que chequee si M acepta una cadena. </a:t>
            </a:r>
          </a:p>
          <a:p>
            <a:pPr marL="288000" lvl="0" algn="just" eaLnBrk="0" fontAlgn="base" hangingPunct="0"/>
            <a:r>
              <a:rPr lang="es-AR" dirty="0">
                <a:latin typeface="Arial" panose="020B0604020202020204" pitchFamily="34" charset="0"/>
                <a:cs typeface="Arial" panose="020B0604020202020204" pitchFamily="34" charset="0"/>
              </a:rPr>
              <a:t>No sirve que M´ ejecute M sobre la 1ra cadena, luego sobre la 2da, luego sobre 3ra, …, porque M puede no detenerse en algunos casos.</a:t>
            </a:r>
          </a:p>
          <a:p>
            <a:pPr lvl="0" algn="just" eaLnBrk="0" fontAlgn="base" hangingPunct="0"/>
            <a:endParaRPr lang="es-AR" dirty="0">
              <a:latin typeface="Arial" panose="020B0604020202020204" pitchFamily="34" charset="0"/>
              <a:cs typeface="Arial" panose="020B0604020202020204" pitchFamily="34" charset="0"/>
            </a:endParaRPr>
          </a:p>
          <a:p>
            <a:pPr lvl="0" algn="just" eaLnBrk="0" fontAlgn="base" hangingPunct="0"/>
            <a:endParaRPr lang="es-AR" sz="600" dirty="0">
              <a:latin typeface="Arial" panose="020B0604020202020204" pitchFamily="34" charset="0"/>
              <a:cs typeface="Arial" panose="020B0604020202020204" pitchFamily="34" charset="0"/>
            </a:endParaRPr>
          </a:p>
          <a:p>
            <a:pPr marL="360000" lvl="0" algn="just" eaLnBrk="0" fontAlgn="base" hangingPunct="0"/>
            <a:r>
              <a:rPr lang="es-AR" b="1" dirty="0">
                <a:latin typeface="Arial" panose="020B0604020202020204" pitchFamily="34" charset="0"/>
                <a:cs typeface="Arial" panose="020B0604020202020204" pitchFamily="34" charset="0"/>
              </a:rPr>
              <a:t>Solución:</a:t>
            </a:r>
            <a:endParaRPr lang="es-MX"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 </a:t>
            </a:r>
            <a:endParaRPr lang="es-MX" b="1"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1. Hacer i := 1.</a:t>
            </a:r>
          </a:p>
          <a:p>
            <a:pPr marL="342900" lvl="0" indent="-342900" algn="just">
              <a:buAutoNum type="arabicPeriod"/>
            </a:pPr>
            <a:endParaRPr lang="es-MX" sz="900"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2. Ejecutar i pasos de M sobre todas las cadenas </a:t>
            </a:r>
          </a:p>
          <a:p>
            <a:pPr lvl="0" algn="just"/>
            <a:r>
              <a:rPr lang="es-AR" dirty="0">
                <a:latin typeface="Arial" panose="020B0604020202020204" pitchFamily="34" charset="0"/>
                <a:cs typeface="Arial" panose="020B0604020202020204" pitchFamily="34" charset="0"/>
              </a:rPr>
              <a:t>                   de longitud a lo sumo i.</a:t>
            </a:r>
          </a:p>
          <a:p>
            <a:pPr lvl="0" algn="just"/>
            <a:endParaRPr lang="es-AR" sz="900"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3. Si M acepta alguna vez, aceptar.</a:t>
            </a:r>
          </a:p>
          <a:p>
            <a:pPr lvl="0" algn="just"/>
            <a:endParaRPr lang="es-AR" sz="900" dirty="0">
              <a:latin typeface="Arial" panose="020B0604020202020204" pitchFamily="34" charset="0"/>
              <a:cs typeface="Arial" panose="020B0604020202020204" pitchFamily="34" charset="0"/>
            </a:endParaRPr>
          </a:p>
          <a:p>
            <a:pPr lvl="0" algn="just"/>
            <a:r>
              <a:rPr lang="es-AR" dirty="0">
                <a:latin typeface="Arial" panose="020B0604020202020204" pitchFamily="34" charset="0"/>
                <a:cs typeface="Arial" panose="020B0604020202020204" pitchFamily="34" charset="0"/>
              </a:rPr>
              <a:t>	4. Si no, hacer i := i + 1 y volver al paso 2.</a:t>
            </a:r>
          </a:p>
          <a:p>
            <a:pPr marL="342900" lvl="0" indent="-342900" algn="just">
              <a:buAutoNum type="arabicPeriod" startAt="4"/>
            </a:pPr>
            <a:endParaRPr lang="es-AR" sz="600" dirty="0">
              <a:latin typeface="Arial" panose="020B0604020202020204" pitchFamily="34" charset="0"/>
              <a:cs typeface="Arial" panose="020B0604020202020204" pitchFamily="34" charset="0"/>
            </a:endParaRPr>
          </a:p>
          <a:p>
            <a:pPr marL="342900" lvl="0" indent="-342900" algn="just">
              <a:buAutoNum type="arabicPeriod" startAt="4"/>
            </a:pPr>
            <a:endParaRPr lang="es-AR" sz="2400" dirty="0">
              <a:latin typeface="Arial" panose="020B0604020202020204" pitchFamily="34" charset="0"/>
              <a:cs typeface="Arial" panose="020B0604020202020204" pitchFamily="34" charset="0"/>
            </a:endParaRPr>
          </a:p>
          <a:p>
            <a:pPr marL="288000" lvl="0" algn="just"/>
            <a:r>
              <a:rPr lang="es-AR" dirty="0">
                <a:latin typeface="Arial" panose="020B0604020202020204" pitchFamily="34" charset="0"/>
                <a:cs typeface="Arial" panose="020B0604020202020204" pitchFamily="34" charset="0"/>
              </a:rPr>
              <a:t>Por ejemplo, si la primera cadena que M acepta mide 80 símbolos, y M la acepta en 120 pasos, entonces cuando la MT M´ ejecute 120 pasos de M sobre todas las cadenas de a lo sumo 120 símbolos la va a encontrar. </a:t>
            </a:r>
          </a:p>
        </p:txBody>
      </p:sp>
      <p:sp>
        <p:nvSpPr>
          <p:cNvPr id="4" name="Slide Number Placeholder 2">
            <a:extLst>
              <a:ext uri="{FF2B5EF4-FFF2-40B4-BE49-F238E27FC236}">
                <a16:creationId xmlns:a16="http://schemas.microsoft.com/office/drawing/2014/main" id="{DB2E4141-4BBC-44DD-8A29-2EB7DF01E5A6}"/>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6" name="Diagrama de flujo: proceso 5">
            <a:extLst>
              <a:ext uri="{FF2B5EF4-FFF2-40B4-BE49-F238E27FC236}">
                <a16:creationId xmlns:a16="http://schemas.microsoft.com/office/drawing/2014/main" id="{D87EF288-01A7-4E34-AB4E-777E97CC24FA}"/>
              </a:ext>
            </a:extLst>
          </p:cNvPr>
          <p:cNvSpPr/>
          <p:nvPr/>
        </p:nvSpPr>
        <p:spPr>
          <a:xfrm>
            <a:off x="6528021" y="3333751"/>
            <a:ext cx="5302029" cy="1600200"/>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FACF403C-882E-46F5-9B6B-1A4A30EB19F4}"/>
              </a:ext>
            </a:extLst>
          </p:cNvPr>
          <p:cNvSpPr txBox="1"/>
          <p:nvPr/>
        </p:nvSpPr>
        <p:spPr>
          <a:xfrm>
            <a:off x="6528021" y="3383460"/>
            <a:ext cx="5302028" cy="338554"/>
          </a:xfrm>
          <a:prstGeom prst="rect">
            <a:avLst/>
          </a:prstGeom>
          <a:noFill/>
        </p:spPr>
        <p:txBody>
          <a:bodyPr wrap="square">
            <a:spAutoFit/>
          </a:bodyPr>
          <a:lstStyle/>
          <a:p>
            <a:r>
              <a:rPr lang="es-AR" sz="1600" b="1" dirty="0">
                <a:latin typeface="Arial" panose="020B0604020202020204" pitchFamily="34" charset="0"/>
                <a:cs typeface="Arial" panose="020B0604020202020204" pitchFamily="34" charset="0"/>
              </a:rPr>
              <a:t>pasos     cadenas</a:t>
            </a:r>
            <a:endParaRPr lang="es-AR" sz="1600" b="1" dirty="0"/>
          </a:p>
        </p:txBody>
      </p:sp>
      <p:sp>
        <p:nvSpPr>
          <p:cNvPr id="11" name="CuadroTexto 10">
            <a:extLst>
              <a:ext uri="{FF2B5EF4-FFF2-40B4-BE49-F238E27FC236}">
                <a16:creationId xmlns:a16="http://schemas.microsoft.com/office/drawing/2014/main" id="{86BE6F51-A334-49F8-8450-BF666F1D3201}"/>
              </a:ext>
            </a:extLst>
          </p:cNvPr>
          <p:cNvSpPr txBox="1"/>
          <p:nvPr/>
        </p:nvSpPr>
        <p:spPr>
          <a:xfrm>
            <a:off x="7151154" y="3790832"/>
            <a:ext cx="4948530" cy="984885"/>
          </a:xfrm>
          <a:prstGeom prst="rect">
            <a:avLst/>
          </a:prstGeom>
          <a:noFill/>
        </p:spPr>
        <p:txBody>
          <a:bodyPr wrap="square">
            <a:spAutoFit/>
          </a:bodyPr>
          <a:lstStyle/>
          <a:p>
            <a:pPr lvl="0" algn="just"/>
            <a:r>
              <a:rPr lang="es-AR" sz="1600" dirty="0">
                <a:latin typeface="Arial" panose="020B0604020202020204" pitchFamily="34" charset="0"/>
                <a:cs typeface="Arial" panose="020B0604020202020204" pitchFamily="34" charset="0"/>
              </a:rPr>
              <a:t>     </a:t>
            </a:r>
            <a:r>
              <a:rPr lang="es-AR" sz="1400" dirty="0">
                <a:effectLst/>
                <a:latin typeface="Arial" panose="020B0604020202020204" pitchFamily="34" charset="0"/>
                <a:ea typeface="Calibri" panose="020F0502020204030204" pitchFamily="34" charset="0"/>
              </a:rPr>
              <a:t>λ  </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2</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3</a:t>
            </a:r>
            <a:r>
              <a:rPr lang="es-AR" sz="1400" dirty="0">
                <a:latin typeface="Arial" panose="020B0604020202020204" pitchFamily="34" charset="0"/>
                <a:cs typeface="Arial" panose="020B0604020202020204" pitchFamily="34" charset="0"/>
              </a:rPr>
              <a:t>  … </a:t>
            </a:r>
          </a:p>
          <a:p>
            <a:pPr lvl="0" algn="just"/>
            <a:r>
              <a:rPr lang="es-AR" sz="1400" dirty="0">
                <a:latin typeface="Arial" panose="020B0604020202020204" pitchFamily="34" charset="0"/>
                <a:cs typeface="Arial" panose="020B0604020202020204" pitchFamily="34" charset="0"/>
              </a:rPr>
              <a:t>      </a:t>
            </a:r>
            <a:r>
              <a:rPr lang="es-AR" sz="1400" dirty="0">
                <a:effectLst/>
                <a:latin typeface="Arial" panose="020B0604020202020204" pitchFamily="34" charset="0"/>
                <a:ea typeface="Calibri" panose="020F0502020204030204" pitchFamily="34" charset="0"/>
              </a:rPr>
              <a:t>λ  </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2</a:t>
            </a:r>
            <a:r>
              <a:rPr lang="es-AR" sz="1400" dirty="0">
                <a:latin typeface="Arial" panose="020B0604020202020204" pitchFamily="34" charset="0"/>
                <a:cs typeface="Arial" panose="020B0604020202020204" pitchFamily="34" charset="0"/>
              </a:rPr>
              <a:t>  …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1 </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2</a:t>
            </a:r>
            <a:r>
              <a:rPr lang="es-AR" sz="1400" dirty="0">
                <a:latin typeface="Arial" panose="020B0604020202020204" pitchFamily="34" charset="0"/>
                <a:cs typeface="Arial" panose="020B0604020202020204" pitchFamily="34" charset="0"/>
              </a:rPr>
              <a:t>  …</a:t>
            </a:r>
          </a:p>
          <a:p>
            <a:pPr lvl="0" algn="just"/>
            <a:r>
              <a:rPr lang="es-AR" sz="1400" dirty="0">
                <a:latin typeface="Arial" panose="020B0604020202020204" pitchFamily="34" charset="0"/>
                <a:cs typeface="Arial" panose="020B0604020202020204" pitchFamily="34" charset="0"/>
              </a:rPr>
              <a:t>      </a:t>
            </a:r>
            <a:r>
              <a:rPr lang="es-AR" sz="1400" dirty="0">
                <a:effectLst/>
                <a:latin typeface="Arial" panose="020B0604020202020204" pitchFamily="34" charset="0"/>
                <a:ea typeface="Calibri" panose="020F0502020204030204" pitchFamily="34" charset="0"/>
              </a:rPr>
              <a:t>λ  </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  …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  …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  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w</a:t>
            </a:r>
            <a:r>
              <a:rPr lang="es-AR" sz="1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  … </a:t>
            </a:r>
          </a:p>
          <a:p>
            <a:pPr algn="just"/>
            <a:r>
              <a:rPr lang="es-AR" sz="1400" dirty="0">
                <a:latin typeface="Arial" panose="020B0604020202020204" pitchFamily="34" charset="0"/>
                <a:cs typeface="Arial" panose="020B0604020202020204" pitchFamily="34" charset="0"/>
              </a:rPr>
              <a:t>      ………………………….…….………………………..</a:t>
            </a:r>
          </a:p>
        </p:txBody>
      </p:sp>
      <p:sp>
        <p:nvSpPr>
          <p:cNvPr id="12" name="CuadroTexto 11">
            <a:extLst>
              <a:ext uri="{FF2B5EF4-FFF2-40B4-BE49-F238E27FC236}">
                <a16:creationId xmlns:a16="http://schemas.microsoft.com/office/drawing/2014/main" id="{435394DF-AF9F-4678-8FB2-A4FE64EFDAB7}"/>
              </a:ext>
            </a:extLst>
          </p:cNvPr>
          <p:cNvSpPr txBox="1"/>
          <p:nvPr/>
        </p:nvSpPr>
        <p:spPr>
          <a:xfrm>
            <a:off x="6713466" y="3821787"/>
            <a:ext cx="437688" cy="954107"/>
          </a:xfrm>
          <a:prstGeom prst="rect">
            <a:avLst/>
          </a:prstGeom>
          <a:noFill/>
        </p:spPr>
        <p:txBody>
          <a:bodyPr wrap="square">
            <a:spAutoFit/>
          </a:bodyPr>
          <a:lstStyle/>
          <a:p>
            <a:pPr lvl="0" algn="just"/>
            <a:r>
              <a:rPr lang="es-AR" sz="1400" dirty="0">
                <a:latin typeface="Arial" panose="020B0604020202020204" pitchFamily="34" charset="0"/>
                <a:cs typeface="Arial" panose="020B0604020202020204" pitchFamily="34" charset="0"/>
              </a:rPr>
              <a:t>1</a:t>
            </a:r>
          </a:p>
          <a:p>
            <a:pPr lvl="0" algn="just"/>
            <a:r>
              <a:rPr lang="es-AR" sz="1400" dirty="0">
                <a:latin typeface="Arial" panose="020B0604020202020204" pitchFamily="34" charset="0"/>
                <a:cs typeface="Arial" panose="020B0604020202020204" pitchFamily="34" charset="0"/>
              </a:rPr>
              <a:t>2</a:t>
            </a:r>
          </a:p>
          <a:p>
            <a:pPr lvl="0" algn="just"/>
            <a:r>
              <a:rPr lang="es-AR" sz="1400" dirty="0">
                <a:latin typeface="Arial" panose="020B0604020202020204" pitchFamily="34" charset="0"/>
                <a:cs typeface="Arial" panose="020B0604020202020204" pitchFamily="34" charset="0"/>
              </a:rPr>
              <a:t>3</a:t>
            </a:r>
          </a:p>
          <a:p>
            <a:pPr lvl="0" algn="just"/>
            <a:r>
              <a:rPr lang="es-AR" sz="1400" dirty="0">
                <a:latin typeface="Arial" panose="020B0604020202020204" pitchFamily="34" charset="0"/>
                <a:cs typeface="Arial" panose="020B0604020202020204" pitchFamily="34" charset="0"/>
              </a:rPr>
              <a:t>...</a:t>
            </a:r>
          </a:p>
        </p:txBody>
      </p:sp>
      <p:sp>
        <p:nvSpPr>
          <p:cNvPr id="2" name="Rectángulo 1">
            <a:extLst>
              <a:ext uri="{FF2B5EF4-FFF2-40B4-BE49-F238E27FC236}">
                <a16:creationId xmlns:a16="http://schemas.microsoft.com/office/drawing/2014/main" id="{F1CFA4BA-4295-6338-E2C7-AF0C78DD5260}"/>
              </a:ext>
            </a:extLst>
          </p:cNvPr>
          <p:cNvSpPr/>
          <p:nvPr/>
        </p:nvSpPr>
        <p:spPr>
          <a:xfrm>
            <a:off x="269634" y="139369"/>
            <a:ext cx="11560416"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Cómo burlar al </a:t>
            </a:r>
            <a:r>
              <a:rPr lang="es-MX" sz="2400" b="1" i="1" dirty="0" err="1">
                <a:latin typeface="Arial" panose="020B0604020202020204" pitchFamily="34" charset="0"/>
                <a:cs typeface="Arial" panose="020B0604020202020204" pitchFamily="34" charset="0"/>
              </a:rPr>
              <a:t>halting</a:t>
            </a:r>
            <a:r>
              <a:rPr lang="es-MX" sz="2400" b="1" i="1" dirty="0">
                <a:latin typeface="Arial" panose="020B0604020202020204" pitchFamily="34" charset="0"/>
                <a:cs typeface="Arial" panose="020B0604020202020204" pitchFamily="34" charset="0"/>
              </a:rPr>
              <a:t> </a:t>
            </a:r>
            <a:r>
              <a:rPr lang="es-MX" sz="2400" b="1" i="1" dirty="0" err="1">
                <a:latin typeface="Arial" panose="020B0604020202020204" pitchFamily="34" charset="0"/>
                <a:cs typeface="Arial" panose="020B0604020202020204" pitchFamily="34" charset="0"/>
              </a:rPr>
              <a:t>problem</a:t>
            </a:r>
            <a:r>
              <a:rPr lang="es-MX" sz="2400" b="1" i="1" dirty="0">
                <a:latin typeface="Arial" panose="020B0604020202020204" pitchFamily="34" charset="0"/>
                <a:cs typeface="Arial" panose="020B0604020202020204" pitchFamily="34" charset="0"/>
              </a:rPr>
              <a:t> </a:t>
            </a:r>
            <a:r>
              <a:rPr lang="es-MX" sz="2400" b="1" dirty="0">
                <a:latin typeface="Arial" panose="020B0604020202020204" pitchFamily="34" charset="0"/>
                <a:cs typeface="Arial" panose="020B0604020202020204" pitchFamily="34" charset="0"/>
              </a:rPr>
              <a:t>(continuación)</a:t>
            </a:r>
            <a:endParaRPr lang="es-ES" sz="2400" b="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329258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9B5164B-0942-40BA-B196-D3A5094167EC}"/>
              </a:ext>
            </a:extLst>
          </p:cNvPr>
          <p:cNvSpPr/>
          <p:nvPr/>
        </p:nvSpPr>
        <p:spPr>
          <a:xfrm>
            <a:off x="727827" y="1399092"/>
            <a:ext cx="5562773" cy="1518364"/>
          </a:xfrm>
          <a:prstGeom prst="rect">
            <a:avLst/>
          </a:prstGeom>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endParaRPr kumimoji="0" lang="es-AR" sz="100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s-AR"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La computabilidad de un lenguaje (o problema) tiene más que ver con su definición, su </a:t>
            </a:r>
            <a:r>
              <a:rPr kumimoji="0" lang="es-AR" b="1"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contorno </a:t>
            </a:r>
            <a:r>
              <a:rPr kumimoji="0" lang="es-AR"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(representación gráfica), </a:t>
            </a:r>
            <a:r>
              <a:rPr kumimoji="0" lang="es-AR" i="0" u="none" strike="noStrike" kern="1200" cap="none" spc="0" normalizeH="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que con su tamaño.</a:t>
            </a:r>
            <a:r>
              <a:rPr kumimoji="0" lang="es-AR"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a:t>
            </a:r>
          </a:p>
        </p:txBody>
      </p:sp>
      <p:sp>
        <p:nvSpPr>
          <p:cNvPr id="18" name="Diagrama de flujo: conector 17">
            <a:extLst>
              <a:ext uri="{FF2B5EF4-FFF2-40B4-BE49-F238E27FC236}">
                <a16:creationId xmlns:a16="http://schemas.microsoft.com/office/drawing/2014/main" id="{FFEFC3C8-66C6-4C05-BE47-8FDFBF2C37BD}"/>
              </a:ext>
            </a:extLst>
          </p:cNvPr>
          <p:cNvSpPr/>
          <p:nvPr/>
        </p:nvSpPr>
        <p:spPr>
          <a:xfrm>
            <a:off x="6934200" y="1316527"/>
            <a:ext cx="2743200" cy="186690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strella: 32 puntas 6">
            <a:extLst>
              <a:ext uri="{FF2B5EF4-FFF2-40B4-BE49-F238E27FC236}">
                <a16:creationId xmlns:a16="http://schemas.microsoft.com/office/drawing/2014/main" id="{01AAB57A-799E-48E3-8E08-D36827B919D2}"/>
              </a:ext>
            </a:extLst>
          </p:cNvPr>
          <p:cNvSpPr/>
          <p:nvPr/>
        </p:nvSpPr>
        <p:spPr>
          <a:xfrm>
            <a:off x="7291387" y="1940083"/>
            <a:ext cx="2028825" cy="1055814"/>
          </a:xfrm>
          <a:prstGeom prst="star3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Slide Number Placeholder 2">
            <a:extLst>
              <a:ext uri="{FF2B5EF4-FFF2-40B4-BE49-F238E27FC236}">
                <a16:creationId xmlns:a16="http://schemas.microsoft.com/office/drawing/2014/main" id="{724E844C-CF10-491F-8E06-36314E3624D6}"/>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9" name="CuadroTexto 18">
            <a:extLst>
              <a:ext uri="{FF2B5EF4-FFF2-40B4-BE49-F238E27FC236}">
                <a16:creationId xmlns:a16="http://schemas.microsoft.com/office/drawing/2014/main" id="{DD3711F1-C470-4ECB-A137-165A9D636371}"/>
              </a:ext>
            </a:extLst>
          </p:cNvPr>
          <p:cNvSpPr txBox="1"/>
          <p:nvPr/>
        </p:nvSpPr>
        <p:spPr>
          <a:xfrm>
            <a:off x="7070447" y="1763292"/>
            <a:ext cx="61266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HP</a:t>
            </a:r>
            <a:r>
              <a:rPr kumimoji="0" lang="es-AR" sz="1800" i="0" u="none" strike="noStrike" kern="1200" cap="none" spc="0" normalizeH="0" baseline="30000" noProof="0" dirty="0">
                <a:ln>
                  <a:noFill/>
                </a:ln>
                <a:solidFill>
                  <a:prstClr val="black"/>
                </a:solidFill>
                <a:effectLst/>
                <a:uLnTx/>
                <a:uFillTx/>
                <a:latin typeface="Arial" panose="020B0604020202020204" pitchFamily="34" charset="0"/>
                <a:cs typeface="Arial" panose="020B0604020202020204" pitchFamily="34" charset="0"/>
              </a:rPr>
              <a:t>C</a:t>
            </a:r>
            <a:endParaRPr kumimoji="0" lang="es-MX" sz="1800" i="0" u="none" strike="noStrike" kern="1200" cap="none" spc="0" normalizeH="0" baseline="0" noProof="0" dirty="0">
              <a:ln>
                <a:noFill/>
              </a:ln>
              <a:solidFill>
                <a:prstClr val="black"/>
              </a:solidFill>
              <a:effectLst/>
              <a:uLnTx/>
              <a:uFillTx/>
              <a:latin typeface="Calibri" panose="020F0502020204030204"/>
            </a:endParaRPr>
          </a:p>
        </p:txBody>
      </p:sp>
      <p:sp>
        <p:nvSpPr>
          <p:cNvPr id="20" name="CuadroTexto 19">
            <a:extLst>
              <a:ext uri="{FF2B5EF4-FFF2-40B4-BE49-F238E27FC236}">
                <a16:creationId xmlns:a16="http://schemas.microsoft.com/office/drawing/2014/main" id="{86A08D42-3CDB-4845-BB51-E75631B86616}"/>
              </a:ext>
            </a:extLst>
          </p:cNvPr>
          <p:cNvSpPr txBox="1"/>
          <p:nvPr/>
        </p:nvSpPr>
        <p:spPr>
          <a:xfrm>
            <a:off x="8067515" y="2283324"/>
            <a:ext cx="61266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HP</a:t>
            </a:r>
            <a:endParaRPr kumimoji="0" lang="es-MX" sz="1800" i="0" u="none" strike="noStrike" kern="1200" cap="none" spc="0" normalizeH="0" baseline="0" noProof="0" dirty="0">
              <a:ln>
                <a:noFill/>
              </a:ln>
              <a:solidFill>
                <a:prstClr val="black"/>
              </a:solidFill>
              <a:effectLst/>
              <a:uLnTx/>
              <a:uFillTx/>
              <a:latin typeface="Calibri" panose="020F0502020204030204"/>
            </a:endParaRPr>
          </a:p>
        </p:txBody>
      </p:sp>
      <p:sp>
        <p:nvSpPr>
          <p:cNvPr id="3" name="Rectángulo 2">
            <a:extLst>
              <a:ext uri="{FF2B5EF4-FFF2-40B4-BE49-F238E27FC236}">
                <a16:creationId xmlns:a16="http://schemas.microsoft.com/office/drawing/2014/main" id="{116A9A64-DE79-CF8D-25D0-4FFC1BB9EF6B}"/>
              </a:ext>
            </a:extLst>
          </p:cNvPr>
          <p:cNvSpPr/>
          <p:nvPr/>
        </p:nvSpPr>
        <p:spPr>
          <a:xfrm>
            <a:off x="269633" y="139369"/>
            <a:ext cx="11627091"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Computabilidad y tamaño de un lenguaje</a:t>
            </a:r>
            <a:endParaRPr lang="es-ES" sz="2400" b="1" dirty="0">
              <a:latin typeface="Arial" panose="020B0604020202020204" pitchFamily="34" charset="0"/>
              <a:ea typeface="Times New Roman" panose="02020603050405020304" pitchFamily="18" charset="0"/>
              <a:cs typeface="Arial" panose="020B0604020202020204" pitchFamily="34" charset="0"/>
            </a:endParaRPr>
          </a:p>
        </p:txBody>
      </p:sp>
      <p:sp>
        <p:nvSpPr>
          <p:cNvPr id="5" name="CuadroTexto 4">
            <a:extLst>
              <a:ext uri="{FF2B5EF4-FFF2-40B4-BE49-F238E27FC236}">
                <a16:creationId xmlns:a16="http://schemas.microsoft.com/office/drawing/2014/main" id="{4BB6CBF0-ED96-564D-B0F0-3C679CA40B20}"/>
              </a:ext>
            </a:extLst>
          </p:cNvPr>
          <p:cNvSpPr txBox="1"/>
          <p:nvPr/>
        </p:nvSpPr>
        <p:spPr>
          <a:xfrm>
            <a:off x="8067515" y="1273645"/>
            <a:ext cx="72704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320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Ʃ*</a:t>
            </a:r>
            <a:endParaRPr kumimoji="0" lang="es-MX" sz="3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4" descr="undefined">
            <a:extLst>
              <a:ext uri="{FF2B5EF4-FFF2-40B4-BE49-F238E27FC236}">
                <a16:creationId xmlns:a16="http://schemas.microsoft.com/office/drawing/2014/main" id="{7C2F7EF3-ADAE-DF57-1558-693BA2C50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0447" y="4440686"/>
            <a:ext cx="2744564" cy="2057901"/>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5C47D246-80ED-BC17-1D5E-5D5742D3D350}"/>
              </a:ext>
            </a:extLst>
          </p:cNvPr>
          <p:cNvSpPr txBox="1"/>
          <p:nvPr/>
        </p:nvSpPr>
        <p:spPr>
          <a:xfrm>
            <a:off x="6577529" y="4065627"/>
            <a:ext cx="3730399" cy="369332"/>
          </a:xfrm>
          <a:prstGeom prst="rect">
            <a:avLst/>
          </a:prstGeom>
          <a:noFill/>
        </p:spPr>
        <p:txBody>
          <a:bodyPr wrap="square">
            <a:spAutoFit/>
          </a:bodyPr>
          <a:lstStyle/>
          <a:p>
            <a:r>
              <a:rPr lang="es-ES" b="1" i="0" dirty="0">
                <a:solidFill>
                  <a:srgbClr val="202122"/>
                </a:solidFill>
                <a:effectLst/>
                <a:latin typeface="Arial" panose="020B0604020202020204" pitchFamily="34" charset="0"/>
              </a:rPr>
              <a:t>CONJUNTO DE MANDELBROT</a:t>
            </a:r>
            <a:endParaRPr lang="es-AR" b="1" dirty="0">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6E1FBFAE-2B37-9182-6CDE-1D28A2D10C49}"/>
              </a:ext>
            </a:extLst>
          </p:cNvPr>
          <p:cNvSpPr txBox="1"/>
          <p:nvPr/>
        </p:nvSpPr>
        <p:spPr>
          <a:xfrm>
            <a:off x="727827" y="4706580"/>
            <a:ext cx="5701548" cy="1287532"/>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es-AR" dirty="0">
                <a:latin typeface="Arial" panose="020B0604020202020204" pitchFamily="34" charset="0"/>
                <a:ea typeface="Times New Roman" panose="02020603050405020304" pitchFamily="18" charset="0"/>
                <a:cs typeface="Arial" panose="020B0604020202020204" pitchFamily="34" charset="0"/>
              </a:rPr>
              <a:t>El contorno del Conjunto de Mandelbrot es un muy buen ejemplo de un lenguaje no recursivo.</a:t>
            </a:r>
          </a:p>
          <a:p>
            <a:pPr marL="285750" indent="-285750">
              <a:lnSpc>
                <a:spcPct val="150000"/>
              </a:lnSpc>
              <a:buFont typeface="Arial" panose="020B0604020202020204" pitchFamily="34" charset="0"/>
              <a:buChar char="•"/>
              <a:defRPr/>
            </a:pPr>
            <a:endParaRPr lang="es-ES"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73575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
            <a:extLst>
              <a:ext uri="{FF2B5EF4-FFF2-40B4-BE49-F238E27FC236}">
                <a16:creationId xmlns:a16="http://schemas.microsoft.com/office/drawing/2014/main" id="{0E7DA53A-50AB-463F-82B4-421554541D6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2" name="CuadroTexto 51">
            <a:extLst>
              <a:ext uri="{FF2B5EF4-FFF2-40B4-BE49-F238E27FC236}">
                <a16:creationId xmlns:a16="http://schemas.microsoft.com/office/drawing/2014/main" id="{E8D657CA-6D72-4743-AB6E-F9912B0C0DC4}"/>
              </a:ext>
            </a:extLst>
          </p:cNvPr>
          <p:cNvSpPr txBox="1"/>
          <p:nvPr/>
        </p:nvSpPr>
        <p:spPr>
          <a:xfrm>
            <a:off x="881623" y="5617444"/>
            <a:ext cx="11139140" cy="877163"/>
          </a:xfrm>
          <a:prstGeom prst="rect">
            <a:avLst/>
          </a:prstGeom>
          <a:noFill/>
        </p:spPr>
        <p:txBody>
          <a:bodyPr wrap="square">
            <a:spAutoFit/>
          </a:bodyPr>
          <a:lstStyle/>
          <a:p>
            <a:r>
              <a:rPr lang="es-AR" dirty="0">
                <a:solidFill>
                  <a:srgbClr val="000000"/>
                </a:solidFill>
                <a:latin typeface="Arial" panose="020B0604020202020204" pitchFamily="34" charset="0"/>
                <a:cs typeface="Arial" panose="020B0604020202020204" pitchFamily="34" charset="0"/>
              </a:rPr>
              <a:t>Se define que la función f es una </a:t>
            </a:r>
            <a:r>
              <a:rPr lang="es-AR" b="1" dirty="0">
                <a:solidFill>
                  <a:srgbClr val="000000"/>
                </a:solidFill>
                <a:latin typeface="Arial" panose="020B0604020202020204" pitchFamily="34" charset="0"/>
                <a:cs typeface="Arial" panose="020B0604020202020204" pitchFamily="34" charset="0"/>
              </a:rPr>
              <a:t>reducción</a:t>
            </a:r>
            <a:r>
              <a:rPr lang="es-AR" dirty="0">
                <a:solidFill>
                  <a:srgbClr val="000000"/>
                </a:solidFill>
                <a:latin typeface="Arial" panose="020B0604020202020204" pitchFamily="34" charset="0"/>
                <a:cs typeface="Arial" panose="020B0604020202020204" pitchFamily="34" charset="0"/>
              </a:rPr>
              <a:t> de</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1</a:t>
            </a:r>
            <a:r>
              <a:rPr lang="es-MX" baseline="-25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a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p>
          <a:p>
            <a:endParaRPr lang="es-AR" sz="500" dirty="0">
              <a:latin typeface="Arial" panose="020B0604020202020204" pitchFamily="34" charset="0"/>
              <a:cs typeface="Arial" panose="020B0604020202020204" pitchFamily="34" charset="0"/>
            </a:endParaRPr>
          </a:p>
          <a:p>
            <a:endParaRPr lang="es-AR" sz="1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Se anota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1</a:t>
            </a:r>
            <a:r>
              <a:rPr lang="es-MX" b="1" baseline="-25000" dirty="0">
                <a:latin typeface="Arial" panose="020B0604020202020204" pitchFamily="34" charset="0"/>
                <a:cs typeface="Arial" panose="020B0604020202020204" pitchFamily="34" charset="0"/>
              </a:rPr>
              <a:t> </a:t>
            </a: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dirty="0">
                <a:latin typeface="Arial" panose="020B0604020202020204" pitchFamily="34" charset="0"/>
                <a:cs typeface="Arial" panose="020B0604020202020204" pitchFamily="34" charset="0"/>
              </a:rPr>
              <a:t> L</a:t>
            </a:r>
            <a:r>
              <a:rPr lang="es-AR" b="1"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y se dice que la función f es </a:t>
            </a:r>
            <a:r>
              <a:rPr lang="es-AR" b="1" dirty="0">
                <a:latin typeface="Arial" panose="020B0604020202020204" pitchFamily="34" charset="0"/>
                <a:cs typeface="Arial" panose="020B0604020202020204" pitchFamily="34" charset="0"/>
              </a:rPr>
              <a:t>total computable </a:t>
            </a:r>
            <a:r>
              <a:rPr lang="es-AR" dirty="0">
                <a:latin typeface="Arial" panose="020B0604020202020204" pitchFamily="34" charset="0"/>
                <a:cs typeface="Arial" panose="020B0604020202020204" pitchFamily="34" charset="0"/>
              </a:rPr>
              <a:t>(se computa sobre todas las cadenas).</a:t>
            </a:r>
            <a:endParaRPr lang="es-AR" dirty="0">
              <a:solidFill>
                <a:srgbClr val="000000"/>
              </a:solidFill>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19C5D70D-2E79-F275-11C4-DC1EE5E7DD3D}"/>
              </a:ext>
            </a:extLst>
          </p:cNvPr>
          <p:cNvSpPr/>
          <p:nvPr/>
        </p:nvSpPr>
        <p:spPr>
          <a:xfrm>
            <a:off x="249172" y="143605"/>
            <a:ext cx="11771591"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4. Reducciones</a:t>
            </a:r>
          </a:p>
        </p:txBody>
      </p:sp>
      <p:sp>
        <p:nvSpPr>
          <p:cNvPr id="5" name="CuadroTexto 4">
            <a:extLst>
              <a:ext uri="{FF2B5EF4-FFF2-40B4-BE49-F238E27FC236}">
                <a16:creationId xmlns:a16="http://schemas.microsoft.com/office/drawing/2014/main" id="{202EB979-B210-A4BC-CC7D-FCB03537AA77}"/>
              </a:ext>
            </a:extLst>
          </p:cNvPr>
          <p:cNvSpPr txBox="1"/>
          <p:nvPr/>
        </p:nvSpPr>
        <p:spPr>
          <a:xfrm>
            <a:off x="416485" y="1009471"/>
            <a:ext cx="11039479" cy="1554272"/>
          </a:xfrm>
          <a:prstGeom prst="rect">
            <a:avLst/>
          </a:prstGeom>
          <a:noFill/>
        </p:spPr>
        <p:txBody>
          <a:bodyPr wrap="square">
            <a:spAutoFit/>
          </a:bodyPr>
          <a:lstStyle/>
          <a:p>
            <a:pPr marL="285750" indent="-285750">
              <a:buFont typeface="Arial" panose="020B0604020202020204" pitchFamily="34" charset="0"/>
              <a:buChar char="•"/>
            </a:pPr>
            <a:r>
              <a:rPr lang="es-AR" dirty="0">
                <a:solidFill>
                  <a:srgbClr val="000000"/>
                </a:solidFill>
                <a:latin typeface="Arial" panose="020B0604020202020204" pitchFamily="34" charset="0"/>
                <a:cs typeface="Arial" panose="020B0604020202020204" pitchFamily="34" charset="0"/>
              </a:rPr>
              <a:t>Dados dos lenguajes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MX" baseline="-25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y L</a:t>
            </a:r>
            <a:r>
              <a:rPr lang="es-AR" baseline="-25000" dirty="0">
                <a:latin typeface="Arial" panose="020B0604020202020204" pitchFamily="34" charset="0"/>
                <a:cs typeface="Arial" panose="020B0604020202020204" pitchFamily="34" charset="0"/>
              </a:rPr>
              <a:t>2</a:t>
            </a:r>
            <a:r>
              <a:rPr lang="es-AR" dirty="0">
                <a:solidFill>
                  <a:srgbClr val="000000"/>
                </a:solidFill>
                <a:latin typeface="Arial" panose="020B0604020202020204" pitchFamily="34" charset="0"/>
                <a:cs typeface="Arial" panose="020B0604020202020204" pitchFamily="34" charset="0"/>
              </a:rPr>
              <a:t>, supongamos que existe una MT </a:t>
            </a:r>
            <a:r>
              <a:rPr lang="es-AR" dirty="0" err="1">
                <a:solidFill>
                  <a:srgbClr val="000000"/>
                </a:solidFill>
                <a:latin typeface="Arial" panose="020B0604020202020204" pitchFamily="34" charset="0"/>
                <a:cs typeface="Arial" panose="020B0604020202020204" pitchFamily="34" charset="0"/>
              </a:rPr>
              <a:t>M</a:t>
            </a:r>
            <a:r>
              <a:rPr lang="es-AR" baseline="-25000" dirty="0" err="1">
                <a:latin typeface="Arial" panose="020B0604020202020204" pitchFamily="34" charset="0"/>
                <a:cs typeface="Arial" panose="020B0604020202020204" pitchFamily="34" charset="0"/>
              </a:rPr>
              <a:t>f</a:t>
            </a:r>
            <a:r>
              <a:rPr lang="es-MX" baseline="-25000" dirty="0">
                <a:latin typeface="Arial" panose="020B0604020202020204" pitchFamily="34" charset="0"/>
                <a:cs typeface="Arial" panose="020B0604020202020204" pitchFamily="34" charset="0"/>
              </a:rPr>
              <a:t>  </a:t>
            </a:r>
            <a:r>
              <a:rPr lang="es-AR" dirty="0">
                <a:solidFill>
                  <a:srgbClr val="000000"/>
                </a:solidFill>
                <a:latin typeface="Arial" panose="020B0604020202020204" pitchFamily="34" charset="0"/>
                <a:cs typeface="Arial" panose="020B0604020202020204" pitchFamily="34" charset="0"/>
              </a:rPr>
              <a:t>que </a:t>
            </a:r>
            <a:r>
              <a:rPr lang="es-AR" b="1" dirty="0">
                <a:solidFill>
                  <a:srgbClr val="000000"/>
                </a:solidFill>
                <a:latin typeface="Arial" panose="020B0604020202020204" pitchFamily="34" charset="0"/>
                <a:cs typeface="Arial" panose="020B0604020202020204" pitchFamily="34" charset="0"/>
              </a:rPr>
              <a:t>computa</a:t>
            </a:r>
            <a:r>
              <a:rPr lang="es-AR" dirty="0">
                <a:solidFill>
                  <a:srgbClr val="000000"/>
                </a:solidFill>
                <a:latin typeface="Arial" panose="020B0604020202020204" pitchFamily="34" charset="0"/>
                <a:cs typeface="Arial" panose="020B0604020202020204" pitchFamily="34" charset="0"/>
              </a:rPr>
              <a:t> una función f : </a:t>
            </a:r>
            <a:r>
              <a:rPr lang="es-AR" sz="1800" dirty="0">
                <a:latin typeface="Arial" panose="020B0604020202020204" pitchFamily="34" charset="0"/>
                <a:cs typeface="Arial" panose="020B0604020202020204" pitchFamily="34" charset="0"/>
              </a:rPr>
              <a:t>Ʃ* </a:t>
            </a:r>
            <a:r>
              <a:rPr lang="es-AR" sz="1800" dirty="0">
                <a:effectLst/>
                <a:latin typeface="Cambria Math" panose="02040503050406030204" pitchFamily="18" charset="0"/>
                <a:ea typeface="Calibri" panose="020F0502020204030204" pitchFamily="34" charset="0"/>
                <a:cs typeface="Cambria Math" panose="02040503050406030204" pitchFamily="18" charset="0"/>
              </a:rPr>
              <a:t>⟶</a:t>
            </a:r>
            <a:r>
              <a:rPr lang="es-AR" sz="1800" dirty="0">
                <a:latin typeface="Arial" panose="020B0604020202020204" pitchFamily="34" charset="0"/>
                <a:cs typeface="Arial" panose="020B0604020202020204" pitchFamily="34" charset="0"/>
              </a:rPr>
              <a:t> Ʃ* de la siguiente forma:</a:t>
            </a:r>
            <a:r>
              <a:rPr lang="es-AR" sz="1800" dirty="0">
                <a:effectLst/>
                <a:latin typeface="Arial" panose="020B0604020202020204" pitchFamily="34" charset="0"/>
                <a:ea typeface="Calibri" panose="020F0502020204030204" pitchFamily="34" charset="0"/>
              </a:rPr>
              <a:t> </a:t>
            </a:r>
            <a:endParaRPr lang="es-AR" dirty="0">
              <a:solidFill>
                <a:srgbClr val="000000"/>
              </a:solidFill>
              <a:latin typeface="Arial" panose="020B0604020202020204" pitchFamily="34" charset="0"/>
              <a:cs typeface="Arial" panose="020B0604020202020204" pitchFamily="34" charset="0"/>
            </a:endParaRPr>
          </a:p>
          <a:p>
            <a:endParaRPr lang="es-AR" sz="1300" dirty="0">
              <a:solidFill>
                <a:srgbClr val="000000"/>
              </a:solidFill>
              <a:latin typeface="Arial" panose="020B0604020202020204" pitchFamily="34" charset="0"/>
              <a:cs typeface="Arial" panose="020B0604020202020204" pitchFamily="34" charset="0"/>
            </a:endParaRPr>
          </a:p>
          <a:p>
            <a:r>
              <a:rPr lang="es-AR" dirty="0">
                <a:solidFill>
                  <a:srgbClr val="000000"/>
                </a:solidFill>
                <a:latin typeface="Arial" panose="020B0604020202020204" pitchFamily="34" charset="0"/>
                <a:cs typeface="Arial" panose="020B0604020202020204" pitchFamily="34" charset="0"/>
              </a:rPr>
              <a:t>	</a:t>
            </a:r>
            <a:r>
              <a:rPr lang="es-AR" b="1" dirty="0">
                <a:solidFill>
                  <a:srgbClr val="000000"/>
                </a:solidFill>
                <a:latin typeface="Arial" panose="020B0604020202020204" pitchFamily="34" charset="0"/>
                <a:cs typeface="Arial" panose="020B0604020202020204" pitchFamily="34" charset="0"/>
              </a:rPr>
              <a:t>a partir de todo w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1</a:t>
            </a:r>
            <a:r>
              <a:rPr lang="es-AR" b="1" dirty="0">
                <a:solidFill>
                  <a:srgbClr val="000000"/>
                </a:solidFill>
                <a:latin typeface="Arial" panose="020B0604020202020204" pitchFamily="34" charset="0"/>
                <a:cs typeface="Arial" panose="020B0604020202020204" pitchFamily="34" charset="0"/>
              </a:rPr>
              <a:t>, la MT </a:t>
            </a:r>
            <a:r>
              <a:rPr lang="es-AR" b="1" dirty="0" err="1">
                <a:solidFill>
                  <a:srgbClr val="000000"/>
                </a:solidFill>
                <a:latin typeface="Arial" panose="020B0604020202020204" pitchFamily="34" charset="0"/>
                <a:cs typeface="Arial" panose="020B0604020202020204" pitchFamily="34" charset="0"/>
              </a:rPr>
              <a:t>M</a:t>
            </a:r>
            <a:r>
              <a:rPr lang="es-AR" b="1" baseline="-25000" dirty="0" err="1">
                <a:latin typeface="Arial" panose="020B0604020202020204" pitchFamily="34" charset="0"/>
                <a:cs typeface="Arial" panose="020B0604020202020204" pitchFamily="34" charset="0"/>
              </a:rPr>
              <a:t>f</a:t>
            </a:r>
            <a:r>
              <a:rPr lang="es-MX" b="1" baseline="-25000" dirty="0">
                <a:latin typeface="Arial" panose="020B0604020202020204" pitchFamily="34" charset="0"/>
                <a:cs typeface="Arial" panose="020B0604020202020204" pitchFamily="34" charset="0"/>
              </a:rPr>
              <a:t>  </a:t>
            </a:r>
            <a:r>
              <a:rPr lang="es-AR" b="1" dirty="0">
                <a:solidFill>
                  <a:srgbClr val="000000"/>
                </a:solidFill>
                <a:latin typeface="Arial" panose="020B0604020202020204" pitchFamily="34" charset="0"/>
                <a:cs typeface="Arial" panose="020B0604020202020204" pitchFamily="34" charset="0"/>
              </a:rPr>
              <a:t>genera f(w)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2</a:t>
            </a:r>
            <a:endParaRPr lang="es-AR" b="1" dirty="0">
              <a:solidFill>
                <a:srgbClr val="000000"/>
              </a:solidFill>
              <a:latin typeface="Arial" panose="020B0604020202020204" pitchFamily="34" charset="0"/>
              <a:cs typeface="Arial" panose="020B0604020202020204" pitchFamily="34" charset="0"/>
            </a:endParaRPr>
          </a:p>
          <a:p>
            <a:endParaRPr lang="es-AR" sz="1000" b="1" dirty="0">
              <a:solidFill>
                <a:srgbClr val="000000"/>
              </a:solidFill>
              <a:latin typeface="Arial" panose="020B0604020202020204" pitchFamily="34" charset="0"/>
              <a:cs typeface="Arial" panose="020B0604020202020204" pitchFamily="34" charset="0"/>
            </a:endParaRPr>
          </a:p>
          <a:p>
            <a:r>
              <a:rPr lang="es-AR" b="1" dirty="0">
                <a:solidFill>
                  <a:srgbClr val="000000"/>
                </a:solidFill>
                <a:latin typeface="Arial" panose="020B0604020202020204" pitchFamily="34" charset="0"/>
                <a:cs typeface="Arial" panose="020B0604020202020204" pitchFamily="34" charset="0"/>
              </a:rPr>
              <a:t>	a partir de todo w </a:t>
            </a:r>
            <a:r>
              <a:rPr lang="es-AR" b="1" dirty="0">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1</a:t>
            </a:r>
            <a:r>
              <a:rPr lang="es-AR" b="1" dirty="0">
                <a:solidFill>
                  <a:srgbClr val="000000"/>
                </a:solidFill>
                <a:latin typeface="Arial" panose="020B0604020202020204" pitchFamily="34" charset="0"/>
                <a:cs typeface="Arial" panose="020B0604020202020204" pitchFamily="34" charset="0"/>
              </a:rPr>
              <a:t>, la MT </a:t>
            </a:r>
            <a:r>
              <a:rPr lang="es-AR" b="1" dirty="0" err="1">
                <a:solidFill>
                  <a:srgbClr val="000000"/>
                </a:solidFill>
                <a:latin typeface="Arial" panose="020B0604020202020204" pitchFamily="34" charset="0"/>
                <a:cs typeface="Arial" panose="020B0604020202020204" pitchFamily="34" charset="0"/>
              </a:rPr>
              <a:t>M</a:t>
            </a:r>
            <a:r>
              <a:rPr lang="es-AR" b="1" baseline="-25000" dirty="0" err="1">
                <a:latin typeface="Arial" panose="020B0604020202020204" pitchFamily="34" charset="0"/>
                <a:cs typeface="Arial" panose="020B0604020202020204" pitchFamily="34" charset="0"/>
              </a:rPr>
              <a:t>f</a:t>
            </a:r>
            <a:r>
              <a:rPr lang="es-MX" b="1" baseline="-25000" dirty="0">
                <a:latin typeface="Arial" panose="020B0604020202020204" pitchFamily="34" charset="0"/>
                <a:cs typeface="Arial" panose="020B0604020202020204" pitchFamily="34" charset="0"/>
              </a:rPr>
              <a:t>  </a:t>
            </a:r>
            <a:r>
              <a:rPr lang="es-AR" b="1" dirty="0">
                <a:solidFill>
                  <a:srgbClr val="000000"/>
                </a:solidFill>
                <a:latin typeface="Arial" panose="020B0604020202020204" pitchFamily="34" charset="0"/>
                <a:cs typeface="Arial" panose="020B0604020202020204" pitchFamily="34" charset="0"/>
              </a:rPr>
              <a:t>genera f(w) </a:t>
            </a:r>
            <a:r>
              <a:rPr lang="es-AR" b="1" dirty="0">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2</a:t>
            </a:r>
            <a:endParaRPr lang="es-AR" b="1" dirty="0">
              <a:solidFill>
                <a:srgbClr val="000000"/>
              </a:solidFill>
              <a:latin typeface="Arial" panose="020B0604020202020204" pitchFamily="34" charset="0"/>
              <a:cs typeface="Arial" panose="020B0604020202020204" pitchFamily="34" charset="0"/>
            </a:endParaRPr>
          </a:p>
        </p:txBody>
      </p:sp>
      <p:sp>
        <p:nvSpPr>
          <p:cNvPr id="9" name="Diagrama de flujo: conector 8">
            <a:extLst>
              <a:ext uri="{FF2B5EF4-FFF2-40B4-BE49-F238E27FC236}">
                <a16:creationId xmlns:a16="http://schemas.microsoft.com/office/drawing/2014/main" id="{E8E75970-C212-3F4C-2B14-9CD21D8CE6E0}"/>
              </a:ext>
            </a:extLst>
          </p:cNvPr>
          <p:cNvSpPr/>
          <p:nvPr/>
        </p:nvSpPr>
        <p:spPr>
          <a:xfrm>
            <a:off x="3785464" y="2815119"/>
            <a:ext cx="2150761" cy="247607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Diagrama de flujo: conector 9">
            <a:extLst>
              <a:ext uri="{FF2B5EF4-FFF2-40B4-BE49-F238E27FC236}">
                <a16:creationId xmlns:a16="http://schemas.microsoft.com/office/drawing/2014/main" id="{58D6253B-2BD4-B694-1C10-52C33F617CE5}"/>
              </a:ext>
            </a:extLst>
          </p:cNvPr>
          <p:cNvSpPr/>
          <p:nvPr/>
        </p:nvSpPr>
        <p:spPr>
          <a:xfrm>
            <a:off x="4212405" y="3411923"/>
            <a:ext cx="1337666" cy="1541381"/>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Diagrama de flujo: conector 10">
            <a:extLst>
              <a:ext uri="{FF2B5EF4-FFF2-40B4-BE49-F238E27FC236}">
                <a16:creationId xmlns:a16="http://schemas.microsoft.com/office/drawing/2014/main" id="{4409FB23-2009-5CBF-7D59-6FDF4561B4E4}"/>
              </a:ext>
            </a:extLst>
          </p:cNvPr>
          <p:cNvSpPr/>
          <p:nvPr/>
        </p:nvSpPr>
        <p:spPr>
          <a:xfrm>
            <a:off x="6479446" y="2815119"/>
            <a:ext cx="2047545" cy="247607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193C55A7-DDCB-2F7B-9B0A-535AC47C1453}"/>
              </a:ext>
            </a:extLst>
          </p:cNvPr>
          <p:cNvSpPr/>
          <p:nvPr/>
        </p:nvSpPr>
        <p:spPr>
          <a:xfrm>
            <a:off x="4683489" y="3416679"/>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1</a:t>
            </a:r>
            <a:endParaRPr lang="es-MX" sz="2400" dirty="0"/>
          </a:p>
        </p:txBody>
      </p:sp>
      <p:sp>
        <p:nvSpPr>
          <p:cNvPr id="19" name="Rectángulo 18">
            <a:extLst>
              <a:ext uri="{FF2B5EF4-FFF2-40B4-BE49-F238E27FC236}">
                <a16:creationId xmlns:a16="http://schemas.microsoft.com/office/drawing/2014/main" id="{8FAE8C0D-6199-D0B6-CA4A-5B7F63F9C342}"/>
              </a:ext>
            </a:extLst>
          </p:cNvPr>
          <p:cNvSpPr/>
          <p:nvPr/>
        </p:nvSpPr>
        <p:spPr>
          <a:xfrm>
            <a:off x="4691904" y="4116679"/>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1</a:t>
            </a:r>
            <a:endParaRPr lang="es-MX" sz="1600" dirty="0"/>
          </a:p>
        </p:txBody>
      </p:sp>
      <p:sp>
        <p:nvSpPr>
          <p:cNvPr id="21" name="CuadroTexto 20">
            <a:extLst>
              <a:ext uri="{FF2B5EF4-FFF2-40B4-BE49-F238E27FC236}">
                <a16:creationId xmlns:a16="http://schemas.microsoft.com/office/drawing/2014/main" id="{2ECCB212-FBA8-5795-9232-D8E605095B9D}"/>
              </a:ext>
            </a:extLst>
          </p:cNvPr>
          <p:cNvSpPr txBox="1"/>
          <p:nvPr/>
        </p:nvSpPr>
        <p:spPr>
          <a:xfrm>
            <a:off x="4620383" y="2827149"/>
            <a:ext cx="712216" cy="584775"/>
          </a:xfrm>
          <a:prstGeom prst="rect">
            <a:avLst/>
          </a:prstGeom>
          <a:noFill/>
        </p:spPr>
        <p:txBody>
          <a:bodyPr wrap="square">
            <a:spAutoFit/>
          </a:bodyPr>
          <a:lstStyle/>
          <a:p>
            <a:r>
              <a:rPr lang="es-AR" sz="3200" dirty="0">
                <a:latin typeface="Arial" panose="020B0604020202020204" pitchFamily="34" charset="0"/>
                <a:cs typeface="Arial" panose="020B0604020202020204" pitchFamily="34" charset="0"/>
              </a:rPr>
              <a:t>Ʃ*</a:t>
            </a:r>
            <a:endParaRPr lang="es-AR" sz="3200" dirty="0"/>
          </a:p>
        </p:txBody>
      </p:sp>
      <p:sp>
        <p:nvSpPr>
          <p:cNvPr id="22" name="Diagrama de flujo: conector 21">
            <a:extLst>
              <a:ext uri="{FF2B5EF4-FFF2-40B4-BE49-F238E27FC236}">
                <a16:creationId xmlns:a16="http://schemas.microsoft.com/office/drawing/2014/main" id="{610C679D-4FF5-B3A2-20EE-D8F5220521A4}"/>
              </a:ext>
            </a:extLst>
          </p:cNvPr>
          <p:cNvSpPr/>
          <p:nvPr/>
        </p:nvSpPr>
        <p:spPr>
          <a:xfrm>
            <a:off x="6888008" y="3437760"/>
            <a:ext cx="1277956" cy="1492460"/>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D90ADC84-1B38-A370-EC00-4ACF41EE8564}"/>
              </a:ext>
            </a:extLst>
          </p:cNvPr>
          <p:cNvSpPr txBox="1"/>
          <p:nvPr/>
        </p:nvSpPr>
        <p:spPr>
          <a:xfrm>
            <a:off x="7268845" y="2835466"/>
            <a:ext cx="712216" cy="584775"/>
          </a:xfrm>
          <a:prstGeom prst="rect">
            <a:avLst/>
          </a:prstGeom>
          <a:noFill/>
        </p:spPr>
        <p:txBody>
          <a:bodyPr wrap="square">
            <a:spAutoFit/>
          </a:bodyPr>
          <a:lstStyle/>
          <a:p>
            <a:r>
              <a:rPr lang="es-AR" sz="3200" dirty="0">
                <a:latin typeface="Arial" panose="020B0604020202020204" pitchFamily="34" charset="0"/>
                <a:cs typeface="Arial" panose="020B0604020202020204" pitchFamily="34" charset="0"/>
              </a:rPr>
              <a:t>Ʃ*</a:t>
            </a:r>
            <a:endParaRPr lang="es-AR" sz="3200" dirty="0"/>
          </a:p>
        </p:txBody>
      </p:sp>
      <p:sp>
        <p:nvSpPr>
          <p:cNvPr id="25" name="Rectángulo 24">
            <a:extLst>
              <a:ext uri="{FF2B5EF4-FFF2-40B4-BE49-F238E27FC236}">
                <a16:creationId xmlns:a16="http://schemas.microsoft.com/office/drawing/2014/main" id="{293A27EB-819E-BA3E-A690-7CEBB55BEF81}"/>
              </a:ext>
            </a:extLst>
          </p:cNvPr>
          <p:cNvSpPr/>
          <p:nvPr/>
        </p:nvSpPr>
        <p:spPr>
          <a:xfrm>
            <a:off x="7300413" y="3483812"/>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2</a:t>
            </a:r>
            <a:endParaRPr lang="es-MX" sz="2400" dirty="0"/>
          </a:p>
        </p:txBody>
      </p:sp>
      <p:cxnSp>
        <p:nvCxnSpPr>
          <p:cNvPr id="26" name="Conector recto de flecha 25">
            <a:extLst>
              <a:ext uri="{FF2B5EF4-FFF2-40B4-BE49-F238E27FC236}">
                <a16:creationId xmlns:a16="http://schemas.microsoft.com/office/drawing/2014/main" id="{8D268A4E-44B9-D41E-4690-1630D9420ACF}"/>
              </a:ext>
            </a:extLst>
          </p:cNvPr>
          <p:cNvCxnSpPr>
            <a:cxnSpLocks/>
          </p:cNvCxnSpPr>
          <p:nvPr/>
        </p:nvCxnSpPr>
        <p:spPr>
          <a:xfrm flipV="1">
            <a:off x="5079441" y="4271730"/>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ángulo 28">
            <a:extLst>
              <a:ext uri="{FF2B5EF4-FFF2-40B4-BE49-F238E27FC236}">
                <a16:creationId xmlns:a16="http://schemas.microsoft.com/office/drawing/2014/main" id="{EE972AFF-750F-3BD8-815C-EC40C5459579}"/>
              </a:ext>
            </a:extLst>
          </p:cNvPr>
          <p:cNvSpPr/>
          <p:nvPr/>
        </p:nvSpPr>
        <p:spPr>
          <a:xfrm>
            <a:off x="7370672" y="4102068"/>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a:t>
            </a:r>
            <a:endParaRPr lang="es-MX" sz="1600" dirty="0"/>
          </a:p>
        </p:txBody>
      </p:sp>
      <p:sp>
        <p:nvSpPr>
          <p:cNvPr id="30" name="Rectángulo 29">
            <a:extLst>
              <a:ext uri="{FF2B5EF4-FFF2-40B4-BE49-F238E27FC236}">
                <a16:creationId xmlns:a16="http://schemas.microsoft.com/office/drawing/2014/main" id="{D7A56618-E2DF-DC53-5220-F1B6F35852FC}"/>
              </a:ext>
            </a:extLst>
          </p:cNvPr>
          <p:cNvSpPr/>
          <p:nvPr/>
        </p:nvSpPr>
        <p:spPr>
          <a:xfrm>
            <a:off x="4683489" y="4944831"/>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2</a:t>
            </a:r>
            <a:endParaRPr lang="es-MX" sz="1600" dirty="0"/>
          </a:p>
        </p:txBody>
      </p:sp>
      <p:cxnSp>
        <p:nvCxnSpPr>
          <p:cNvPr id="31" name="Conector recto de flecha 30">
            <a:extLst>
              <a:ext uri="{FF2B5EF4-FFF2-40B4-BE49-F238E27FC236}">
                <a16:creationId xmlns:a16="http://schemas.microsoft.com/office/drawing/2014/main" id="{F0C98C28-6A76-E9C1-4A64-7D621095725E}"/>
              </a:ext>
            </a:extLst>
          </p:cNvPr>
          <p:cNvCxnSpPr>
            <a:cxnSpLocks/>
          </p:cNvCxnSpPr>
          <p:nvPr/>
        </p:nvCxnSpPr>
        <p:spPr>
          <a:xfrm flipV="1">
            <a:off x="5071026" y="5099882"/>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ángulo 31">
            <a:extLst>
              <a:ext uri="{FF2B5EF4-FFF2-40B4-BE49-F238E27FC236}">
                <a16:creationId xmlns:a16="http://schemas.microsoft.com/office/drawing/2014/main" id="{40A809E2-29AE-8EF5-B5D2-BCE72AAEB360}"/>
              </a:ext>
            </a:extLst>
          </p:cNvPr>
          <p:cNvSpPr/>
          <p:nvPr/>
        </p:nvSpPr>
        <p:spPr>
          <a:xfrm>
            <a:off x="7362257" y="4930220"/>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a:t>
            </a:r>
            <a:endParaRPr lang="es-MX" sz="1600" dirty="0"/>
          </a:p>
        </p:txBody>
      </p:sp>
      <p:sp>
        <p:nvSpPr>
          <p:cNvPr id="2" name="Rectángulo 1">
            <a:extLst>
              <a:ext uri="{FF2B5EF4-FFF2-40B4-BE49-F238E27FC236}">
                <a16:creationId xmlns:a16="http://schemas.microsoft.com/office/drawing/2014/main" id="{33EBB2A7-D343-F39A-8EB6-AF2840B7FE71}"/>
              </a:ext>
            </a:extLst>
          </p:cNvPr>
          <p:cNvSpPr/>
          <p:nvPr/>
        </p:nvSpPr>
        <p:spPr>
          <a:xfrm>
            <a:off x="5951732" y="4445646"/>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C8CDE782-00A2-7A8F-2E9F-0F532AB3E145}"/>
              </a:ext>
            </a:extLst>
          </p:cNvPr>
          <p:cNvSpPr/>
          <p:nvPr/>
        </p:nvSpPr>
        <p:spPr>
          <a:xfrm>
            <a:off x="6014599" y="4503954"/>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1541397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6533537" y="989343"/>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11034" y="4573295"/>
            <a:ext cx="10175115" cy="1846659"/>
          </a:xfrm>
          <a:prstGeom prst="rect">
            <a:avLst/>
          </a:prstGeom>
        </p:spPr>
        <p:txBody>
          <a:bodyPr wrap="square">
            <a:spAutoFit/>
          </a:bodyPr>
          <a:lstStyle/>
          <a:p>
            <a:r>
              <a:rPr lang="es-AR" dirty="0">
                <a:latin typeface="Arial" panose="020B0604020202020204" pitchFamily="34" charset="0"/>
                <a:cs typeface="Arial" panose="020B0604020202020204" pitchFamily="34" charset="0"/>
              </a:rPr>
              <a:t>    Es decir, si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a:t>
            </a:r>
            <a:endParaRPr lang="es-AR" b="1" baseline="-25000" dirty="0">
              <a:latin typeface="Arial" panose="020B0604020202020204" pitchFamily="34" charset="0"/>
              <a:cs typeface="Arial" panose="020B0604020202020204" pitchFamily="34" charset="0"/>
            </a:endParaRPr>
          </a:p>
          <a:p>
            <a:pPr marL="254250" lvl="1"/>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R, no puede suceder que L</a:t>
            </a:r>
            <a:r>
              <a:rPr lang="es-AR" baseline="-25000" dirty="0">
                <a:latin typeface="Arial" panose="020B0604020202020204" pitchFamily="34" charset="0"/>
                <a:cs typeface="Arial" panose="020B0604020202020204" pitchFamily="34" charset="0"/>
              </a:rPr>
              <a:t>2 </a:t>
            </a:r>
            <a:r>
              <a:rPr lang="es-AR" dirty="0">
                <a:effectLst/>
                <a:latin typeface="Arial" panose="020B0604020202020204" pitchFamily="34" charset="0"/>
                <a:ea typeface="Calibri" panose="020F0502020204030204" pitchFamily="34" charset="0"/>
                <a:cs typeface="Arial" panose="020B0604020202020204" pitchFamily="34" charset="0"/>
              </a:rPr>
              <a:t>∈ R.</a:t>
            </a:r>
          </a:p>
          <a:p>
            <a:pPr marL="254250" lvl="1"/>
            <a:r>
              <a:rPr lang="es-AR" dirty="0">
                <a:latin typeface="Arial" panose="020B0604020202020204" pitchFamily="34" charset="0"/>
                <a:cs typeface="Arial" panose="020B0604020202020204" pitchFamily="34" charset="0"/>
              </a:rPr>
              <a:t>Si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RE, no puede suceder que L</a:t>
            </a:r>
            <a:r>
              <a:rPr lang="es-AR" baseline="-25000" dirty="0">
                <a:latin typeface="Arial" panose="020B0604020202020204" pitchFamily="34" charset="0"/>
                <a:cs typeface="Arial" panose="020B0604020202020204" pitchFamily="34" charset="0"/>
              </a:rPr>
              <a:t>2 </a:t>
            </a:r>
            <a:r>
              <a:rPr lang="es-AR" dirty="0">
                <a:effectLst/>
                <a:latin typeface="Arial" panose="020B0604020202020204" pitchFamily="34" charset="0"/>
                <a:ea typeface="Calibri" panose="020F0502020204030204" pitchFamily="34" charset="0"/>
                <a:cs typeface="Arial" panose="020B0604020202020204" pitchFamily="34" charset="0"/>
              </a:rPr>
              <a:t>∈ RE.</a:t>
            </a:r>
          </a:p>
          <a:p>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es </a:t>
            </a:r>
            <a:r>
              <a:rPr lang="es-AR" b="1" dirty="0">
                <a:latin typeface="Arial" panose="020B0604020202020204" pitchFamily="34" charset="0"/>
                <a:cs typeface="Arial" panose="020B0604020202020204" pitchFamily="34" charset="0"/>
              </a:rPr>
              <a:t>tan o más difícil </a:t>
            </a:r>
            <a:r>
              <a:rPr lang="es-AR" dirty="0">
                <a:latin typeface="Arial" panose="020B0604020202020204" pitchFamily="34" charset="0"/>
                <a:cs typeface="Arial" panose="020B0604020202020204" pitchFamily="34" charset="0"/>
              </a:rPr>
              <a:t>que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r</a:t>
            </a:r>
            <a:r>
              <a:rPr lang="es-AR" b="1" dirty="0">
                <a:latin typeface="Arial" panose="020B0604020202020204" pitchFamily="34" charset="0"/>
                <a:cs typeface="Arial" panose="020B0604020202020204" pitchFamily="34" charset="0"/>
              </a:rPr>
              <a:t>esolviendo 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se resuelve 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a:t>
            </a:r>
          </a:p>
          <a:p>
            <a:endParaRPr lang="es-AR" baseline="-25000" dirty="0">
              <a:latin typeface="Arial" panose="020B0604020202020204" pitchFamily="34" charset="0"/>
              <a:cs typeface="Arial" panose="020B0604020202020204" pitchFamily="34" charset="0"/>
            </a:endParaRPr>
          </a:p>
          <a:p>
            <a:endParaRPr lang="es-AR" baseline="-25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De esta manera, las reducciones permiten encontrar lenguajes </a:t>
            </a:r>
            <a:r>
              <a:rPr lang="es-AR" b="1" dirty="0">
                <a:latin typeface="Arial" panose="020B0604020202020204" pitchFamily="34" charset="0"/>
                <a:cs typeface="Arial" panose="020B0604020202020204" pitchFamily="34" charset="0"/>
              </a:rPr>
              <a:t>dentro y fuera de R y RE.</a:t>
            </a:r>
          </a:p>
        </p:txBody>
      </p:sp>
      <p:sp>
        <p:nvSpPr>
          <p:cNvPr id="2" name="Rectángulo 1">
            <a:extLst>
              <a:ext uri="{FF2B5EF4-FFF2-40B4-BE49-F238E27FC236}">
                <a16:creationId xmlns:a16="http://schemas.microsoft.com/office/drawing/2014/main" id="{45AC5172-15EE-9C4D-F60F-096E1D4E949C}"/>
              </a:ext>
            </a:extLst>
          </p:cNvPr>
          <p:cNvSpPr/>
          <p:nvPr/>
        </p:nvSpPr>
        <p:spPr>
          <a:xfrm>
            <a:off x="249172" y="143605"/>
            <a:ext cx="11638027"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Utilidad de las reducciones</a:t>
            </a:r>
          </a:p>
        </p:txBody>
      </p:sp>
      <p:sp>
        <p:nvSpPr>
          <p:cNvPr id="3" name="Rectángulo 2">
            <a:extLst>
              <a:ext uri="{FF2B5EF4-FFF2-40B4-BE49-F238E27FC236}">
                <a16:creationId xmlns:a16="http://schemas.microsoft.com/office/drawing/2014/main" id="{BAAF3022-65B8-ACA9-5A2F-8B2448AF935D}"/>
              </a:ext>
            </a:extLst>
          </p:cNvPr>
          <p:cNvSpPr/>
          <p:nvPr/>
        </p:nvSpPr>
        <p:spPr>
          <a:xfrm>
            <a:off x="8551975" y="1920422"/>
            <a:ext cx="390187" cy="338554"/>
          </a:xfrm>
          <a:prstGeom prst="rect">
            <a:avLst/>
          </a:prstGeom>
        </p:spPr>
        <p:txBody>
          <a:bodyPr wrap="square">
            <a:spAutoFit/>
          </a:bodyPr>
          <a:lstStyle/>
          <a:p>
            <a:r>
              <a:rPr lang="es-AR" sz="1600" dirty="0">
                <a:effectLst/>
                <a:latin typeface="Arial" panose="020B0604020202020204" pitchFamily="34" charset="0"/>
                <a:ea typeface="Calibri" panose="020F0502020204030204" pitchFamily="34" charset="0"/>
              </a:rPr>
              <a:t>w</a:t>
            </a:r>
            <a:endParaRPr lang="es-AR" sz="1600" dirty="0"/>
          </a:p>
        </p:txBody>
      </p:sp>
      <p:sp>
        <p:nvSpPr>
          <p:cNvPr id="4" name="Rectángulo 3">
            <a:extLst>
              <a:ext uri="{FF2B5EF4-FFF2-40B4-BE49-F238E27FC236}">
                <a16:creationId xmlns:a16="http://schemas.microsoft.com/office/drawing/2014/main" id="{6C586440-1E28-3D94-195A-59D072B36CFF}"/>
              </a:ext>
            </a:extLst>
          </p:cNvPr>
          <p:cNvSpPr/>
          <p:nvPr/>
        </p:nvSpPr>
        <p:spPr>
          <a:xfrm>
            <a:off x="9141098" y="1980211"/>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5" name="Conector recto de flecha 4">
            <a:extLst>
              <a:ext uri="{FF2B5EF4-FFF2-40B4-BE49-F238E27FC236}">
                <a16:creationId xmlns:a16="http://schemas.microsoft.com/office/drawing/2014/main" id="{2C46D7D8-94B4-ABF4-3AA2-414B82A5AB85}"/>
              </a:ext>
            </a:extLst>
          </p:cNvPr>
          <p:cNvCxnSpPr>
            <a:cxnSpLocks/>
          </p:cNvCxnSpPr>
          <p:nvPr/>
        </p:nvCxnSpPr>
        <p:spPr>
          <a:xfrm>
            <a:off x="8474115" y="2240498"/>
            <a:ext cx="6162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57B8C2C2-350F-597A-68F1-B9708D59A378}"/>
              </a:ext>
            </a:extLst>
          </p:cNvPr>
          <p:cNvSpPr/>
          <p:nvPr/>
        </p:nvSpPr>
        <p:spPr>
          <a:xfrm>
            <a:off x="9203965" y="2038519"/>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12" name="Rectángulo 11">
            <a:extLst>
              <a:ext uri="{FF2B5EF4-FFF2-40B4-BE49-F238E27FC236}">
                <a16:creationId xmlns:a16="http://schemas.microsoft.com/office/drawing/2014/main" id="{052ED605-154A-6958-3468-0A56EFD980D9}"/>
              </a:ext>
            </a:extLst>
          </p:cNvPr>
          <p:cNvSpPr/>
          <p:nvPr/>
        </p:nvSpPr>
        <p:spPr>
          <a:xfrm>
            <a:off x="9669108" y="1954518"/>
            <a:ext cx="527709" cy="338554"/>
          </a:xfrm>
          <a:prstGeom prst="rect">
            <a:avLst/>
          </a:prstGeom>
        </p:spPr>
        <p:txBody>
          <a:bodyPr wrap="none">
            <a:spAutoFit/>
          </a:bodyPr>
          <a:lstStyle/>
          <a:p>
            <a:r>
              <a:rPr lang="es-AR" sz="1600" dirty="0">
                <a:latin typeface="Arial" panose="020B0604020202020204" pitchFamily="34" charset="0"/>
                <a:ea typeface="Calibri" panose="020F0502020204030204" pitchFamily="34" charset="0"/>
              </a:rPr>
              <a:t>f</a:t>
            </a:r>
            <a:r>
              <a:rPr lang="es-AR" sz="1600" dirty="0">
                <a:effectLst/>
                <a:latin typeface="Arial" panose="020B0604020202020204" pitchFamily="34" charset="0"/>
                <a:ea typeface="Calibri" panose="020F0502020204030204" pitchFamily="34" charset="0"/>
              </a:rPr>
              <a:t>(w)</a:t>
            </a:r>
            <a:endParaRPr lang="es-AR" sz="1600" dirty="0"/>
          </a:p>
        </p:txBody>
      </p:sp>
      <p:sp>
        <p:nvSpPr>
          <p:cNvPr id="18" name="Rectángulo 17">
            <a:extLst>
              <a:ext uri="{FF2B5EF4-FFF2-40B4-BE49-F238E27FC236}">
                <a16:creationId xmlns:a16="http://schemas.microsoft.com/office/drawing/2014/main" id="{DCBE7306-0537-5401-C913-6849D633B5CE}"/>
              </a:ext>
            </a:extLst>
          </p:cNvPr>
          <p:cNvSpPr/>
          <p:nvPr/>
        </p:nvSpPr>
        <p:spPr>
          <a:xfrm>
            <a:off x="11213166" y="2214694"/>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sz="1600" dirty="0"/>
          </a:p>
        </p:txBody>
      </p:sp>
      <p:sp>
        <p:nvSpPr>
          <p:cNvPr id="25" name="Rectángulo 24">
            <a:extLst>
              <a:ext uri="{FF2B5EF4-FFF2-40B4-BE49-F238E27FC236}">
                <a16:creationId xmlns:a16="http://schemas.microsoft.com/office/drawing/2014/main" id="{491BF319-6014-7AA2-6C7D-36874277374E}"/>
              </a:ext>
            </a:extLst>
          </p:cNvPr>
          <p:cNvSpPr/>
          <p:nvPr/>
        </p:nvSpPr>
        <p:spPr>
          <a:xfrm>
            <a:off x="10257526" y="1977193"/>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0" name="Conector recto de flecha 29">
            <a:extLst>
              <a:ext uri="{FF2B5EF4-FFF2-40B4-BE49-F238E27FC236}">
                <a16:creationId xmlns:a16="http://schemas.microsoft.com/office/drawing/2014/main" id="{F91ED926-CE54-3D1D-2E15-962598F7E0A3}"/>
              </a:ext>
            </a:extLst>
          </p:cNvPr>
          <p:cNvCxnSpPr>
            <a:cxnSpLocks/>
          </p:cNvCxnSpPr>
          <p:nvPr/>
        </p:nvCxnSpPr>
        <p:spPr>
          <a:xfrm>
            <a:off x="9681641" y="2237375"/>
            <a:ext cx="558093" cy="31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93C33734-07FD-7B42-264A-359F62F44BF3}"/>
              </a:ext>
            </a:extLst>
          </p:cNvPr>
          <p:cNvCxnSpPr>
            <a:cxnSpLocks/>
          </p:cNvCxnSpPr>
          <p:nvPr/>
        </p:nvCxnSpPr>
        <p:spPr>
          <a:xfrm flipV="1">
            <a:off x="10809895" y="2021436"/>
            <a:ext cx="421026" cy="178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224711B0-FF54-154B-E6DE-A2BED9B6664E}"/>
              </a:ext>
            </a:extLst>
          </p:cNvPr>
          <p:cNvSpPr/>
          <p:nvPr/>
        </p:nvSpPr>
        <p:spPr>
          <a:xfrm>
            <a:off x="11222718" y="1832814"/>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sz="1600" dirty="0"/>
          </a:p>
        </p:txBody>
      </p:sp>
      <p:sp>
        <p:nvSpPr>
          <p:cNvPr id="42" name="Rectángulo 41">
            <a:extLst>
              <a:ext uri="{FF2B5EF4-FFF2-40B4-BE49-F238E27FC236}">
                <a16:creationId xmlns:a16="http://schemas.microsoft.com/office/drawing/2014/main" id="{9DB02432-1B14-CD9C-E72C-418CFCF44DE1}"/>
              </a:ext>
            </a:extLst>
          </p:cNvPr>
          <p:cNvSpPr/>
          <p:nvPr/>
        </p:nvSpPr>
        <p:spPr>
          <a:xfrm>
            <a:off x="10239617" y="2023709"/>
            <a:ext cx="531275" cy="338554"/>
          </a:xfrm>
          <a:prstGeom prst="rect">
            <a:avLst/>
          </a:prstGeom>
        </p:spPr>
        <p:txBody>
          <a:bodyPr wrap="square">
            <a:spAutoFit/>
          </a:bodyPr>
          <a:lstStyle/>
          <a:p>
            <a:r>
              <a:rPr lang="es-AR" sz="1600" dirty="0">
                <a:latin typeface="Arial" panose="020B0604020202020204" pitchFamily="34" charset="0"/>
              </a:rPr>
              <a:t> M</a:t>
            </a:r>
            <a:r>
              <a:rPr lang="es-AR" sz="1600" baseline="-25000" dirty="0">
                <a:latin typeface="Arial" panose="020B0604020202020204" pitchFamily="34" charset="0"/>
                <a:cs typeface="Arial" panose="020B0604020202020204" pitchFamily="34" charset="0"/>
              </a:rPr>
              <a:t>2</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cxnSp>
        <p:nvCxnSpPr>
          <p:cNvPr id="43" name="Conector recto de flecha 42">
            <a:extLst>
              <a:ext uri="{FF2B5EF4-FFF2-40B4-BE49-F238E27FC236}">
                <a16:creationId xmlns:a16="http://schemas.microsoft.com/office/drawing/2014/main" id="{DDB68E57-597C-C1BC-B075-ED31848BF459}"/>
              </a:ext>
            </a:extLst>
          </p:cNvPr>
          <p:cNvCxnSpPr>
            <a:cxnSpLocks/>
          </p:cNvCxnSpPr>
          <p:nvPr/>
        </p:nvCxnSpPr>
        <p:spPr>
          <a:xfrm>
            <a:off x="10799110" y="2217216"/>
            <a:ext cx="431811" cy="1915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ángulo 47">
            <a:extLst>
              <a:ext uri="{FF2B5EF4-FFF2-40B4-BE49-F238E27FC236}">
                <a16:creationId xmlns:a16="http://schemas.microsoft.com/office/drawing/2014/main" id="{533355CD-266E-AF7F-7878-70179B20402C}"/>
              </a:ext>
            </a:extLst>
          </p:cNvPr>
          <p:cNvSpPr/>
          <p:nvPr/>
        </p:nvSpPr>
        <p:spPr>
          <a:xfrm>
            <a:off x="8938365" y="1830181"/>
            <a:ext cx="2073042" cy="7853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2" name="Rectángulo 51">
            <a:extLst>
              <a:ext uri="{FF2B5EF4-FFF2-40B4-BE49-F238E27FC236}">
                <a16:creationId xmlns:a16="http://schemas.microsoft.com/office/drawing/2014/main" id="{1581295C-8A51-7194-4CA6-52BC29DB804F}"/>
              </a:ext>
            </a:extLst>
          </p:cNvPr>
          <p:cNvSpPr/>
          <p:nvPr/>
        </p:nvSpPr>
        <p:spPr>
          <a:xfrm>
            <a:off x="9642109" y="1513641"/>
            <a:ext cx="531275" cy="338554"/>
          </a:xfrm>
          <a:prstGeom prst="rect">
            <a:avLst/>
          </a:prstGeom>
        </p:spPr>
        <p:txBody>
          <a:bodyPr wrap="square">
            <a:spAutoFit/>
          </a:bodyPr>
          <a:lstStyle/>
          <a:p>
            <a:r>
              <a:rPr lang="es-AR" sz="1600" dirty="0">
                <a:latin typeface="Arial" panose="020B0604020202020204" pitchFamily="34" charset="0"/>
              </a:rPr>
              <a:t> M</a:t>
            </a:r>
            <a:r>
              <a:rPr lang="es-AR" sz="1600" baseline="-25000" dirty="0">
                <a:latin typeface="Arial" panose="020B0604020202020204" pitchFamily="34" charset="0"/>
                <a:cs typeface="Arial" panose="020B0604020202020204" pitchFamily="34" charset="0"/>
              </a:rPr>
              <a:t>1</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54" name="CuadroTexto 53">
            <a:extLst>
              <a:ext uri="{FF2B5EF4-FFF2-40B4-BE49-F238E27FC236}">
                <a16:creationId xmlns:a16="http://schemas.microsoft.com/office/drawing/2014/main" id="{58136009-3EFD-0665-87C3-5130EEA54A98}"/>
              </a:ext>
            </a:extLst>
          </p:cNvPr>
          <p:cNvSpPr txBox="1"/>
          <p:nvPr/>
        </p:nvSpPr>
        <p:spPr>
          <a:xfrm>
            <a:off x="3655039" y="1026884"/>
            <a:ext cx="4455603" cy="2108269"/>
          </a:xfrm>
          <a:prstGeom prst="rect">
            <a:avLst/>
          </a:prstGeom>
          <a:noFill/>
        </p:spPr>
        <p:txBody>
          <a:bodyPr wrap="square">
            <a:spAutoFit/>
          </a:bodyPr>
          <a:lstStyle/>
          <a:p>
            <a:pPr marL="252000"/>
            <a:r>
              <a:rPr lang="es-AR" b="1" dirty="0">
                <a:latin typeface="Arial" panose="020B0604020202020204" pitchFamily="34" charset="0"/>
                <a:cs typeface="Arial" panose="020B0604020202020204" pitchFamily="34" charset="0"/>
              </a:rPr>
              <a:t>TEOREMA</a:t>
            </a:r>
          </a:p>
          <a:p>
            <a:pPr marL="252000"/>
            <a:endParaRPr lang="es-AR" b="1" dirty="0">
              <a:latin typeface="Arial" panose="020B0604020202020204" pitchFamily="34" charset="0"/>
              <a:cs typeface="Arial" panose="020B0604020202020204" pitchFamily="34" charset="0"/>
            </a:endParaRPr>
          </a:p>
          <a:p>
            <a:pPr marL="252000"/>
            <a:r>
              <a:rPr lang="es-AR" b="1" dirty="0">
                <a:latin typeface="Arial" panose="020B0604020202020204" pitchFamily="34" charset="0"/>
                <a:cs typeface="Arial" panose="020B0604020202020204" pitchFamily="34" charset="0"/>
              </a:rPr>
              <a:t>Caso 1</a:t>
            </a:r>
          </a:p>
          <a:p>
            <a:endParaRPr lang="es-AR" sz="5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Si 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entonces (L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 </a:t>
            </a:r>
            <a:r>
              <a:rPr lang="es-AR" b="1" dirty="0">
                <a:latin typeface="Arial" panose="020B0604020202020204" pitchFamily="34" charset="0"/>
                <a:cs typeface="Arial" panose="020B0604020202020204" pitchFamily="34" charset="0"/>
              </a:rPr>
              <a:t>R ⟶ 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R)</a:t>
            </a:r>
          </a:p>
          <a:p>
            <a:r>
              <a:rPr lang="es-AR" dirty="0">
                <a:latin typeface="Arial" panose="020B0604020202020204" pitchFamily="34" charset="0"/>
                <a:cs typeface="Arial" panose="020B0604020202020204" pitchFamily="34" charset="0"/>
              </a:rPr>
              <a:t>    O bien: </a:t>
            </a:r>
          </a:p>
          <a:p>
            <a:r>
              <a:rPr lang="es-AR" dirty="0">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Si L</a:t>
            </a:r>
            <a:r>
              <a:rPr lang="es-AR" baseline="-25000" dirty="0">
                <a:solidFill>
                  <a:srgbClr val="0070C0"/>
                </a:solidFill>
                <a:latin typeface="Arial" panose="020B0604020202020204" pitchFamily="34" charset="0"/>
                <a:cs typeface="Arial" panose="020B0604020202020204" pitchFamily="34" charset="0"/>
              </a:rPr>
              <a:t>1</a:t>
            </a:r>
            <a:r>
              <a:rPr lang="es-AR" dirty="0">
                <a:solidFill>
                  <a:srgbClr val="0070C0"/>
                </a:solidFill>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solidFill>
                  <a:srgbClr val="0070C0"/>
                </a:solidFill>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L</a:t>
            </a:r>
            <a:r>
              <a:rPr lang="es-AR" baseline="-25000" dirty="0">
                <a:solidFill>
                  <a:srgbClr val="0070C0"/>
                </a:solidFill>
                <a:latin typeface="Arial" panose="020B0604020202020204" pitchFamily="34" charset="0"/>
                <a:cs typeface="Arial" panose="020B0604020202020204" pitchFamily="34" charset="0"/>
              </a:rPr>
              <a:t>2</a:t>
            </a:r>
            <a:r>
              <a:rPr lang="es-AR" dirty="0">
                <a:solidFill>
                  <a:srgbClr val="0070C0"/>
                </a:solidFill>
                <a:latin typeface="Arial" panose="020B0604020202020204" pitchFamily="34" charset="0"/>
                <a:cs typeface="Arial" panose="020B0604020202020204" pitchFamily="34" charset="0"/>
              </a:rPr>
              <a:t> entonces (L</a:t>
            </a:r>
            <a:r>
              <a:rPr lang="es-AR" baseline="-25000" dirty="0">
                <a:solidFill>
                  <a:srgbClr val="0070C0"/>
                </a:solidFill>
                <a:latin typeface="Arial" panose="020B0604020202020204" pitchFamily="34" charset="0"/>
                <a:cs typeface="Arial" panose="020B0604020202020204" pitchFamily="34" charset="0"/>
              </a:rPr>
              <a:t>1</a:t>
            </a:r>
            <a:r>
              <a:rPr lang="es-AR" dirty="0">
                <a:solidFill>
                  <a:srgbClr val="0070C0"/>
                </a:solidFill>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sym typeface="Symbol" panose="05050102010706020507" pitchFamily="18" charset="2"/>
              </a:rPr>
              <a:t> </a:t>
            </a:r>
            <a:r>
              <a:rPr lang="es-AR" dirty="0">
                <a:solidFill>
                  <a:srgbClr val="0070C0"/>
                </a:solidFill>
                <a:latin typeface="Arial" panose="020B0604020202020204" pitchFamily="34" charset="0"/>
                <a:cs typeface="Arial" panose="020B0604020202020204" pitchFamily="34" charset="0"/>
              </a:rPr>
              <a:t>R ⟶ L</a:t>
            </a:r>
            <a:r>
              <a:rPr lang="es-AR" baseline="-25000" dirty="0">
                <a:solidFill>
                  <a:srgbClr val="0070C0"/>
                </a:solidFill>
                <a:latin typeface="Arial" panose="020B0604020202020204" pitchFamily="34" charset="0"/>
                <a:cs typeface="Arial" panose="020B0604020202020204" pitchFamily="34" charset="0"/>
              </a:rPr>
              <a:t>2</a:t>
            </a:r>
            <a:r>
              <a:rPr lang="es-AR" dirty="0">
                <a:solidFill>
                  <a:srgbClr val="0070C0"/>
                </a:solidFill>
                <a:latin typeface="Arial" panose="020B0604020202020204" pitchFamily="34" charset="0"/>
                <a:cs typeface="Arial" panose="020B0604020202020204" pitchFamily="34" charset="0"/>
              </a:rPr>
              <a:t> ∉</a:t>
            </a:r>
            <a:r>
              <a:rPr lang="es-AR" dirty="0">
                <a:solidFill>
                  <a:srgbClr val="0070C0"/>
                </a:solidFill>
                <a:effectLst/>
                <a:latin typeface="Arial" panose="020B0604020202020204" pitchFamily="34" charset="0"/>
                <a:ea typeface="Calibri" panose="020F050202020403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R)</a:t>
            </a:r>
          </a:p>
          <a:p>
            <a:endParaRPr lang="es-AR" dirty="0"/>
          </a:p>
        </p:txBody>
      </p:sp>
      <p:sp>
        <p:nvSpPr>
          <p:cNvPr id="65" name="Rectángulo 64">
            <a:extLst>
              <a:ext uri="{FF2B5EF4-FFF2-40B4-BE49-F238E27FC236}">
                <a16:creationId xmlns:a16="http://schemas.microsoft.com/office/drawing/2014/main" id="{93EB60E0-2F90-3690-D940-7E50705BD5B2}"/>
              </a:ext>
            </a:extLst>
          </p:cNvPr>
          <p:cNvSpPr/>
          <p:nvPr/>
        </p:nvSpPr>
        <p:spPr>
          <a:xfrm>
            <a:off x="8671227" y="3255424"/>
            <a:ext cx="390187" cy="338554"/>
          </a:xfrm>
          <a:prstGeom prst="rect">
            <a:avLst/>
          </a:prstGeom>
        </p:spPr>
        <p:txBody>
          <a:bodyPr wrap="square">
            <a:spAutoFit/>
          </a:bodyPr>
          <a:lstStyle/>
          <a:p>
            <a:r>
              <a:rPr lang="es-AR" sz="1600" dirty="0">
                <a:effectLst/>
                <a:latin typeface="Arial" panose="020B0604020202020204" pitchFamily="34" charset="0"/>
                <a:ea typeface="Calibri" panose="020F0502020204030204" pitchFamily="34" charset="0"/>
              </a:rPr>
              <a:t>w</a:t>
            </a:r>
            <a:endParaRPr lang="es-AR" sz="1600" dirty="0"/>
          </a:p>
        </p:txBody>
      </p:sp>
      <p:sp>
        <p:nvSpPr>
          <p:cNvPr id="66" name="Rectángulo 65">
            <a:extLst>
              <a:ext uri="{FF2B5EF4-FFF2-40B4-BE49-F238E27FC236}">
                <a16:creationId xmlns:a16="http://schemas.microsoft.com/office/drawing/2014/main" id="{CDC46349-447E-8C2A-09AA-5608063E324E}"/>
              </a:ext>
            </a:extLst>
          </p:cNvPr>
          <p:cNvSpPr/>
          <p:nvPr/>
        </p:nvSpPr>
        <p:spPr>
          <a:xfrm>
            <a:off x="9260350" y="3315213"/>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67" name="Conector recto de flecha 66">
            <a:extLst>
              <a:ext uri="{FF2B5EF4-FFF2-40B4-BE49-F238E27FC236}">
                <a16:creationId xmlns:a16="http://schemas.microsoft.com/office/drawing/2014/main" id="{8DE219A2-2773-3A66-3A43-6A3068634F16}"/>
              </a:ext>
            </a:extLst>
          </p:cNvPr>
          <p:cNvCxnSpPr>
            <a:cxnSpLocks/>
          </p:cNvCxnSpPr>
          <p:nvPr/>
        </p:nvCxnSpPr>
        <p:spPr>
          <a:xfrm>
            <a:off x="8593367" y="3575500"/>
            <a:ext cx="6162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Rectángulo 67">
            <a:extLst>
              <a:ext uri="{FF2B5EF4-FFF2-40B4-BE49-F238E27FC236}">
                <a16:creationId xmlns:a16="http://schemas.microsoft.com/office/drawing/2014/main" id="{19C7E469-9B8E-7FF9-5790-34D4BBF67BF6}"/>
              </a:ext>
            </a:extLst>
          </p:cNvPr>
          <p:cNvSpPr/>
          <p:nvPr/>
        </p:nvSpPr>
        <p:spPr>
          <a:xfrm>
            <a:off x="9323217" y="3373521"/>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69" name="Rectángulo 68">
            <a:extLst>
              <a:ext uri="{FF2B5EF4-FFF2-40B4-BE49-F238E27FC236}">
                <a16:creationId xmlns:a16="http://schemas.microsoft.com/office/drawing/2014/main" id="{451A1778-1056-0975-099C-E2BB818EE52D}"/>
              </a:ext>
            </a:extLst>
          </p:cNvPr>
          <p:cNvSpPr/>
          <p:nvPr/>
        </p:nvSpPr>
        <p:spPr>
          <a:xfrm>
            <a:off x="9809019" y="3296384"/>
            <a:ext cx="527709" cy="338554"/>
          </a:xfrm>
          <a:prstGeom prst="rect">
            <a:avLst/>
          </a:prstGeom>
        </p:spPr>
        <p:txBody>
          <a:bodyPr wrap="none">
            <a:spAutoFit/>
          </a:bodyPr>
          <a:lstStyle/>
          <a:p>
            <a:r>
              <a:rPr lang="es-AR" sz="1600" dirty="0">
                <a:effectLst/>
                <a:latin typeface="Arial" panose="020B0604020202020204" pitchFamily="34" charset="0"/>
                <a:ea typeface="Calibri" panose="020F0502020204030204" pitchFamily="34" charset="0"/>
              </a:rPr>
              <a:t>f(w)</a:t>
            </a:r>
            <a:endParaRPr lang="es-AR" sz="1600" dirty="0"/>
          </a:p>
        </p:txBody>
      </p:sp>
      <p:sp>
        <p:nvSpPr>
          <p:cNvPr id="70" name="Rectángulo 69">
            <a:extLst>
              <a:ext uri="{FF2B5EF4-FFF2-40B4-BE49-F238E27FC236}">
                <a16:creationId xmlns:a16="http://schemas.microsoft.com/office/drawing/2014/main" id="{0B425B59-5262-C2F5-F227-9B74D708FB16}"/>
              </a:ext>
            </a:extLst>
          </p:cNvPr>
          <p:cNvSpPr/>
          <p:nvPr/>
        </p:nvSpPr>
        <p:spPr>
          <a:xfrm>
            <a:off x="11332418" y="3549696"/>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sz="1600" dirty="0"/>
          </a:p>
        </p:txBody>
      </p:sp>
      <p:sp>
        <p:nvSpPr>
          <p:cNvPr id="71" name="Rectángulo 70">
            <a:extLst>
              <a:ext uri="{FF2B5EF4-FFF2-40B4-BE49-F238E27FC236}">
                <a16:creationId xmlns:a16="http://schemas.microsoft.com/office/drawing/2014/main" id="{4AFB4EA5-2BCC-7456-0DB3-E15885C22D0E}"/>
              </a:ext>
            </a:extLst>
          </p:cNvPr>
          <p:cNvSpPr/>
          <p:nvPr/>
        </p:nvSpPr>
        <p:spPr>
          <a:xfrm>
            <a:off x="10376778" y="3312195"/>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2" name="Conector recto de flecha 71">
            <a:extLst>
              <a:ext uri="{FF2B5EF4-FFF2-40B4-BE49-F238E27FC236}">
                <a16:creationId xmlns:a16="http://schemas.microsoft.com/office/drawing/2014/main" id="{BDF1A5AF-EB11-F088-5070-3215B4C2C153}"/>
              </a:ext>
            </a:extLst>
          </p:cNvPr>
          <p:cNvCxnSpPr>
            <a:cxnSpLocks/>
          </p:cNvCxnSpPr>
          <p:nvPr/>
        </p:nvCxnSpPr>
        <p:spPr>
          <a:xfrm>
            <a:off x="9800893" y="3572377"/>
            <a:ext cx="558093" cy="31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a:extLst>
              <a:ext uri="{FF2B5EF4-FFF2-40B4-BE49-F238E27FC236}">
                <a16:creationId xmlns:a16="http://schemas.microsoft.com/office/drawing/2014/main" id="{723964C0-C9CC-9DF0-910F-47C57AA1F74F}"/>
              </a:ext>
            </a:extLst>
          </p:cNvPr>
          <p:cNvCxnSpPr>
            <a:cxnSpLocks/>
          </p:cNvCxnSpPr>
          <p:nvPr/>
        </p:nvCxnSpPr>
        <p:spPr>
          <a:xfrm flipV="1">
            <a:off x="10929147" y="3356438"/>
            <a:ext cx="421026" cy="178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ángulo 73">
            <a:extLst>
              <a:ext uri="{FF2B5EF4-FFF2-40B4-BE49-F238E27FC236}">
                <a16:creationId xmlns:a16="http://schemas.microsoft.com/office/drawing/2014/main" id="{0480E6C6-0721-4A7E-5DB3-4D791E89108D}"/>
              </a:ext>
            </a:extLst>
          </p:cNvPr>
          <p:cNvSpPr/>
          <p:nvPr/>
        </p:nvSpPr>
        <p:spPr>
          <a:xfrm>
            <a:off x="11341970" y="3167816"/>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sz="1600" dirty="0"/>
          </a:p>
        </p:txBody>
      </p:sp>
      <p:sp>
        <p:nvSpPr>
          <p:cNvPr id="75" name="Rectángulo 74">
            <a:extLst>
              <a:ext uri="{FF2B5EF4-FFF2-40B4-BE49-F238E27FC236}">
                <a16:creationId xmlns:a16="http://schemas.microsoft.com/office/drawing/2014/main" id="{159016E7-BE7C-A4CC-3246-B8D7C4DAA2B4}"/>
              </a:ext>
            </a:extLst>
          </p:cNvPr>
          <p:cNvSpPr/>
          <p:nvPr/>
        </p:nvSpPr>
        <p:spPr>
          <a:xfrm>
            <a:off x="10358869" y="3358711"/>
            <a:ext cx="531275" cy="338554"/>
          </a:xfrm>
          <a:prstGeom prst="rect">
            <a:avLst/>
          </a:prstGeom>
        </p:spPr>
        <p:txBody>
          <a:bodyPr wrap="square">
            <a:spAutoFit/>
          </a:bodyPr>
          <a:lstStyle/>
          <a:p>
            <a:r>
              <a:rPr lang="es-AR" sz="1600" dirty="0">
                <a:latin typeface="Arial" panose="020B0604020202020204" pitchFamily="34" charset="0"/>
              </a:rPr>
              <a:t> M</a:t>
            </a:r>
            <a:r>
              <a:rPr lang="es-AR" sz="1600" baseline="-25000" dirty="0">
                <a:latin typeface="Arial" panose="020B0604020202020204" pitchFamily="34" charset="0"/>
                <a:cs typeface="Arial" panose="020B0604020202020204" pitchFamily="34" charset="0"/>
              </a:rPr>
              <a:t>2</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cxnSp>
        <p:nvCxnSpPr>
          <p:cNvPr id="76" name="Conector recto de flecha 75">
            <a:extLst>
              <a:ext uri="{FF2B5EF4-FFF2-40B4-BE49-F238E27FC236}">
                <a16:creationId xmlns:a16="http://schemas.microsoft.com/office/drawing/2014/main" id="{BBF4CE47-C4B0-235C-38A0-F0F8631B5986}"/>
              </a:ext>
            </a:extLst>
          </p:cNvPr>
          <p:cNvCxnSpPr>
            <a:cxnSpLocks/>
          </p:cNvCxnSpPr>
          <p:nvPr/>
        </p:nvCxnSpPr>
        <p:spPr>
          <a:xfrm>
            <a:off x="10918362" y="3552218"/>
            <a:ext cx="431811" cy="1915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Rectángulo 76">
            <a:extLst>
              <a:ext uri="{FF2B5EF4-FFF2-40B4-BE49-F238E27FC236}">
                <a16:creationId xmlns:a16="http://schemas.microsoft.com/office/drawing/2014/main" id="{1A991AFF-64A0-4F82-CF02-CAABDA291CDB}"/>
              </a:ext>
            </a:extLst>
          </p:cNvPr>
          <p:cNvSpPr/>
          <p:nvPr/>
        </p:nvSpPr>
        <p:spPr>
          <a:xfrm>
            <a:off x="9057617" y="3165183"/>
            <a:ext cx="2073042" cy="7853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8" name="Rectángulo 77">
            <a:extLst>
              <a:ext uri="{FF2B5EF4-FFF2-40B4-BE49-F238E27FC236}">
                <a16:creationId xmlns:a16="http://schemas.microsoft.com/office/drawing/2014/main" id="{2956CD8E-7023-3547-F087-94ADF084A101}"/>
              </a:ext>
            </a:extLst>
          </p:cNvPr>
          <p:cNvSpPr/>
          <p:nvPr/>
        </p:nvSpPr>
        <p:spPr>
          <a:xfrm>
            <a:off x="9761361" y="2848643"/>
            <a:ext cx="531275" cy="338554"/>
          </a:xfrm>
          <a:prstGeom prst="rect">
            <a:avLst/>
          </a:prstGeom>
        </p:spPr>
        <p:txBody>
          <a:bodyPr wrap="square">
            <a:spAutoFit/>
          </a:bodyPr>
          <a:lstStyle/>
          <a:p>
            <a:r>
              <a:rPr lang="es-AR" sz="1600" dirty="0">
                <a:latin typeface="Arial" panose="020B0604020202020204" pitchFamily="34" charset="0"/>
              </a:rPr>
              <a:t> M</a:t>
            </a:r>
            <a:r>
              <a:rPr lang="es-AR" sz="1600" baseline="-25000" dirty="0">
                <a:latin typeface="Arial" panose="020B0604020202020204" pitchFamily="34" charset="0"/>
                <a:cs typeface="Arial" panose="020B0604020202020204" pitchFamily="34" charset="0"/>
              </a:rPr>
              <a:t>1</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79" name="CuadroTexto 78">
            <a:extLst>
              <a:ext uri="{FF2B5EF4-FFF2-40B4-BE49-F238E27FC236}">
                <a16:creationId xmlns:a16="http://schemas.microsoft.com/office/drawing/2014/main" id="{910EDC36-0A45-A033-4EFB-73F1E66F6D04}"/>
              </a:ext>
            </a:extLst>
          </p:cNvPr>
          <p:cNvSpPr txBox="1"/>
          <p:nvPr/>
        </p:nvSpPr>
        <p:spPr>
          <a:xfrm>
            <a:off x="3665354" y="2904161"/>
            <a:ext cx="4795464" cy="1277273"/>
          </a:xfrm>
          <a:prstGeom prst="rect">
            <a:avLst/>
          </a:prstGeom>
          <a:noFill/>
        </p:spPr>
        <p:txBody>
          <a:bodyPr wrap="square">
            <a:spAutoFit/>
          </a:bodyPr>
          <a:lstStyle/>
          <a:p>
            <a:pPr marL="252000"/>
            <a:r>
              <a:rPr lang="es-AR" b="1" dirty="0">
                <a:latin typeface="Arial" panose="020B0604020202020204" pitchFamily="34" charset="0"/>
                <a:cs typeface="Arial" panose="020B0604020202020204" pitchFamily="34" charset="0"/>
              </a:rPr>
              <a:t>Caso 2</a:t>
            </a:r>
          </a:p>
          <a:p>
            <a:endParaRPr lang="es-AR" sz="5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Si 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entonces (L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 </a:t>
            </a:r>
            <a:r>
              <a:rPr lang="es-AR" b="1" dirty="0">
                <a:latin typeface="Arial" panose="020B0604020202020204" pitchFamily="34" charset="0"/>
                <a:cs typeface="Arial" panose="020B0604020202020204" pitchFamily="34" charset="0"/>
              </a:rPr>
              <a:t>RE ⟶ 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RE)</a:t>
            </a:r>
          </a:p>
          <a:p>
            <a:r>
              <a:rPr lang="es-AR" dirty="0">
                <a:latin typeface="Arial" panose="020B0604020202020204" pitchFamily="34" charset="0"/>
                <a:cs typeface="Arial" panose="020B0604020202020204" pitchFamily="34" charset="0"/>
              </a:rPr>
              <a:t>    O bien:</a:t>
            </a:r>
          </a:p>
          <a:p>
            <a:r>
              <a:rPr lang="es-AR" dirty="0">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Si L</a:t>
            </a:r>
            <a:r>
              <a:rPr lang="es-AR" baseline="-25000" dirty="0">
                <a:solidFill>
                  <a:srgbClr val="0070C0"/>
                </a:solidFill>
                <a:latin typeface="Arial" panose="020B0604020202020204" pitchFamily="34" charset="0"/>
                <a:cs typeface="Arial" panose="020B0604020202020204" pitchFamily="34" charset="0"/>
              </a:rPr>
              <a:t>1</a:t>
            </a:r>
            <a:r>
              <a:rPr lang="es-AR" dirty="0">
                <a:solidFill>
                  <a:srgbClr val="0070C0"/>
                </a:solidFill>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solidFill>
                  <a:srgbClr val="0070C0"/>
                </a:solidFill>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L</a:t>
            </a:r>
            <a:r>
              <a:rPr lang="es-AR" baseline="-25000" dirty="0">
                <a:solidFill>
                  <a:srgbClr val="0070C0"/>
                </a:solidFill>
                <a:latin typeface="Arial" panose="020B0604020202020204" pitchFamily="34" charset="0"/>
                <a:cs typeface="Arial" panose="020B0604020202020204" pitchFamily="34" charset="0"/>
              </a:rPr>
              <a:t>2</a:t>
            </a:r>
            <a:r>
              <a:rPr lang="es-AR" dirty="0">
                <a:solidFill>
                  <a:srgbClr val="0070C0"/>
                </a:solidFill>
                <a:latin typeface="Arial" panose="020B0604020202020204" pitchFamily="34" charset="0"/>
                <a:cs typeface="Arial" panose="020B0604020202020204" pitchFamily="34" charset="0"/>
              </a:rPr>
              <a:t> entonces (L</a:t>
            </a:r>
            <a:r>
              <a:rPr lang="es-AR" baseline="-25000" dirty="0">
                <a:solidFill>
                  <a:srgbClr val="0070C0"/>
                </a:solidFill>
                <a:latin typeface="Arial" panose="020B0604020202020204" pitchFamily="34" charset="0"/>
                <a:cs typeface="Arial" panose="020B0604020202020204" pitchFamily="34" charset="0"/>
              </a:rPr>
              <a:t>1</a:t>
            </a:r>
            <a:r>
              <a:rPr lang="es-AR" dirty="0">
                <a:solidFill>
                  <a:srgbClr val="0070C0"/>
                </a:solidFill>
                <a:latin typeface="Arial" panose="020B060402020202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sym typeface="Symbol" panose="05050102010706020507" pitchFamily="18" charset="2"/>
              </a:rPr>
              <a:t> </a:t>
            </a:r>
            <a:r>
              <a:rPr lang="es-AR" dirty="0">
                <a:solidFill>
                  <a:srgbClr val="0070C0"/>
                </a:solidFill>
                <a:latin typeface="Arial" panose="020B0604020202020204" pitchFamily="34" charset="0"/>
                <a:cs typeface="Arial" panose="020B0604020202020204" pitchFamily="34" charset="0"/>
              </a:rPr>
              <a:t>RE ⟶ L</a:t>
            </a:r>
            <a:r>
              <a:rPr lang="es-AR" baseline="-25000" dirty="0">
                <a:solidFill>
                  <a:srgbClr val="0070C0"/>
                </a:solidFill>
                <a:latin typeface="Arial" panose="020B0604020202020204" pitchFamily="34" charset="0"/>
                <a:cs typeface="Arial" panose="020B0604020202020204" pitchFamily="34" charset="0"/>
              </a:rPr>
              <a:t>2</a:t>
            </a:r>
            <a:r>
              <a:rPr lang="es-AR" dirty="0">
                <a:solidFill>
                  <a:srgbClr val="0070C0"/>
                </a:solidFill>
                <a:latin typeface="Arial" panose="020B0604020202020204" pitchFamily="34" charset="0"/>
                <a:cs typeface="Arial" panose="020B0604020202020204" pitchFamily="34" charset="0"/>
              </a:rPr>
              <a:t> ∉</a:t>
            </a:r>
            <a:r>
              <a:rPr lang="es-AR" dirty="0">
                <a:solidFill>
                  <a:srgbClr val="0070C0"/>
                </a:solidFill>
                <a:effectLst/>
                <a:latin typeface="Arial" panose="020B0604020202020204" pitchFamily="34" charset="0"/>
                <a:ea typeface="Calibri" panose="020F0502020204030204" pitchFamily="34" charset="0"/>
                <a:cs typeface="Arial" panose="020B0604020202020204" pitchFamily="34" charset="0"/>
              </a:rPr>
              <a:t> </a:t>
            </a:r>
            <a:r>
              <a:rPr lang="es-AR" dirty="0">
                <a:solidFill>
                  <a:srgbClr val="0070C0"/>
                </a:solidFill>
                <a:latin typeface="Arial" panose="020B0604020202020204" pitchFamily="34" charset="0"/>
                <a:cs typeface="Arial" panose="020B0604020202020204" pitchFamily="34" charset="0"/>
              </a:rPr>
              <a:t>RE)</a:t>
            </a:r>
            <a:endParaRPr lang="es-AR" dirty="0">
              <a:solidFill>
                <a:srgbClr val="0070C0"/>
              </a:solidFill>
            </a:endParaRPr>
          </a:p>
        </p:txBody>
      </p:sp>
      <p:cxnSp>
        <p:nvCxnSpPr>
          <p:cNvPr id="91" name="Conector recto 90">
            <a:extLst>
              <a:ext uri="{FF2B5EF4-FFF2-40B4-BE49-F238E27FC236}">
                <a16:creationId xmlns:a16="http://schemas.microsoft.com/office/drawing/2014/main" id="{8305AD00-56B5-62E5-CB70-86B738B8FCA1}"/>
              </a:ext>
            </a:extLst>
          </p:cNvPr>
          <p:cNvCxnSpPr>
            <a:cxnSpLocks/>
          </p:cNvCxnSpPr>
          <p:nvPr/>
        </p:nvCxnSpPr>
        <p:spPr>
          <a:xfrm>
            <a:off x="10526287" y="3859740"/>
            <a:ext cx="0" cy="2991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ector recto 91">
            <a:extLst>
              <a:ext uri="{FF2B5EF4-FFF2-40B4-BE49-F238E27FC236}">
                <a16:creationId xmlns:a16="http://schemas.microsoft.com/office/drawing/2014/main" id="{C6547B82-EC5B-B0B3-9078-D5AE849C481F}"/>
              </a:ext>
            </a:extLst>
          </p:cNvPr>
          <p:cNvCxnSpPr>
            <a:cxnSpLocks/>
          </p:cNvCxnSpPr>
          <p:nvPr/>
        </p:nvCxnSpPr>
        <p:spPr>
          <a:xfrm>
            <a:off x="10526393" y="4151836"/>
            <a:ext cx="18095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Conector recto de flecha 92">
            <a:extLst>
              <a:ext uri="{FF2B5EF4-FFF2-40B4-BE49-F238E27FC236}">
                <a16:creationId xmlns:a16="http://schemas.microsoft.com/office/drawing/2014/main" id="{A348978E-1951-D8BB-78DE-68185596FB42}"/>
              </a:ext>
            </a:extLst>
          </p:cNvPr>
          <p:cNvCxnSpPr>
            <a:cxnSpLocks/>
          </p:cNvCxnSpPr>
          <p:nvPr/>
        </p:nvCxnSpPr>
        <p:spPr>
          <a:xfrm flipV="1">
            <a:off x="10707352" y="3859740"/>
            <a:ext cx="0" cy="2913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Slide Number Placeholder 2">
            <a:extLst>
              <a:ext uri="{FF2B5EF4-FFF2-40B4-BE49-F238E27FC236}">
                <a16:creationId xmlns:a16="http://schemas.microsoft.com/office/drawing/2014/main" id="{9A8E2366-B667-CE57-A799-99C8A444571F}"/>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6" name="CuadroTexto 25">
            <a:extLst>
              <a:ext uri="{FF2B5EF4-FFF2-40B4-BE49-F238E27FC236}">
                <a16:creationId xmlns:a16="http://schemas.microsoft.com/office/drawing/2014/main" id="{5CFB1383-B812-1AA9-B800-5A5F453FA08D}"/>
              </a:ext>
            </a:extLst>
          </p:cNvPr>
          <p:cNvSpPr txBox="1"/>
          <p:nvPr/>
        </p:nvSpPr>
        <p:spPr>
          <a:xfrm>
            <a:off x="435836" y="3107300"/>
            <a:ext cx="3311434"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Para todo w, w </a:t>
            </a:r>
            <a:r>
              <a:rPr lang="es-AR"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sz="1600" dirty="0">
                <a:latin typeface="Arial" panose="020B0604020202020204" pitchFamily="34" charset="0"/>
                <a:cs typeface="Arial" panose="020B0604020202020204" pitchFamily="34" charset="0"/>
                <a:sym typeface="Symbol" panose="05050102010706020507" pitchFamily="18" charset="2"/>
              </a:rPr>
              <a:t> </a:t>
            </a:r>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sii</a:t>
            </a:r>
            <a:r>
              <a:rPr lang="es-AR" sz="1600" dirty="0">
                <a:latin typeface="Arial" panose="020B0604020202020204" pitchFamily="34" charset="0"/>
                <a:cs typeface="Arial" panose="020B0604020202020204" pitchFamily="34" charset="0"/>
              </a:rPr>
              <a:t> f(w) </a:t>
            </a:r>
            <a:r>
              <a:rPr lang="es-AR"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sz="1600" dirty="0">
                <a:latin typeface="Arial" panose="020B0604020202020204" pitchFamily="34" charset="0"/>
                <a:cs typeface="Arial" panose="020B0604020202020204" pitchFamily="34" charset="0"/>
                <a:sym typeface="Symbol" panose="05050102010706020507" pitchFamily="18" charset="2"/>
              </a:rPr>
              <a:t> </a:t>
            </a:r>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AR" sz="1600" dirty="0"/>
          </a:p>
        </p:txBody>
      </p:sp>
      <p:sp>
        <p:nvSpPr>
          <p:cNvPr id="17" name="Rectángulo 16">
            <a:extLst>
              <a:ext uri="{FF2B5EF4-FFF2-40B4-BE49-F238E27FC236}">
                <a16:creationId xmlns:a16="http://schemas.microsoft.com/office/drawing/2014/main" id="{3A3DBD58-EA8E-E23C-A08D-9D633E3B3A06}"/>
              </a:ext>
            </a:extLst>
          </p:cNvPr>
          <p:cNvSpPr/>
          <p:nvPr/>
        </p:nvSpPr>
        <p:spPr>
          <a:xfrm>
            <a:off x="2519543" y="1568052"/>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29" name="Rectángulo 28">
            <a:extLst>
              <a:ext uri="{FF2B5EF4-FFF2-40B4-BE49-F238E27FC236}">
                <a16:creationId xmlns:a16="http://schemas.microsoft.com/office/drawing/2014/main" id="{47590E9A-4C1D-01D0-F350-CAAEC92736A9}"/>
              </a:ext>
            </a:extLst>
          </p:cNvPr>
          <p:cNvSpPr/>
          <p:nvPr/>
        </p:nvSpPr>
        <p:spPr>
          <a:xfrm>
            <a:off x="1022120" y="1619925"/>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7" name="Diagrama de flujo: conector 6">
            <a:extLst>
              <a:ext uri="{FF2B5EF4-FFF2-40B4-BE49-F238E27FC236}">
                <a16:creationId xmlns:a16="http://schemas.microsoft.com/office/drawing/2014/main" id="{B60662F3-9928-4422-E49D-0A34D1C8E34E}"/>
              </a:ext>
            </a:extLst>
          </p:cNvPr>
          <p:cNvSpPr/>
          <p:nvPr/>
        </p:nvSpPr>
        <p:spPr>
          <a:xfrm>
            <a:off x="467843" y="1103727"/>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6" name="Rectángulo 55">
            <a:extLst>
              <a:ext uri="{FF2B5EF4-FFF2-40B4-BE49-F238E27FC236}">
                <a16:creationId xmlns:a16="http://schemas.microsoft.com/office/drawing/2014/main" id="{333B7A17-08EB-991A-04B4-27F3AE2524CA}"/>
              </a:ext>
            </a:extLst>
          </p:cNvPr>
          <p:cNvSpPr/>
          <p:nvPr/>
        </p:nvSpPr>
        <p:spPr>
          <a:xfrm>
            <a:off x="2685853" y="1616742"/>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57" name="Diagrama de flujo: conector 56">
            <a:extLst>
              <a:ext uri="{FF2B5EF4-FFF2-40B4-BE49-F238E27FC236}">
                <a16:creationId xmlns:a16="http://schemas.microsoft.com/office/drawing/2014/main" id="{C1DCDD55-2E65-0A5A-C120-6B14DC00D124}"/>
              </a:ext>
            </a:extLst>
          </p:cNvPr>
          <p:cNvSpPr/>
          <p:nvPr/>
        </p:nvSpPr>
        <p:spPr>
          <a:xfrm>
            <a:off x="2131576" y="1100544"/>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1" name="Conector recto de flecha 80">
            <a:extLst>
              <a:ext uri="{FF2B5EF4-FFF2-40B4-BE49-F238E27FC236}">
                <a16:creationId xmlns:a16="http://schemas.microsoft.com/office/drawing/2014/main" id="{DB68F49A-1654-F338-F719-7CF377F18F61}"/>
              </a:ext>
            </a:extLst>
          </p:cNvPr>
          <p:cNvCxnSpPr>
            <a:cxnSpLocks/>
          </p:cNvCxnSpPr>
          <p:nvPr/>
        </p:nvCxnSpPr>
        <p:spPr>
          <a:xfrm flipV="1">
            <a:off x="1356461" y="1829607"/>
            <a:ext cx="1118081" cy="5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Rectángulo 82">
            <a:extLst>
              <a:ext uri="{FF2B5EF4-FFF2-40B4-BE49-F238E27FC236}">
                <a16:creationId xmlns:a16="http://schemas.microsoft.com/office/drawing/2014/main" id="{C056D929-2131-178A-4F73-636C2FDD2898}"/>
              </a:ext>
            </a:extLst>
          </p:cNvPr>
          <p:cNvSpPr/>
          <p:nvPr/>
        </p:nvSpPr>
        <p:spPr>
          <a:xfrm>
            <a:off x="888063" y="1108140"/>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84" name="Rectángulo 83">
            <a:extLst>
              <a:ext uri="{FF2B5EF4-FFF2-40B4-BE49-F238E27FC236}">
                <a16:creationId xmlns:a16="http://schemas.microsoft.com/office/drawing/2014/main" id="{79C22266-E399-B9E4-F766-79A140256196}"/>
              </a:ext>
            </a:extLst>
          </p:cNvPr>
          <p:cNvSpPr/>
          <p:nvPr/>
        </p:nvSpPr>
        <p:spPr>
          <a:xfrm>
            <a:off x="2561047" y="1100076"/>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89" name="Rectángulo 88">
            <a:extLst>
              <a:ext uri="{FF2B5EF4-FFF2-40B4-BE49-F238E27FC236}">
                <a16:creationId xmlns:a16="http://schemas.microsoft.com/office/drawing/2014/main" id="{3B2BB499-D7F1-8640-4E8B-A3129EA38CCA}"/>
              </a:ext>
            </a:extLst>
          </p:cNvPr>
          <p:cNvSpPr/>
          <p:nvPr/>
        </p:nvSpPr>
        <p:spPr>
          <a:xfrm>
            <a:off x="921371" y="1658384"/>
            <a:ext cx="533671"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90" name="Rectángulo 89">
            <a:extLst>
              <a:ext uri="{FF2B5EF4-FFF2-40B4-BE49-F238E27FC236}">
                <a16:creationId xmlns:a16="http://schemas.microsoft.com/office/drawing/2014/main" id="{935CAADC-BC51-18FF-7230-1B1895CEB266}"/>
              </a:ext>
            </a:extLst>
          </p:cNvPr>
          <p:cNvSpPr/>
          <p:nvPr/>
        </p:nvSpPr>
        <p:spPr>
          <a:xfrm>
            <a:off x="2530756" y="1666923"/>
            <a:ext cx="487313"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f(w)</a:t>
            </a:r>
            <a:endParaRPr lang="es-AR" sz="1400" dirty="0"/>
          </a:p>
        </p:txBody>
      </p:sp>
      <p:sp>
        <p:nvSpPr>
          <p:cNvPr id="11" name="CuadroTexto 10">
            <a:extLst>
              <a:ext uri="{FF2B5EF4-FFF2-40B4-BE49-F238E27FC236}">
                <a16:creationId xmlns:a16="http://schemas.microsoft.com/office/drawing/2014/main" id="{61A56F30-B209-6679-9288-0A117505137B}"/>
              </a:ext>
            </a:extLst>
          </p:cNvPr>
          <p:cNvSpPr txBox="1"/>
          <p:nvPr/>
        </p:nvSpPr>
        <p:spPr>
          <a:xfrm>
            <a:off x="906058" y="2819627"/>
            <a:ext cx="2376958"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Reducción de L</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 a L</a:t>
            </a:r>
            <a:r>
              <a:rPr lang="es-AR" sz="1600" baseline="-25000" dirty="0">
                <a:latin typeface="Arial" panose="020B0604020202020204" pitchFamily="34" charset="0"/>
                <a:cs typeface="Arial" panose="020B0604020202020204" pitchFamily="34" charset="0"/>
              </a:rPr>
              <a:t>2</a:t>
            </a:r>
            <a:endParaRPr lang="es-AR" sz="1600" dirty="0">
              <a:latin typeface="Arial" panose="020B0604020202020204" pitchFamily="34" charset="0"/>
              <a:cs typeface="Arial" panose="020B0604020202020204" pitchFamily="34" charset="0"/>
            </a:endParaRPr>
          </a:p>
        </p:txBody>
      </p:sp>
      <p:cxnSp>
        <p:nvCxnSpPr>
          <p:cNvPr id="15" name="Conector recto de flecha 14">
            <a:extLst>
              <a:ext uri="{FF2B5EF4-FFF2-40B4-BE49-F238E27FC236}">
                <a16:creationId xmlns:a16="http://schemas.microsoft.com/office/drawing/2014/main" id="{8D928339-F0E0-6900-C7E4-714CB7B48F42}"/>
              </a:ext>
            </a:extLst>
          </p:cNvPr>
          <p:cNvCxnSpPr>
            <a:cxnSpLocks/>
          </p:cNvCxnSpPr>
          <p:nvPr/>
        </p:nvCxnSpPr>
        <p:spPr>
          <a:xfrm flipV="1">
            <a:off x="1349436" y="2516738"/>
            <a:ext cx="1118081" cy="5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F8645C01-18DC-6650-BFF0-FA63D65D2909}"/>
              </a:ext>
            </a:extLst>
          </p:cNvPr>
          <p:cNvSpPr/>
          <p:nvPr/>
        </p:nvSpPr>
        <p:spPr>
          <a:xfrm>
            <a:off x="1618054" y="1920422"/>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28715C67-AB91-4971-0A1C-B0C12FC22FEE}"/>
              </a:ext>
            </a:extLst>
          </p:cNvPr>
          <p:cNvSpPr/>
          <p:nvPr/>
        </p:nvSpPr>
        <p:spPr>
          <a:xfrm>
            <a:off x="1680921" y="1978730"/>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4183645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257516" y="608185"/>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23935" y="292895"/>
            <a:ext cx="11796829" cy="1138773"/>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Ejemplo </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8000"/>
            <a:r>
              <a:rPr lang="es-AR" dirty="0">
                <a:latin typeface="Arial" panose="020B0604020202020204" pitchFamily="34" charset="0"/>
                <a:cs typeface="Arial" panose="020B0604020202020204" pitchFamily="34" charset="0"/>
              </a:rPr>
              <a:t>HP = {(&lt;M&gt;, w) | M para sobre w}   y   L</a:t>
            </a:r>
            <a:r>
              <a:rPr lang="es-AR" baseline="-25000" dirty="0">
                <a:latin typeface="Arial" panose="020B0604020202020204" pitchFamily="34" charset="0"/>
                <a:cs typeface="Arial" panose="020B0604020202020204" pitchFamily="34" charset="0"/>
              </a:rPr>
              <a:t>U</a:t>
            </a:r>
            <a:r>
              <a:rPr lang="es-AR" dirty="0">
                <a:latin typeface="Arial" panose="020B0604020202020204" pitchFamily="34" charset="0"/>
                <a:cs typeface="Arial" panose="020B0604020202020204" pitchFamily="34" charset="0"/>
              </a:rPr>
              <a:t> = {(&lt;M&gt;, w) | M acepta w}.   </a:t>
            </a:r>
          </a:p>
          <a:p>
            <a:pPr marL="288000"/>
            <a:endParaRPr lang="es-AR" sz="800" dirty="0">
              <a:latin typeface="Arial" panose="020B0604020202020204" pitchFamily="34" charset="0"/>
              <a:cs typeface="Arial" panose="020B0604020202020204" pitchFamily="34" charset="0"/>
            </a:endParaRPr>
          </a:p>
        </p:txBody>
      </p:sp>
      <p:sp>
        <p:nvSpPr>
          <p:cNvPr id="38" name="Slide Number Placeholder 2">
            <a:extLst>
              <a:ext uri="{FF2B5EF4-FFF2-40B4-BE49-F238E27FC236}">
                <a16:creationId xmlns:a16="http://schemas.microsoft.com/office/drawing/2014/main" id="{C7C897F7-9551-4C24-877E-6974D5DC69E2}"/>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7" name="CuadroTexto 6">
            <a:extLst>
              <a:ext uri="{FF2B5EF4-FFF2-40B4-BE49-F238E27FC236}">
                <a16:creationId xmlns:a16="http://schemas.microsoft.com/office/drawing/2014/main" id="{9A895ACA-80D0-8985-5AAF-FE809060D877}"/>
              </a:ext>
            </a:extLst>
          </p:cNvPr>
          <p:cNvSpPr txBox="1"/>
          <p:nvPr/>
        </p:nvSpPr>
        <p:spPr>
          <a:xfrm>
            <a:off x="571570" y="3820229"/>
            <a:ext cx="11620430" cy="2862322"/>
          </a:xfrm>
          <a:prstGeom prst="rect">
            <a:avLst/>
          </a:prstGeom>
          <a:noFill/>
        </p:spPr>
        <p:txBody>
          <a:bodyPr wrap="square">
            <a:spAutoFit/>
          </a:bodyPr>
          <a:lstStyle/>
          <a:p>
            <a:r>
              <a:rPr lang="es-AR" b="1" dirty="0">
                <a:latin typeface="Arial" panose="020B0604020202020204" pitchFamily="34" charset="0"/>
                <a:cs typeface="Arial" panose="020B0604020202020204" pitchFamily="34" charset="0"/>
              </a:rPr>
              <a:t>Definición de la reducción</a:t>
            </a:r>
          </a:p>
          <a:p>
            <a:r>
              <a:rPr lang="es-AR" dirty="0">
                <a:latin typeface="Arial" panose="020B0604020202020204" pitchFamily="34" charset="0"/>
                <a:cs typeface="Arial" panose="020B0604020202020204" pitchFamily="34" charset="0"/>
              </a:rPr>
              <a:t>f((&lt;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&gt;, w)) =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&gt;, w), con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como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salvo que </a:t>
            </a:r>
            <a:r>
              <a:rPr lang="es-AR" b="1" dirty="0">
                <a:latin typeface="Arial" panose="020B0604020202020204" pitchFamily="34" charset="0"/>
                <a:cs typeface="Arial" panose="020B0604020202020204" pitchFamily="34" charset="0"/>
              </a:rPr>
              <a:t>los estados </a:t>
            </a:r>
            <a:r>
              <a:rPr lang="es-AR" b="1" dirty="0" err="1">
                <a:latin typeface="Arial" panose="020B0604020202020204" pitchFamily="34" charset="0"/>
                <a:cs typeface="Arial" panose="020B0604020202020204" pitchFamily="34" charset="0"/>
              </a:rPr>
              <a:t>q</a:t>
            </a:r>
            <a:r>
              <a:rPr lang="es-AR" b="1" baseline="-25000" dirty="0" err="1">
                <a:latin typeface="Arial" panose="020B0604020202020204" pitchFamily="34" charset="0"/>
                <a:cs typeface="Arial" panose="020B0604020202020204" pitchFamily="34" charset="0"/>
              </a:rPr>
              <a:t>R</a:t>
            </a:r>
            <a:r>
              <a:rPr lang="es-AR" b="1" baseline="-25000"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de </a:t>
            </a:r>
            <a:r>
              <a:rPr lang="es-ES" b="1" dirty="0">
                <a:latin typeface="Arial" panose="020B0604020202020204" pitchFamily="34" charset="0"/>
                <a:cs typeface="Arial" panose="020B0604020202020204" pitchFamily="34" charset="0"/>
              </a:rPr>
              <a:t>M</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se cambian en </a:t>
            </a:r>
            <a:r>
              <a:rPr lang="es-ES" b="1" dirty="0">
                <a:latin typeface="Arial" panose="020B0604020202020204" pitchFamily="34" charset="0"/>
                <a:cs typeface="Arial" panose="020B0604020202020204" pitchFamily="34" charset="0"/>
              </a:rPr>
              <a:t>M</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por estados </a:t>
            </a:r>
            <a:r>
              <a:rPr lang="es-AR" b="1" dirty="0" err="1">
                <a:latin typeface="Arial" panose="020B0604020202020204" pitchFamily="34" charset="0"/>
                <a:cs typeface="Arial" panose="020B0604020202020204" pitchFamily="34" charset="0"/>
              </a:rPr>
              <a:t>q</a:t>
            </a:r>
            <a:r>
              <a:rPr lang="es-AR" b="1" baseline="-25000" dirty="0" err="1">
                <a:latin typeface="Arial" panose="020B0604020202020204" pitchFamily="34" charset="0"/>
                <a:cs typeface="Arial" panose="020B0604020202020204" pitchFamily="34" charset="0"/>
              </a:rPr>
              <a:t>A</a:t>
            </a:r>
            <a:r>
              <a:rPr lang="es-AR" dirty="0">
                <a:latin typeface="Arial" panose="020B0604020202020204" pitchFamily="34" charset="0"/>
                <a:cs typeface="Arial" panose="020B0604020202020204" pitchFamily="34" charset="0"/>
              </a:rPr>
              <a:t>.</a:t>
            </a:r>
          </a:p>
          <a:p>
            <a:endParaRPr lang="es-AR"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Computabilidad </a:t>
            </a:r>
          </a:p>
          <a:p>
            <a:r>
              <a:rPr lang="es-AR" dirty="0">
                <a:latin typeface="Arial" panose="020B0604020202020204" pitchFamily="34" charset="0"/>
                <a:cs typeface="Arial" panose="020B0604020202020204" pitchFamily="34" charset="0"/>
              </a:rPr>
              <a:t>Existe una MT </a:t>
            </a:r>
            <a:r>
              <a:rPr lang="es-AR" dirty="0" err="1">
                <a:latin typeface="Arial" panose="020B0604020202020204" pitchFamily="34" charset="0"/>
                <a:cs typeface="Arial" panose="020B0604020202020204" pitchFamily="34" charset="0"/>
              </a:rPr>
              <a:t>M</a:t>
            </a:r>
            <a:r>
              <a:rPr lang="es-AR" baseline="-25000" dirty="0" err="1">
                <a:latin typeface="Arial" panose="020B0604020202020204" pitchFamily="34" charset="0"/>
                <a:cs typeface="Arial" panose="020B0604020202020204" pitchFamily="34" charset="0"/>
              </a:rPr>
              <a:t>f</a:t>
            </a:r>
            <a:r>
              <a:rPr lang="es-AR" baseline="-25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 que computa f: copia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&gt;, w) pero cambiando los estados </a:t>
            </a:r>
            <a:r>
              <a:rPr lang="es-AR" dirty="0" err="1">
                <a:latin typeface="Arial" panose="020B0604020202020204" pitchFamily="34" charset="0"/>
                <a:cs typeface="Arial" panose="020B0604020202020204" pitchFamily="34" charset="0"/>
              </a:rPr>
              <a:t>q</a:t>
            </a:r>
            <a:r>
              <a:rPr lang="es-AR" baseline="-25000" dirty="0" err="1">
                <a:latin typeface="Arial" panose="020B0604020202020204" pitchFamily="34" charset="0"/>
                <a:cs typeface="Arial" panose="020B0604020202020204" pitchFamily="34" charset="0"/>
              </a:rPr>
              <a:t>R</a:t>
            </a:r>
            <a:r>
              <a:rPr lang="es-AR" baseline="-25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de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por estados </a:t>
            </a:r>
            <a:r>
              <a:rPr lang="es-AR" dirty="0" err="1">
                <a:latin typeface="Arial" panose="020B0604020202020204" pitchFamily="34" charset="0"/>
                <a:cs typeface="Arial" panose="020B0604020202020204" pitchFamily="34" charset="0"/>
              </a:rPr>
              <a:t>q</a:t>
            </a:r>
            <a:r>
              <a:rPr lang="es-AR" baseline="-25000" dirty="0" err="1">
                <a:latin typeface="Arial" panose="020B0604020202020204" pitchFamily="34" charset="0"/>
                <a:cs typeface="Arial" panose="020B0604020202020204" pitchFamily="34" charset="0"/>
              </a:rPr>
              <a:t>A</a:t>
            </a:r>
            <a:r>
              <a:rPr lang="es-AR" dirty="0">
                <a:latin typeface="Arial" panose="020B0604020202020204" pitchFamily="34" charset="0"/>
                <a:cs typeface="Arial" panose="020B0604020202020204" pitchFamily="34" charset="0"/>
              </a:rPr>
              <a:t> en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p>
          <a:p>
            <a:endParaRPr lang="es-AR"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Correctitud</a:t>
            </a:r>
          </a:p>
          <a:p>
            <a:r>
              <a:rPr lang="es-AR" dirty="0">
                <a:latin typeface="Arial" panose="020B0604020202020204" pitchFamily="34" charset="0"/>
                <a:cs typeface="Arial" panose="020B0604020202020204" pitchFamily="34" charset="0"/>
              </a:rPr>
              <a:t>(&lt;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&gt;, w)</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 HP </a:t>
            </a:r>
            <a:r>
              <a:rPr lang="es-AR"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para sobre w ⟶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acepta w ⟶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&gt;, w)</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U</a:t>
            </a:r>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&gt;, w)</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HP </a:t>
            </a:r>
            <a:r>
              <a:rPr lang="es-AR" dirty="0">
                <a:latin typeface="Arial" panose="020B0604020202020204" pitchFamily="34" charset="0"/>
                <a:cs typeface="Arial" panose="020B0604020202020204" pitchFamily="34" charset="0"/>
              </a:rPr>
              <a:t>⟶ </a:t>
            </a:r>
            <a:r>
              <a:rPr lang="es-AR" u="sng" dirty="0">
                <a:latin typeface="Arial" panose="020B0604020202020204" pitchFamily="34" charset="0"/>
                <a:cs typeface="Arial" panose="020B0604020202020204" pitchFamily="34" charset="0"/>
              </a:rPr>
              <a:t>caso de cadena válida</a:t>
            </a:r>
            <a:r>
              <a:rPr lang="es-AR"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no para sobre w ⟶ </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no para sobre w ⟶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&gt;, w)</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U</a:t>
            </a:r>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u="sng" dirty="0">
                <a:latin typeface="Arial" panose="020B0604020202020204" pitchFamily="34" charset="0"/>
                <a:cs typeface="Arial" panose="020B0604020202020204" pitchFamily="34" charset="0"/>
              </a:rPr>
              <a:t>caso de cadena inválida</a:t>
            </a:r>
            <a:r>
              <a:rPr lang="es-AR" dirty="0">
                <a:latin typeface="Arial" panose="020B0604020202020204" pitchFamily="34" charset="0"/>
                <a:cs typeface="Arial" panose="020B0604020202020204" pitchFamily="34" charset="0"/>
              </a:rPr>
              <a:t>: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&gt;, w) también es una cadena inválida ⟶ (&lt;</a:t>
            </a:r>
            <a:r>
              <a:rPr lang="es-ES"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&gt;, w)</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a:t>
            </a:r>
            <a:r>
              <a:rPr lang="es-AR"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U</a:t>
            </a:r>
            <a:endParaRPr lang="es-AR"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519D8BDB-E531-70A4-B4FE-145D12A77878}"/>
              </a:ext>
            </a:extLst>
          </p:cNvPr>
          <p:cNvSpPr txBox="1"/>
          <p:nvPr/>
        </p:nvSpPr>
        <p:spPr>
          <a:xfrm>
            <a:off x="7231969" y="1797912"/>
            <a:ext cx="3884669" cy="1446550"/>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De acuerdo al teorema.</a:t>
            </a:r>
          </a:p>
          <a:p>
            <a:endParaRPr lang="es-AR" sz="800" dirty="0">
              <a:latin typeface="Arial" panose="020B0604020202020204" pitchFamily="34" charset="0"/>
              <a:cs typeface="Arial" panose="020B0604020202020204" pitchFamily="34" charset="0"/>
            </a:endParaRPr>
          </a:p>
          <a:p>
            <a:r>
              <a:rPr lang="es-AR" sz="1600" dirty="0">
                <a:latin typeface="Arial" panose="020B0604020202020204" pitchFamily="34" charset="0"/>
                <a:cs typeface="Arial" panose="020B0604020202020204" pitchFamily="34" charset="0"/>
              </a:rPr>
              <a:t>si L</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 </a:t>
            </a:r>
            <a:r>
              <a:rPr lang="en-US" sz="1600"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sz="1600"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 entonces L</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sym typeface="Symbol" panose="05050102010706020507" pitchFamily="18" charset="2"/>
              </a:rPr>
              <a:t> </a:t>
            </a:r>
            <a:r>
              <a:rPr lang="es-AR" sz="1600" dirty="0">
                <a:latin typeface="Arial" panose="020B0604020202020204" pitchFamily="34" charset="0"/>
                <a:cs typeface="Arial" panose="020B0604020202020204" pitchFamily="34" charset="0"/>
              </a:rPr>
              <a:t>R ⟶ L</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 ∉</a:t>
            </a:r>
            <a:r>
              <a:rPr lang="es-AR" sz="1600" dirty="0">
                <a:effectLst/>
                <a:latin typeface="Arial" panose="020B0604020202020204" pitchFamily="34" charset="0"/>
                <a:ea typeface="Calibri" panose="020F050202020403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R. </a:t>
            </a:r>
          </a:p>
          <a:p>
            <a:endParaRPr lang="es-AR" sz="800" b="1" dirty="0">
              <a:latin typeface="Arial" panose="020B0604020202020204" pitchFamily="34" charset="0"/>
              <a:cs typeface="Arial" panose="020B0604020202020204" pitchFamily="34" charset="0"/>
            </a:endParaRPr>
          </a:p>
          <a:p>
            <a:r>
              <a:rPr lang="es-AR" sz="1600" dirty="0">
                <a:latin typeface="Arial" panose="020B0604020202020204" pitchFamily="34" charset="0"/>
                <a:cs typeface="Arial" panose="020B0604020202020204" pitchFamily="34" charset="0"/>
              </a:rPr>
              <a:t>Por lo tanto, como HP ∉</a:t>
            </a:r>
            <a:r>
              <a:rPr lang="es-AR" sz="1600" dirty="0">
                <a:latin typeface="Arial" panose="020B0604020202020204" pitchFamily="34" charset="0"/>
                <a:cs typeface="Arial" panose="020B0604020202020204" pitchFamily="34" charset="0"/>
                <a:sym typeface="Symbol" panose="05050102010706020507" pitchFamily="18" charset="2"/>
              </a:rPr>
              <a:t> </a:t>
            </a:r>
            <a:r>
              <a:rPr lang="es-AR" sz="1600" dirty="0">
                <a:latin typeface="Arial" panose="020B0604020202020204" pitchFamily="34" charset="0"/>
                <a:cs typeface="Arial" panose="020B0604020202020204" pitchFamily="34" charset="0"/>
              </a:rPr>
              <a:t>R,</a:t>
            </a:r>
          </a:p>
          <a:p>
            <a:endParaRPr lang="es-AR" sz="800" dirty="0">
              <a:latin typeface="Arial" panose="020B0604020202020204" pitchFamily="34" charset="0"/>
              <a:cs typeface="Arial" panose="020B0604020202020204" pitchFamily="34" charset="0"/>
            </a:endParaRPr>
          </a:p>
          <a:p>
            <a:r>
              <a:rPr lang="es-AR" sz="1600" b="1" dirty="0">
                <a:solidFill>
                  <a:srgbClr val="0070C0"/>
                </a:solidFill>
                <a:latin typeface="Arial" panose="020B0604020202020204" pitchFamily="34" charset="0"/>
                <a:cs typeface="Arial" panose="020B0604020202020204" pitchFamily="34" charset="0"/>
              </a:rPr>
              <a:t>también probamos que L</a:t>
            </a:r>
            <a:r>
              <a:rPr lang="es-AR" sz="1600" b="1" baseline="-25000" dirty="0">
                <a:solidFill>
                  <a:srgbClr val="0070C0"/>
                </a:solidFill>
                <a:latin typeface="Arial" panose="020B0604020202020204" pitchFamily="34" charset="0"/>
                <a:cs typeface="Arial" panose="020B0604020202020204" pitchFamily="34" charset="0"/>
              </a:rPr>
              <a:t>U</a:t>
            </a:r>
            <a:r>
              <a:rPr lang="es-AR" sz="1600" b="1" dirty="0">
                <a:solidFill>
                  <a:srgbClr val="0070C0"/>
                </a:solidFill>
                <a:latin typeface="Arial" panose="020B0604020202020204" pitchFamily="34" charset="0"/>
                <a:cs typeface="Arial" panose="020B0604020202020204" pitchFamily="34" charset="0"/>
              </a:rPr>
              <a:t> ∉</a:t>
            </a:r>
            <a:r>
              <a:rPr lang="es-AR" sz="1600" b="1" dirty="0">
                <a:solidFill>
                  <a:srgbClr val="0070C0"/>
                </a:solidFill>
                <a:latin typeface="Arial" panose="020B0604020202020204" pitchFamily="34" charset="0"/>
                <a:ea typeface="Calibri" panose="020F0502020204030204" pitchFamily="34" charset="0"/>
                <a:cs typeface="Arial" panose="020B0604020202020204" pitchFamily="34" charset="0"/>
              </a:rPr>
              <a:t> </a:t>
            </a:r>
            <a:r>
              <a:rPr lang="es-AR" sz="1600" b="1" dirty="0">
                <a:solidFill>
                  <a:srgbClr val="0070C0"/>
                </a:solidFill>
                <a:latin typeface="Arial" panose="020B0604020202020204" pitchFamily="34" charset="0"/>
                <a:cs typeface="Arial" panose="020B0604020202020204" pitchFamily="34" charset="0"/>
              </a:rPr>
              <a:t>R.</a:t>
            </a:r>
          </a:p>
        </p:txBody>
      </p:sp>
      <p:sp>
        <p:nvSpPr>
          <p:cNvPr id="2" name="Diagrama de flujo: conector 1">
            <a:extLst>
              <a:ext uri="{FF2B5EF4-FFF2-40B4-BE49-F238E27FC236}">
                <a16:creationId xmlns:a16="http://schemas.microsoft.com/office/drawing/2014/main" id="{769E1FC5-DD5A-D4D5-1B32-E3E7C02C4FB6}"/>
              </a:ext>
            </a:extLst>
          </p:cNvPr>
          <p:cNvSpPr/>
          <p:nvPr/>
        </p:nvSpPr>
        <p:spPr>
          <a:xfrm>
            <a:off x="1613043" y="1719287"/>
            <a:ext cx="1326620" cy="1588992"/>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12BF50B6-FC92-F98F-E653-8A3C7155F3DE}"/>
              </a:ext>
            </a:extLst>
          </p:cNvPr>
          <p:cNvSpPr/>
          <p:nvPr/>
        </p:nvSpPr>
        <p:spPr>
          <a:xfrm>
            <a:off x="1950890" y="1772678"/>
            <a:ext cx="612668"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HP</a:t>
            </a:r>
            <a:endParaRPr lang="es-MX" sz="2400" dirty="0"/>
          </a:p>
        </p:txBody>
      </p:sp>
      <p:sp>
        <p:nvSpPr>
          <p:cNvPr id="16" name="Diagrama de flujo: conector 15">
            <a:extLst>
              <a:ext uri="{FF2B5EF4-FFF2-40B4-BE49-F238E27FC236}">
                <a16:creationId xmlns:a16="http://schemas.microsoft.com/office/drawing/2014/main" id="{4824F8CD-088A-B904-9EE5-99CD6EFFDC52}"/>
              </a:ext>
            </a:extLst>
          </p:cNvPr>
          <p:cNvSpPr/>
          <p:nvPr/>
        </p:nvSpPr>
        <p:spPr>
          <a:xfrm>
            <a:off x="4562498" y="1728689"/>
            <a:ext cx="1326621" cy="1588992"/>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165A461D-CF2A-1BA4-B0AF-973B62E3F7BE}"/>
              </a:ext>
            </a:extLst>
          </p:cNvPr>
          <p:cNvSpPr/>
          <p:nvPr/>
        </p:nvSpPr>
        <p:spPr>
          <a:xfrm>
            <a:off x="4939237" y="1717000"/>
            <a:ext cx="503664"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U</a:t>
            </a:r>
            <a:endParaRPr lang="es-MX" sz="2400" dirty="0"/>
          </a:p>
        </p:txBody>
      </p:sp>
      <p:cxnSp>
        <p:nvCxnSpPr>
          <p:cNvPr id="27" name="Conector recto de flecha 26">
            <a:extLst>
              <a:ext uri="{FF2B5EF4-FFF2-40B4-BE49-F238E27FC236}">
                <a16:creationId xmlns:a16="http://schemas.microsoft.com/office/drawing/2014/main" id="{9C03228A-CB19-318E-C819-0D7AF3215D74}"/>
              </a:ext>
            </a:extLst>
          </p:cNvPr>
          <p:cNvCxnSpPr>
            <a:cxnSpLocks/>
          </p:cNvCxnSpPr>
          <p:nvPr/>
        </p:nvCxnSpPr>
        <p:spPr>
          <a:xfrm>
            <a:off x="2869219" y="2575976"/>
            <a:ext cx="18298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ángulo 27">
            <a:extLst>
              <a:ext uri="{FF2B5EF4-FFF2-40B4-BE49-F238E27FC236}">
                <a16:creationId xmlns:a16="http://schemas.microsoft.com/office/drawing/2014/main" id="{13A6CDC6-733D-FD03-E434-ECF013708763}"/>
              </a:ext>
            </a:extLst>
          </p:cNvPr>
          <p:cNvSpPr/>
          <p:nvPr/>
        </p:nvSpPr>
        <p:spPr>
          <a:xfrm>
            <a:off x="1781193" y="2351910"/>
            <a:ext cx="1197720"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(&lt;</a:t>
            </a:r>
            <a:r>
              <a:rPr lang="es-ES" sz="1600" dirty="0">
                <a:latin typeface="Arial" panose="020B0604020202020204" pitchFamily="34" charset="0"/>
                <a:cs typeface="Arial" panose="020B0604020202020204" pitchFamily="34" charset="0"/>
              </a:rPr>
              <a:t>M</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&gt;,w)</a:t>
            </a:r>
            <a:endParaRPr lang="es-MX" sz="1600" dirty="0"/>
          </a:p>
        </p:txBody>
      </p:sp>
      <p:sp>
        <p:nvSpPr>
          <p:cNvPr id="32" name="Rectángulo 31">
            <a:extLst>
              <a:ext uri="{FF2B5EF4-FFF2-40B4-BE49-F238E27FC236}">
                <a16:creationId xmlns:a16="http://schemas.microsoft.com/office/drawing/2014/main" id="{47121603-1C8F-E411-B027-EBE439EEB163}"/>
              </a:ext>
            </a:extLst>
          </p:cNvPr>
          <p:cNvSpPr/>
          <p:nvPr/>
        </p:nvSpPr>
        <p:spPr>
          <a:xfrm>
            <a:off x="4661004" y="2391310"/>
            <a:ext cx="1290934"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(&lt;</a:t>
            </a:r>
            <a:r>
              <a:rPr lang="es-ES" sz="1600" dirty="0">
                <a:latin typeface="Arial" panose="020B0604020202020204" pitchFamily="34" charset="0"/>
                <a:cs typeface="Arial" panose="020B0604020202020204" pitchFamily="34" charset="0"/>
              </a:rPr>
              <a:t>M</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&gt;,w)</a:t>
            </a:r>
            <a:endParaRPr lang="es-MX" sz="1600" dirty="0"/>
          </a:p>
        </p:txBody>
      </p:sp>
      <p:cxnSp>
        <p:nvCxnSpPr>
          <p:cNvPr id="5" name="Conector recto de flecha 4">
            <a:extLst>
              <a:ext uri="{FF2B5EF4-FFF2-40B4-BE49-F238E27FC236}">
                <a16:creationId xmlns:a16="http://schemas.microsoft.com/office/drawing/2014/main" id="{5DC62BC5-A371-C352-F2CD-140377798DB3}"/>
              </a:ext>
            </a:extLst>
          </p:cNvPr>
          <p:cNvCxnSpPr>
            <a:cxnSpLocks/>
          </p:cNvCxnSpPr>
          <p:nvPr/>
        </p:nvCxnSpPr>
        <p:spPr>
          <a:xfrm>
            <a:off x="2869219" y="3443313"/>
            <a:ext cx="18298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487C28D6-4329-330F-73F1-832BDE0B546F}"/>
              </a:ext>
            </a:extLst>
          </p:cNvPr>
          <p:cNvSpPr/>
          <p:nvPr/>
        </p:nvSpPr>
        <p:spPr>
          <a:xfrm>
            <a:off x="3566404" y="2766461"/>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A509CAFD-EBCC-6EB7-9CCD-49ECC116FF2A}"/>
              </a:ext>
            </a:extLst>
          </p:cNvPr>
          <p:cNvSpPr/>
          <p:nvPr/>
        </p:nvSpPr>
        <p:spPr>
          <a:xfrm>
            <a:off x="3629271" y="2824769"/>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398853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77371" y="697900"/>
            <a:ext cx="11719252" cy="923330"/>
          </a:xfrm>
          <a:prstGeom prst="rect">
            <a:avLst/>
          </a:prstGeom>
        </p:spPr>
        <p:txBody>
          <a:bodyPr wrap="square">
            <a:spAutoFit/>
          </a:bodyPr>
          <a:lstStyle/>
          <a:p>
            <a:pPr marL="342900" indent="-342900">
              <a:buFont typeface="Arial" panose="020B0604020202020204" pitchFamily="34" charset="0"/>
              <a:buChar char="•"/>
            </a:pPr>
            <a:r>
              <a:rPr lang="es-ES" b="1" dirty="0">
                <a:latin typeface="Arial" panose="020B0604020202020204" pitchFamily="34" charset="0"/>
                <a:cs typeface="Arial" panose="020B0604020202020204" pitchFamily="34" charset="0"/>
              </a:rPr>
              <a:t>Reflexividad. </a:t>
            </a:r>
            <a:r>
              <a:rPr lang="es-ES" dirty="0">
                <a:latin typeface="Arial" panose="020B0604020202020204" pitchFamily="34" charset="0"/>
                <a:cs typeface="Arial" panose="020B0604020202020204" pitchFamily="34" charset="0"/>
              </a:rPr>
              <a:t>Para todo lenguaje L se cumple </a:t>
            </a:r>
            <a:r>
              <a:rPr lang="es-AR" dirty="0">
                <a:latin typeface="Arial" panose="020B0604020202020204" pitchFamily="34" charset="0"/>
                <a:cs typeface="Arial" panose="020B0604020202020204" pitchFamily="34" charset="0"/>
              </a:rPr>
              <a:t>L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 </a:t>
            </a:r>
          </a:p>
          <a:p>
            <a:r>
              <a:rPr lang="es-AR" i="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 función de reducción es la función identidad.</a:t>
            </a:r>
            <a:endParaRPr lang="es-ES"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s-ES" dirty="0">
              <a:latin typeface="Arial" panose="020B0604020202020204" pitchFamily="34" charset="0"/>
              <a:cs typeface="Arial" panose="020B0604020202020204" pitchFamily="34" charset="0"/>
            </a:endParaRPr>
          </a:p>
        </p:txBody>
      </p:sp>
      <p:sp>
        <p:nvSpPr>
          <p:cNvPr id="32" name="Rectángulo 31">
            <a:extLst>
              <a:ext uri="{FF2B5EF4-FFF2-40B4-BE49-F238E27FC236}">
                <a16:creationId xmlns:a16="http://schemas.microsoft.com/office/drawing/2014/main" id="{9A4BB739-94C6-41CF-ADB2-D0A6DE23BBE5}"/>
              </a:ext>
            </a:extLst>
          </p:cNvPr>
          <p:cNvSpPr/>
          <p:nvPr/>
        </p:nvSpPr>
        <p:spPr>
          <a:xfrm>
            <a:off x="3026087" y="3974447"/>
            <a:ext cx="6965724"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Se componen las reducciones f y g y se obtiene la reducción h. </a:t>
            </a:r>
            <a:r>
              <a:rPr lang="es-AR" sz="1600" dirty="0">
                <a:solidFill>
                  <a:srgbClr val="FF0000"/>
                </a:solidFill>
                <a:latin typeface="Arial" panose="020B0604020202020204" pitchFamily="34" charset="0"/>
                <a:cs typeface="Arial" panose="020B0604020202020204" pitchFamily="34" charset="0"/>
              </a:rPr>
              <a:t> </a:t>
            </a:r>
            <a:endParaRPr lang="es-MX" sz="1600" dirty="0">
              <a:solidFill>
                <a:srgbClr val="FF0000"/>
              </a:solidFill>
            </a:endParaRPr>
          </a:p>
        </p:txBody>
      </p:sp>
      <p:sp>
        <p:nvSpPr>
          <p:cNvPr id="33" name="Rectángulo 32">
            <a:extLst>
              <a:ext uri="{FF2B5EF4-FFF2-40B4-BE49-F238E27FC236}">
                <a16:creationId xmlns:a16="http://schemas.microsoft.com/office/drawing/2014/main" id="{FA9D4754-C864-424C-88EA-784F51786613}"/>
              </a:ext>
            </a:extLst>
          </p:cNvPr>
          <p:cNvSpPr/>
          <p:nvPr/>
        </p:nvSpPr>
        <p:spPr>
          <a:xfrm>
            <a:off x="353827" y="4544933"/>
            <a:ext cx="9849443" cy="369332"/>
          </a:xfrm>
          <a:prstGeom prst="rect">
            <a:avLst/>
          </a:prstGeom>
        </p:spPr>
        <p:txBody>
          <a:bodyPr wrap="square">
            <a:spAutoFit/>
          </a:bodyPr>
          <a:lstStyle/>
          <a:p>
            <a:pPr marL="342900" indent="-342900">
              <a:buFont typeface="Arial" panose="020B0604020202020204" pitchFamily="34" charset="0"/>
              <a:buChar char="•"/>
            </a:pPr>
            <a:r>
              <a:rPr lang="es-ES" b="1" dirty="0">
                <a:latin typeface="Arial" panose="020B0604020202020204" pitchFamily="34" charset="0"/>
                <a:cs typeface="Arial" panose="020B0604020202020204" pitchFamily="34" charset="0"/>
              </a:rPr>
              <a:t>Otra propiedad: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ES" dirty="0" err="1">
                <a:latin typeface="Arial" panose="020B0604020202020204" pitchFamily="34" charset="0"/>
                <a:cs typeface="Arial" panose="020B0604020202020204" pitchFamily="34" charset="0"/>
                <a:sym typeface="Symbol" panose="05050102010706020507" pitchFamily="18" charset="2"/>
              </a:rPr>
              <a:t>sii</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1</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Es la misma función de reducción.</a:t>
            </a:r>
          </a:p>
        </p:txBody>
      </p:sp>
      <p:sp>
        <p:nvSpPr>
          <p:cNvPr id="82" name="Slide Number Placeholder 2">
            <a:extLst>
              <a:ext uri="{FF2B5EF4-FFF2-40B4-BE49-F238E27FC236}">
                <a16:creationId xmlns:a16="http://schemas.microsoft.com/office/drawing/2014/main" id="{2DE66B5E-FDAC-474C-AA9F-DF8D10FCF96D}"/>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7" name="Rectángulo 16">
            <a:extLst>
              <a:ext uri="{FF2B5EF4-FFF2-40B4-BE49-F238E27FC236}">
                <a16:creationId xmlns:a16="http://schemas.microsoft.com/office/drawing/2014/main" id="{7D154EA6-2EE8-4D4A-A898-15C84812E735}"/>
              </a:ext>
            </a:extLst>
          </p:cNvPr>
          <p:cNvSpPr/>
          <p:nvPr/>
        </p:nvSpPr>
        <p:spPr>
          <a:xfrm>
            <a:off x="8714872" y="5234523"/>
            <a:ext cx="2976795" cy="769441"/>
          </a:xfrm>
          <a:prstGeom prst="rect">
            <a:avLst/>
          </a:prstGeom>
        </p:spPr>
        <p:txBody>
          <a:bodyPr wrap="square">
            <a:spAutoFit/>
          </a:bodyPr>
          <a:lstStyle/>
          <a:p>
            <a:r>
              <a:rPr lang="es-AR" b="1" dirty="0">
                <a:latin typeface="Arial" panose="020B0604020202020204" pitchFamily="34" charset="0"/>
                <a:cs typeface="Arial" panose="020B0604020202020204" pitchFamily="34" charset="0"/>
              </a:rPr>
              <a:t>No se cumple la simetría</a:t>
            </a:r>
            <a:r>
              <a:rPr lang="es-AR" dirty="0">
                <a:latin typeface="Arial" panose="020B0604020202020204" pitchFamily="34" charset="0"/>
                <a:cs typeface="Arial" panose="020B0604020202020204" pitchFamily="34" charset="0"/>
              </a:rPr>
              <a:t>. </a:t>
            </a:r>
          </a:p>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ES" dirty="0">
                <a:latin typeface="Arial" panose="020B0604020202020204" pitchFamily="34" charset="0"/>
                <a:cs typeface="Arial" panose="020B0604020202020204" pitchFamily="34" charset="0"/>
                <a:sym typeface="Symbol" panose="05050102010706020507" pitchFamily="18" charset="2"/>
              </a:rPr>
              <a:t>no implica</a:t>
            </a:r>
            <a:r>
              <a:rPr lang="es-AR" dirty="0">
                <a:latin typeface="Arial" panose="020B0604020202020204" pitchFamily="34" charset="0"/>
                <a:cs typeface="Arial" panose="020B0604020202020204" pitchFamily="34" charset="0"/>
              </a:rPr>
              <a:t>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p>
          <a:p>
            <a:endParaRPr lang="es-AR" sz="8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917E955F-1419-F6B6-1FF7-5EEC3C53EEE8}"/>
              </a:ext>
            </a:extLst>
          </p:cNvPr>
          <p:cNvSpPr/>
          <p:nvPr/>
        </p:nvSpPr>
        <p:spPr>
          <a:xfrm>
            <a:off x="249172" y="143605"/>
            <a:ext cx="11647419"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Propiedades</a:t>
            </a:r>
          </a:p>
        </p:txBody>
      </p:sp>
      <p:sp>
        <p:nvSpPr>
          <p:cNvPr id="8" name="CuadroTexto 7">
            <a:extLst>
              <a:ext uri="{FF2B5EF4-FFF2-40B4-BE49-F238E27FC236}">
                <a16:creationId xmlns:a16="http://schemas.microsoft.com/office/drawing/2014/main" id="{720E7E63-CF84-7BFE-EB24-0784CEB6BB3A}"/>
              </a:ext>
            </a:extLst>
          </p:cNvPr>
          <p:cNvSpPr txBox="1"/>
          <p:nvPr/>
        </p:nvSpPr>
        <p:spPr>
          <a:xfrm>
            <a:off x="320023" y="2026061"/>
            <a:ext cx="6195526" cy="369332"/>
          </a:xfrm>
          <a:prstGeom prst="rect">
            <a:avLst/>
          </a:prstGeom>
          <a:noFill/>
        </p:spPr>
        <p:txBody>
          <a:bodyPr wrap="square">
            <a:spAutoFit/>
          </a:bodyPr>
          <a:lstStyle/>
          <a:p>
            <a:pPr marL="285750" indent="-285750">
              <a:buFont typeface="Arial" panose="020B0604020202020204" pitchFamily="34" charset="0"/>
              <a:buChar char="•"/>
            </a:pPr>
            <a:r>
              <a:rPr lang="es-ES" b="1" dirty="0">
                <a:latin typeface="Arial" panose="020B0604020202020204" pitchFamily="34" charset="0"/>
                <a:cs typeface="Arial" panose="020B0604020202020204" pitchFamily="34" charset="0"/>
              </a:rPr>
              <a:t>Transitividad. </a:t>
            </a:r>
            <a:r>
              <a:rPr lang="es-ES" dirty="0">
                <a:latin typeface="Arial" panose="020B0604020202020204" pitchFamily="34" charset="0"/>
                <a:cs typeface="Arial" panose="020B0604020202020204" pitchFamily="34" charset="0"/>
              </a:rPr>
              <a:t>Si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y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entonces 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a:t>
            </a:r>
            <a:endParaRPr lang="es-AR" dirty="0"/>
          </a:p>
        </p:txBody>
      </p:sp>
      <p:sp>
        <p:nvSpPr>
          <p:cNvPr id="13" name="Rectángulo 12">
            <a:extLst>
              <a:ext uri="{FF2B5EF4-FFF2-40B4-BE49-F238E27FC236}">
                <a16:creationId xmlns:a16="http://schemas.microsoft.com/office/drawing/2014/main" id="{82FEC0FF-EFE5-3603-DE53-7519A96E616D}"/>
              </a:ext>
            </a:extLst>
          </p:cNvPr>
          <p:cNvSpPr/>
          <p:nvPr/>
        </p:nvSpPr>
        <p:spPr>
          <a:xfrm>
            <a:off x="8192609" y="913619"/>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14" name="Rectángulo 13">
            <a:extLst>
              <a:ext uri="{FF2B5EF4-FFF2-40B4-BE49-F238E27FC236}">
                <a16:creationId xmlns:a16="http://schemas.microsoft.com/office/drawing/2014/main" id="{B43C0AC7-5905-51F4-E739-0CB6DB6CE5F6}"/>
              </a:ext>
            </a:extLst>
          </p:cNvPr>
          <p:cNvSpPr/>
          <p:nvPr/>
        </p:nvSpPr>
        <p:spPr>
          <a:xfrm>
            <a:off x="6500203" y="1283618"/>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5" name="Diagrama de flujo: conector 14">
            <a:extLst>
              <a:ext uri="{FF2B5EF4-FFF2-40B4-BE49-F238E27FC236}">
                <a16:creationId xmlns:a16="http://schemas.microsoft.com/office/drawing/2014/main" id="{F001DB66-7F0D-FAB3-B6FD-FDAB82AAF154}"/>
              </a:ext>
            </a:extLst>
          </p:cNvPr>
          <p:cNvSpPr/>
          <p:nvPr/>
        </p:nvSpPr>
        <p:spPr>
          <a:xfrm>
            <a:off x="6150524" y="727518"/>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extLst>
              <a:ext uri="{FF2B5EF4-FFF2-40B4-BE49-F238E27FC236}">
                <a16:creationId xmlns:a16="http://schemas.microsoft.com/office/drawing/2014/main" id="{E345279A-1558-64D8-BDF3-9F7E4CB8C21B}"/>
              </a:ext>
            </a:extLst>
          </p:cNvPr>
          <p:cNvSpPr/>
          <p:nvPr/>
        </p:nvSpPr>
        <p:spPr>
          <a:xfrm>
            <a:off x="8163936" y="1280435"/>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21" name="Diagrama de flujo: conector 20">
            <a:extLst>
              <a:ext uri="{FF2B5EF4-FFF2-40B4-BE49-F238E27FC236}">
                <a16:creationId xmlns:a16="http://schemas.microsoft.com/office/drawing/2014/main" id="{EA8F463A-B552-8A61-633A-61A9C002BB7E}"/>
              </a:ext>
            </a:extLst>
          </p:cNvPr>
          <p:cNvSpPr/>
          <p:nvPr/>
        </p:nvSpPr>
        <p:spPr>
          <a:xfrm>
            <a:off x="7814257" y="724335"/>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3" name="Conector recto de flecha 22">
            <a:extLst>
              <a:ext uri="{FF2B5EF4-FFF2-40B4-BE49-F238E27FC236}">
                <a16:creationId xmlns:a16="http://schemas.microsoft.com/office/drawing/2014/main" id="{A24FAA96-14A2-5A53-F0BE-8EF8673B4937}"/>
              </a:ext>
            </a:extLst>
          </p:cNvPr>
          <p:cNvCxnSpPr>
            <a:cxnSpLocks/>
          </p:cNvCxnSpPr>
          <p:nvPr/>
        </p:nvCxnSpPr>
        <p:spPr>
          <a:xfrm>
            <a:off x="6946515" y="1502464"/>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938BC7AD-8A01-5D39-0A2D-5CB198019C28}"/>
              </a:ext>
            </a:extLst>
          </p:cNvPr>
          <p:cNvSpPr/>
          <p:nvPr/>
        </p:nvSpPr>
        <p:spPr>
          <a:xfrm>
            <a:off x="6570744" y="731931"/>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endParaRPr lang="es-MX" dirty="0"/>
          </a:p>
        </p:txBody>
      </p:sp>
      <p:sp>
        <p:nvSpPr>
          <p:cNvPr id="25" name="Rectángulo 24">
            <a:extLst>
              <a:ext uri="{FF2B5EF4-FFF2-40B4-BE49-F238E27FC236}">
                <a16:creationId xmlns:a16="http://schemas.microsoft.com/office/drawing/2014/main" id="{C91F3BD9-7858-7528-E7A2-C33238F0EC35}"/>
              </a:ext>
            </a:extLst>
          </p:cNvPr>
          <p:cNvSpPr/>
          <p:nvPr/>
        </p:nvSpPr>
        <p:spPr>
          <a:xfrm>
            <a:off x="8243728" y="723867"/>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endParaRPr lang="es-MX" dirty="0"/>
          </a:p>
        </p:txBody>
      </p:sp>
      <p:sp>
        <p:nvSpPr>
          <p:cNvPr id="27" name="Rectángulo 26">
            <a:extLst>
              <a:ext uri="{FF2B5EF4-FFF2-40B4-BE49-F238E27FC236}">
                <a16:creationId xmlns:a16="http://schemas.microsoft.com/office/drawing/2014/main" id="{6A65C22E-7783-3BD9-5224-BC6137B5A567}"/>
              </a:ext>
            </a:extLst>
          </p:cNvPr>
          <p:cNvSpPr/>
          <p:nvPr/>
        </p:nvSpPr>
        <p:spPr>
          <a:xfrm>
            <a:off x="6596655" y="1328218"/>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28" name="Rectángulo 27">
            <a:extLst>
              <a:ext uri="{FF2B5EF4-FFF2-40B4-BE49-F238E27FC236}">
                <a16:creationId xmlns:a16="http://schemas.microsoft.com/office/drawing/2014/main" id="{08EE8EC9-213A-F8BD-C759-0C4231E659E6}"/>
              </a:ext>
            </a:extLst>
          </p:cNvPr>
          <p:cNvSpPr/>
          <p:nvPr/>
        </p:nvSpPr>
        <p:spPr>
          <a:xfrm>
            <a:off x="8252846" y="1338253"/>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29" name="Rectángulo 28">
            <a:extLst>
              <a:ext uri="{FF2B5EF4-FFF2-40B4-BE49-F238E27FC236}">
                <a16:creationId xmlns:a16="http://schemas.microsoft.com/office/drawing/2014/main" id="{B2CDFDBC-7D4D-494E-514B-52F79579C94E}"/>
              </a:ext>
            </a:extLst>
          </p:cNvPr>
          <p:cNvSpPr/>
          <p:nvPr/>
        </p:nvSpPr>
        <p:spPr>
          <a:xfrm>
            <a:off x="7476010" y="1234601"/>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sp>
        <p:nvSpPr>
          <p:cNvPr id="195" name="CuadroTexto 194">
            <a:extLst>
              <a:ext uri="{FF2B5EF4-FFF2-40B4-BE49-F238E27FC236}">
                <a16:creationId xmlns:a16="http://schemas.microsoft.com/office/drawing/2014/main" id="{06BEB5B6-BBF6-3AAF-FFBC-7DCD5F881B6F}"/>
              </a:ext>
            </a:extLst>
          </p:cNvPr>
          <p:cNvSpPr txBox="1"/>
          <p:nvPr/>
        </p:nvSpPr>
        <p:spPr>
          <a:xfrm>
            <a:off x="3836751" y="5466692"/>
            <a:ext cx="1177081"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igual</a:t>
            </a:r>
          </a:p>
        </p:txBody>
      </p:sp>
      <p:cxnSp>
        <p:nvCxnSpPr>
          <p:cNvPr id="6" name="Conector recto de flecha 5">
            <a:extLst>
              <a:ext uri="{FF2B5EF4-FFF2-40B4-BE49-F238E27FC236}">
                <a16:creationId xmlns:a16="http://schemas.microsoft.com/office/drawing/2014/main" id="{7304B81F-DCE5-DA52-0715-AD4238EF2C71}"/>
              </a:ext>
            </a:extLst>
          </p:cNvPr>
          <p:cNvCxnSpPr>
            <a:cxnSpLocks/>
          </p:cNvCxnSpPr>
          <p:nvPr/>
        </p:nvCxnSpPr>
        <p:spPr>
          <a:xfrm>
            <a:off x="6946515" y="2167389"/>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ángulo 10">
            <a:extLst>
              <a:ext uri="{FF2B5EF4-FFF2-40B4-BE49-F238E27FC236}">
                <a16:creationId xmlns:a16="http://schemas.microsoft.com/office/drawing/2014/main" id="{E9A1C7FE-92B2-0D37-32C5-AC8D18D38090}"/>
              </a:ext>
            </a:extLst>
          </p:cNvPr>
          <p:cNvSpPr/>
          <p:nvPr/>
        </p:nvSpPr>
        <p:spPr>
          <a:xfrm>
            <a:off x="7479786" y="1910920"/>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sp>
        <p:nvSpPr>
          <p:cNvPr id="12" name="Rectángulo 11">
            <a:extLst>
              <a:ext uri="{FF2B5EF4-FFF2-40B4-BE49-F238E27FC236}">
                <a16:creationId xmlns:a16="http://schemas.microsoft.com/office/drawing/2014/main" id="{1C276654-D700-749E-6384-3264E980D8DA}"/>
              </a:ext>
            </a:extLst>
          </p:cNvPr>
          <p:cNvSpPr/>
          <p:nvPr/>
        </p:nvSpPr>
        <p:spPr>
          <a:xfrm>
            <a:off x="2792581" y="2627319"/>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39" name="Rectángulo 38">
            <a:extLst>
              <a:ext uri="{FF2B5EF4-FFF2-40B4-BE49-F238E27FC236}">
                <a16:creationId xmlns:a16="http://schemas.microsoft.com/office/drawing/2014/main" id="{8A7CF450-E773-DF3C-7FF6-805443AA9F68}"/>
              </a:ext>
            </a:extLst>
          </p:cNvPr>
          <p:cNvSpPr/>
          <p:nvPr/>
        </p:nvSpPr>
        <p:spPr>
          <a:xfrm>
            <a:off x="1100175" y="2997318"/>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40" name="Diagrama de flujo: conector 39">
            <a:extLst>
              <a:ext uri="{FF2B5EF4-FFF2-40B4-BE49-F238E27FC236}">
                <a16:creationId xmlns:a16="http://schemas.microsoft.com/office/drawing/2014/main" id="{644AA315-F5D6-A53C-3E10-C6D80A26B2B1}"/>
              </a:ext>
            </a:extLst>
          </p:cNvPr>
          <p:cNvSpPr/>
          <p:nvPr/>
        </p:nvSpPr>
        <p:spPr>
          <a:xfrm>
            <a:off x="750496" y="2441218"/>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Rectángulo 48">
            <a:extLst>
              <a:ext uri="{FF2B5EF4-FFF2-40B4-BE49-F238E27FC236}">
                <a16:creationId xmlns:a16="http://schemas.microsoft.com/office/drawing/2014/main" id="{3671C601-6704-D07C-075E-DA78C24C4F21}"/>
              </a:ext>
            </a:extLst>
          </p:cNvPr>
          <p:cNvSpPr/>
          <p:nvPr/>
        </p:nvSpPr>
        <p:spPr>
          <a:xfrm>
            <a:off x="2763908" y="2994135"/>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76" name="Diagrama de flujo: conector 75">
            <a:extLst>
              <a:ext uri="{FF2B5EF4-FFF2-40B4-BE49-F238E27FC236}">
                <a16:creationId xmlns:a16="http://schemas.microsoft.com/office/drawing/2014/main" id="{748A71DC-C259-1C8D-23B6-FBF4E9EA8E97}"/>
              </a:ext>
            </a:extLst>
          </p:cNvPr>
          <p:cNvSpPr/>
          <p:nvPr/>
        </p:nvSpPr>
        <p:spPr>
          <a:xfrm>
            <a:off x="2414229" y="2438035"/>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7" name="Conector recto de flecha 76">
            <a:extLst>
              <a:ext uri="{FF2B5EF4-FFF2-40B4-BE49-F238E27FC236}">
                <a16:creationId xmlns:a16="http://schemas.microsoft.com/office/drawing/2014/main" id="{30FB3164-2502-7F53-8123-BEE8B553A057}"/>
              </a:ext>
            </a:extLst>
          </p:cNvPr>
          <p:cNvCxnSpPr>
            <a:cxnSpLocks/>
          </p:cNvCxnSpPr>
          <p:nvPr/>
        </p:nvCxnSpPr>
        <p:spPr>
          <a:xfrm>
            <a:off x="1546487" y="3216164"/>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ángulo 77">
            <a:extLst>
              <a:ext uri="{FF2B5EF4-FFF2-40B4-BE49-F238E27FC236}">
                <a16:creationId xmlns:a16="http://schemas.microsoft.com/office/drawing/2014/main" id="{7D348DA7-2230-4C84-A71C-1F3C0CB6C11F}"/>
              </a:ext>
            </a:extLst>
          </p:cNvPr>
          <p:cNvSpPr/>
          <p:nvPr/>
        </p:nvSpPr>
        <p:spPr>
          <a:xfrm>
            <a:off x="1170716" y="2445631"/>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79" name="Rectángulo 78">
            <a:extLst>
              <a:ext uri="{FF2B5EF4-FFF2-40B4-BE49-F238E27FC236}">
                <a16:creationId xmlns:a16="http://schemas.microsoft.com/office/drawing/2014/main" id="{73697DCB-0A2F-0434-2E84-04448B686F80}"/>
              </a:ext>
            </a:extLst>
          </p:cNvPr>
          <p:cNvSpPr/>
          <p:nvPr/>
        </p:nvSpPr>
        <p:spPr>
          <a:xfrm>
            <a:off x="2843700" y="2437567"/>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80" name="Rectángulo 79">
            <a:extLst>
              <a:ext uri="{FF2B5EF4-FFF2-40B4-BE49-F238E27FC236}">
                <a16:creationId xmlns:a16="http://schemas.microsoft.com/office/drawing/2014/main" id="{D1E444E8-FB2A-6E3C-1518-05DE8FC77D70}"/>
              </a:ext>
            </a:extLst>
          </p:cNvPr>
          <p:cNvSpPr/>
          <p:nvPr/>
        </p:nvSpPr>
        <p:spPr>
          <a:xfrm>
            <a:off x="1196627" y="3041918"/>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95" name="Rectángulo 94">
            <a:extLst>
              <a:ext uri="{FF2B5EF4-FFF2-40B4-BE49-F238E27FC236}">
                <a16:creationId xmlns:a16="http://schemas.microsoft.com/office/drawing/2014/main" id="{BD05EC78-F85F-4E9B-48CA-745F3C2163BB}"/>
              </a:ext>
            </a:extLst>
          </p:cNvPr>
          <p:cNvSpPr/>
          <p:nvPr/>
        </p:nvSpPr>
        <p:spPr>
          <a:xfrm>
            <a:off x="2845712" y="3031951"/>
            <a:ext cx="514513"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f(w)</a:t>
            </a:r>
            <a:endParaRPr lang="es-AR" sz="1400" dirty="0"/>
          </a:p>
        </p:txBody>
      </p:sp>
      <p:sp>
        <p:nvSpPr>
          <p:cNvPr id="96" name="Rectángulo 95">
            <a:extLst>
              <a:ext uri="{FF2B5EF4-FFF2-40B4-BE49-F238E27FC236}">
                <a16:creationId xmlns:a16="http://schemas.microsoft.com/office/drawing/2014/main" id="{A0F5CB17-76E8-BA31-8F81-CB1B6B917E1E}"/>
              </a:ext>
            </a:extLst>
          </p:cNvPr>
          <p:cNvSpPr/>
          <p:nvPr/>
        </p:nvSpPr>
        <p:spPr>
          <a:xfrm>
            <a:off x="2075982" y="2948301"/>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cxnSp>
        <p:nvCxnSpPr>
          <p:cNvPr id="97" name="Conector recto de flecha 96">
            <a:extLst>
              <a:ext uri="{FF2B5EF4-FFF2-40B4-BE49-F238E27FC236}">
                <a16:creationId xmlns:a16="http://schemas.microsoft.com/office/drawing/2014/main" id="{99216908-FBC5-5133-7C8E-791839054E0E}"/>
              </a:ext>
            </a:extLst>
          </p:cNvPr>
          <p:cNvCxnSpPr>
            <a:cxnSpLocks/>
          </p:cNvCxnSpPr>
          <p:nvPr/>
        </p:nvCxnSpPr>
        <p:spPr>
          <a:xfrm>
            <a:off x="1546487" y="3881089"/>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ángulo 99">
            <a:extLst>
              <a:ext uri="{FF2B5EF4-FFF2-40B4-BE49-F238E27FC236}">
                <a16:creationId xmlns:a16="http://schemas.microsoft.com/office/drawing/2014/main" id="{AC0E849D-A862-0B1F-89F1-855DDAA9080B}"/>
              </a:ext>
            </a:extLst>
          </p:cNvPr>
          <p:cNvSpPr/>
          <p:nvPr/>
        </p:nvSpPr>
        <p:spPr>
          <a:xfrm>
            <a:off x="2079758" y="3624620"/>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sp>
        <p:nvSpPr>
          <p:cNvPr id="101" name="Rectángulo 100">
            <a:extLst>
              <a:ext uri="{FF2B5EF4-FFF2-40B4-BE49-F238E27FC236}">
                <a16:creationId xmlns:a16="http://schemas.microsoft.com/office/drawing/2014/main" id="{F080E6C8-D221-B63A-71BC-6A562AB51B68}"/>
              </a:ext>
            </a:extLst>
          </p:cNvPr>
          <p:cNvSpPr/>
          <p:nvPr/>
        </p:nvSpPr>
        <p:spPr>
          <a:xfrm>
            <a:off x="6186465" y="2596954"/>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102" name="Rectángulo 101">
            <a:extLst>
              <a:ext uri="{FF2B5EF4-FFF2-40B4-BE49-F238E27FC236}">
                <a16:creationId xmlns:a16="http://schemas.microsoft.com/office/drawing/2014/main" id="{C630FCB0-68FC-3530-A965-6C9103DBBBAF}"/>
              </a:ext>
            </a:extLst>
          </p:cNvPr>
          <p:cNvSpPr/>
          <p:nvPr/>
        </p:nvSpPr>
        <p:spPr>
          <a:xfrm>
            <a:off x="4494059" y="2966953"/>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03" name="Diagrama de flujo: conector 102">
            <a:extLst>
              <a:ext uri="{FF2B5EF4-FFF2-40B4-BE49-F238E27FC236}">
                <a16:creationId xmlns:a16="http://schemas.microsoft.com/office/drawing/2014/main" id="{F01D187D-8F82-013E-2DD8-79588E005D1D}"/>
              </a:ext>
            </a:extLst>
          </p:cNvPr>
          <p:cNvSpPr/>
          <p:nvPr/>
        </p:nvSpPr>
        <p:spPr>
          <a:xfrm>
            <a:off x="4144380" y="2410853"/>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4" name="Rectángulo 103">
            <a:extLst>
              <a:ext uri="{FF2B5EF4-FFF2-40B4-BE49-F238E27FC236}">
                <a16:creationId xmlns:a16="http://schemas.microsoft.com/office/drawing/2014/main" id="{4287E73D-3332-FEA2-374E-B67896414E15}"/>
              </a:ext>
            </a:extLst>
          </p:cNvPr>
          <p:cNvSpPr/>
          <p:nvPr/>
        </p:nvSpPr>
        <p:spPr>
          <a:xfrm>
            <a:off x="6157792" y="2963770"/>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05" name="Diagrama de flujo: conector 104">
            <a:extLst>
              <a:ext uri="{FF2B5EF4-FFF2-40B4-BE49-F238E27FC236}">
                <a16:creationId xmlns:a16="http://schemas.microsoft.com/office/drawing/2014/main" id="{CB1186CF-D9CD-EF52-AE65-7A93152EDA59}"/>
              </a:ext>
            </a:extLst>
          </p:cNvPr>
          <p:cNvSpPr/>
          <p:nvPr/>
        </p:nvSpPr>
        <p:spPr>
          <a:xfrm>
            <a:off x="5808113" y="2407670"/>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09" name="Conector recto de flecha 108">
            <a:extLst>
              <a:ext uri="{FF2B5EF4-FFF2-40B4-BE49-F238E27FC236}">
                <a16:creationId xmlns:a16="http://schemas.microsoft.com/office/drawing/2014/main" id="{C31C0C2B-CAF9-E927-A6BA-9702DA93E62D}"/>
              </a:ext>
            </a:extLst>
          </p:cNvPr>
          <p:cNvCxnSpPr>
            <a:cxnSpLocks/>
          </p:cNvCxnSpPr>
          <p:nvPr/>
        </p:nvCxnSpPr>
        <p:spPr>
          <a:xfrm flipV="1">
            <a:off x="4940371" y="3177967"/>
            <a:ext cx="1155629" cy="78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Rectángulo 113">
            <a:extLst>
              <a:ext uri="{FF2B5EF4-FFF2-40B4-BE49-F238E27FC236}">
                <a16:creationId xmlns:a16="http://schemas.microsoft.com/office/drawing/2014/main" id="{AEE5B259-8577-6081-C855-5AC7E0EA3A9A}"/>
              </a:ext>
            </a:extLst>
          </p:cNvPr>
          <p:cNvSpPr/>
          <p:nvPr/>
        </p:nvSpPr>
        <p:spPr>
          <a:xfrm>
            <a:off x="4564600" y="2415266"/>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115" name="Rectángulo 114">
            <a:extLst>
              <a:ext uri="{FF2B5EF4-FFF2-40B4-BE49-F238E27FC236}">
                <a16:creationId xmlns:a16="http://schemas.microsoft.com/office/drawing/2014/main" id="{974BDAD4-D905-EE6D-B72D-7BBD1C4B88A2}"/>
              </a:ext>
            </a:extLst>
          </p:cNvPr>
          <p:cNvSpPr/>
          <p:nvPr/>
        </p:nvSpPr>
        <p:spPr>
          <a:xfrm>
            <a:off x="6237584" y="2407202"/>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endParaRPr lang="es-MX" dirty="0"/>
          </a:p>
        </p:txBody>
      </p:sp>
      <p:sp>
        <p:nvSpPr>
          <p:cNvPr id="116" name="Rectángulo 115">
            <a:extLst>
              <a:ext uri="{FF2B5EF4-FFF2-40B4-BE49-F238E27FC236}">
                <a16:creationId xmlns:a16="http://schemas.microsoft.com/office/drawing/2014/main" id="{F3770EF6-6808-4812-67B7-76E248DA9FFE}"/>
              </a:ext>
            </a:extLst>
          </p:cNvPr>
          <p:cNvSpPr/>
          <p:nvPr/>
        </p:nvSpPr>
        <p:spPr>
          <a:xfrm>
            <a:off x="4509190" y="3009523"/>
            <a:ext cx="49311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f(w)</a:t>
            </a:r>
            <a:endParaRPr lang="es-AR" sz="1400" dirty="0"/>
          </a:p>
        </p:txBody>
      </p:sp>
      <p:sp>
        <p:nvSpPr>
          <p:cNvPr id="117" name="Rectángulo 116">
            <a:extLst>
              <a:ext uri="{FF2B5EF4-FFF2-40B4-BE49-F238E27FC236}">
                <a16:creationId xmlns:a16="http://schemas.microsoft.com/office/drawing/2014/main" id="{B8411BD3-4373-1E77-3E32-B4A391519C9F}"/>
              </a:ext>
            </a:extLst>
          </p:cNvPr>
          <p:cNvSpPr/>
          <p:nvPr/>
        </p:nvSpPr>
        <p:spPr>
          <a:xfrm>
            <a:off x="6115546" y="2990697"/>
            <a:ext cx="1658068"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g(f(w))</a:t>
            </a:r>
            <a:endParaRPr lang="es-AR" sz="1400" dirty="0"/>
          </a:p>
        </p:txBody>
      </p:sp>
      <p:sp>
        <p:nvSpPr>
          <p:cNvPr id="118" name="Rectángulo 117">
            <a:extLst>
              <a:ext uri="{FF2B5EF4-FFF2-40B4-BE49-F238E27FC236}">
                <a16:creationId xmlns:a16="http://schemas.microsoft.com/office/drawing/2014/main" id="{CAD46068-0F6F-B3F1-8CC7-078BC64AD93B}"/>
              </a:ext>
            </a:extLst>
          </p:cNvPr>
          <p:cNvSpPr/>
          <p:nvPr/>
        </p:nvSpPr>
        <p:spPr>
          <a:xfrm>
            <a:off x="5409312" y="2874251"/>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g</a:t>
            </a:r>
            <a:endParaRPr lang="es-AR" sz="1400" dirty="0"/>
          </a:p>
        </p:txBody>
      </p:sp>
      <p:cxnSp>
        <p:nvCxnSpPr>
          <p:cNvPr id="121" name="Conector recto de flecha 120">
            <a:extLst>
              <a:ext uri="{FF2B5EF4-FFF2-40B4-BE49-F238E27FC236}">
                <a16:creationId xmlns:a16="http://schemas.microsoft.com/office/drawing/2014/main" id="{5ED9DDCF-4C65-3F63-0FF0-78107577D645}"/>
              </a:ext>
            </a:extLst>
          </p:cNvPr>
          <p:cNvCxnSpPr>
            <a:cxnSpLocks/>
          </p:cNvCxnSpPr>
          <p:nvPr/>
        </p:nvCxnSpPr>
        <p:spPr>
          <a:xfrm>
            <a:off x="4940371" y="3850724"/>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Rectángulo 123">
            <a:extLst>
              <a:ext uri="{FF2B5EF4-FFF2-40B4-BE49-F238E27FC236}">
                <a16:creationId xmlns:a16="http://schemas.microsoft.com/office/drawing/2014/main" id="{AB9E7792-D3B4-A211-BE10-C7482F958060}"/>
              </a:ext>
            </a:extLst>
          </p:cNvPr>
          <p:cNvSpPr/>
          <p:nvPr/>
        </p:nvSpPr>
        <p:spPr>
          <a:xfrm>
            <a:off x="5442986" y="3561854"/>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g</a:t>
            </a:r>
            <a:endParaRPr lang="es-AR" sz="1400" dirty="0"/>
          </a:p>
        </p:txBody>
      </p:sp>
      <p:sp>
        <p:nvSpPr>
          <p:cNvPr id="125" name="Rectángulo 124">
            <a:extLst>
              <a:ext uri="{FF2B5EF4-FFF2-40B4-BE49-F238E27FC236}">
                <a16:creationId xmlns:a16="http://schemas.microsoft.com/office/drawing/2014/main" id="{1A4815BF-EB62-F109-F7B8-3B46336507B4}"/>
              </a:ext>
            </a:extLst>
          </p:cNvPr>
          <p:cNvSpPr/>
          <p:nvPr/>
        </p:nvSpPr>
        <p:spPr>
          <a:xfrm>
            <a:off x="10428645" y="2589122"/>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126" name="Rectángulo 125">
            <a:extLst>
              <a:ext uri="{FF2B5EF4-FFF2-40B4-BE49-F238E27FC236}">
                <a16:creationId xmlns:a16="http://schemas.microsoft.com/office/drawing/2014/main" id="{9183B9B4-9AFD-EF95-8BDF-3817F8B3B4DC}"/>
              </a:ext>
            </a:extLst>
          </p:cNvPr>
          <p:cNvSpPr/>
          <p:nvPr/>
        </p:nvSpPr>
        <p:spPr>
          <a:xfrm>
            <a:off x="8736239" y="2959121"/>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29" name="Diagrama de flujo: conector 128">
            <a:extLst>
              <a:ext uri="{FF2B5EF4-FFF2-40B4-BE49-F238E27FC236}">
                <a16:creationId xmlns:a16="http://schemas.microsoft.com/office/drawing/2014/main" id="{B445D2D1-B505-4869-DDF3-CD862972A465}"/>
              </a:ext>
            </a:extLst>
          </p:cNvPr>
          <p:cNvSpPr/>
          <p:nvPr/>
        </p:nvSpPr>
        <p:spPr>
          <a:xfrm>
            <a:off x="8386560" y="2403021"/>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0" name="Rectángulo 129">
            <a:extLst>
              <a:ext uri="{FF2B5EF4-FFF2-40B4-BE49-F238E27FC236}">
                <a16:creationId xmlns:a16="http://schemas.microsoft.com/office/drawing/2014/main" id="{D523C349-5893-77F0-97BF-F526000355AB}"/>
              </a:ext>
            </a:extLst>
          </p:cNvPr>
          <p:cNvSpPr/>
          <p:nvPr/>
        </p:nvSpPr>
        <p:spPr>
          <a:xfrm>
            <a:off x="10399972" y="2955938"/>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31" name="Diagrama de flujo: conector 130">
            <a:extLst>
              <a:ext uri="{FF2B5EF4-FFF2-40B4-BE49-F238E27FC236}">
                <a16:creationId xmlns:a16="http://schemas.microsoft.com/office/drawing/2014/main" id="{C25961DA-9952-3F54-5B37-98ACE2883698}"/>
              </a:ext>
            </a:extLst>
          </p:cNvPr>
          <p:cNvSpPr/>
          <p:nvPr/>
        </p:nvSpPr>
        <p:spPr>
          <a:xfrm>
            <a:off x="10050293" y="2399838"/>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32" name="Conector recto de flecha 131">
            <a:extLst>
              <a:ext uri="{FF2B5EF4-FFF2-40B4-BE49-F238E27FC236}">
                <a16:creationId xmlns:a16="http://schemas.microsoft.com/office/drawing/2014/main" id="{687351DE-6014-6AB4-C11D-AB63AB3DCC7D}"/>
              </a:ext>
            </a:extLst>
          </p:cNvPr>
          <p:cNvCxnSpPr>
            <a:cxnSpLocks/>
          </p:cNvCxnSpPr>
          <p:nvPr/>
        </p:nvCxnSpPr>
        <p:spPr>
          <a:xfrm flipV="1">
            <a:off x="9182551" y="3157609"/>
            <a:ext cx="1122429" cy="203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Rectángulo 132">
            <a:extLst>
              <a:ext uri="{FF2B5EF4-FFF2-40B4-BE49-F238E27FC236}">
                <a16:creationId xmlns:a16="http://schemas.microsoft.com/office/drawing/2014/main" id="{582E171F-5AB3-013A-24F4-C9F142217C3B}"/>
              </a:ext>
            </a:extLst>
          </p:cNvPr>
          <p:cNvSpPr/>
          <p:nvPr/>
        </p:nvSpPr>
        <p:spPr>
          <a:xfrm>
            <a:off x="8806780" y="2407434"/>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134" name="Rectángulo 133">
            <a:extLst>
              <a:ext uri="{FF2B5EF4-FFF2-40B4-BE49-F238E27FC236}">
                <a16:creationId xmlns:a16="http://schemas.microsoft.com/office/drawing/2014/main" id="{FDDA22EA-195D-6DBC-1B75-F538CB5AFDA0}"/>
              </a:ext>
            </a:extLst>
          </p:cNvPr>
          <p:cNvSpPr/>
          <p:nvPr/>
        </p:nvSpPr>
        <p:spPr>
          <a:xfrm>
            <a:off x="10479764" y="2399370"/>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endParaRPr lang="es-MX" dirty="0"/>
          </a:p>
        </p:txBody>
      </p:sp>
      <p:sp>
        <p:nvSpPr>
          <p:cNvPr id="135" name="Rectángulo 134">
            <a:extLst>
              <a:ext uri="{FF2B5EF4-FFF2-40B4-BE49-F238E27FC236}">
                <a16:creationId xmlns:a16="http://schemas.microsoft.com/office/drawing/2014/main" id="{B3616887-A4FC-2291-ECEA-DD5D66616923}"/>
              </a:ext>
            </a:extLst>
          </p:cNvPr>
          <p:cNvSpPr/>
          <p:nvPr/>
        </p:nvSpPr>
        <p:spPr>
          <a:xfrm>
            <a:off x="8832691" y="3003721"/>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137" name="Rectángulo 136">
            <a:extLst>
              <a:ext uri="{FF2B5EF4-FFF2-40B4-BE49-F238E27FC236}">
                <a16:creationId xmlns:a16="http://schemas.microsoft.com/office/drawing/2014/main" id="{9E08CFCA-F9B8-6E82-F04B-ED9EC5337965}"/>
              </a:ext>
            </a:extLst>
          </p:cNvPr>
          <p:cNvSpPr/>
          <p:nvPr/>
        </p:nvSpPr>
        <p:spPr>
          <a:xfrm>
            <a:off x="9683289" y="2909847"/>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h</a:t>
            </a:r>
            <a:endParaRPr lang="es-AR" sz="1400" dirty="0"/>
          </a:p>
        </p:txBody>
      </p:sp>
      <p:cxnSp>
        <p:nvCxnSpPr>
          <p:cNvPr id="138" name="Conector recto de flecha 137">
            <a:extLst>
              <a:ext uri="{FF2B5EF4-FFF2-40B4-BE49-F238E27FC236}">
                <a16:creationId xmlns:a16="http://schemas.microsoft.com/office/drawing/2014/main" id="{7BB44C5F-2832-E23E-2FF2-F3BDAA5B6ABC}"/>
              </a:ext>
            </a:extLst>
          </p:cNvPr>
          <p:cNvCxnSpPr>
            <a:cxnSpLocks/>
          </p:cNvCxnSpPr>
          <p:nvPr/>
        </p:nvCxnSpPr>
        <p:spPr>
          <a:xfrm>
            <a:off x="9182551" y="3842892"/>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Rectángulo 157">
            <a:extLst>
              <a:ext uri="{FF2B5EF4-FFF2-40B4-BE49-F238E27FC236}">
                <a16:creationId xmlns:a16="http://schemas.microsoft.com/office/drawing/2014/main" id="{623FE7F8-4CC0-240E-F33B-1B5E8B812748}"/>
              </a:ext>
            </a:extLst>
          </p:cNvPr>
          <p:cNvSpPr/>
          <p:nvPr/>
        </p:nvSpPr>
        <p:spPr>
          <a:xfrm>
            <a:off x="9715822" y="3586423"/>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h</a:t>
            </a:r>
            <a:endParaRPr lang="es-AR" sz="1400" dirty="0"/>
          </a:p>
        </p:txBody>
      </p:sp>
      <p:sp>
        <p:nvSpPr>
          <p:cNvPr id="159" name="CuadroTexto 158">
            <a:extLst>
              <a:ext uri="{FF2B5EF4-FFF2-40B4-BE49-F238E27FC236}">
                <a16:creationId xmlns:a16="http://schemas.microsoft.com/office/drawing/2014/main" id="{5BC440A4-3A50-8F8C-F52B-06FF98FBA3F5}"/>
              </a:ext>
            </a:extLst>
          </p:cNvPr>
          <p:cNvSpPr txBox="1"/>
          <p:nvPr/>
        </p:nvSpPr>
        <p:spPr>
          <a:xfrm>
            <a:off x="3712438" y="2980363"/>
            <a:ext cx="394752"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y</a:t>
            </a:r>
          </a:p>
        </p:txBody>
      </p:sp>
      <p:sp>
        <p:nvSpPr>
          <p:cNvPr id="160" name="CuadroTexto 159">
            <a:extLst>
              <a:ext uri="{FF2B5EF4-FFF2-40B4-BE49-F238E27FC236}">
                <a16:creationId xmlns:a16="http://schemas.microsoft.com/office/drawing/2014/main" id="{D4168A6B-5276-823E-B054-89686A5A88EF}"/>
              </a:ext>
            </a:extLst>
          </p:cNvPr>
          <p:cNvSpPr txBox="1"/>
          <p:nvPr/>
        </p:nvSpPr>
        <p:spPr>
          <a:xfrm>
            <a:off x="7088308" y="2929581"/>
            <a:ext cx="1177081"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entonces</a:t>
            </a:r>
          </a:p>
        </p:txBody>
      </p:sp>
      <p:sp>
        <p:nvSpPr>
          <p:cNvPr id="161" name="Rectángulo 160">
            <a:extLst>
              <a:ext uri="{FF2B5EF4-FFF2-40B4-BE49-F238E27FC236}">
                <a16:creationId xmlns:a16="http://schemas.microsoft.com/office/drawing/2014/main" id="{29D4FBB4-B307-CFE0-68EA-0D766F023BBE}"/>
              </a:ext>
            </a:extLst>
          </p:cNvPr>
          <p:cNvSpPr/>
          <p:nvPr/>
        </p:nvSpPr>
        <p:spPr>
          <a:xfrm>
            <a:off x="2791888" y="5134356"/>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162" name="Rectángulo 161">
            <a:extLst>
              <a:ext uri="{FF2B5EF4-FFF2-40B4-BE49-F238E27FC236}">
                <a16:creationId xmlns:a16="http://schemas.microsoft.com/office/drawing/2014/main" id="{A7DC1C80-C8A5-9382-7418-DE3693C5F064}"/>
              </a:ext>
            </a:extLst>
          </p:cNvPr>
          <p:cNvSpPr/>
          <p:nvPr/>
        </p:nvSpPr>
        <p:spPr>
          <a:xfrm>
            <a:off x="1099482" y="5504355"/>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63" name="Diagrama de flujo: conector 162">
            <a:extLst>
              <a:ext uri="{FF2B5EF4-FFF2-40B4-BE49-F238E27FC236}">
                <a16:creationId xmlns:a16="http://schemas.microsoft.com/office/drawing/2014/main" id="{8FBB3DB1-B6BA-C2FA-62B7-5E5FE3E1C744}"/>
              </a:ext>
            </a:extLst>
          </p:cNvPr>
          <p:cNvSpPr/>
          <p:nvPr/>
        </p:nvSpPr>
        <p:spPr>
          <a:xfrm>
            <a:off x="749803" y="4948255"/>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4" name="Rectángulo 163">
            <a:extLst>
              <a:ext uri="{FF2B5EF4-FFF2-40B4-BE49-F238E27FC236}">
                <a16:creationId xmlns:a16="http://schemas.microsoft.com/office/drawing/2014/main" id="{9C8A7A5A-8B8E-9E7E-7152-ECC47E75B034}"/>
              </a:ext>
            </a:extLst>
          </p:cNvPr>
          <p:cNvSpPr/>
          <p:nvPr/>
        </p:nvSpPr>
        <p:spPr>
          <a:xfrm>
            <a:off x="2763215" y="5501172"/>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165" name="Diagrama de flujo: conector 164">
            <a:extLst>
              <a:ext uri="{FF2B5EF4-FFF2-40B4-BE49-F238E27FC236}">
                <a16:creationId xmlns:a16="http://schemas.microsoft.com/office/drawing/2014/main" id="{C4CEB946-FB3A-2537-6783-2D602FC8D629}"/>
              </a:ext>
            </a:extLst>
          </p:cNvPr>
          <p:cNvSpPr/>
          <p:nvPr/>
        </p:nvSpPr>
        <p:spPr>
          <a:xfrm>
            <a:off x="2413536" y="4945072"/>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66" name="Conector recto de flecha 165">
            <a:extLst>
              <a:ext uri="{FF2B5EF4-FFF2-40B4-BE49-F238E27FC236}">
                <a16:creationId xmlns:a16="http://schemas.microsoft.com/office/drawing/2014/main" id="{F71B461B-831B-3D81-3E2B-2B11DB9BE384}"/>
              </a:ext>
            </a:extLst>
          </p:cNvPr>
          <p:cNvCxnSpPr>
            <a:cxnSpLocks/>
          </p:cNvCxnSpPr>
          <p:nvPr/>
        </p:nvCxnSpPr>
        <p:spPr>
          <a:xfrm>
            <a:off x="1505337" y="5722085"/>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7" name="Rectángulo 166">
            <a:extLst>
              <a:ext uri="{FF2B5EF4-FFF2-40B4-BE49-F238E27FC236}">
                <a16:creationId xmlns:a16="http://schemas.microsoft.com/office/drawing/2014/main" id="{4BD67788-0206-44A4-9B5F-C864F387ACB4}"/>
              </a:ext>
            </a:extLst>
          </p:cNvPr>
          <p:cNvSpPr/>
          <p:nvPr/>
        </p:nvSpPr>
        <p:spPr>
          <a:xfrm>
            <a:off x="1170023" y="4952668"/>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168" name="Rectángulo 167">
            <a:extLst>
              <a:ext uri="{FF2B5EF4-FFF2-40B4-BE49-F238E27FC236}">
                <a16:creationId xmlns:a16="http://schemas.microsoft.com/office/drawing/2014/main" id="{B1FE7404-3FC2-06D6-86B4-EF7AD3794721}"/>
              </a:ext>
            </a:extLst>
          </p:cNvPr>
          <p:cNvSpPr/>
          <p:nvPr/>
        </p:nvSpPr>
        <p:spPr>
          <a:xfrm>
            <a:off x="2843007" y="4944604"/>
            <a:ext cx="46839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169" name="Rectángulo 168">
            <a:extLst>
              <a:ext uri="{FF2B5EF4-FFF2-40B4-BE49-F238E27FC236}">
                <a16:creationId xmlns:a16="http://schemas.microsoft.com/office/drawing/2014/main" id="{0BA9B2E2-1201-0231-EAF4-8F384C92C151}"/>
              </a:ext>
            </a:extLst>
          </p:cNvPr>
          <p:cNvSpPr/>
          <p:nvPr/>
        </p:nvSpPr>
        <p:spPr>
          <a:xfrm>
            <a:off x="1195934" y="5548955"/>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173" name="Rectángulo 172">
            <a:extLst>
              <a:ext uri="{FF2B5EF4-FFF2-40B4-BE49-F238E27FC236}">
                <a16:creationId xmlns:a16="http://schemas.microsoft.com/office/drawing/2014/main" id="{5A95DDB6-ADE2-31F6-5E76-E2E563946315}"/>
              </a:ext>
            </a:extLst>
          </p:cNvPr>
          <p:cNvSpPr/>
          <p:nvPr/>
        </p:nvSpPr>
        <p:spPr>
          <a:xfrm>
            <a:off x="2813552" y="5528538"/>
            <a:ext cx="546673"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f(w)</a:t>
            </a:r>
            <a:endParaRPr lang="es-AR" sz="1400" dirty="0"/>
          </a:p>
        </p:txBody>
      </p:sp>
      <p:sp>
        <p:nvSpPr>
          <p:cNvPr id="174" name="Rectángulo 173">
            <a:extLst>
              <a:ext uri="{FF2B5EF4-FFF2-40B4-BE49-F238E27FC236}">
                <a16:creationId xmlns:a16="http://schemas.microsoft.com/office/drawing/2014/main" id="{DF298A98-B9A3-1822-20E5-C05B09B9F100}"/>
              </a:ext>
            </a:extLst>
          </p:cNvPr>
          <p:cNvSpPr/>
          <p:nvPr/>
        </p:nvSpPr>
        <p:spPr>
          <a:xfrm>
            <a:off x="2075289" y="5455338"/>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cxnSp>
        <p:nvCxnSpPr>
          <p:cNvPr id="176" name="Conector recto de flecha 175">
            <a:extLst>
              <a:ext uri="{FF2B5EF4-FFF2-40B4-BE49-F238E27FC236}">
                <a16:creationId xmlns:a16="http://schemas.microsoft.com/office/drawing/2014/main" id="{73DD4C0B-B479-9A44-B9CD-140425AAA74B}"/>
              </a:ext>
            </a:extLst>
          </p:cNvPr>
          <p:cNvCxnSpPr>
            <a:cxnSpLocks/>
          </p:cNvCxnSpPr>
          <p:nvPr/>
        </p:nvCxnSpPr>
        <p:spPr>
          <a:xfrm>
            <a:off x="1545794" y="6388126"/>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2" name="Rectángulo 191">
            <a:extLst>
              <a:ext uri="{FF2B5EF4-FFF2-40B4-BE49-F238E27FC236}">
                <a16:creationId xmlns:a16="http://schemas.microsoft.com/office/drawing/2014/main" id="{DFD088F1-6B5D-649F-5F75-433F3AC1FD7D}"/>
              </a:ext>
            </a:extLst>
          </p:cNvPr>
          <p:cNvSpPr/>
          <p:nvPr/>
        </p:nvSpPr>
        <p:spPr>
          <a:xfrm>
            <a:off x="2079065" y="6131657"/>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sp>
        <p:nvSpPr>
          <p:cNvPr id="198" name="Rectángulo 197">
            <a:extLst>
              <a:ext uri="{FF2B5EF4-FFF2-40B4-BE49-F238E27FC236}">
                <a16:creationId xmlns:a16="http://schemas.microsoft.com/office/drawing/2014/main" id="{B4080FD5-5212-0AD6-2998-0CDBBE7ACEE3}"/>
              </a:ext>
            </a:extLst>
          </p:cNvPr>
          <p:cNvSpPr/>
          <p:nvPr/>
        </p:nvSpPr>
        <p:spPr>
          <a:xfrm>
            <a:off x="6885696" y="5133240"/>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2</a:t>
            </a:r>
            <a:endParaRPr lang="es-MX" sz="1600" dirty="0"/>
          </a:p>
        </p:txBody>
      </p:sp>
      <p:sp>
        <p:nvSpPr>
          <p:cNvPr id="199" name="Rectángulo 198">
            <a:extLst>
              <a:ext uri="{FF2B5EF4-FFF2-40B4-BE49-F238E27FC236}">
                <a16:creationId xmlns:a16="http://schemas.microsoft.com/office/drawing/2014/main" id="{50ABA0AA-7EBF-476A-E4F6-2A95D22784EA}"/>
              </a:ext>
            </a:extLst>
          </p:cNvPr>
          <p:cNvSpPr/>
          <p:nvPr/>
        </p:nvSpPr>
        <p:spPr>
          <a:xfrm>
            <a:off x="5193290" y="5503239"/>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200" name="Diagrama de flujo: conector 199">
            <a:extLst>
              <a:ext uri="{FF2B5EF4-FFF2-40B4-BE49-F238E27FC236}">
                <a16:creationId xmlns:a16="http://schemas.microsoft.com/office/drawing/2014/main" id="{589BBB00-B31E-0B06-3FAE-0AAA2908AD5D}"/>
              </a:ext>
            </a:extLst>
          </p:cNvPr>
          <p:cNvSpPr/>
          <p:nvPr/>
        </p:nvSpPr>
        <p:spPr>
          <a:xfrm>
            <a:off x="4843611" y="4947139"/>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1" name="Rectángulo 200">
            <a:extLst>
              <a:ext uri="{FF2B5EF4-FFF2-40B4-BE49-F238E27FC236}">
                <a16:creationId xmlns:a16="http://schemas.microsoft.com/office/drawing/2014/main" id="{DE997B90-E0F5-5712-F1E1-CE82499F643E}"/>
              </a:ext>
            </a:extLst>
          </p:cNvPr>
          <p:cNvSpPr/>
          <p:nvPr/>
        </p:nvSpPr>
        <p:spPr>
          <a:xfrm>
            <a:off x="6857023" y="5500056"/>
            <a:ext cx="468398"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L</a:t>
            </a:r>
            <a:r>
              <a:rPr lang="es-AR" sz="1600" baseline="-25000" dirty="0">
                <a:latin typeface="Arial" panose="020B0604020202020204" pitchFamily="34" charset="0"/>
                <a:cs typeface="Arial" panose="020B0604020202020204" pitchFamily="34" charset="0"/>
              </a:rPr>
              <a:t>1</a:t>
            </a:r>
            <a:endParaRPr lang="es-MX" sz="1600" dirty="0"/>
          </a:p>
        </p:txBody>
      </p:sp>
      <p:sp>
        <p:nvSpPr>
          <p:cNvPr id="202" name="Diagrama de flujo: conector 201">
            <a:extLst>
              <a:ext uri="{FF2B5EF4-FFF2-40B4-BE49-F238E27FC236}">
                <a16:creationId xmlns:a16="http://schemas.microsoft.com/office/drawing/2014/main" id="{8BEBF2B0-F75E-E624-0AC9-B40D10B2900A}"/>
              </a:ext>
            </a:extLst>
          </p:cNvPr>
          <p:cNvSpPr/>
          <p:nvPr/>
        </p:nvSpPr>
        <p:spPr>
          <a:xfrm>
            <a:off x="6507344" y="4943956"/>
            <a:ext cx="1150211" cy="1293227"/>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03" name="Conector recto de flecha 202">
            <a:extLst>
              <a:ext uri="{FF2B5EF4-FFF2-40B4-BE49-F238E27FC236}">
                <a16:creationId xmlns:a16="http://schemas.microsoft.com/office/drawing/2014/main" id="{D738932D-0DCB-9644-AC82-DFD3DF990387}"/>
              </a:ext>
            </a:extLst>
          </p:cNvPr>
          <p:cNvCxnSpPr>
            <a:cxnSpLocks/>
          </p:cNvCxnSpPr>
          <p:nvPr/>
        </p:nvCxnSpPr>
        <p:spPr>
          <a:xfrm>
            <a:off x="5578488" y="5722085"/>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Rectángulo 205">
            <a:extLst>
              <a:ext uri="{FF2B5EF4-FFF2-40B4-BE49-F238E27FC236}">
                <a16:creationId xmlns:a16="http://schemas.microsoft.com/office/drawing/2014/main" id="{B846B67C-8CDA-E13D-809F-629FE6A24181}"/>
              </a:ext>
            </a:extLst>
          </p:cNvPr>
          <p:cNvSpPr/>
          <p:nvPr/>
        </p:nvSpPr>
        <p:spPr>
          <a:xfrm>
            <a:off x="5289742" y="5547839"/>
            <a:ext cx="390187"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w</a:t>
            </a:r>
            <a:endParaRPr lang="es-AR" sz="1400" dirty="0"/>
          </a:p>
        </p:txBody>
      </p:sp>
      <p:sp>
        <p:nvSpPr>
          <p:cNvPr id="207" name="Rectángulo 206">
            <a:extLst>
              <a:ext uri="{FF2B5EF4-FFF2-40B4-BE49-F238E27FC236}">
                <a16:creationId xmlns:a16="http://schemas.microsoft.com/office/drawing/2014/main" id="{DE85F4AF-CFAD-D5BD-A956-BB7B7F8EE43D}"/>
              </a:ext>
            </a:extLst>
          </p:cNvPr>
          <p:cNvSpPr/>
          <p:nvPr/>
        </p:nvSpPr>
        <p:spPr>
          <a:xfrm>
            <a:off x="6907360" y="5527422"/>
            <a:ext cx="568650"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f(w)</a:t>
            </a:r>
            <a:endParaRPr lang="es-AR" sz="1400" dirty="0"/>
          </a:p>
        </p:txBody>
      </p:sp>
      <p:sp>
        <p:nvSpPr>
          <p:cNvPr id="208" name="Rectángulo 207">
            <a:extLst>
              <a:ext uri="{FF2B5EF4-FFF2-40B4-BE49-F238E27FC236}">
                <a16:creationId xmlns:a16="http://schemas.microsoft.com/office/drawing/2014/main" id="{FA60DA09-EA63-A2B5-8ED1-A786205639A7}"/>
              </a:ext>
            </a:extLst>
          </p:cNvPr>
          <p:cNvSpPr/>
          <p:nvPr/>
        </p:nvSpPr>
        <p:spPr>
          <a:xfrm>
            <a:off x="6169097" y="5454222"/>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cxnSp>
        <p:nvCxnSpPr>
          <p:cNvPr id="209" name="Conector recto de flecha 208">
            <a:extLst>
              <a:ext uri="{FF2B5EF4-FFF2-40B4-BE49-F238E27FC236}">
                <a16:creationId xmlns:a16="http://schemas.microsoft.com/office/drawing/2014/main" id="{F80E8721-0AA8-CD84-03D2-7A2CFDE8704A}"/>
              </a:ext>
            </a:extLst>
          </p:cNvPr>
          <p:cNvCxnSpPr>
            <a:cxnSpLocks/>
          </p:cNvCxnSpPr>
          <p:nvPr/>
        </p:nvCxnSpPr>
        <p:spPr>
          <a:xfrm>
            <a:off x="5639602" y="6387010"/>
            <a:ext cx="13376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2" name="Rectángulo 211">
            <a:extLst>
              <a:ext uri="{FF2B5EF4-FFF2-40B4-BE49-F238E27FC236}">
                <a16:creationId xmlns:a16="http://schemas.microsoft.com/office/drawing/2014/main" id="{4947C903-CBC9-424A-6170-237A4799848A}"/>
              </a:ext>
            </a:extLst>
          </p:cNvPr>
          <p:cNvSpPr/>
          <p:nvPr/>
        </p:nvSpPr>
        <p:spPr>
          <a:xfrm>
            <a:off x="6172873" y="6130541"/>
            <a:ext cx="390187" cy="307777"/>
          </a:xfrm>
          <a:prstGeom prst="rect">
            <a:avLst/>
          </a:prstGeom>
        </p:spPr>
        <p:txBody>
          <a:bodyPr wrap="square">
            <a:spAutoFit/>
          </a:bodyPr>
          <a:lstStyle/>
          <a:p>
            <a:r>
              <a:rPr lang="es-AR" sz="1400" dirty="0">
                <a:effectLst/>
                <a:latin typeface="Arial" panose="020B0604020202020204" pitchFamily="34" charset="0"/>
                <a:ea typeface="Calibri" panose="020F0502020204030204" pitchFamily="34" charset="0"/>
              </a:rPr>
              <a:t>f</a:t>
            </a:r>
            <a:endParaRPr lang="es-AR" sz="1400" dirty="0"/>
          </a:p>
        </p:txBody>
      </p:sp>
      <p:sp>
        <p:nvSpPr>
          <p:cNvPr id="228" name="Rectángulo 227">
            <a:extLst>
              <a:ext uri="{FF2B5EF4-FFF2-40B4-BE49-F238E27FC236}">
                <a16:creationId xmlns:a16="http://schemas.microsoft.com/office/drawing/2014/main" id="{3EA265D3-0652-2617-CC65-883BC65DF902}"/>
              </a:ext>
            </a:extLst>
          </p:cNvPr>
          <p:cNvSpPr/>
          <p:nvPr/>
        </p:nvSpPr>
        <p:spPr>
          <a:xfrm>
            <a:off x="5166571" y="5000377"/>
            <a:ext cx="63652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baseline="30000" dirty="0">
                <a:latin typeface="Arial" panose="020B0604020202020204" pitchFamily="34" charset="0"/>
                <a:cs typeface="Arial" panose="020B0604020202020204" pitchFamily="34" charset="0"/>
              </a:rPr>
              <a:t>C</a:t>
            </a:r>
            <a:endParaRPr lang="es-AR" dirty="0"/>
          </a:p>
        </p:txBody>
      </p:sp>
      <p:sp>
        <p:nvSpPr>
          <p:cNvPr id="229" name="Rectángulo 228">
            <a:extLst>
              <a:ext uri="{FF2B5EF4-FFF2-40B4-BE49-F238E27FC236}">
                <a16:creationId xmlns:a16="http://schemas.microsoft.com/office/drawing/2014/main" id="{8B774F99-3B4F-8B87-3685-1927E21ADBF2}"/>
              </a:ext>
            </a:extLst>
          </p:cNvPr>
          <p:cNvSpPr/>
          <p:nvPr/>
        </p:nvSpPr>
        <p:spPr>
          <a:xfrm>
            <a:off x="6857023" y="4959337"/>
            <a:ext cx="636528"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AR" baseline="30000" dirty="0">
                <a:latin typeface="Arial" panose="020B0604020202020204" pitchFamily="34" charset="0"/>
                <a:cs typeface="Arial" panose="020B0604020202020204" pitchFamily="34" charset="0"/>
              </a:rPr>
              <a:t>C</a:t>
            </a:r>
            <a:endParaRPr lang="es-AR" dirty="0"/>
          </a:p>
        </p:txBody>
      </p:sp>
      <p:sp>
        <p:nvSpPr>
          <p:cNvPr id="3" name="Rectángulo 2">
            <a:extLst>
              <a:ext uri="{FF2B5EF4-FFF2-40B4-BE49-F238E27FC236}">
                <a16:creationId xmlns:a16="http://schemas.microsoft.com/office/drawing/2014/main" id="{3E8D8C93-1BFE-40C8-9F5D-25FAC4E761D2}"/>
              </a:ext>
            </a:extLst>
          </p:cNvPr>
          <p:cNvSpPr/>
          <p:nvPr/>
        </p:nvSpPr>
        <p:spPr>
          <a:xfrm>
            <a:off x="10287487" y="2987183"/>
            <a:ext cx="1658068"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g(f(w))</a:t>
            </a:r>
            <a:endParaRPr lang="es-AR" sz="1400" dirty="0"/>
          </a:p>
        </p:txBody>
      </p:sp>
    </p:spTree>
    <p:extLst>
      <p:ext uri="{BB962C8B-B14F-4D97-AF65-F5344CB8AC3E}">
        <p14:creationId xmlns:p14="http://schemas.microsoft.com/office/powerpoint/2010/main" val="3611319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2">
            <a:extLst>
              <a:ext uri="{FF2B5EF4-FFF2-40B4-BE49-F238E27FC236}">
                <a16:creationId xmlns:a16="http://schemas.microsoft.com/office/drawing/2014/main" id="{690017FF-5AEE-4A38-A250-2EC7E8E4091C}"/>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 name="Elipse 3">
            <a:extLst>
              <a:ext uri="{FF2B5EF4-FFF2-40B4-BE49-F238E27FC236}">
                <a16:creationId xmlns:a16="http://schemas.microsoft.com/office/drawing/2014/main" id="{7AD471F5-AA28-438C-BEF5-7E515396915C}"/>
              </a:ext>
            </a:extLst>
          </p:cNvPr>
          <p:cNvSpPr/>
          <p:nvPr/>
        </p:nvSpPr>
        <p:spPr>
          <a:xfrm>
            <a:off x="2646278" y="1741997"/>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CB243090-EBFE-995E-6AC0-F68909E399AA}"/>
              </a:ext>
            </a:extLst>
          </p:cNvPr>
          <p:cNvSpPr/>
          <p:nvPr/>
        </p:nvSpPr>
        <p:spPr>
          <a:xfrm>
            <a:off x="3919640" y="1994864"/>
            <a:ext cx="518091" cy="307777"/>
          </a:xfrm>
          <a:prstGeom prst="rect">
            <a:avLst/>
          </a:prstGeom>
        </p:spPr>
        <p:txBody>
          <a:bodyPr wrap="none">
            <a:spAutoFit/>
          </a:bodyPr>
          <a:lstStyle/>
          <a:p>
            <a:r>
              <a:rPr lang="es-AR" sz="14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sz="14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400"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C</a:t>
            </a:r>
            <a:r>
              <a:rPr lang="es-AR" sz="14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400" dirty="0">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id="{33AABF2B-27E1-16B0-3B1D-9F590AA6D9DF}"/>
              </a:ext>
            </a:extLst>
          </p:cNvPr>
          <p:cNvSpPr/>
          <p:nvPr/>
        </p:nvSpPr>
        <p:spPr>
          <a:xfrm>
            <a:off x="6808337" y="1952432"/>
            <a:ext cx="439544" cy="338554"/>
          </a:xfrm>
          <a:prstGeom prst="rect">
            <a:avLst/>
          </a:prstGeom>
        </p:spPr>
        <p:txBody>
          <a:bodyPr wrap="none">
            <a:spAutoFit/>
          </a:bodyPr>
          <a:lstStyle/>
          <a:p>
            <a:r>
              <a:rPr lang="es-AR" sz="1400" dirty="0">
                <a:solidFill>
                  <a:srgbClr val="000000"/>
                </a:solidFill>
                <a:latin typeface="Arial" panose="020B0604020202020204" pitchFamily="34" charset="0"/>
                <a:ea typeface="Times New Roman" panose="02020603050405020304" pitchFamily="18" charset="0"/>
                <a:cs typeface="Arial" panose="020B0604020202020204" pitchFamily="34" charset="0"/>
              </a:rPr>
              <a:t>L</a:t>
            </a:r>
            <a:r>
              <a:rPr lang="es-AR" sz="1400"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latin typeface="Arial" panose="020B0604020202020204" pitchFamily="34" charset="0"/>
              <a:cs typeface="Arial" panose="020B0604020202020204" pitchFamily="34" charset="0"/>
            </a:endParaRPr>
          </a:p>
        </p:txBody>
      </p:sp>
      <p:sp>
        <p:nvSpPr>
          <p:cNvPr id="15" name="Rectángulo 14">
            <a:extLst>
              <a:ext uri="{FF2B5EF4-FFF2-40B4-BE49-F238E27FC236}">
                <a16:creationId xmlns:a16="http://schemas.microsoft.com/office/drawing/2014/main" id="{235B3A09-F01B-9FB2-90CF-50DB42DEDDAC}"/>
              </a:ext>
            </a:extLst>
          </p:cNvPr>
          <p:cNvSpPr/>
          <p:nvPr/>
        </p:nvSpPr>
        <p:spPr>
          <a:xfrm>
            <a:off x="2584598" y="3232270"/>
            <a:ext cx="494046" cy="307777"/>
          </a:xfrm>
          <a:prstGeom prst="rect">
            <a:avLst/>
          </a:prstGeom>
        </p:spPr>
        <p:txBody>
          <a:bodyPr wrap="none">
            <a:spAutoFit/>
          </a:bodyPr>
          <a:lstStyle/>
          <a:p>
            <a:r>
              <a:rPr lang="es-AR" sz="1400" dirty="0">
                <a:latin typeface="Arial" panose="020B0604020202020204" pitchFamily="34" charset="0"/>
                <a:ea typeface="Calibri" panose="020F0502020204030204" pitchFamily="34" charset="0"/>
                <a:cs typeface="Arial" panose="020B0604020202020204" pitchFamily="34" charset="0"/>
              </a:rPr>
              <a:t>⊨ N</a:t>
            </a:r>
            <a:endParaRPr lang="es-MX" sz="1400" dirty="0">
              <a:latin typeface="Arial" panose="020B0604020202020204" pitchFamily="34" charset="0"/>
              <a:cs typeface="Arial" panose="020B0604020202020204" pitchFamily="34" charset="0"/>
            </a:endParaRPr>
          </a:p>
        </p:txBody>
      </p:sp>
      <p:sp>
        <p:nvSpPr>
          <p:cNvPr id="16" name="Rectángulo 15">
            <a:extLst>
              <a:ext uri="{FF2B5EF4-FFF2-40B4-BE49-F238E27FC236}">
                <a16:creationId xmlns:a16="http://schemas.microsoft.com/office/drawing/2014/main" id="{AF21167E-74F4-E6B3-B19D-B1FC0777B42F}"/>
              </a:ext>
            </a:extLst>
          </p:cNvPr>
          <p:cNvSpPr/>
          <p:nvPr/>
        </p:nvSpPr>
        <p:spPr>
          <a:xfrm>
            <a:off x="3233097" y="3574441"/>
            <a:ext cx="494046" cy="307777"/>
          </a:xfrm>
          <a:prstGeom prst="rect">
            <a:avLst/>
          </a:prstGeom>
        </p:spPr>
        <p:txBody>
          <a:bodyPr wrap="none">
            <a:spAutoFit/>
          </a:bodyPr>
          <a:lstStyle/>
          <a:p>
            <a:r>
              <a:rPr lang="es-AR" sz="1400" dirty="0">
                <a:latin typeface="Arial" panose="020B0604020202020204" pitchFamily="34" charset="0"/>
                <a:ea typeface="Calibri" panose="020F0502020204030204" pitchFamily="34" charset="0"/>
                <a:cs typeface="Arial" panose="020B0604020202020204" pitchFamily="34" charset="0"/>
              </a:rPr>
              <a:t>⊭ N</a:t>
            </a:r>
            <a:endParaRPr lang="es-MX" sz="1400" dirty="0">
              <a:latin typeface="Arial" panose="020B0604020202020204" pitchFamily="34" charset="0"/>
              <a:cs typeface="Arial" panose="020B0604020202020204" pitchFamily="34" charset="0"/>
            </a:endParaRPr>
          </a:p>
        </p:txBody>
      </p:sp>
      <p:sp>
        <p:nvSpPr>
          <p:cNvPr id="17" name="Rectángulo 16">
            <a:extLst>
              <a:ext uri="{FF2B5EF4-FFF2-40B4-BE49-F238E27FC236}">
                <a16:creationId xmlns:a16="http://schemas.microsoft.com/office/drawing/2014/main" id="{C5C00EB7-2D4F-BBBC-118B-A4EFAF5C12D5}"/>
              </a:ext>
            </a:extLst>
          </p:cNvPr>
          <p:cNvSpPr/>
          <p:nvPr/>
        </p:nvSpPr>
        <p:spPr>
          <a:xfrm>
            <a:off x="4921618" y="2469283"/>
            <a:ext cx="520784" cy="307777"/>
          </a:xfrm>
          <a:prstGeom prst="rect">
            <a:avLst/>
          </a:prstGeom>
        </p:spPr>
        <p:txBody>
          <a:bodyPr wrap="none">
            <a:spAutoFit/>
          </a:bodyPr>
          <a:lstStyle/>
          <a:p>
            <a:r>
              <a:rPr lang="es-ES" sz="1400" dirty="0">
                <a:latin typeface="Arial" panose="020B0604020202020204" pitchFamily="34" charset="0"/>
                <a:cs typeface="Arial" panose="020B0604020202020204" pitchFamily="34" charset="0"/>
              </a:rPr>
              <a:t>SA</a:t>
            </a:r>
            <a:r>
              <a:rPr lang="es-AR" sz="1400" dirty="0">
                <a:latin typeface="Arial" panose="020B0604020202020204" pitchFamily="34" charset="0"/>
                <a:cs typeface="Arial" panose="020B0604020202020204" pitchFamily="34" charset="0"/>
              </a:rPr>
              <a:t>T</a:t>
            </a:r>
            <a:endParaRPr lang="es-MX" sz="1400" dirty="0"/>
          </a:p>
        </p:txBody>
      </p:sp>
      <p:sp>
        <p:nvSpPr>
          <p:cNvPr id="27" name="Rectángulo 26">
            <a:extLst>
              <a:ext uri="{FF2B5EF4-FFF2-40B4-BE49-F238E27FC236}">
                <a16:creationId xmlns:a16="http://schemas.microsoft.com/office/drawing/2014/main" id="{8DBDF6D8-F48F-9E64-FBBB-1688001BEBA6}"/>
              </a:ext>
            </a:extLst>
          </p:cNvPr>
          <p:cNvSpPr/>
          <p:nvPr/>
        </p:nvSpPr>
        <p:spPr>
          <a:xfrm>
            <a:off x="5654694" y="2477760"/>
            <a:ext cx="60734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SAT</a:t>
            </a:r>
            <a:r>
              <a:rPr lang="es-AR" sz="1400" baseline="30000" dirty="0">
                <a:latin typeface="Arial" panose="020B0604020202020204" pitchFamily="34" charset="0"/>
                <a:cs typeface="Arial" panose="020B0604020202020204" pitchFamily="34" charset="0"/>
              </a:rPr>
              <a:t>C</a:t>
            </a:r>
            <a:endParaRPr lang="es-MX" sz="1400" dirty="0"/>
          </a:p>
        </p:txBody>
      </p:sp>
      <p:sp>
        <p:nvSpPr>
          <p:cNvPr id="30" name="Elipse 29">
            <a:extLst>
              <a:ext uri="{FF2B5EF4-FFF2-40B4-BE49-F238E27FC236}">
                <a16:creationId xmlns:a16="http://schemas.microsoft.com/office/drawing/2014/main" id="{5AB2175E-77DD-4616-D961-56F8F61E5511}"/>
              </a:ext>
            </a:extLst>
          </p:cNvPr>
          <p:cNvSpPr/>
          <p:nvPr/>
        </p:nvSpPr>
        <p:spPr>
          <a:xfrm>
            <a:off x="8711881" y="3455360"/>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ángulo 30">
            <a:extLst>
              <a:ext uri="{FF2B5EF4-FFF2-40B4-BE49-F238E27FC236}">
                <a16:creationId xmlns:a16="http://schemas.microsoft.com/office/drawing/2014/main" id="{B28AC89C-7459-23C8-0128-7C840A16B0D5}"/>
              </a:ext>
            </a:extLst>
          </p:cNvPr>
          <p:cNvSpPr/>
          <p:nvPr/>
        </p:nvSpPr>
        <p:spPr>
          <a:xfrm>
            <a:off x="3078644" y="2718979"/>
            <a:ext cx="434734"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HP</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ángulo 31">
            <a:extLst>
              <a:ext uri="{FF2B5EF4-FFF2-40B4-BE49-F238E27FC236}">
                <a16:creationId xmlns:a16="http://schemas.microsoft.com/office/drawing/2014/main" id="{8A3A9AE2-9DDE-EA0B-10D6-711F7480CE58}"/>
              </a:ext>
            </a:extLst>
          </p:cNvPr>
          <p:cNvSpPr/>
          <p:nvPr/>
        </p:nvSpPr>
        <p:spPr>
          <a:xfrm>
            <a:off x="4740790" y="3034211"/>
            <a:ext cx="314510"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ángulo 32">
            <a:extLst>
              <a:ext uri="{FF2B5EF4-FFF2-40B4-BE49-F238E27FC236}">
                <a16:creationId xmlns:a16="http://schemas.microsoft.com/office/drawing/2014/main" id="{3D74276C-FBFE-16C3-F989-58DA5A214F99}"/>
              </a:ext>
            </a:extLst>
          </p:cNvPr>
          <p:cNvSpPr/>
          <p:nvPr/>
        </p:nvSpPr>
        <p:spPr>
          <a:xfrm>
            <a:off x="3891573" y="2882909"/>
            <a:ext cx="397866"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r>
              <a:rPr kumimoji="0" lang="es-AR" sz="16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U</a:t>
            </a:r>
            <a:endPar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Rectángulo 33">
            <a:extLst>
              <a:ext uri="{FF2B5EF4-FFF2-40B4-BE49-F238E27FC236}">
                <a16:creationId xmlns:a16="http://schemas.microsoft.com/office/drawing/2014/main" id="{A5FF40E9-C4ED-62FC-3075-5C0DB82A183F}"/>
              </a:ext>
            </a:extLst>
          </p:cNvPr>
          <p:cNvSpPr/>
          <p:nvPr/>
        </p:nvSpPr>
        <p:spPr>
          <a:xfrm>
            <a:off x="6205316" y="3003994"/>
            <a:ext cx="401072"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t>
            </a:r>
            <a:r>
              <a:rPr kumimoji="0" lang="es-AR" sz="14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C</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ángulo 34">
            <a:extLst>
              <a:ext uri="{FF2B5EF4-FFF2-40B4-BE49-F238E27FC236}">
                <a16:creationId xmlns:a16="http://schemas.microsoft.com/office/drawing/2014/main" id="{2E8ED6DA-08FF-C32E-97DB-EAB3E6807831}"/>
              </a:ext>
            </a:extLst>
          </p:cNvPr>
          <p:cNvSpPr/>
          <p:nvPr/>
        </p:nvSpPr>
        <p:spPr>
          <a:xfrm>
            <a:off x="7937313" y="2718978"/>
            <a:ext cx="52129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HP</a:t>
            </a:r>
            <a:r>
              <a:rPr kumimoji="0" lang="es-AR" sz="14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C</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ángulo 35">
            <a:extLst>
              <a:ext uri="{FF2B5EF4-FFF2-40B4-BE49-F238E27FC236}">
                <a16:creationId xmlns:a16="http://schemas.microsoft.com/office/drawing/2014/main" id="{5CBA84DE-8F30-AEEB-0442-0E267295D59F}"/>
              </a:ext>
            </a:extLst>
          </p:cNvPr>
          <p:cNvSpPr/>
          <p:nvPr/>
        </p:nvSpPr>
        <p:spPr>
          <a:xfrm>
            <a:off x="7044674" y="2933551"/>
            <a:ext cx="457176"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r>
              <a:rPr kumimoji="0" lang="es-AR" sz="14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U</a:t>
            </a:r>
            <a:r>
              <a:rPr kumimoji="0" lang="es-AR" sz="14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C</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Rectángulo 36">
            <a:extLst>
              <a:ext uri="{FF2B5EF4-FFF2-40B4-BE49-F238E27FC236}">
                <a16:creationId xmlns:a16="http://schemas.microsoft.com/office/drawing/2014/main" id="{B1393BDC-8EE0-6542-C3E0-47C49B0CAE9E}"/>
              </a:ext>
            </a:extLst>
          </p:cNvPr>
          <p:cNvSpPr/>
          <p:nvPr/>
        </p:nvSpPr>
        <p:spPr>
          <a:xfrm>
            <a:off x="5386401" y="899730"/>
            <a:ext cx="753435" cy="769441"/>
          </a:xfrm>
          <a:prstGeom prst="rect">
            <a:avLst/>
          </a:prstGeom>
        </p:spPr>
        <p:txBody>
          <a:bodyPr wrap="square">
            <a:spAutoFit/>
          </a:bodyPr>
          <a:lstStyle/>
          <a:p>
            <a:r>
              <a:rPr lang="es-ES" sz="4400" dirty="0">
                <a:latin typeface="Arial" panose="020B0604020202020204" pitchFamily="34" charset="0"/>
                <a:ea typeface="Times New Roman" panose="02020603050405020304" pitchFamily="18" charset="0"/>
                <a:cs typeface="Arial" panose="020B0604020202020204" pitchFamily="34" charset="0"/>
              </a:rPr>
              <a:t>𝔏</a:t>
            </a:r>
            <a:endParaRPr lang="es-MX" sz="4400" dirty="0"/>
          </a:p>
        </p:txBody>
      </p:sp>
      <p:sp>
        <p:nvSpPr>
          <p:cNvPr id="38" name="Rectángulo 37">
            <a:extLst>
              <a:ext uri="{FF2B5EF4-FFF2-40B4-BE49-F238E27FC236}">
                <a16:creationId xmlns:a16="http://schemas.microsoft.com/office/drawing/2014/main" id="{938F50BF-FB0A-C3E6-0595-4EB6C4584DA0}"/>
              </a:ext>
            </a:extLst>
          </p:cNvPr>
          <p:cNvSpPr/>
          <p:nvPr/>
        </p:nvSpPr>
        <p:spPr>
          <a:xfrm>
            <a:off x="5423441" y="1880022"/>
            <a:ext cx="444352" cy="523220"/>
          </a:xfrm>
          <a:prstGeom prst="rect">
            <a:avLst/>
          </a:prstGeom>
        </p:spPr>
        <p:txBody>
          <a:bodyPr wrap="none">
            <a:spAutoFit/>
          </a:bodyPr>
          <a:lstStyle/>
          <a:p>
            <a:r>
              <a:rPr lang="es-AR" sz="2800" dirty="0">
                <a:latin typeface="Arial" panose="020B0604020202020204" pitchFamily="34" charset="0"/>
                <a:cs typeface="Arial" panose="020B0604020202020204" pitchFamily="34" charset="0"/>
              </a:rPr>
              <a:t>R</a:t>
            </a:r>
            <a:endParaRPr lang="es-MX" sz="2800" dirty="0"/>
          </a:p>
        </p:txBody>
      </p:sp>
      <p:sp>
        <p:nvSpPr>
          <p:cNvPr id="39" name="Rectángulo 38">
            <a:extLst>
              <a:ext uri="{FF2B5EF4-FFF2-40B4-BE49-F238E27FC236}">
                <a16:creationId xmlns:a16="http://schemas.microsoft.com/office/drawing/2014/main" id="{D5981943-E529-D576-AE2E-3750645C53E5}"/>
              </a:ext>
            </a:extLst>
          </p:cNvPr>
          <p:cNvSpPr/>
          <p:nvPr/>
        </p:nvSpPr>
        <p:spPr>
          <a:xfrm>
            <a:off x="2863002" y="2029376"/>
            <a:ext cx="1009815" cy="523220"/>
          </a:xfrm>
          <a:prstGeom prst="rect">
            <a:avLst/>
          </a:prstGeom>
        </p:spPr>
        <p:txBody>
          <a:bodyPr wrap="square">
            <a:spAutoFit/>
          </a:bodyPr>
          <a:lstStyle/>
          <a:p>
            <a:r>
              <a:rPr lang="es-AR" sz="2800" dirty="0">
                <a:latin typeface="Arial" panose="020B0604020202020204" pitchFamily="34" charset="0"/>
                <a:cs typeface="Arial" panose="020B0604020202020204" pitchFamily="34" charset="0"/>
              </a:rPr>
              <a:t>RE</a:t>
            </a:r>
            <a:endParaRPr lang="es-MX" sz="2800" dirty="0"/>
          </a:p>
        </p:txBody>
      </p:sp>
      <p:sp>
        <p:nvSpPr>
          <p:cNvPr id="40" name="Rectángulo 39">
            <a:extLst>
              <a:ext uri="{FF2B5EF4-FFF2-40B4-BE49-F238E27FC236}">
                <a16:creationId xmlns:a16="http://schemas.microsoft.com/office/drawing/2014/main" id="{A5BBE45A-50C6-29E8-6C37-763074C0932D}"/>
              </a:ext>
            </a:extLst>
          </p:cNvPr>
          <p:cNvSpPr/>
          <p:nvPr/>
        </p:nvSpPr>
        <p:spPr>
          <a:xfrm>
            <a:off x="7479650" y="1994864"/>
            <a:ext cx="1590676" cy="523220"/>
          </a:xfrm>
          <a:prstGeom prst="rect">
            <a:avLst/>
          </a:prstGeom>
        </p:spPr>
        <p:txBody>
          <a:bodyPr wrap="square">
            <a:spAutoFit/>
          </a:bodyPr>
          <a:lstStyle/>
          <a:p>
            <a:r>
              <a:rPr lang="es-AR" sz="2800" dirty="0">
                <a:latin typeface="Arial" panose="020B0604020202020204" pitchFamily="34" charset="0"/>
                <a:cs typeface="Arial" panose="020B0604020202020204" pitchFamily="34" charset="0"/>
              </a:rPr>
              <a:t>CO-RE</a:t>
            </a:r>
            <a:endParaRPr lang="es-MX" sz="2800" dirty="0"/>
          </a:p>
        </p:txBody>
      </p:sp>
      <p:sp>
        <p:nvSpPr>
          <p:cNvPr id="41" name="Diagrama de flujo: conector 40">
            <a:extLst>
              <a:ext uri="{FF2B5EF4-FFF2-40B4-BE49-F238E27FC236}">
                <a16:creationId xmlns:a16="http://schemas.microsoft.com/office/drawing/2014/main" id="{1C305C15-6346-B635-3ED6-AC1E72736672}"/>
              </a:ext>
            </a:extLst>
          </p:cNvPr>
          <p:cNvSpPr/>
          <p:nvPr/>
        </p:nvSpPr>
        <p:spPr>
          <a:xfrm>
            <a:off x="2646278" y="1684576"/>
            <a:ext cx="3673056" cy="1705231"/>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Diagrama de flujo: conector 41">
            <a:extLst>
              <a:ext uri="{FF2B5EF4-FFF2-40B4-BE49-F238E27FC236}">
                <a16:creationId xmlns:a16="http://schemas.microsoft.com/office/drawing/2014/main" id="{52FD0F51-DD4B-E430-B956-F17B22FF6FD6}"/>
              </a:ext>
            </a:extLst>
          </p:cNvPr>
          <p:cNvSpPr/>
          <p:nvPr/>
        </p:nvSpPr>
        <p:spPr>
          <a:xfrm>
            <a:off x="4849503" y="1715385"/>
            <a:ext cx="4192083" cy="167442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Diagrama de flujo: conector 42">
            <a:extLst>
              <a:ext uri="{FF2B5EF4-FFF2-40B4-BE49-F238E27FC236}">
                <a16:creationId xmlns:a16="http://schemas.microsoft.com/office/drawing/2014/main" id="{E78AF5C7-26B1-5255-E178-FDAF785D82C7}"/>
              </a:ext>
            </a:extLst>
          </p:cNvPr>
          <p:cNvSpPr/>
          <p:nvPr/>
        </p:nvSpPr>
        <p:spPr>
          <a:xfrm>
            <a:off x="1736333" y="965771"/>
            <a:ext cx="8435083" cy="327745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Rectángulo 47">
            <a:extLst>
              <a:ext uri="{FF2B5EF4-FFF2-40B4-BE49-F238E27FC236}">
                <a16:creationId xmlns:a16="http://schemas.microsoft.com/office/drawing/2014/main" id="{2ED2EC4F-8606-0F7D-572B-8A32E5B1A4A1}"/>
              </a:ext>
            </a:extLst>
          </p:cNvPr>
          <p:cNvSpPr/>
          <p:nvPr/>
        </p:nvSpPr>
        <p:spPr>
          <a:xfrm>
            <a:off x="6112550" y="3885643"/>
            <a:ext cx="49084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Ʃ*</a:t>
            </a:r>
            <a:r>
              <a:rPr lang="es-AR" sz="1400" baseline="30000" dirty="0">
                <a:latin typeface="Arial" panose="020B0604020202020204" pitchFamily="34" charset="0"/>
                <a:cs typeface="Arial" panose="020B0604020202020204" pitchFamily="34" charset="0"/>
              </a:rPr>
              <a:t>C</a:t>
            </a:r>
            <a:endParaRPr lang="es-MX" sz="1400" dirty="0"/>
          </a:p>
        </p:txBody>
      </p:sp>
      <p:sp>
        <p:nvSpPr>
          <p:cNvPr id="49" name="Rectángulo 48">
            <a:extLst>
              <a:ext uri="{FF2B5EF4-FFF2-40B4-BE49-F238E27FC236}">
                <a16:creationId xmlns:a16="http://schemas.microsoft.com/office/drawing/2014/main" id="{00166372-4111-CFDB-9D76-3A89D1A9A058}"/>
              </a:ext>
            </a:extLst>
          </p:cNvPr>
          <p:cNvSpPr/>
          <p:nvPr/>
        </p:nvSpPr>
        <p:spPr>
          <a:xfrm>
            <a:off x="5184262" y="3840865"/>
            <a:ext cx="404278"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Ʃ*</a:t>
            </a:r>
            <a:endParaRPr lang="es-MX" sz="1400" dirty="0"/>
          </a:p>
        </p:txBody>
      </p:sp>
      <p:sp>
        <p:nvSpPr>
          <p:cNvPr id="2" name="CuadroTexto 1">
            <a:extLst>
              <a:ext uri="{FF2B5EF4-FFF2-40B4-BE49-F238E27FC236}">
                <a16:creationId xmlns:a16="http://schemas.microsoft.com/office/drawing/2014/main" id="{DD722F06-C7F6-4217-98FC-726BF6755F96}"/>
              </a:ext>
            </a:extLst>
          </p:cNvPr>
          <p:cNvSpPr txBox="1"/>
          <p:nvPr/>
        </p:nvSpPr>
        <p:spPr>
          <a:xfrm>
            <a:off x="2958226" y="4770356"/>
            <a:ext cx="7613237" cy="1615827"/>
          </a:xfrm>
          <a:prstGeom prst="rect">
            <a:avLst/>
          </a:prstGeom>
          <a:noFill/>
        </p:spPr>
        <p:txBody>
          <a:bodyPr wrap="square">
            <a:spAutoFit/>
          </a:bodyPr>
          <a:lstStyle/>
          <a:p>
            <a:pPr marL="614250" algn="just">
              <a:defRPr/>
            </a:pPr>
            <a:r>
              <a:rPr lang="es-AR" dirty="0">
                <a:latin typeface="Arial" panose="020B0604020202020204" pitchFamily="34" charset="0"/>
                <a:cs typeface="Arial" panose="020B0604020202020204" pitchFamily="34" charset="0"/>
              </a:rPr>
              <a:t>SAT: problema de satisfactibilidad (construcción de una MT) </a:t>
            </a:r>
          </a:p>
          <a:p>
            <a:pPr marL="614250" algn="just">
              <a:defRPr/>
            </a:pPr>
            <a:endParaRPr lang="es-AR" dirty="0">
              <a:latin typeface="Arial" panose="020B0604020202020204" pitchFamily="34" charset="0"/>
              <a:cs typeface="Arial" panose="020B0604020202020204" pitchFamily="34" charset="0"/>
            </a:endParaRPr>
          </a:p>
          <a:p>
            <a:pPr marL="614250" algn="just">
              <a:defRPr/>
            </a:pPr>
            <a:r>
              <a:rPr lang="es-AR" dirty="0">
                <a:latin typeface="Arial" panose="020B0604020202020204" pitchFamily="34" charset="0"/>
                <a:cs typeface="Arial" panose="020B0604020202020204" pitchFamily="34" charset="0"/>
              </a:rPr>
              <a:t>HP: </a:t>
            </a:r>
            <a:r>
              <a:rPr lang="es-AR" i="1" dirty="0" err="1">
                <a:latin typeface="Arial" panose="020B0604020202020204" pitchFamily="34" charset="0"/>
                <a:cs typeface="Arial" panose="020B0604020202020204" pitchFamily="34" charset="0"/>
              </a:rPr>
              <a:t>halting</a:t>
            </a:r>
            <a:r>
              <a:rPr lang="es-AR" i="1" dirty="0">
                <a:latin typeface="Arial" panose="020B0604020202020204" pitchFamily="34" charset="0"/>
                <a:cs typeface="Arial" panose="020B0604020202020204" pitchFamily="34" charset="0"/>
              </a:rPr>
              <a:t> </a:t>
            </a:r>
            <a:r>
              <a:rPr lang="es-AR" i="1" dirty="0" err="1">
                <a:latin typeface="Arial" panose="020B0604020202020204" pitchFamily="34" charset="0"/>
                <a:cs typeface="Arial" panose="020B0604020202020204" pitchFamily="34" charset="0"/>
              </a:rPr>
              <a:t>problem</a:t>
            </a:r>
            <a:r>
              <a:rPr lang="es-AR" dirty="0">
                <a:latin typeface="Arial" panose="020B0604020202020204" pitchFamily="34" charset="0"/>
                <a:cs typeface="Arial" panose="020B0604020202020204" pitchFamily="34" charset="0"/>
              </a:rPr>
              <a:t> (diagonalización)</a:t>
            </a:r>
            <a:endParaRPr lang="es-AR" i="1" dirty="0">
              <a:latin typeface="Arial" panose="020B0604020202020204" pitchFamily="34" charset="0"/>
              <a:cs typeface="Arial" panose="020B0604020202020204" pitchFamily="34" charset="0"/>
            </a:endParaRPr>
          </a:p>
          <a:p>
            <a:pPr marL="614250" algn="just">
              <a:defRPr/>
            </a:pPr>
            <a:endParaRPr lang="es-AR" dirty="0">
              <a:latin typeface="Arial" panose="020B0604020202020204" pitchFamily="34" charset="0"/>
              <a:cs typeface="Arial" panose="020B0604020202020204" pitchFamily="34" charset="0"/>
            </a:endParaRPr>
          </a:p>
          <a:p>
            <a:pPr marL="614250" algn="just">
              <a:defRPr/>
            </a:pPr>
            <a:r>
              <a:rPr kumimoji="0" lang="es-AR"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r>
              <a:rPr kumimoji="0" lang="es-AR"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EQ</a:t>
            </a:r>
            <a:r>
              <a:rPr lang="es-AR" sz="1800" dirty="0">
                <a:latin typeface="Arial" panose="020B0604020202020204" pitchFamily="34" charset="0"/>
                <a:ea typeface="Calibri" panose="020F0502020204030204" pitchFamily="34" charset="0"/>
                <a:cs typeface="Arial" panose="020B0604020202020204" pitchFamily="34" charset="0"/>
              </a:rPr>
              <a:t>: problema de equivalencia de máquinas de Turing (reducción)</a:t>
            </a:r>
            <a:endParaRPr lang="es-AR" dirty="0">
              <a:latin typeface="Arial" panose="020B0604020202020204" pitchFamily="34" charset="0"/>
              <a:cs typeface="Arial" panose="020B0604020202020204" pitchFamily="34" charset="0"/>
            </a:endParaRPr>
          </a:p>
          <a:p>
            <a:pPr marL="614250" algn="just">
              <a:defRPr/>
            </a:pPr>
            <a:endParaRPr lang="es-AR" sz="9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4094331C-EE1E-F0CA-CE16-83DC2E18875D}"/>
              </a:ext>
            </a:extLst>
          </p:cNvPr>
          <p:cNvSpPr txBox="1"/>
          <p:nvPr/>
        </p:nvSpPr>
        <p:spPr>
          <a:xfrm>
            <a:off x="7684670" y="3625051"/>
            <a:ext cx="55518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r>
              <a:rPr kumimoji="0" lang="es-AR" sz="14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EQ</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CuadroTexto 10">
            <a:extLst>
              <a:ext uri="{FF2B5EF4-FFF2-40B4-BE49-F238E27FC236}">
                <a16:creationId xmlns:a16="http://schemas.microsoft.com/office/drawing/2014/main" id="{D0DEBC3C-038B-6434-14CB-4C32CFCBEA28}"/>
              </a:ext>
            </a:extLst>
          </p:cNvPr>
          <p:cNvSpPr txBox="1"/>
          <p:nvPr/>
        </p:nvSpPr>
        <p:spPr>
          <a:xfrm>
            <a:off x="8514244" y="3211657"/>
            <a:ext cx="68526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r>
              <a:rPr kumimoji="0" lang="es-AR" sz="14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EQ</a:t>
            </a:r>
            <a:r>
              <a:rPr kumimoji="0" lang="es-AR" sz="14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C</a:t>
            </a:r>
            <a:endParaRPr kumimoji="0" lang="es-MX"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91972583-0224-6CC4-1E2A-8F236C446FAB}"/>
              </a:ext>
            </a:extLst>
          </p:cNvPr>
          <p:cNvSpPr/>
          <p:nvPr/>
        </p:nvSpPr>
        <p:spPr>
          <a:xfrm>
            <a:off x="249173" y="143605"/>
            <a:ext cx="1168468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Poblando la jerarquía de la computabilidad</a:t>
            </a:r>
          </a:p>
        </p:txBody>
      </p:sp>
    </p:spTree>
    <p:extLst>
      <p:ext uri="{BB962C8B-B14F-4D97-AF65-F5344CB8AC3E}">
        <p14:creationId xmlns:p14="http://schemas.microsoft.com/office/powerpoint/2010/main" val="784918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49173" y="1061018"/>
            <a:ext cx="11512332" cy="4739759"/>
          </a:xfrm>
          <a:prstGeom prst="rect">
            <a:avLst/>
          </a:prstGeom>
        </p:spPr>
        <p:txBody>
          <a:bodyPr wrap="square">
            <a:spAutoFit/>
          </a:bodyPr>
          <a:lstStyle/>
          <a:p>
            <a:r>
              <a:rPr lang="es-AR" b="1" dirty="0">
                <a:solidFill>
                  <a:srgbClr val="0070C0"/>
                </a:solidFill>
                <a:latin typeface="Arial" panose="020B0604020202020204" pitchFamily="34" charset="0"/>
                <a:cs typeface="Arial" panose="020B0604020202020204" pitchFamily="34" charset="0"/>
              </a:rPr>
              <a:t>AUTÓMATAS FINITOS (AF)</a:t>
            </a:r>
            <a:endParaRPr lang="es-AR" dirty="0">
              <a:latin typeface="Arial" panose="020B0604020202020204" pitchFamily="34" charset="0"/>
              <a:cs typeface="Arial" panose="020B0604020202020204" pitchFamily="34" charset="0"/>
            </a:endParaRPr>
          </a:p>
          <a:p>
            <a:endParaRPr lang="es-AR"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Una cinta de sólo lectura.</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Sólo movimiento a la derecha.</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Conjunto F de estados finales.</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Cuando se alcanza el símbolo B (blanco) el AF para (acepta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el estado alcanzado es final). </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El AF constituye un tipo de algoritmo muy utilizado. Por ejemplo:</a:t>
            </a:r>
          </a:p>
          <a:p>
            <a:pPr marL="342900" indent="-342900">
              <a:buFont typeface="Arial" panose="020B0604020202020204" pitchFamily="34" charset="0"/>
              <a:buChar char="•"/>
            </a:pPr>
            <a:endParaRPr lang="es-AR" sz="1400"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r>
              <a:rPr lang="es-AR" dirty="0">
                <a:latin typeface="Arial" panose="020B0604020202020204" pitchFamily="34" charset="0"/>
                <a:cs typeface="Arial" panose="020B0604020202020204" pitchFamily="34" charset="0"/>
              </a:rPr>
              <a:t>Para el </a:t>
            </a:r>
            <a:r>
              <a:rPr lang="es-AR" b="1" dirty="0">
                <a:latin typeface="Arial" panose="020B0604020202020204" pitchFamily="34" charset="0"/>
                <a:cs typeface="Arial" panose="020B0604020202020204" pitchFamily="34" charset="0"/>
              </a:rPr>
              <a:t>análisis sintáctico a nivel palabra </a:t>
            </a:r>
            <a:r>
              <a:rPr lang="es-AR" dirty="0">
                <a:latin typeface="Arial" panose="020B0604020202020204" pitchFamily="34" charset="0"/>
                <a:cs typeface="Arial" panose="020B0604020202020204" pitchFamily="34" charset="0"/>
              </a:rPr>
              <a:t>de los compiladores (</a:t>
            </a:r>
            <a:r>
              <a:rPr lang="es-AR" dirty="0" err="1">
                <a:latin typeface="Arial" panose="020B0604020202020204" pitchFamily="34" charset="0"/>
                <a:cs typeface="Arial" panose="020B0604020202020204" pitchFamily="34" charset="0"/>
              </a:rPr>
              <a:t>if</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then</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else</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while</a:t>
            </a:r>
            <a:r>
              <a:rPr lang="es-AR" dirty="0">
                <a:latin typeface="Arial" panose="020B0604020202020204" pitchFamily="34" charset="0"/>
                <a:cs typeface="Arial" panose="020B0604020202020204" pitchFamily="34" charset="0"/>
              </a:rPr>
              <a:t>, x, 10, =, +, </a:t>
            </a:r>
            <a:r>
              <a:rPr lang="es-AR" dirty="0" err="1">
                <a:latin typeface="Arial" panose="020B0604020202020204" pitchFamily="34" charset="0"/>
                <a:cs typeface="Arial" panose="020B0604020202020204" pitchFamily="34" charset="0"/>
              </a:rPr>
              <a:t>etc</a:t>
            </a:r>
            <a:r>
              <a:rPr lang="es-AR" dirty="0">
                <a:latin typeface="Arial" panose="020B0604020202020204" pitchFamily="34" charset="0"/>
                <a:cs typeface="Arial" panose="020B0604020202020204" pitchFamily="34" charset="0"/>
              </a:rPr>
              <a:t>).</a:t>
            </a:r>
          </a:p>
          <a:p>
            <a:pPr marL="720000" lvl="1" indent="-342900" algn="just">
              <a:buFont typeface="Courier New" panose="02070309020205020404" pitchFamily="49" charset="0"/>
              <a:buChar char="o"/>
            </a:pPr>
            <a:endParaRPr lang="es-AR"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r>
              <a:rPr lang="es-AR" dirty="0">
                <a:latin typeface="Arial" panose="020B0604020202020204" pitchFamily="34" charset="0"/>
                <a:cs typeface="Arial" panose="020B0604020202020204" pitchFamily="34" charset="0"/>
              </a:rPr>
              <a:t>Para las </a:t>
            </a:r>
            <a:r>
              <a:rPr lang="es-AR" b="1" dirty="0">
                <a:latin typeface="Arial" panose="020B0604020202020204" pitchFamily="34" charset="0"/>
                <a:cs typeface="Arial" panose="020B0604020202020204" pitchFamily="34" charset="0"/>
              </a:rPr>
              <a:t>inspecciones de código </a:t>
            </a:r>
            <a:r>
              <a:rPr lang="es-AR" dirty="0">
                <a:latin typeface="Arial" panose="020B0604020202020204" pitchFamily="34" charset="0"/>
                <a:cs typeface="Arial" panose="020B0604020202020204" pitchFamily="34" charset="0"/>
              </a:rPr>
              <a:t>en el control de calidad del software.</a:t>
            </a:r>
            <a:endParaRPr lang="es-AR" b="1"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DDFF78C2-00F2-4BA6-A7D1-7097A0BDA165}"/>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29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 name="Rectángulo 1">
            <a:extLst>
              <a:ext uri="{FF2B5EF4-FFF2-40B4-BE49-F238E27FC236}">
                <a16:creationId xmlns:a16="http://schemas.microsoft.com/office/drawing/2014/main" id="{CD590FDA-B37F-88B7-90F2-9E525F4D6F8C}"/>
              </a:ext>
            </a:extLst>
          </p:cNvPr>
          <p:cNvSpPr/>
          <p:nvPr/>
        </p:nvSpPr>
        <p:spPr>
          <a:xfrm>
            <a:off x="249173" y="143605"/>
            <a:ext cx="11720220"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Máquinas de Turing restringidas</a:t>
            </a:r>
          </a:p>
        </p:txBody>
      </p:sp>
      <p:sp>
        <p:nvSpPr>
          <p:cNvPr id="3" name="Rectángulo 2">
            <a:extLst>
              <a:ext uri="{FF2B5EF4-FFF2-40B4-BE49-F238E27FC236}">
                <a16:creationId xmlns:a16="http://schemas.microsoft.com/office/drawing/2014/main" id="{8DCF65A5-021F-3772-1819-0E3AC74D37DE}"/>
              </a:ext>
            </a:extLst>
          </p:cNvPr>
          <p:cNvSpPr/>
          <p:nvPr/>
        </p:nvSpPr>
        <p:spPr>
          <a:xfrm>
            <a:off x="5531300" y="1833908"/>
            <a:ext cx="212992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h</a:t>
            </a:r>
            <a:endParaRPr lang="es-MX" dirty="0"/>
          </a:p>
        </p:txBody>
      </p:sp>
      <p:sp>
        <p:nvSpPr>
          <p:cNvPr id="5" name="Rectángulo 4">
            <a:extLst>
              <a:ext uri="{FF2B5EF4-FFF2-40B4-BE49-F238E27FC236}">
                <a16:creationId xmlns:a16="http://schemas.microsoft.com/office/drawing/2014/main" id="{602CE6D2-3C16-87D4-81D9-245C4D4330C4}"/>
              </a:ext>
            </a:extLst>
          </p:cNvPr>
          <p:cNvSpPr/>
          <p:nvPr/>
        </p:nvSpPr>
        <p:spPr>
          <a:xfrm>
            <a:off x="5863911" y="1840322"/>
            <a:ext cx="389850"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1</a:t>
            </a:r>
            <a:endParaRPr lang="es-MX" b="1" dirty="0"/>
          </a:p>
        </p:txBody>
      </p:sp>
      <p:sp>
        <p:nvSpPr>
          <p:cNvPr id="6" name="Rectángulo 5">
            <a:extLst>
              <a:ext uri="{FF2B5EF4-FFF2-40B4-BE49-F238E27FC236}">
                <a16:creationId xmlns:a16="http://schemas.microsoft.com/office/drawing/2014/main" id="{F2210A23-1FD6-78B5-40A6-DE94878FD7B6}"/>
              </a:ext>
            </a:extLst>
          </p:cNvPr>
          <p:cNvSpPr/>
          <p:nvPr/>
        </p:nvSpPr>
        <p:spPr>
          <a:xfrm flipH="1">
            <a:off x="6223771" y="1833908"/>
            <a:ext cx="51329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b</a:t>
            </a:r>
            <a:endParaRPr lang="es-MX" dirty="0"/>
          </a:p>
        </p:txBody>
      </p:sp>
      <p:sp>
        <p:nvSpPr>
          <p:cNvPr id="7" name="Rectángulo 6">
            <a:extLst>
              <a:ext uri="{FF2B5EF4-FFF2-40B4-BE49-F238E27FC236}">
                <a16:creationId xmlns:a16="http://schemas.microsoft.com/office/drawing/2014/main" id="{87130ED2-DEAA-E7B8-4BB2-90E03B8BBD29}"/>
              </a:ext>
            </a:extLst>
          </p:cNvPr>
          <p:cNvSpPr/>
          <p:nvPr/>
        </p:nvSpPr>
        <p:spPr>
          <a:xfrm>
            <a:off x="6584595" y="1828052"/>
            <a:ext cx="405529"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c</a:t>
            </a:r>
            <a:endParaRPr lang="es-MX" dirty="0"/>
          </a:p>
        </p:txBody>
      </p:sp>
      <p:sp>
        <p:nvSpPr>
          <p:cNvPr id="8" name="Diagrama de flujo: proceso 7">
            <a:extLst>
              <a:ext uri="{FF2B5EF4-FFF2-40B4-BE49-F238E27FC236}">
                <a16:creationId xmlns:a16="http://schemas.microsoft.com/office/drawing/2014/main" id="{4BD100BE-BE80-E0F6-5335-2EF94B8836E2}"/>
              </a:ext>
            </a:extLst>
          </p:cNvPr>
          <p:cNvSpPr/>
          <p:nvPr/>
        </p:nvSpPr>
        <p:spPr>
          <a:xfrm>
            <a:off x="5491674" y="1791207"/>
            <a:ext cx="1419320" cy="454975"/>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9" name="Conector recto 8">
            <a:extLst>
              <a:ext uri="{FF2B5EF4-FFF2-40B4-BE49-F238E27FC236}">
                <a16:creationId xmlns:a16="http://schemas.microsoft.com/office/drawing/2014/main" id="{8503657D-BBB8-1BD7-0D67-6F8691A6BF04}"/>
              </a:ext>
            </a:extLst>
          </p:cNvPr>
          <p:cNvCxnSpPr>
            <a:cxnSpLocks/>
          </p:cNvCxnSpPr>
          <p:nvPr/>
        </p:nvCxnSpPr>
        <p:spPr>
          <a:xfrm>
            <a:off x="5839296" y="1788983"/>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FB480D01-F8D4-41D7-F583-7A7F71ACEDEA}"/>
              </a:ext>
            </a:extLst>
          </p:cNvPr>
          <p:cNvCxnSpPr>
            <a:cxnSpLocks/>
          </p:cNvCxnSpPr>
          <p:nvPr/>
        </p:nvCxnSpPr>
        <p:spPr>
          <a:xfrm>
            <a:off x="6191578" y="1790374"/>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851AE16D-3781-3173-E844-9F0A1A32BD72}"/>
              </a:ext>
            </a:extLst>
          </p:cNvPr>
          <p:cNvCxnSpPr>
            <a:cxnSpLocks/>
          </p:cNvCxnSpPr>
          <p:nvPr/>
        </p:nvCxnSpPr>
        <p:spPr>
          <a:xfrm>
            <a:off x="6553528" y="1783959"/>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ángulo 12">
            <a:extLst>
              <a:ext uri="{FF2B5EF4-FFF2-40B4-BE49-F238E27FC236}">
                <a16:creationId xmlns:a16="http://schemas.microsoft.com/office/drawing/2014/main" id="{CCB53388-525B-7CC4-277F-69FC6D4C3E32}"/>
              </a:ext>
            </a:extLst>
          </p:cNvPr>
          <p:cNvSpPr/>
          <p:nvPr/>
        </p:nvSpPr>
        <p:spPr>
          <a:xfrm>
            <a:off x="6947583" y="2657440"/>
            <a:ext cx="373820" cy="369332"/>
          </a:xfrm>
          <a:prstGeom prst="rect">
            <a:avLst/>
          </a:prstGeom>
        </p:spPr>
        <p:txBody>
          <a:bodyPr wrap="square">
            <a:spAutoFit/>
          </a:bodyPr>
          <a:lstStyle/>
          <a:p>
            <a:r>
              <a:rPr lang="es-MX" dirty="0"/>
              <a:t>q</a:t>
            </a:r>
            <a:endParaRPr lang="es-MX" b="1" dirty="0"/>
          </a:p>
        </p:txBody>
      </p:sp>
      <p:sp>
        <p:nvSpPr>
          <p:cNvPr id="14" name="Diagrama de flujo: proceso 13">
            <a:extLst>
              <a:ext uri="{FF2B5EF4-FFF2-40B4-BE49-F238E27FC236}">
                <a16:creationId xmlns:a16="http://schemas.microsoft.com/office/drawing/2014/main" id="{7A95429A-8B2B-B75A-5F02-F749772C7580}"/>
              </a:ext>
            </a:extLst>
          </p:cNvPr>
          <p:cNvSpPr/>
          <p:nvPr/>
        </p:nvSpPr>
        <p:spPr>
          <a:xfrm>
            <a:off x="6899809" y="2645410"/>
            <a:ext cx="402675" cy="4161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5" name="Conector recto de flecha 14">
            <a:extLst>
              <a:ext uri="{FF2B5EF4-FFF2-40B4-BE49-F238E27FC236}">
                <a16:creationId xmlns:a16="http://schemas.microsoft.com/office/drawing/2014/main" id="{438BDABC-0493-296D-DB78-D75E8D695011}"/>
              </a:ext>
            </a:extLst>
          </p:cNvPr>
          <p:cNvCxnSpPr>
            <a:cxnSpLocks/>
          </p:cNvCxnSpPr>
          <p:nvPr/>
        </p:nvCxnSpPr>
        <p:spPr>
          <a:xfrm flipV="1">
            <a:off x="7081438" y="2258247"/>
            <a:ext cx="42345" cy="3777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ángulo 39">
            <a:extLst>
              <a:ext uri="{FF2B5EF4-FFF2-40B4-BE49-F238E27FC236}">
                <a16:creationId xmlns:a16="http://schemas.microsoft.com/office/drawing/2014/main" id="{E55A8697-42D2-11A9-FBBB-19D371C9902F}"/>
              </a:ext>
            </a:extLst>
          </p:cNvPr>
          <p:cNvSpPr/>
          <p:nvPr/>
        </p:nvSpPr>
        <p:spPr>
          <a:xfrm>
            <a:off x="7295992" y="1834397"/>
            <a:ext cx="389850"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0</a:t>
            </a:r>
            <a:endParaRPr lang="es-MX" b="1" dirty="0"/>
          </a:p>
        </p:txBody>
      </p:sp>
      <p:sp>
        <p:nvSpPr>
          <p:cNvPr id="41" name="Rectángulo 40">
            <a:extLst>
              <a:ext uri="{FF2B5EF4-FFF2-40B4-BE49-F238E27FC236}">
                <a16:creationId xmlns:a16="http://schemas.microsoft.com/office/drawing/2014/main" id="{0F7AE0C1-48CF-5824-4EDD-FA66042D1E82}"/>
              </a:ext>
            </a:extLst>
          </p:cNvPr>
          <p:cNvSpPr/>
          <p:nvPr/>
        </p:nvSpPr>
        <p:spPr>
          <a:xfrm flipH="1">
            <a:off x="7653509" y="1826659"/>
            <a:ext cx="513298"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b</a:t>
            </a:r>
            <a:endParaRPr lang="es-MX" dirty="0"/>
          </a:p>
        </p:txBody>
      </p:sp>
      <p:sp>
        <p:nvSpPr>
          <p:cNvPr id="42" name="Rectángulo 41">
            <a:extLst>
              <a:ext uri="{FF2B5EF4-FFF2-40B4-BE49-F238E27FC236}">
                <a16:creationId xmlns:a16="http://schemas.microsoft.com/office/drawing/2014/main" id="{E6C99940-A39F-C9E4-E89E-84CB9532867D}"/>
              </a:ext>
            </a:extLst>
          </p:cNvPr>
          <p:cNvSpPr/>
          <p:nvPr/>
        </p:nvSpPr>
        <p:spPr>
          <a:xfrm>
            <a:off x="8007801" y="1829267"/>
            <a:ext cx="405529" cy="369332"/>
          </a:xfrm>
          <a:prstGeom prst="rect">
            <a:avLst/>
          </a:prstGeom>
        </p:spPr>
        <p:txBody>
          <a:bodyPr wrap="square">
            <a:spAutoFit/>
          </a:bodyPr>
          <a:lstStyle/>
          <a:p>
            <a:r>
              <a:rPr lang="es-MX" b="1" dirty="0">
                <a:solidFill>
                  <a:srgbClr val="0070C0"/>
                </a:solidFill>
                <a:latin typeface="Arial" panose="020B0604020202020204" pitchFamily="34" charset="0"/>
                <a:cs typeface="Arial" panose="020B0604020202020204" pitchFamily="34" charset="0"/>
              </a:rPr>
              <a:t>B</a:t>
            </a:r>
            <a:endParaRPr lang="es-MX" b="1" dirty="0">
              <a:solidFill>
                <a:srgbClr val="0070C0"/>
              </a:solidFill>
            </a:endParaRPr>
          </a:p>
        </p:txBody>
      </p:sp>
      <p:sp>
        <p:nvSpPr>
          <p:cNvPr id="43" name="Diagrama de flujo: proceso 42">
            <a:extLst>
              <a:ext uri="{FF2B5EF4-FFF2-40B4-BE49-F238E27FC236}">
                <a16:creationId xmlns:a16="http://schemas.microsoft.com/office/drawing/2014/main" id="{D01E108D-668E-59A8-F535-8BE1E2AAB0F8}"/>
              </a:ext>
            </a:extLst>
          </p:cNvPr>
          <p:cNvSpPr/>
          <p:nvPr/>
        </p:nvSpPr>
        <p:spPr>
          <a:xfrm>
            <a:off x="6915565" y="1795480"/>
            <a:ext cx="1419320" cy="454975"/>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4" name="Conector recto 43">
            <a:extLst>
              <a:ext uri="{FF2B5EF4-FFF2-40B4-BE49-F238E27FC236}">
                <a16:creationId xmlns:a16="http://schemas.microsoft.com/office/drawing/2014/main" id="{81CD2609-BD7D-854C-0204-560DC75742CC}"/>
              </a:ext>
            </a:extLst>
          </p:cNvPr>
          <p:cNvCxnSpPr>
            <a:cxnSpLocks/>
          </p:cNvCxnSpPr>
          <p:nvPr/>
        </p:nvCxnSpPr>
        <p:spPr>
          <a:xfrm>
            <a:off x="7269035" y="1781735"/>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EB120D14-B502-FB85-50C4-559BF93DE972}"/>
              </a:ext>
            </a:extLst>
          </p:cNvPr>
          <p:cNvCxnSpPr>
            <a:cxnSpLocks/>
          </p:cNvCxnSpPr>
          <p:nvPr/>
        </p:nvCxnSpPr>
        <p:spPr>
          <a:xfrm>
            <a:off x="7621317" y="1783126"/>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734B256A-69D8-2B55-3802-6A2FE32CF0BD}"/>
              </a:ext>
            </a:extLst>
          </p:cNvPr>
          <p:cNvCxnSpPr>
            <a:cxnSpLocks/>
          </p:cNvCxnSpPr>
          <p:nvPr/>
        </p:nvCxnSpPr>
        <p:spPr>
          <a:xfrm>
            <a:off x="7983267" y="1776711"/>
            <a:ext cx="0" cy="46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ángulo 46">
            <a:extLst>
              <a:ext uri="{FF2B5EF4-FFF2-40B4-BE49-F238E27FC236}">
                <a16:creationId xmlns:a16="http://schemas.microsoft.com/office/drawing/2014/main" id="{DED00327-F784-3231-E1FA-03E5DB036FA1}"/>
              </a:ext>
            </a:extLst>
          </p:cNvPr>
          <p:cNvSpPr/>
          <p:nvPr/>
        </p:nvSpPr>
        <p:spPr>
          <a:xfrm>
            <a:off x="6919808" y="1829267"/>
            <a:ext cx="389850" cy="369332"/>
          </a:xfrm>
          <a:prstGeom prst="rect">
            <a:avLst/>
          </a:prstGeom>
        </p:spPr>
        <p:txBody>
          <a:bodyPr wrap="square">
            <a:spAutoFit/>
          </a:bodyPr>
          <a:lstStyle/>
          <a:p>
            <a:r>
              <a:rPr lang="es-MX" dirty="0">
                <a:latin typeface="Arial" panose="020B0604020202020204" pitchFamily="34" charset="0"/>
                <a:cs typeface="Arial" panose="020B0604020202020204" pitchFamily="34" charset="0"/>
              </a:rPr>
              <a:t>#</a:t>
            </a:r>
            <a:endParaRPr lang="es-MX" b="1" dirty="0"/>
          </a:p>
        </p:txBody>
      </p:sp>
      <p:cxnSp>
        <p:nvCxnSpPr>
          <p:cNvPr id="51" name="Conector recto de flecha 50">
            <a:extLst>
              <a:ext uri="{FF2B5EF4-FFF2-40B4-BE49-F238E27FC236}">
                <a16:creationId xmlns:a16="http://schemas.microsoft.com/office/drawing/2014/main" id="{4F1C62D8-C7C6-9BF1-CC1B-6A22E73631C0}"/>
              </a:ext>
            </a:extLst>
          </p:cNvPr>
          <p:cNvCxnSpPr>
            <a:cxnSpLocks/>
          </p:cNvCxnSpPr>
          <p:nvPr/>
        </p:nvCxnSpPr>
        <p:spPr>
          <a:xfrm>
            <a:off x="5504322" y="2447099"/>
            <a:ext cx="283056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411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49425" y="286190"/>
            <a:ext cx="11555582" cy="2400657"/>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Ejemplo</a:t>
            </a:r>
            <a:endParaRPr lang="es-MX" sz="2400" dirty="0">
              <a:latin typeface="Arial" panose="020B0604020202020204" pitchFamily="34" charset="0"/>
              <a:cs typeface="Arial" panose="020B0604020202020204" pitchFamily="34" charset="0"/>
            </a:endParaRPr>
          </a:p>
          <a:p>
            <a:pPr lvl="0"/>
            <a:endParaRPr lang="es-AR" dirty="0">
              <a:latin typeface="Arial" panose="020B0604020202020204" pitchFamily="34" charset="0"/>
              <a:cs typeface="Arial" panose="020B0604020202020204" pitchFamily="34" charset="0"/>
            </a:endParaRPr>
          </a:p>
          <a:p>
            <a:pPr lvl="0"/>
            <a:r>
              <a:rPr lang="es-AR" dirty="0">
                <a:latin typeface="Arial" panose="020B0604020202020204" pitchFamily="34" charset="0"/>
                <a:cs typeface="Arial" panose="020B0604020202020204" pitchFamily="34" charset="0"/>
              </a:rPr>
              <a:t>Q = {q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q</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q</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q</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a:t>
            </a:r>
            <a:r>
              <a:rPr lang="es-AR" sz="1800" dirty="0">
                <a:effectLst/>
                <a:latin typeface="Arial" panose="020B0604020202020204" pitchFamily="34" charset="0"/>
                <a:ea typeface="Calibri" panose="020F0502020204030204" pitchFamily="34" charset="0"/>
              </a:rPr>
              <a:t>Γ</a:t>
            </a:r>
            <a:r>
              <a:rPr lang="es-AR" dirty="0">
                <a:latin typeface="Arial" panose="020B0604020202020204" pitchFamily="34" charset="0"/>
                <a:cs typeface="Arial" panose="020B0604020202020204" pitchFamily="34" charset="0"/>
              </a:rPr>
              <a:t> = {0, 1}     Estado inicial 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F = {q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a:t>
            </a:r>
          </a:p>
          <a:p>
            <a:pPr lvl="0"/>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1.  δ(q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1) = q</a:t>
            </a:r>
            <a:r>
              <a:rPr lang="es-AR"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2.  δ(q</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1) = q</a:t>
            </a:r>
            <a:r>
              <a:rPr lang="es-AR" baseline="-25000" dirty="0">
                <a:latin typeface="Arial" panose="020B0604020202020204" pitchFamily="34" charset="0"/>
                <a:cs typeface="Arial" panose="020B0604020202020204" pitchFamily="34" charset="0"/>
              </a:rPr>
              <a:t>0</a:t>
            </a:r>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3.  δ(q</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0) = q</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4.  δ(q</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0) = q</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5.  δ(q</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1) = q</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6.  δ(q</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1) = q</a:t>
            </a:r>
            <a:r>
              <a:rPr lang="es-AR" baseline="-25000" dirty="0">
                <a:latin typeface="Arial" panose="020B0604020202020204" pitchFamily="34" charset="0"/>
                <a:cs typeface="Arial" panose="020B0604020202020204" pitchFamily="34" charset="0"/>
              </a:rPr>
              <a:t>3	</a:t>
            </a:r>
            <a:endParaRPr lang="es-MX"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7.  δ(q</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0) = 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8.  δ(q</a:t>
            </a:r>
            <a:r>
              <a:rPr lang="es-AR" baseline="-25000" dirty="0">
                <a:latin typeface="Arial" panose="020B0604020202020204" pitchFamily="34" charset="0"/>
                <a:cs typeface="Arial" panose="020B0604020202020204" pitchFamily="34" charset="0"/>
              </a:rPr>
              <a:t>0</a:t>
            </a:r>
            <a:r>
              <a:rPr lang="es-AR" dirty="0">
                <a:latin typeface="Arial" panose="020B0604020202020204" pitchFamily="34" charset="0"/>
                <a:cs typeface="Arial" panose="020B0604020202020204" pitchFamily="34" charset="0"/>
              </a:rPr>
              <a:t>, 0) = q</a:t>
            </a:r>
            <a:r>
              <a:rPr lang="es-AR" baseline="-25000" dirty="0">
                <a:latin typeface="Arial" panose="020B0604020202020204" pitchFamily="34" charset="0"/>
                <a:cs typeface="Arial" panose="020B0604020202020204" pitchFamily="34" charset="0"/>
              </a:rPr>
              <a:t>2</a:t>
            </a:r>
          </a:p>
        </p:txBody>
      </p:sp>
      <p:sp>
        <p:nvSpPr>
          <p:cNvPr id="2" name="Rectángulo 1">
            <a:extLst>
              <a:ext uri="{FF2B5EF4-FFF2-40B4-BE49-F238E27FC236}">
                <a16:creationId xmlns:a16="http://schemas.microsoft.com/office/drawing/2014/main" id="{BCF90DD1-E21C-4D50-8C85-33DA0BF0A57C}"/>
              </a:ext>
            </a:extLst>
          </p:cNvPr>
          <p:cNvSpPr/>
          <p:nvPr/>
        </p:nvSpPr>
        <p:spPr>
          <a:xfrm>
            <a:off x="5030864" y="3531373"/>
            <a:ext cx="45720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q</a:t>
            </a:r>
            <a:r>
              <a:rPr lang="es-AR" baseline="-25000" dirty="0">
                <a:latin typeface="Arial" panose="020B0604020202020204" pitchFamily="34" charset="0"/>
                <a:cs typeface="Arial" panose="020B0604020202020204" pitchFamily="34" charset="0"/>
              </a:rPr>
              <a:t>0</a:t>
            </a:r>
            <a:endParaRPr lang="es-MX" dirty="0"/>
          </a:p>
        </p:txBody>
      </p:sp>
      <p:sp>
        <p:nvSpPr>
          <p:cNvPr id="3" name="Rectángulo 2">
            <a:extLst>
              <a:ext uri="{FF2B5EF4-FFF2-40B4-BE49-F238E27FC236}">
                <a16:creationId xmlns:a16="http://schemas.microsoft.com/office/drawing/2014/main" id="{300AE386-6684-443E-8E44-CBC0184BFA7A}"/>
              </a:ext>
            </a:extLst>
          </p:cNvPr>
          <p:cNvSpPr/>
          <p:nvPr/>
        </p:nvSpPr>
        <p:spPr>
          <a:xfrm>
            <a:off x="7045319" y="3531373"/>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q</a:t>
            </a:r>
            <a:r>
              <a:rPr lang="es-AR" baseline="-25000" dirty="0">
                <a:latin typeface="Arial" panose="020B0604020202020204" pitchFamily="34" charset="0"/>
                <a:cs typeface="Arial" panose="020B0604020202020204" pitchFamily="34" charset="0"/>
              </a:rPr>
              <a:t>1</a:t>
            </a:r>
            <a:endParaRPr lang="es-MX" dirty="0"/>
          </a:p>
        </p:txBody>
      </p:sp>
      <p:sp>
        <p:nvSpPr>
          <p:cNvPr id="7" name="Rectángulo 6">
            <a:extLst>
              <a:ext uri="{FF2B5EF4-FFF2-40B4-BE49-F238E27FC236}">
                <a16:creationId xmlns:a16="http://schemas.microsoft.com/office/drawing/2014/main" id="{EAB4D244-471D-4F89-9C56-8770F3E1A2DB}"/>
              </a:ext>
            </a:extLst>
          </p:cNvPr>
          <p:cNvSpPr/>
          <p:nvPr/>
        </p:nvSpPr>
        <p:spPr>
          <a:xfrm>
            <a:off x="6169265" y="3391782"/>
            <a:ext cx="298480"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1</a:t>
            </a:r>
            <a:endParaRPr lang="es-MX" sz="1600" dirty="0"/>
          </a:p>
        </p:txBody>
      </p:sp>
      <p:sp>
        <p:nvSpPr>
          <p:cNvPr id="8" name="Rectángulo 7">
            <a:extLst>
              <a:ext uri="{FF2B5EF4-FFF2-40B4-BE49-F238E27FC236}">
                <a16:creationId xmlns:a16="http://schemas.microsoft.com/office/drawing/2014/main" id="{D00B927C-A621-4C34-B90D-949E11D0010A}"/>
              </a:ext>
            </a:extLst>
          </p:cNvPr>
          <p:cNvSpPr/>
          <p:nvPr/>
        </p:nvSpPr>
        <p:spPr>
          <a:xfrm>
            <a:off x="6180852" y="3878878"/>
            <a:ext cx="298480"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1</a:t>
            </a:r>
            <a:endParaRPr lang="es-MX" sz="1600" dirty="0"/>
          </a:p>
        </p:txBody>
      </p:sp>
      <p:sp>
        <p:nvSpPr>
          <p:cNvPr id="11" name="Rectángulo 10">
            <a:extLst>
              <a:ext uri="{FF2B5EF4-FFF2-40B4-BE49-F238E27FC236}">
                <a16:creationId xmlns:a16="http://schemas.microsoft.com/office/drawing/2014/main" id="{DCC29994-028F-4191-9D34-CA47DC9C6215}"/>
              </a:ext>
            </a:extLst>
          </p:cNvPr>
          <p:cNvSpPr/>
          <p:nvPr/>
        </p:nvSpPr>
        <p:spPr>
          <a:xfrm>
            <a:off x="6191001" y="5159361"/>
            <a:ext cx="298480"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1</a:t>
            </a:r>
            <a:endParaRPr lang="es-MX" sz="1600" dirty="0"/>
          </a:p>
        </p:txBody>
      </p:sp>
      <p:sp>
        <p:nvSpPr>
          <p:cNvPr id="12" name="Rectángulo 11">
            <a:extLst>
              <a:ext uri="{FF2B5EF4-FFF2-40B4-BE49-F238E27FC236}">
                <a16:creationId xmlns:a16="http://schemas.microsoft.com/office/drawing/2014/main" id="{427625FB-FEEA-4FCB-BF9C-0FDDD79A76A0}"/>
              </a:ext>
            </a:extLst>
          </p:cNvPr>
          <p:cNvSpPr/>
          <p:nvPr/>
        </p:nvSpPr>
        <p:spPr>
          <a:xfrm>
            <a:off x="4863949" y="4367017"/>
            <a:ext cx="31290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a:t>
            </a:r>
            <a:endParaRPr lang="es-MX" dirty="0"/>
          </a:p>
        </p:txBody>
      </p:sp>
      <p:sp>
        <p:nvSpPr>
          <p:cNvPr id="13" name="Rectángulo 12">
            <a:extLst>
              <a:ext uri="{FF2B5EF4-FFF2-40B4-BE49-F238E27FC236}">
                <a16:creationId xmlns:a16="http://schemas.microsoft.com/office/drawing/2014/main" id="{30752B60-45CA-47C7-ABD9-525B48C56275}"/>
              </a:ext>
            </a:extLst>
          </p:cNvPr>
          <p:cNvSpPr/>
          <p:nvPr/>
        </p:nvSpPr>
        <p:spPr>
          <a:xfrm>
            <a:off x="5301944" y="4367017"/>
            <a:ext cx="31290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a:t>
            </a:r>
            <a:endParaRPr lang="es-MX" dirty="0"/>
          </a:p>
        </p:txBody>
      </p:sp>
      <p:sp>
        <p:nvSpPr>
          <p:cNvPr id="14" name="Rectángulo 13">
            <a:extLst>
              <a:ext uri="{FF2B5EF4-FFF2-40B4-BE49-F238E27FC236}">
                <a16:creationId xmlns:a16="http://schemas.microsoft.com/office/drawing/2014/main" id="{54C88716-60E0-44BF-B6A5-B4CC678F85B9}"/>
              </a:ext>
            </a:extLst>
          </p:cNvPr>
          <p:cNvSpPr/>
          <p:nvPr/>
        </p:nvSpPr>
        <p:spPr>
          <a:xfrm>
            <a:off x="6887015" y="4372311"/>
            <a:ext cx="31290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a:t>
            </a:r>
            <a:endParaRPr lang="es-MX" dirty="0"/>
          </a:p>
        </p:txBody>
      </p:sp>
      <p:sp>
        <p:nvSpPr>
          <p:cNvPr id="15" name="Rectángulo 14">
            <a:extLst>
              <a:ext uri="{FF2B5EF4-FFF2-40B4-BE49-F238E27FC236}">
                <a16:creationId xmlns:a16="http://schemas.microsoft.com/office/drawing/2014/main" id="{D03EF314-18BA-4C8A-8835-A009A9EA26F8}"/>
              </a:ext>
            </a:extLst>
          </p:cNvPr>
          <p:cNvSpPr/>
          <p:nvPr/>
        </p:nvSpPr>
        <p:spPr>
          <a:xfrm>
            <a:off x="7333984" y="4376290"/>
            <a:ext cx="31290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a:t>
            </a:r>
            <a:endParaRPr lang="es-MX" dirty="0"/>
          </a:p>
        </p:txBody>
      </p:sp>
      <p:cxnSp>
        <p:nvCxnSpPr>
          <p:cNvPr id="17" name="Conector recto de flecha 16">
            <a:extLst>
              <a:ext uri="{FF2B5EF4-FFF2-40B4-BE49-F238E27FC236}">
                <a16:creationId xmlns:a16="http://schemas.microsoft.com/office/drawing/2014/main" id="{C017FBEE-F668-489F-8D75-2F0E92B3CB84}"/>
              </a:ext>
            </a:extLst>
          </p:cNvPr>
          <p:cNvCxnSpPr>
            <a:cxnSpLocks/>
            <a:endCxn id="44" idx="1"/>
          </p:cNvCxnSpPr>
          <p:nvPr/>
        </p:nvCxnSpPr>
        <p:spPr>
          <a:xfrm>
            <a:off x="4470462" y="3223727"/>
            <a:ext cx="567820" cy="3331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15821AC7-89C1-4EDB-8135-128FB94BB946}"/>
              </a:ext>
            </a:extLst>
          </p:cNvPr>
          <p:cNvSpPr/>
          <p:nvPr/>
        </p:nvSpPr>
        <p:spPr>
          <a:xfrm>
            <a:off x="370474" y="4305040"/>
            <a:ext cx="4005087" cy="1477328"/>
          </a:xfrm>
          <a:prstGeom prst="rect">
            <a:avLst/>
          </a:prstGeom>
        </p:spPr>
        <p:txBody>
          <a:bodyPr wrap="square">
            <a:spAutoFit/>
          </a:bodyPr>
          <a:lstStyle/>
          <a:p>
            <a:r>
              <a:rPr lang="es-AR" b="1" dirty="0">
                <a:latin typeface="Arial" panose="020B0604020202020204" pitchFamily="34" charset="0"/>
                <a:cs typeface="Arial" panose="020B0604020202020204" pitchFamily="34" charset="0"/>
              </a:rPr>
              <a:t>Diagrama de transición de estados </a:t>
            </a:r>
            <a:r>
              <a:rPr lang="es-AR" dirty="0">
                <a:latin typeface="Arial" panose="020B0604020202020204" pitchFamily="34" charset="0"/>
                <a:cs typeface="Arial" panose="020B0604020202020204" pitchFamily="34" charset="0"/>
              </a:rPr>
              <a:t>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La ejecución arranca desde la flecha.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Los estados con doble contorno son los estados finales.</a:t>
            </a:r>
            <a:endParaRPr lang="es-MX" dirty="0">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2A1CEDC9-5CA0-46BC-B288-B8AA502683EE}"/>
              </a:ext>
            </a:extLst>
          </p:cNvPr>
          <p:cNvSpPr/>
          <p:nvPr/>
        </p:nvSpPr>
        <p:spPr>
          <a:xfrm>
            <a:off x="7983619" y="4263487"/>
            <a:ext cx="3884967" cy="923330"/>
          </a:xfrm>
          <a:prstGeom prst="rect">
            <a:avLst/>
          </a:prstGeom>
        </p:spPr>
        <p:txBody>
          <a:bodyPr wrap="square">
            <a:spAutoFit/>
          </a:bodyPr>
          <a:lstStyle/>
          <a:p>
            <a:r>
              <a:rPr lang="es-AR" dirty="0">
                <a:latin typeface="Arial" panose="020B0604020202020204" pitchFamily="34" charset="0"/>
                <a:cs typeface="Arial" panose="020B0604020202020204" pitchFamily="34" charset="0"/>
              </a:rPr>
              <a:t>El AF descripto acepta todas las cadenas de 1 y 0 con </a:t>
            </a:r>
            <a:r>
              <a:rPr lang="es-AR" b="1" dirty="0">
                <a:latin typeface="Arial" panose="020B0604020202020204" pitchFamily="34" charset="0"/>
                <a:cs typeface="Arial" panose="020B0604020202020204" pitchFamily="34" charset="0"/>
              </a:rPr>
              <a:t>una cantidad par de 1 y una cantidad par de 0.</a:t>
            </a:r>
            <a:endParaRPr lang="es-MX" b="1" dirty="0">
              <a:latin typeface="Arial" panose="020B0604020202020204" pitchFamily="34" charset="0"/>
              <a:cs typeface="Arial" panose="020B0604020202020204" pitchFamily="34" charset="0"/>
            </a:endParaRPr>
          </a:p>
        </p:txBody>
      </p:sp>
      <p:sp>
        <p:nvSpPr>
          <p:cNvPr id="22" name="Diagrama de flujo: conector 21">
            <a:extLst>
              <a:ext uri="{FF2B5EF4-FFF2-40B4-BE49-F238E27FC236}">
                <a16:creationId xmlns:a16="http://schemas.microsoft.com/office/drawing/2014/main" id="{5F03D94E-0E99-4890-87BD-3AA07192DE01}"/>
              </a:ext>
            </a:extLst>
          </p:cNvPr>
          <p:cNvSpPr/>
          <p:nvPr/>
        </p:nvSpPr>
        <p:spPr>
          <a:xfrm>
            <a:off x="5001197" y="3524549"/>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Diagrama de flujo: conector 37">
            <a:extLst>
              <a:ext uri="{FF2B5EF4-FFF2-40B4-BE49-F238E27FC236}">
                <a16:creationId xmlns:a16="http://schemas.microsoft.com/office/drawing/2014/main" id="{2A87C24E-0E21-49D2-959D-EC0D04D07B65}"/>
              </a:ext>
            </a:extLst>
          </p:cNvPr>
          <p:cNvSpPr/>
          <p:nvPr/>
        </p:nvSpPr>
        <p:spPr>
          <a:xfrm>
            <a:off x="7014780" y="3521135"/>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Diagrama de flujo: conector 43">
            <a:extLst>
              <a:ext uri="{FF2B5EF4-FFF2-40B4-BE49-F238E27FC236}">
                <a16:creationId xmlns:a16="http://schemas.microsoft.com/office/drawing/2014/main" id="{7930E107-0A46-445C-ABFC-DC31E49BB57F}"/>
              </a:ext>
            </a:extLst>
          </p:cNvPr>
          <p:cNvSpPr/>
          <p:nvPr/>
        </p:nvSpPr>
        <p:spPr>
          <a:xfrm>
            <a:off x="4955500" y="3474630"/>
            <a:ext cx="565268" cy="56176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6" name="Conector recto de flecha 45">
            <a:extLst>
              <a:ext uri="{FF2B5EF4-FFF2-40B4-BE49-F238E27FC236}">
                <a16:creationId xmlns:a16="http://schemas.microsoft.com/office/drawing/2014/main" id="{8D8D1A98-5020-43C9-87AF-532982E3B4DA}"/>
              </a:ext>
            </a:extLst>
          </p:cNvPr>
          <p:cNvCxnSpPr>
            <a:cxnSpLocks/>
          </p:cNvCxnSpPr>
          <p:nvPr/>
        </p:nvCxnSpPr>
        <p:spPr>
          <a:xfrm>
            <a:off x="5540961" y="3900705"/>
            <a:ext cx="14894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4B5CB878-2772-470D-BC02-B4FA7CF8742D}"/>
              </a:ext>
            </a:extLst>
          </p:cNvPr>
          <p:cNvCxnSpPr>
            <a:cxnSpLocks/>
          </p:cNvCxnSpPr>
          <p:nvPr/>
        </p:nvCxnSpPr>
        <p:spPr>
          <a:xfrm flipH="1">
            <a:off x="5520768" y="3722518"/>
            <a:ext cx="14885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ángulo 53">
            <a:extLst>
              <a:ext uri="{FF2B5EF4-FFF2-40B4-BE49-F238E27FC236}">
                <a16:creationId xmlns:a16="http://schemas.microsoft.com/office/drawing/2014/main" id="{34ACAAFA-C4CF-4939-85BE-936623919318}"/>
              </a:ext>
            </a:extLst>
          </p:cNvPr>
          <p:cNvSpPr/>
          <p:nvPr/>
        </p:nvSpPr>
        <p:spPr>
          <a:xfrm>
            <a:off x="5052550" y="5328638"/>
            <a:ext cx="45720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q</a:t>
            </a:r>
            <a:r>
              <a:rPr lang="es-AR" baseline="-25000" dirty="0">
                <a:latin typeface="Arial" panose="020B0604020202020204" pitchFamily="34" charset="0"/>
                <a:cs typeface="Arial" panose="020B0604020202020204" pitchFamily="34" charset="0"/>
              </a:rPr>
              <a:t>2</a:t>
            </a:r>
            <a:endParaRPr lang="es-MX" dirty="0"/>
          </a:p>
        </p:txBody>
      </p:sp>
      <p:sp>
        <p:nvSpPr>
          <p:cNvPr id="55" name="Rectángulo 54">
            <a:extLst>
              <a:ext uri="{FF2B5EF4-FFF2-40B4-BE49-F238E27FC236}">
                <a16:creationId xmlns:a16="http://schemas.microsoft.com/office/drawing/2014/main" id="{D482CA3B-D3AD-46A8-AF0D-ED4C71F6B320}"/>
              </a:ext>
            </a:extLst>
          </p:cNvPr>
          <p:cNvSpPr/>
          <p:nvPr/>
        </p:nvSpPr>
        <p:spPr>
          <a:xfrm>
            <a:off x="7030431" y="5339442"/>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q</a:t>
            </a:r>
            <a:r>
              <a:rPr lang="es-AR" baseline="-25000" dirty="0">
                <a:latin typeface="Arial" panose="020B0604020202020204" pitchFamily="34" charset="0"/>
                <a:cs typeface="Arial" panose="020B0604020202020204" pitchFamily="34" charset="0"/>
              </a:rPr>
              <a:t>3</a:t>
            </a:r>
            <a:endParaRPr lang="es-MX" dirty="0"/>
          </a:p>
        </p:txBody>
      </p:sp>
      <p:sp>
        <p:nvSpPr>
          <p:cNvPr id="57" name="Rectángulo 56">
            <a:extLst>
              <a:ext uri="{FF2B5EF4-FFF2-40B4-BE49-F238E27FC236}">
                <a16:creationId xmlns:a16="http://schemas.microsoft.com/office/drawing/2014/main" id="{1C79F8D8-0F86-453D-8C26-796B42359BFE}"/>
              </a:ext>
            </a:extLst>
          </p:cNvPr>
          <p:cNvSpPr/>
          <p:nvPr/>
        </p:nvSpPr>
        <p:spPr>
          <a:xfrm>
            <a:off x="6212488" y="5651482"/>
            <a:ext cx="298480"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1</a:t>
            </a:r>
            <a:endParaRPr lang="es-MX" sz="1600" dirty="0"/>
          </a:p>
        </p:txBody>
      </p:sp>
      <p:sp>
        <p:nvSpPr>
          <p:cNvPr id="58" name="Diagrama de flujo: conector 57">
            <a:extLst>
              <a:ext uri="{FF2B5EF4-FFF2-40B4-BE49-F238E27FC236}">
                <a16:creationId xmlns:a16="http://schemas.microsoft.com/office/drawing/2014/main" id="{D9D26320-5A8F-4E66-B4E9-DAE559568E6B}"/>
              </a:ext>
            </a:extLst>
          </p:cNvPr>
          <p:cNvSpPr/>
          <p:nvPr/>
        </p:nvSpPr>
        <p:spPr>
          <a:xfrm>
            <a:off x="5020402" y="5311209"/>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9" name="Diagrama de flujo: conector 58">
            <a:extLst>
              <a:ext uri="{FF2B5EF4-FFF2-40B4-BE49-F238E27FC236}">
                <a16:creationId xmlns:a16="http://schemas.microsoft.com/office/drawing/2014/main" id="{6D986635-386F-4D13-BF35-25038497A108}"/>
              </a:ext>
            </a:extLst>
          </p:cNvPr>
          <p:cNvSpPr/>
          <p:nvPr/>
        </p:nvSpPr>
        <p:spPr>
          <a:xfrm>
            <a:off x="6999700" y="5295508"/>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5" name="Conector recto de flecha 74">
            <a:extLst>
              <a:ext uri="{FF2B5EF4-FFF2-40B4-BE49-F238E27FC236}">
                <a16:creationId xmlns:a16="http://schemas.microsoft.com/office/drawing/2014/main" id="{CAA73F18-35D5-4F17-9C58-A4E95F41A2DC}"/>
              </a:ext>
            </a:extLst>
          </p:cNvPr>
          <p:cNvCxnSpPr>
            <a:cxnSpLocks/>
          </p:cNvCxnSpPr>
          <p:nvPr/>
        </p:nvCxnSpPr>
        <p:spPr>
          <a:xfrm>
            <a:off x="5488064" y="5646271"/>
            <a:ext cx="152525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ector recto de flecha 75">
            <a:extLst>
              <a:ext uri="{FF2B5EF4-FFF2-40B4-BE49-F238E27FC236}">
                <a16:creationId xmlns:a16="http://schemas.microsoft.com/office/drawing/2014/main" id="{B017518A-1EB8-4227-9C3C-C7A333F00B8A}"/>
              </a:ext>
            </a:extLst>
          </p:cNvPr>
          <p:cNvCxnSpPr>
            <a:cxnSpLocks/>
          </p:cNvCxnSpPr>
          <p:nvPr/>
        </p:nvCxnSpPr>
        <p:spPr>
          <a:xfrm flipH="1">
            <a:off x="5441988" y="5436307"/>
            <a:ext cx="1573077" cy="91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recto de flecha 79">
            <a:extLst>
              <a:ext uri="{FF2B5EF4-FFF2-40B4-BE49-F238E27FC236}">
                <a16:creationId xmlns:a16="http://schemas.microsoft.com/office/drawing/2014/main" id="{96A91A9C-A3F8-4E0B-A2A3-5601262831AB}"/>
              </a:ext>
            </a:extLst>
          </p:cNvPr>
          <p:cNvCxnSpPr>
            <a:cxnSpLocks/>
          </p:cNvCxnSpPr>
          <p:nvPr/>
        </p:nvCxnSpPr>
        <p:spPr>
          <a:xfrm flipH="1" flipV="1">
            <a:off x="5340067" y="4036392"/>
            <a:ext cx="10868" cy="12748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ector recto de flecha 88">
            <a:extLst>
              <a:ext uri="{FF2B5EF4-FFF2-40B4-BE49-F238E27FC236}">
                <a16:creationId xmlns:a16="http://schemas.microsoft.com/office/drawing/2014/main" id="{9E9E4B5C-355B-4F10-BD24-D2B6724EF5E8}"/>
              </a:ext>
            </a:extLst>
          </p:cNvPr>
          <p:cNvCxnSpPr>
            <a:cxnSpLocks/>
          </p:cNvCxnSpPr>
          <p:nvPr/>
        </p:nvCxnSpPr>
        <p:spPr>
          <a:xfrm>
            <a:off x="5109700" y="4002100"/>
            <a:ext cx="0" cy="13422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onector recto de flecha 91">
            <a:extLst>
              <a:ext uri="{FF2B5EF4-FFF2-40B4-BE49-F238E27FC236}">
                <a16:creationId xmlns:a16="http://schemas.microsoft.com/office/drawing/2014/main" id="{12B6008D-AE7D-4033-9789-2730D4CE0AB9}"/>
              </a:ext>
            </a:extLst>
          </p:cNvPr>
          <p:cNvCxnSpPr>
            <a:cxnSpLocks/>
          </p:cNvCxnSpPr>
          <p:nvPr/>
        </p:nvCxnSpPr>
        <p:spPr>
          <a:xfrm flipV="1">
            <a:off x="7385062" y="3936113"/>
            <a:ext cx="8839" cy="14016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ector recto de flecha 92">
            <a:extLst>
              <a:ext uri="{FF2B5EF4-FFF2-40B4-BE49-F238E27FC236}">
                <a16:creationId xmlns:a16="http://schemas.microsoft.com/office/drawing/2014/main" id="{EAB0A120-C9E4-46AD-90D0-FC2D82399BE8}"/>
              </a:ext>
            </a:extLst>
          </p:cNvPr>
          <p:cNvCxnSpPr>
            <a:cxnSpLocks/>
          </p:cNvCxnSpPr>
          <p:nvPr/>
        </p:nvCxnSpPr>
        <p:spPr>
          <a:xfrm>
            <a:off x="7133763" y="3972779"/>
            <a:ext cx="0" cy="13422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2">
            <a:extLst>
              <a:ext uri="{FF2B5EF4-FFF2-40B4-BE49-F238E27FC236}">
                <a16:creationId xmlns:a16="http://schemas.microsoft.com/office/drawing/2014/main" id="{2AB9E3A3-EC30-A05E-1748-220E6E4F2CCC}"/>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Tree>
    <p:extLst>
      <p:ext uri="{BB962C8B-B14F-4D97-AF65-F5344CB8AC3E}">
        <p14:creationId xmlns:p14="http://schemas.microsoft.com/office/powerpoint/2010/main" val="2148265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94072" y="322916"/>
            <a:ext cx="11433330" cy="5816977"/>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Algunas características de los AF</a:t>
            </a:r>
          </a:p>
          <a:p>
            <a:endParaRPr lang="es-AR" b="1" u="sng" dirty="0">
              <a:latin typeface="Arial" panose="020B0604020202020204" pitchFamily="34" charset="0"/>
              <a:cs typeface="Arial" panose="020B0604020202020204" pitchFamily="34" charset="0"/>
            </a:endParaRPr>
          </a:p>
          <a:p>
            <a:endParaRPr lang="es-AR" b="1" u="sng"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Los AF </a:t>
            </a:r>
            <a:r>
              <a:rPr lang="es-AR" b="1" dirty="0">
                <a:latin typeface="Arial" panose="020B0604020202020204" pitchFamily="34" charset="0"/>
                <a:cs typeface="Arial" panose="020B0604020202020204" pitchFamily="34" charset="0"/>
              </a:rPr>
              <a:t>siempre paran.</a:t>
            </a:r>
          </a:p>
          <a:p>
            <a:endParaRPr lang="es-AR" sz="25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Aceptan un tipo limitado de cadenas </a:t>
            </a:r>
            <a:r>
              <a:rPr lang="es-AR" b="1" dirty="0">
                <a:latin typeface="Arial" panose="020B0604020202020204" pitchFamily="34" charset="0"/>
                <a:cs typeface="Arial" panose="020B0604020202020204" pitchFamily="34" charset="0"/>
              </a:rPr>
              <a:t>(no tienen memoria).</a:t>
            </a:r>
            <a:endParaRPr lang="es-AR" dirty="0">
              <a:latin typeface="Arial" panose="020B0604020202020204" pitchFamily="34" charset="0"/>
              <a:cs typeface="Arial" panose="020B0604020202020204" pitchFamily="34" charset="0"/>
            </a:endParaRPr>
          </a:p>
          <a:p>
            <a:pPr algn="just"/>
            <a:endParaRPr lang="es-AR" sz="700" b="1" dirty="0">
              <a:latin typeface="Arial" panose="020B0604020202020204" pitchFamily="34" charset="0"/>
              <a:cs typeface="Arial" panose="020B0604020202020204" pitchFamily="34" charset="0"/>
            </a:endParaRPr>
          </a:p>
          <a:p>
            <a:pPr marL="360000" algn="just"/>
            <a:r>
              <a:rPr lang="es-AR" dirty="0">
                <a:latin typeface="Arial" panose="020B0604020202020204" pitchFamily="34" charset="0"/>
                <a:cs typeface="Arial" panose="020B0604020202020204" pitchFamily="34" charset="0"/>
              </a:rPr>
              <a:t>No pueden aceptar cadenas con igual cantidad de </a:t>
            </a:r>
            <a:r>
              <a:rPr lang="es-AR" i="1" dirty="0">
                <a:latin typeface="Arial" panose="020B0604020202020204" pitchFamily="34" charset="0"/>
                <a:cs typeface="Arial" panose="020B0604020202020204" pitchFamily="34" charset="0"/>
              </a:rPr>
              <a:t>a</a:t>
            </a:r>
            <a:r>
              <a:rPr lang="es-AR" dirty="0">
                <a:latin typeface="Arial" panose="020B0604020202020204" pitchFamily="34" charset="0"/>
                <a:cs typeface="Arial" panose="020B0604020202020204" pitchFamily="34" charset="0"/>
              </a:rPr>
              <a:t> y b. </a:t>
            </a:r>
          </a:p>
          <a:p>
            <a:pPr marL="360000" algn="just"/>
            <a:r>
              <a:rPr lang="es-AR" dirty="0">
                <a:latin typeface="Arial" panose="020B0604020202020204" pitchFamily="34" charset="0"/>
                <a:cs typeface="Arial" panose="020B0604020202020204" pitchFamily="34" charset="0"/>
              </a:rPr>
              <a:t>No pueden chequear si una cadena es un palíndromo.</a:t>
            </a:r>
          </a:p>
          <a:p>
            <a:pPr marL="360000" algn="just"/>
            <a:r>
              <a:rPr lang="es-AR" dirty="0">
                <a:latin typeface="Arial" panose="020B0604020202020204" pitchFamily="34" charset="0"/>
                <a:cs typeface="Arial" panose="020B0604020202020204" pitchFamily="34" charset="0"/>
              </a:rPr>
              <a:t>Etc. (en general, no pueden calcular).</a:t>
            </a:r>
          </a:p>
          <a:p>
            <a:pPr algn="just"/>
            <a:endParaRPr lang="es-AR" sz="25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Los lenguajes que aceptan se llaman </a:t>
            </a:r>
            <a:r>
              <a:rPr lang="es-AR" b="1" dirty="0">
                <a:latin typeface="Arial" panose="020B0604020202020204" pitchFamily="34" charset="0"/>
                <a:cs typeface="Arial" panose="020B0604020202020204" pitchFamily="34" charset="0"/>
              </a:rPr>
              <a:t>regulares </a:t>
            </a:r>
            <a:r>
              <a:rPr lang="es-AR" dirty="0">
                <a:latin typeface="Arial" panose="020B0604020202020204" pitchFamily="34" charset="0"/>
                <a:cs typeface="Arial" panose="020B0604020202020204" pitchFamily="34" charset="0"/>
              </a:rPr>
              <a:t>o de </a:t>
            </a:r>
            <a:r>
              <a:rPr lang="es-AR" b="1" dirty="0">
                <a:latin typeface="Arial" panose="020B0604020202020204" pitchFamily="34" charset="0"/>
                <a:cs typeface="Arial" panose="020B0604020202020204" pitchFamily="34" charset="0"/>
              </a:rPr>
              <a:t>tipo 3</a:t>
            </a:r>
            <a:r>
              <a:rPr lang="es-AR" dirty="0">
                <a:latin typeface="Arial" panose="020B0604020202020204" pitchFamily="34" charset="0"/>
                <a:cs typeface="Arial" panose="020B0604020202020204" pitchFamily="34" charset="0"/>
              </a:rPr>
              <a:t>. </a:t>
            </a:r>
          </a:p>
          <a:p>
            <a:pPr algn="just"/>
            <a:endParaRPr lang="es-AR" sz="25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A diferencia de las MT generales, </a:t>
            </a:r>
            <a:r>
              <a:rPr lang="es-AR" b="1" dirty="0">
                <a:latin typeface="Arial" panose="020B0604020202020204" pitchFamily="34" charset="0"/>
                <a:cs typeface="Arial" panose="020B0604020202020204" pitchFamily="34" charset="0"/>
              </a:rPr>
              <a:t>pueden decidir</a:t>
            </a:r>
            <a:r>
              <a:rPr lang="es-AR" dirty="0">
                <a:latin typeface="Arial" panose="020B0604020202020204" pitchFamily="34" charset="0"/>
                <a:cs typeface="Arial" panose="020B0604020202020204" pitchFamily="34" charset="0"/>
              </a:rPr>
              <a:t>:</a:t>
            </a:r>
          </a:p>
          <a:p>
            <a:pPr algn="just"/>
            <a:endParaRPr lang="es-AR" sz="700" dirty="0">
              <a:latin typeface="Arial" panose="020B0604020202020204" pitchFamily="34" charset="0"/>
              <a:cs typeface="Arial" panose="020B0604020202020204" pitchFamily="34" charset="0"/>
            </a:endParaRPr>
          </a:p>
          <a:p>
            <a:pPr marL="377100" lvl="1" algn="just"/>
            <a:r>
              <a:rPr lang="es-ES" dirty="0">
                <a:latin typeface="Arial" panose="020B0604020202020204" pitchFamily="34" charset="0"/>
                <a:cs typeface="Arial" panose="020B0604020202020204" pitchFamily="34" charset="0"/>
              </a:rPr>
              <a:t>¿w </a:t>
            </a:r>
            <a:r>
              <a:rPr lang="es-AR"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L(M)?</a:t>
            </a:r>
          </a:p>
          <a:p>
            <a:pPr marL="377100" lvl="1" algn="just"/>
            <a:r>
              <a:rPr lang="es-AR" dirty="0">
                <a:latin typeface="Arial" panose="020B0604020202020204" pitchFamily="34" charset="0"/>
                <a:cs typeface="Arial" panose="020B0604020202020204" pitchFamily="34" charset="0"/>
              </a:rPr>
              <a:t>¿L(M) = </a:t>
            </a:r>
            <a:r>
              <a:rPr lang="es-AR" dirty="0">
                <a:latin typeface="Arial" panose="020B0604020202020204" pitchFamily="34" charset="0"/>
                <a:cs typeface="Arial" panose="020B0604020202020204" pitchFamily="34" charset="0"/>
                <a:sym typeface="Symbol" panose="05050102010706020507" pitchFamily="18" charset="2"/>
              </a:rPr>
              <a:t></a:t>
            </a:r>
            <a:r>
              <a:rPr lang="es-AR" dirty="0">
                <a:latin typeface="Arial" panose="020B0604020202020204" pitchFamily="34" charset="0"/>
                <a:cs typeface="Arial" panose="020B0604020202020204" pitchFamily="34" charset="0"/>
              </a:rPr>
              <a:t>?</a:t>
            </a:r>
          </a:p>
          <a:p>
            <a:pPr marL="377100" lvl="1" algn="just"/>
            <a:r>
              <a:rPr lang="es-AR" dirty="0">
                <a:latin typeface="Arial" panose="020B0604020202020204" pitchFamily="34" charset="0"/>
                <a:cs typeface="Arial" panose="020B0604020202020204" pitchFamily="34" charset="0"/>
              </a:rPr>
              <a:t>¿L(M) = Ʃ*?</a:t>
            </a:r>
          </a:p>
          <a:p>
            <a:pPr marL="377100" lvl="1" algn="just"/>
            <a:r>
              <a:rPr lang="es-AR" dirty="0">
                <a:latin typeface="Arial" panose="020B0604020202020204" pitchFamily="34" charset="0"/>
                <a:cs typeface="Arial" panose="020B0604020202020204" pitchFamily="34" charset="0"/>
              </a:rPr>
              <a:t>¿L(M</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 L(M</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a:t>
            </a:r>
          </a:p>
          <a:p>
            <a:pPr marL="377100" lvl="1" algn="just"/>
            <a:endParaRPr lang="es-AR"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endParaRPr lang="es-AR" sz="700" b="1" dirty="0">
              <a:latin typeface="Arial" panose="020B0604020202020204" pitchFamily="34" charset="0"/>
              <a:cs typeface="Arial" panose="020B0604020202020204" pitchFamily="34" charset="0"/>
            </a:endParaRPr>
          </a:p>
        </p:txBody>
      </p:sp>
      <p:sp>
        <p:nvSpPr>
          <p:cNvPr id="2" name="Slide Number Placeholder 2">
            <a:extLst>
              <a:ext uri="{FF2B5EF4-FFF2-40B4-BE49-F238E27FC236}">
                <a16:creationId xmlns:a16="http://schemas.microsoft.com/office/drawing/2014/main" id="{211304E6-10A1-0067-0CDB-F332CF532CCC}"/>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F5794D42-6857-275A-5B1B-3680DEECCDD0}"/>
              </a:ext>
            </a:extLst>
          </p:cNvPr>
          <p:cNvSpPr/>
          <p:nvPr/>
        </p:nvSpPr>
        <p:spPr>
          <a:xfrm>
            <a:off x="9103340" y="3203378"/>
            <a:ext cx="686406"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tipo 3</a:t>
            </a:r>
            <a:endParaRPr lang="es-MX" sz="1600" dirty="0"/>
          </a:p>
        </p:txBody>
      </p:sp>
      <p:sp>
        <p:nvSpPr>
          <p:cNvPr id="4" name="Rectángulo 3">
            <a:extLst>
              <a:ext uri="{FF2B5EF4-FFF2-40B4-BE49-F238E27FC236}">
                <a16:creationId xmlns:a16="http://schemas.microsoft.com/office/drawing/2014/main" id="{F86FE0B6-29AA-02F0-4E98-209BE44D63DF}"/>
              </a:ext>
            </a:extLst>
          </p:cNvPr>
          <p:cNvSpPr/>
          <p:nvPr/>
        </p:nvSpPr>
        <p:spPr>
          <a:xfrm>
            <a:off x="9103340" y="2834047"/>
            <a:ext cx="686406"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tipo 2</a:t>
            </a:r>
            <a:endParaRPr lang="es-MX" sz="1600" dirty="0"/>
          </a:p>
        </p:txBody>
      </p:sp>
      <p:sp>
        <p:nvSpPr>
          <p:cNvPr id="6" name="Rectángulo 5">
            <a:extLst>
              <a:ext uri="{FF2B5EF4-FFF2-40B4-BE49-F238E27FC236}">
                <a16:creationId xmlns:a16="http://schemas.microsoft.com/office/drawing/2014/main" id="{D410B090-1DE0-7A9A-D86D-7B5E924C44C4}"/>
              </a:ext>
            </a:extLst>
          </p:cNvPr>
          <p:cNvSpPr/>
          <p:nvPr/>
        </p:nvSpPr>
        <p:spPr>
          <a:xfrm>
            <a:off x="9064568" y="2066606"/>
            <a:ext cx="755335" cy="584775"/>
          </a:xfrm>
          <a:prstGeom prst="rect">
            <a:avLst/>
          </a:prstGeom>
        </p:spPr>
        <p:txBody>
          <a:bodyPr wrap="none">
            <a:spAutoFit/>
          </a:bodyPr>
          <a:lstStyle/>
          <a:p>
            <a:r>
              <a:rPr lang="es-AR" sz="3200" dirty="0">
                <a:latin typeface="Arial" panose="020B0604020202020204" pitchFamily="34" charset="0"/>
                <a:cs typeface="Arial" panose="020B0604020202020204" pitchFamily="34" charset="0"/>
              </a:rPr>
              <a:t>RE</a:t>
            </a:r>
            <a:endParaRPr lang="es-MX" sz="3200" dirty="0"/>
          </a:p>
        </p:txBody>
      </p:sp>
      <p:sp>
        <p:nvSpPr>
          <p:cNvPr id="7" name="Diagrama de flujo: conector 6">
            <a:extLst>
              <a:ext uri="{FF2B5EF4-FFF2-40B4-BE49-F238E27FC236}">
                <a16:creationId xmlns:a16="http://schemas.microsoft.com/office/drawing/2014/main" id="{9D4E1073-4692-5999-A06D-D211EC3780F5}"/>
              </a:ext>
            </a:extLst>
          </p:cNvPr>
          <p:cNvSpPr/>
          <p:nvPr/>
        </p:nvSpPr>
        <p:spPr>
          <a:xfrm>
            <a:off x="8161448" y="2758627"/>
            <a:ext cx="2688062" cy="2800402"/>
          </a:xfrm>
          <a:prstGeom prst="flowChartConnector">
            <a:avLst/>
          </a:prstGeom>
          <a:solidFill>
            <a:schemeClr val="accent4">
              <a:lumMod val="20000"/>
              <a:lumOff val="80000"/>
            </a:schemeClr>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Diagrama de flujo: conector 10">
            <a:extLst>
              <a:ext uri="{FF2B5EF4-FFF2-40B4-BE49-F238E27FC236}">
                <a16:creationId xmlns:a16="http://schemas.microsoft.com/office/drawing/2014/main" id="{BF9D89A4-7545-DEEB-221F-BA83AF622942}"/>
              </a:ext>
            </a:extLst>
          </p:cNvPr>
          <p:cNvSpPr/>
          <p:nvPr/>
        </p:nvSpPr>
        <p:spPr>
          <a:xfrm>
            <a:off x="8733033" y="3649178"/>
            <a:ext cx="1654139" cy="1724205"/>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Diagrama de flujo: conector 11">
            <a:extLst>
              <a:ext uri="{FF2B5EF4-FFF2-40B4-BE49-F238E27FC236}">
                <a16:creationId xmlns:a16="http://schemas.microsoft.com/office/drawing/2014/main" id="{850B234F-989E-F5A9-85D4-FEDD18D8657B}"/>
              </a:ext>
            </a:extLst>
          </p:cNvPr>
          <p:cNvSpPr/>
          <p:nvPr/>
        </p:nvSpPr>
        <p:spPr>
          <a:xfrm>
            <a:off x="7442685" y="1959359"/>
            <a:ext cx="4095194" cy="374797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75F2B78D-1C84-BEC2-AB5E-5D34ACE0FD52}"/>
              </a:ext>
            </a:extLst>
          </p:cNvPr>
          <p:cNvSpPr/>
          <p:nvPr/>
        </p:nvSpPr>
        <p:spPr>
          <a:xfrm>
            <a:off x="9239299" y="2888384"/>
            <a:ext cx="407484"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R</a:t>
            </a:r>
            <a:endParaRPr lang="es-MX" sz="2400" dirty="0"/>
          </a:p>
        </p:txBody>
      </p:sp>
      <p:sp>
        <p:nvSpPr>
          <p:cNvPr id="15" name="Rectángulo 14">
            <a:extLst>
              <a:ext uri="{FF2B5EF4-FFF2-40B4-BE49-F238E27FC236}">
                <a16:creationId xmlns:a16="http://schemas.microsoft.com/office/drawing/2014/main" id="{FAB32993-3DBF-D623-521F-77275A460E53}"/>
              </a:ext>
            </a:extLst>
          </p:cNvPr>
          <p:cNvSpPr/>
          <p:nvPr/>
        </p:nvSpPr>
        <p:spPr>
          <a:xfrm>
            <a:off x="8965653" y="4218892"/>
            <a:ext cx="1188898" cy="584775"/>
          </a:xfrm>
          <a:prstGeom prst="rect">
            <a:avLst/>
          </a:prstGeom>
        </p:spPr>
        <p:txBody>
          <a:bodyPr wrap="square">
            <a:spAutoFit/>
          </a:bodyPr>
          <a:lstStyle/>
          <a:p>
            <a:pPr algn="ctr"/>
            <a:r>
              <a:rPr lang="es-AR" sz="1600" b="1" dirty="0">
                <a:solidFill>
                  <a:srgbClr val="00B050"/>
                </a:solidFill>
                <a:latin typeface="Arial" panose="020B0604020202020204" pitchFamily="34" charset="0"/>
                <a:cs typeface="Arial" panose="020B0604020202020204" pitchFamily="34" charset="0"/>
              </a:rPr>
              <a:t>Lenguajes</a:t>
            </a:r>
          </a:p>
          <a:p>
            <a:pPr algn="ctr"/>
            <a:r>
              <a:rPr lang="es-AR" sz="1600" b="1" dirty="0">
                <a:solidFill>
                  <a:srgbClr val="00B050"/>
                </a:solidFill>
                <a:latin typeface="Arial" panose="020B0604020202020204" pitchFamily="34" charset="0"/>
                <a:cs typeface="Arial" panose="020B0604020202020204" pitchFamily="34" charset="0"/>
              </a:rPr>
              <a:t>regulares</a:t>
            </a:r>
            <a:endParaRPr lang="es-MX" sz="1600" b="1" dirty="0">
              <a:solidFill>
                <a:srgbClr val="00B050"/>
              </a:solidFill>
            </a:endParaRPr>
          </a:p>
        </p:txBody>
      </p:sp>
    </p:spTree>
    <p:extLst>
      <p:ext uri="{BB962C8B-B14F-4D97-AF65-F5344CB8AC3E}">
        <p14:creationId xmlns:p14="http://schemas.microsoft.com/office/powerpoint/2010/main" val="4020536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343805" y="197344"/>
            <a:ext cx="11605186" cy="5509200"/>
          </a:xfrm>
          <a:prstGeom prst="rect">
            <a:avLst/>
          </a:prstGeom>
        </p:spPr>
        <p:txBody>
          <a:bodyPr wrap="square">
            <a:spAutoFit/>
          </a:bodyPr>
          <a:lstStyle/>
          <a:p>
            <a:r>
              <a:rPr lang="es-AR" b="1" dirty="0">
                <a:solidFill>
                  <a:srgbClr val="0070C0"/>
                </a:solidFill>
                <a:latin typeface="Arial" panose="020B0604020202020204" pitchFamily="34" charset="0"/>
                <a:cs typeface="Arial" panose="020B0604020202020204" pitchFamily="34" charset="0"/>
              </a:rPr>
              <a:t>AUTÓMATAS CON PILA (AP)</a:t>
            </a:r>
          </a:p>
          <a:p>
            <a:endParaRPr lang="es-AR"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Una cinta de input de sólo lectura.</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Una cinta de lectura/escritura que se comporta como una pila.</a:t>
            </a:r>
          </a:p>
          <a:p>
            <a:pPr marL="342900" indent="-342900" algn="just">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En un paso se pueden procesar las dos cintas.</a:t>
            </a:r>
          </a:p>
          <a:p>
            <a:pPr marL="342900" indent="-342900" algn="just">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En la cinta de entrada siempre se va a la derecha. </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Cuando se alcanza el símbolo B (blanco) en la cinta de entrada, el AP para (acepta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la pila está vacía). </a:t>
            </a: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Problemas típicos que resuelve un AP:</a:t>
            </a:r>
          </a:p>
          <a:p>
            <a:pPr marL="342900" indent="-342900" algn="just">
              <a:buFont typeface="Arial" panose="020B0604020202020204" pitchFamily="34" charset="0"/>
              <a:buChar char="•"/>
            </a:pPr>
            <a:endParaRPr lang="es-AR" sz="12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s-AR" sz="400"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r>
              <a:rPr lang="es-AR" b="1" dirty="0">
                <a:latin typeface="Arial" panose="020B0604020202020204" pitchFamily="34" charset="0"/>
                <a:cs typeface="Arial" panose="020B0604020202020204" pitchFamily="34" charset="0"/>
              </a:rPr>
              <a:t>Análisis sintáctico a nivel instrucción </a:t>
            </a:r>
            <a:r>
              <a:rPr lang="es-AR" dirty="0">
                <a:latin typeface="Arial" panose="020B0604020202020204" pitchFamily="34" charset="0"/>
                <a:cs typeface="Arial" panose="020B0604020202020204" pitchFamily="34" charset="0"/>
              </a:rPr>
              <a:t>de los compiladores.</a:t>
            </a:r>
          </a:p>
          <a:p>
            <a:pPr marL="720000" lvl="1" indent="-342900" algn="just">
              <a:buFont typeface="Courier New" panose="02070309020205020404" pitchFamily="49" charset="0"/>
              <a:buChar char="o"/>
            </a:pPr>
            <a:endParaRPr lang="es-AR"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r>
              <a:rPr lang="es-AR" b="1" dirty="0">
                <a:latin typeface="Arial" panose="020B0604020202020204" pitchFamily="34" charset="0"/>
                <a:cs typeface="Arial" panose="020B0604020202020204" pitchFamily="34" charset="0"/>
              </a:rPr>
              <a:t>Evaluación de expresiones </a:t>
            </a:r>
            <a:r>
              <a:rPr lang="es-AR" dirty="0">
                <a:latin typeface="Arial" panose="020B0604020202020204" pitchFamily="34" charset="0"/>
                <a:cs typeface="Arial" panose="020B0604020202020204" pitchFamily="34" charset="0"/>
              </a:rPr>
              <a:t>en la ejecución de programas.</a:t>
            </a:r>
            <a:endParaRPr lang="es-AR" b="1" dirty="0">
              <a:latin typeface="Arial" panose="020B0604020202020204" pitchFamily="34" charset="0"/>
              <a:cs typeface="Arial" panose="020B0604020202020204" pitchFamily="34" charset="0"/>
            </a:endParaRPr>
          </a:p>
          <a:p>
            <a:pPr marL="720000" lvl="1" indent="-342900" algn="just">
              <a:buFont typeface="Courier New" panose="02070309020205020404" pitchFamily="49" charset="0"/>
              <a:buChar char="o"/>
            </a:pPr>
            <a:endParaRPr lang="es-AR" sz="1200" b="1" dirty="0">
              <a:latin typeface="Arial" panose="020B0604020202020204" pitchFamily="34" charset="0"/>
              <a:cs typeface="Arial" panose="020B0604020202020204" pitchFamily="34" charset="0"/>
            </a:endParaRPr>
          </a:p>
        </p:txBody>
      </p:sp>
      <p:sp>
        <p:nvSpPr>
          <p:cNvPr id="2" name="Rectángulo 1">
            <a:extLst>
              <a:ext uri="{FF2B5EF4-FFF2-40B4-BE49-F238E27FC236}">
                <a16:creationId xmlns:a16="http://schemas.microsoft.com/office/drawing/2014/main" id="{F94C8A76-AEEA-3014-88DD-B92E0AFA1999}"/>
              </a:ext>
            </a:extLst>
          </p:cNvPr>
          <p:cNvSpPr/>
          <p:nvPr/>
        </p:nvSpPr>
        <p:spPr>
          <a:xfrm>
            <a:off x="8336724" y="4145348"/>
            <a:ext cx="2466089"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0 0 1 a 1 0 b c 1 a 0 </a:t>
            </a:r>
            <a:r>
              <a:rPr lang="es-AR" b="1" dirty="0">
                <a:solidFill>
                  <a:srgbClr val="0070C0"/>
                </a:solidFill>
                <a:latin typeface="Arial" panose="020B0604020202020204" pitchFamily="34" charset="0"/>
                <a:cs typeface="Arial" panose="020B0604020202020204" pitchFamily="34" charset="0"/>
              </a:rPr>
              <a:t>B</a:t>
            </a:r>
            <a:r>
              <a:rPr lang="es-AR" dirty="0">
                <a:solidFill>
                  <a:srgbClr val="0070C0"/>
                </a:solidFill>
                <a:latin typeface="Arial" panose="020B0604020202020204" pitchFamily="34" charset="0"/>
                <a:cs typeface="Arial" panose="020B0604020202020204" pitchFamily="34" charset="0"/>
              </a:rPr>
              <a:t> </a:t>
            </a:r>
            <a:endParaRPr lang="es-MX" dirty="0">
              <a:solidFill>
                <a:srgbClr val="0070C0"/>
              </a:solidFill>
            </a:endParaRPr>
          </a:p>
        </p:txBody>
      </p:sp>
      <p:sp>
        <p:nvSpPr>
          <p:cNvPr id="3" name="Rectángulo 2">
            <a:extLst>
              <a:ext uri="{FF2B5EF4-FFF2-40B4-BE49-F238E27FC236}">
                <a16:creationId xmlns:a16="http://schemas.microsoft.com/office/drawing/2014/main" id="{F7963A9B-EF3A-648F-C94F-AE7C080DF2BB}"/>
              </a:ext>
            </a:extLst>
          </p:cNvPr>
          <p:cNvSpPr/>
          <p:nvPr/>
        </p:nvSpPr>
        <p:spPr>
          <a:xfrm>
            <a:off x="11218989" y="5536681"/>
            <a:ext cx="325730" cy="369332"/>
          </a:xfrm>
          <a:prstGeom prst="rect">
            <a:avLst/>
          </a:prstGeom>
        </p:spPr>
        <p:txBody>
          <a:bodyPr wrap="none">
            <a:spAutoFit/>
          </a:bodyPr>
          <a:lstStyle/>
          <a:p>
            <a:r>
              <a:rPr lang="es-MX" b="1" dirty="0">
                <a:solidFill>
                  <a:srgbClr val="0070C0"/>
                </a:solidFill>
                <a:latin typeface="Arial" panose="020B0604020202020204" pitchFamily="34" charset="0"/>
                <a:cs typeface="Arial" panose="020B0604020202020204" pitchFamily="34" charset="0"/>
              </a:rPr>
              <a:t>Z</a:t>
            </a:r>
          </a:p>
        </p:txBody>
      </p:sp>
      <p:sp>
        <p:nvSpPr>
          <p:cNvPr id="5" name="Rectángulo 4">
            <a:extLst>
              <a:ext uri="{FF2B5EF4-FFF2-40B4-BE49-F238E27FC236}">
                <a16:creationId xmlns:a16="http://schemas.microsoft.com/office/drawing/2014/main" id="{F9896789-BE30-9C97-5997-DDCDD0F6C167}"/>
              </a:ext>
            </a:extLst>
          </p:cNvPr>
          <p:cNvSpPr/>
          <p:nvPr/>
        </p:nvSpPr>
        <p:spPr>
          <a:xfrm>
            <a:off x="11185328" y="5189392"/>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6" name="Rectángulo 5">
            <a:extLst>
              <a:ext uri="{FF2B5EF4-FFF2-40B4-BE49-F238E27FC236}">
                <a16:creationId xmlns:a16="http://schemas.microsoft.com/office/drawing/2014/main" id="{34254B39-84B9-6053-1D54-113223301865}"/>
              </a:ext>
            </a:extLst>
          </p:cNvPr>
          <p:cNvSpPr/>
          <p:nvPr/>
        </p:nvSpPr>
        <p:spPr>
          <a:xfrm>
            <a:off x="11176540" y="4834821"/>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7" name="Rectángulo 6">
            <a:extLst>
              <a:ext uri="{FF2B5EF4-FFF2-40B4-BE49-F238E27FC236}">
                <a16:creationId xmlns:a16="http://schemas.microsoft.com/office/drawing/2014/main" id="{D17375EC-F729-EE5D-8240-7292D91D3E7A}"/>
              </a:ext>
            </a:extLst>
          </p:cNvPr>
          <p:cNvSpPr/>
          <p:nvPr/>
        </p:nvSpPr>
        <p:spPr>
          <a:xfrm>
            <a:off x="11151811" y="4514030"/>
            <a:ext cx="351378" cy="1477328"/>
          </a:xfrm>
          <a:prstGeom prst="rect">
            <a:avLst/>
          </a:prstGeom>
        </p:spPr>
        <p:txBody>
          <a:bodyPr wrap="none">
            <a:spAutoFit/>
          </a:bodyPr>
          <a:lstStyle/>
          <a:p>
            <a:r>
              <a:rPr lang="es-AR" dirty="0">
                <a:latin typeface="Arial" panose="020B0604020202020204" pitchFamily="34" charset="0"/>
                <a:cs typeface="Arial" panose="020B0604020202020204" pitchFamily="34" charset="0"/>
              </a:rPr>
              <a:t>U</a:t>
            </a: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MX" dirty="0"/>
          </a:p>
        </p:txBody>
      </p:sp>
      <p:cxnSp>
        <p:nvCxnSpPr>
          <p:cNvPr id="9" name="Conector recto de flecha 8">
            <a:extLst>
              <a:ext uri="{FF2B5EF4-FFF2-40B4-BE49-F238E27FC236}">
                <a16:creationId xmlns:a16="http://schemas.microsoft.com/office/drawing/2014/main" id="{650DF0B3-98EB-E0FA-7FA0-A1487553E9E7}"/>
              </a:ext>
            </a:extLst>
          </p:cNvPr>
          <p:cNvCxnSpPr>
            <a:cxnSpLocks/>
          </p:cNvCxnSpPr>
          <p:nvPr/>
        </p:nvCxnSpPr>
        <p:spPr>
          <a:xfrm flipV="1">
            <a:off x="9620005" y="5041338"/>
            <a:ext cx="1516533" cy="7290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7F2A254A-BDD5-B443-F52C-96F31CAACBD4}"/>
              </a:ext>
            </a:extLst>
          </p:cNvPr>
          <p:cNvCxnSpPr>
            <a:cxnSpLocks/>
          </p:cNvCxnSpPr>
          <p:nvPr/>
        </p:nvCxnSpPr>
        <p:spPr>
          <a:xfrm flipV="1">
            <a:off x="11145923" y="4350670"/>
            <a:ext cx="0" cy="15270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F563327F-DB38-E8BF-E687-FC674F680B16}"/>
              </a:ext>
            </a:extLst>
          </p:cNvPr>
          <p:cNvCxnSpPr>
            <a:cxnSpLocks/>
          </p:cNvCxnSpPr>
          <p:nvPr/>
        </p:nvCxnSpPr>
        <p:spPr>
          <a:xfrm>
            <a:off x="8384071" y="4136501"/>
            <a:ext cx="2402641" cy="176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803E82C7-DEDD-7B60-A98F-6CFAB450CA9D}"/>
              </a:ext>
            </a:extLst>
          </p:cNvPr>
          <p:cNvCxnSpPr>
            <a:cxnSpLocks/>
          </p:cNvCxnSpPr>
          <p:nvPr/>
        </p:nvCxnSpPr>
        <p:spPr>
          <a:xfrm flipV="1">
            <a:off x="9600614" y="4505183"/>
            <a:ext cx="412419" cy="12869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7F21BAF5-6E1C-237F-9BE6-76B7C457398A}"/>
              </a:ext>
            </a:extLst>
          </p:cNvPr>
          <p:cNvCxnSpPr>
            <a:cxnSpLocks/>
          </p:cNvCxnSpPr>
          <p:nvPr/>
        </p:nvCxnSpPr>
        <p:spPr>
          <a:xfrm>
            <a:off x="8384071" y="3888898"/>
            <a:ext cx="242012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3" name="Slide Number Placeholder 2">
            <a:extLst>
              <a:ext uri="{FF2B5EF4-FFF2-40B4-BE49-F238E27FC236}">
                <a16:creationId xmlns:a16="http://schemas.microsoft.com/office/drawing/2014/main" id="{574347F6-6638-57E7-2A77-22076BFDFB19}"/>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5" name="CuadroTexto 14">
            <a:extLst>
              <a:ext uri="{FF2B5EF4-FFF2-40B4-BE49-F238E27FC236}">
                <a16:creationId xmlns:a16="http://schemas.microsoft.com/office/drawing/2014/main" id="{22C6B163-CFAF-BF6A-6B88-DEC48C61843A}"/>
              </a:ext>
            </a:extLst>
          </p:cNvPr>
          <p:cNvSpPr txBox="1"/>
          <p:nvPr/>
        </p:nvSpPr>
        <p:spPr>
          <a:xfrm>
            <a:off x="8298279" y="4480877"/>
            <a:ext cx="2044577" cy="307777"/>
          </a:xfrm>
          <a:prstGeom prst="rect">
            <a:avLst/>
          </a:prstGeom>
          <a:noFill/>
        </p:spPr>
        <p:txBody>
          <a:bodyPr wrap="square">
            <a:spAutoFit/>
          </a:bodyPr>
          <a:lstStyle/>
          <a:p>
            <a:r>
              <a:rPr lang="es-ES" sz="1400" dirty="0">
                <a:latin typeface="Arial" panose="020B0604020202020204" pitchFamily="34" charset="0"/>
                <a:cs typeface="Arial" panose="020B0604020202020204" pitchFamily="34" charset="0"/>
              </a:rPr>
              <a:t>e</a:t>
            </a:r>
            <a:r>
              <a:rPr lang="es-AR" sz="1400" dirty="0" err="1">
                <a:latin typeface="Arial" panose="020B0604020202020204" pitchFamily="34" charset="0"/>
                <a:cs typeface="Arial" panose="020B0604020202020204" pitchFamily="34" charset="0"/>
              </a:rPr>
              <a:t>ntrada</a:t>
            </a:r>
            <a:endParaRPr lang="es-AR" sz="1400" dirty="0"/>
          </a:p>
        </p:txBody>
      </p:sp>
      <p:sp>
        <p:nvSpPr>
          <p:cNvPr id="17" name="CuadroTexto 16">
            <a:extLst>
              <a:ext uri="{FF2B5EF4-FFF2-40B4-BE49-F238E27FC236}">
                <a16:creationId xmlns:a16="http://schemas.microsoft.com/office/drawing/2014/main" id="{D8DD8823-EF8B-BF46-ADFC-3B6F2D2328A8}"/>
              </a:ext>
            </a:extLst>
          </p:cNvPr>
          <p:cNvSpPr txBox="1"/>
          <p:nvPr/>
        </p:nvSpPr>
        <p:spPr>
          <a:xfrm>
            <a:off x="11162788" y="5832189"/>
            <a:ext cx="786203" cy="307777"/>
          </a:xfrm>
          <a:prstGeom prst="rect">
            <a:avLst/>
          </a:prstGeom>
          <a:noFill/>
        </p:spPr>
        <p:txBody>
          <a:bodyPr wrap="square">
            <a:spAutoFit/>
          </a:bodyPr>
          <a:lstStyle/>
          <a:p>
            <a:r>
              <a:rPr lang="es-ES" sz="1400" dirty="0">
                <a:latin typeface="Arial" panose="020B0604020202020204" pitchFamily="34" charset="0"/>
                <a:cs typeface="Arial" panose="020B0604020202020204" pitchFamily="34" charset="0"/>
              </a:rPr>
              <a:t>p</a:t>
            </a:r>
            <a:r>
              <a:rPr lang="es-AR" sz="1400" dirty="0" err="1">
                <a:latin typeface="Arial" panose="020B0604020202020204" pitchFamily="34" charset="0"/>
                <a:cs typeface="Arial" panose="020B0604020202020204" pitchFamily="34" charset="0"/>
              </a:rPr>
              <a:t>ila</a:t>
            </a:r>
            <a:endParaRPr lang="es-AR" sz="1400" dirty="0"/>
          </a:p>
        </p:txBody>
      </p:sp>
      <p:cxnSp>
        <p:nvCxnSpPr>
          <p:cNvPr id="24" name="Conector recto 23">
            <a:extLst>
              <a:ext uri="{FF2B5EF4-FFF2-40B4-BE49-F238E27FC236}">
                <a16:creationId xmlns:a16="http://schemas.microsoft.com/office/drawing/2014/main" id="{712D9FBE-8C10-3E51-33B7-A4007E9FB092}"/>
              </a:ext>
            </a:extLst>
          </p:cNvPr>
          <p:cNvCxnSpPr>
            <a:cxnSpLocks/>
          </p:cNvCxnSpPr>
          <p:nvPr/>
        </p:nvCxnSpPr>
        <p:spPr>
          <a:xfrm>
            <a:off x="8402045" y="4496336"/>
            <a:ext cx="2402641" cy="176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6737036-7407-1BCA-B923-98952BD1B71F}"/>
              </a:ext>
            </a:extLst>
          </p:cNvPr>
          <p:cNvCxnSpPr>
            <a:cxnSpLocks/>
          </p:cNvCxnSpPr>
          <p:nvPr/>
        </p:nvCxnSpPr>
        <p:spPr>
          <a:xfrm flipV="1">
            <a:off x="11575264" y="4378926"/>
            <a:ext cx="0" cy="15270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ángulo 28">
            <a:extLst>
              <a:ext uri="{FF2B5EF4-FFF2-40B4-BE49-F238E27FC236}">
                <a16:creationId xmlns:a16="http://schemas.microsoft.com/office/drawing/2014/main" id="{883FA65B-3266-7F2D-F283-4D5A34AECB20}"/>
              </a:ext>
            </a:extLst>
          </p:cNvPr>
          <p:cNvSpPr/>
          <p:nvPr/>
        </p:nvSpPr>
        <p:spPr>
          <a:xfrm>
            <a:off x="9477687" y="5770634"/>
            <a:ext cx="373820" cy="369332"/>
          </a:xfrm>
          <a:prstGeom prst="rect">
            <a:avLst/>
          </a:prstGeom>
        </p:spPr>
        <p:txBody>
          <a:bodyPr wrap="square">
            <a:spAutoFit/>
          </a:bodyPr>
          <a:lstStyle/>
          <a:p>
            <a:r>
              <a:rPr lang="es-MX" dirty="0"/>
              <a:t>q</a:t>
            </a:r>
            <a:endParaRPr lang="es-MX" b="1" dirty="0"/>
          </a:p>
        </p:txBody>
      </p:sp>
      <p:sp>
        <p:nvSpPr>
          <p:cNvPr id="30" name="Diagrama de flujo: proceso 29">
            <a:extLst>
              <a:ext uri="{FF2B5EF4-FFF2-40B4-BE49-F238E27FC236}">
                <a16:creationId xmlns:a16="http://schemas.microsoft.com/office/drawing/2014/main" id="{DB017EF6-BA63-37DE-8C8F-D9EFC48B7EF3}"/>
              </a:ext>
            </a:extLst>
          </p:cNvPr>
          <p:cNvSpPr/>
          <p:nvPr/>
        </p:nvSpPr>
        <p:spPr>
          <a:xfrm>
            <a:off x="9463259" y="5792135"/>
            <a:ext cx="402675" cy="4161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508520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C31391D-A8BB-465E-8422-D34B001A0CD6}"/>
              </a:ext>
            </a:extLst>
          </p:cNvPr>
          <p:cNvSpPr/>
          <p:nvPr/>
        </p:nvSpPr>
        <p:spPr>
          <a:xfrm>
            <a:off x="304800" y="200613"/>
            <a:ext cx="11582400" cy="2246769"/>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Ejemplo</a:t>
            </a:r>
          </a:p>
          <a:p>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Reconocimiento de cadenas </a:t>
            </a:r>
            <a:r>
              <a:rPr lang="es-AR" b="1" dirty="0" err="1">
                <a:latin typeface="Arial" panose="020B0604020202020204" pitchFamily="34" charset="0"/>
                <a:cs typeface="Arial" panose="020B0604020202020204" pitchFamily="34" charset="0"/>
              </a:rPr>
              <a:t>waw</a:t>
            </a:r>
            <a:r>
              <a:rPr lang="es-AR" b="1" baseline="30000" dirty="0" err="1">
                <a:latin typeface="Arial" panose="020B0604020202020204" pitchFamily="34" charset="0"/>
                <a:cs typeface="Arial" panose="020B0604020202020204" pitchFamily="34" charset="0"/>
              </a:rPr>
              <a:t>C</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tales que w tiene 0 y 1 y </a:t>
            </a:r>
            <a:r>
              <a:rPr lang="es-AR" dirty="0" err="1">
                <a:latin typeface="Arial" panose="020B0604020202020204" pitchFamily="34" charset="0"/>
                <a:cs typeface="Arial" panose="020B0604020202020204" pitchFamily="34" charset="0"/>
              </a:rPr>
              <a:t>w</a:t>
            </a:r>
            <a:r>
              <a:rPr lang="es-AR" baseline="30000" dirty="0" err="1">
                <a:latin typeface="Arial" panose="020B0604020202020204" pitchFamily="34" charset="0"/>
                <a:cs typeface="Arial" panose="020B0604020202020204" pitchFamily="34" charset="0"/>
              </a:rPr>
              <a:t>C</a:t>
            </a:r>
            <a:r>
              <a:rPr lang="es-AR" baseline="30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es la inversa de w. </a:t>
            </a:r>
          </a:p>
          <a:p>
            <a:endParaRPr lang="es-AR" sz="9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endParaRPr lang="es-AR"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s-MX" sz="24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618D433A-FD3F-4DF1-9041-B328EB7C3C82}"/>
              </a:ext>
            </a:extLst>
          </p:cNvPr>
          <p:cNvSpPr/>
          <p:nvPr/>
        </p:nvSpPr>
        <p:spPr>
          <a:xfrm>
            <a:off x="2173408" y="1220960"/>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16" name="Rectángulo 15">
            <a:extLst>
              <a:ext uri="{FF2B5EF4-FFF2-40B4-BE49-F238E27FC236}">
                <a16:creationId xmlns:a16="http://schemas.microsoft.com/office/drawing/2014/main" id="{6951BDEF-2BBB-4FF3-8B91-6F3373F14518}"/>
              </a:ext>
            </a:extLst>
          </p:cNvPr>
          <p:cNvSpPr/>
          <p:nvPr/>
        </p:nvSpPr>
        <p:spPr>
          <a:xfrm>
            <a:off x="5784088" y="1220960"/>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18" name="Rectángulo 17">
            <a:extLst>
              <a:ext uri="{FF2B5EF4-FFF2-40B4-BE49-F238E27FC236}">
                <a16:creationId xmlns:a16="http://schemas.microsoft.com/office/drawing/2014/main" id="{24C1183C-4B71-49D4-8CFD-AD47D61DD78D}"/>
              </a:ext>
            </a:extLst>
          </p:cNvPr>
          <p:cNvSpPr/>
          <p:nvPr/>
        </p:nvSpPr>
        <p:spPr>
          <a:xfrm>
            <a:off x="9462550" y="1220960"/>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20" name="Rectángulo 19">
            <a:extLst>
              <a:ext uri="{FF2B5EF4-FFF2-40B4-BE49-F238E27FC236}">
                <a16:creationId xmlns:a16="http://schemas.microsoft.com/office/drawing/2014/main" id="{3F69B1E7-F89C-4A2A-B237-241F08E97DE0}"/>
              </a:ext>
            </a:extLst>
          </p:cNvPr>
          <p:cNvSpPr/>
          <p:nvPr/>
        </p:nvSpPr>
        <p:spPr>
          <a:xfrm>
            <a:off x="2350550" y="3154863"/>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22" name="Rectángulo 21">
            <a:extLst>
              <a:ext uri="{FF2B5EF4-FFF2-40B4-BE49-F238E27FC236}">
                <a16:creationId xmlns:a16="http://schemas.microsoft.com/office/drawing/2014/main" id="{4A1216EF-EA22-40F9-AD14-80389B243BD1}"/>
              </a:ext>
            </a:extLst>
          </p:cNvPr>
          <p:cNvSpPr/>
          <p:nvPr/>
        </p:nvSpPr>
        <p:spPr>
          <a:xfrm>
            <a:off x="5979284" y="3154863"/>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24" name="Rectángulo 23">
            <a:extLst>
              <a:ext uri="{FF2B5EF4-FFF2-40B4-BE49-F238E27FC236}">
                <a16:creationId xmlns:a16="http://schemas.microsoft.com/office/drawing/2014/main" id="{52E8D7AC-0BFD-4268-8CAA-3B5FD8952C02}"/>
              </a:ext>
            </a:extLst>
          </p:cNvPr>
          <p:cNvSpPr/>
          <p:nvPr/>
        </p:nvSpPr>
        <p:spPr>
          <a:xfrm>
            <a:off x="9462550" y="3154863"/>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26" name="Rectángulo 25">
            <a:extLst>
              <a:ext uri="{FF2B5EF4-FFF2-40B4-BE49-F238E27FC236}">
                <a16:creationId xmlns:a16="http://schemas.microsoft.com/office/drawing/2014/main" id="{AE5327A0-74CC-4B9E-B56A-ADBA30F6AD09}"/>
              </a:ext>
            </a:extLst>
          </p:cNvPr>
          <p:cNvSpPr/>
          <p:nvPr/>
        </p:nvSpPr>
        <p:spPr>
          <a:xfrm>
            <a:off x="2350550" y="4982887"/>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28" name="Rectángulo 27">
            <a:extLst>
              <a:ext uri="{FF2B5EF4-FFF2-40B4-BE49-F238E27FC236}">
                <a16:creationId xmlns:a16="http://schemas.microsoft.com/office/drawing/2014/main" id="{54B15839-281E-47D6-81FB-D64AB4BE1FCF}"/>
              </a:ext>
            </a:extLst>
          </p:cNvPr>
          <p:cNvSpPr/>
          <p:nvPr/>
        </p:nvSpPr>
        <p:spPr>
          <a:xfrm>
            <a:off x="5979284" y="4982887"/>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30" name="Rectángulo 29">
            <a:extLst>
              <a:ext uri="{FF2B5EF4-FFF2-40B4-BE49-F238E27FC236}">
                <a16:creationId xmlns:a16="http://schemas.microsoft.com/office/drawing/2014/main" id="{6991BFC2-6713-4DB5-BAB3-D5963AB9ED23}"/>
              </a:ext>
            </a:extLst>
          </p:cNvPr>
          <p:cNvSpPr/>
          <p:nvPr/>
        </p:nvSpPr>
        <p:spPr>
          <a:xfrm>
            <a:off x="9462550" y="4982887"/>
            <a:ext cx="11464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001a100 </a:t>
            </a:r>
            <a:endParaRPr lang="es-MX" dirty="0"/>
          </a:p>
        </p:txBody>
      </p:sp>
      <p:sp>
        <p:nvSpPr>
          <p:cNvPr id="32" name="Rectángulo 31">
            <a:extLst>
              <a:ext uri="{FF2B5EF4-FFF2-40B4-BE49-F238E27FC236}">
                <a16:creationId xmlns:a16="http://schemas.microsoft.com/office/drawing/2014/main" id="{722A70AC-AE38-4567-A380-E71DC2909037}"/>
              </a:ext>
            </a:extLst>
          </p:cNvPr>
          <p:cNvSpPr/>
          <p:nvPr/>
        </p:nvSpPr>
        <p:spPr>
          <a:xfrm>
            <a:off x="3657326" y="2010662"/>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Z</a:t>
            </a:r>
            <a:endParaRPr lang="es-MX" dirty="0"/>
          </a:p>
        </p:txBody>
      </p:sp>
      <p:sp>
        <p:nvSpPr>
          <p:cNvPr id="33" name="Rectángulo 32">
            <a:extLst>
              <a:ext uri="{FF2B5EF4-FFF2-40B4-BE49-F238E27FC236}">
                <a16:creationId xmlns:a16="http://schemas.microsoft.com/office/drawing/2014/main" id="{A5C7D08B-7BD5-4A3D-AA41-45FA3DA09957}"/>
              </a:ext>
            </a:extLst>
          </p:cNvPr>
          <p:cNvSpPr/>
          <p:nvPr/>
        </p:nvSpPr>
        <p:spPr>
          <a:xfrm>
            <a:off x="7251863" y="2025176"/>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Z</a:t>
            </a:r>
            <a:endParaRPr lang="es-MX" dirty="0"/>
          </a:p>
        </p:txBody>
      </p:sp>
      <p:sp>
        <p:nvSpPr>
          <p:cNvPr id="34" name="Rectángulo 33">
            <a:extLst>
              <a:ext uri="{FF2B5EF4-FFF2-40B4-BE49-F238E27FC236}">
                <a16:creationId xmlns:a16="http://schemas.microsoft.com/office/drawing/2014/main" id="{EFD6234A-524E-4D00-B1F8-A0F64D5BB45D}"/>
              </a:ext>
            </a:extLst>
          </p:cNvPr>
          <p:cNvSpPr/>
          <p:nvPr/>
        </p:nvSpPr>
        <p:spPr>
          <a:xfrm>
            <a:off x="7251863" y="1775575"/>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35" name="Rectángulo 34">
            <a:extLst>
              <a:ext uri="{FF2B5EF4-FFF2-40B4-BE49-F238E27FC236}">
                <a16:creationId xmlns:a16="http://schemas.microsoft.com/office/drawing/2014/main" id="{8D158E3C-DE10-4EBC-86BE-1C57D52DA55D}"/>
              </a:ext>
            </a:extLst>
          </p:cNvPr>
          <p:cNvSpPr/>
          <p:nvPr/>
        </p:nvSpPr>
        <p:spPr>
          <a:xfrm>
            <a:off x="10859171" y="2018520"/>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Z</a:t>
            </a:r>
            <a:endParaRPr lang="es-MX" dirty="0"/>
          </a:p>
        </p:txBody>
      </p:sp>
      <p:sp>
        <p:nvSpPr>
          <p:cNvPr id="36" name="Rectángulo 35">
            <a:extLst>
              <a:ext uri="{FF2B5EF4-FFF2-40B4-BE49-F238E27FC236}">
                <a16:creationId xmlns:a16="http://schemas.microsoft.com/office/drawing/2014/main" id="{A768703F-7989-4A0D-8FCE-5A3D749F091D}"/>
              </a:ext>
            </a:extLst>
          </p:cNvPr>
          <p:cNvSpPr/>
          <p:nvPr/>
        </p:nvSpPr>
        <p:spPr>
          <a:xfrm>
            <a:off x="10861246" y="1728589"/>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37" name="Rectángulo 36">
            <a:extLst>
              <a:ext uri="{FF2B5EF4-FFF2-40B4-BE49-F238E27FC236}">
                <a16:creationId xmlns:a16="http://schemas.microsoft.com/office/drawing/2014/main" id="{433A22B6-8DBD-409D-A4E9-3D60FE0EA87B}"/>
              </a:ext>
            </a:extLst>
          </p:cNvPr>
          <p:cNvSpPr/>
          <p:nvPr/>
        </p:nvSpPr>
        <p:spPr>
          <a:xfrm>
            <a:off x="10859171" y="1456410"/>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38" name="Rectángulo 37">
            <a:extLst>
              <a:ext uri="{FF2B5EF4-FFF2-40B4-BE49-F238E27FC236}">
                <a16:creationId xmlns:a16="http://schemas.microsoft.com/office/drawing/2014/main" id="{F80AA4BC-4899-41E3-B453-002D8C74E924}"/>
              </a:ext>
            </a:extLst>
          </p:cNvPr>
          <p:cNvSpPr/>
          <p:nvPr/>
        </p:nvSpPr>
        <p:spPr>
          <a:xfrm>
            <a:off x="3699477" y="3945781"/>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Z</a:t>
            </a:r>
            <a:endParaRPr lang="es-MX" dirty="0"/>
          </a:p>
        </p:txBody>
      </p:sp>
      <p:sp>
        <p:nvSpPr>
          <p:cNvPr id="39" name="Rectángulo 38">
            <a:extLst>
              <a:ext uri="{FF2B5EF4-FFF2-40B4-BE49-F238E27FC236}">
                <a16:creationId xmlns:a16="http://schemas.microsoft.com/office/drawing/2014/main" id="{B916516C-75EE-421D-9882-44E268562E17}"/>
              </a:ext>
            </a:extLst>
          </p:cNvPr>
          <p:cNvSpPr/>
          <p:nvPr/>
        </p:nvSpPr>
        <p:spPr>
          <a:xfrm>
            <a:off x="3688469" y="3662878"/>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40" name="Rectángulo 39">
            <a:extLst>
              <a:ext uri="{FF2B5EF4-FFF2-40B4-BE49-F238E27FC236}">
                <a16:creationId xmlns:a16="http://schemas.microsoft.com/office/drawing/2014/main" id="{33D63D6D-17A3-43C5-AE18-250F84410200}"/>
              </a:ext>
            </a:extLst>
          </p:cNvPr>
          <p:cNvSpPr/>
          <p:nvPr/>
        </p:nvSpPr>
        <p:spPr>
          <a:xfrm>
            <a:off x="3688469" y="3413057"/>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41" name="Rectángulo 40">
            <a:extLst>
              <a:ext uri="{FF2B5EF4-FFF2-40B4-BE49-F238E27FC236}">
                <a16:creationId xmlns:a16="http://schemas.microsoft.com/office/drawing/2014/main" id="{F7F87FAD-BAC3-4CD7-8C95-84936ED67A3D}"/>
              </a:ext>
            </a:extLst>
          </p:cNvPr>
          <p:cNvSpPr/>
          <p:nvPr/>
        </p:nvSpPr>
        <p:spPr>
          <a:xfrm>
            <a:off x="3688469" y="3164976"/>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U</a:t>
            </a:r>
            <a:endParaRPr lang="es-MX" dirty="0"/>
          </a:p>
        </p:txBody>
      </p:sp>
      <p:sp>
        <p:nvSpPr>
          <p:cNvPr id="42" name="Rectángulo 41">
            <a:extLst>
              <a:ext uri="{FF2B5EF4-FFF2-40B4-BE49-F238E27FC236}">
                <a16:creationId xmlns:a16="http://schemas.microsoft.com/office/drawing/2014/main" id="{BAE7D2B6-5447-40EE-8BC4-4A7BE51A2ABF}"/>
              </a:ext>
            </a:extLst>
          </p:cNvPr>
          <p:cNvSpPr/>
          <p:nvPr/>
        </p:nvSpPr>
        <p:spPr>
          <a:xfrm>
            <a:off x="7264687" y="3924792"/>
            <a:ext cx="325730"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Z</a:t>
            </a:r>
          </a:p>
        </p:txBody>
      </p:sp>
      <p:sp>
        <p:nvSpPr>
          <p:cNvPr id="43" name="Rectángulo 42">
            <a:extLst>
              <a:ext uri="{FF2B5EF4-FFF2-40B4-BE49-F238E27FC236}">
                <a16:creationId xmlns:a16="http://schemas.microsoft.com/office/drawing/2014/main" id="{86EDEE25-E065-491A-9DB5-8F666F1B42CE}"/>
              </a:ext>
            </a:extLst>
          </p:cNvPr>
          <p:cNvSpPr/>
          <p:nvPr/>
        </p:nvSpPr>
        <p:spPr>
          <a:xfrm>
            <a:off x="7251863" y="3699452"/>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44" name="Rectángulo 43">
            <a:extLst>
              <a:ext uri="{FF2B5EF4-FFF2-40B4-BE49-F238E27FC236}">
                <a16:creationId xmlns:a16="http://schemas.microsoft.com/office/drawing/2014/main" id="{906837BE-D16A-448C-A53B-A21C9698450B}"/>
              </a:ext>
            </a:extLst>
          </p:cNvPr>
          <p:cNvSpPr/>
          <p:nvPr/>
        </p:nvSpPr>
        <p:spPr>
          <a:xfrm>
            <a:off x="7251863" y="3471309"/>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45" name="Rectángulo 44">
            <a:extLst>
              <a:ext uri="{FF2B5EF4-FFF2-40B4-BE49-F238E27FC236}">
                <a16:creationId xmlns:a16="http://schemas.microsoft.com/office/drawing/2014/main" id="{3CCDDDBE-F377-481E-8D00-9220447D0B22}"/>
              </a:ext>
            </a:extLst>
          </p:cNvPr>
          <p:cNvSpPr/>
          <p:nvPr/>
        </p:nvSpPr>
        <p:spPr>
          <a:xfrm>
            <a:off x="7251863" y="3238122"/>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U</a:t>
            </a:r>
            <a:endParaRPr lang="es-MX" dirty="0"/>
          </a:p>
        </p:txBody>
      </p:sp>
      <p:sp>
        <p:nvSpPr>
          <p:cNvPr id="46" name="Rectángulo 45">
            <a:extLst>
              <a:ext uri="{FF2B5EF4-FFF2-40B4-BE49-F238E27FC236}">
                <a16:creationId xmlns:a16="http://schemas.microsoft.com/office/drawing/2014/main" id="{7D3C4E7F-5DED-4034-AB1D-A6F4DB79B4A4}"/>
              </a:ext>
            </a:extLst>
          </p:cNvPr>
          <p:cNvSpPr/>
          <p:nvPr/>
        </p:nvSpPr>
        <p:spPr>
          <a:xfrm>
            <a:off x="10876007" y="3939538"/>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Z</a:t>
            </a:r>
            <a:endParaRPr lang="es-MX" dirty="0"/>
          </a:p>
        </p:txBody>
      </p:sp>
      <p:sp>
        <p:nvSpPr>
          <p:cNvPr id="47" name="Rectángulo 46">
            <a:extLst>
              <a:ext uri="{FF2B5EF4-FFF2-40B4-BE49-F238E27FC236}">
                <a16:creationId xmlns:a16="http://schemas.microsoft.com/office/drawing/2014/main" id="{8571EFC6-A932-4B9B-8E4E-E3248BECBE8C}"/>
              </a:ext>
            </a:extLst>
          </p:cNvPr>
          <p:cNvSpPr/>
          <p:nvPr/>
        </p:nvSpPr>
        <p:spPr>
          <a:xfrm>
            <a:off x="10859171" y="3680702"/>
            <a:ext cx="351378"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C</a:t>
            </a:r>
          </a:p>
        </p:txBody>
      </p:sp>
      <p:sp>
        <p:nvSpPr>
          <p:cNvPr id="48" name="Rectángulo 47">
            <a:extLst>
              <a:ext uri="{FF2B5EF4-FFF2-40B4-BE49-F238E27FC236}">
                <a16:creationId xmlns:a16="http://schemas.microsoft.com/office/drawing/2014/main" id="{D2F3D672-355D-49B4-9770-147ACBC29263}"/>
              </a:ext>
            </a:extLst>
          </p:cNvPr>
          <p:cNvSpPr/>
          <p:nvPr/>
        </p:nvSpPr>
        <p:spPr>
          <a:xfrm>
            <a:off x="10846347" y="3453517"/>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a:t>
            </a:r>
            <a:endParaRPr lang="es-MX" dirty="0"/>
          </a:p>
        </p:txBody>
      </p:sp>
      <p:sp>
        <p:nvSpPr>
          <p:cNvPr id="49" name="Rectángulo 48">
            <a:extLst>
              <a:ext uri="{FF2B5EF4-FFF2-40B4-BE49-F238E27FC236}">
                <a16:creationId xmlns:a16="http://schemas.microsoft.com/office/drawing/2014/main" id="{277FDA08-A264-4F69-AB0B-B037A7314E2A}"/>
              </a:ext>
            </a:extLst>
          </p:cNvPr>
          <p:cNvSpPr/>
          <p:nvPr/>
        </p:nvSpPr>
        <p:spPr>
          <a:xfrm>
            <a:off x="3668804" y="5729409"/>
            <a:ext cx="325730"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Z</a:t>
            </a:r>
          </a:p>
        </p:txBody>
      </p:sp>
      <p:sp>
        <p:nvSpPr>
          <p:cNvPr id="50" name="Rectángulo 49">
            <a:extLst>
              <a:ext uri="{FF2B5EF4-FFF2-40B4-BE49-F238E27FC236}">
                <a16:creationId xmlns:a16="http://schemas.microsoft.com/office/drawing/2014/main" id="{5902119F-69F9-4314-A1DD-0F10B77AEB9B}"/>
              </a:ext>
            </a:extLst>
          </p:cNvPr>
          <p:cNvSpPr/>
          <p:nvPr/>
        </p:nvSpPr>
        <p:spPr>
          <a:xfrm>
            <a:off x="3655980" y="5480613"/>
            <a:ext cx="351378"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C</a:t>
            </a:r>
          </a:p>
        </p:txBody>
      </p:sp>
      <p:sp>
        <p:nvSpPr>
          <p:cNvPr id="51" name="Rectángulo 50">
            <a:extLst>
              <a:ext uri="{FF2B5EF4-FFF2-40B4-BE49-F238E27FC236}">
                <a16:creationId xmlns:a16="http://schemas.microsoft.com/office/drawing/2014/main" id="{EEA3E935-2293-43CB-8756-3A1C0721FE11}"/>
              </a:ext>
            </a:extLst>
          </p:cNvPr>
          <p:cNvSpPr/>
          <p:nvPr/>
        </p:nvSpPr>
        <p:spPr>
          <a:xfrm>
            <a:off x="7264687" y="5729409"/>
            <a:ext cx="325730"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Z</a:t>
            </a:r>
          </a:p>
        </p:txBody>
      </p:sp>
      <p:sp>
        <p:nvSpPr>
          <p:cNvPr id="52" name="Rectángulo 51">
            <a:extLst>
              <a:ext uri="{FF2B5EF4-FFF2-40B4-BE49-F238E27FC236}">
                <a16:creationId xmlns:a16="http://schemas.microsoft.com/office/drawing/2014/main" id="{B715DB74-F01A-4962-8AEA-3DFDA21F75B7}"/>
              </a:ext>
            </a:extLst>
          </p:cNvPr>
          <p:cNvSpPr/>
          <p:nvPr/>
        </p:nvSpPr>
        <p:spPr>
          <a:xfrm>
            <a:off x="2477967" y="1961778"/>
            <a:ext cx="421910" cy="400110"/>
          </a:xfrm>
          <a:prstGeom prst="rect">
            <a:avLst/>
          </a:prstGeom>
        </p:spPr>
        <p:txBody>
          <a:bodyPr wrap="none">
            <a:spAutoFit/>
          </a:bodyPr>
          <a:lstStyle/>
          <a:p>
            <a:r>
              <a:rPr lang="es-AR" sz="2000" dirty="0" err="1">
                <a:latin typeface="Arial" panose="020B0604020202020204" pitchFamily="34" charset="0"/>
                <a:cs typeface="Arial" panose="020B0604020202020204" pitchFamily="34" charset="0"/>
              </a:rPr>
              <a:t>q</a:t>
            </a:r>
            <a:r>
              <a:rPr lang="es-AR" sz="2000" baseline="-25000" dirty="0" err="1">
                <a:latin typeface="Arial" panose="020B0604020202020204" pitchFamily="34" charset="0"/>
                <a:cs typeface="Arial" panose="020B0604020202020204" pitchFamily="34" charset="0"/>
              </a:rPr>
              <a:t>o</a:t>
            </a:r>
            <a:endParaRPr lang="es-MX" sz="2000" dirty="0"/>
          </a:p>
        </p:txBody>
      </p:sp>
      <p:sp>
        <p:nvSpPr>
          <p:cNvPr id="54" name="Rectángulo 53">
            <a:extLst>
              <a:ext uri="{FF2B5EF4-FFF2-40B4-BE49-F238E27FC236}">
                <a16:creationId xmlns:a16="http://schemas.microsoft.com/office/drawing/2014/main" id="{9EB6CE31-8FC1-429B-9AFA-19871A3517CD}"/>
              </a:ext>
            </a:extLst>
          </p:cNvPr>
          <p:cNvSpPr/>
          <p:nvPr/>
        </p:nvSpPr>
        <p:spPr>
          <a:xfrm>
            <a:off x="6107059" y="1961778"/>
            <a:ext cx="421910" cy="400110"/>
          </a:xfrm>
          <a:prstGeom prst="rect">
            <a:avLst/>
          </a:prstGeom>
        </p:spPr>
        <p:txBody>
          <a:bodyPr wrap="none">
            <a:spAutoFit/>
          </a:bodyPr>
          <a:lstStyle/>
          <a:p>
            <a:r>
              <a:rPr lang="es-AR" sz="2000" dirty="0" err="1">
                <a:latin typeface="Arial" panose="020B0604020202020204" pitchFamily="34" charset="0"/>
                <a:cs typeface="Arial" panose="020B0604020202020204" pitchFamily="34" charset="0"/>
              </a:rPr>
              <a:t>q</a:t>
            </a:r>
            <a:r>
              <a:rPr lang="es-AR" sz="2000" baseline="-25000" dirty="0" err="1">
                <a:latin typeface="Arial" panose="020B0604020202020204" pitchFamily="34" charset="0"/>
                <a:cs typeface="Arial" panose="020B0604020202020204" pitchFamily="34" charset="0"/>
              </a:rPr>
              <a:t>o</a:t>
            </a:r>
            <a:endParaRPr lang="es-MX" sz="2000" dirty="0"/>
          </a:p>
        </p:txBody>
      </p:sp>
      <p:sp>
        <p:nvSpPr>
          <p:cNvPr id="55" name="Rectángulo 54">
            <a:extLst>
              <a:ext uri="{FF2B5EF4-FFF2-40B4-BE49-F238E27FC236}">
                <a16:creationId xmlns:a16="http://schemas.microsoft.com/office/drawing/2014/main" id="{03E2BF31-18FF-4FCE-9BDA-45F483055CA4}"/>
              </a:ext>
            </a:extLst>
          </p:cNvPr>
          <p:cNvSpPr/>
          <p:nvPr/>
        </p:nvSpPr>
        <p:spPr>
          <a:xfrm>
            <a:off x="9830750" y="1982434"/>
            <a:ext cx="421910" cy="400110"/>
          </a:xfrm>
          <a:prstGeom prst="rect">
            <a:avLst/>
          </a:prstGeom>
        </p:spPr>
        <p:txBody>
          <a:bodyPr wrap="none">
            <a:spAutoFit/>
          </a:bodyPr>
          <a:lstStyle/>
          <a:p>
            <a:r>
              <a:rPr lang="es-AR" sz="2000" dirty="0" err="1">
                <a:latin typeface="Arial" panose="020B0604020202020204" pitchFamily="34" charset="0"/>
                <a:cs typeface="Arial" panose="020B0604020202020204" pitchFamily="34" charset="0"/>
              </a:rPr>
              <a:t>q</a:t>
            </a:r>
            <a:r>
              <a:rPr lang="es-AR" sz="2000" baseline="-25000" dirty="0" err="1">
                <a:latin typeface="Arial" panose="020B0604020202020204" pitchFamily="34" charset="0"/>
                <a:cs typeface="Arial" panose="020B0604020202020204" pitchFamily="34" charset="0"/>
              </a:rPr>
              <a:t>o</a:t>
            </a:r>
            <a:endParaRPr lang="es-MX" sz="2000" dirty="0"/>
          </a:p>
        </p:txBody>
      </p:sp>
      <p:sp>
        <p:nvSpPr>
          <p:cNvPr id="56" name="Rectángulo 55">
            <a:extLst>
              <a:ext uri="{FF2B5EF4-FFF2-40B4-BE49-F238E27FC236}">
                <a16:creationId xmlns:a16="http://schemas.microsoft.com/office/drawing/2014/main" id="{A80CBC68-AE58-454D-BDAD-91B591DB90AF}"/>
              </a:ext>
            </a:extLst>
          </p:cNvPr>
          <p:cNvSpPr/>
          <p:nvPr/>
        </p:nvSpPr>
        <p:spPr>
          <a:xfrm>
            <a:off x="2657215" y="3866223"/>
            <a:ext cx="421910" cy="400110"/>
          </a:xfrm>
          <a:prstGeom prst="rect">
            <a:avLst/>
          </a:prstGeom>
        </p:spPr>
        <p:txBody>
          <a:bodyPr wrap="none">
            <a:spAutoFit/>
          </a:bodyPr>
          <a:lstStyle/>
          <a:p>
            <a:r>
              <a:rPr lang="es-AR" sz="2000" dirty="0" err="1">
                <a:latin typeface="Arial" panose="020B0604020202020204" pitchFamily="34" charset="0"/>
                <a:cs typeface="Arial" panose="020B0604020202020204" pitchFamily="34" charset="0"/>
              </a:rPr>
              <a:t>q</a:t>
            </a:r>
            <a:r>
              <a:rPr lang="es-AR" sz="2000" baseline="-25000" dirty="0" err="1">
                <a:latin typeface="Arial" panose="020B0604020202020204" pitchFamily="34" charset="0"/>
                <a:cs typeface="Arial" panose="020B0604020202020204" pitchFamily="34" charset="0"/>
              </a:rPr>
              <a:t>o</a:t>
            </a:r>
            <a:endParaRPr lang="es-MX" sz="2000" dirty="0"/>
          </a:p>
        </p:txBody>
      </p:sp>
      <p:sp>
        <p:nvSpPr>
          <p:cNvPr id="57" name="Rectángulo 56">
            <a:extLst>
              <a:ext uri="{FF2B5EF4-FFF2-40B4-BE49-F238E27FC236}">
                <a16:creationId xmlns:a16="http://schemas.microsoft.com/office/drawing/2014/main" id="{3FA31180-C258-4A87-943F-596C4A44A06D}"/>
              </a:ext>
            </a:extLst>
          </p:cNvPr>
          <p:cNvSpPr/>
          <p:nvPr/>
        </p:nvSpPr>
        <p:spPr>
          <a:xfrm>
            <a:off x="6216262" y="3868872"/>
            <a:ext cx="421910"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q</a:t>
            </a:r>
            <a:r>
              <a:rPr lang="es-AR" sz="2000" baseline="-25000" dirty="0">
                <a:latin typeface="Arial" panose="020B0604020202020204" pitchFamily="34" charset="0"/>
                <a:cs typeface="Arial" panose="020B0604020202020204" pitchFamily="34" charset="0"/>
              </a:rPr>
              <a:t>1</a:t>
            </a:r>
            <a:endParaRPr lang="es-MX" sz="2000" dirty="0"/>
          </a:p>
        </p:txBody>
      </p:sp>
      <p:sp>
        <p:nvSpPr>
          <p:cNvPr id="58" name="Rectángulo 57">
            <a:extLst>
              <a:ext uri="{FF2B5EF4-FFF2-40B4-BE49-F238E27FC236}">
                <a16:creationId xmlns:a16="http://schemas.microsoft.com/office/drawing/2014/main" id="{547DBE16-5D0E-45DD-B543-F6F1C14D6536}"/>
              </a:ext>
            </a:extLst>
          </p:cNvPr>
          <p:cNvSpPr/>
          <p:nvPr/>
        </p:nvSpPr>
        <p:spPr>
          <a:xfrm>
            <a:off x="9815370" y="3899189"/>
            <a:ext cx="421910"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q</a:t>
            </a:r>
            <a:r>
              <a:rPr lang="es-AR" sz="2000" baseline="-25000" dirty="0">
                <a:latin typeface="Arial" panose="020B0604020202020204" pitchFamily="34" charset="0"/>
                <a:cs typeface="Arial" panose="020B0604020202020204" pitchFamily="34" charset="0"/>
              </a:rPr>
              <a:t>1</a:t>
            </a:r>
            <a:endParaRPr lang="es-MX" sz="2000" dirty="0"/>
          </a:p>
        </p:txBody>
      </p:sp>
      <p:sp>
        <p:nvSpPr>
          <p:cNvPr id="59" name="Rectángulo 58">
            <a:extLst>
              <a:ext uri="{FF2B5EF4-FFF2-40B4-BE49-F238E27FC236}">
                <a16:creationId xmlns:a16="http://schemas.microsoft.com/office/drawing/2014/main" id="{F4901A97-7027-401A-A7A6-CAFEFE92B252}"/>
              </a:ext>
            </a:extLst>
          </p:cNvPr>
          <p:cNvSpPr/>
          <p:nvPr/>
        </p:nvSpPr>
        <p:spPr>
          <a:xfrm>
            <a:off x="2688922" y="5658397"/>
            <a:ext cx="421910"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q</a:t>
            </a:r>
            <a:r>
              <a:rPr lang="es-AR" sz="2000" baseline="-25000" dirty="0">
                <a:latin typeface="Arial" panose="020B0604020202020204" pitchFamily="34" charset="0"/>
                <a:cs typeface="Arial" panose="020B0604020202020204" pitchFamily="34" charset="0"/>
              </a:rPr>
              <a:t>1</a:t>
            </a:r>
            <a:endParaRPr lang="es-MX" sz="2000" dirty="0"/>
          </a:p>
        </p:txBody>
      </p:sp>
      <p:sp>
        <p:nvSpPr>
          <p:cNvPr id="60" name="Rectángulo 59">
            <a:extLst>
              <a:ext uri="{FF2B5EF4-FFF2-40B4-BE49-F238E27FC236}">
                <a16:creationId xmlns:a16="http://schemas.microsoft.com/office/drawing/2014/main" id="{48DF55A3-C4EB-47F3-8726-E63F78BB5DF7}"/>
              </a:ext>
            </a:extLst>
          </p:cNvPr>
          <p:cNvSpPr/>
          <p:nvPr/>
        </p:nvSpPr>
        <p:spPr>
          <a:xfrm>
            <a:off x="6318014" y="5658397"/>
            <a:ext cx="421910"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q</a:t>
            </a:r>
            <a:r>
              <a:rPr lang="es-AR" sz="2000" baseline="-25000" dirty="0">
                <a:latin typeface="Arial" panose="020B0604020202020204" pitchFamily="34" charset="0"/>
                <a:cs typeface="Arial" panose="020B0604020202020204" pitchFamily="34" charset="0"/>
              </a:rPr>
              <a:t>1</a:t>
            </a:r>
            <a:endParaRPr lang="es-MX" sz="2000" dirty="0"/>
          </a:p>
        </p:txBody>
      </p:sp>
      <p:sp>
        <p:nvSpPr>
          <p:cNvPr id="61" name="Rectángulo 60">
            <a:extLst>
              <a:ext uri="{FF2B5EF4-FFF2-40B4-BE49-F238E27FC236}">
                <a16:creationId xmlns:a16="http://schemas.microsoft.com/office/drawing/2014/main" id="{BF9610D0-A83B-4427-89E9-CC7C50F2DD4E}"/>
              </a:ext>
            </a:extLst>
          </p:cNvPr>
          <p:cNvSpPr/>
          <p:nvPr/>
        </p:nvSpPr>
        <p:spPr>
          <a:xfrm>
            <a:off x="9809709" y="5658397"/>
            <a:ext cx="421910"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q</a:t>
            </a:r>
            <a:r>
              <a:rPr lang="es-AR" sz="2000" baseline="-25000" dirty="0">
                <a:latin typeface="Arial" panose="020B0604020202020204" pitchFamily="34" charset="0"/>
                <a:cs typeface="Arial" panose="020B0604020202020204" pitchFamily="34" charset="0"/>
              </a:rPr>
              <a:t>2</a:t>
            </a:r>
            <a:endParaRPr lang="es-MX" sz="2000" dirty="0"/>
          </a:p>
        </p:txBody>
      </p:sp>
      <p:cxnSp>
        <p:nvCxnSpPr>
          <p:cNvPr id="63" name="Conector recto de flecha 62">
            <a:extLst>
              <a:ext uri="{FF2B5EF4-FFF2-40B4-BE49-F238E27FC236}">
                <a16:creationId xmlns:a16="http://schemas.microsoft.com/office/drawing/2014/main" id="{D6F268E0-3C4D-484E-97B4-6A655798A25B}"/>
              </a:ext>
            </a:extLst>
          </p:cNvPr>
          <p:cNvCxnSpPr>
            <a:cxnSpLocks/>
          </p:cNvCxnSpPr>
          <p:nvPr/>
        </p:nvCxnSpPr>
        <p:spPr>
          <a:xfrm flipH="1" flipV="1">
            <a:off x="2343624" y="1614359"/>
            <a:ext cx="313591" cy="41081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029939E7-C01A-4F0F-A07B-2E79A03B366E}"/>
              </a:ext>
            </a:extLst>
          </p:cNvPr>
          <p:cNvCxnSpPr>
            <a:cxnSpLocks/>
          </p:cNvCxnSpPr>
          <p:nvPr/>
        </p:nvCxnSpPr>
        <p:spPr>
          <a:xfrm flipH="1" flipV="1">
            <a:off x="6079418" y="1629104"/>
            <a:ext cx="238596" cy="39674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a:extLst>
              <a:ext uri="{FF2B5EF4-FFF2-40B4-BE49-F238E27FC236}">
                <a16:creationId xmlns:a16="http://schemas.microsoft.com/office/drawing/2014/main" id="{A701252F-76EF-40DF-9361-8718E3A237CF}"/>
              </a:ext>
            </a:extLst>
          </p:cNvPr>
          <p:cNvCxnSpPr>
            <a:cxnSpLocks/>
          </p:cNvCxnSpPr>
          <p:nvPr/>
        </p:nvCxnSpPr>
        <p:spPr>
          <a:xfrm flipH="1" flipV="1">
            <a:off x="9885947" y="1657470"/>
            <a:ext cx="156796" cy="42933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de flecha 70">
            <a:extLst>
              <a:ext uri="{FF2B5EF4-FFF2-40B4-BE49-F238E27FC236}">
                <a16:creationId xmlns:a16="http://schemas.microsoft.com/office/drawing/2014/main" id="{71FE8753-3ACA-47E4-93A9-1B3DF49CBBB9}"/>
              </a:ext>
            </a:extLst>
          </p:cNvPr>
          <p:cNvCxnSpPr>
            <a:cxnSpLocks/>
          </p:cNvCxnSpPr>
          <p:nvPr/>
        </p:nvCxnSpPr>
        <p:spPr>
          <a:xfrm flipV="1">
            <a:off x="10020664" y="3582492"/>
            <a:ext cx="210953" cy="38034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a:extLst>
              <a:ext uri="{FF2B5EF4-FFF2-40B4-BE49-F238E27FC236}">
                <a16:creationId xmlns:a16="http://schemas.microsoft.com/office/drawing/2014/main" id="{343EF924-6B13-462C-B896-2D2726CBA3AA}"/>
              </a:ext>
            </a:extLst>
          </p:cNvPr>
          <p:cNvCxnSpPr>
            <a:cxnSpLocks/>
          </p:cNvCxnSpPr>
          <p:nvPr/>
        </p:nvCxnSpPr>
        <p:spPr>
          <a:xfrm flipV="1">
            <a:off x="2840656" y="3574225"/>
            <a:ext cx="34248" cy="36078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5" name="Conector recto de flecha 74">
            <a:extLst>
              <a:ext uri="{FF2B5EF4-FFF2-40B4-BE49-F238E27FC236}">
                <a16:creationId xmlns:a16="http://schemas.microsoft.com/office/drawing/2014/main" id="{489EBFA7-9620-4261-87D6-EAB29B3ABFEC}"/>
              </a:ext>
            </a:extLst>
          </p:cNvPr>
          <p:cNvCxnSpPr>
            <a:cxnSpLocks/>
          </p:cNvCxnSpPr>
          <p:nvPr/>
        </p:nvCxnSpPr>
        <p:spPr>
          <a:xfrm flipV="1">
            <a:off x="6467159" y="3544060"/>
            <a:ext cx="172400" cy="3502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5E43B49A-0E03-4FF3-B248-A15B731844AF}"/>
              </a:ext>
            </a:extLst>
          </p:cNvPr>
          <p:cNvCxnSpPr>
            <a:cxnSpLocks/>
          </p:cNvCxnSpPr>
          <p:nvPr/>
        </p:nvCxnSpPr>
        <p:spPr>
          <a:xfrm flipV="1">
            <a:off x="2981365" y="5402550"/>
            <a:ext cx="269637" cy="3427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0" name="Conector recto de flecha 79">
            <a:extLst>
              <a:ext uri="{FF2B5EF4-FFF2-40B4-BE49-F238E27FC236}">
                <a16:creationId xmlns:a16="http://schemas.microsoft.com/office/drawing/2014/main" id="{263634FE-DCAB-4A46-8129-F15648038AD6}"/>
              </a:ext>
            </a:extLst>
          </p:cNvPr>
          <p:cNvCxnSpPr>
            <a:cxnSpLocks/>
          </p:cNvCxnSpPr>
          <p:nvPr/>
        </p:nvCxnSpPr>
        <p:spPr>
          <a:xfrm flipV="1">
            <a:off x="6521155" y="5397361"/>
            <a:ext cx="518489" cy="27830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2" name="Conector recto de flecha 81">
            <a:extLst>
              <a:ext uri="{FF2B5EF4-FFF2-40B4-BE49-F238E27FC236}">
                <a16:creationId xmlns:a16="http://schemas.microsoft.com/office/drawing/2014/main" id="{A520B4CE-3D28-40CF-B706-FF1596E34F04}"/>
              </a:ext>
            </a:extLst>
          </p:cNvPr>
          <p:cNvCxnSpPr>
            <a:cxnSpLocks/>
          </p:cNvCxnSpPr>
          <p:nvPr/>
        </p:nvCxnSpPr>
        <p:spPr>
          <a:xfrm flipV="1">
            <a:off x="10020664" y="5387102"/>
            <a:ext cx="538883" cy="29882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4F88D869-2197-49ED-8354-5E55B7C3AA72}"/>
              </a:ext>
            </a:extLst>
          </p:cNvPr>
          <p:cNvSpPr/>
          <p:nvPr/>
        </p:nvSpPr>
        <p:spPr>
          <a:xfrm>
            <a:off x="4052601" y="1366279"/>
            <a:ext cx="2441725"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,0,Z) = (q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,CZ)</a:t>
            </a:r>
            <a:endParaRPr lang="es-MX" sz="1400" dirty="0"/>
          </a:p>
        </p:txBody>
      </p:sp>
      <p:sp>
        <p:nvSpPr>
          <p:cNvPr id="7" name="Rectángulo 6">
            <a:extLst>
              <a:ext uri="{FF2B5EF4-FFF2-40B4-BE49-F238E27FC236}">
                <a16:creationId xmlns:a16="http://schemas.microsoft.com/office/drawing/2014/main" id="{E2011BCF-F446-4901-B19B-FB67F1F7E357}"/>
              </a:ext>
            </a:extLst>
          </p:cNvPr>
          <p:cNvSpPr/>
          <p:nvPr/>
        </p:nvSpPr>
        <p:spPr>
          <a:xfrm>
            <a:off x="7634370" y="1389341"/>
            <a:ext cx="1696298"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,0,C) = (q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,CC)</a:t>
            </a:r>
            <a:endParaRPr lang="es-MX" sz="1400" dirty="0"/>
          </a:p>
        </p:txBody>
      </p:sp>
      <p:sp>
        <p:nvSpPr>
          <p:cNvPr id="8" name="Rectángulo 7">
            <a:extLst>
              <a:ext uri="{FF2B5EF4-FFF2-40B4-BE49-F238E27FC236}">
                <a16:creationId xmlns:a16="http://schemas.microsoft.com/office/drawing/2014/main" id="{02A252DA-A7B7-400C-8823-B314F3BF45F4}"/>
              </a:ext>
            </a:extLst>
          </p:cNvPr>
          <p:cNvSpPr/>
          <p:nvPr/>
        </p:nvSpPr>
        <p:spPr>
          <a:xfrm>
            <a:off x="477110" y="3225880"/>
            <a:ext cx="1696298"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,1,C) = (q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,UC)</a:t>
            </a:r>
            <a:endParaRPr lang="es-MX" sz="1400" dirty="0"/>
          </a:p>
        </p:txBody>
      </p:sp>
      <p:sp>
        <p:nvSpPr>
          <p:cNvPr id="53" name="Rectángulo 52">
            <a:extLst>
              <a:ext uri="{FF2B5EF4-FFF2-40B4-BE49-F238E27FC236}">
                <a16:creationId xmlns:a16="http://schemas.microsoft.com/office/drawing/2014/main" id="{A78E9C65-3EA8-4931-A41D-570B35499211}"/>
              </a:ext>
            </a:extLst>
          </p:cNvPr>
          <p:cNvSpPr/>
          <p:nvPr/>
        </p:nvSpPr>
        <p:spPr>
          <a:xfrm>
            <a:off x="4099573" y="3204921"/>
            <a:ext cx="1566454"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0</a:t>
            </a:r>
            <a:r>
              <a:rPr lang="es-AR" sz="1400" dirty="0">
                <a:latin typeface="Arial" panose="020B0604020202020204" pitchFamily="34" charset="0"/>
                <a:cs typeface="Arial" panose="020B0604020202020204" pitchFamily="34" charset="0"/>
              </a:rPr>
              <a:t>,a,U) = (q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,U)</a:t>
            </a:r>
            <a:endParaRPr lang="es-MX" sz="1400" dirty="0"/>
          </a:p>
        </p:txBody>
      </p:sp>
      <p:sp>
        <p:nvSpPr>
          <p:cNvPr id="62" name="Rectángulo 61">
            <a:extLst>
              <a:ext uri="{FF2B5EF4-FFF2-40B4-BE49-F238E27FC236}">
                <a16:creationId xmlns:a16="http://schemas.microsoft.com/office/drawing/2014/main" id="{100D8A8C-7203-4CF4-B65A-DFFACB80FB6D}"/>
              </a:ext>
            </a:extLst>
          </p:cNvPr>
          <p:cNvSpPr/>
          <p:nvPr/>
        </p:nvSpPr>
        <p:spPr>
          <a:xfrm>
            <a:off x="7787715" y="3221179"/>
            <a:ext cx="152638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,1,U) = (q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,λ)</a:t>
            </a:r>
            <a:endParaRPr lang="es-MX" sz="1400" dirty="0"/>
          </a:p>
        </p:txBody>
      </p:sp>
      <p:sp>
        <p:nvSpPr>
          <p:cNvPr id="66" name="Rectángulo 65">
            <a:extLst>
              <a:ext uri="{FF2B5EF4-FFF2-40B4-BE49-F238E27FC236}">
                <a16:creationId xmlns:a16="http://schemas.microsoft.com/office/drawing/2014/main" id="{B5558E51-DF5A-409F-A65D-D07EA0BBC33E}"/>
              </a:ext>
            </a:extLst>
          </p:cNvPr>
          <p:cNvSpPr/>
          <p:nvPr/>
        </p:nvSpPr>
        <p:spPr>
          <a:xfrm>
            <a:off x="545754" y="5032911"/>
            <a:ext cx="152638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,0,C) = (q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,λ)</a:t>
            </a:r>
            <a:endParaRPr lang="es-MX" sz="1400" dirty="0"/>
          </a:p>
        </p:txBody>
      </p:sp>
      <p:sp>
        <p:nvSpPr>
          <p:cNvPr id="68" name="Rectángulo 67">
            <a:extLst>
              <a:ext uri="{FF2B5EF4-FFF2-40B4-BE49-F238E27FC236}">
                <a16:creationId xmlns:a16="http://schemas.microsoft.com/office/drawing/2014/main" id="{7144413A-1349-490C-8540-B37B2F327430}"/>
              </a:ext>
            </a:extLst>
          </p:cNvPr>
          <p:cNvSpPr/>
          <p:nvPr/>
        </p:nvSpPr>
        <p:spPr>
          <a:xfrm>
            <a:off x="4102387" y="5051937"/>
            <a:ext cx="152638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,0,C) = (q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,λ)</a:t>
            </a:r>
            <a:endParaRPr lang="es-MX" sz="1400" dirty="0"/>
          </a:p>
        </p:txBody>
      </p:sp>
      <p:sp>
        <p:nvSpPr>
          <p:cNvPr id="70" name="Rectángulo 69">
            <a:extLst>
              <a:ext uri="{FF2B5EF4-FFF2-40B4-BE49-F238E27FC236}">
                <a16:creationId xmlns:a16="http://schemas.microsoft.com/office/drawing/2014/main" id="{BF553B75-23C0-4464-A964-F2EF9923FC77}"/>
              </a:ext>
            </a:extLst>
          </p:cNvPr>
          <p:cNvSpPr/>
          <p:nvPr/>
        </p:nvSpPr>
        <p:spPr>
          <a:xfrm>
            <a:off x="7820768" y="5113735"/>
            <a:ext cx="152638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δ(q</a:t>
            </a:r>
            <a:r>
              <a:rPr lang="es-AR" sz="1400" baseline="-25000" dirty="0">
                <a:latin typeface="Arial" panose="020B0604020202020204" pitchFamily="34" charset="0"/>
                <a:cs typeface="Arial" panose="020B0604020202020204" pitchFamily="34" charset="0"/>
              </a:rPr>
              <a:t>1</a:t>
            </a:r>
            <a:r>
              <a:rPr lang="es-AR" sz="1400" dirty="0">
                <a:latin typeface="Arial" panose="020B0604020202020204" pitchFamily="34" charset="0"/>
                <a:cs typeface="Arial" panose="020B0604020202020204" pitchFamily="34" charset="0"/>
              </a:rPr>
              <a:t>,B,Z) = (q</a:t>
            </a:r>
            <a:r>
              <a:rPr lang="es-AR" sz="1400" baseline="-25000" dirty="0">
                <a:latin typeface="Arial" panose="020B0604020202020204" pitchFamily="34" charset="0"/>
                <a:cs typeface="Arial" panose="020B0604020202020204" pitchFamily="34" charset="0"/>
              </a:rPr>
              <a:t>2</a:t>
            </a:r>
            <a:r>
              <a:rPr lang="es-AR" sz="1400" dirty="0">
                <a:latin typeface="Arial" panose="020B0604020202020204" pitchFamily="34" charset="0"/>
                <a:cs typeface="Arial" panose="020B0604020202020204" pitchFamily="34" charset="0"/>
              </a:rPr>
              <a:t>,λ)</a:t>
            </a:r>
            <a:endParaRPr lang="es-MX" sz="1400" dirty="0"/>
          </a:p>
        </p:txBody>
      </p:sp>
      <p:cxnSp>
        <p:nvCxnSpPr>
          <p:cNvPr id="74" name="Conector recto 73">
            <a:extLst>
              <a:ext uri="{FF2B5EF4-FFF2-40B4-BE49-F238E27FC236}">
                <a16:creationId xmlns:a16="http://schemas.microsoft.com/office/drawing/2014/main" id="{FF38A4EC-37B7-4609-8AB5-034DA4830CDA}"/>
              </a:ext>
            </a:extLst>
          </p:cNvPr>
          <p:cNvCxnSpPr>
            <a:cxnSpLocks/>
          </p:cNvCxnSpPr>
          <p:nvPr/>
        </p:nvCxnSpPr>
        <p:spPr>
          <a:xfrm>
            <a:off x="2153685" y="1220960"/>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28D9273F-47E3-4D2E-AA4E-1CCB0579E428}"/>
              </a:ext>
            </a:extLst>
          </p:cNvPr>
          <p:cNvCxnSpPr>
            <a:cxnSpLocks/>
          </p:cNvCxnSpPr>
          <p:nvPr/>
        </p:nvCxnSpPr>
        <p:spPr>
          <a:xfrm>
            <a:off x="2173408" y="1565030"/>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ector recto 82">
            <a:extLst>
              <a:ext uri="{FF2B5EF4-FFF2-40B4-BE49-F238E27FC236}">
                <a16:creationId xmlns:a16="http://schemas.microsoft.com/office/drawing/2014/main" id="{35775CEC-8E02-485D-9D30-CA685BFB80CD}"/>
              </a:ext>
            </a:extLst>
          </p:cNvPr>
          <p:cNvCxnSpPr>
            <a:cxnSpLocks/>
          </p:cNvCxnSpPr>
          <p:nvPr/>
        </p:nvCxnSpPr>
        <p:spPr>
          <a:xfrm flipV="1">
            <a:off x="7264687" y="3224975"/>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46AA4EFE-D478-4411-A4DF-7D24221EB892}"/>
              </a:ext>
            </a:extLst>
          </p:cNvPr>
          <p:cNvCxnSpPr>
            <a:cxnSpLocks/>
          </p:cNvCxnSpPr>
          <p:nvPr/>
        </p:nvCxnSpPr>
        <p:spPr>
          <a:xfrm flipV="1">
            <a:off x="7577593" y="3250117"/>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Conector recto 85">
            <a:extLst>
              <a:ext uri="{FF2B5EF4-FFF2-40B4-BE49-F238E27FC236}">
                <a16:creationId xmlns:a16="http://schemas.microsoft.com/office/drawing/2014/main" id="{6342223B-F213-4220-802A-5DE445DF134E}"/>
              </a:ext>
            </a:extLst>
          </p:cNvPr>
          <p:cNvCxnSpPr>
            <a:cxnSpLocks/>
          </p:cNvCxnSpPr>
          <p:nvPr/>
        </p:nvCxnSpPr>
        <p:spPr>
          <a:xfrm flipV="1">
            <a:off x="3691911" y="1301046"/>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ector recto 86">
            <a:extLst>
              <a:ext uri="{FF2B5EF4-FFF2-40B4-BE49-F238E27FC236}">
                <a16:creationId xmlns:a16="http://schemas.microsoft.com/office/drawing/2014/main" id="{B10E38D9-9ABE-4463-BC3C-D0B7782FEEBD}"/>
              </a:ext>
            </a:extLst>
          </p:cNvPr>
          <p:cNvCxnSpPr>
            <a:cxnSpLocks/>
          </p:cNvCxnSpPr>
          <p:nvPr/>
        </p:nvCxnSpPr>
        <p:spPr>
          <a:xfrm flipV="1">
            <a:off x="3983056" y="1316168"/>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Conector recto 87">
            <a:extLst>
              <a:ext uri="{FF2B5EF4-FFF2-40B4-BE49-F238E27FC236}">
                <a16:creationId xmlns:a16="http://schemas.microsoft.com/office/drawing/2014/main" id="{32861027-872B-4683-BB91-B1894C8722C7}"/>
              </a:ext>
            </a:extLst>
          </p:cNvPr>
          <p:cNvCxnSpPr>
            <a:cxnSpLocks/>
          </p:cNvCxnSpPr>
          <p:nvPr/>
        </p:nvCxnSpPr>
        <p:spPr>
          <a:xfrm>
            <a:off x="5681677" y="1551609"/>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ector recto 88">
            <a:extLst>
              <a:ext uri="{FF2B5EF4-FFF2-40B4-BE49-F238E27FC236}">
                <a16:creationId xmlns:a16="http://schemas.microsoft.com/office/drawing/2014/main" id="{A897E6CC-B3A9-47B0-A8AA-D1B5CA248738}"/>
              </a:ext>
            </a:extLst>
          </p:cNvPr>
          <p:cNvCxnSpPr>
            <a:cxnSpLocks/>
          </p:cNvCxnSpPr>
          <p:nvPr/>
        </p:nvCxnSpPr>
        <p:spPr>
          <a:xfrm>
            <a:off x="5681677" y="1256632"/>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Conector recto 89">
            <a:extLst>
              <a:ext uri="{FF2B5EF4-FFF2-40B4-BE49-F238E27FC236}">
                <a16:creationId xmlns:a16="http://schemas.microsoft.com/office/drawing/2014/main" id="{D6B4808F-1229-45D9-AF41-B10B70AF4CF1}"/>
              </a:ext>
            </a:extLst>
          </p:cNvPr>
          <p:cNvCxnSpPr>
            <a:cxnSpLocks/>
          </p:cNvCxnSpPr>
          <p:nvPr/>
        </p:nvCxnSpPr>
        <p:spPr>
          <a:xfrm flipV="1">
            <a:off x="7264687" y="1389341"/>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Conector recto 90">
            <a:extLst>
              <a:ext uri="{FF2B5EF4-FFF2-40B4-BE49-F238E27FC236}">
                <a16:creationId xmlns:a16="http://schemas.microsoft.com/office/drawing/2014/main" id="{D185E7A6-C3CB-4462-852C-E93B6DEBA886}"/>
              </a:ext>
            </a:extLst>
          </p:cNvPr>
          <p:cNvCxnSpPr>
            <a:cxnSpLocks/>
          </p:cNvCxnSpPr>
          <p:nvPr/>
        </p:nvCxnSpPr>
        <p:spPr>
          <a:xfrm flipV="1">
            <a:off x="7567782" y="1392326"/>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ector recto 91">
            <a:extLst>
              <a:ext uri="{FF2B5EF4-FFF2-40B4-BE49-F238E27FC236}">
                <a16:creationId xmlns:a16="http://schemas.microsoft.com/office/drawing/2014/main" id="{DA8FC4C4-4E4C-4B1E-83F7-4E450F733049}"/>
              </a:ext>
            </a:extLst>
          </p:cNvPr>
          <p:cNvCxnSpPr>
            <a:cxnSpLocks/>
          </p:cNvCxnSpPr>
          <p:nvPr/>
        </p:nvCxnSpPr>
        <p:spPr>
          <a:xfrm flipV="1">
            <a:off x="10889689" y="1316168"/>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Conector recto 92">
            <a:extLst>
              <a:ext uri="{FF2B5EF4-FFF2-40B4-BE49-F238E27FC236}">
                <a16:creationId xmlns:a16="http://schemas.microsoft.com/office/drawing/2014/main" id="{5EDE7ED4-D960-419B-A0CE-019E11BA208B}"/>
              </a:ext>
            </a:extLst>
          </p:cNvPr>
          <p:cNvCxnSpPr>
            <a:cxnSpLocks/>
          </p:cNvCxnSpPr>
          <p:nvPr/>
        </p:nvCxnSpPr>
        <p:spPr>
          <a:xfrm flipV="1">
            <a:off x="11161838" y="1350501"/>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ector recto 93">
            <a:extLst>
              <a:ext uri="{FF2B5EF4-FFF2-40B4-BE49-F238E27FC236}">
                <a16:creationId xmlns:a16="http://schemas.microsoft.com/office/drawing/2014/main" id="{713986D7-86BF-4A28-9EE8-682F224D5E9C}"/>
              </a:ext>
            </a:extLst>
          </p:cNvPr>
          <p:cNvCxnSpPr>
            <a:cxnSpLocks/>
          </p:cNvCxnSpPr>
          <p:nvPr/>
        </p:nvCxnSpPr>
        <p:spPr>
          <a:xfrm flipV="1">
            <a:off x="3691911" y="3190715"/>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Conector recto 94">
            <a:extLst>
              <a:ext uri="{FF2B5EF4-FFF2-40B4-BE49-F238E27FC236}">
                <a16:creationId xmlns:a16="http://schemas.microsoft.com/office/drawing/2014/main" id="{2AE643FD-A22C-447F-9B8D-5A30ACEE51B8}"/>
              </a:ext>
            </a:extLst>
          </p:cNvPr>
          <p:cNvCxnSpPr>
            <a:cxnSpLocks/>
          </p:cNvCxnSpPr>
          <p:nvPr/>
        </p:nvCxnSpPr>
        <p:spPr>
          <a:xfrm flipV="1">
            <a:off x="4039847" y="3190715"/>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Conector recto 95">
            <a:extLst>
              <a:ext uri="{FF2B5EF4-FFF2-40B4-BE49-F238E27FC236}">
                <a16:creationId xmlns:a16="http://schemas.microsoft.com/office/drawing/2014/main" id="{9F1FE95E-CD78-45C5-9BC5-31336FA14759}"/>
              </a:ext>
            </a:extLst>
          </p:cNvPr>
          <p:cNvCxnSpPr>
            <a:cxnSpLocks/>
          </p:cNvCxnSpPr>
          <p:nvPr/>
        </p:nvCxnSpPr>
        <p:spPr>
          <a:xfrm flipV="1">
            <a:off x="10863184" y="3269891"/>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Conector recto 96">
            <a:extLst>
              <a:ext uri="{FF2B5EF4-FFF2-40B4-BE49-F238E27FC236}">
                <a16:creationId xmlns:a16="http://schemas.microsoft.com/office/drawing/2014/main" id="{F0EC3241-BD40-4BEA-904C-385B13840F48}"/>
              </a:ext>
            </a:extLst>
          </p:cNvPr>
          <p:cNvCxnSpPr>
            <a:cxnSpLocks/>
          </p:cNvCxnSpPr>
          <p:nvPr/>
        </p:nvCxnSpPr>
        <p:spPr>
          <a:xfrm flipV="1">
            <a:off x="11172918" y="3289969"/>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Conector recto 97">
            <a:extLst>
              <a:ext uri="{FF2B5EF4-FFF2-40B4-BE49-F238E27FC236}">
                <a16:creationId xmlns:a16="http://schemas.microsoft.com/office/drawing/2014/main" id="{36A98C87-251B-492B-B857-852F34E19729}"/>
              </a:ext>
            </a:extLst>
          </p:cNvPr>
          <p:cNvCxnSpPr>
            <a:cxnSpLocks/>
          </p:cNvCxnSpPr>
          <p:nvPr/>
        </p:nvCxnSpPr>
        <p:spPr>
          <a:xfrm flipV="1">
            <a:off x="3688469" y="5054734"/>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Conector recto 98">
            <a:extLst>
              <a:ext uri="{FF2B5EF4-FFF2-40B4-BE49-F238E27FC236}">
                <a16:creationId xmlns:a16="http://schemas.microsoft.com/office/drawing/2014/main" id="{0E56AE96-5E46-4199-AE56-F733E5BC011C}"/>
              </a:ext>
            </a:extLst>
          </p:cNvPr>
          <p:cNvCxnSpPr>
            <a:cxnSpLocks/>
          </p:cNvCxnSpPr>
          <p:nvPr/>
        </p:nvCxnSpPr>
        <p:spPr>
          <a:xfrm flipV="1">
            <a:off x="3983056" y="5091694"/>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Conector recto 99">
            <a:extLst>
              <a:ext uri="{FF2B5EF4-FFF2-40B4-BE49-F238E27FC236}">
                <a16:creationId xmlns:a16="http://schemas.microsoft.com/office/drawing/2014/main" id="{BBC2C579-611C-467E-BF47-F405D2F3E980}"/>
              </a:ext>
            </a:extLst>
          </p:cNvPr>
          <p:cNvCxnSpPr>
            <a:cxnSpLocks/>
          </p:cNvCxnSpPr>
          <p:nvPr/>
        </p:nvCxnSpPr>
        <p:spPr>
          <a:xfrm flipV="1">
            <a:off x="7264687" y="5051937"/>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Conector recto 100">
            <a:extLst>
              <a:ext uri="{FF2B5EF4-FFF2-40B4-BE49-F238E27FC236}">
                <a16:creationId xmlns:a16="http://schemas.microsoft.com/office/drawing/2014/main" id="{C19962ED-6335-4A88-913B-42696960D224}"/>
              </a:ext>
            </a:extLst>
          </p:cNvPr>
          <p:cNvCxnSpPr>
            <a:cxnSpLocks/>
          </p:cNvCxnSpPr>
          <p:nvPr/>
        </p:nvCxnSpPr>
        <p:spPr>
          <a:xfrm flipV="1">
            <a:off x="7577593" y="5056766"/>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Conector recto 101">
            <a:extLst>
              <a:ext uri="{FF2B5EF4-FFF2-40B4-BE49-F238E27FC236}">
                <a16:creationId xmlns:a16="http://schemas.microsoft.com/office/drawing/2014/main" id="{FB82CFBD-9918-4F85-B1EA-EAC7AA2FD37A}"/>
              </a:ext>
            </a:extLst>
          </p:cNvPr>
          <p:cNvCxnSpPr>
            <a:cxnSpLocks/>
          </p:cNvCxnSpPr>
          <p:nvPr/>
        </p:nvCxnSpPr>
        <p:spPr>
          <a:xfrm flipV="1">
            <a:off x="10893131" y="5091694"/>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Conector recto 102">
            <a:extLst>
              <a:ext uri="{FF2B5EF4-FFF2-40B4-BE49-F238E27FC236}">
                <a16:creationId xmlns:a16="http://schemas.microsoft.com/office/drawing/2014/main" id="{66DF5EA9-D2D5-475F-818D-2477832DA3A2}"/>
              </a:ext>
            </a:extLst>
          </p:cNvPr>
          <p:cNvCxnSpPr>
            <a:cxnSpLocks/>
          </p:cNvCxnSpPr>
          <p:nvPr/>
        </p:nvCxnSpPr>
        <p:spPr>
          <a:xfrm flipV="1">
            <a:off x="11224373" y="5091694"/>
            <a:ext cx="0" cy="10440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Conector recto 103">
            <a:extLst>
              <a:ext uri="{FF2B5EF4-FFF2-40B4-BE49-F238E27FC236}">
                <a16:creationId xmlns:a16="http://schemas.microsoft.com/office/drawing/2014/main" id="{044E9DA2-695C-4762-90E3-FFB10D072529}"/>
              </a:ext>
            </a:extLst>
          </p:cNvPr>
          <p:cNvCxnSpPr>
            <a:cxnSpLocks/>
          </p:cNvCxnSpPr>
          <p:nvPr/>
        </p:nvCxnSpPr>
        <p:spPr>
          <a:xfrm>
            <a:off x="9437570" y="1551440"/>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Conector recto 104">
            <a:extLst>
              <a:ext uri="{FF2B5EF4-FFF2-40B4-BE49-F238E27FC236}">
                <a16:creationId xmlns:a16="http://schemas.microsoft.com/office/drawing/2014/main" id="{1ED9F132-C788-4BB0-B5FF-744EC9E2ADE3}"/>
              </a:ext>
            </a:extLst>
          </p:cNvPr>
          <p:cNvCxnSpPr>
            <a:cxnSpLocks/>
          </p:cNvCxnSpPr>
          <p:nvPr/>
        </p:nvCxnSpPr>
        <p:spPr>
          <a:xfrm>
            <a:off x="9437569" y="1256632"/>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Conector recto 105">
            <a:extLst>
              <a:ext uri="{FF2B5EF4-FFF2-40B4-BE49-F238E27FC236}">
                <a16:creationId xmlns:a16="http://schemas.microsoft.com/office/drawing/2014/main" id="{90004B62-87AD-49C0-BF4C-ADFE75184602}"/>
              </a:ext>
            </a:extLst>
          </p:cNvPr>
          <p:cNvCxnSpPr>
            <a:cxnSpLocks/>
          </p:cNvCxnSpPr>
          <p:nvPr/>
        </p:nvCxnSpPr>
        <p:spPr>
          <a:xfrm>
            <a:off x="2257560" y="3471309"/>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Conector recto 106">
            <a:extLst>
              <a:ext uri="{FF2B5EF4-FFF2-40B4-BE49-F238E27FC236}">
                <a16:creationId xmlns:a16="http://schemas.microsoft.com/office/drawing/2014/main" id="{0A1E32AC-F544-4CC8-AF25-0058CBC29E50}"/>
              </a:ext>
            </a:extLst>
          </p:cNvPr>
          <p:cNvCxnSpPr>
            <a:cxnSpLocks/>
          </p:cNvCxnSpPr>
          <p:nvPr/>
        </p:nvCxnSpPr>
        <p:spPr>
          <a:xfrm>
            <a:off x="2257559" y="3190715"/>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Conector recto 107">
            <a:extLst>
              <a:ext uri="{FF2B5EF4-FFF2-40B4-BE49-F238E27FC236}">
                <a16:creationId xmlns:a16="http://schemas.microsoft.com/office/drawing/2014/main" id="{DDEDD441-217A-41EB-A5D8-3FD8EF6305B4}"/>
              </a:ext>
            </a:extLst>
          </p:cNvPr>
          <p:cNvCxnSpPr>
            <a:cxnSpLocks/>
          </p:cNvCxnSpPr>
          <p:nvPr/>
        </p:nvCxnSpPr>
        <p:spPr>
          <a:xfrm>
            <a:off x="5870281" y="3471309"/>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Conector recto 108">
            <a:extLst>
              <a:ext uri="{FF2B5EF4-FFF2-40B4-BE49-F238E27FC236}">
                <a16:creationId xmlns:a16="http://schemas.microsoft.com/office/drawing/2014/main" id="{91CC2F37-CAC3-4917-918D-049368AA6F99}"/>
              </a:ext>
            </a:extLst>
          </p:cNvPr>
          <p:cNvCxnSpPr>
            <a:cxnSpLocks/>
          </p:cNvCxnSpPr>
          <p:nvPr/>
        </p:nvCxnSpPr>
        <p:spPr>
          <a:xfrm>
            <a:off x="5877053" y="3177125"/>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Conector recto 109">
            <a:extLst>
              <a:ext uri="{FF2B5EF4-FFF2-40B4-BE49-F238E27FC236}">
                <a16:creationId xmlns:a16="http://schemas.microsoft.com/office/drawing/2014/main" id="{4183E77D-FC42-4756-AE0E-2C1CDB2F86E0}"/>
              </a:ext>
            </a:extLst>
          </p:cNvPr>
          <p:cNvCxnSpPr>
            <a:cxnSpLocks/>
          </p:cNvCxnSpPr>
          <p:nvPr/>
        </p:nvCxnSpPr>
        <p:spPr>
          <a:xfrm>
            <a:off x="9398924" y="3471309"/>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Conector recto 110">
            <a:extLst>
              <a:ext uri="{FF2B5EF4-FFF2-40B4-BE49-F238E27FC236}">
                <a16:creationId xmlns:a16="http://schemas.microsoft.com/office/drawing/2014/main" id="{6D0FB247-F49F-43D3-9371-AA30DC712C44}"/>
              </a:ext>
            </a:extLst>
          </p:cNvPr>
          <p:cNvCxnSpPr>
            <a:cxnSpLocks/>
          </p:cNvCxnSpPr>
          <p:nvPr/>
        </p:nvCxnSpPr>
        <p:spPr>
          <a:xfrm>
            <a:off x="9398923" y="3176787"/>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Conector recto 111">
            <a:extLst>
              <a:ext uri="{FF2B5EF4-FFF2-40B4-BE49-F238E27FC236}">
                <a16:creationId xmlns:a16="http://schemas.microsoft.com/office/drawing/2014/main" id="{110E9D97-D0FB-4895-B086-04BDA54DA4D1}"/>
              </a:ext>
            </a:extLst>
          </p:cNvPr>
          <p:cNvCxnSpPr>
            <a:cxnSpLocks/>
          </p:cNvCxnSpPr>
          <p:nvPr/>
        </p:nvCxnSpPr>
        <p:spPr>
          <a:xfrm>
            <a:off x="2274684" y="5322163"/>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Conector recto 112">
            <a:extLst>
              <a:ext uri="{FF2B5EF4-FFF2-40B4-BE49-F238E27FC236}">
                <a16:creationId xmlns:a16="http://schemas.microsoft.com/office/drawing/2014/main" id="{B20CD950-E78C-463A-9508-C64E2F578C34}"/>
              </a:ext>
            </a:extLst>
          </p:cNvPr>
          <p:cNvCxnSpPr>
            <a:cxnSpLocks/>
          </p:cNvCxnSpPr>
          <p:nvPr/>
        </p:nvCxnSpPr>
        <p:spPr>
          <a:xfrm>
            <a:off x="2274683" y="4982887"/>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Conector recto 113">
            <a:extLst>
              <a:ext uri="{FF2B5EF4-FFF2-40B4-BE49-F238E27FC236}">
                <a16:creationId xmlns:a16="http://schemas.microsoft.com/office/drawing/2014/main" id="{FFBC531E-21E5-4C06-B509-0E278A228F73}"/>
              </a:ext>
            </a:extLst>
          </p:cNvPr>
          <p:cNvCxnSpPr>
            <a:cxnSpLocks/>
          </p:cNvCxnSpPr>
          <p:nvPr/>
        </p:nvCxnSpPr>
        <p:spPr>
          <a:xfrm>
            <a:off x="5877053" y="5321825"/>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Conector recto 114">
            <a:extLst>
              <a:ext uri="{FF2B5EF4-FFF2-40B4-BE49-F238E27FC236}">
                <a16:creationId xmlns:a16="http://schemas.microsoft.com/office/drawing/2014/main" id="{4BEC541A-1BD5-4A09-B667-DFE6B91BC1B4}"/>
              </a:ext>
            </a:extLst>
          </p:cNvPr>
          <p:cNvCxnSpPr>
            <a:cxnSpLocks/>
          </p:cNvCxnSpPr>
          <p:nvPr/>
        </p:nvCxnSpPr>
        <p:spPr>
          <a:xfrm>
            <a:off x="5877053" y="4982887"/>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Conector recto 115">
            <a:extLst>
              <a:ext uri="{FF2B5EF4-FFF2-40B4-BE49-F238E27FC236}">
                <a16:creationId xmlns:a16="http://schemas.microsoft.com/office/drawing/2014/main" id="{51F49D7F-9E56-4E80-9818-66651658A155}"/>
              </a:ext>
            </a:extLst>
          </p:cNvPr>
          <p:cNvCxnSpPr>
            <a:cxnSpLocks/>
          </p:cNvCxnSpPr>
          <p:nvPr/>
        </p:nvCxnSpPr>
        <p:spPr>
          <a:xfrm>
            <a:off x="9406060" y="5321825"/>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Conector recto 116">
            <a:extLst>
              <a:ext uri="{FF2B5EF4-FFF2-40B4-BE49-F238E27FC236}">
                <a16:creationId xmlns:a16="http://schemas.microsoft.com/office/drawing/2014/main" id="{37CF6F26-32B6-4E01-9827-C55686B4B2EC}"/>
              </a:ext>
            </a:extLst>
          </p:cNvPr>
          <p:cNvCxnSpPr>
            <a:cxnSpLocks/>
          </p:cNvCxnSpPr>
          <p:nvPr/>
        </p:nvCxnSpPr>
        <p:spPr>
          <a:xfrm>
            <a:off x="9398922" y="5011843"/>
            <a:ext cx="11661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Flecha: a la derecha 117">
            <a:extLst>
              <a:ext uri="{FF2B5EF4-FFF2-40B4-BE49-F238E27FC236}">
                <a16:creationId xmlns:a16="http://schemas.microsoft.com/office/drawing/2014/main" id="{D9221336-A558-46A4-9E95-67DE61FB902F}"/>
              </a:ext>
            </a:extLst>
          </p:cNvPr>
          <p:cNvSpPr/>
          <p:nvPr/>
        </p:nvSpPr>
        <p:spPr>
          <a:xfrm>
            <a:off x="4564797" y="1641076"/>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9" name="Flecha: a la derecha 118">
            <a:extLst>
              <a:ext uri="{FF2B5EF4-FFF2-40B4-BE49-F238E27FC236}">
                <a16:creationId xmlns:a16="http://schemas.microsoft.com/office/drawing/2014/main" id="{97BD46D2-C1F3-4F14-9F2A-784D947B2B05}"/>
              </a:ext>
            </a:extLst>
          </p:cNvPr>
          <p:cNvSpPr/>
          <p:nvPr/>
        </p:nvSpPr>
        <p:spPr>
          <a:xfrm>
            <a:off x="8211805" y="1660275"/>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0" name="Flecha: a la derecha 119">
            <a:extLst>
              <a:ext uri="{FF2B5EF4-FFF2-40B4-BE49-F238E27FC236}">
                <a16:creationId xmlns:a16="http://schemas.microsoft.com/office/drawing/2014/main" id="{4C8B2B94-47D2-481A-8BBE-7C1DBD4F3D02}"/>
              </a:ext>
            </a:extLst>
          </p:cNvPr>
          <p:cNvSpPr/>
          <p:nvPr/>
        </p:nvSpPr>
        <p:spPr>
          <a:xfrm>
            <a:off x="4559097" y="3476892"/>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1" name="Flecha: a la derecha 120">
            <a:extLst>
              <a:ext uri="{FF2B5EF4-FFF2-40B4-BE49-F238E27FC236}">
                <a16:creationId xmlns:a16="http://schemas.microsoft.com/office/drawing/2014/main" id="{8379D33D-4BD6-4016-988C-2425588DE7B8}"/>
              </a:ext>
            </a:extLst>
          </p:cNvPr>
          <p:cNvSpPr/>
          <p:nvPr/>
        </p:nvSpPr>
        <p:spPr>
          <a:xfrm>
            <a:off x="8213689" y="3476971"/>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2" name="Flecha: a la derecha 121">
            <a:extLst>
              <a:ext uri="{FF2B5EF4-FFF2-40B4-BE49-F238E27FC236}">
                <a16:creationId xmlns:a16="http://schemas.microsoft.com/office/drawing/2014/main" id="{8691C66E-86C7-4703-AA47-85A2F3B4BB3E}"/>
              </a:ext>
            </a:extLst>
          </p:cNvPr>
          <p:cNvSpPr/>
          <p:nvPr/>
        </p:nvSpPr>
        <p:spPr>
          <a:xfrm>
            <a:off x="4505562" y="5310062"/>
            <a:ext cx="978408" cy="54394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3" name="Flecha: a la derecha 122">
            <a:extLst>
              <a:ext uri="{FF2B5EF4-FFF2-40B4-BE49-F238E27FC236}">
                <a16:creationId xmlns:a16="http://schemas.microsoft.com/office/drawing/2014/main" id="{B1BDA8E7-4390-4879-8F69-3701886B1AF6}"/>
              </a:ext>
            </a:extLst>
          </p:cNvPr>
          <p:cNvSpPr/>
          <p:nvPr/>
        </p:nvSpPr>
        <p:spPr>
          <a:xfrm>
            <a:off x="8216178" y="5397361"/>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4" name="Flecha: a la derecha 123">
            <a:extLst>
              <a:ext uri="{FF2B5EF4-FFF2-40B4-BE49-F238E27FC236}">
                <a16:creationId xmlns:a16="http://schemas.microsoft.com/office/drawing/2014/main" id="{9395A1B7-4B1D-4422-8DEA-89214CAF2EEF}"/>
              </a:ext>
            </a:extLst>
          </p:cNvPr>
          <p:cNvSpPr/>
          <p:nvPr/>
        </p:nvSpPr>
        <p:spPr>
          <a:xfrm>
            <a:off x="861532" y="3463712"/>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5" name="Flecha: a la derecha 124">
            <a:extLst>
              <a:ext uri="{FF2B5EF4-FFF2-40B4-BE49-F238E27FC236}">
                <a16:creationId xmlns:a16="http://schemas.microsoft.com/office/drawing/2014/main" id="{CDC91C91-EDC4-4488-B62B-A05C4A46B9C4}"/>
              </a:ext>
            </a:extLst>
          </p:cNvPr>
          <p:cNvSpPr/>
          <p:nvPr/>
        </p:nvSpPr>
        <p:spPr>
          <a:xfrm>
            <a:off x="859668" y="5310062"/>
            <a:ext cx="9784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8" name="Rectángulo 127">
            <a:extLst>
              <a:ext uri="{FF2B5EF4-FFF2-40B4-BE49-F238E27FC236}">
                <a16:creationId xmlns:a16="http://schemas.microsoft.com/office/drawing/2014/main" id="{EA67ECDC-DC9B-40E6-A2A4-7E2052B46C8C}"/>
              </a:ext>
            </a:extLst>
          </p:cNvPr>
          <p:cNvSpPr/>
          <p:nvPr/>
        </p:nvSpPr>
        <p:spPr>
          <a:xfrm>
            <a:off x="2072134" y="2341517"/>
            <a:ext cx="2298977" cy="369332"/>
          </a:xfrm>
          <a:prstGeom prst="rect">
            <a:avLst/>
          </a:prstGeom>
        </p:spPr>
        <p:txBody>
          <a:bodyPr wrap="square">
            <a:spAutoFit/>
          </a:bodyPr>
          <a:lstStyle/>
          <a:p>
            <a:r>
              <a:rPr lang="es-MX" i="1" dirty="0"/>
              <a:t>configuración inicial</a:t>
            </a:r>
          </a:p>
        </p:txBody>
      </p:sp>
      <p:sp>
        <p:nvSpPr>
          <p:cNvPr id="129" name="Rectángulo 128">
            <a:extLst>
              <a:ext uri="{FF2B5EF4-FFF2-40B4-BE49-F238E27FC236}">
                <a16:creationId xmlns:a16="http://schemas.microsoft.com/office/drawing/2014/main" id="{151E55D5-9D72-4207-AA18-8ABA37767622}"/>
              </a:ext>
            </a:extLst>
          </p:cNvPr>
          <p:cNvSpPr/>
          <p:nvPr/>
        </p:nvSpPr>
        <p:spPr>
          <a:xfrm>
            <a:off x="9427884" y="6143925"/>
            <a:ext cx="2288734" cy="369332"/>
          </a:xfrm>
          <a:prstGeom prst="rect">
            <a:avLst/>
          </a:prstGeom>
        </p:spPr>
        <p:txBody>
          <a:bodyPr wrap="square">
            <a:spAutoFit/>
          </a:bodyPr>
          <a:lstStyle/>
          <a:p>
            <a:r>
              <a:rPr lang="es-MX" i="1" dirty="0"/>
              <a:t>configuración final</a:t>
            </a:r>
          </a:p>
        </p:txBody>
      </p:sp>
      <p:sp>
        <p:nvSpPr>
          <p:cNvPr id="126" name="Slide Number Placeholder 2">
            <a:extLst>
              <a:ext uri="{FF2B5EF4-FFF2-40B4-BE49-F238E27FC236}">
                <a16:creationId xmlns:a16="http://schemas.microsoft.com/office/drawing/2014/main" id="{EE8C979E-C78C-4F54-A195-57C2387D7E05}"/>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Tree>
    <p:extLst>
      <p:ext uri="{BB962C8B-B14F-4D97-AF65-F5344CB8AC3E}">
        <p14:creationId xmlns:p14="http://schemas.microsoft.com/office/powerpoint/2010/main" val="1799943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53727" y="263396"/>
            <a:ext cx="11453004" cy="5940088"/>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Algunas características de los AP</a:t>
            </a:r>
          </a:p>
          <a:p>
            <a:pPr algn="just"/>
            <a:endParaRPr lang="es-AR"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Los AP </a:t>
            </a:r>
            <a:r>
              <a:rPr lang="es-AR" b="1" dirty="0">
                <a:latin typeface="Arial" panose="020B0604020202020204" pitchFamily="34" charset="0"/>
                <a:cs typeface="Arial" panose="020B0604020202020204" pitchFamily="34" charset="0"/>
              </a:rPr>
              <a:t>siempre paran.</a:t>
            </a:r>
          </a:p>
          <a:p>
            <a:pPr marL="342900" indent="-342900" algn="just">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Los lenguajes que aceptan se llaman </a:t>
            </a:r>
            <a:r>
              <a:rPr lang="es-AR" b="1" dirty="0">
                <a:latin typeface="Arial" panose="020B0604020202020204" pitchFamily="34" charset="0"/>
                <a:cs typeface="Arial" panose="020B0604020202020204" pitchFamily="34" charset="0"/>
              </a:rPr>
              <a:t>libres de contexto </a:t>
            </a:r>
            <a:r>
              <a:rPr lang="es-AR" dirty="0">
                <a:latin typeface="Arial" panose="020B0604020202020204" pitchFamily="34" charset="0"/>
                <a:cs typeface="Arial" panose="020B0604020202020204" pitchFamily="34" charset="0"/>
              </a:rPr>
              <a:t>o de </a:t>
            </a:r>
            <a:r>
              <a:rPr lang="es-AR" b="1" dirty="0">
                <a:latin typeface="Arial" panose="020B0604020202020204" pitchFamily="34" charset="0"/>
                <a:cs typeface="Arial" panose="020B0604020202020204" pitchFamily="34" charset="0"/>
              </a:rPr>
              <a:t>tipo 2.</a:t>
            </a:r>
            <a:r>
              <a:rPr lang="es-AR"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A diferencia de las MT generales, </a:t>
            </a:r>
            <a:r>
              <a:rPr lang="es-AR" b="1" dirty="0">
                <a:latin typeface="Arial" panose="020B0604020202020204" pitchFamily="34" charset="0"/>
                <a:cs typeface="Arial" panose="020B0604020202020204" pitchFamily="34" charset="0"/>
              </a:rPr>
              <a:t>pueden decidir</a:t>
            </a:r>
            <a:r>
              <a:rPr lang="es-AR"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endParaRPr lang="es-AR" sz="700" dirty="0">
              <a:latin typeface="Arial" panose="020B0604020202020204" pitchFamily="34" charset="0"/>
              <a:cs typeface="Arial" panose="020B0604020202020204" pitchFamily="34" charset="0"/>
            </a:endParaRPr>
          </a:p>
          <a:p>
            <a:pPr marL="360000" algn="just"/>
            <a:r>
              <a:rPr lang="es-ES" dirty="0">
                <a:latin typeface="Arial" panose="020B0604020202020204" pitchFamily="34" charset="0"/>
                <a:cs typeface="Arial" panose="020B0604020202020204" pitchFamily="34" charset="0"/>
              </a:rPr>
              <a:t>¿w </a:t>
            </a:r>
            <a:r>
              <a:rPr lang="es-AR"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L(M)?</a:t>
            </a:r>
          </a:p>
          <a:p>
            <a:pPr marL="360000" algn="just"/>
            <a:r>
              <a:rPr lang="es-AR" dirty="0">
                <a:latin typeface="Arial" panose="020B0604020202020204" pitchFamily="34" charset="0"/>
                <a:cs typeface="Arial" panose="020B0604020202020204" pitchFamily="34" charset="0"/>
              </a:rPr>
              <a:t>¿L(M) = </a:t>
            </a:r>
            <a:r>
              <a:rPr lang="es-AR" dirty="0">
                <a:latin typeface="Arial" panose="020B0604020202020204" pitchFamily="34" charset="0"/>
                <a:cs typeface="Arial" panose="020B0604020202020204" pitchFamily="34" charset="0"/>
                <a:sym typeface="Symbol" panose="05050102010706020507" pitchFamily="18" charset="2"/>
              </a:rPr>
              <a:t></a:t>
            </a:r>
            <a:r>
              <a:rPr lang="es-AR" dirty="0">
                <a:latin typeface="Arial" panose="020B0604020202020204" pitchFamily="34" charset="0"/>
                <a:cs typeface="Arial" panose="020B0604020202020204" pitchFamily="34" charset="0"/>
              </a:rPr>
              <a:t>? </a:t>
            </a:r>
          </a:p>
          <a:p>
            <a:pPr marL="360000"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b="1" dirty="0">
                <a:solidFill>
                  <a:srgbClr val="0070C0"/>
                </a:solidFill>
                <a:latin typeface="Arial" panose="020B0604020202020204" pitchFamily="34" charset="0"/>
                <a:cs typeface="Arial" panose="020B0604020202020204" pitchFamily="34" charset="0"/>
              </a:rPr>
              <a:t>Jerarquía de Chomsky:</a:t>
            </a:r>
            <a:endParaRPr lang="es-AR" dirty="0">
              <a:solidFill>
                <a:srgbClr val="0070C0"/>
              </a:solidFill>
              <a:latin typeface="Arial" panose="020B0604020202020204" pitchFamily="34" charset="0"/>
              <a:cs typeface="Arial" panose="020B0604020202020204" pitchFamily="34" charset="0"/>
            </a:endParaRP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Lenguajes de tipo 3 (</a:t>
            </a:r>
            <a:r>
              <a:rPr lang="es-AR" b="1" dirty="0">
                <a:latin typeface="Arial" panose="020B0604020202020204" pitchFamily="34" charset="0"/>
                <a:cs typeface="Arial" panose="020B0604020202020204" pitchFamily="34" charset="0"/>
              </a:rPr>
              <a:t>regulares</a:t>
            </a:r>
            <a:r>
              <a:rPr lang="es-AR" dirty="0">
                <a:latin typeface="Arial" panose="020B0604020202020204" pitchFamily="34" charset="0"/>
                <a:cs typeface="Arial" panose="020B0604020202020204" pitchFamily="34" charset="0"/>
              </a:rPr>
              <a:t>)</a:t>
            </a:r>
          </a:p>
          <a:p>
            <a:pPr algn="just"/>
            <a:r>
              <a:rPr lang="es-AR" dirty="0">
                <a:latin typeface="Arial" panose="020B0604020202020204" pitchFamily="34" charset="0"/>
                <a:cs typeface="Arial" panose="020B0604020202020204" pitchFamily="34" charset="0"/>
              </a:rPr>
              <a:t>     Lenguajes de tipo 2 (</a:t>
            </a:r>
            <a:r>
              <a:rPr lang="es-AR" b="1" dirty="0">
                <a:latin typeface="Arial" panose="020B0604020202020204" pitchFamily="34" charset="0"/>
                <a:cs typeface="Arial" panose="020B0604020202020204" pitchFamily="34" charset="0"/>
              </a:rPr>
              <a:t>libres de contexto</a:t>
            </a:r>
            <a:r>
              <a:rPr lang="es-AR" dirty="0">
                <a:latin typeface="Arial" panose="020B0604020202020204" pitchFamily="34" charset="0"/>
                <a:cs typeface="Arial" panose="020B0604020202020204" pitchFamily="34" charset="0"/>
              </a:rPr>
              <a:t>)</a:t>
            </a:r>
          </a:p>
          <a:p>
            <a:pPr algn="just"/>
            <a:r>
              <a:rPr lang="es-AR" dirty="0">
                <a:latin typeface="Arial" panose="020B0604020202020204" pitchFamily="34" charset="0"/>
                <a:cs typeface="Arial" panose="020B0604020202020204" pitchFamily="34" charset="0"/>
              </a:rPr>
              <a:t>     Lenguajes de tipo 1 (</a:t>
            </a:r>
            <a:r>
              <a:rPr lang="es-AR" b="1" dirty="0">
                <a:latin typeface="Arial" panose="020B0604020202020204" pitchFamily="34" charset="0"/>
                <a:cs typeface="Arial" panose="020B0604020202020204" pitchFamily="34" charset="0"/>
              </a:rPr>
              <a:t>sensibles al contexto</a:t>
            </a:r>
            <a:r>
              <a:rPr lang="es-AR" dirty="0">
                <a:latin typeface="Arial" panose="020B0604020202020204" pitchFamily="34" charset="0"/>
                <a:cs typeface="Arial" panose="020B0604020202020204" pitchFamily="34" charset="0"/>
              </a:rPr>
              <a:t>)</a:t>
            </a:r>
          </a:p>
          <a:p>
            <a:pPr algn="just"/>
            <a:r>
              <a:rPr lang="es-AR" dirty="0">
                <a:latin typeface="Arial" panose="020B0604020202020204" pitchFamily="34" charset="0"/>
                <a:cs typeface="Arial" panose="020B0604020202020204" pitchFamily="34" charset="0"/>
              </a:rPr>
              <a:t>     Lenguajes de tipo 0 (</a:t>
            </a:r>
            <a:r>
              <a:rPr lang="es-AR" b="1" dirty="0">
                <a:latin typeface="Arial" panose="020B0604020202020204" pitchFamily="34" charset="0"/>
                <a:cs typeface="Arial" panose="020B0604020202020204" pitchFamily="34" charset="0"/>
              </a:rPr>
              <a:t>recursivamente numerables</a:t>
            </a:r>
            <a:r>
              <a:rPr lang="es-AR" dirty="0">
                <a:latin typeface="Arial" panose="020B0604020202020204" pitchFamily="34" charset="0"/>
                <a:cs typeface="Arial" panose="020B0604020202020204" pitchFamily="34" charset="0"/>
              </a:rPr>
              <a:t>)</a:t>
            </a:r>
          </a:p>
          <a:p>
            <a:pPr algn="just"/>
            <a:endParaRPr lang="es-AR" sz="5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s-AR" sz="5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AF7761C8-3224-4BFA-8260-F03B86E7E85F}"/>
              </a:ext>
            </a:extLst>
          </p:cNvPr>
          <p:cNvSpPr/>
          <p:nvPr/>
        </p:nvSpPr>
        <p:spPr>
          <a:xfrm>
            <a:off x="9383181" y="3879698"/>
            <a:ext cx="686406"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tipo 3</a:t>
            </a:r>
            <a:endParaRPr lang="es-MX" sz="1600" dirty="0"/>
          </a:p>
        </p:txBody>
      </p:sp>
      <p:sp>
        <p:nvSpPr>
          <p:cNvPr id="5" name="Rectángulo 4">
            <a:extLst>
              <a:ext uri="{FF2B5EF4-FFF2-40B4-BE49-F238E27FC236}">
                <a16:creationId xmlns:a16="http://schemas.microsoft.com/office/drawing/2014/main" id="{5D7FEA4E-0BF5-477D-AFF8-41C93121D2A2}"/>
              </a:ext>
            </a:extLst>
          </p:cNvPr>
          <p:cNvSpPr/>
          <p:nvPr/>
        </p:nvSpPr>
        <p:spPr>
          <a:xfrm>
            <a:off x="9383181" y="3510367"/>
            <a:ext cx="686406"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tipo 2</a:t>
            </a:r>
            <a:endParaRPr lang="es-MX" sz="1600" dirty="0"/>
          </a:p>
        </p:txBody>
      </p:sp>
      <p:sp>
        <p:nvSpPr>
          <p:cNvPr id="6" name="Rectángulo 5">
            <a:extLst>
              <a:ext uri="{FF2B5EF4-FFF2-40B4-BE49-F238E27FC236}">
                <a16:creationId xmlns:a16="http://schemas.microsoft.com/office/drawing/2014/main" id="{979861C0-E95E-4FA0-A3F1-08C25A52DA29}"/>
              </a:ext>
            </a:extLst>
          </p:cNvPr>
          <p:cNvSpPr/>
          <p:nvPr/>
        </p:nvSpPr>
        <p:spPr>
          <a:xfrm>
            <a:off x="9383181" y="3164190"/>
            <a:ext cx="686406"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tipo 1</a:t>
            </a:r>
            <a:endParaRPr lang="es-MX" sz="1600" dirty="0"/>
          </a:p>
        </p:txBody>
      </p:sp>
      <p:sp>
        <p:nvSpPr>
          <p:cNvPr id="7" name="Rectángulo 6">
            <a:extLst>
              <a:ext uri="{FF2B5EF4-FFF2-40B4-BE49-F238E27FC236}">
                <a16:creationId xmlns:a16="http://schemas.microsoft.com/office/drawing/2014/main" id="{2B60BAA7-A6D8-4C88-8E59-20FFB6D96F63}"/>
              </a:ext>
            </a:extLst>
          </p:cNvPr>
          <p:cNvSpPr/>
          <p:nvPr/>
        </p:nvSpPr>
        <p:spPr>
          <a:xfrm>
            <a:off x="8756592" y="2013681"/>
            <a:ext cx="755335" cy="584775"/>
          </a:xfrm>
          <a:prstGeom prst="rect">
            <a:avLst/>
          </a:prstGeom>
        </p:spPr>
        <p:txBody>
          <a:bodyPr wrap="none">
            <a:spAutoFit/>
          </a:bodyPr>
          <a:lstStyle/>
          <a:p>
            <a:r>
              <a:rPr lang="es-AR" sz="3200" dirty="0">
                <a:latin typeface="Arial" panose="020B0604020202020204" pitchFamily="34" charset="0"/>
                <a:cs typeface="Arial" panose="020B0604020202020204" pitchFamily="34" charset="0"/>
              </a:rPr>
              <a:t>RE</a:t>
            </a:r>
            <a:endParaRPr lang="es-MX" sz="3200" dirty="0"/>
          </a:p>
        </p:txBody>
      </p:sp>
      <p:sp>
        <p:nvSpPr>
          <p:cNvPr id="12" name="Diagrama de flujo: conector 11">
            <a:extLst>
              <a:ext uri="{FF2B5EF4-FFF2-40B4-BE49-F238E27FC236}">
                <a16:creationId xmlns:a16="http://schemas.microsoft.com/office/drawing/2014/main" id="{D3650392-DE9B-4B82-A130-FBEDF7F66294}"/>
              </a:ext>
            </a:extLst>
          </p:cNvPr>
          <p:cNvSpPr/>
          <p:nvPr/>
        </p:nvSpPr>
        <p:spPr>
          <a:xfrm>
            <a:off x="7503511" y="2738229"/>
            <a:ext cx="3212086" cy="3452794"/>
          </a:xfrm>
          <a:prstGeom prst="flowChartConnector">
            <a:avLst/>
          </a:prstGeom>
          <a:solidFill>
            <a:schemeClr val="accent4">
              <a:lumMod val="20000"/>
              <a:lumOff val="80000"/>
            </a:schemeClr>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Diagrama de flujo: conector 14">
            <a:extLst>
              <a:ext uri="{FF2B5EF4-FFF2-40B4-BE49-F238E27FC236}">
                <a16:creationId xmlns:a16="http://schemas.microsoft.com/office/drawing/2014/main" id="{E77BDDEA-F1BC-4704-ADD1-9D0C3ACD2B9C}"/>
              </a:ext>
            </a:extLst>
          </p:cNvPr>
          <p:cNvSpPr/>
          <p:nvPr/>
        </p:nvSpPr>
        <p:spPr>
          <a:xfrm>
            <a:off x="7941924" y="3621815"/>
            <a:ext cx="2352782" cy="2348866"/>
          </a:xfrm>
          <a:prstGeom prst="flowChartConnector">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Diagrama de flujo: conector 17">
            <a:extLst>
              <a:ext uri="{FF2B5EF4-FFF2-40B4-BE49-F238E27FC236}">
                <a16:creationId xmlns:a16="http://schemas.microsoft.com/office/drawing/2014/main" id="{DFA81BE4-EE94-49A2-98D7-1ECA7F4E75DD}"/>
              </a:ext>
            </a:extLst>
          </p:cNvPr>
          <p:cNvSpPr/>
          <p:nvPr/>
        </p:nvSpPr>
        <p:spPr>
          <a:xfrm>
            <a:off x="6524090" y="1828800"/>
            <a:ext cx="5182641" cy="455485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ángulo 1">
            <a:extLst>
              <a:ext uri="{FF2B5EF4-FFF2-40B4-BE49-F238E27FC236}">
                <a16:creationId xmlns:a16="http://schemas.microsoft.com/office/drawing/2014/main" id="{169119F4-F9C7-4438-AC1A-B1A0C3C21D49}"/>
              </a:ext>
            </a:extLst>
          </p:cNvPr>
          <p:cNvSpPr/>
          <p:nvPr/>
        </p:nvSpPr>
        <p:spPr>
          <a:xfrm>
            <a:off x="8887378" y="2911345"/>
            <a:ext cx="444352" cy="523220"/>
          </a:xfrm>
          <a:prstGeom prst="rect">
            <a:avLst/>
          </a:prstGeom>
        </p:spPr>
        <p:txBody>
          <a:bodyPr wrap="none">
            <a:spAutoFit/>
          </a:bodyPr>
          <a:lstStyle/>
          <a:p>
            <a:r>
              <a:rPr lang="es-AR" sz="2800" dirty="0">
                <a:latin typeface="Arial" panose="020B0604020202020204" pitchFamily="34" charset="0"/>
                <a:cs typeface="Arial" panose="020B0604020202020204" pitchFamily="34" charset="0"/>
              </a:rPr>
              <a:t>R</a:t>
            </a:r>
            <a:endParaRPr lang="es-MX" sz="2800" dirty="0"/>
          </a:p>
        </p:txBody>
      </p:sp>
      <p:sp>
        <p:nvSpPr>
          <p:cNvPr id="19" name="Slide Number Placeholder 2">
            <a:extLst>
              <a:ext uri="{FF2B5EF4-FFF2-40B4-BE49-F238E27FC236}">
                <a16:creationId xmlns:a16="http://schemas.microsoft.com/office/drawing/2014/main" id="{5969A8F6-B1EF-40F9-AD20-410106360480}"/>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3" name="Diagrama de flujo: conector 22">
            <a:extLst>
              <a:ext uri="{FF2B5EF4-FFF2-40B4-BE49-F238E27FC236}">
                <a16:creationId xmlns:a16="http://schemas.microsoft.com/office/drawing/2014/main" id="{6F2BF4AE-EA4C-A600-7B0A-6297DD968510}"/>
              </a:ext>
            </a:extLst>
          </p:cNvPr>
          <p:cNvSpPr/>
          <p:nvPr/>
        </p:nvSpPr>
        <p:spPr>
          <a:xfrm>
            <a:off x="8516284" y="4386330"/>
            <a:ext cx="1213343" cy="1397326"/>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Rectángulo 25">
            <a:extLst>
              <a:ext uri="{FF2B5EF4-FFF2-40B4-BE49-F238E27FC236}">
                <a16:creationId xmlns:a16="http://schemas.microsoft.com/office/drawing/2014/main" id="{5C992D6F-21F2-5A1C-9B88-F3B4E491D318}"/>
              </a:ext>
            </a:extLst>
          </p:cNvPr>
          <p:cNvSpPr/>
          <p:nvPr/>
        </p:nvSpPr>
        <p:spPr>
          <a:xfrm>
            <a:off x="8516284" y="4755661"/>
            <a:ext cx="1303202" cy="584775"/>
          </a:xfrm>
          <a:prstGeom prst="rect">
            <a:avLst/>
          </a:prstGeom>
        </p:spPr>
        <p:txBody>
          <a:bodyPr wrap="square">
            <a:spAutoFit/>
          </a:bodyPr>
          <a:lstStyle/>
          <a:p>
            <a:pPr algn="ctr"/>
            <a:r>
              <a:rPr lang="es-AR" sz="1600" b="1" dirty="0">
                <a:solidFill>
                  <a:srgbClr val="00B050"/>
                </a:solidFill>
                <a:latin typeface="Arial" panose="020B0604020202020204" pitchFamily="34" charset="0"/>
                <a:cs typeface="Arial" panose="020B0604020202020204" pitchFamily="34" charset="0"/>
              </a:rPr>
              <a:t>Lenguajes</a:t>
            </a:r>
          </a:p>
          <a:p>
            <a:pPr algn="ctr"/>
            <a:r>
              <a:rPr lang="es-AR" sz="1600" b="1" dirty="0">
                <a:solidFill>
                  <a:srgbClr val="00B050"/>
                </a:solidFill>
                <a:latin typeface="Arial" panose="020B0604020202020204" pitchFamily="34" charset="0"/>
                <a:cs typeface="Arial" panose="020B0604020202020204" pitchFamily="34" charset="0"/>
              </a:rPr>
              <a:t>regulares</a:t>
            </a:r>
            <a:endParaRPr lang="es-MX" sz="1600" b="1" dirty="0">
              <a:solidFill>
                <a:srgbClr val="00B050"/>
              </a:solidFill>
            </a:endParaRPr>
          </a:p>
        </p:txBody>
      </p:sp>
      <p:sp>
        <p:nvSpPr>
          <p:cNvPr id="27" name="Rectángulo 26">
            <a:extLst>
              <a:ext uri="{FF2B5EF4-FFF2-40B4-BE49-F238E27FC236}">
                <a16:creationId xmlns:a16="http://schemas.microsoft.com/office/drawing/2014/main" id="{2C4BE7C0-219B-9788-0412-C281617B9A5E}"/>
              </a:ext>
            </a:extLst>
          </p:cNvPr>
          <p:cNvSpPr/>
          <p:nvPr/>
        </p:nvSpPr>
        <p:spPr>
          <a:xfrm>
            <a:off x="8058111" y="3830183"/>
            <a:ext cx="2120408" cy="584775"/>
          </a:xfrm>
          <a:prstGeom prst="rect">
            <a:avLst/>
          </a:prstGeom>
        </p:spPr>
        <p:txBody>
          <a:bodyPr wrap="square">
            <a:spAutoFit/>
          </a:bodyPr>
          <a:lstStyle/>
          <a:p>
            <a:pPr algn="ctr"/>
            <a:r>
              <a:rPr lang="es-AR" sz="1600" b="1" dirty="0">
                <a:solidFill>
                  <a:srgbClr val="0070C0"/>
                </a:solidFill>
                <a:latin typeface="Arial" panose="020B0604020202020204" pitchFamily="34" charset="0"/>
                <a:cs typeface="Arial" panose="020B0604020202020204" pitchFamily="34" charset="0"/>
              </a:rPr>
              <a:t>Lenguajes</a:t>
            </a:r>
          </a:p>
          <a:p>
            <a:pPr algn="ctr"/>
            <a:r>
              <a:rPr lang="es-AR" sz="1600" b="1" dirty="0">
                <a:solidFill>
                  <a:srgbClr val="0070C0"/>
                </a:solidFill>
                <a:latin typeface="Arial" panose="020B0604020202020204" pitchFamily="34" charset="0"/>
                <a:cs typeface="Arial" panose="020B0604020202020204" pitchFamily="34" charset="0"/>
              </a:rPr>
              <a:t>libres de contexto</a:t>
            </a:r>
            <a:endParaRPr lang="es-MX" sz="1600" b="1" dirty="0">
              <a:solidFill>
                <a:srgbClr val="0070C0"/>
              </a:solidFill>
            </a:endParaRPr>
          </a:p>
        </p:txBody>
      </p:sp>
    </p:spTree>
    <p:extLst>
      <p:ext uri="{BB962C8B-B14F-4D97-AF65-F5344CB8AC3E}">
        <p14:creationId xmlns:p14="http://schemas.microsoft.com/office/powerpoint/2010/main" val="233450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0B4DF858-D81D-40E8-9AC8-1F6707B38E66}"/>
              </a:ext>
            </a:extLst>
          </p:cNvPr>
          <p:cNvSpPr txBox="1">
            <a:spLocks/>
          </p:cNvSpPr>
          <p:nvPr/>
        </p:nvSpPr>
        <p:spPr>
          <a:xfrm>
            <a:off x="2818656" y="2420025"/>
            <a:ext cx="1531752" cy="314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err="1">
                <a:latin typeface="Arial" panose="020B0604020202020204" pitchFamily="34" charset="0"/>
                <a:cs typeface="Arial" panose="020B0604020202020204" pitchFamily="34" charset="0"/>
              </a:rPr>
              <a:t>decidibles</a:t>
            </a:r>
            <a:endParaRPr lang="es-MX" sz="2000" dirty="0">
              <a:latin typeface="Arial" panose="020B0604020202020204" pitchFamily="34" charset="0"/>
              <a:cs typeface="Arial" panose="020B0604020202020204" pitchFamily="34" charset="0"/>
            </a:endParaRPr>
          </a:p>
        </p:txBody>
      </p:sp>
      <p:sp>
        <p:nvSpPr>
          <p:cNvPr id="17" name="Título 1">
            <a:extLst>
              <a:ext uri="{FF2B5EF4-FFF2-40B4-BE49-F238E27FC236}">
                <a16:creationId xmlns:a16="http://schemas.microsoft.com/office/drawing/2014/main" id="{63D10A8A-FA0E-4A50-8CCF-45CAD2EAAC6D}"/>
              </a:ext>
            </a:extLst>
          </p:cNvPr>
          <p:cNvSpPr txBox="1">
            <a:spLocks/>
          </p:cNvSpPr>
          <p:nvPr/>
        </p:nvSpPr>
        <p:spPr>
          <a:xfrm>
            <a:off x="2632677" y="1701025"/>
            <a:ext cx="1903711" cy="34017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computables</a:t>
            </a:r>
          </a:p>
        </p:txBody>
      </p:sp>
      <p:sp>
        <p:nvSpPr>
          <p:cNvPr id="5" name="Diagrama de flujo: conector 4">
            <a:extLst>
              <a:ext uri="{FF2B5EF4-FFF2-40B4-BE49-F238E27FC236}">
                <a16:creationId xmlns:a16="http://schemas.microsoft.com/office/drawing/2014/main" id="{ED064D08-76F6-439F-B4C7-729846132ED9}"/>
              </a:ext>
            </a:extLst>
          </p:cNvPr>
          <p:cNvSpPr/>
          <p:nvPr/>
        </p:nvSpPr>
        <p:spPr>
          <a:xfrm>
            <a:off x="1738691" y="1567851"/>
            <a:ext cx="3650414" cy="3421154"/>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Diagrama de flujo: conector 5">
            <a:extLst>
              <a:ext uri="{FF2B5EF4-FFF2-40B4-BE49-F238E27FC236}">
                <a16:creationId xmlns:a16="http://schemas.microsoft.com/office/drawing/2014/main" id="{FB5DABD9-24C2-4684-BA13-F8546430DEF8}"/>
              </a:ext>
            </a:extLst>
          </p:cNvPr>
          <p:cNvSpPr/>
          <p:nvPr/>
        </p:nvSpPr>
        <p:spPr>
          <a:xfrm>
            <a:off x="2321590" y="2335081"/>
            <a:ext cx="2464161" cy="2427013"/>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Diagrama de flujo: conector 12">
            <a:extLst>
              <a:ext uri="{FF2B5EF4-FFF2-40B4-BE49-F238E27FC236}">
                <a16:creationId xmlns:a16="http://schemas.microsoft.com/office/drawing/2014/main" id="{CD79543B-325B-4BD1-B2EB-34B25EC7506B}"/>
              </a:ext>
            </a:extLst>
          </p:cNvPr>
          <p:cNvSpPr/>
          <p:nvPr/>
        </p:nvSpPr>
        <p:spPr>
          <a:xfrm>
            <a:off x="2946564" y="2906384"/>
            <a:ext cx="1234669" cy="1627111"/>
          </a:xfrm>
          <a:prstGeom prst="flowChartConnec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cxnSp>
        <p:nvCxnSpPr>
          <p:cNvPr id="41" name="Conector recto 40">
            <a:extLst>
              <a:ext uri="{FF2B5EF4-FFF2-40B4-BE49-F238E27FC236}">
                <a16:creationId xmlns:a16="http://schemas.microsoft.com/office/drawing/2014/main" id="{722C3208-0999-412E-BFF8-63D185682304}"/>
              </a:ext>
            </a:extLst>
          </p:cNvPr>
          <p:cNvCxnSpPr>
            <a:cxnSpLocks/>
          </p:cNvCxnSpPr>
          <p:nvPr/>
        </p:nvCxnSpPr>
        <p:spPr>
          <a:xfrm flipV="1">
            <a:off x="3526115" y="1608299"/>
            <a:ext cx="4384268" cy="127384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B6B5C373-AEFF-42CB-8618-121532DD9E78}"/>
              </a:ext>
            </a:extLst>
          </p:cNvPr>
          <p:cNvCxnSpPr>
            <a:cxnSpLocks/>
            <a:endCxn id="31" idx="4"/>
          </p:cNvCxnSpPr>
          <p:nvPr/>
        </p:nvCxnSpPr>
        <p:spPr>
          <a:xfrm>
            <a:off x="3553670" y="4540152"/>
            <a:ext cx="4924494" cy="37182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Slide Number Placeholder 2">
            <a:extLst>
              <a:ext uri="{FF2B5EF4-FFF2-40B4-BE49-F238E27FC236}">
                <a16:creationId xmlns:a16="http://schemas.microsoft.com/office/drawing/2014/main" id="{FD3E59ED-66BA-46A7-9882-D7C201C897D8}"/>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2" name="Título 1">
            <a:extLst>
              <a:ext uri="{FF2B5EF4-FFF2-40B4-BE49-F238E27FC236}">
                <a16:creationId xmlns:a16="http://schemas.microsoft.com/office/drawing/2014/main" id="{A1BBC8D7-E013-4E7D-A0E0-C7697D336A26}"/>
              </a:ext>
            </a:extLst>
          </p:cNvPr>
          <p:cNvSpPr txBox="1">
            <a:spLocks/>
          </p:cNvSpPr>
          <p:nvPr/>
        </p:nvSpPr>
        <p:spPr>
          <a:xfrm>
            <a:off x="2690235" y="2385062"/>
            <a:ext cx="1747326"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RE</a:t>
            </a:r>
          </a:p>
        </p:txBody>
      </p:sp>
      <p:sp>
        <p:nvSpPr>
          <p:cNvPr id="53" name="Título 1">
            <a:extLst>
              <a:ext uri="{FF2B5EF4-FFF2-40B4-BE49-F238E27FC236}">
                <a16:creationId xmlns:a16="http://schemas.microsoft.com/office/drawing/2014/main" id="{AD6508B5-0A5E-4541-90C8-9D035318F5A4}"/>
              </a:ext>
            </a:extLst>
          </p:cNvPr>
          <p:cNvSpPr txBox="1">
            <a:spLocks/>
          </p:cNvSpPr>
          <p:nvPr/>
        </p:nvSpPr>
        <p:spPr>
          <a:xfrm>
            <a:off x="2874191" y="2993013"/>
            <a:ext cx="1420682"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R</a:t>
            </a:r>
          </a:p>
        </p:txBody>
      </p:sp>
      <p:sp>
        <p:nvSpPr>
          <p:cNvPr id="31" name="Diagrama de flujo: conector 30">
            <a:extLst>
              <a:ext uri="{FF2B5EF4-FFF2-40B4-BE49-F238E27FC236}">
                <a16:creationId xmlns:a16="http://schemas.microsoft.com/office/drawing/2014/main" id="{BF3C5736-E1CA-4009-8762-7613E2253EC1}"/>
              </a:ext>
            </a:extLst>
          </p:cNvPr>
          <p:cNvSpPr/>
          <p:nvPr/>
        </p:nvSpPr>
        <p:spPr>
          <a:xfrm>
            <a:off x="6652957" y="1556578"/>
            <a:ext cx="3650414" cy="3355394"/>
          </a:xfrm>
          <a:prstGeom prst="flowChartConnec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Diagrama de flujo: conector 31">
            <a:extLst>
              <a:ext uri="{FF2B5EF4-FFF2-40B4-BE49-F238E27FC236}">
                <a16:creationId xmlns:a16="http://schemas.microsoft.com/office/drawing/2014/main" id="{63A22C41-F692-46E2-9588-62D3C8549CDA}"/>
              </a:ext>
            </a:extLst>
          </p:cNvPr>
          <p:cNvSpPr/>
          <p:nvPr/>
        </p:nvSpPr>
        <p:spPr>
          <a:xfrm>
            <a:off x="7038300" y="1786251"/>
            <a:ext cx="2908029" cy="2896048"/>
          </a:xfrm>
          <a:prstGeom prst="flowChartConnector">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3" name="Diagrama de flujo: conector 32">
            <a:extLst>
              <a:ext uri="{FF2B5EF4-FFF2-40B4-BE49-F238E27FC236}">
                <a16:creationId xmlns:a16="http://schemas.microsoft.com/office/drawing/2014/main" id="{9484A0D4-4351-4102-9036-DC4ED52F8A3A}"/>
              </a:ext>
            </a:extLst>
          </p:cNvPr>
          <p:cNvSpPr/>
          <p:nvPr/>
        </p:nvSpPr>
        <p:spPr>
          <a:xfrm>
            <a:off x="7343038" y="2069984"/>
            <a:ext cx="2336002" cy="2310133"/>
          </a:xfrm>
          <a:prstGeom prst="flowChartConnector">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Diagrama de flujo: conector 33">
            <a:extLst>
              <a:ext uri="{FF2B5EF4-FFF2-40B4-BE49-F238E27FC236}">
                <a16:creationId xmlns:a16="http://schemas.microsoft.com/office/drawing/2014/main" id="{A791C458-EF74-48BF-BFC1-D931A2B77D04}"/>
              </a:ext>
            </a:extLst>
          </p:cNvPr>
          <p:cNvSpPr/>
          <p:nvPr/>
        </p:nvSpPr>
        <p:spPr>
          <a:xfrm>
            <a:off x="7654125" y="2335082"/>
            <a:ext cx="1743875" cy="1784410"/>
          </a:xfrm>
          <a:prstGeom prst="flowChartConnector">
            <a:avLst/>
          </a:prstGeom>
          <a:solidFill>
            <a:schemeClr val="accent6">
              <a:lumMod val="20000"/>
              <a:lumOff val="8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6" name="Diagrama de flujo: conector 35">
            <a:extLst>
              <a:ext uri="{FF2B5EF4-FFF2-40B4-BE49-F238E27FC236}">
                <a16:creationId xmlns:a16="http://schemas.microsoft.com/office/drawing/2014/main" id="{F3E8DC45-7D31-4FBA-A4B6-50FD0CE0AD20}"/>
              </a:ext>
            </a:extLst>
          </p:cNvPr>
          <p:cNvSpPr/>
          <p:nvPr/>
        </p:nvSpPr>
        <p:spPr>
          <a:xfrm>
            <a:off x="7933970" y="2600947"/>
            <a:ext cx="1171853" cy="1243338"/>
          </a:xfrm>
          <a:prstGeom prst="flowChartConnector">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8" name="Diagrama de flujo: conector 37">
            <a:extLst>
              <a:ext uri="{FF2B5EF4-FFF2-40B4-BE49-F238E27FC236}">
                <a16:creationId xmlns:a16="http://schemas.microsoft.com/office/drawing/2014/main" id="{E0047B3C-F733-41EB-ADF7-009646E7B935}"/>
              </a:ext>
            </a:extLst>
          </p:cNvPr>
          <p:cNvSpPr/>
          <p:nvPr/>
        </p:nvSpPr>
        <p:spPr>
          <a:xfrm>
            <a:off x="8191423" y="2858863"/>
            <a:ext cx="648069" cy="727969"/>
          </a:xfrm>
          <a:prstGeom prst="flowChartConnector">
            <a:avLst/>
          </a:prstGeom>
          <a:solidFill>
            <a:srgbClr val="F2DAE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40" name="Título 1">
            <a:extLst>
              <a:ext uri="{FF2B5EF4-FFF2-40B4-BE49-F238E27FC236}">
                <a16:creationId xmlns:a16="http://schemas.microsoft.com/office/drawing/2014/main" id="{F1CA4B09-B34C-4D2C-84ED-7BDB89EC3D7E}"/>
              </a:ext>
            </a:extLst>
          </p:cNvPr>
          <p:cNvSpPr txBox="1">
            <a:spLocks/>
          </p:cNvSpPr>
          <p:nvPr/>
        </p:nvSpPr>
        <p:spPr>
          <a:xfrm>
            <a:off x="7574933" y="2991447"/>
            <a:ext cx="1925257"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200" b="1" dirty="0">
                <a:latin typeface="Arial" panose="020B0604020202020204" pitchFamily="34" charset="0"/>
                <a:cs typeface="Arial" panose="020B0604020202020204" pitchFamily="34" charset="0"/>
              </a:rPr>
              <a:t>problemas</a:t>
            </a:r>
          </a:p>
          <a:p>
            <a:pPr algn="ctr"/>
            <a:r>
              <a:rPr lang="es-MX" sz="2200" b="1" dirty="0">
                <a:latin typeface="Arial" panose="020B0604020202020204" pitchFamily="34" charset="0"/>
                <a:cs typeface="Arial" panose="020B0604020202020204" pitchFamily="34" charset="0"/>
              </a:rPr>
              <a:t>tratables</a:t>
            </a:r>
          </a:p>
        </p:txBody>
      </p:sp>
      <p:sp>
        <p:nvSpPr>
          <p:cNvPr id="4" name="Rectángulo 3">
            <a:extLst>
              <a:ext uri="{FF2B5EF4-FFF2-40B4-BE49-F238E27FC236}">
                <a16:creationId xmlns:a16="http://schemas.microsoft.com/office/drawing/2014/main" id="{28545D6B-507C-2AAD-034C-33B99C5F9477}"/>
              </a:ext>
            </a:extLst>
          </p:cNvPr>
          <p:cNvSpPr/>
          <p:nvPr/>
        </p:nvSpPr>
        <p:spPr>
          <a:xfrm>
            <a:off x="249172" y="143605"/>
            <a:ext cx="11733278"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5. Complejidad temporal. Las clases P y NP.</a:t>
            </a:r>
          </a:p>
        </p:txBody>
      </p:sp>
      <p:sp>
        <p:nvSpPr>
          <p:cNvPr id="7" name="Título 1">
            <a:extLst>
              <a:ext uri="{FF2B5EF4-FFF2-40B4-BE49-F238E27FC236}">
                <a16:creationId xmlns:a16="http://schemas.microsoft.com/office/drawing/2014/main" id="{5EA82FE3-D51B-B140-2001-1A5FF8C2D944}"/>
              </a:ext>
            </a:extLst>
          </p:cNvPr>
          <p:cNvSpPr txBox="1">
            <a:spLocks/>
          </p:cNvSpPr>
          <p:nvPr/>
        </p:nvSpPr>
        <p:spPr>
          <a:xfrm>
            <a:off x="3302558" y="1570992"/>
            <a:ext cx="563947" cy="6805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dirty="0">
                <a:latin typeface="Arial" panose="020B0604020202020204" pitchFamily="34" charset="0"/>
                <a:ea typeface="Times New Roman" panose="02020603050405020304" pitchFamily="18" charset="0"/>
                <a:cs typeface="Arial" panose="020B0604020202020204" pitchFamily="34" charset="0"/>
              </a:rPr>
              <a:t>𝔏</a:t>
            </a:r>
            <a:endParaRPr lang="es-MX" sz="4000" dirty="0"/>
          </a:p>
        </p:txBody>
      </p:sp>
      <p:sp>
        <p:nvSpPr>
          <p:cNvPr id="2" name="Título 1">
            <a:extLst>
              <a:ext uri="{FF2B5EF4-FFF2-40B4-BE49-F238E27FC236}">
                <a16:creationId xmlns:a16="http://schemas.microsoft.com/office/drawing/2014/main" id="{2C4EF11D-2FF2-139F-C8B8-F2D750A72C1C}"/>
              </a:ext>
            </a:extLst>
          </p:cNvPr>
          <p:cNvSpPr txBox="1">
            <a:spLocks/>
          </p:cNvSpPr>
          <p:nvPr/>
        </p:nvSpPr>
        <p:spPr>
          <a:xfrm>
            <a:off x="7726538" y="1707005"/>
            <a:ext cx="1420682"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400" dirty="0">
                <a:latin typeface="Arial" panose="020B0604020202020204" pitchFamily="34" charset="0"/>
                <a:cs typeface="Arial" panose="020B0604020202020204" pitchFamily="34" charset="0"/>
              </a:rPr>
              <a:t>R</a:t>
            </a:r>
          </a:p>
        </p:txBody>
      </p:sp>
      <p:sp>
        <p:nvSpPr>
          <p:cNvPr id="8" name="CuadroTexto 7">
            <a:extLst>
              <a:ext uri="{FF2B5EF4-FFF2-40B4-BE49-F238E27FC236}">
                <a16:creationId xmlns:a16="http://schemas.microsoft.com/office/drawing/2014/main" id="{6F6B172D-DBA9-D735-13DD-A1526581E857}"/>
              </a:ext>
            </a:extLst>
          </p:cNvPr>
          <p:cNvSpPr txBox="1"/>
          <p:nvPr/>
        </p:nvSpPr>
        <p:spPr>
          <a:xfrm>
            <a:off x="543804" y="5633341"/>
            <a:ext cx="10944225" cy="369332"/>
          </a:xfrm>
          <a:prstGeom prst="rect">
            <a:avLst/>
          </a:prstGeom>
          <a:noFill/>
        </p:spPr>
        <p:txBody>
          <a:bodyPr wrap="square">
            <a:spAutoFit/>
          </a:bodyPr>
          <a:lstStyle/>
          <a:p>
            <a:pPr marL="342900" indent="-342900" algn="just">
              <a:buFont typeface="Arial" panose="020B0604020202020204" pitchFamily="34" charset="0"/>
              <a:buChar char="•"/>
            </a:pPr>
            <a:r>
              <a:rPr lang="es-ES" dirty="0">
                <a:solidFill>
                  <a:srgbClr val="000000"/>
                </a:solidFill>
                <a:latin typeface="Arial" panose="020B0604020202020204" pitchFamily="34" charset="0"/>
                <a:cs typeface="Arial" panose="020B0604020202020204" pitchFamily="34" charset="0"/>
              </a:rPr>
              <a:t>Se repiten muchos conceptos y técnicas de la computabilidad. Contraste: muchos problemas abiertos.</a:t>
            </a:r>
          </a:p>
        </p:txBody>
      </p:sp>
    </p:spTree>
    <p:extLst>
      <p:ext uri="{BB962C8B-B14F-4D97-AF65-F5344CB8AC3E}">
        <p14:creationId xmlns:p14="http://schemas.microsoft.com/office/powerpoint/2010/main" val="3276884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306110" y="734826"/>
            <a:ext cx="11885890" cy="5878532"/>
          </a:xfrm>
          <a:prstGeom prst="rect">
            <a:avLst/>
          </a:prstGeom>
        </p:spPr>
        <p:txBody>
          <a:bodyPr wrap="square">
            <a:spAutoFit/>
          </a:bodyPr>
          <a:lstStyle/>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Una MT tarda más a medida que sus cadenas de entrada w son más grandes.</a:t>
            </a:r>
          </a:p>
          <a:p>
            <a:pPr marL="342900" indent="-342900">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Por eso se usan </a:t>
            </a:r>
            <a:r>
              <a:rPr lang="es-AR" b="1" dirty="0">
                <a:latin typeface="Arial" panose="020B0604020202020204" pitchFamily="34" charset="0"/>
                <a:cs typeface="Arial" panose="020B0604020202020204" pitchFamily="34" charset="0"/>
              </a:rPr>
              <a:t>funciones temporales T(n) </a:t>
            </a:r>
            <a:r>
              <a:rPr lang="es-AR" dirty="0">
                <a:latin typeface="Arial" panose="020B0604020202020204" pitchFamily="34" charset="0"/>
                <a:cs typeface="Arial" panose="020B0604020202020204" pitchFamily="34" charset="0"/>
              </a:rPr>
              <a:t>definidas en términos de |w| = n.</a:t>
            </a:r>
          </a:p>
          <a:p>
            <a:pPr marL="342900" indent="-342900" algn="just">
              <a:buFont typeface="Arial" panose="020B0604020202020204" pitchFamily="34" charset="0"/>
              <a:buChar char="•"/>
            </a:pPr>
            <a:endParaRPr lang="es-AR"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Funciones temporales T(n) típicas:  </a:t>
            </a:r>
            <a:r>
              <a:rPr lang="es-AR" b="1" dirty="0">
                <a:latin typeface="Arial" panose="020B0604020202020204" pitchFamily="34" charset="0"/>
                <a:cs typeface="Arial" panose="020B0604020202020204" pitchFamily="34" charset="0"/>
              </a:rPr>
              <a:t>5n,  3n</a:t>
            </a:r>
            <a:r>
              <a:rPr lang="es-AR" b="1" baseline="30000" dirty="0">
                <a:latin typeface="Arial" panose="020B0604020202020204" pitchFamily="34" charset="0"/>
                <a:cs typeface="Arial" panose="020B0604020202020204" pitchFamily="34" charset="0"/>
              </a:rPr>
              <a:t>3</a:t>
            </a:r>
            <a:r>
              <a:rPr lang="es-AR" b="1" dirty="0">
                <a:latin typeface="Arial" panose="020B0604020202020204" pitchFamily="34" charset="0"/>
                <a:cs typeface="Arial" panose="020B0604020202020204" pitchFamily="34" charset="0"/>
              </a:rPr>
              <a:t>,  2</a:t>
            </a:r>
            <a:r>
              <a:rPr lang="es-AR" b="1" baseline="30000" dirty="0">
                <a:latin typeface="Arial" panose="020B0604020202020204" pitchFamily="34" charset="0"/>
                <a:cs typeface="Arial" panose="020B0604020202020204" pitchFamily="34" charset="0"/>
              </a:rPr>
              <a:t>n</a:t>
            </a:r>
            <a:r>
              <a:rPr lang="es-AR" b="1" dirty="0">
                <a:latin typeface="Arial" panose="020B0604020202020204" pitchFamily="34" charset="0"/>
                <a:cs typeface="Arial" panose="020B0604020202020204" pitchFamily="34" charset="0"/>
              </a:rPr>
              <a:t>,  n</a:t>
            </a:r>
            <a:r>
              <a:rPr lang="es-AR" b="1" baseline="30000" dirty="0">
                <a:latin typeface="Arial" panose="020B0604020202020204" pitchFamily="34" charset="0"/>
                <a:cs typeface="Arial" panose="020B0604020202020204" pitchFamily="34" charset="0"/>
              </a:rPr>
              <a:t>log</a:t>
            </a:r>
            <a:r>
              <a:rPr lang="es-AR" sz="1400" b="1" baseline="30000" dirty="0">
                <a:latin typeface="Arial" panose="020B0604020202020204" pitchFamily="34" charset="0"/>
                <a:cs typeface="Arial" panose="020B0604020202020204" pitchFamily="34" charset="0"/>
              </a:rPr>
              <a:t>2</a:t>
            </a:r>
            <a:r>
              <a:rPr lang="es-AR" b="1" baseline="30000" dirty="0">
                <a:latin typeface="Arial" panose="020B0604020202020204" pitchFamily="34" charset="0"/>
                <a:cs typeface="Arial" panose="020B0604020202020204" pitchFamily="34" charset="0"/>
              </a:rPr>
              <a:t>n</a:t>
            </a:r>
            <a:r>
              <a:rPr lang="es-AR" b="1" dirty="0">
                <a:latin typeface="Arial" panose="020B0604020202020204" pitchFamily="34" charset="0"/>
                <a:cs typeface="Arial" panose="020B0604020202020204" pitchFamily="34" charset="0"/>
              </a:rPr>
              <a:t>, 7</a:t>
            </a:r>
            <a:r>
              <a:rPr lang="es-AR" sz="2200" baseline="30000" dirty="0">
                <a:effectLst/>
                <a:latin typeface="Arial" panose="020B0604020202020204" pitchFamily="34" charset="0"/>
                <a:ea typeface="Calibri" panose="020F0502020204030204" pitchFamily="34" charset="0"/>
              </a:rPr>
              <a:t>√n</a:t>
            </a:r>
            <a:r>
              <a:rPr lang="es-AR" b="1" dirty="0">
                <a:latin typeface="Arial" panose="020B0604020202020204" pitchFamily="34" charset="0"/>
                <a:cs typeface="Arial" panose="020B0604020202020204" pitchFamily="34" charset="0"/>
              </a:rPr>
              <a:t>, n!,  6</a:t>
            </a:r>
            <a:r>
              <a:rPr lang="es-AR" b="1" baseline="30000" dirty="0">
                <a:latin typeface="Arial" panose="020B0604020202020204" pitchFamily="34" charset="0"/>
                <a:cs typeface="Arial" panose="020B0604020202020204" pitchFamily="34" charset="0"/>
              </a:rPr>
              <a:t>n</a:t>
            </a:r>
            <a:r>
              <a:rPr lang="es-AR" sz="2200" b="1" baseline="30000" dirty="0">
                <a:latin typeface="Arial" panose="020B0604020202020204" pitchFamily="34" charset="0"/>
                <a:cs typeface="Arial" panose="020B0604020202020204" pitchFamily="34" charset="0"/>
              </a:rPr>
              <a:t>5</a:t>
            </a:r>
            <a:r>
              <a:rPr lang="es-AR" sz="2000"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Dos grandes grupos de funciones (de acuerdo al nivel de abstracción pretendido):</a:t>
            </a:r>
            <a:endParaRPr lang="es-AR" baseline="30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s-AR" sz="300" baseline="30000" dirty="0">
              <a:latin typeface="Arial" panose="020B0604020202020204" pitchFamily="34" charset="0"/>
              <a:cs typeface="Arial" panose="020B0604020202020204" pitchFamily="34" charset="0"/>
            </a:endParaRPr>
          </a:p>
          <a:p>
            <a:pPr marL="360000" algn="just"/>
            <a:r>
              <a:rPr lang="es-AR" b="1" dirty="0">
                <a:latin typeface="Arial" panose="020B0604020202020204" pitchFamily="34" charset="0"/>
                <a:cs typeface="Arial" panose="020B0604020202020204" pitchFamily="34" charset="0"/>
              </a:rPr>
              <a:t>Polinomiales o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(n): </a:t>
            </a:r>
            <a:r>
              <a:rPr lang="es-AR" dirty="0">
                <a:latin typeface="Arial" panose="020B0604020202020204" pitchFamily="34" charset="0"/>
                <a:cs typeface="Arial" panose="020B0604020202020204" pitchFamily="34" charset="0"/>
              </a:rPr>
              <a:t>T(n) = </a:t>
            </a:r>
            <a:r>
              <a:rPr lang="es-AR" dirty="0" err="1">
                <a:latin typeface="Arial" panose="020B0604020202020204" pitchFamily="34" charset="0"/>
                <a:cs typeface="Arial" panose="020B0604020202020204" pitchFamily="34" charset="0"/>
              </a:rPr>
              <a:t>c.n</a:t>
            </a:r>
            <a:r>
              <a:rPr lang="es-AR" baseline="30000" dirty="0" err="1">
                <a:latin typeface="Arial" panose="020B0604020202020204" pitchFamily="34" charset="0"/>
                <a:cs typeface="Arial" panose="020B0604020202020204" pitchFamily="34" charset="0"/>
              </a:rPr>
              <a:t>k</a:t>
            </a:r>
            <a:r>
              <a:rPr lang="es-AR" dirty="0">
                <a:latin typeface="Arial" panose="020B0604020202020204" pitchFamily="34" charset="0"/>
                <a:cs typeface="Arial" panose="020B0604020202020204" pitchFamily="34" charset="0"/>
              </a:rPr>
              <a:t> </a:t>
            </a:r>
          </a:p>
          <a:p>
            <a:pPr marL="360000" algn="just"/>
            <a:endParaRPr lang="es-AR" sz="300" dirty="0">
              <a:latin typeface="Arial" panose="020B0604020202020204" pitchFamily="34" charset="0"/>
              <a:cs typeface="Arial" panose="020B0604020202020204" pitchFamily="34" charset="0"/>
            </a:endParaRPr>
          </a:p>
          <a:p>
            <a:pPr marL="360000" algn="just"/>
            <a:r>
              <a:rPr lang="es-AR" b="1" dirty="0">
                <a:latin typeface="Arial" panose="020B0604020202020204" pitchFamily="34" charset="0"/>
                <a:cs typeface="Arial" panose="020B0604020202020204" pitchFamily="34" charset="0"/>
              </a:rPr>
              <a:t>Exponenciales o </a:t>
            </a:r>
            <a:r>
              <a:rPr lang="es-AR" b="1" dirty="0" err="1">
                <a:latin typeface="Arial" panose="020B0604020202020204" pitchFamily="34" charset="0"/>
                <a:cs typeface="Arial" panose="020B0604020202020204" pitchFamily="34" charset="0"/>
              </a:rPr>
              <a:t>exp</a:t>
            </a:r>
            <a:r>
              <a:rPr lang="es-AR" b="1" dirty="0">
                <a:latin typeface="Arial" panose="020B0604020202020204" pitchFamily="34" charset="0"/>
                <a:cs typeface="Arial" panose="020B0604020202020204" pitchFamily="34" charset="0"/>
              </a:rPr>
              <a:t>(n): </a:t>
            </a:r>
            <a:r>
              <a:rPr lang="es-AR" dirty="0">
                <a:latin typeface="Arial" panose="020B0604020202020204" pitchFamily="34" charset="0"/>
                <a:cs typeface="Arial" panose="020B0604020202020204" pitchFamily="34" charset="0"/>
              </a:rPr>
              <a:t>el resto (</a:t>
            </a:r>
            <a:r>
              <a:rPr lang="es-AR" dirty="0" err="1">
                <a:latin typeface="Arial" panose="020B0604020202020204" pitchFamily="34" charset="0"/>
                <a:cs typeface="Arial" panose="020B0604020202020204" pitchFamily="34" charset="0"/>
              </a:rPr>
              <a:t>cuasipolinomiales</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subexponenciales</a:t>
            </a:r>
            <a:r>
              <a:rPr lang="es-AR" dirty="0">
                <a:latin typeface="Arial" panose="020B0604020202020204" pitchFamily="34" charset="0"/>
                <a:cs typeface="Arial" panose="020B0604020202020204" pitchFamily="34" charset="0"/>
              </a:rPr>
              <a:t>, exponenciales, </a:t>
            </a:r>
            <a:r>
              <a:rPr lang="es-AR" dirty="0" err="1">
                <a:latin typeface="Arial" panose="020B0604020202020204" pitchFamily="34" charset="0"/>
                <a:cs typeface="Arial" panose="020B0604020202020204" pitchFamily="34" charset="0"/>
              </a:rPr>
              <a:t>etc</a:t>
            </a:r>
            <a:r>
              <a:rPr lang="es-AR" dirty="0">
                <a:latin typeface="Arial" panose="020B0604020202020204" pitchFamily="34" charset="0"/>
                <a:cs typeface="Arial" panose="020B0604020202020204" pitchFamily="34" charset="0"/>
              </a:rPr>
              <a:t>). </a:t>
            </a:r>
            <a:endParaRPr lang="es-AR" baseline="30000"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AR" dirty="0">
                <a:latin typeface="Arial" panose="020B0604020202020204" pitchFamily="34" charset="0"/>
                <a:cs typeface="Arial" panose="020B0604020202020204" pitchFamily="34" charset="0"/>
              </a:rPr>
              <a:t>Convención, respaldada por las matemáticas y la experiencia: </a:t>
            </a:r>
            <a:r>
              <a:rPr lang="es-AR" b="1" dirty="0">
                <a:latin typeface="Arial" panose="020B0604020202020204" pitchFamily="34" charset="0"/>
                <a:cs typeface="Arial" panose="020B0604020202020204" pitchFamily="34" charset="0"/>
              </a:rPr>
              <a:t>tiempo tratable = tiempo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(n)</a:t>
            </a:r>
          </a:p>
          <a:p>
            <a:endParaRPr lang="es-AR" b="1" dirty="0">
              <a:latin typeface="Arial" panose="020B0604020202020204" pitchFamily="34" charset="0"/>
              <a:cs typeface="Arial" panose="020B0604020202020204" pitchFamily="34" charset="0"/>
            </a:endParaRPr>
          </a:p>
          <a:p>
            <a:pPr marL="360000" lvl="1"/>
            <a:endParaRPr lang="es-AR" sz="500" i="1" dirty="0">
              <a:latin typeface="Arial" panose="020B0604020202020204" pitchFamily="34" charset="0"/>
              <a:cs typeface="Arial" panose="020B0604020202020204" pitchFamily="34" charset="0"/>
            </a:endParaRPr>
          </a:p>
          <a:p>
            <a:pPr marL="360000" lvl="1"/>
            <a:r>
              <a:rPr lang="es-AR" sz="1200" b="1" u="sng" dirty="0">
                <a:latin typeface="Arial" panose="020B0604020202020204" pitchFamily="34" charset="0"/>
                <a:cs typeface="Arial" panose="020B0604020202020204" pitchFamily="34" charset="0"/>
              </a:rPr>
              <a:t>    n               2n               n</a:t>
            </a:r>
            <a:r>
              <a:rPr lang="es-AR" sz="1200" b="1" u="sng" baseline="30000" dirty="0">
                <a:latin typeface="Arial" panose="020B0604020202020204" pitchFamily="34" charset="0"/>
                <a:cs typeface="Arial" panose="020B0604020202020204" pitchFamily="34" charset="0"/>
              </a:rPr>
              <a:t>2                        </a:t>
            </a:r>
            <a:r>
              <a:rPr lang="es-AR" sz="1200" b="1" u="sng" dirty="0">
                <a:latin typeface="Arial" panose="020B0604020202020204" pitchFamily="34" charset="0"/>
                <a:cs typeface="Arial" panose="020B0604020202020204" pitchFamily="34" charset="0"/>
              </a:rPr>
              <a:t>2</a:t>
            </a:r>
            <a:r>
              <a:rPr lang="es-AR" sz="1200" b="1" u="sng" baseline="30000" dirty="0">
                <a:latin typeface="Arial" panose="020B0604020202020204" pitchFamily="34" charset="0"/>
                <a:cs typeface="Arial" panose="020B0604020202020204" pitchFamily="34" charset="0"/>
              </a:rPr>
              <a:t>n</a:t>
            </a:r>
            <a:r>
              <a:rPr lang="es-AR" sz="1200" dirty="0">
                <a:latin typeface="Arial" panose="020B0604020202020204" pitchFamily="34" charset="0"/>
                <a:cs typeface="Arial" panose="020B0604020202020204" pitchFamily="34" charset="0"/>
              </a:rPr>
              <a:t>	</a:t>
            </a:r>
          </a:p>
          <a:p>
            <a:pPr lvl="1"/>
            <a:r>
              <a:rPr lang="es-AR" sz="1200" dirty="0">
                <a:latin typeface="Arial" panose="020B0604020202020204" pitchFamily="34" charset="0"/>
                <a:cs typeface="Arial" panose="020B0604020202020204" pitchFamily="34" charset="0"/>
              </a:rPr>
              <a:t>  0	         0	      0	     1		</a:t>
            </a:r>
          </a:p>
          <a:p>
            <a:pPr lvl="1"/>
            <a:r>
              <a:rPr lang="es-AR" sz="1200" dirty="0">
                <a:latin typeface="Arial" panose="020B0604020202020204" pitchFamily="34" charset="0"/>
                <a:cs typeface="Arial" panose="020B0604020202020204" pitchFamily="34" charset="0"/>
              </a:rPr>
              <a:t>  1	         2	      1	     2</a:t>
            </a:r>
          </a:p>
          <a:p>
            <a:pPr lvl="1"/>
            <a:r>
              <a:rPr lang="es-AR" sz="1200" dirty="0">
                <a:latin typeface="Arial" panose="020B0604020202020204" pitchFamily="34" charset="0"/>
                <a:cs typeface="Arial" panose="020B0604020202020204" pitchFamily="34" charset="0"/>
              </a:rPr>
              <a:t>  2	         4                4	     4</a:t>
            </a:r>
          </a:p>
          <a:p>
            <a:pPr lvl="1"/>
            <a:r>
              <a:rPr lang="es-AR" sz="1200" dirty="0">
                <a:latin typeface="Arial" panose="020B0604020202020204" pitchFamily="34" charset="0"/>
                <a:cs typeface="Arial" panose="020B0604020202020204" pitchFamily="34" charset="0"/>
              </a:rPr>
              <a:t>  3	         6                9	     8</a:t>
            </a:r>
          </a:p>
          <a:p>
            <a:pPr lvl="1"/>
            <a:r>
              <a:rPr lang="es-AR" sz="1200" dirty="0">
                <a:latin typeface="Arial" panose="020B0604020202020204" pitchFamily="34" charset="0"/>
                <a:cs typeface="Arial" panose="020B0604020202020204" pitchFamily="34" charset="0"/>
              </a:rPr>
              <a:t>  4	         8	    16	   16</a:t>
            </a:r>
          </a:p>
          <a:p>
            <a:pPr lvl="1"/>
            <a:r>
              <a:rPr lang="es-AR" sz="1200" dirty="0">
                <a:latin typeface="Arial" panose="020B0604020202020204" pitchFamily="34" charset="0"/>
                <a:cs typeface="Arial" panose="020B0604020202020204" pitchFamily="34" charset="0"/>
              </a:rPr>
              <a:t>  5              10	    25	   32</a:t>
            </a:r>
          </a:p>
          <a:p>
            <a:pPr lvl="1"/>
            <a:r>
              <a:rPr lang="es-AR" sz="1200" dirty="0">
                <a:latin typeface="Arial" panose="020B0604020202020204" pitchFamily="34" charset="0"/>
                <a:cs typeface="Arial" panose="020B0604020202020204" pitchFamily="34" charset="0"/>
              </a:rPr>
              <a:t>  6	       12	    36	   64</a:t>
            </a:r>
          </a:p>
          <a:p>
            <a:pPr lvl="1"/>
            <a:r>
              <a:rPr lang="es-AR" sz="1200" dirty="0">
                <a:latin typeface="Arial" panose="020B0604020202020204" pitchFamily="34" charset="0"/>
                <a:cs typeface="Arial" panose="020B0604020202020204" pitchFamily="34" charset="0"/>
              </a:rPr>
              <a:t>  7	       14	    49	 128</a:t>
            </a:r>
          </a:p>
          <a:p>
            <a:pPr lvl="1"/>
            <a:r>
              <a:rPr lang="es-AR" sz="1200" dirty="0">
                <a:latin typeface="Arial" panose="020B0604020202020204" pitchFamily="34" charset="0"/>
                <a:cs typeface="Arial" panose="020B0604020202020204" pitchFamily="34" charset="0"/>
              </a:rPr>
              <a:t>  8	       16	    64	 256</a:t>
            </a:r>
          </a:p>
          <a:p>
            <a:pPr lvl="1"/>
            <a:r>
              <a:rPr lang="es-AR" sz="1200" dirty="0">
                <a:latin typeface="Arial" panose="020B0604020202020204" pitchFamily="34" charset="0"/>
                <a:cs typeface="Arial" panose="020B0604020202020204" pitchFamily="34" charset="0"/>
              </a:rPr>
              <a:t>  9	       18	    81	 512</a:t>
            </a:r>
          </a:p>
          <a:p>
            <a:pPr lvl="1"/>
            <a:r>
              <a:rPr lang="es-AR" sz="1200" dirty="0">
                <a:latin typeface="Arial" panose="020B0604020202020204" pitchFamily="34" charset="0"/>
                <a:cs typeface="Arial" panose="020B0604020202020204" pitchFamily="34" charset="0"/>
              </a:rPr>
              <a:t>10	       20	  100             1024</a:t>
            </a:r>
          </a:p>
        </p:txBody>
      </p:sp>
      <p:sp>
        <p:nvSpPr>
          <p:cNvPr id="4" name="Slide Number Placeholder 2">
            <a:extLst>
              <a:ext uri="{FF2B5EF4-FFF2-40B4-BE49-F238E27FC236}">
                <a16:creationId xmlns:a16="http://schemas.microsoft.com/office/drawing/2014/main" id="{5BA27FD0-95DA-4883-A26B-C235059825F0}"/>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pic>
        <p:nvPicPr>
          <p:cNvPr id="13" name="Imagen 12" descr="Gráfico&#10;&#10;Descripción generada automáticamente">
            <a:extLst>
              <a:ext uri="{FF2B5EF4-FFF2-40B4-BE49-F238E27FC236}">
                <a16:creationId xmlns:a16="http://schemas.microsoft.com/office/drawing/2014/main" id="{A5332110-EE09-4A90-B777-336E37F31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3661" y="4224208"/>
            <a:ext cx="3728621" cy="2490186"/>
          </a:xfrm>
          <a:prstGeom prst="rect">
            <a:avLst/>
          </a:prstGeom>
        </p:spPr>
      </p:pic>
      <p:sp>
        <p:nvSpPr>
          <p:cNvPr id="14" name="Rectángulo 13">
            <a:extLst>
              <a:ext uri="{FF2B5EF4-FFF2-40B4-BE49-F238E27FC236}">
                <a16:creationId xmlns:a16="http://schemas.microsoft.com/office/drawing/2014/main" id="{B3B700A7-2B3B-46B5-A7DC-0AB516190AAB}"/>
              </a:ext>
            </a:extLst>
          </p:cNvPr>
          <p:cNvSpPr/>
          <p:nvPr/>
        </p:nvSpPr>
        <p:spPr>
          <a:xfrm>
            <a:off x="5025501" y="4369641"/>
            <a:ext cx="328474" cy="17610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Rectángulo 15">
            <a:extLst>
              <a:ext uri="{FF2B5EF4-FFF2-40B4-BE49-F238E27FC236}">
                <a16:creationId xmlns:a16="http://schemas.microsoft.com/office/drawing/2014/main" id="{C3AA433A-01CA-47CB-B721-4FB7F465F4E2}"/>
              </a:ext>
            </a:extLst>
          </p:cNvPr>
          <p:cNvSpPr/>
          <p:nvPr/>
        </p:nvSpPr>
        <p:spPr>
          <a:xfrm rot="5400000">
            <a:off x="6152523" y="4476781"/>
            <a:ext cx="373744" cy="41014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16">
            <a:extLst>
              <a:ext uri="{FF2B5EF4-FFF2-40B4-BE49-F238E27FC236}">
                <a16:creationId xmlns:a16="http://schemas.microsoft.com/office/drawing/2014/main" id="{57C15EE3-17CA-4D01-BD93-4B16AA6FD5C8}"/>
              </a:ext>
            </a:extLst>
          </p:cNvPr>
          <p:cNvSpPr/>
          <p:nvPr/>
        </p:nvSpPr>
        <p:spPr>
          <a:xfrm>
            <a:off x="5353975" y="4780433"/>
            <a:ext cx="770879" cy="468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8" name="Conector recto de flecha 17">
            <a:extLst>
              <a:ext uri="{FF2B5EF4-FFF2-40B4-BE49-F238E27FC236}">
                <a16:creationId xmlns:a16="http://schemas.microsoft.com/office/drawing/2014/main" id="{2E8A653A-E9F1-42D2-BFBE-439F7F31466F}"/>
              </a:ext>
            </a:extLst>
          </p:cNvPr>
          <p:cNvCxnSpPr>
            <a:cxnSpLocks/>
          </p:cNvCxnSpPr>
          <p:nvPr/>
        </p:nvCxnSpPr>
        <p:spPr>
          <a:xfrm>
            <a:off x="8630901" y="4668506"/>
            <a:ext cx="1249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DC6625F1-56A0-4C2C-84FA-5FEF70408EF0}"/>
              </a:ext>
            </a:extLst>
          </p:cNvPr>
          <p:cNvCxnSpPr>
            <a:cxnSpLocks/>
          </p:cNvCxnSpPr>
          <p:nvPr/>
        </p:nvCxnSpPr>
        <p:spPr>
          <a:xfrm>
            <a:off x="8653956" y="5157686"/>
            <a:ext cx="1249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482B2FFB-C4DE-433D-8A56-C0CD25F39D76}"/>
              </a:ext>
            </a:extLst>
          </p:cNvPr>
          <p:cNvCxnSpPr>
            <a:cxnSpLocks/>
          </p:cNvCxnSpPr>
          <p:nvPr/>
        </p:nvCxnSpPr>
        <p:spPr>
          <a:xfrm>
            <a:off x="8693454" y="5821529"/>
            <a:ext cx="1249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E1425D14-B1D9-48C5-89F3-608B8ED849A0}"/>
              </a:ext>
            </a:extLst>
          </p:cNvPr>
          <p:cNvSpPr txBox="1"/>
          <p:nvPr/>
        </p:nvSpPr>
        <p:spPr>
          <a:xfrm>
            <a:off x="9836278" y="4514617"/>
            <a:ext cx="1182949" cy="307777"/>
          </a:xfrm>
          <a:prstGeom prst="rect">
            <a:avLst/>
          </a:prstGeom>
          <a:noFill/>
        </p:spPr>
        <p:txBody>
          <a:bodyPr wrap="square">
            <a:spAutoFit/>
          </a:bodyPr>
          <a:lstStyle/>
          <a:p>
            <a:r>
              <a:rPr lang="es-AR" sz="1400" dirty="0" err="1">
                <a:latin typeface="Arial" panose="020B0604020202020204" pitchFamily="34" charset="0"/>
                <a:cs typeface="Arial" panose="020B0604020202020204" pitchFamily="34" charset="0"/>
              </a:rPr>
              <a:t>exp</a:t>
            </a:r>
            <a:r>
              <a:rPr lang="es-AR" sz="1400" dirty="0">
                <a:latin typeface="Arial" panose="020B0604020202020204" pitchFamily="34" charset="0"/>
                <a:cs typeface="Arial" panose="020B0604020202020204" pitchFamily="34" charset="0"/>
              </a:rPr>
              <a:t>(n)</a:t>
            </a:r>
            <a:endParaRPr lang="es-AR" sz="1400" dirty="0"/>
          </a:p>
        </p:txBody>
      </p:sp>
      <p:sp>
        <p:nvSpPr>
          <p:cNvPr id="25" name="CuadroTexto 24">
            <a:extLst>
              <a:ext uri="{FF2B5EF4-FFF2-40B4-BE49-F238E27FC236}">
                <a16:creationId xmlns:a16="http://schemas.microsoft.com/office/drawing/2014/main" id="{39CDBA6A-0575-4D52-9339-C2FE9316851A}"/>
              </a:ext>
            </a:extLst>
          </p:cNvPr>
          <p:cNvSpPr txBox="1"/>
          <p:nvPr/>
        </p:nvSpPr>
        <p:spPr>
          <a:xfrm>
            <a:off x="9859333" y="4990306"/>
            <a:ext cx="1182949" cy="307777"/>
          </a:xfrm>
          <a:prstGeom prst="rect">
            <a:avLst/>
          </a:prstGeom>
          <a:noFill/>
        </p:spPr>
        <p:txBody>
          <a:bodyPr wrap="square">
            <a:spAutoFit/>
          </a:bodyPr>
          <a:lstStyle/>
          <a:p>
            <a:r>
              <a:rPr lang="es-AR" sz="1400" dirty="0" err="1">
                <a:latin typeface="Arial" panose="020B0604020202020204" pitchFamily="34" charset="0"/>
                <a:cs typeface="Arial" panose="020B0604020202020204" pitchFamily="34" charset="0"/>
              </a:rPr>
              <a:t>poly</a:t>
            </a:r>
            <a:r>
              <a:rPr lang="es-AR" sz="1400" dirty="0">
                <a:latin typeface="Arial" panose="020B0604020202020204" pitchFamily="34" charset="0"/>
                <a:cs typeface="Arial" panose="020B0604020202020204" pitchFamily="34" charset="0"/>
              </a:rPr>
              <a:t>(n)</a:t>
            </a:r>
            <a:endParaRPr lang="es-AR" sz="1400" dirty="0"/>
          </a:p>
        </p:txBody>
      </p:sp>
      <p:sp>
        <p:nvSpPr>
          <p:cNvPr id="26" name="CuadroTexto 25">
            <a:extLst>
              <a:ext uri="{FF2B5EF4-FFF2-40B4-BE49-F238E27FC236}">
                <a16:creationId xmlns:a16="http://schemas.microsoft.com/office/drawing/2014/main" id="{F2571B15-0010-46F0-8E5D-E3F331EC26D2}"/>
              </a:ext>
            </a:extLst>
          </p:cNvPr>
          <p:cNvSpPr txBox="1"/>
          <p:nvPr/>
        </p:nvSpPr>
        <p:spPr>
          <a:xfrm>
            <a:off x="9898830" y="5657527"/>
            <a:ext cx="1182949"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lineal</a:t>
            </a:r>
            <a:endParaRPr lang="es-AR" sz="1400" dirty="0"/>
          </a:p>
        </p:txBody>
      </p:sp>
      <p:sp>
        <p:nvSpPr>
          <p:cNvPr id="19" name="CuadroTexto 18">
            <a:extLst>
              <a:ext uri="{FF2B5EF4-FFF2-40B4-BE49-F238E27FC236}">
                <a16:creationId xmlns:a16="http://schemas.microsoft.com/office/drawing/2014/main" id="{4D6E2274-EC3D-449D-8594-0A2CDEF8B346}"/>
              </a:ext>
            </a:extLst>
          </p:cNvPr>
          <p:cNvSpPr txBox="1"/>
          <p:nvPr/>
        </p:nvSpPr>
        <p:spPr>
          <a:xfrm>
            <a:off x="8287753" y="4514614"/>
            <a:ext cx="366203"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2</a:t>
            </a:r>
            <a:r>
              <a:rPr lang="es-AR" sz="1400" baseline="30000" dirty="0">
                <a:latin typeface="Arial" panose="020B0604020202020204" pitchFamily="34" charset="0"/>
                <a:cs typeface="Arial" panose="020B0604020202020204" pitchFamily="34" charset="0"/>
              </a:rPr>
              <a:t>n</a:t>
            </a:r>
            <a:endParaRPr lang="es-AR" sz="1400" dirty="0"/>
          </a:p>
        </p:txBody>
      </p:sp>
      <p:sp>
        <p:nvSpPr>
          <p:cNvPr id="23" name="CuadroTexto 22">
            <a:extLst>
              <a:ext uri="{FF2B5EF4-FFF2-40B4-BE49-F238E27FC236}">
                <a16:creationId xmlns:a16="http://schemas.microsoft.com/office/drawing/2014/main" id="{964AFDA8-DBC8-4DC1-9718-8BB94F75AF99}"/>
              </a:ext>
            </a:extLst>
          </p:cNvPr>
          <p:cNvSpPr txBox="1"/>
          <p:nvPr/>
        </p:nvSpPr>
        <p:spPr>
          <a:xfrm>
            <a:off x="8282279" y="5002932"/>
            <a:ext cx="372863"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n</a:t>
            </a:r>
            <a:r>
              <a:rPr lang="es-AR" sz="1400" baseline="30000" dirty="0">
                <a:latin typeface="Arial" panose="020B0604020202020204" pitchFamily="34" charset="0"/>
                <a:cs typeface="Arial" panose="020B0604020202020204" pitchFamily="34" charset="0"/>
              </a:rPr>
              <a:t>2</a:t>
            </a:r>
            <a:endParaRPr lang="es-AR" sz="1400" dirty="0"/>
          </a:p>
        </p:txBody>
      </p:sp>
      <p:sp>
        <p:nvSpPr>
          <p:cNvPr id="27" name="CuadroTexto 26">
            <a:extLst>
              <a:ext uri="{FF2B5EF4-FFF2-40B4-BE49-F238E27FC236}">
                <a16:creationId xmlns:a16="http://schemas.microsoft.com/office/drawing/2014/main" id="{3549F370-7235-4BD3-B53F-FFC8335E6C14}"/>
              </a:ext>
            </a:extLst>
          </p:cNvPr>
          <p:cNvSpPr txBox="1"/>
          <p:nvPr/>
        </p:nvSpPr>
        <p:spPr>
          <a:xfrm>
            <a:off x="8269180" y="5671791"/>
            <a:ext cx="384776"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2n </a:t>
            </a:r>
            <a:endParaRPr lang="es-AR" sz="1400" dirty="0"/>
          </a:p>
        </p:txBody>
      </p:sp>
      <p:sp>
        <p:nvSpPr>
          <p:cNvPr id="2" name="Rectángulo 1">
            <a:extLst>
              <a:ext uri="{FF2B5EF4-FFF2-40B4-BE49-F238E27FC236}">
                <a16:creationId xmlns:a16="http://schemas.microsoft.com/office/drawing/2014/main" id="{2F1DF14F-60B9-0F2F-4CE7-5F442849EFA4}"/>
              </a:ext>
            </a:extLst>
          </p:cNvPr>
          <p:cNvSpPr/>
          <p:nvPr/>
        </p:nvSpPr>
        <p:spPr>
          <a:xfrm>
            <a:off x="249172" y="143605"/>
            <a:ext cx="11733278"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Definiciones</a:t>
            </a:r>
          </a:p>
        </p:txBody>
      </p:sp>
      <p:sp>
        <p:nvSpPr>
          <p:cNvPr id="5" name="CuadroTexto 4">
            <a:extLst>
              <a:ext uri="{FF2B5EF4-FFF2-40B4-BE49-F238E27FC236}">
                <a16:creationId xmlns:a16="http://schemas.microsoft.com/office/drawing/2014/main" id="{620940D9-3D01-0D22-9EDE-3F3ECE03402B}"/>
              </a:ext>
            </a:extLst>
          </p:cNvPr>
          <p:cNvSpPr txBox="1"/>
          <p:nvPr/>
        </p:nvSpPr>
        <p:spPr>
          <a:xfrm>
            <a:off x="5244182" y="4691316"/>
            <a:ext cx="2734515" cy="646331"/>
          </a:xfrm>
          <a:prstGeom prst="rect">
            <a:avLst/>
          </a:prstGeom>
          <a:noFill/>
        </p:spPr>
        <p:txBody>
          <a:bodyPr wrap="square">
            <a:spAutoFit/>
          </a:bodyPr>
          <a:lstStyle/>
          <a:p>
            <a:r>
              <a:rPr lang="es-ES" b="1" dirty="0">
                <a:solidFill>
                  <a:srgbClr val="FF0000"/>
                </a:solidFill>
                <a:latin typeface="Arial" panose="020B0604020202020204" pitchFamily="34" charset="0"/>
                <a:cs typeface="Arial" panose="020B0604020202020204" pitchFamily="34" charset="0"/>
              </a:rPr>
              <a:t>¿Es tratable </a:t>
            </a:r>
            <a:r>
              <a:rPr lang="es-ES" sz="1600" b="1" dirty="0">
                <a:solidFill>
                  <a:srgbClr val="FF0000"/>
                </a:solidFill>
                <a:latin typeface="Arial" panose="020B0604020202020204" pitchFamily="34" charset="0"/>
                <a:cs typeface="Arial" panose="020B0604020202020204" pitchFamily="34" charset="0"/>
              </a:rPr>
              <a:t>n</a:t>
            </a:r>
            <a:r>
              <a:rPr lang="es-AR" b="1" baseline="30000" dirty="0">
                <a:solidFill>
                  <a:srgbClr val="FF0000"/>
                </a:solidFill>
                <a:latin typeface="Arial" panose="020B0604020202020204" pitchFamily="34" charset="0"/>
                <a:cs typeface="Arial" panose="020B0604020202020204" pitchFamily="34" charset="0"/>
              </a:rPr>
              <a:t>100</a:t>
            </a:r>
            <a:r>
              <a:rPr lang="es-AR" b="1" dirty="0">
                <a:solidFill>
                  <a:srgbClr val="FF0000"/>
                </a:solidFill>
                <a:latin typeface="Arial" panose="020B0604020202020204" pitchFamily="34" charset="0"/>
                <a:cs typeface="Arial" panose="020B0604020202020204" pitchFamily="34" charset="0"/>
              </a:rPr>
              <a:t>?</a:t>
            </a:r>
          </a:p>
          <a:p>
            <a:r>
              <a:rPr lang="es-AR" b="1" dirty="0">
                <a:solidFill>
                  <a:srgbClr val="FF0000"/>
                </a:solidFill>
                <a:latin typeface="Arial" panose="020B0604020202020204" pitchFamily="34" charset="0"/>
                <a:cs typeface="Arial" panose="020B0604020202020204" pitchFamily="34" charset="0"/>
              </a:rPr>
              <a:t>¿Es intratable </a:t>
            </a:r>
            <a:r>
              <a:rPr lang="es-AR" sz="1400" b="1" dirty="0">
                <a:solidFill>
                  <a:srgbClr val="FF0000"/>
                </a:solidFill>
                <a:latin typeface="Arial" panose="020B0604020202020204" pitchFamily="34" charset="0"/>
                <a:cs typeface="Arial" panose="020B0604020202020204" pitchFamily="34" charset="0"/>
              </a:rPr>
              <a:t>1,001</a:t>
            </a:r>
            <a:r>
              <a:rPr lang="es-AR" b="1" baseline="30000" dirty="0">
                <a:solidFill>
                  <a:srgbClr val="FF0000"/>
                </a:solidFill>
                <a:latin typeface="Arial" panose="020B0604020202020204" pitchFamily="34" charset="0"/>
                <a:cs typeface="Arial" panose="020B0604020202020204" pitchFamily="34" charset="0"/>
              </a:rPr>
              <a:t>n</a:t>
            </a:r>
            <a:r>
              <a:rPr lang="es-AR" b="1"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79140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62125" y="955053"/>
            <a:ext cx="11467813" cy="4001095"/>
          </a:xfrm>
          <a:prstGeom prst="rect">
            <a:avLst/>
          </a:prstGeom>
        </p:spPr>
        <p:txBody>
          <a:bodyPr wrap="square">
            <a:spAutoFit/>
          </a:bodyPr>
          <a:lstStyle/>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Una MT M </a:t>
            </a:r>
            <a:r>
              <a:rPr lang="es-AR" b="1" dirty="0">
                <a:latin typeface="Arial" panose="020B0604020202020204" pitchFamily="34" charset="0"/>
                <a:cs typeface="Arial" panose="020B0604020202020204" pitchFamily="34" charset="0"/>
              </a:rPr>
              <a:t>tarda o se ejecuta en tiempo T(n),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a partir de toda entrada w, </a:t>
            </a:r>
          </a:p>
          <a:p>
            <a:r>
              <a:rPr lang="es-AR" dirty="0">
                <a:latin typeface="Arial" panose="020B0604020202020204" pitchFamily="34" charset="0"/>
                <a:cs typeface="Arial" panose="020B0604020202020204" pitchFamily="34" charset="0"/>
              </a:rPr>
              <a:t>     con |w| = n, M hace </a:t>
            </a:r>
            <a:r>
              <a:rPr lang="es-AR" b="1" dirty="0">
                <a:latin typeface="Arial" panose="020B0604020202020204" pitchFamily="34" charset="0"/>
                <a:cs typeface="Arial" panose="020B0604020202020204" pitchFamily="34" charset="0"/>
              </a:rPr>
              <a:t>a lo sumo T(n) pasos</a:t>
            </a:r>
            <a:r>
              <a:rPr lang="es-AR" dirty="0">
                <a:latin typeface="Arial" panose="020B0604020202020204" pitchFamily="34" charset="0"/>
                <a:cs typeface="Arial" panose="020B0604020202020204" pitchFamily="34" charset="0"/>
              </a:rPr>
              <a:t>.</a:t>
            </a:r>
          </a:p>
          <a:p>
            <a:endParaRPr lang="es-AR" sz="1500" dirty="0">
              <a:latin typeface="Arial" panose="020B0604020202020204" pitchFamily="34" charset="0"/>
              <a:cs typeface="Arial" panose="020B0604020202020204" pitchFamily="34" charset="0"/>
            </a:endParaRPr>
          </a:p>
          <a:p>
            <a:endParaRPr lang="es-AR" sz="9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Una función T</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(n) es del </a:t>
            </a:r>
            <a:r>
              <a:rPr lang="es-AR" b="1" dirty="0">
                <a:latin typeface="Arial" panose="020B0604020202020204" pitchFamily="34" charset="0"/>
                <a:cs typeface="Arial" panose="020B0604020202020204" pitchFamily="34" charset="0"/>
              </a:rPr>
              <a:t>orden</a:t>
            </a:r>
            <a:r>
              <a:rPr lang="es-AR" dirty="0">
                <a:latin typeface="Arial" panose="020B0604020202020204" pitchFamily="34" charset="0"/>
                <a:cs typeface="Arial" panose="020B0604020202020204" pitchFamily="34" charset="0"/>
              </a:rPr>
              <a:t> de una función T</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(n), es decir </a:t>
            </a:r>
            <a:r>
              <a:rPr lang="es-AR" b="1" dirty="0">
                <a:latin typeface="Arial" panose="020B0604020202020204" pitchFamily="34" charset="0"/>
                <a:cs typeface="Arial" panose="020B0604020202020204" pitchFamily="34" charset="0"/>
              </a:rPr>
              <a:t>T</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(n) = O(T</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(n)),</a:t>
            </a:r>
          </a:p>
          <a:p>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para todo n </a:t>
            </a:r>
            <a:r>
              <a:rPr lang="es-AR" sz="1800" dirty="0">
                <a:effectLst/>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 n</a:t>
            </a:r>
            <a:r>
              <a:rPr lang="es-AR" baseline="-25000" dirty="0">
                <a:latin typeface="Arial" panose="020B0604020202020204" pitchFamily="34" charset="0"/>
                <a:cs typeface="Arial" panose="020B0604020202020204" pitchFamily="34" charset="0"/>
              </a:rPr>
              <a:t>0 </a:t>
            </a:r>
            <a:r>
              <a:rPr lang="es-AR" dirty="0">
                <a:latin typeface="Arial" panose="020B0604020202020204" pitchFamily="34" charset="0"/>
                <a:cs typeface="Arial" panose="020B0604020202020204" pitchFamily="34" charset="0"/>
              </a:rPr>
              <a:t>se cumple </a:t>
            </a:r>
            <a:r>
              <a:rPr lang="es-AR" b="1" dirty="0">
                <a:latin typeface="Arial" panose="020B0604020202020204" pitchFamily="34" charset="0"/>
                <a:cs typeface="Arial" panose="020B0604020202020204" pitchFamily="34" charset="0"/>
              </a:rPr>
              <a:t>T</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(n) ≤ c.T</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(n), </a:t>
            </a:r>
            <a:r>
              <a:rPr lang="es-AR" dirty="0">
                <a:latin typeface="Arial" panose="020B0604020202020204" pitchFamily="34" charset="0"/>
                <a:cs typeface="Arial" panose="020B0604020202020204" pitchFamily="34" charset="0"/>
              </a:rPr>
              <a:t>con c &gt; 0.</a:t>
            </a:r>
          </a:p>
          <a:p>
            <a:endParaRPr lang="es-AR" sz="8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Por ejemplo:</a:t>
            </a:r>
          </a:p>
          <a:p>
            <a:r>
              <a:rPr lang="es-AR" dirty="0">
                <a:latin typeface="Arial" panose="020B0604020202020204" pitchFamily="34" charset="0"/>
                <a:cs typeface="Arial" panose="020B0604020202020204" pitchFamily="34" charset="0"/>
              </a:rPr>
              <a:t>     5n</a:t>
            </a:r>
            <a:r>
              <a:rPr lang="es-AR" baseline="30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+ 8n + 25 = O(n</a:t>
            </a:r>
            <a:r>
              <a:rPr lang="es-AR" baseline="30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a:t>
            </a:r>
          </a:p>
          <a:p>
            <a:r>
              <a:rPr lang="es-AR" dirty="0">
                <a:latin typeface="Arial" panose="020B0604020202020204" pitchFamily="34" charset="0"/>
                <a:cs typeface="Arial" panose="020B0604020202020204" pitchFamily="34" charset="0"/>
              </a:rPr>
              <a:t>     n</a:t>
            </a:r>
            <a:r>
              <a:rPr lang="es-AR" baseline="30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O(n</a:t>
            </a:r>
            <a:r>
              <a:rPr lang="es-AR" baseline="30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a:t>
            </a:r>
          </a:p>
          <a:p>
            <a:r>
              <a:rPr lang="es-AR" dirty="0">
                <a:latin typeface="Arial" panose="020B0604020202020204" pitchFamily="34" charset="0"/>
                <a:cs typeface="Arial" panose="020B0604020202020204" pitchFamily="34" charset="0"/>
              </a:rPr>
              <a:t>     n</a:t>
            </a:r>
            <a:r>
              <a:rPr lang="es-AR" baseline="30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 O(2</a:t>
            </a:r>
            <a:r>
              <a:rPr lang="es-AR" baseline="30000" dirty="0">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 </a:t>
            </a:r>
          </a:p>
          <a:p>
            <a:endParaRPr lang="es-AR" sz="1500" dirty="0">
              <a:latin typeface="Arial" panose="020B0604020202020204" pitchFamily="34" charset="0"/>
              <a:cs typeface="Arial" panose="020B0604020202020204" pitchFamily="34" charset="0"/>
            </a:endParaRPr>
          </a:p>
          <a:p>
            <a:endParaRPr lang="es-AR" sz="9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Un lenguaje </a:t>
            </a:r>
            <a:r>
              <a:rPr lang="es-AR" b="1" dirty="0">
                <a:latin typeface="Arial" panose="020B0604020202020204" pitchFamily="34" charset="0"/>
                <a:cs typeface="Arial" panose="020B0604020202020204" pitchFamily="34" charset="0"/>
              </a:rPr>
              <a:t>L </a:t>
            </a:r>
            <a:r>
              <a:rPr lang="es-AR"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 TIME(T(n)) </a:t>
            </a:r>
            <a:r>
              <a:rPr lang="es-AR" dirty="0" err="1">
                <a:latin typeface="Arial" panose="020B0604020202020204" pitchFamily="34" charset="0"/>
                <a:cs typeface="Arial" panose="020B0604020202020204" pitchFamily="34" charset="0"/>
                <a:sym typeface="Symbol" panose="05050102010706020507" pitchFamily="18" charset="2"/>
              </a:rPr>
              <a:t>sii</a:t>
            </a:r>
            <a:r>
              <a:rPr lang="es-AR" dirty="0">
                <a:latin typeface="Arial" panose="020B0604020202020204" pitchFamily="34" charset="0"/>
                <a:cs typeface="Arial" panose="020B0604020202020204" pitchFamily="34" charset="0"/>
                <a:sym typeface="Symbol" panose="05050102010706020507" pitchFamily="18" charset="2"/>
              </a:rPr>
              <a:t> existe una MT M que lo decide en tiempo </a:t>
            </a:r>
            <a:r>
              <a:rPr lang="es-AR" b="1" dirty="0">
                <a:latin typeface="Arial" panose="020B0604020202020204" pitchFamily="34" charset="0"/>
                <a:cs typeface="Arial" panose="020B0604020202020204" pitchFamily="34" charset="0"/>
                <a:sym typeface="Symbol" panose="05050102010706020507" pitchFamily="18" charset="2"/>
              </a:rPr>
              <a:t>O(T(n)).</a:t>
            </a:r>
          </a:p>
          <a:p>
            <a:endParaRPr lang="es-AR" dirty="0">
              <a:latin typeface="Arial" panose="020B0604020202020204" pitchFamily="34" charset="0"/>
              <a:cs typeface="Arial" panose="020B0604020202020204" pitchFamily="34" charset="0"/>
              <a:sym typeface="Symbol" panose="05050102010706020507" pitchFamily="18" charset="2"/>
            </a:endParaRPr>
          </a:p>
          <a:p>
            <a:pPr marL="0" lvl="1" algn="just"/>
            <a:r>
              <a:rPr lang="es-AR" dirty="0">
                <a:latin typeface="Arial" panose="020B0604020202020204" pitchFamily="34" charset="0"/>
                <a:cs typeface="Arial" panose="020B0604020202020204" pitchFamily="34" charset="0"/>
                <a:sym typeface="Symbol" panose="05050102010706020507" pitchFamily="18" charset="2"/>
              </a:rPr>
              <a:t>       </a:t>
            </a:r>
            <a:endParaRPr lang="es-AR" sz="1600" i="1" dirty="0">
              <a:latin typeface="Arial" panose="020B0604020202020204" pitchFamily="34" charset="0"/>
              <a:cs typeface="Arial" panose="020B0604020202020204" pitchFamily="34" charset="0"/>
            </a:endParaRPr>
          </a:p>
        </p:txBody>
      </p:sp>
      <p:sp>
        <p:nvSpPr>
          <p:cNvPr id="2" name="Rectángulo 1">
            <a:extLst>
              <a:ext uri="{FF2B5EF4-FFF2-40B4-BE49-F238E27FC236}">
                <a16:creationId xmlns:a16="http://schemas.microsoft.com/office/drawing/2014/main" id="{2E5ADBB0-BCF1-4B7E-A472-32D1048A9A15}"/>
              </a:ext>
            </a:extLst>
          </p:cNvPr>
          <p:cNvSpPr/>
          <p:nvPr/>
        </p:nvSpPr>
        <p:spPr>
          <a:xfrm>
            <a:off x="9730056" y="3079243"/>
            <a:ext cx="137730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sym typeface="Symbol" panose="05050102010706020507" pitchFamily="18" charset="2"/>
              </a:rPr>
              <a:t>TIME(T(n)) </a:t>
            </a:r>
            <a:endParaRPr lang="es-MX" dirty="0"/>
          </a:p>
        </p:txBody>
      </p:sp>
      <p:sp>
        <p:nvSpPr>
          <p:cNvPr id="3" name="Rectángulo 2">
            <a:extLst>
              <a:ext uri="{FF2B5EF4-FFF2-40B4-BE49-F238E27FC236}">
                <a16:creationId xmlns:a16="http://schemas.microsoft.com/office/drawing/2014/main" id="{BE662F82-9FCB-4656-B679-AFD8EDAAC2ED}"/>
              </a:ext>
            </a:extLst>
          </p:cNvPr>
          <p:cNvSpPr/>
          <p:nvPr/>
        </p:nvSpPr>
        <p:spPr>
          <a:xfrm>
            <a:off x="10084369" y="3611705"/>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5" name="Rectángulo 4">
            <a:extLst>
              <a:ext uri="{FF2B5EF4-FFF2-40B4-BE49-F238E27FC236}">
                <a16:creationId xmlns:a16="http://schemas.microsoft.com/office/drawing/2014/main" id="{0F13EB4F-1587-4348-BDE0-650FBA65805D}"/>
              </a:ext>
            </a:extLst>
          </p:cNvPr>
          <p:cNvSpPr/>
          <p:nvPr/>
        </p:nvSpPr>
        <p:spPr>
          <a:xfrm>
            <a:off x="10418706" y="4206415"/>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endParaRPr lang="es-MX" dirty="0"/>
          </a:p>
        </p:txBody>
      </p:sp>
      <p:sp>
        <p:nvSpPr>
          <p:cNvPr id="6" name="Rectángulo 5">
            <a:extLst>
              <a:ext uri="{FF2B5EF4-FFF2-40B4-BE49-F238E27FC236}">
                <a16:creationId xmlns:a16="http://schemas.microsoft.com/office/drawing/2014/main" id="{58CECC0B-0107-4A00-BCF1-22C8C352C38D}"/>
              </a:ext>
            </a:extLst>
          </p:cNvPr>
          <p:cNvSpPr/>
          <p:nvPr/>
        </p:nvSpPr>
        <p:spPr>
          <a:xfrm>
            <a:off x="9324248" y="4517732"/>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4</a:t>
            </a:r>
            <a:endParaRPr lang="es-MX" dirty="0"/>
          </a:p>
        </p:txBody>
      </p:sp>
      <p:sp>
        <p:nvSpPr>
          <p:cNvPr id="7" name="Rectángulo 6">
            <a:extLst>
              <a:ext uri="{FF2B5EF4-FFF2-40B4-BE49-F238E27FC236}">
                <a16:creationId xmlns:a16="http://schemas.microsoft.com/office/drawing/2014/main" id="{1FE56EAA-3CA3-4FBE-B989-56EC20522021}"/>
              </a:ext>
            </a:extLst>
          </p:cNvPr>
          <p:cNvSpPr/>
          <p:nvPr/>
        </p:nvSpPr>
        <p:spPr>
          <a:xfrm>
            <a:off x="10908423" y="4639154"/>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5</a:t>
            </a:r>
            <a:endParaRPr lang="es-MX" dirty="0"/>
          </a:p>
        </p:txBody>
      </p:sp>
      <p:sp>
        <p:nvSpPr>
          <p:cNvPr id="8" name="Rectángulo 7">
            <a:extLst>
              <a:ext uri="{FF2B5EF4-FFF2-40B4-BE49-F238E27FC236}">
                <a16:creationId xmlns:a16="http://schemas.microsoft.com/office/drawing/2014/main" id="{B56D53F4-63E0-47EF-9FFC-09FC2B05CE01}"/>
              </a:ext>
            </a:extLst>
          </p:cNvPr>
          <p:cNvSpPr/>
          <p:nvPr/>
        </p:nvSpPr>
        <p:spPr>
          <a:xfrm>
            <a:off x="9741540" y="5078122"/>
            <a:ext cx="389850" cy="369332"/>
          </a:xfrm>
          <a:prstGeom prst="rect">
            <a:avLst/>
          </a:prstGeom>
        </p:spPr>
        <p:txBody>
          <a:bodyPr wrap="none">
            <a:spAutoFit/>
          </a:bodyPr>
          <a:lstStyle/>
          <a:p>
            <a:r>
              <a:rPr lang="es-AR" dirty="0" err="1">
                <a:latin typeface="Arial" panose="020B0604020202020204" pitchFamily="34" charset="0"/>
                <a:cs typeface="Arial" panose="020B0604020202020204" pitchFamily="34" charset="0"/>
              </a:rPr>
              <a:t>L</a:t>
            </a:r>
            <a:r>
              <a:rPr lang="es-AR" baseline="-25000" dirty="0" err="1">
                <a:latin typeface="Arial" panose="020B0604020202020204" pitchFamily="34" charset="0"/>
                <a:cs typeface="Arial" panose="020B0604020202020204" pitchFamily="34" charset="0"/>
              </a:rPr>
              <a:t>k</a:t>
            </a:r>
            <a:endParaRPr lang="es-MX" dirty="0"/>
          </a:p>
        </p:txBody>
      </p:sp>
      <p:sp>
        <p:nvSpPr>
          <p:cNvPr id="9" name="Rectángulo 8">
            <a:extLst>
              <a:ext uri="{FF2B5EF4-FFF2-40B4-BE49-F238E27FC236}">
                <a16:creationId xmlns:a16="http://schemas.microsoft.com/office/drawing/2014/main" id="{4D302D32-82C5-4B78-BACA-32DB1612C285}"/>
              </a:ext>
            </a:extLst>
          </p:cNvPr>
          <p:cNvSpPr/>
          <p:nvPr/>
        </p:nvSpPr>
        <p:spPr>
          <a:xfrm>
            <a:off x="9733524" y="4055030"/>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13" name="Diagrama de flujo: conector 12">
            <a:extLst>
              <a:ext uri="{FF2B5EF4-FFF2-40B4-BE49-F238E27FC236}">
                <a16:creationId xmlns:a16="http://schemas.microsoft.com/office/drawing/2014/main" id="{BE528425-ABD5-46A4-AC1D-7EB5C3A96251}"/>
              </a:ext>
            </a:extLst>
          </p:cNvPr>
          <p:cNvSpPr/>
          <p:nvPr/>
        </p:nvSpPr>
        <p:spPr>
          <a:xfrm>
            <a:off x="9064227" y="3421471"/>
            <a:ext cx="2582778" cy="2379348"/>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Slide Number Placeholder 2">
            <a:extLst>
              <a:ext uri="{FF2B5EF4-FFF2-40B4-BE49-F238E27FC236}">
                <a16:creationId xmlns:a16="http://schemas.microsoft.com/office/drawing/2014/main" id="{AAEBFEBD-2793-4814-A479-336B7ABE2C7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4" name="Rectángulo 13">
            <a:extLst>
              <a:ext uri="{FF2B5EF4-FFF2-40B4-BE49-F238E27FC236}">
                <a16:creationId xmlns:a16="http://schemas.microsoft.com/office/drawing/2014/main" id="{8A4B9621-A782-451A-862A-26943B23E2EF}"/>
              </a:ext>
            </a:extLst>
          </p:cNvPr>
          <p:cNvSpPr/>
          <p:nvPr/>
        </p:nvSpPr>
        <p:spPr>
          <a:xfrm>
            <a:off x="10062600" y="5350646"/>
            <a:ext cx="668674"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15" name="Rectángulo 14">
            <a:extLst>
              <a:ext uri="{FF2B5EF4-FFF2-40B4-BE49-F238E27FC236}">
                <a16:creationId xmlns:a16="http://schemas.microsoft.com/office/drawing/2014/main" id="{D23D538E-D5D3-48B1-A4D3-73C86FC5F489}"/>
              </a:ext>
            </a:extLst>
          </p:cNvPr>
          <p:cNvSpPr/>
          <p:nvPr/>
        </p:nvSpPr>
        <p:spPr>
          <a:xfrm>
            <a:off x="10046856" y="4643561"/>
            <a:ext cx="668674"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 </a:t>
            </a:r>
            <a:endParaRPr lang="es-MX" sz="2400" b="1" dirty="0"/>
          </a:p>
        </p:txBody>
      </p:sp>
      <p:sp>
        <p:nvSpPr>
          <p:cNvPr id="4" name="Rectángulo 3">
            <a:extLst>
              <a:ext uri="{FF2B5EF4-FFF2-40B4-BE49-F238E27FC236}">
                <a16:creationId xmlns:a16="http://schemas.microsoft.com/office/drawing/2014/main" id="{702FDC7B-8EDC-4018-8046-F2954707BB53}"/>
              </a:ext>
            </a:extLst>
          </p:cNvPr>
          <p:cNvSpPr/>
          <p:nvPr/>
        </p:nvSpPr>
        <p:spPr>
          <a:xfrm>
            <a:off x="9100146" y="5827560"/>
            <a:ext cx="2777848" cy="523220"/>
          </a:xfrm>
          <a:prstGeom prst="rect">
            <a:avLst/>
          </a:prstGeom>
        </p:spPr>
        <p:txBody>
          <a:bodyPr wrap="square">
            <a:spAutoFit/>
          </a:bodyPr>
          <a:lstStyle/>
          <a:p>
            <a:r>
              <a:rPr lang="es-AR" sz="1400" dirty="0">
                <a:latin typeface="Arial" panose="020B0604020202020204" pitchFamily="34" charset="0"/>
                <a:cs typeface="Arial" panose="020B0604020202020204" pitchFamily="34" charset="0"/>
                <a:sym typeface="Symbol" panose="05050102010706020507" pitchFamily="18" charset="2"/>
              </a:rPr>
              <a:t>Para todo </a:t>
            </a:r>
            <a:r>
              <a:rPr lang="es-AR" sz="1400" dirty="0">
                <a:latin typeface="Arial" panose="020B0604020202020204" pitchFamily="34" charset="0"/>
                <a:cs typeface="Arial" panose="020B0604020202020204" pitchFamily="34" charset="0"/>
              </a:rPr>
              <a:t>L</a:t>
            </a:r>
            <a:r>
              <a:rPr lang="es-AR" sz="1400" baseline="-25000" dirty="0">
                <a:latin typeface="Arial" panose="020B0604020202020204" pitchFamily="34" charset="0"/>
                <a:cs typeface="Arial" panose="020B0604020202020204" pitchFamily="34" charset="0"/>
              </a:rPr>
              <a:t>i</a:t>
            </a:r>
            <a:r>
              <a:rPr lang="es-MX" sz="1400" baseline="-25000" dirty="0"/>
              <a:t>  </a:t>
            </a:r>
            <a:r>
              <a:rPr lang="es-AR" sz="1400" dirty="0">
                <a:latin typeface="Arial" panose="020B0604020202020204" pitchFamily="34" charset="0"/>
                <a:cs typeface="Arial" panose="020B0604020202020204" pitchFamily="34" charset="0"/>
                <a:sym typeface="Symbol" panose="05050102010706020507" pitchFamily="18" charset="2"/>
              </a:rPr>
              <a:t>existe una MT M</a:t>
            </a:r>
            <a:r>
              <a:rPr lang="es-AR" sz="1400" baseline="-25000" dirty="0">
                <a:latin typeface="Arial" panose="020B0604020202020204" pitchFamily="34" charset="0"/>
                <a:cs typeface="Arial" panose="020B0604020202020204" pitchFamily="34" charset="0"/>
              </a:rPr>
              <a:t>i </a:t>
            </a:r>
            <a:r>
              <a:rPr lang="es-AR" sz="1400" dirty="0">
                <a:latin typeface="Arial" panose="020B0604020202020204" pitchFamily="34" charset="0"/>
                <a:cs typeface="Arial" panose="020B0604020202020204" pitchFamily="34" charset="0"/>
                <a:sym typeface="Symbol" panose="05050102010706020507" pitchFamily="18" charset="2"/>
              </a:rPr>
              <a:t>que lo decide en tiempo O(T(n))</a:t>
            </a:r>
            <a:endParaRPr lang="es-MX" sz="1400" dirty="0"/>
          </a:p>
        </p:txBody>
      </p:sp>
      <p:sp>
        <p:nvSpPr>
          <p:cNvPr id="11" name="Rectángulo 10">
            <a:extLst>
              <a:ext uri="{FF2B5EF4-FFF2-40B4-BE49-F238E27FC236}">
                <a16:creationId xmlns:a16="http://schemas.microsoft.com/office/drawing/2014/main" id="{BA7A9A58-A1B0-445D-9851-288982CCBCE1}"/>
              </a:ext>
            </a:extLst>
          </p:cNvPr>
          <p:cNvSpPr/>
          <p:nvPr/>
        </p:nvSpPr>
        <p:spPr>
          <a:xfrm>
            <a:off x="373947" y="4711493"/>
            <a:ext cx="8497387" cy="1569660"/>
          </a:xfrm>
          <a:prstGeom prst="rect">
            <a:avLst/>
          </a:prstGeom>
          <a:ln>
            <a:solidFill>
              <a:schemeClr val="tx1"/>
            </a:solidFill>
          </a:ln>
        </p:spPr>
        <p:txBody>
          <a:bodyPr wrap="square">
            <a:spAutoFit/>
          </a:bodyPr>
          <a:lstStyle/>
          <a:p>
            <a:pPr marL="0" lvl="1" algn="just"/>
            <a:r>
              <a:rPr lang="es-AR" sz="1600" dirty="0">
                <a:latin typeface="Arial" panose="020B0604020202020204" pitchFamily="34" charset="0"/>
                <a:cs typeface="Arial" panose="020B0604020202020204" pitchFamily="34" charset="0"/>
                <a:sym typeface="Symbol" panose="05050102010706020507" pitchFamily="18" charset="2"/>
              </a:rPr>
              <a:t>Se considera el </a:t>
            </a:r>
            <a:r>
              <a:rPr lang="es-AR" sz="1600" b="1" dirty="0">
                <a:latin typeface="Arial" panose="020B0604020202020204" pitchFamily="34" charset="0"/>
                <a:cs typeface="Arial" panose="020B0604020202020204" pitchFamily="34" charset="0"/>
                <a:sym typeface="Symbol" panose="05050102010706020507" pitchFamily="18" charset="2"/>
              </a:rPr>
              <a:t>peor caso (cota superior). </a:t>
            </a:r>
            <a:r>
              <a:rPr lang="es-AR" sz="1600" dirty="0">
                <a:latin typeface="Arial" panose="020B0604020202020204" pitchFamily="34" charset="0"/>
                <a:cs typeface="Arial" panose="020B0604020202020204" pitchFamily="34" charset="0"/>
                <a:sym typeface="Symbol" panose="05050102010706020507" pitchFamily="18" charset="2"/>
              </a:rPr>
              <a:t>Por ejemplo, si a partir de la mayoría de las cadenas de un lenguaje el tiempo de ejecución es O(n), y sólo en algunos casos es O(</a:t>
            </a:r>
            <a:r>
              <a:rPr lang="es-AR" sz="1600" dirty="0">
                <a:latin typeface="Arial" panose="020B0604020202020204" pitchFamily="34" charset="0"/>
                <a:cs typeface="Arial" panose="020B0604020202020204" pitchFamily="34" charset="0"/>
              </a:rPr>
              <a:t>n</a:t>
            </a:r>
            <a:r>
              <a:rPr lang="es-AR" sz="1600" baseline="30000" dirty="0">
                <a:latin typeface="Arial" panose="020B0604020202020204" pitchFamily="34" charset="0"/>
                <a:cs typeface="Arial" panose="020B0604020202020204" pitchFamily="34" charset="0"/>
              </a:rPr>
              <a:t>3</a:t>
            </a:r>
            <a:r>
              <a:rPr lang="es-AR" sz="1600" dirty="0">
                <a:latin typeface="Arial" panose="020B0604020202020204" pitchFamily="34" charset="0"/>
                <a:cs typeface="Arial" panose="020B0604020202020204" pitchFamily="34" charset="0"/>
              </a:rPr>
              <a:t>), el tiempo de ejecución queda </a:t>
            </a:r>
            <a:r>
              <a:rPr lang="es-AR" sz="1600" i="1" dirty="0">
                <a:latin typeface="Arial" panose="020B0604020202020204" pitchFamily="34" charset="0"/>
                <a:cs typeface="Arial" panose="020B0604020202020204" pitchFamily="34" charset="0"/>
              </a:rPr>
              <a:t>castigado </a:t>
            </a:r>
            <a:r>
              <a:rPr lang="es-AR" sz="1600" dirty="0">
                <a:latin typeface="Arial" panose="020B0604020202020204" pitchFamily="34" charset="0"/>
                <a:cs typeface="Arial" panose="020B0604020202020204" pitchFamily="34" charset="0"/>
              </a:rPr>
              <a:t>en O(n</a:t>
            </a:r>
            <a:r>
              <a:rPr lang="es-AR" sz="1600" baseline="30000" dirty="0">
                <a:latin typeface="Arial" panose="020B0604020202020204" pitchFamily="34" charset="0"/>
                <a:cs typeface="Arial" panose="020B0604020202020204" pitchFamily="34" charset="0"/>
              </a:rPr>
              <a:t>3</a:t>
            </a:r>
            <a:r>
              <a:rPr lang="es-AR" sz="1600" dirty="0">
                <a:latin typeface="Arial" panose="020B0604020202020204" pitchFamily="34" charset="0"/>
                <a:cs typeface="Arial" panose="020B0604020202020204" pitchFamily="34" charset="0"/>
              </a:rPr>
              <a:t>).</a:t>
            </a:r>
            <a:endParaRPr lang="es-AR" sz="1600" dirty="0">
              <a:latin typeface="Arial" panose="020B0604020202020204" pitchFamily="34" charset="0"/>
              <a:cs typeface="Arial" panose="020B0604020202020204" pitchFamily="34" charset="0"/>
              <a:sym typeface="Symbol" panose="05050102010706020507" pitchFamily="18" charset="2"/>
            </a:endParaRPr>
          </a:p>
          <a:p>
            <a:pPr marL="0" lvl="1" algn="just"/>
            <a:endParaRPr lang="es-AR" sz="1600" dirty="0">
              <a:latin typeface="Arial" panose="020B0604020202020204" pitchFamily="34" charset="0"/>
              <a:cs typeface="Arial" panose="020B0604020202020204" pitchFamily="34" charset="0"/>
              <a:sym typeface="Symbol" panose="05050102010706020507" pitchFamily="18" charset="2"/>
            </a:endParaRPr>
          </a:p>
          <a:p>
            <a:pPr marL="0" lvl="1" algn="just"/>
            <a:r>
              <a:rPr lang="es-AR" sz="1600" dirty="0">
                <a:latin typeface="Arial" panose="020B0604020202020204" pitchFamily="34" charset="0"/>
                <a:cs typeface="Arial" panose="020B0604020202020204" pitchFamily="34" charset="0"/>
                <a:sym typeface="Symbol" panose="05050102010706020507" pitchFamily="18" charset="2"/>
              </a:rPr>
              <a:t>Naturalmente. sería mejor considerar el </a:t>
            </a:r>
            <a:r>
              <a:rPr lang="es-AR" sz="1600" b="1" dirty="0">
                <a:latin typeface="Arial" panose="020B0604020202020204" pitchFamily="34" charset="0"/>
                <a:cs typeface="Arial" panose="020B0604020202020204" pitchFamily="34" charset="0"/>
                <a:sym typeface="Symbol" panose="05050102010706020507" pitchFamily="18" charset="2"/>
              </a:rPr>
              <a:t>tiempo promedio </a:t>
            </a:r>
            <a:r>
              <a:rPr lang="es-AR" sz="1600" dirty="0">
                <a:latin typeface="Arial" panose="020B0604020202020204" pitchFamily="34" charset="0"/>
                <a:cs typeface="Arial" panose="020B0604020202020204" pitchFamily="34" charset="0"/>
                <a:sym typeface="Symbol" panose="05050102010706020507" pitchFamily="18" charset="2"/>
              </a:rPr>
              <a:t>o </a:t>
            </a:r>
            <a:r>
              <a:rPr lang="es-AR" sz="1600" b="1" dirty="0">
                <a:latin typeface="Arial" panose="020B0604020202020204" pitchFamily="34" charset="0"/>
                <a:cs typeface="Arial" panose="020B0604020202020204" pitchFamily="34" charset="0"/>
                <a:sym typeface="Symbol" panose="05050102010706020507" pitchFamily="18" charset="2"/>
              </a:rPr>
              <a:t>mínimo (cota inferior)</a:t>
            </a:r>
            <a:r>
              <a:rPr lang="es-AR" sz="1600" dirty="0">
                <a:latin typeface="Arial" panose="020B0604020202020204" pitchFamily="34" charset="0"/>
                <a:cs typeface="Arial" panose="020B0604020202020204" pitchFamily="34" charset="0"/>
                <a:sym typeface="Symbol" panose="05050102010706020507" pitchFamily="18" charset="2"/>
              </a:rPr>
              <a:t>, pero son mucho más difíciles de calcular. Hoy día hay pocos valores conocidos de este tipo.</a:t>
            </a:r>
          </a:p>
        </p:txBody>
      </p:sp>
      <p:sp>
        <p:nvSpPr>
          <p:cNvPr id="16" name="Rectángulo 15">
            <a:extLst>
              <a:ext uri="{FF2B5EF4-FFF2-40B4-BE49-F238E27FC236}">
                <a16:creationId xmlns:a16="http://schemas.microsoft.com/office/drawing/2014/main" id="{9CBD2C30-0EE3-CBF2-D444-8D3587211E7E}"/>
              </a:ext>
            </a:extLst>
          </p:cNvPr>
          <p:cNvSpPr/>
          <p:nvPr/>
        </p:nvSpPr>
        <p:spPr>
          <a:xfrm>
            <a:off x="249172" y="143605"/>
            <a:ext cx="11627427"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Definiciones (continuación)</a:t>
            </a:r>
          </a:p>
        </p:txBody>
      </p:sp>
      <p:sp>
        <p:nvSpPr>
          <p:cNvPr id="17" name="Rectángulo 16">
            <a:extLst>
              <a:ext uri="{FF2B5EF4-FFF2-40B4-BE49-F238E27FC236}">
                <a16:creationId xmlns:a16="http://schemas.microsoft.com/office/drawing/2014/main" id="{0439A185-417D-9F17-B700-CCCCD1A729E5}"/>
              </a:ext>
            </a:extLst>
          </p:cNvPr>
          <p:cNvSpPr/>
          <p:nvPr/>
        </p:nvSpPr>
        <p:spPr>
          <a:xfrm>
            <a:off x="9501682" y="1027992"/>
            <a:ext cx="390187" cy="338554"/>
          </a:xfrm>
          <a:prstGeom prst="rect">
            <a:avLst/>
          </a:prstGeom>
        </p:spPr>
        <p:txBody>
          <a:bodyPr wrap="square">
            <a:spAutoFit/>
          </a:bodyPr>
          <a:lstStyle/>
          <a:p>
            <a:r>
              <a:rPr lang="es-AR" sz="1600" dirty="0">
                <a:effectLst/>
                <a:latin typeface="Arial" panose="020B0604020202020204" pitchFamily="34" charset="0"/>
                <a:ea typeface="Calibri" panose="020F0502020204030204" pitchFamily="34" charset="0"/>
              </a:rPr>
              <a:t>w</a:t>
            </a:r>
            <a:endParaRPr lang="es-AR" sz="1600" dirty="0"/>
          </a:p>
        </p:txBody>
      </p:sp>
      <p:cxnSp>
        <p:nvCxnSpPr>
          <p:cNvPr id="19" name="Conector recto de flecha 18">
            <a:extLst>
              <a:ext uri="{FF2B5EF4-FFF2-40B4-BE49-F238E27FC236}">
                <a16:creationId xmlns:a16="http://schemas.microsoft.com/office/drawing/2014/main" id="{205A4CAD-C093-2B7B-77C6-ED6ADB34FDE0}"/>
              </a:ext>
            </a:extLst>
          </p:cNvPr>
          <p:cNvCxnSpPr>
            <a:cxnSpLocks/>
          </p:cNvCxnSpPr>
          <p:nvPr/>
        </p:nvCxnSpPr>
        <p:spPr>
          <a:xfrm>
            <a:off x="9379165" y="1316579"/>
            <a:ext cx="6162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3851F35D-C9C7-A90A-010F-FAE2480C7CBD}"/>
              </a:ext>
            </a:extLst>
          </p:cNvPr>
          <p:cNvSpPr/>
          <p:nvPr/>
        </p:nvSpPr>
        <p:spPr>
          <a:xfrm>
            <a:off x="11105961" y="1308032"/>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sz="1600" dirty="0"/>
          </a:p>
        </p:txBody>
      </p:sp>
      <p:cxnSp>
        <p:nvCxnSpPr>
          <p:cNvPr id="26" name="Conector recto de flecha 25">
            <a:extLst>
              <a:ext uri="{FF2B5EF4-FFF2-40B4-BE49-F238E27FC236}">
                <a16:creationId xmlns:a16="http://schemas.microsoft.com/office/drawing/2014/main" id="{6FD375D9-7704-1229-5BDC-E001113A778A}"/>
              </a:ext>
            </a:extLst>
          </p:cNvPr>
          <p:cNvCxnSpPr>
            <a:cxnSpLocks/>
          </p:cNvCxnSpPr>
          <p:nvPr/>
        </p:nvCxnSpPr>
        <p:spPr>
          <a:xfrm flipV="1">
            <a:off x="10708562" y="1132803"/>
            <a:ext cx="421026" cy="178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60E786C1-A658-C9C7-34CE-638F47132069}"/>
              </a:ext>
            </a:extLst>
          </p:cNvPr>
          <p:cNvSpPr/>
          <p:nvPr/>
        </p:nvSpPr>
        <p:spPr>
          <a:xfrm>
            <a:off x="11082333" y="955053"/>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sz="1600" dirty="0"/>
          </a:p>
        </p:txBody>
      </p:sp>
      <p:cxnSp>
        <p:nvCxnSpPr>
          <p:cNvPr id="29" name="Conector recto de flecha 28">
            <a:extLst>
              <a:ext uri="{FF2B5EF4-FFF2-40B4-BE49-F238E27FC236}">
                <a16:creationId xmlns:a16="http://schemas.microsoft.com/office/drawing/2014/main" id="{D0BACAC6-FF4B-E639-FDE6-6E85A30E574C}"/>
              </a:ext>
            </a:extLst>
          </p:cNvPr>
          <p:cNvCxnSpPr>
            <a:cxnSpLocks/>
          </p:cNvCxnSpPr>
          <p:nvPr/>
        </p:nvCxnSpPr>
        <p:spPr>
          <a:xfrm>
            <a:off x="10697777" y="1328583"/>
            <a:ext cx="431811" cy="1915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08312C29-3792-83BD-217B-8A91BBC179BE}"/>
              </a:ext>
            </a:extLst>
          </p:cNvPr>
          <p:cNvSpPr/>
          <p:nvPr/>
        </p:nvSpPr>
        <p:spPr>
          <a:xfrm>
            <a:off x="9995444" y="1004116"/>
            <a:ext cx="694090" cy="6006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Rectángulo 30">
            <a:extLst>
              <a:ext uri="{FF2B5EF4-FFF2-40B4-BE49-F238E27FC236}">
                <a16:creationId xmlns:a16="http://schemas.microsoft.com/office/drawing/2014/main" id="{DC031E4E-2924-BFE3-5062-56C07088B0A8}"/>
              </a:ext>
            </a:extLst>
          </p:cNvPr>
          <p:cNvSpPr/>
          <p:nvPr/>
        </p:nvSpPr>
        <p:spPr>
          <a:xfrm>
            <a:off x="10127204" y="1124330"/>
            <a:ext cx="531275" cy="584775"/>
          </a:xfrm>
          <a:prstGeom prst="rect">
            <a:avLst/>
          </a:prstGeom>
        </p:spPr>
        <p:txBody>
          <a:bodyPr wrap="square">
            <a:spAutoFit/>
          </a:bodyPr>
          <a:lstStyle/>
          <a:p>
            <a:r>
              <a:rPr lang="es-AR" sz="1600" dirty="0">
                <a:latin typeface="Arial" panose="020B0604020202020204" pitchFamily="34" charset="0"/>
              </a:rPr>
              <a:t> M</a:t>
            </a:r>
            <a:endParaRPr lang="es-MX" sz="1600" dirty="0"/>
          </a:p>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36" name="Rectángulo 35">
            <a:extLst>
              <a:ext uri="{FF2B5EF4-FFF2-40B4-BE49-F238E27FC236}">
                <a16:creationId xmlns:a16="http://schemas.microsoft.com/office/drawing/2014/main" id="{75837CE6-8909-B452-F0C8-0544F54D3743}"/>
              </a:ext>
            </a:extLst>
          </p:cNvPr>
          <p:cNvSpPr/>
          <p:nvPr/>
        </p:nvSpPr>
        <p:spPr>
          <a:xfrm>
            <a:off x="9148176" y="1575776"/>
            <a:ext cx="2722873"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M</a:t>
            </a:r>
            <a:r>
              <a:rPr lang="es-MX" sz="1400" dirty="0"/>
              <a:t> </a:t>
            </a:r>
            <a:r>
              <a:rPr lang="es-ES" sz="1400" dirty="0">
                <a:latin typeface="Arial" panose="020B0604020202020204" pitchFamily="34" charset="0"/>
                <a:cs typeface="Arial" panose="020B0604020202020204" pitchFamily="34" charset="0"/>
                <a:sym typeface="Symbol" panose="05050102010706020507" pitchFamily="18" charset="2"/>
              </a:rPr>
              <a:t>hace a lo sumo T(|w|) pasos</a:t>
            </a:r>
            <a:endParaRPr lang="es-MX" sz="1400" dirty="0"/>
          </a:p>
        </p:txBody>
      </p:sp>
    </p:spTree>
    <p:extLst>
      <p:ext uri="{BB962C8B-B14F-4D97-AF65-F5344CB8AC3E}">
        <p14:creationId xmlns:p14="http://schemas.microsoft.com/office/powerpoint/2010/main" val="947459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F5C64FA-3AE6-4F65-AE9C-7FB5D6F46755}"/>
              </a:ext>
            </a:extLst>
          </p:cNvPr>
          <p:cNvSpPr/>
          <p:nvPr/>
        </p:nvSpPr>
        <p:spPr>
          <a:xfrm>
            <a:off x="346871" y="5560578"/>
            <a:ext cx="5869426" cy="923330"/>
          </a:xfrm>
          <a:prstGeom prst="rect">
            <a:avLst/>
          </a:prstGeom>
        </p:spPr>
        <p:txBody>
          <a:bodyPr wrap="square">
            <a:spAutoFit/>
          </a:bodyPr>
          <a:lstStyle/>
          <a:p>
            <a:pPr>
              <a:defRPr/>
            </a:pP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Robustez: si una MT M</a:t>
            </a:r>
            <a:r>
              <a:rPr lang="es-AR" baseline="-25000" dirty="0">
                <a:latin typeface="Arial" panose="020B0604020202020204" pitchFamily="34" charset="0"/>
                <a:cs typeface="Arial" panose="020B0604020202020204" pitchFamily="34" charset="0"/>
              </a:rPr>
              <a:t>1</a:t>
            </a: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con K</a:t>
            </a:r>
            <a:r>
              <a:rPr lang="es-AR" baseline="-25000" dirty="0">
                <a:latin typeface="Arial" panose="020B0604020202020204" pitchFamily="34" charset="0"/>
                <a:cs typeface="Arial" panose="020B0604020202020204" pitchFamily="34" charset="0"/>
              </a:rPr>
              <a:t>1</a:t>
            </a: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cintas </a:t>
            </a: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tarda tiempo </a:t>
            </a:r>
            <a:r>
              <a:rPr kumimoji="0" lang="es-AR"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poly</a:t>
            </a: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 una MT M</a:t>
            </a:r>
            <a:r>
              <a:rPr lang="es-AR" baseline="-25000" dirty="0">
                <a:latin typeface="Arial" panose="020B0604020202020204" pitchFamily="34" charset="0"/>
                <a:cs typeface="Arial" panose="020B0604020202020204" pitchFamily="34" charset="0"/>
              </a:rPr>
              <a:t>2</a:t>
            </a:r>
            <a:r>
              <a:rPr kumimoji="0" lang="es-AR"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equivalente con </a:t>
            </a:r>
            <a:r>
              <a:rPr kumimoji="0" lang="es-AR"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K</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c</a:t>
            </a:r>
            <a:r>
              <a:rPr kumimoji="0" lang="es-MX"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intas</a:t>
            </a:r>
            <a:r>
              <a:rPr kumimoji="0" lang="es-MX"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tarda tiempo </a:t>
            </a:r>
            <a:r>
              <a:rPr kumimoji="0" lang="es-MX"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poly</a:t>
            </a:r>
            <a:r>
              <a:rPr kumimoji="0" lang="es-MX"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 El retardo es a lo sumo </a:t>
            </a:r>
            <a:r>
              <a:rPr kumimoji="0" lang="es-MX"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cuadrático.</a:t>
            </a:r>
          </a:p>
        </p:txBody>
      </p:sp>
      <p:sp>
        <p:nvSpPr>
          <p:cNvPr id="5" name="Rectángulo 4">
            <a:extLst>
              <a:ext uri="{FF2B5EF4-FFF2-40B4-BE49-F238E27FC236}">
                <a16:creationId xmlns:a16="http://schemas.microsoft.com/office/drawing/2014/main" id="{DD6CEF29-F30C-4F16-B4F6-6B80D4A59D99}"/>
              </a:ext>
            </a:extLst>
          </p:cNvPr>
          <p:cNvSpPr/>
          <p:nvPr/>
        </p:nvSpPr>
        <p:spPr>
          <a:xfrm>
            <a:off x="2156399" y="2395549"/>
            <a:ext cx="111601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a:t>
            </a:r>
            <a:r>
              <a:rPr kumimoji="0" lang="es-ES"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a:t>
            </a:r>
            <a:r>
              <a:rPr kumimoji="0" lang="es-ES"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0</a:t>
            </a:r>
            <a:r>
              <a:rPr kumimoji="0" lang="es-ES" sz="180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s-MX"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ángulo 6">
            <a:extLst>
              <a:ext uri="{FF2B5EF4-FFF2-40B4-BE49-F238E27FC236}">
                <a16:creationId xmlns:a16="http://schemas.microsoft.com/office/drawing/2014/main" id="{C9736AEB-93E5-441B-981D-F6EFCC97127F}"/>
              </a:ext>
            </a:extLst>
          </p:cNvPr>
          <p:cNvSpPr/>
          <p:nvPr/>
        </p:nvSpPr>
        <p:spPr>
          <a:xfrm>
            <a:off x="2164254" y="1319809"/>
            <a:ext cx="109517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a:t>
            </a:r>
            <a:r>
              <a:rPr kumimoji="0" lang="es-E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a:t>
            </a:r>
            <a:r>
              <a:rPr kumimoji="0" lang="es-ES" sz="1800" b="0" i="0" u="none" strike="noStrike" kern="1200" cap="none" spc="0" normalizeH="0" baseline="30000" noProof="0" dirty="0" err="1">
                <a:ln>
                  <a:noFill/>
                </a:ln>
                <a:solidFill>
                  <a:prstClr val="black"/>
                </a:solidFill>
                <a:effectLst/>
                <a:uLnTx/>
                <a:uFillTx/>
                <a:latin typeface="Arial" panose="020B0604020202020204" pitchFamily="34" charset="0"/>
                <a:ea typeface="+mn-ea"/>
                <a:cs typeface="Arial" panose="020B0604020202020204" pitchFamily="34" charset="0"/>
              </a:rPr>
              <a:t>k</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ángulo 8">
            <a:extLst>
              <a:ext uri="{FF2B5EF4-FFF2-40B4-BE49-F238E27FC236}">
                <a16:creationId xmlns:a16="http://schemas.microsoft.com/office/drawing/2014/main" id="{0A909EB7-E21A-4E99-9289-EADF7CA2C111}"/>
              </a:ext>
            </a:extLst>
          </p:cNvPr>
          <p:cNvSpPr/>
          <p:nvPr/>
        </p:nvSpPr>
        <p:spPr>
          <a:xfrm>
            <a:off x="2450339" y="4392074"/>
            <a:ext cx="526106"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4000" b="1" i="0" u="none" strike="noStrike" kern="1200" cap="none" spc="0" normalizeH="0" noProof="0" dirty="0">
                <a:ln>
                  <a:noFill/>
                </a:ln>
                <a:solidFill>
                  <a:srgbClr val="C00000"/>
                </a:solidFill>
                <a:effectLst/>
                <a:uLnTx/>
                <a:uFillTx/>
                <a:latin typeface="Arial" panose="020B0604020202020204" pitchFamily="34" charset="0"/>
                <a:ea typeface="+mn-ea"/>
                <a:cs typeface="Arial" panose="020B0604020202020204" pitchFamily="34" charset="0"/>
              </a:rPr>
              <a:t>P</a:t>
            </a:r>
            <a:endParaRPr kumimoji="0" lang="es-MX" sz="4000" b="1" i="0" u="none" strike="noStrike" kern="1200" cap="none" spc="0" normalizeH="0" noProof="0" dirty="0">
              <a:ln>
                <a:noFill/>
              </a:ln>
              <a:solidFill>
                <a:srgbClr val="C00000"/>
              </a:solidFill>
              <a:effectLst/>
              <a:uLnTx/>
              <a:uFillTx/>
              <a:latin typeface="Calibri" panose="020F0502020204030204"/>
              <a:ea typeface="+mn-ea"/>
              <a:cs typeface="+mn-cs"/>
            </a:endParaRPr>
          </a:p>
        </p:txBody>
      </p:sp>
      <p:sp>
        <p:nvSpPr>
          <p:cNvPr id="19" name="Diagrama de flujo: conector 18">
            <a:extLst>
              <a:ext uri="{FF2B5EF4-FFF2-40B4-BE49-F238E27FC236}">
                <a16:creationId xmlns:a16="http://schemas.microsoft.com/office/drawing/2014/main" id="{307B7CF6-CCD0-4260-8EAD-98C1F25D9F80}"/>
              </a:ext>
            </a:extLst>
          </p:cNvPr>
          <p:cNvSpPr/>
          <p:nvPr/>
        </p:nvSpPr>
        <p:spPr>
          <a:xfrm>
            <a:off x="1404381" y="1929045"/>
            <a:ext cx="2534653" cy="2347555"/>
          </a:xfrm>
          <a:prstGeom prst="flowChartConnector">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Diagrama de flujo: conector 20">
            <a:extLst>
              <a:ext uri="{FF2B5EF4-FFF2-40B4-BE49-F238E27FC236}">
                <a16:creationId xmlns:a16="http://schemas.microsoft.com/office/drawing/2014/main" id="{89C987D2-20DA-4A5D-99A1-B226ABF565B9}"/>
              </a:ext>
            </a:extLst>
          </p:cNvPr>
          <p:cNvSpPr/>
          <p:nvPr/>
        </p:nvSpPr>
        <p:spPr>
          <a:xfrm>
            <a:off x="1766686" y="2327978"/>
            <a:ext cx="1709531" cy="158969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Diagrama de flujo: conector 21">
            <a:extLst>
              <a:ext uri="{FF2B5EF4-FFF2-40B4-BE49-F238E27FC236}">
                <a16:creationId xmlns:a16="http://schemas.microsoft.com/office/drawing/2014/main" id="{38C32B55-86A8-4E92-B651-00230B9FDE92}"/>
              </a:ext>
            </a:extLst>
          </p:cNvPr>
          <p:cNvSpPr/>
          <p:nvPr/>
        </p:nvSpPr>
        <p:spPr>
          <a:xfrm>
            <a:off x="2164254" y="2697309"/>
            <a:ext cx="928384" cy="772799"/>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Diagrama de flujo: conector 22">
            <a:extLst>
              <a:ext uri="{FF2B5EF4-FFF2-40B4-BE49-F238E27FC236}">
                <a16:creationId xmlns:a16="http://schemas.microsoft.com/office/drawing/2014/main" id="{3DDD728C-A3E9-4441-A3F0-E723A0244190}"/>
              </a:ext>
            </a:extLst>
          </p:cNvPr>
          <p:cNvSpPr/>
          <p:nvPr/>
        </p:nvSpPr>
        <p:spPr>
          <a:xfrm>
            <a:off x="1003330" y="1627844"/>
            <a:ext cx="3352799" cy="2905584"/>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Rectángulo 23">
            <a:extLst>
              <a:ext uri="{FF2B5EF4-FFF2-40B4-BE49-F238E27FC236}">
                <a16:creationId xmlns:a16="http://schemas.microsoft.com/office/drawing/2014/main" id="{4C7288EE-D842-4778-894E-4FC61A7C6A3E}"/>
              </a:ext>
            </a:extLst>
          </p:cNvPr>
          <p:cNvSpPr/>
          <p:nvPr/>
        </p:nvSpPr>
        <p:spPr>
          <a:xfrm>
            <a:off x="2146047" y="2039521"/>
            <a:ext cx="1116011" cy="369332"/>
          </a:xfrm>
          <a:prstGeom prst="rect">
            <a:avLst/>
          </a:prstGeom>
        </p:spPr>
        <p:txBody>
          <a:bodyPr wrap="none">
            <a:spAutoFit/>
          </a:bodyPr>
          <a:lstStyle/>
          <a:p>
            <a:r>
              <a:rPr lang="es-ES" dirty="0">
                <a:solidFill>
                  <a:prstClr val="black"/>
                </a:solidFill>
                <a:latin typeface="Arial" panose="020B0604020202020204" pitchFamily="34" charset="0"/>
                <a:cs typeface="Arial" panose="020B0604020202020204" pitchFamily="34" charset="0"/>
              </a:rPr>
              <a:t>TIME(</a:t>
            </a:r>
            <a:r>
              <a:rPr kumimoji="0" lang="es-ES"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a:t>
            </a:r>
            <a:r>
              <a:rPr kumimoji="0" lang="es-ES"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lang="es-ES" dirty="0">
                <a:solidFill>
                  <a:prstClr val="black"/>
                </a:solidFill>
                <a:latin typeface="Arial" panose="020B0604020202020204" pitchFamily="34" charset="0"/>
                <a:cs typeface="Arial" panose="020B0604020202020204" pitchFamily="34" charset="0"/>
              </a:rPr>
              <a:t>)</a:t>
            </a:r>
            <a:endParaRPr lang="es-MX" dirty="0"/>
          </a:p>
        </p:txBody>
      </p:sp>
      <p:sp>
        <p:nvSpPr>
          <p:cNvPr id="25" name="Diagrama de flujo: conector 24">
            <a:extLst>
              <a:ext uri="{FF2B5EF4-FFF2-40B4-BE49-F238E27FC236}">
                <a16:creationId xmlns:a16="http://schemas.microsoft.com/office/drawing/2014/main" id="{A8D7AE9E-0A15-4353-9669-6C6AF098F93C}"/>
              </a:ext>
            </a:extLst>
          </p:cNvPr>
          <p:cNvSpPr/>
          <p:nvPr/>
        </p:nvSpPr>
        <p:spPr>
          <a:xfrm>
            <a:off x="656846" y="1250068"/>
            <a:ext cx="3990698" cy="3655220"/>
          </a:xfrm>
          <a:prstGeom prst="flowChartConnector">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Diagrama de flujo: conector 25">
            <a:extLst>
              <a:ext uri="{FF2B5EF4-FFF2-40B4-BE49-F238E27FC236}">
                <a16:creationId xmlns:a16="http://schemas.microsoft.com/office/drawing/2014/main" id="{7201461D-987A-43B0-8CB0-8A5D349A46A5}"/>
              </a:ext>
            </a:extLst>
          </p:cNvPr>
          <p:cNvSpPr/>
          <p:nvPr/>
        </p:nvSpPr>
        <p:spPr>
          <a:xfrm>
            <a:off x="377687" y="923954"/>
            <a:ext cx="4620125" cy="4379495"/>
          </a:xfrm>
          <a:prstGeom prst="flowChartConnector">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A623F403-3979-46D0-9131-6D5EEBE8D28E}"/>
              </a:ext>
            </a:extLst>
          </p:cNvPr>
          <p:cNvSpPr txBox="1"/>
          <p:nvPr/>
        </p:nvSpPr>
        <p:spPr>
          <a:xfrm>
            <a:off x="5276971" y="569307"/>
            <a:ext cx="6688817" cy="3970318"/>
          </a:xfrm>
          <a:prstGeom prst="rect">
            <a:avLst/>
          </a:prstGeom>
          <a:noFill/>
          <a:ln>
            <a:solidFill>
              <a:schemeClr val="tx1"/>
            </a:solidFill>
          </a:ln>
        </p:spPr>
        <p:txBody>
          <a:bodyPr wrap="square">
            <a:spAutoFit/>
          </a:bodyPr>
          <a:lstStyle/>
          <a:p>
            <a:pPr algn="ctr"/>
            <a:r>
              <a:rPr lang="es-AR" b="1" dirty="0">
                <a:latin typeface="Arial" panose="020B0604020202020204" pitchFamily="34" charset="0"/>
                <a:cs typeface="Arial" panose="020B0604020202020204" pitchFamily="34" charset="0"/>
              </a:rPr>
              <a:t>Ejemplo sencillo de lenguaje en P</a:t>
            </a:r>
            <a:r>
              <a:rPr lang="es-AR" dirty="0">
                <a:latin typeface="Arial" panose="020B0604020202020204" pitchFamily="34" charset="0"/>
                <a:cs typeface="Arial" panose="020B0604020202020204" pitchFamily="34" charset="0"/>
              </a:rPr>
              <a:t> </a:t>
            </a:r>
          </a:p>
          <a:p>
            <a:pPr algn="ctr"/>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PALÍNDROMOS = {w | w es un palíndromo con símbolos </a:t>
            </a:r>
            <a:r>
              <a:rPr lang="es-AR" i="1" dirty="0">
                <a:latin typeface="Arial" panose="020B0604020202020204" pitchFamily="34" charset="0"/>
                <a:cs typeface="Arial" panose="020B0604020202020204" pitchFamily="34" charset="0"/>
              </a:rPr>
              <a:t>a</a:t>
            </a:r>
            <a:r>
              <a:rPr lang="es-AR" dirty="0">
                <a:latin typeface="Arial" panose="020B0604020202020204" pitchFamily="34" charset="0"/>
                <a:cs typeface="Arial" panose="020B0604020202020204" pitchFamily="34" charset="0"/>
              </a:rPr>
              <a:t> y b}</a:t>
            </a:r>
          </a:p>
          <a:p>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Una MT muy simple que decide el lenguaje, con 2 cintas, hace:</a:t>
            </a: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1. Copia w de la cinta 1 a la cinta 2</a:t>
            </a:r>
          </a:p>
          <a:p>
            <a:pPr algn="just"/>
            <a:r>
              <a:rPr lang="es-AR" b="1" dirty="0">
                <a:latin typeface="Arial" panose="020B0604020202020204" pitchFamily="34" charset="0"/>
                <a:cs typeface="Arial" panose="020B0604020202020204" pitchFamily="34" charset="0"/>
              </a:rPr>
              <a:t>    Tiempo O(n)</a:t>
            </a: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2. Posiciona el cabezal de la cinta 1 a la izquierda</a:t>
            </a:r>
          </a:p>
          <a:p>
            <a:pPr algn="just"/>
            <a:r>
              <a:rPr lang="es-AR" b="1" dirty="0">
                <a:latin typeface="Arial" panose="020B0604020202020204" pitchFamily="34" charset="0"/>
                <a:cs typeface="Arial" panose="020B0604020202020204" pitchFamily="34" charset="0"/>
              </a:rPr>
              <a:t>    Tiempo O(n)</a:t>
            </a: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3. Compara en direcciones contrarias uno a uno los símbolos  </a:t>
            </a:r>
          </a:p>
          <a:p>
            <a:pPr algn="just"/>
            <a:r>
              <a:rPr lang="es-AR" dirty="0">
                <a:latin typeface="Arial" panose="020B0604020202020204" pitchFamily="34" charset="0"/>
                <a:cs typeface="Arial" panose="020B0604020202020204" pitchFamily="34" charset="0"/>
              </a:rPr>
              <a:t>    de las 2 cintas hasta llegar a un blanco en </a:t>
            </a:r>
            <a:r>
              <a:rPr lang="es-AR" dirty="0" err="1">
                <a:latin typeface="Arial" panose="020B0604020202020204" pitchFamily="34" charset="0"/>
                <a:cs typeface="Arial" panose="020B0604020202020204" pitchFamily="34" charset="0"/>
              </a:rPr>
              <a:t>ámbas</a:t>
            </a:r>
            <a:endParaRPr lang="es-AR"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    Tiempo O(n)</a:t>
            </a:r>
          </a:p>
          <a:p>
            <a:pPr algn="just"/>
            <a:endParaRPr lang="es-AR" sz="900"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    Tiempo total: </a:t>
            </a:r>
            <a:r>
              <a:rPr lang="es-AR" dirty="0">
                <a:latin typeface="Arial" panose="020B0604020202020204" pitchFamily="34" charset="0"/>
                <a:cs typeface="Arial" panose="020B0604020202020204" pitchFamily="34" charset="0"/>
              </a:rPr>
              <a:t>T(n) = O(n) + O(n) + O(n) = </a:t>
            </a:r>
            <a:r>
              <a:rPr lang="es-AR" b="1" dirty="0">
                <a:latin typeface="Arial" panose="020B0604020202020204" pitchFamily="34" charset="0"/>
                <a:cs typeface="Arial" panose="020B0604020202020204" pitchFamily="34" charset="0"/>
              </a:rPr>
              <a:t>O(n)</a:t>
            </a:r>
          </a:p>
        </p:txBody>
      </p:sp>
      <p:sp>
        <p:nvSpPr>
          <p:cNvPr id="16" name="CuadroTexto 15">
            <a:extLst>
              <a:ext uri="{FF2B5EF4-FFF2-40B4-BE49-F238E27FC236}">
                <a16:creationId xmlns:a16="http://schemas.microsoft.com/office/drawing/2014/main" id="{62550C22-0305-472B-BC08-05AAF2B35640}"/>
              </a:ext>
            </a:extLst>
          </p:cNvPr>
          <p:cNvSpPr txBox="1"/>
          <p:nvPr/>
        </p:nvSpPr>
        <p:spPr>
          <a:xfrm>
            <a:off x="798770" y="3277357"/>
            <a:ext cx="4064222" cy="707886"/>
          </a:xfrm>
          <a:prstGeom prst="rect">
            <a:avLst/>
          </a:prstGeom>
          <a:noFill/>
        </p:spPr>
        <p:txBody>
          <a:bodyPr wrap="square">
            <a:spAutoFit/>
          </a:bodyPr>
          <a:lstStyle/>
          <a:p>
            <a:pPr algn="ctr"/>
            <a:r>
              <a:rPr kumimoji="0" lang="es-AR" sz="2000" b="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Todo lenguaje de P es aceptado </a:t>
            </a:r>
          </a:p>
          <a:p>
            <a:pPr algn="ctr"/>
            <a:r>
              <a:rPr kumimoji="0" lang="es-AR" sz="2000" b="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por una MT en tiempo O(n</a:t>
            </a:r>
            <a:r>
              <a:rPr kumimoji="0" lang="es-ES" sz="2000" b="1"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k</a:t>
            </a:r>
            <a:r>
              <a:rPr kumimoji="0" lang="es-AR" sz="2000" b="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lang="es-AR" sz="2000" b="1" dirty="0"/>
          </a:p>
        </p:txBody>
      </p:sp>
      <p:sp>
        <p:nvSpPr>
          <p:cNvPr id="18" name="Rectángulo 17">
            <a:extLst>
              <a:ext uri="{FF2B5EF4-FFF2-40B4-BE49-F238E27FC236}">
                <a16:creationId xmlns:a16="http://schemas.microsoft.com/office/drawing/2014/main" id="{D273AF88-66E1-4AC7-92CF-98A391D109F9}"/>
              </a:ext>
            </a:extLst>
          </p:cNvPr>
          <p:cNvSpPr/>
          <p:nvPr/>
        </p:nvSpPr>
        <p:spPr>
          <a:xfrm>
            <a:off x="6687747" y="4930630"/>
            <a:ext cx="1178528"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cxnSp>
        <p:nvCxnSpPr>
          <p:cNvPr id="27" name="Conector recto 26">
            <a:extLst>
              <a:ext uri="{FF2B5EF4-FFF2-40B4-BE49-F238E27FC236}">
                <a16:creationId xmlns:a16="http://schemas.microsoft.com/office/drawing/2014/main" id="{9EC9F923-4302-46AC-B37B-7D1C25DA8C33}"/>
              </a:ext>
            </a:extLst>
          </p:cNvPr>
          <p:cNvCxnSpPr>
            <a:cxnSpLocks/>
          </p:cNvCxnSpPr>
          <p:nvPr/>
        </p:nvCxnSpPr>
        <p:spPr>
          <a:xfrm>
            <a:off x="6706970" y="4926577"/>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5D3CB89D-0D54-4A6A-9698-7A743CDBC813}"/>
              </a:ext>
            </a:extLst>
          </p:cNvPr>
          <p:cNvCxnSpPr>
            <a:cxnSpLocks/>
          </p:cNvCxnSpPr>
          <p:nvPr/>
        </p:nvCxnSpPr>
        <p:spPr>
          <a:xfrm flipV="1">
            <a:off x="7575169" y="5700162"/>
            <a:ext cx="181880" cy="49846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F0B45E44-DA8D-45D2-8D87-D957BD89A7C0}"/>
              </a:ext>
            </a:extLst>
          </p:cNvPr>
          <p:cNvCxnSpPr>
            <a:cxnSpLocks/>
          </p:cNvCxnSpPr>
          <p:nvPr/>
        </p:nvCxnSpPr>
        <p:spPr>
          <a:xfrm flipV="1">
            <a:off x="7540021" y="5246257"/>
            <a:ext cx="179293" cy="9341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EFF743EE-724E-4E5F-A4E0-F13FAAA287FE}"/>
              </a:ext>
            </a:extLst>
          </p:cNvPr>
          <p:cNvCxnSpPr>
            <a:cxnSpLocks/>
          </p:cNvCxnSpPr>
          <p:nvPr/>
        </p:nvCxnSpPr>
        <p:spPr>
          <a:xfrm>
            <a:off x="6687747" y="5238407"/>
            <a:ext cx="12619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ángulo: esquinas diagonales redondeadas 59">
            <a:extLst>
              <a:ext uri="{FF2B5EF4-FFF2-40B4-BE49-F238E27FC236}">
                <a16:creationId xmlns:a16="http://schemas.microsoft.com/office/drawing/2014/main" id="{39C22F34-BEAE-49A0-AA65-08AB987A3C5B}"/>
              </a:ext>
            </a:extLst>
          </p:cNvPr>
          <p:cNvSpPr/>
          <p:nvPr/>
        </p:nvSpPr>
        <p:spPr>
          <a:xfrm>
            <a:off x="7513522" y="6198623"/>
            <a:ext cx="143588" cy="157864"/>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7" name="Conector recto 66">
            <a:extLst>
              <a:ext uri="{FF2B5EF4-FFF2-40B4-BE49-F238E27FC236}">
                <a16:creationId xmlns:a16="http://schemas.microsoft.com/office/drawing/2014/main" id="{CBE11268-9483-49AF-AA7D-E6AB26AD730B}"/>
              </a:ext>
            </a:extLst>
          </p:cNvPr>
          <p:cNvCxnSpPr>
            <a:cxnSpLocks/>
          </p:cNvCxnSpPr>
          <p:nvPr/>
        </p:nvCxnSpPr>
        <p:spPr>
          <a:xfrm>
            <a:off x="6706970" y="5392385"/>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B5C13953-BB11-4078-88BB-8FB494F303BA}"/>
              </a:ext>
            </a:extLst>
          </p:cNvPr>
          <p:cNvCxnSpPr>
            <a:cxnSpLocks/>
          </p:cNvCxnSpPr>
          <p:nvPr/>
        </p:nvCxnSpPr>
        <p:spPr>
          <a:xfrm>
            <a:off x="6706970" y="5683074"/>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Rectángulo 68">
            <a:extLst>
              <a:ext uri="{FF2B5EF4-FFF2-40B4-BE49-F238E27FC236}">
                <a16:creationId xmlns:a16="http://schemas.microsoft.com/office/drawing/2014/main" id="{A06E5423-4898-498D-AD7B-B841528C5B4B}"/>
              </a:ext>
            </a:extLst>
          </p:cNvPr>
          <p:cNvSpPr/>
          <p:nvPr/>
        </p:nvSpPr>
        <p:spPr>
          <a:xfrm>
            <a:off x="8244234" y="4926577"/>
            <a:ext cx="1178528"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cxnSp>
        <p:nvCxnSpPr>
          <p:cNvPr id="70" name="Conector recto 69">
            <a:extLst>
              <a:ext uri="{FF2B5EF4-FFF2-40B4-BE49-F238E27FC236}">
                <a16:creationId xmlns:a16="http://schemas.microsoft.com/office/drawing/2014/main" id="{7EB4C714-7BAB-4A58-94F6-1144E3515CD2}"/>
              </a:ext>
            </a:extLst>
          </p:cNvPr>
          <p:cNvCxnSpPr>
            <a:cxnSpLocks/>
          </p:cNvCxnSpPr>
          <p:nvPr/>
        </p:nvCxnSpPr>
        <p:spPr>
          <a:xfrm>
            <a:off x="8263457" y="4922524"/>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Conector recto de flecha 70">
            <a:extLst>
              <a:ext uri="{FF2B5EF4-FFF2-40B4-BE49-F238E27FC236}">
                <a16:creationId xmlns:a16="http://schemas.microsoft.com/office/drawing/2014/main" id="{730FB00E-99EA-481B-AC6D-926A7D28536B}"/>
              </a:ext>
            </a:extLst>
          </p:cNvPr>
          <p:cNvCxnSpPr>
            <a:cxnSpLocks/>
          </p:cNvCxnSpPr>
          <p:nvPr/>
        </p:nvCxnSpPr>
        <p:spPr>
          <a:xfrm flipV="1">
            <a:off x="9131656" y="5670992"/>
            <a:ext cx="157253" cy="5235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de flecha 71">
            <a:extLst>
              <a:ext uri="{FF2B5EF4-FFF2-40B4-BE49-F238E27FC236}">
                <a16:creationId xmlns:a16="http://schemas.microsoft.com/office/drawing/2014/main" id="{E94385C7-7410-4C20-8276-E65FDA89C8A9}"/>
              </a:ext>
            </a:extLst>
          </p:cNvPr>
          <p:cNvCxnSpPr>
            <a:cxnSpLocks/>
          </p:cNvCxnSpPr>
          <p:nvPr/>
        </p:nvCxnSpPr>
        <p:spPr>
          <a:xfrm flipH="1" flipV="1">
            <a:off x="8407573" y="5234354"/>
            <a:ext cx="770935" cy="9602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30B9734A-7B1B-4497-921A-70F7BB3AD08B}"/>
              </a:ext>
            </a:extLst>
          </p:cNvPr>
          <p:cNvCxnSpPr>
            <a:cxnSpLocks/>
          </p:cNvCxnSpPr>
          <p:nvPr/>
        </p:nvCxnSpPr>
        <p:spPr>
          <a:xfrm>
            <a:off x="8244234" y="5234354"/>
            <a:ext cx="12619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Rectángulo: esquinas diagonales redondeadas 73">
            <a:extLst>
              <a:ext uri="{FF2B5EF4-FFF2-40B4-BE49-F238E27FC236}">
                <a16:creationId xmlns:a16="http://schemas.microsoft.com/office/drawing/2014/main" id="{E3F590BC-2F19-4E8D-A1EA-D295ACCEF173}"/>
              </a:ext>
            </a:extLst>
          </p:cNvPr>
          <p:cNvSpPr/>
          <p:nvPr/>
        </p:nvSpPr>
        <p:spPr>
          <a:xfrm>
            <a:off x="9070009" y="6194570"/>
            <a:ext cx="143588" cy="157864"/>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75" name="Conector recto 74">
            <a:extLst>
              <a:ext uri="{FF2B5EF4-FFF2-40B4-BE49-F238E27FC236}">
                <a16:creationId xmlns:a16="http://schemas.microsoft.com/office/drawing/2014/main" id="{5AB245A9-CEBC-4FF0-8DA3-912CF892A31E}"/>
              </a:ext>
            </a:extLst>
          </p:cNvPr>
          <p:cNvCxnSpPr>
            <a:cxnSpLocks/>
          </p:cNvCxnSpPr>
          <p:nvPr/>
        </p:nvCxnSpPr>
        <p:spPr>
          <a:xfrm>
            <a:off x="8263457" y="5388332"/>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ector recto 75">
            <a:extLst>
              <a:ext uri="{FF2B5EF4-FFF2-40B4-BE49-F238E27FC236}">
                <a16:creationId xmlns:a16="http://schemas.microsoft.com/office/drawing/2014/main" id="{340F2892-413A-4A5B-A4BB-FDD6CA9C6918}"/>
              </a:ext>
            </a:extLst>
          </p:cNvPr>
          <p:cNvCxnSpPr>
            <a:cxnSpLocks/>
          </p:cNvCxnSpPr>
          <p:nvPr/>
        </p:nvCxnSpPr>
        <p:spPr>
          <a:xfrm>
            <a:off x="8263457" y="5679021"/>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Rectángulo 76">
            <a:extLst>
              <a:ext uri="{FF2B5EF4-FFF2-40B4-BE49-F238E27FC236}">
                <a16:creationId xmlns:a16="http://schemas.microsoft.com/office/drawing/2014/main" id="{87D87C28-3A03-4381-A45F-B42A3FB1D257}"/>
              </a:ext>
            </a:extLst>
          </p:cNvPr>
          <p:cNvSpPr/>
          <p:nvPr/>
        </p:nvSpPr>
        <p:spPr>
          <a:xfrm>
            <a:off x="9777440" y="4922524"/>
            <a:ext cx="1178528" cy="307777"/>
          </a:xfrm>
          <a:prstGeom prst="rect">
            <a:avLst/>
          </a:prstGeom>
        </p:spPr>
        <p:txBody>
          <a:bodyPr wrap="squar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cxnSp>
        <p:nvCxnSpPr>
          <p:cNvPr id="78" name="Conector recto 77">
            <a:extLst>
              <a:ext uri="{FF2B5EF4-FFF2-40B4-BE49-F238E27FC236}">
                <a16:creationId xmlns:a16="http://schemas.microsoft.com/office/drawing/2014/main" id="{18F8407C-2CD0-4DA2-83AB-13A9C47C3BC4}"/>
              </a:ext>
            </a:extLst>
          </p:cNvPr>
          <p:cNvCxnSpPr>
            <a:cxnSpLocks/>
          </p:cNvCxnSpPr>
          <p:nvPr/>
        </p:nvCxnSpPr>
        <p:spPr>
          <a:xfrm>
            <a:off x="9796663" y="4918471"/>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Conector recto de flecha 78">
            <a:extLst>
              <a:ext uri="{FF2B5EF4-FFF2-40B4-BE49-F238E27FC236}">
                <a16:creationId xmlns:a16="http://schemas.microsoft.com/office/drawing/2014/main" id="{3C98EC10-CC7A-4932-8DA5-90355AF2B52E}"/>
              </a:ext>
            </a:extLst>
          </p:cNvPr>
          <p:cNvCxnSpPr>
            <a:cxnSpLocks/>
          </p:cNvCxnSpPr>
          <p:nvPr/>
        </p:nvCxnSpPr>
        <p:spPr>
          <a:xfrm flipH="1" flipV="1">
            <a:off x="9829002" y="5700162"/>
            <a:ext cx="835860" cy="4903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recto de flecha 79">
            <a:extLst>
              <a:ext uri="{FF2B5EF4-FFF2-40B4-BE49-F238E27FC236}">
                <a16:creationId xmlns:a16="http://schemas.microsoft.com/office/drawing/2014/main" id="{8EE7E308-7785-4461-AFA5-1BBE9C0BA1F1}"/>
              </a:ext>
            </a:extLst>
          </p:cNvPr>
          <p:cNvCxnSpPr>
            <a:cxnSpLocks/>
          </p:cNvCxnSpPr>
          <p:nvPr/>
        </p:nvCxnSpPr>
        <p:spPr>
          <a:xfrm flipV="1">
            <a:off x="10711714" y="5226249"/>
            <a:ext cx="207368" cy="9642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E0574492-2AD8-4643-AB93-4B41ACA661E5}"/>
              </a:ext>
            </a:extLst>
          </p:cNvPr>
          <p:cNvCxnSpPr>
            <a:cxnSpLocks/>
          </p:cNvCxnSpPr>
          <p:nvPr/>
        </p:nvCxnSpPr>
        <p:spPr>
          <a:xfrm>
            <a:off x="9777440" y="5230301"/>
            <a:ext cx="12619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Rectángulo: esquinas diagonales redondeadas 81">
            <a:extLst>
              <a:ext uri="{FF2B5EF4-FFF2-40B4-BE49-F238E27FC236}">
                <a16:creationId xmlns:a16="http://schemas.microsoft.com/office/drawing/2014/main" id="{C722F5A2-7B43-4C95-9838-32D81572F9BE}"/>
              </a:ext>
            </a:extLst>
          </p:cNvPr>
          <p:cNvSpPr/>
          <p:nvPr/>
        </p:nvSpPr>
        <p:spPr>
          <a:xfrm>
            <a:off x="10603215" y="6190517"/>
            <a:ext cx="143588" cy="157864"/>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3" name="Conector recto 82">
            <a:extLst>
              <a:ext uri="{FF2B5EF4-FFF2-40B4-BE49-F238E27FC236}">
                <a16:creationId xmlns:a16="http://schemas.microsoft.com/office/drawing/2014/main" id="{4F117CF2-0A42-4C12-A291-F3B0499EE245}"/>
              </a:ext>
            </a:extLst>
          </p:cNvPr>
          <p:cNvCxnSpPr>
            <a:cxnSpLocks/>
          </p:cNvCxnSpPr>
          <p:nvPr/>
        </p:nvCxnSpPr>
        <p:spPr>
          <a:xfrm>
            <a:off x="9796663" y="5384279"/>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5279989C-517E-46B1-9DFF-CBDEB19646FB}"/>
              </a:ext>
            </a:extLst>
          </p:cNvPr>
          <p:cNvCxnSpPr>
            <a:cxnSpLocks/>
          </p:cNvCxnSpPr>
          <p:nvPr/>
        </p:nvCxnSpPr>
        <p:spPr>
          <a:xfrm>
            <a:off x="9796663" y="5674968"/>
            <a:ext cx="12427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Rectángulo 96">
            <a:extLst>
              <a:ext uri="{FF2B5EF4-FFF2-40B4-BE49-F238E27FC236}">
                <a16:creationId xmlns:a16="http://schemas.microsoft.com/office/drawing/2014/main" id="{52BDF88E-0F3D-49EC-AE7E-68A91A50A6E5}"/>
              </a:ext>
            </a:extLst>
          </p:cNvPr>
          <p:cNvSpPr/>
          <p:nvPr/>
        </p:nvSpPr>
        <p:spPr>
          <a:xfrm>
            <a:off x="8263457" y="5367068"/>
            <a:ext cx="1178528"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sp>
        <p:nvSpPr>
          <p:cNvPr id="98" name="Rectángulo 97">
            <a:extLst>
              <a:ext uri="{FF2B5EF4-FFF2-40B4-BE49-F238E27FC236}">
                <a16:creationId xmlns:a16="http://schemas.microsoft.com/office/drawing/2014/main" id="{EBC93C28-2ACD-41B1-B51A-B3DB52EE8D02}"/>
              </a:ext>
            </a:extLst>
          </p:cNvPr>
          <p:cNvSpPr/>
          <p:nvPr/>
        </p:nvSpPr>
        <p:spPr>
          <a:xfrm>
            <a:off x="9777440" y="5363215"/>
            <a:ext cx="1178528"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sp>
        <p:nvSpPr>
          <p:cNvPr id="101" name="Rectángulo 100">
            <a:extLst>
              <a:ext uri="{FF2B5EF4-FFF2-40B4-BE49-F238E27FC236}">
                <a16:creationId xmlns:a16="http://schemas.microsoft.com/office/drawing/2014/main" id="{9584845A-D46D-4F43-8EF4-8140BBB769E1}"/>
              </a:ext>
            </a:extLst>
          </p:cNvPr>
          <p:cNvSpPr/>
          <p:nvPr/>
        </p:nvSpPr>
        <p:spPr>
          <a:xfrm>
            <a:off x="6707317" y="5384535"/>
            <a:ext cx="1178528" cy="307777"/>
          </a:xfrm>
          <a:prstGeom prst="rect">
            <a:avLst/>
          </a:prstGeom>
        </p:spPr>
        <p:txBody>
          <a:bodyPr wrap="none">
            <a:spAutoFit/>
          </a:bodyPr>
          <a:lstStyle/>
          <a:p>
            <a:r>
              <a:rPr lang="es-MX" sz="1400" dirty="0">
                <a:latin typeface="Arial" panose="020B0604020202020204" pitchFamily="34" charset="0"/>
                <a:cs typeface="Arial" panose="020B0604020202020204" pitchFamily="34" charset="0"/>
              </a:rPr>
              <a:t>a </a:t>
            </a:r>
            <a:r>
              <a:rPr lang="es-MX" sz="1400" dirty="0" err="1">
                <a:latin typeface="Arial" panose="020B0604020202020204" pitchFamily="34" charset="0"/>
                <a:cs typeface="Arial" panose="020B0604020202020204" pitchFamily="34" charset="0"/>
              </a:rPr>
              <a:t>a</a:t>
            </a:r>
            <a:r>
              <a:rPr lang="es-MX" sz="1400" dirty="0">
                <a:latin typeface="Arial" panose="020B0604020202020204" pitchFamily="34" charset="0"/>
                <a:cs typeface="Arial" panose="020B0604020202020204" pitchFamily="34" charset="0"/>
              </a:rPr>
              <a:t> b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b</a:t>
            </a:r>
            <a:r>
              <a:rPr lang="es-MX" sz="1400" dirty="0">
                <a:latin typeface="Arial" panose="020B0604020202020204" pitchFamily="34" charset="0"/>
                <a:cs typeface="Arial" panose="020B0604020202020204" pitchFamily="34" charset="0"/>
              </a:rPr>
              <a:t> a </a:t>
            </a:r>
            <a:r>
              <a:rPr lang="es-MX" sz="1400" dirty="0" err="1">
                <a:latin typeface="Arial" panose="020B0604020202020204" pitchFamily="34" charset="0"/>
                <a:cs typeface="Arial" panose="020B0604020202020204" pitchFamily="34" charset="0"/>
              </a:rPr>
              <a:t>a</a:t>
            </a:r>
            <a:endParaRPr lang="es-MX" sz="1400" dirty="0">
              <a:latin typeface="Arial" panose="020B0604020202020204" pitchFamily="34" charset="0"/>
              <a:cs typeface="Arial" panose="020B0604020202020204" pitchFamily="34" charset="0"/>
            </a:endParaRPr>
          </a:p>
        </p:txBody>
      </p:sp>
      <p:sp>
        <p:nvSpPr>
          <p:cNvPr id="108" name="CuadroTexto 107">
            <a:extLst>
              <a:ext uri="{FF2B5EF4-FFF2-40B4-BE49-F238E27FC236}">
                <a16:creationId xmlns:a16="http://schemas.microsoft.com/office/drawing/2014/main" id="{E42EA4A2-B48C-4D7B-91C3-83AC4CBF8D19}"/>
              </a:ext>
            </a:extLst>
          </p:cNvPr>
          <p:cNvSpPr txBox="1"/>
          <p:nvPr/>
        </p:nvSpPr>
        <p:spPr>
          <a:xfrm>
            <a:off x="6731890" y="6077052"/>
            <a:ext cx="505756" cy="369332"/>
          </a:xfrm>
          <a:prstGeom prst="rect">
            <a:avLst/>
          </a:prstGeom>
          <a:noFill/>
        </p:spPr>
        <p:txBody>
          <a:bodyPr wrap="square">
            <a:spAutoFit/>
          </a:bodyPr>
          <a:lstStyle/>
          <a:p>
            <a:r>
              <a:rPr lang="es-AR" sz="1800" b="1" dirty="0">
                <a:latin typeface="Arial" panose="020B0604020202020204" pitchFamily="34" charset="0"/>
                <a:cs typeface="Arial" panose="020B0604020202020204" pitchFamily="34" charset="0"/>
              </a:rPr>
              <a:t>1</a:t>
            </a:r>
            <a:endParaRPr lang="es-AR" b="1" dirty="0"/>
          </a:p>
        </p:txBody>
      </p:sp>
      <p:sp>
        <p:nvSpPr>
          <p:cNvPr id="109" name="CuadroTexto 108">
            <a:extLst>
              <a:ext uri="{FF2B5EF4-FFF2-40B4-BE49-F238E27FC236}">
                <a16:creationId xmlns:a16="http://schemas.microsoft.com/office/drawing/2014/main" id="{59D878F4-EED5-411F-87C8-59636530B6F9}"/>
              </a:ext>
            </a:extLst>
          </p:cNvPr>
          <p:cNvSpPr txBox="1"/>
          <p:nvPr/>
        </p:nvSpPr>
        <p:spPr>
          <a:xfrm>
            <a:off x="8278777" y="6077289"/>
            <a:ext cx="505756" cy="369332"/>
          </a:xfrm>
          <a:prstGeom prst="rect">
            <a:avLst/>
          </a:prstGeom>
          <a:noFill/>
        </p:spPr>
        <p:txBody>
          <a:bodyPr wrap="square">
            <a:spAutoFit/>
          </a:bodyPr>
          <a:lstStyle/>
          <a:p>
            <a:r>
              <a:rPr lang="es-AR" sz="1800" b="1" dirty="0">
                <a:latin typeface="Arial" panose="020B0604020202020204" pitchFamily="34" charset="0"/>
                <a:cs typeface="Arial" panose="020B0604020202020204" pitchFamily="34" charset="0"/>
              </a:rPr>
              <a:t>2</a:t>
            </a:r>
            <a:endParaRPr lang="es-AR" b="1" dirty="0"/>
          </a:p>
        </p:txBody>
      </p:sp>
      <p:sp>
        <p:nvSpPr>
          <p:cNvPr id="110" name="CuadroTexto 109">
            <a:extLst>
              <a:ext uri="{FF2B5EF4-FFF2-40B4-BE49-F238E27FC236}">
                <a16:creationId xmlns:a16="http://schemas.microsoft.com/office/drawing/2014/main" id="{29972009-E680-45F8-B78D-3EB0D41B665D}"/>
              </a:ext>
            </a:extLst>
          </p:cNvPr>
          <p:cNvSpPr txBox="1"/>
          <p:nvPr/>
        </p:nvSpPr>
        <p:spPr>
          <a:xfrm>
            <a:off x="9813650" y="6077289"/>
            <a:ext cx="505756" cy="369332"/>
          </a:xfrm>
          <a:prstGeom prst="rect">
            <a:avLst/>
          </a:prstGeom>
          <a:noFill/>
        </p:spPr>
        <p:txBody>
          <a:bodyPr wrap="square">
            <a:spAutoFit/>
          </a:bodyPr>
          <a:lstStyle/>
          <a:p>
            <a:r>
              <a:rPr lang="es-AR" sz="1800" b="1" dirty="0">
                <a:latin typeface="Arial" panose="020B0604020202020204" pitchFamily="34" charset="0"/>
                <a:cs typeface="Arial" panose="020B0604020202020204" pitchFamily="34" charset="0"/>
              </a:rPr>
              <a:t>3</a:t>
            </a:r>
            <a:endParaRPr lang="es-AR" b="1" dirty="0"/>
          </a:p>
        </p:txBody>
      </p:sp>
      <p:sp>
        <p:nvSpPr>
          <p:cNvPr id="3" name="Slide Number Placeholder 2">
            <a:extLst>
              <a:ext uri="{FF2B5EF4-FFF2-40B4-BE49-F238E27FC236}">
                <a16:creationId xmlns:a16="http://schemas.microsoft.com/office/drawing/2014/main" id="{1A38F44A-A6FF-097E-A10B-C2451E438042}"/>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 name="Rectángulo 3">
            <a:extLst>
              <a:ext uri="{FF2B5EF4-FFF2-40B4-BE49-F238E27FC236}">
                <a16:creationId xmlns:a16="http://schemas.microsoft.com/office/drawing/2014/main" id="{58BDFA25-7103-07BD-A651-C675945A0196}"/>
              </a:ext>
            </a:extLst>
          </p:cNvPr>
          <p:cNvSpPr/>
          <p:nvPr/>
        </p:nvSpPr>
        <p:spPr>
          <a:xfrm>
            <a:off x="277875" y="318060"/>
            <a:ext cx="4748639" cy="461665"/>
          </a:xfrm>
          <a:prstGeom prst="rect">
            <a:avLst/>
          </a:prstGeom>
        </p:spPr>
        <p:txBody>
          <a:bodyPr wrap="square">
            <a:spAutoFit/>
          </a:bodyPr>
          <a:lstStyle/>
          <a:p>
            <a:pPr algn="ctr"/>
            <a:r>
              <a:rPr lang="es-MX" sz="2400" b="1" dirty="0">
                <a:latin typeface="Arial" panose="020B0604020202020204" pitchFamily="34" charset="0"/>
                <a:cs typeface="Arial" panose="020B0604020202020204" pitchFamily="34" charset="0"/>
              </a:rPr>
              <a:t>TIME(n</a:t>
            </a:r>
            <a:r>
              <a:rPr kumimoji="0" lang="es-ES" sz="2400" b="1" i="0" u="none" strike="noStrike" kern="1200" cap="none" spc="0" normalizeH="0" baseline="30000" noProof="0" dirty="0">
                <a:ln>
                  <a:noFill/>
                </a:ln>
                <a:effectLst/>
                <a:uLnTx/>
                <a:uFillTx/>
                <a:latin typeface="Arial" panose="020B0604020202020204" pitchFamily="34" charset="0"/>
                <a:ea typeface="+mn-ea"/>
                <a:cs typeface="Arial" panose="020B0604020202020204" pitchFamily="34" charset="0"/>
              </a:rPr>
              <a:t>k</a:t>
            </a:r>
            <a:r>
              <a:rPr kumimoji="0" lang="es-ES" sz="24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 la clase P</a:t>
            </a:r>
            <a:endParaRPr kumimoji="0" lang="es-MX" sz="2400" b="1" i="0" u="none" strike="noStrike" kern="1200" cap="none" spc="0" normalizeH="0" baseline="0" noProof="0" dirty="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1109346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73D26B9-B7F6-4DAF-8292-5E66568A2A86}"/>
              </a:ext>
            </a:extLst>
          </p:cNvPr>
          <p:cNvSpPr/>
          <p:nvPr/>
        </p:nvSpPr>
        <p:spPr>
          <a:xfrm>
            <a:off x="288096" y="202037"/>
            <a:ext cx="11457992" cy="4431983"/>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Otro ejemplo de lenguaje en la clase P</a:t>
            </a:r>
            <a:endParaRPr lang="es-AR" sz="2400" dirty="0">
              <a:latin typeface="Arial" panose="020B0604020202020204" pitchFamily="34" charset="0"/>
              <a:cs typeface="Arial" panose="020B0604020202020204" pitchFamily="34" charset="0"/>
            </a:endParaRPr>
          </a:p>
          <a:p>
            <a:endParaRPr lang="es-AR" sz="24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ACC = {G | G es un grafo no dirigido con m vértices y tiene un camino del vértice 1 al vértice m}</a:t>
            </a: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u="sng" dirty="0">
                <a:latin typeface="Arial" panose="020B0604020202020204" pitchFamily="34" charset="0"/>
                <a:cs typeface="Arial" panose="020B0604020202020204" pitchFamily="34" charset="0"/>
              </a:rPr>
              <a:t>Representación de un grafo G</a:t>
            </a:r>
            <a:r>
              <a:rPr lang="es-AR" dirty="0">
                <a:latin typeface="Arial" panose="020B0604020202020204" pitchFamily="34" charset="0"/>
                <a:cs typeface="Arial" panose="020B0604020202020204" pitchFamily="34" charset="0"/>
              </a:rPr>
              <a:t> </a:t>
            </a:r>
          </a:p>
          <a:p>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G = (V, E), con V el conjunto de vértices y E el conjunto de arcos   </a:t>
            </a:r>
          </a:p>
          <a:p>
            <a:pPr algn="just"/>
            <a:r>
              <a:rPr lang="es-AR" dirty="0">
                <a:latin typeface="Arial" panose="020B0604020202020204" pitchFamily="34" charset="0"/>
                <a:cs typeface="Arial" panose="020B0604020202020204" pitchFamily="34" charset="0"/>
              </a:rPr>
              <a:t>					</a:t>
            </a:r>
          </a:p>
          <a:p>
            <a:pPr algn="just"/>
            <a:r>
              <a:rPr lang="es-AR" dirty="0">
                <a:latin typeface="Arial" panose="020B0604020202020204" pitchFamily="34" charset="0"/>
                <a:cs typeface="Arial" panose="020B0604020202020204" pitchFamily="34" charset="0"/>
              </a:rPr>
              <a:t>				      G = ({1, 2, 3, 4, 5}, {(1, 2), (1, 3), (3, 4), (3, 5)})</a:t>
            </a:r>
          </a:p>
          <a:p>
            <a:pPr algn="just"/>
            <a:endParaRPr lang="es-AR" b="1"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      </a:t>
            </a:r>
            <a:r>
              <a:rPr lang="es-AR" u="sng" dirty="0">
                <a:latin typeface="Arial" panose="020B0604020202020204" pitchFamily="34" charset="0"/>
                <a:cs typeface="Arial" panose="020B0604020202020204" pitchFamily="34" charset="0"/>
              </a:rPr>
              <a:t>MT M que decide ACCES en tiempo </a:t>
            </a:r>
            <a:r>
              <a:rPr lang="es-AR" u="sng" dirty="0" err="1">
                <a:latin typeface="Arial" panose="020B0604020202020204" pitchFamily="34" charset="0"/>
                <a:cs typeface="Arial" panose="020B0604020202020204" pitchFamily="34" charset="0"/>
              </a:rPr>
              <a:t>poly</a:t>
            </a:r>
            <a:r>
              <a:rPr lang="es-AR" u="sng" dirty="0">
                <a:latin typeface="Arial" panose="020B0604020202020204" pitchFamily="34" charset="0"/>
                <a:cs typeface="Arial" panose="020B0604020202020204" pitchFamily="34" charset="0"/>
              </a:rPr>
              <a:t>(n)</a:t>
            </a:r>
            <a:endParaRPr lang="es-AR" dirty="0">
              <a:latin typeface="Arial" panose="020B0604020202020204" pitchFamily="34" charset="0"/>
              <a:cs typeface="Arial" panose="020B0604020202020204" pitchFamily="34" charset="0"/>
            </a:endParaRPr>
          </a:p>
        </p:txBody>
      </p:sp>
      <p:sp>
        <p:nvSpPr>
          <p:cNvPr id="19" name="Diagrama de flujo: conector 18">
            <a:extLst>
              <a:ext uri="{FF2B5EF4-FFF2-40B4-BE49-F238E27FC236}">
                <a16:creationId xmlns:a16="http://schemas.microsoft.com/office/drawing/2014/main" id="{34129ED8-7343-4B2C-90A0-012B0190F94F}"/>
              </a:ext>
            </a:extLst>
          </p:cNvPr>
          <p:cNvSpPr/>
          <p:nvPr/>
        </p:nvSpPr>
        <p:spPr>
          <a:xfrm>
            <a:off x="752394" y="2816927"/>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Diagrama de flujo: conector 19">
            <a:extLst>
              <a:ext uri="{FF2B5EF4-FFF2-40B4-BE49-F238E27FC236}">
                <a16:creationId xmlns:a16="http://schemas.microsoft.com/office/drawing/2014/main" id="{53F3D631-BFAF-449D-B11A-1129C5A94BE0}"/>
              </a:ext>
            </a:extLst>
          </p:cNvPr>
          <p:cNvSpPr/>
          <p:nvPr/>
        </p:nvSpPr>
        <p:spPr>
          <a:xfrm>
            <a:off x="1843427" y="2227660"/>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6" name="Conector recto 25">
            <a:extLst>
              <a:ext uri="{FF2B5EF4-FFF2-40B4-BE49-F238E27FC236}">
                <a16:creationId xmlns:a16="http://schemas.microsoft.com/office/drawing/2014/main" id="{7DC960D1-AED4-43BE-B1A1-E78EFF73621F}"/>
              </a:ext>
            </a:extLst>
          </p:cNvPr>
          <p:cNvCxnSpPr>
            <a:cxnSpLocks/>
          </p:cNvCxnSpPr>
          <p:nvPr/>
        </p:nvCxnSpPr>
        <p:spPr>
          <a:xfrm flipV="1">
            <a:off x="1215764" y="3081995"/>
            <a:ext cx="919289" cy="17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iagrama de flujo: conector 27">
            <a:extLst>
              <a:ext uri="{FF2B5EF4-FFF2-40B4-BE49-F238E27FC236}">
                <a16:creationId xmlns:a16="http://schemas.microsoft.com/office/drawing/2014/main" id="{8581CE72-1A02-45B3-9D6B-4E925CE249CF}"/>
              </a:ext>
            </a:extLst>
          </p:cNvPr>
          <p:cNvSpPr/>
          <p:nvPr/>
        </p:nvSpPr>
        <p:spPr>
          <a:xfrm>
            <a:off x="2143052" y="2864292"/>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Diagrama de flujo: conector 28">
            <a:extLst>
              <a:ext uri="{FF2B5EF4-FFF2-40B4-BE49-F238E27FC236}">
                <a16:creationId xmlns:a16="http://schemas.microsoft.com/office/drawing/2014/main" id="{5CA9B1EE-D72B-4A81-9CE6-0B4D13FB3811}"/>
              </a:ext>
            </a:extLst>
          </p:cNvPr>
          <p:cNvSpPr/>
          <p:nvPr/>
        </p:nvSpPr>
        <p:spPr>
          <a:xfrm>
            <a:off x="3115682" y="2729912"/>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Diagrama de flujo: conector 29">
            <a:extLst>
              <a:ext uri="{FF2B5EF4-FFF2-40B4-BE49-F238E27FC236}">
                <a16:creationId xmlns:a16="http://schemas.microsoft.com/office/drawing/2014/main" id="{1EF9A282-BEC9-46A6-B1CA-B7CFF98A2545}"/>
              </a:ext>
            </a:extLst>
          </p:cNvPr>
          <p:cNvSpPr/>
          <p:nvPr/>
        </p:nvSpPr>
        <p:spPr>
          <a:xfrm>
            <a:off x="3226003" y="2186314"/>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2" name="Conector recto 31">
            <a:extLst>
              <a:ext uri="{FF2B5EF4-FFF2-40B4-BE49-F238E27FC236}">
                <a16:creationId xmlns:a16="http://schemas.microsoft.com/office/drawing/2014/main" id="{12C45C9E-D95D-4179-B92D-D0A7D46E60F9}"/>
              </a:ext>
            </a:extLst>
          </p:cNvPr>
          <p:cNvCxnSpPr>
            <a:cxnSpLocks/>
            <a:endCxn id="20" idx="3"/>
          </p:cNvCxnSpPr>
          <p:nvPr/>
        </p:nvCxnSpPr>
        <p:spPr>
          <a:xfrm flipV="1">
            <a:off x="1202187" y="2617905"/>
            <a:ext cx="708195" cy="3360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ángulo 39">
            <a:extLst>
              <a:ext uri="{FF2B5EF4-FFF2-40B4-BE49-F238E27FC236}">
                <a16:creationId xmlns:a16="http://schemas.microsoft.com/office/drawing/2014/main" id="{9EA256BB-15E5-49EC-9FA9-9FA17C0EF757}"/>
              </a:ext>
            </a:extLst>
          </p:cNvPr>
          <p:cNvSpPr/>
          <p:nvPr/>
        </p:nvSpPr>
        <p:spPr>
          <a:xfrm>
            <a:off x="2215199" y="2879183"/>
            <a:ext cx="312906" cy="369332"/>
          </a:xfrm>
          <a:prstGeom prst="rect">
            <a:avLst/>
          </a:prstGeom>
          <a:noFill/>
        </p:spPr>
        <p:txBody>
          <a:bodyPr wrap="none">
            <a:spAutoFit/>
          </a:bodyPr>
          <a:lstStyle/>
          <a:p>
            <a:r>
              <a:rPr lang="es-MX" dirty="0">
                <a:latin typeface="Arial" panose="020B0604020202020204" pitchFamily="34" charset="0"/>
                <a:cs typeface="Arial" panose="020B0604020202020204" pitchFamily="34" charset="0"/>
              </a:rPr>
              <a:t>2</a:t>
            </a:r>
          </a:p>
        </p:txBody>
      </p:sp>
      <p:sp>
        <p:nvSpPr>
          <p:cNvPr id="66" name="Rectángulo 65">
            <a:extLst>
              <a:ext uri="{FF2B5EF4-FFF2-40B4-BE49-F238E27FC236}">
                <a16:creationId xmlns:a16="http://schemas.microsoft.com/office/drawing/2014/main" id="{28B14F4D-6B11-4AEB-8275-931749F0D6CE}"/>
              </a:ext>
            </a:extLst>
          </p:cNvPr>
          <p:cNvSpPr/>
          <p:nvPr/>
        </p:nvSpPr>
        <p:spPr>
          <a:xfrm>
            <a:off x="817134" y="2870022"/>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67" name="Rectángulo 66">
            <a:extLst>
              <a:ext uri="{FF2B5EF4-FFF2-40B4-BE49-F238E27FC236}">
                <a16:creationId xmlns:a16="http://schemas.microsoft.com/office/drawing/2014/main" id="{09691E56-F129-431B-8C4F-963E23233D08}"/>
              </a:ext>
            </a:extLst>
          </p:cNvPr>
          <p:cNvSpPr/>
          <p:nvPr/>
        </p:nvSpPr>
        <p:spPr>
          <a:xfrm>
            <a:off x="1931138" y="2261320"/>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3</a:t>
            </a:r>
          </a:p>
        </p:txBody>
      </p:sp>
      <p:sp>
        <p:nvSpPr>
          <p:cNvPr id="68" name="Rectángulo 67">
            <a:extLst>
              <a:ext uri="{FF2B5EF4-FFF2-40B4-BE49-F238E27FC236}">
                <a16:creationId xmlns:a16="http://schemas.microsoft.com/office/drawing/2014/main" id="{09A18D42-B30A-4A8D-A7B9-F6C182B37AE3}"/>
              </a:ext>
            </a:extLst>
          </p:cNvPr>
          <p:cNvSpPr/>
          <p:nvPr/>
        </p:nvSpPr>
        <p:spPr>
          <a:xfrm>
            <a:off x="3312613" y="2223824"/>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5</a:t>
            </a:r>
          </a:p>
        </p:txBody>
      </p:sp>
      <p:sp>
        <p:nvSpPr>
          <p:cNvPr id="69" name="Rectángulo 68">
            <a:extLst>
              <a:ext uri="{FF2B5EF4-FFF2-40B4-BE49-F238E27FC236}">
                <a16:creationId xmlns:a16="http://schemas.microsoft.com/office/drawing/2014/main" id="{10277E24-DF86-4F1F-B223-2B59278FF3C7}"/>
              </a:ext>
            </a:extLst>
          </p:cNvPr>
          <p:cNvSpPr/>
          <p:nvPr/>
        </p:nvSpPr>
        <p:spPr>
          <a:xfrm>
            <a:off x="3187829" y="2769265"/>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4</a:t>
            </a:r>
          </a:p>
        </p:txBody>
      </p:sp>
      <p:sp>
        <p:nvSpPr>
          <p:cNvPr id="42" name="Slide Number Placeholder 2">
            <a:extLst>
              <a:ext uri="{FF2B5EF4-FFF2-40B4-BE49-F238E27FC236}">
                <a16:creationId xmlns:a16="http://schemas.microsoft.com/office/drawing/2014/main" id="{051DA065-88C4-4384-B69A-46070951995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39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cxnSp>
        <p:nvCxnSpPr>
          <p:cNvPr id="64" name="Conector recto 63">
            <a:extLst>
              <a:ext uri="{FF2B5EF4-FFF2-40B4-BE49-F238E27FC236}">
                <a16:creationId xmlns:a16="http://schemas.microsoft.com/office/drawing/2014/main" id="{6837F515-C12F-4DCA-93BD-09EB9D4F7CD0}"/>
              </a:ext>
            </a:extLst>
          </p:cNvPr>
          <p:cNvCxnSpPr>
            <a:cxnSpLocks/>
            <a:stCxn id="20" idx="5"/>
          </p:cNvCxnSpPr>
          <p:nvPr/>
        </p:nvCxnSpPr>
        <p:spPr>
          <a:xfrm>
            <a:off x="2233672" y="2617905"/>
            <a:ext cx="870603" cy="293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3B2D690A-3F5A-4472-99FB-16B424F394B1}"/>
              </a:ext>
            </a:extLst>
          </p:cNvPr>
          <p:cNvCxnSpPr>
            <a:cxnSpLocks/>
          </p:cNvCxnSpPr>
          <p:nvPr/>
        </p:nvCxnSpPr>
        <p:spPr>
          <a:xfrm flipV="1">
            <a:off x="2306714" y="2408490"/>
            <a:ext cx="919289" cy="17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Diagrama de flujo: conector 70">
            <a:extLst>
              <a:ext uri="{FF2B5EF4-FFF2-40B4-BE49-F238E27FC236}">
                <a16:creationId xmlns:a16="http://schemas.microsoft.com/office/drawing/2014/main" id="{9B46808E-7361-422E-BAF6-BB207A5D3EDD}"/>
              </a:ext>
            </a:extLst>
          </p:cNvPr>
          <p:cNvSpPr/>
          <p:nvPr/>
        </p:nvSpPr>
        <p:spPr>
          <a:xfrm>
            <a:off x="862715" y="5389106"/>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3" name="Diagrama de flujo: conector 72">
            <a:extLst>
              <a:ext uri="{FF2B5EF4-FFF2-40B4-BE49-F238E27FC236}">
                <a16:creationId xmlns:a16="http://schemas.microsoft.com/office/drawing/2014/main" id="{90B69276-410A-4B8D-B4B9-C5FDCD4AC7D6}"/>
              </a:ext>
            </a:extLst>
          </p:cNvPr>
          <p:cNvSpPr/>
          <p:nvPr/>
        </p:nvSpPr>
        <p:spPr>
          <a:xfrm>
            <a:off x="1953748" y="4799839"/>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4" name="Conector recto 73">
            <a:extLst>
              <a:ext uri="{FF2B5EF4-FFF2-40B4-BE49-F238E27FC236}">
                <a16:creationId xmlns:a16="http://schemas.microsoft.com/office/drawing/2014/main" id="{E0AF464E-6450-49A4-B6DA-457546DD6DB3}"/>
              </a:ext>
            </a:extLst>
          </p:cNvPr>
          <p:cNvCxnSpPr>
            <a:cxnSpLocks/>
          </p:cNvCxnSpPr>
          <p:nvPr/>
        </p:nvCxnSpPr>
        <p:spPr>
          <a:xfrm flipV="1">
            <a:off x="1326085" y="5654174"/>
            <a:ext cx="919289" cy="17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Diagrama de flujo: conector 74">
            <a:extLst>
              <a:ext uri="{FF2B5EF4-FFF2-40B4-BE49-F238E27FC236}">
                <a16:creationId xmlns:a16="http://schemas.microsoft.com/office/drawing/2014/main" id="{332311AA-72E8-46AC-A9AE-15E9C9C7EFF6}"/>
              </a:ext>
            </a:extLst>
          </p:cNvPr>
          <p:cNvSpPr/>
          <p:nvPr/>
        </p:nvSpPr>
        <p:spPr>
          <a:xfrm>
            <a:off x="2253373" y="5436471"/>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6" name="Diagrama de flujo: conector 75">
            <a:extLst>
              <a:ext uri="{FF2B5EF4-FFF2-40B4-BE49-F238E27FC236}">
                <a16:creationId xmlns:a16="http://schemas.microsoft.com/office/drawing/2014/main" id="{71599F2F-1AE6-4A02-BFC9-518855455547}"/>
              </a:ext>
            </a:extLst>
          </p:cNvPr>
          <p:cNvSpPr/>
          <p:nvPr/>
        </p:nvSpPr>
        <p:spPr>
          <a:xfrm>
            <a:off x="3226003" y="5302091"/>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7" name="Diagrama de flujo: conector 76">
            <a:extLst>
              <a:ext uri="{FF2B5EF4-FFF2-40B4-BE49-F238E27FC236}">
                <a16:creationId xmlns:a16="http://schemas.microsoft.com/office/drawing/2014/main" id="{CA3DF551-B044-4D55-A0E9-B17539DB2932}"/>
              </a:ext>
            </a:extLst>
          </p:cNvPr>
          <p:cNvSpPr/>
          <p:nvPr/>
        </p:nvSpPr>
        <p:spPr>
          <a:xfrm>
            <a:off x="3336324" y="4758493"/>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8" name="Conector recto 77">
            <a:extLst>
              <a:ext uri="{FF2B5EF4-FFF2-40B4-BE49-F238E27FC236}">
                <a16:creationId xmlns:a16="http://schemas.microsoft.com/office/drawing/2014/main" id="{2A0079A6-A6A2-416B-8644-2506A7F36E30}"/>
              </a:ext>
            </a:extLst>
          </p:cNvPr>
          <p:cNvCxnSpPr>
            <a:cxnSpLocks/>
            <a:endCxn id="73" idx="3"/>
          </p:cNvCxnSpPr>
          <p:nvPr/>
        </p:nvCxnSpPr>
        <p:spPr>
          <a:xfrm flipV="1">
            <a:off x="1312508" y="5190084"/>
            <a:ext cx="708195" cy="3360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tángulo 78">
            <a:extLst>
              <a:ext uri="{FF2B5EF4-FFF2-40B4-BE49-F238E27FC236}">
                <a16:creationId xmlns:a16="http://schemas.microsoft.com/office/drawing/2014/main" id="{F2C271E6-88AB-42DD-A52F-0F4F2CE091AA}"/>
              </a:ext>
            </a:extLst>
          </p:cNvPr>
          <p:cNvSpPr/>
          <p:nvPr/>
        </p:nvSpPr>
        <p:spPr>
          <a:xfrm>
            <a:off x="2325520" y="5451362"/>
            <a:ext cx="312906" cy="369332"/>
          </a:xfrm>
          <a:prstGeom prst="rect">
            <a:avLst/>
          </a:prstGeom>
          <a:noFill/>
        </p:spPr>
        <p:txBody>
          <a:bodyPr wrap="none">
            <a:spAutoFit/>
          </a:bodyPr>
          <a:lstStyle/>
          <a:p>
            <a:r>
              <a:rPr lang="es-MX" dirty="0">
                <a:latin typeface="Arial" panose="020B0604020202020204" pitchFamily="34" charset="0"/>
                <a:cs typeface="Arial" panose="020B0604020202020204" pitchFamily="34" charset="0"/>
              </a:rPr>
              <a:t>2</a:t>
            </a:r>
          </a:p>
        </p:txBody>
      </p:sp>
      <p:sp>
        <p:nvSpPr>
          <p:cNvPr id="80" name="Rectángulo 79">
            <a:extLst>
              <a:ext uri="{FF2B5EF4-FFF2-40B4-BE49-F238E27FC236}">
                <a16:creationId xmlns:a16="http://schemas.microsoft.com/office/drawing/2014/main" id="{1C16A83A-23E2-457C-933A-31536BC8B861}"/>
              </a:ext>
            </a:extLst>
          </p:cNvPr>
          <p:cNvSpPr/>
          <p:nvPr/>
        </p:nvSpPr>
        <p:spPr>
          <a:xfrm>
            <a:off x="927455" y="5442201"/>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81" name="Rectángulo 80">
            <a:extLst>
              <a:ext uri="{FF2B5EF4-FFF2-40B4-BE49-F238E27FC236}">
                <a16:creationId xmlns:a16="http://schemas.microsoft.com/office/drawing/2014/main" id="{B9C13804-BE16-41D5-93B8-A822F34A569F}"/>
              </a:ext>
            </a:extLst>
          </p:cNvPr>
          <p:cNvSpPr/>
          <p:nvPr/>
        </p:nvSpPr>
        <p:spPr>
          <a:xfrm>
            <a:off x="2041459" y="4833499"/>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3</a:t>
            </a:r>
          </a:p>
        </p:txBody>
      </p:sp>
      <p:sp>
        <p:nvSpPr>
          <p:cNvPr id="82" name="Rectángulo 81">
            <a:extLst>
              <a:ext uri="{FF2B5EF4-FFF2-40B4-BE49-F238E27FC236}">
                <a16:creationId xmlns:a16="http://schemas.microsoft.com/office/drawing/2014/main" id="{67D25BAE-058A-4EC6-8E3C-1CF4EAC8DAE1}"/>
              </a:ext>
            </a:extLst>
          </p:cNvPr>
          <p:cNvSpPr/>
          <p:nvPr/>
        </p:nvSpPr>
        <p:spPr>
          <a:xfrm>
            <a:off x="3422934" y="4796003"/>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5</a:t>
            </a:r>
          </a:p>
        </p:txBody>
      </p:sp>
      <p:sp>
        <p:nvSpPr>
          <p:cNvPr id="83" name="Rectángulo 82">
            <a:extLst>
              <a:ext uri="{FF2B5EF4-FFF2-40B4-BE49-F238E27FC236}">
                <a16:creationId xmlns:a16="http://schemas.microsoft.com/office/drawing/2014/main" id="{64EF6BE0-8AF0-4B5C-8001-CC6FDA4D0F6D}"/>
              </a:ext>
            </a:extLst>
          </p:cNvPr>
          <p:cNvSpPr/>
          <p:nvPr/>
        </p:nvSpPr>
        <p:spPr>
          <a:xfrm>
            <a:off x="3298150" y="5341444"/>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4</a:t>
            </a:r>
          </a:p>
        </p:txBody>
      </p:sp>
      <p:cxnSp>
        <p:nvCxnSpPr>
          <p:cNvPr id="84" name="Conector recto 83">
            <a:extLst>
              <a:ext uri="{FF2B5EF4-FFF2-40B4-BE49-F238E27FC236}">
                <a16:creationId xmlns:a16="http://schemas.microsoft.com/office/drawing/2014/main" id="{D8244762-D411-441E-B667-B7CF42FFC1B7}"/>
              </a:ext>
            </a:extLst>
          </p:cNvPr>
          <p:cNvCxnSpPr>
            <a:cxnSpLocks/>
            <a:stCxn id="73" idx="5"/>
          </p:cNvCxnSpPr>
          <p:nvPr/>
        </p:nvCxnSpPr>
        <p:spPr>
          <a:xfrm>
            <a:off x="2343993" y="5190084"/>
            <a:ext cx="870603" cy="293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8B0A2729-D53F-44C2-A3CE-7E043413FFDB}"/>
              </a:ext>
            </a:extLst>
          </p:cNvPr>
          <p:cNvCxnSpPr>
            <a:cxnSpLocks/>
          </p:cNvCxnSpPr>
          <p:nvPr/>
        </p:nvCxnSpPr>
        <p:spPr>
          <a:xfrm flipV="1">
            <a:off x="2417035" y="4980669"/>
            <a:ext cx="919289" cy="17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AD02B727-D7BD-4FBF-8270-5FF30D4406D0}"/>
              </a:ext>
            </a:extLst>
          </p:cNvPr>
          <p:cNvSpPr txBox="1"/>
          <p:nvPr/>
        </p:nvSpPr>
        <p:spPr>
          <a:xfrm>
            <a:off x="4019408" y="4757165"/>
            <a:ext cx="7900831" cy="1646605"/>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     Recorrido DFS (en profundidad):</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En el peor caso M recorre los arcos 2 veces</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T(n) = O(|E|) = O(|G|) = O(n)</a:t>
            </a:r>
          </a:p>
          <a:p>
            <a:endParaRPr lang="es-AR" sz="1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Por lo tanto, ACC </a:t>
            </a:r>
            <a:r>
              <a:rPr lang="es-AR"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 P</a:t>
            </a:r>
            <a:endParaRPr lang="es-AR" b="1"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B3322745-DF6E-D87B-AEE5-289BF3D1F3FF}"/>
              </a:ext>
            </a:extLst>
          </p:cNvPr>
          <p:cNvSpPr/>
          <p:nvPr/>
        </p:nvSpPr>
        <p:spPr>
          <a:xfrm>
            <a:off x="9707347" y="5396989"/>
            <a:ext cx="390187" cy="338554"/>
          </a:xfrm>
          <a:prstGeom prst="rect">
            <a:avLst/>
          </a:prstGeom>
        </p:spPr>
        <p:txBody>
          <a:bodyPr wrap="square">
            <a:spAutoFit/>
          </a:bodyPr>
          <a:lstStyle/>
          <a:p>
            <a:r>
              <a:rPr lang="es-AR" sz="1600" dirty="0">
                <a:effectLst/>
                <a:latin typeface="Arial" panose="020B0604020202020204" pitchFamily="34" charset="0"/>
                <a:ea typeface="Calibri" panose="020F0502020204030204" pitchFamily="34" charset="0"/>
              </a:rPr>
              <a:t>G</a:t>
            </a:r>
            <a:endParaRPr lang="es-AR" sz="1600" dirty="0"/>
          </a:p>
        </p:txBody>
      </p:sp>
      <p:cxnSp>
        <p:nvCxnSpPr>
          <p:cNvPr id="4" name="Conector recto de flecha 3">
            <a:extLst>
              <a:ext uri="{FF2B5EF4-FFF2-40B4-BE49-F238E27FC236}">
                <a16:creationId xmlns:a16="http://schemas.microsoft.com/office/drawing/2014/main" id="{9B79537A-5AF4-E672-1BAA-FF8DDF67B170}"/>
              </a:ext>
            </a:extLst>
          </p:cNvPr>
          <p:cNvCxnSpPr>
            <a:cxnSpLocks/>
          </p:cNvCxnSpPr>
          <p:nvPr/>
        </p:nvCxnSpPr>
        <p:spPr>
          <a:xfrm>
            <a:off x="9584830" y="5685576"/>
            <a:ext cx="6162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B2B22D40-5EAA-1459-6AF4-E7D7D1AA66F4}"/>
              </a:ext>
            </a:extLst>
          </p:cNvPr>
          <p:cNvSpPr/>
          <p:nvPr/>
        </p:nvSpPr>
        <p:spPr>
          <a:xfrm>
            <a:off x="11311626" y="5677029"/>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sz="1600" dirty="0"/>
          </a:p>
        </p:txBody>
      </p:sp>
      <p:cxnSp>
        <p:nvCxnSpPr>
          <p:cNvPr id="6" name="Conector recto de flecha 5">
            <a:extLst>
              <a:ext uri="{FF2B5EF4-FFF2-40B4-BE49-F238E27FC236}">
                <a16:creationId xmlns:a16="http://schemas.microsoft.com/office/drawing/2014/main" id="{07E486C7-E121-6BA6-F349-2DC912AC45FD}"/>
              </a:ext>
            </a:extLst>
          </p:cNvPr>
          <p:cNvCxnSpPr>
            <a:cxnSpLocks/>
          </p:cNvCxnSpPr>
          <p:nvPr/>
        </p:nvCxnSpPr>
        <p:spPr>
          <a:xfrm flipV="1">
            <a:off x="10914227" y="5501800"/>
            <a:ext cx="421026" cy="178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5654424C-6595-4BB5-DEF2-695504411809}"/>
              </a:ext>
            </a:extLst>
          </p:cNvPr>
          <p:cNvSpPr/>
          <p:nvPr/>
        </p:nvSpPr>
        <p:spPr>
          <a:xfrm>
            <a:off x="11287998" y="5324050"/>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sz="1600" dirty="0"/>
          </a:p>
        </p:txBody>
      </p:sp>
      <p:cxnSp>
        <p:nvCxnSpPr>
          <p:cNvPr id="8" name="Conector recto de flecha 7">
            <a:extLst>
              <a:ext uri="{FF2B5EF4-FFF2-40B4-BE49-F238E27FC236}">
                <a16:creationId xmlns:a16="http://schemas.microsoft.com/office/drawing/2014/main" id="{D5971F04-E498-3019-C677-E48C8E115221}"/>
              </a:ext>
            </a:extLst>
          </p:cNvPr>
          <p:cNvCxnSpPr>
            <a:cxnSpLocks/>
          </p:cNvCxnSpPr>
          <p:nvPr/>
        </p:nvCxnSpPr>
        <p:spPr>
          <a:xfrm>
            <a:off x="10903442" y="5697580"/>
            <a:ext cx="431811" cy="1915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B87168AE-EEC8-3233-F5C0-520C43B4F440}"/>
              </a:ext>
            </a:extLst>
          </p:cNvPr>
          <p:cNvSpPr/>
          <p:nvPr/>
        </p:nvSpPr>
        <p:spPr>
          <a:xfrm>
            <a:off x="10201109" y="5373113"/>
            <a:ext cx="694090" cy="6006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Rectángulo 9">
            <a:extLst>
              <a:ext uri="{FF2B5EF4-FFF2-40B4-BE49-F238E27FC236}">
                <a16:creationId xmlns:a16="http://schemas.microsoft.com/office/drawing/2014/main" id="{703E3D6B-120A-C659-357D-392A0EEC2B3C}"/>
              </a:ext>
            </a:extLst>
          </p:cNvPr>
          <p:cNvSpPr/>
          <p:nvPr/>
        </p:nvSpPr>
        <p:spPr>
          <a:xfrm>
            <a:off x="10332869" y="5493327"/>
            <a:ext cx="531275" cy="584775"/>
          </a:xfrm>
          <a:prstGeom prst="rect">
            <a:avLst/>
          </a:prstGeom>
        </p:spPr>
        <p:txBody>
          <a:bodyPr wrap="square">
            <a:spAutoFit/>
          </a:bodyPr>
          <a:lstStyle/>
          <a:p>
            <a:r>
              <a:rPr lang="es-AR" sz="1600" dirty="0">
                <a:latin typeface="Arial" panose="020B0604020202020204" pitchFamily="34" charset="0"/>
              </a:rPr>
              <a:t> M</a:t>
            </a:r>
            <a:endParaRPr lang="es-MX" sz="1600" dirty="0"/>
          </a:p>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12" name="Rectángulo 11">
            <a:extLst>
              <a:ext uri="{FF2B5EF4-FFF2-40B4-BE49-F238E27FC236}">
                <a16:creationId xmlns:a16="http://schemas.microsoft.com/office/drawing/2014/main" id="{1EE44552-3A44-2188-C5CB-236C1D672404}"/>
              </a:ext>
            </a:extLst>
          </p:cNvPr>
          <p:cNvSpPr/>
          <p:nvPr/>
        </p:nvSpPr>
        <p:spPr>
          <a:xfrm>
            <a:off x="9529917" y="6048305"/>
            <a:ext cx="2511592"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M</a:t>
            </a:r>
            <a:r>
              <a:rPr lang="es-MX" sz="1600" dirty="0">
                <a:latin typeface="Arial" panose="020B0604020202020204" pitchFamily="34" charset="0"/>
                <a:cs typeface="Arial" panose="020B0604020202020204" pitchFamily="34" charset="0"/>
              </a:rPr>
              <a:t> tarda tiempo O(|G|)</a:t>
            </a:r>
          </a:p>
        </p:txBody>
      </p:sp>
      <p:cxnSp>
        <p:nvCxnSpPr>
          <p:cNvPr id="14" name="Conector recto de flecha 13">
            <a:extLst>
              <a:ext uri="{FF2B5EF4-FFF2-40B4-BE49-F238E27FC236}">
                <a16:creationId xmlns:a16="http://schemas.microsoft.com/office/drawing/2014/main" id="{9E0A1055-8571-4AF4-97EB-0B37A565E606}"/>
              </a:ext>
            </a:extLst>
          </p:cNvPr>
          <p:cNvCxnSpPr>
            <a:cxnSpLocks/>
          </p:cNvCxnSpPr>
          <p:nvPr/>
        </p:nvCxnSpPr>
        <p:spPr>
          <a:xfrm flipV="1">
            <a:off x="1397232" y="5185666"/>
            <a:ext cx="443882" cy="18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A238C18D-D2FC-AF7C-CD25-A98167BB20D6}"/>
              </a:ext>
            </a:extLst>
          </p:cNvPr>
          <p:cNvCxnSpPr>
            <a:cxnSpLocks/>
          </p:cNvCxnSpPr>
          <p:nvPr/>
        </p:nvCxnSpPr>
        <p:spPr>
          <a:xfrm>
            <a:off x="1434449" y="5757458"/>
            <a:ext cx="671444" cy="9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8533C4EF-C5FF-6D00-1D09-DBCEE1E9DB50}"/>
              </a:ext>
            </a:extLst>
          </p:cNvPr>
          <p:cNvCxnSpPr>
            <a:cxnSpLocks/>
          </p:cNvCxnSpPr>
          <p:nvPr/>
        </p:nvCxnSpPr>
        <p:spPr>
          <a:xfrm rot="120000" flipH="1">
            <a:off x="1434621" y="5856687"/>
            <a:ext cx="595214" cy="202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FDB368CE-C4E8-1888-657C-88A010CEF84D}"/>
              </a:ext>
            </a:extLst>
          </p:cNvPr>
          <p:cNvCxnSpPr>
            <a:cxnSpLocks/>
          </p:cNvCxnSpPr>
          <p:nvPr/>
        </p:nvCxnSpPr>
        <p:spPr>
          <a:xfrm>
            <a:off x="2605316" y="5114408"/>
            <a:ext cx="549596" cy="187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3CE5ADBF-93B8-1738-C82A-2B2DB628344D}"/>
              </a:ext>
            </a:extLst>
          </p:cNvPr>
          <p:cNvCxnSpPr>
            <a:cxnSpLocks/>
          </p:cNvCxnSpPr>
          <p:nvPr/>
        </p:nvCxnSpPr>
        <p:spPr>
          <a:xfrm flipH="1" flipV="1">
            <a:off x="2612000" y="5203372"/>
            <a:ext cx="489962" cy="1743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F83651C1-65FB-A767-FF6B-E8C8A5525A30}"/>
              </a:ext>
            </a:extLst>
          </p:cNvPr>
          <p:cNvCxnSpPr>
            <a:cxnSpLocks/>
          </p:cNvCxnSpPr>
          <p:nvPr/>
        </p:nvCxnSpPr>
        <p:spPr>
          <a:xfrm flipV="1">
            <a:off x="2523582" y="4880839"/>
            <a:ext cx="691014" cy="24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423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73D26B9-B7F6-4DAF-8292-5E66568A2A86}"/>
              </a:ext>
            </a:extLst>
          </p:cNvPr>
          <p:cNvSpPr/>
          <p:nvPr/>
        </p:nvSpPr>
        <p:spPr>
          <a:xfrm>
            <a:off x="288096" y="202037"/>
            <a:ext cx="11457992" cy="5093702"/>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Ejemplo de lenguaje que </a:t>
            </a:r>
            <a:r>
              <a:rPr lang="es-AR" sz="2400" b="1" u="sng" dirty="0">
                <a:latin typeface="Arial" panose="020B0604020202020204" pitchFamily="34" charset="0"/>
                <a:cs typeface="Arial" panose="020B0604020202020204" pitchFamily="34" charset="0"/>
              </a:rPr>
              <a:t>no estaría</a:t>
            </a:r>
            <a:r>
              <a:rPr lang="es-AR" sz="2400" b="1" dirty="0">
                <a:latin typeface="Arial" panose="020B0604020202020204" pitchFamily="34" charset="0"/>
                <a:cs typeface="Arial" panose="020B0604020202020204" pitchFamily="34" charset="0"/>
              </a:rPr>
              <a:t> en P</a:t>
            </a:r>
            <a:r>
              <a:rPr lang="es-AR" sz="2400" dirty="0">
                <a:latin typeface="Arial" panose="020B0604020202020204" pitchFamily="34" charset="0"/>
                <a:cs typeface="Arial" panose="020B0604020202020204" pitchFamily="34" charset="0"/>
              </a:rPr>
              <a:t>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SAT = {φ | φ es una fórmula booleana sin cuantificadores, con m variables, y es </a:t>
            </a:r>
            <a:r>
              <a:rPr lang="es-AR"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a:t>
            </a:r>
          </a:p>
          <a:p>
            <a:pPr algn="ctr"/>
            <a:endParaRPr lang="es-AR" sz="2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P.ej.:     φ</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 (x</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  x</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es </a:t>
            </a:r>
            <a:r>
              <a:rPr lang="es-AR"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con la asignación A = (V, V, V) </a:t>
            </a:r>
          </a:p>
          <a:p>
            <a:endParaRPr lang="es-AR" sz="1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φ</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(x</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  x</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AR"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rPr>
              <a:t>)  no es </a:t>
            </a:r>
            <a:r>
              <a:rPr lang="es-AR"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con ninguna asignación</a:t>
            </a:r>
            <a:endParaRPr lang="es-MX" dirty="0">
              <a:latin typeface="Arial" panose="020B0604020202020204" pitchFamily="34" charset="0"/>
              <a:cs typeface="Arial" panose="020B0604020202020204" pitchFamily="34" charset="0"/>
            </a:endParaRPr>
          </a:p>
          <a:p>
            <a:endParaRPr lang="es-MX" b="1" dirty="0">
              <a:latin typeface="Arial" panose="020B0604020202020204" pitchFamily="34" charset="0"/>
              <a:cs typeface="Arial" panose="020B0604020202020204" pitchFamily="34" charset="0"/>
            </a:endParaRPr>
          </a:p>
          <a:p>
            <a:endParaRPr lang="es-MX" b="1"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Una MT M que decide SAT emplea una tabla de verdad (</a:t>
            </a:r>
            <a:r>
              <a:rPr lang="es-AR" b="1" dirty="0">
                <a:latin typeface="Arial" panose="020B0604020202020204" pitchFamily="34" charset="0"/>
                <a:cs typeface="Arial" panose="020B0604020202020204" pitchFamily="34" charset="0"/>
              </a:rPr>
              <a:t>no se conoce otro algoritmo</a:t>
            </a:r>
            <a:r>
              <a:rPr lang="es-AR" dirty="0">
                <a:latin typeface="Arial" panose="020B0604020202020204" pitchFamily="34" charset="0"/>
                <a:cs typeface="Arial" panose="020B0604020202020204" pitchFamily="34" charset="0"/>
              </a:rPr>
              <a:t>). P.ej., para φ</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p>
          <a:p>
            <a:endParaRPr lang="es-AR"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			(x</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sym typeface="Symbol" panose="05050102010706020507" pitchFamily="18" charset="2"/>
              </a:rPr>
              <a:t> x</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sym typeface="Symbol" panose="05050102010706020507" pitchFamily="18" charset="2"/>
              </a:rPr>
              <a:t>  x</a:t>
            </a:r>
            <a:r>
              <a:rPr lang="es-AR" b="1" baseline="-25000" dirty="0">
                <a:latin typeface="Arial" panose="020B0604020202020204" pitchFamily="34" charset="0"/>
                <a:cs typeface="Arial" panose="020B0604020202020204" pitchFamily="34" charset="0"/>
              </a:rPr>
              <a:t>3</a:t>
            </a:r>
            <a:r>
              <a:rPr lang="es-AR" b="1" dirty="0">
                <a:latin typeface="Arial" panose="020B060402020202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  </a:t>
            </a:r>
            <a:r>
              <a:rPr lang="es-AR" b="1" dirty="0">
                <a:latin typeface="Arial" panose="020B0604020202020204" pitchFamily="34" charset="0"/>
                <a:cs typeface="Arial" panose="020B0604020202020204" pitchFamily="34" charset="0"/>
              </a:rPr>
              <a:t>(¬x</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sym typeface="Symbol" panose="05050102010706020507" pitchFamily="18" charset="2"/>
              </a:rPr>
              <a:t> </a:t>
            </a:r>
            <a:r>
              <a:rPr lang="es-AR" b="1" dirty="0">
                <a:latin typeface="Arial" panose="020B060402020202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x</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sym typeface="Symbol" panose="05050102010706020507" pitchFamily="18" charset="2"/>
              </a:rPr>
              <a:t>  </a:t>
            </a:r>
            <a:r>
              <a:rPr lang="es-AR" b="1" dirty="0">
                <a:latin typeface="Arial" panose="020B0604020202020204" pitchFamily="34" charset="0"/>
                <a:cs typeface="Arial" panose="020B0604020202020204" pitchFamily="34" charset="0"/>
              </a:rPr>
              <a:t>¬</a:t>
            </a:r>
            <a:r>
              <a:rPr lang="es-AR" b="1" dirty="0">
                <a:latin typeface="Arial" panose="020B0604020202020204" pitchFamily="34" charset="0"/>
                <a:cs typeface="Arial" panose="020B0604020202020204" pitchFamily="34" charset="0"/>
                <a:sym typeface="Symbol" panose="05050102010706020507" pitchFamily="18" charset="2"/>
              </a:rPr>
              <a:t>x</a:t>
            </a:r>
            <a:r>
              <a:rPr lang="es-AR" b="1" baseline="-25000" dirty="0">
                <a:latin typeface="Arial" panose="020B0604020202020204" pitchFamily="34" charset="0"/>
                <a:cs typeface="Arial" panose="020B0604020202020204" pitchFamily="34" charset="0"/>
              </a:rPr>
              <a:t>3</a:t>
            </a:r>
            <a:r>
              <a:rPr lang="es-AR" b="1" dirty="0">
                <a:latin typeface="Arial" panose="020B0604020202020204" pitchFamily="34" charset="0"/>
                <a:cs typeface="Arial" panose="020B0604020202020204" pitchFamily="34" charset="0"/>
              </a:rPr>
              <a:t>)</a:t>
            </a:r>
          </a:p>
          <a:p>
            <a:endParaRPr lang="es-AR" sz="1000"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pPr algn="ctr"/>
            <a:endParaRPr lang="es-AR" dirty="0">
              <a:latin typeface="Arial" panose="020B0604020202020204" pitchFamily="34" charset="0"/>
              <a:cs typeface="Arial" panose="020B0604020202020204" pitchFamily="34" charset="0"/>
            </a:endParaRPr>
          </a:p>
          <a:p>
            <a:pPr algn="ctr"/>
            <a:endParaRPr lang="es-AR" dirty="0">
              <a:latin typeface="Arial" panose="020B0604020202020204" pitchFamily="34" charset="0"/>
              <a:cs typeface="Arial" panose="020B0604020202020204" pitchFamily="34" charset="0"/>
            </a:endParaRPr>
          </a:p>
          <a:p>
            <a:pPr algn="ctr"/>
            <a:endParaRPr lang="es-AR" dirty="0">
              <a:latin typeface="Arial" panose="020B0604020202020204" pitchFamily="34" charset="0"/>
              <a:cs typeface="Arial" panose="020B0604020202020204" pitchFamily="34" charset="0"/>
            </a:endParaRPr>
          </a:p>
          <a:p>
            <a:pPr algn="ctr"/>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p:txBody>
      </p:sp>
      <p:sp>
        <p:nvSpPr>
          <p:cNvPr id="42" name="Slide Number Placeholder 2">
            <a:extLst>
              <a:ext uri="{FF2B5EF4-FFF2-40B4-BE49-F238E27FC236}">
                <a16:creationId xmlns:a16="http://schemas.microsoft.com/office/drawing/2014/main" id="{051DA065-88C4-4384-B69A-46070951995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1" name="CuadroTexto 40">
            <a:extLst>
              <a:ext uri="{FF2B5EF4-FFF2-40B4-BE49-F238E27FC236}">
                <a16:creationId xmlns:a16="http://schemas.microsoft.com/office/drawing/2014/main" id="{11C0B6F7-884B-4714-AE4F-24DC6FF9E6C3}"/>
              </a:ext>
            </a:extLst>
          </p:cNvPr>
          <p:cNvSpPr txBox="1"/>
          <p:nvPr/>
        </p:nvSpPr>
        <p:spPr>
          <a:xfrm>
            <a:off x="3157372" y="3369447"/>
            <a:ext cx="3204839" cy="2062103"/>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V      </a:t>
            </a:r>
            <a:r>
              <a:rPr lang="es-AR" sz="1600" dirty="0" err="1">
                <a:latin typeface="Arial" panose="020B0604020202020204" pitchFamily="34" charset="0"/>
                <a:cs typeface="Arial" panose="020B0604020202020204" pitchFamily="34" charset="0"/>
              </a:rPr>
              <a:t>V</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V</a:t>
            </a:r>
            <a:r>
              <a:rPr lang="es-AR" sz="1600" dirty="0">
                <a:latin typeface="Arial" panose="020B0604020202020204" pitchFamily="34" charset="0"/>
                <a:cs typeface="Arial" panose="020B0604020202020204" pitchFamily="34" charset="0"/>
              </a:rPr>
              <a:t>   </a:t>
            </a:r>
            <a:r>
              <a:rPr lang="es-AR" sz="1600" b="1" dirty="0">
                <a:solidFill>
                  <a:srgbClr val="FF0000"/>
                </a:solidFill>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V        </a:t>
            </a:r>
            <a:r>
              <a:rPr lang="es-AR" sz="1600" dirty="0" err="1">
                <a:latin typeface="Arial" panose="020B0604020202020204" pitchFamily="34" charset="0"/>
                <a:cs typeface="Arial" panose="020B0604020202020204" pitchFamily="34" charset="0"/>
              </a:rPr>
              <a:t>V</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V</a:t>
            </a:r>
            <a:endParaRPr lang="es-AR" sz="1600" dirty="0">
              <a:latin typeface="Arial" panose="020B0604020202020204" pitchFamily="34" charset="0"/>
              <a:cs typeface="Arial" panose="020B0604020202020204" pitchFamily="34" charset="0"/>
            </a:endParaRPr>
          </a:p>
          <a:p>
            <a:r>
              <a:rPr lang="es-AR" sz="1600" dirty="0">
                <a:latin typeface="Arial" panose="020B0604020202020204" pitchFamily="34" charset="0"/>
                <a:cs typeface="Arial" panose="020B0604020202020204" pitchFamily="34" charset="0"/>
              </a:rPr>
              <a:t>V      </a:t>
            </a:r>
            <a:r>
              <a:rPr lang="es-AR" sz="1600" dirty="0" err="1">
                <a:latin typeface="Arial" panose="020B0604020202020204" pitchFamily="34" charset="0"/>
                <a:cs typeface="Arial" panose="020B0604020202020204" pitchFamily="34" charset="0"/>
              </a:rPr>
              <a:t>V</a:t>
            </a:r>
            <a:r>
              <a:rPr lang="es-AR" sz="1600" dirty="0">
                <a:latin typeface="Arial" panose="020B0604020202020204" pitchFamily="34" charset="0"/>
                <a:cs typeface="Arial" panose="020B0604020202020204" pitchFamily="34" charset="0"/>
              </a:rPr>
              <a:t>      F   </a:t>
            </a:r>
            <a:r>
              <a:rPr lang="es-AR" sz="1600" b="1" dirty="0" err="1">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V        V        F</a:t>
            </a:r>
          </a:p>
          <a:p>
            <a:r>
              <a:rPr lang="es-AR" sz="1600" dirty="0">
                <a:latin typeface="Arial" panose="020B0604020202020204" pitchFamily="34" charset="0"/>
                <a:cs typeface="Arial" panose="020B0604020202020204" pitchFamily="34" charset="0"/>
              </a:rPr>
              <a:t>V      F      V   </a:t>
            </a:r>
            <a:r>
              <a:rPr lang="es-AR" sz="1600" b="1" dirty="0">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V        F        V</a:t>
            </a:r>
          </a:p>
          <a:p>
            <a:r>
              <a:rPr lang="es-AR" sz="1600" dirty="0">
                <a:latin typeface="Arial" panose="020B0604020202020204" pitchFamily="34" charset="0"/>
                <a:cs typeface="Arial" panose="020B0604020202020204" pitchFamily="34" charset="0"/>
              </a:rPr>
              <a:t>V      F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a:t>
            </a:r>
            <a:r>
              <a:rPr lang="es-AR" sz="1600" b="1" dirty="0">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V        F        </a:t>
            </a:r>
            <a:r>
              <a:rPr lang="es-AR" sz="1600" dirty="0" err="1">
                <a:latin typeface="Arial" panose="020B0604020202020204" pitchFamily="34" charset="0"/>
                <a:cs typeface="Arial" panose="020B0604020202020204" pitchFamily="34" charset="0"/>
              </a:rPr>
              <a:t>F</a:t>
            </a:r>
            <a:endParaRPr lang="es-AR" sz="1600" dirty="0">
              <a:latin typeface="Arial" panose="020B0604020202020204" pitchFamily="34" charset="0"/>
              <a:cs typeface="Arial" panose="020B0604020202020204" pitchFamily="34" charset="0"/>
            </a:endParaRPr>
          </a:p>
          <a:p>
            <a:r>
              <a:rPr lang="es-AR" sz="1600" dirty="0">
                <a:latin typeface="Arial" panose="020B0604020202020204" pitchFamily="34" charset="0"/>
                <a:cs typeface="Arial" panose="020B0604020202020204" pitchFamily="34" charset="0"/>
              </a:rPr>
              <a:t>F      V      </a:t>
            </a:r>
            <a:r>
              <a:rPr lang="es-AR" sz="1600" dirty="0" err="1">
                <a:latin typeface="Arial" panose="020B0604020202020204" pitchFamily="34" charset="0"/>
                <a:cs typeface="Arial" panose="020B0604020202020204" pitchFamily="34" charset="0"/>
              </a:rPr>
              <a:t>V</a:t>
            </a:r>
            <a:r>
              <a:rPr lang="es-AR" sz="1600" dirty="0">
                <a:latin typeface="Arial" panose="020B0604020202020204" pitchFamily="34" charset="0"/>
                <a:cs typeface="Arial" panose="020B0604020202020204" pitchFamily="34" charset="0"/>
              </a:rPr>
              <a:t>   </a:t>
            </a:r>
            <a:r>
              <a:rPr lang="es-AR" sz="1600" b="1" dirty="0">
                <a:solidFill>
                  <a:srgbClr val="FF0000"/>
                </a:solidFill>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V        </a:t>
            </a:r>
            <a:r>
              <a:rPr lang="es-AR" sz="1600" dirty="0" err="1">
                <a:latin typeface="Arial" panose="020B0604020202020204" pitchFamily="34" charset="0"/>
                <a:cs typeface="Arial" panose="020B0604020202020204" pitchFamily="34" charset="0"/>
              </a:rPr>
              <a:t>V</a:t>
            </a:r>
            <a:endParaRPr lang="es-AR" sz="1600" dirty="0">
              <a:latin typeface="Arial" panose="020B0604020202020204" pitchFamily="34" charset="0"/>
              <a:cs typeface="Arial" panose="020B0604020202020204" pitchFamily="34" charset="0"/>
            </a:endParaRPr>
          </a:p>
          <a:p>
            <a:r>
              <a:rPr lang="es-AR" sz="1600" dirty="0">
                <a:latin typeface="Arial" panose="020B0604020202020204" pitchFamily="34" charset="0"/>
                <a:cs typeface="Arial" panose="020B0604020202020204" pitchFamily="34" charset="0"/>
              </a:rPr>
              <a:t>F      V      F   </a:t>
            </a:r>
            <a:r>
              <a:rPr lang="es-AR" sz="1600" b="1" dirty="0" err="1">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V        F</a:t>
            </a:r>
          </a:p>
          <a:p>
            <a:r>
              <a:rPr lang="es-AR" sz="1600" dirty="0">
                <a:latin typeface="Arial" panose="020B0604020202020204" pitchFamily="34" charset="0"/>
                <a:cs typeface="Arial" panose="020B0604020202020204" pitchFamily="34" charset="0"/>
              </a:rPr>
              <a:t>F      F      V   </a:t>
            </a:r>
            <a:r>
              <a:rPr lang="es-AR" sz="1600" b="1" dirty="0">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F        V</a:t>
            </a:r>
          </a:p>
          <a:p>
            <a:r>
              <a:rPr lang="es-AR" sz="1600" dirty="0">
                <a:latin typeface="Arial" panose="020B0604020202020204" pitchFamily="34" charset="0"/>
                <a:cs typeface="Arial" panose="020B0604020202020204" pitchFamily="34" charset="0"/>
              </a:rPr>
              <a:t>F      F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a:t>
            </a:r>
            <a:r>
              <a:rPr lang="es-AR" sz="1600" b="1" dirty="0" err="1">
                <a:solidFill>
                  <a:srgbClr val="FF0000"/>
                </a:solidFill>
                <a:latin typeface="Arial" panose="020B0604020202020204" pitchFamily="34" charset="0"/>
                <a:cs typeface="Arial" panose="020B0604020202020204" pitchFamily="34" charset="0"/>
              </a:rPr>
              <a:t>F</a:t>
            </a:r>
            <a:r>
              <a:rPr lang="es-AR" sz="1600" b="1" dirty="0">
                <a:latin typeface="Arial" panose="020B0604020202020204" pitchFamily="34" charset="0"/>
                <a:cs typeface="Arial" panose="020B0604020202020204" pitchFamily="34" charset="0"/>
              </a:rPr>
              <a:t> </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r>
              <a:rPr lang="es-AR" sz="1600" dirty="0">
                <a:latin typeface="Arial" panose="020B0604020202020204" pitchFamily="34" charset="0"/>
                <a:cs typeface="Arial" panose="020B0604020202020204" pitchFamily="34" charset="0"/>
              </a:rPr>
              <a:t>        </a:t>
            </a:r>
            <a:r>
              <a:rPr lang="es-AR" sz="1600" dirty="0" err="1">
                <a:latin typeface="Arial" panose="020B0604020202020204" pitchFamily="34" charset="0"/>
                <a:cs typeface="Arial" panose="020B0604020202020204" pitchFamily="34" charset="0"/>
              </a:rPr>
              <a:t>F</a:t>
            </a:r>
            <a:endParaRPr lang="es-AR" sz="1600" dirty="0">
              <a:latin typeface="Arial" panose="020B0604020202020204" pitchFamily="34" charset="0"/>
              <a:cs typeface="Arial" panose="020B0604020202020204" pitchFamily="34" charset="0"/>
            </a:endParaRPr>
          </a:p>
        </p:txBody>
      </p:sp>
      <p:sp>
        <p:nvSpPr>
          <p:cNvPr id="43" name="CuadroTexto 42">
            <a:extLst>
              <a:ext uri="{FF2B5EF4-FFF2-40B4-BE49-F238E27FC236}">
                <a16:creationId xmlns:a16="http://schemas.microsoft.com/office/drawing/2014/main" id="{F2F970E2-AB72-4C98-A803-360BF036C8BE}"/>
              </a:ext>
            </a:extLst>
          </p:cNvPr>
          <p:cNvSpPr txBox="1"/>
          <p:nvPr/>
        </p:nvSpPr>
        <p:spPr>
          <a:xfrm>
            <a:off x="632444" y="5715201"/>
            <a:ext cx="10927111" cy="523220"/>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Por lo tanto, M puede llegar a ejecutar O(2</a:t>
            </a:r>
            <a:r>
              <a:rPr lang="es-AR" baseline="30000" dirty="0">
                <a:latin typeface="Arial" panose="020B0604020202020204" pitchFamily="34" charset="0"/>
                <a:cs typeface="Arial" panose="020B0604020202020204" pitchFamily="34" charset="0"/>
              </a:rPr>
              <a:t>m</a:t>
            </a:r>
            <a:r>
              <a:rPr lang="es-AR" dirty="0">
                <a:latin typeface="Arial" panose="020B0604020202020204" pitchFamily="34" charset="0"/>
                <a:cs typeface="Arial" panose="020B0604020202020204" pitchFamily="34" charset="0"/>
              </a:rPr>
              <a:t>.|φ|</a:t>
            </a:r>
            <a:r>
              <a:rPr lang="es-AR" baseline="30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O(2</a:t>
            </a:r>
            <a:r>
              <a:rPr lang="es-AR" baseline="30000" dirty="0">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.n</a:t>
            </a:r>
            <a:r>
              <a:rPr lang="es-AR" baseline="30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a:t>
            </a:r>
            <a:r>
              <a:rPr lang="es-AR" b="1" dirty="0" err="1">
                <a:latin typeface="Arial" panose="020B0604020202020204" pitchFamily="34" charset="0"/>
                <a:cs typeface="Arial" panose="020B0604020202020204" pitchFamily="34" charset="0"/>
              </a:rPr>
              <a:t>exp</a:t>
            </a:r>
            <a:r>
              <a:rPr lang="es-AR" b="1" dirty="0">
                <a:latin typeface="Arial" panose="020B0604020202020204" pitchFamily="34" charset="0"/>
                <a:cs typeface="Arial" panose="020B0604020202020204" pitchFamily="34" charset="0"/>
              </a:rPr>
              <a:t>(n) pasos. </a:t>
            </a:r>
            <a:endParaRPr lang="es-AR" sz="1000" b="1" dirty="0">
              <a:latin typeface="Arial" panose="020B0604020202020204" pitchFamily="34" charset="0"/>
              <a:cs typeface="Arial" panose="020B0604020202020204" pitchFamily="34" charset="0"/>
            </a:endParaRPr>
          </a:p>
          <a:p>
            <a:endParaRPr lang="es-AR" sz="1000" dirty="0">
              <a:latin typeface="Arial" panose="020B0604020202020204" pitchFamily="34" charset="0"/>
              <a:cs typeface="Arial" panose="020B0604020202020204" pitchFamily="34" charset="0"/>
            </a:endParaRPr>
          </a:p>
        </p:txBody>
      </p:sp>
      <p:sp>
        <p:nvSpPr>
          <p:cNvPr id="3" name="Cerrar corchete 2">
            <a:extLst>
              <a:ext uri="{FF2B5EF4-FFF2-40B4-BE49-F238E27FC236}">
                <a16:creationId xmlns:a16="http://schemas.microsoft.com/office/drawing/2014/main" id="{8F55CE60-8231-432A-8955-42AFA0948678}"/>
              </a:ext>
            </a:extLst>
          </p:cNvPr>
          <p:cNvSpPr/>
          <p:nvPr/>
        </p:nvSpPr>
        <p:spPr>
          <a:xfrm>
            <a:off x="6596276" y="3502797"/>
            <a:ext cx="124015" cy="1851904"/>
          </a:xfrm>
          <a:prstGeom prst="rightBracke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CuadroTexto 8">
            <a:extLst>
              <a:ext uri="{FF2B5EF4-FFF2-40B4-BE49-F238E27FC236}">
                <a16:creationId xmlns:a16="http://schemas.microsoft.com/office/drawing/2014/main" id="{0980D452-960C-4E27-9C32-6855D91DF506}"/>
              </a:ext>
            </a:extLst>
          </p:cNvPr>
          <p:cNvSpPr txBox="1"/>
          <p:nvPr/>
        </p:nvSpPr>
        <p:spPr>
          <a:xfrm>
            <a:off x="6839242" y="3582430"/>
            <a:ext cx="5352757" cy="1477328"/>
          </a:xfrm>
          <a:prstGeom prst="rect">
            <a:avLst/>
          </a:prstGeom>
          <a:noFill/>
        </p:spPr>
        <p:txBody>
          <a:bodyPr wrap="square">
            <a:spAutoFit/>
          </a:bodyPr>
          <a:lstStyle/>
          <a:p>
            <a:r>
              <a:rPr lang="es-AR" b="1" dirty="0">
                <a:latin typeface="Arial" panose="020B0604020202020204" pitchFamily="34" charset="0"/>
                <a:cs typeface="Arial" panose="020B0604020202020204" pitchFamily="34" charset="0"/>
              </a:rPr>
              <a:t>2</a:t>
            </a:r>
            <a:r>
              <a:rPr lang="es-AR" b="1" baseline="30000" dirty="0">
                <a:latin typeface="Arial" panose="020B0604020202020204" pitchFamily="34" charset="0"/>
                <a:cs typeface="Arial" panose="020B0604020202020204" pitchFamily="34" charset="0"/>
              </a:rPr>
              <a:t>m</a:t>
            </a:r>
            <a:r>
              <a:rPr lang="es-AR" dirty="0">
                <a:latin typeface="Arial" panose="020B0604020202020204" pitchFamily="34" charset="0"/>
                <a:cs typeface="Arial" panose="020B0604020202020204" pitchFamily="34" charset="0"/>
              </a:rPr>
              <a:t> posibilidades </a:t>
            </a:r>
          </a:p>
          <a:p>
            <a:r>
              <a:rPr lang="es-AR" dirty="0">
                <a:latin typeface="Arial" panose="020B0604020202020204" pitchFamily="34" charset="0"/>
                <a:cs typeface="Arial" panose="020B0604020202020204" pitchFamily="34" charset="0"/>
              </a:rPr>
              <a:t>(por cada variable, los valores V y F)</a:t>
            </a:r>
          </a:p>
          <a:p>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Cada evaluación se puede hacer en tiempo </a:t>
            </a:r>
            <a:r>
              <a:rPr lang="es-AR" b="1" dirty="0">
                <a:latin typeface="Arial" panose="020B0604020202020204" pitchFamily="34" charset="0"/>
                <a:cs typeface="Arial" panose="020B0604020202020204" pitchFamily="34" charset="0"/>
              </a:rPr>
              <a:t>O(|φ|</a:t>
            </a:r>
            <a:r>
              <a:rPr lang="es-AR" b="1" baseline="30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con el uso de una pila </a:t>
            </a:r>
            <a:endParaRPr lang="es-AR" dirty="0"/>
          </a:p>
        </p:txBody>
      </p:sp>
    </p:spTree>
    <p:extLst>
      <p:ext uri="{BB962C8B-B14F-4D97-AF65-F5344CB8AC3E}">
        <p14:creationId xmlns:p14="http://schemas.microsoft.com/office/powerpoint/2010/main" val="3342104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73D26B9-B7F6-4DAF-8292-5E66568A2A86}"/>
              </a:ext>
            </a:extLst>
          </p:cNvPr>
          <p:cNvSpPr/>
          <p:nvPr/>
        </p:nvSpPr>
        <p:spPr>
          <a:xfrm>
            <a:off x="288096" y="188207"/>
            <a:ext cx="11903904" cy="4739759"/>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Otro ejemplo de lenguaje que </a:t>
            </a:r>
            <a:r>
              <a:rPr lang="es-AR" sz="2400" b="1" u="sng" dirty="0">
                <a:latin typeface="Arial" panose="020B0604020202020204" pitchFamily="34" charset="0"/>
                <a:cs typeface="Arial" panose="020B0604020202020204" pitchFamily="34" charset="0"/>
              </a:rPr>
              <a:t>no estaría </a:t>
            </a:r>
            <a:r>
              <a:rPr lang="es-AR" sz="2400" b="1" dirty="0">
                <a:latin typeface="Arial" panose="020B0604020202020204" pitchFamily="34" charset="0"/>
                <a:cs typeface="Arial" panose="020B0604020202020204" pitchFamily="34" charset="0"/>
              </a:rPr>
              <a:t>en P</a:t>
            </a:r>
            <a:r>
              <a:rPr lang="es-AR" sz="2400" dirty="0">
                <a:latin typeface="Arial" panose="020B0604020202020204" pitchFamily="34" charset="0"/>
                <a:cs typeface="Arial" panose="020B0604020202020204" pitchFamily="34" charset="0"/>
              </a:rPr>
              <a:t>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CH = {G | G es un grafo no dirigido con m vértices y tiene un Circuito de Hamilton}</a:t>
            </a:r>
          </a:p>
          <a:p>
            <a:endParaRPr lang="es-AR" sz="1000" b="1"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t>
            </a:r>
            <a:r>
              <a:rPr lang="es-AR" u="sng" dirty="0">
                <a:latin typeface="Arial" panose="020B0604020202020204" pitchFamily="34" charset="0"/>
                <a:cs typeface="Arial" panose="020B0604020202020204" pitchFamily="34" charset="0"/>
              </a:rPr>
              <a:t>Circuito de Hamilton (</a:t>
            </a:r>
            <a:r>
              <a:rPr lang="es-AR" u="sng" dirty="0" err="1">
                <a:latin typeface="Arial" panose="020B0604020202020204" pitchFamily="34" charset="0"/>
                <a:cs typeface="Arial" panose="020B0604020202020204" pitchFamily="34" charset="0"/>
              </a:rPr>
              <a:t>CdeH</a:t>
            </a:r>
            <a:r>
              <a:rPr lang="es-AR" u="sng"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recorre todos los vértices del grafo sin repetirlos salvo el primero al final. </a:t>
            </a: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sz="2500" dirty="0">
              <a:latin typeface="Arial" panose="020B0604020202020204" pitchFamily="34" charset="0"/>
              <a:cs typeface="Arial" panose="020B0604020202020204" pitchFamily="34" charset="0"/>
            </a:endParaRPr>
          </a:p>
          <a:p>
            <a:pPr lvl="1" algn="just"/>
            <a:endParaRPr lang="es-AR" b="1" dirty="0">
              <a:latin typeface="Arial" panose="020B0604020202020204" pitchFamily="34" charset="0"/>
              <a:cs typeface="Arial" panose="020B0604020202020204" pitchFamily="34" charset="0"/>
            </a:endParaRPr>
          </a:p>
          <a:p>
            <a:pPr lvl="1" algn="just"/>
            <a:endParaRPr lang="es-AR" dirty="0">
              <a:latin typeface="Arial" panose="020B0604020202020204" pitchFamily="34" charset="0"/>
              <a:cs typeface="Arial" panose="020B0604020202020204" pitchFamily="34" charset="0"/>
            </a:endParaRPr>
          </a:p>
          <a:p>
            <a:pPr lvl="1" algn="just"/>
            <a:r>
              <a:rPr lang="es-AR" dirty="0">
                <a:latin typeface="Arial" panose="020B0604020202020204" pitchFamily="34" charset="0"/>
                <a:cs typeface="Arial" panose="020B0604020202020204" pitchFamily="34" charset="0"/>
              </a:rPr>
              <a:t>Una MT M que decide CH prueba con todas las permutaciones de vértices (</a:t>
            </a:r>
            <a:r>
              <a:rPr lang="es-AR" b="1" dirty="0">
                <a:latin typeface="Arial" panose="020B0604020202020204" pitchFamily="34" charset="0"/>
                <a:cs typeface="Arial" panose="020B0604020202020204" pitchFamily="34" charset="0"/>
              </a:rPr>
              <a:t>no se conoce otro algoritmo</a:t>
            </a:r>
            <a:r>
              <a:rPr lang="es-AR" dirty="0">
                <a:latin typeface="Arial" panose="020B0604020202020204" pitchFamily="34" charset="0"/>
                <a:cs typeface="Arial" panose="020B0604020202020204" pitchFamily="34" charset="0"/>
              </a:rPr>
              <a:t>).  </a:t>
            </a:r>
          </a:p>
        </p:txBody>
      </p:sp>
      <p:sp>
        <p:nvSpPr>
          <p:cNvPr id="16" name="Rectángulo 15">
            <a:extLst>
              <a:ext uri="{FF2B5EF4-FFF2-40B4-BE49-F238E27FC236}">
                <a16:creationId xmlns:a16="http://schemas.microsoft.com/office/drawing/2014/main" id="{739F827D-AC26-4E4E-A8F8-AF0FEF8A01B7}"/>
              </a:ext>
            </a:extLst>
          </p:cNvPr>
          <p:cNvSpPr/>
          <p:nvPr/>
        </p:nvSpPr>
        <p:spPr>
          <a:xfrm>
            <a:off x="1965555" y="3613144"/>
            <a:ext cx="5206481"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Grafo con un </a:t>
            </a:r>
            <a:r>
              <a:rPr lang="es-AR" sz="1600" dirty="0" err="1">
                <a:latin typeface="Arial" panose="020B0604020202020204" pitchFamily="34" charset="0"/>
                <a:cs typeface="Arial" panose="020B0604020202020204" pitchFamily="34" charset="0"/>
              </a:rPr>
              <a:t>CdeH</a:t>
            </a:r>
            <a:r>
              <a:rPr lang="es-AR" sz="1600" dirty="0">
                <a:latin typeface="Arial" panose="020B0604020202020204" pitchFamily="34" charset="0"/>
                <a:cs typeface="Arial" panose="020B0604020202020204" pitchFamily="34" charset="0"/>
              </a:rPr>
              <a:t>, p.ej. (1, 2, 4, 3, 5) </a:t>
            </a:r>
          </a:p>
        </p:txBody>
      </p:sp>
      <p:sp>
        <p:nvSpPr>
          <p:cNvPr id="18" name="Diagrama de flujo: conector 17">
            <a:extLst>
              <a:ext uri="{FF2B5EF4-FFF2-40B4-BE49-F238E27FC236}">
                <a16:creationId xmlns:a16="http://schemas.microsoft.com/office/drawing/2014/main" id="{07191BDF-F53B-41DA-BABB-C9F65D4647E5}"/>
              </a:ext>
            </a:extLst>
          </p:cNvPr>
          <p:cNvSpPr/>
          <p:nvPr/>
        </p:nvSpPr>
        <p:spPr>
          <a:xfrm>
            <a:off x="2875421" y="2903523"/>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Diagrama de flujo: conector 18">
            <a:extLst>
              <a:ext uri="{FF2B5EF4-FFF2-40B4-BE49-F238E27FC236}">
                <a16:creationId xmlns:a16="http://schemas.microsoft.com/office/drawing/2014/main" id="{34129ED8-7343-4B2C-90A0-012B0190F94F}"/>
              </a:ext>
            </a:extLst>
          </p:cNvPr>
          <p:cNvSpPr/>
          <p:nvPr/>
        </p:nvSpPr>
        <p:spPr>
          <a:xfrm>
            <a:off x="6950843" y="2492842"/>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Diagrama de flujo: conector 19">
            <a:extLst>
              <a:ext uri="{FF2B5EF4-FFF2-40B4-BE49-F238E27FC236}">
                <a16:creationId xmlns:a16="http://schemas.microsoft.com/office/drawing/2014/main" id="{53F3D631-BFAF-449D-B11A-1129C5A94BE0}"/>
              </a:ext>
            </a:extLst>
          </p:cNvPr>
          <p:cNvSpPr/>
          <p:nvPr/>
        </p:nvSpPr>
        <p:spPr>
          <a:xfrm>
            <a:off x="8041876" y="1903575"/>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Diagrama de flujo: conector 20">
            <a:extLst>
              <a:ext uri="{FF2B5EF4-FFF2-40B4-BE49-F238E27FC236}">
                <a16:creationId xmlns:a16="http://schemas.microsoft.com/office/drawing/2014/main" id="{2303C0F2-B873-4772-8414-79E9CFE0E565}"/>
              </a:ext>
            </a:extLst>
          </p:cNvPr>
          <p:cNvSpPr/>
          <p:nvPr/>
        </p:nvSpPr>
        <p:spPr>
          <a:xfrm>
            <a:off x="2045242" y="1929895"/>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a:latin typeface="Arial" panose="020B0604020202020204" pitchFamily="34" charset="0"/>
                <a:cs typeface="Arial" panose="020B0604020202020204" pitchFamily="34" charset="0"/>
              </a:rPr>
              <a:t>n</a:t>
            </a:r>
            <a:endParaRPr lang="es-MX" dirty="0">
              <a:latin typeface="Arial" panose="020B0604020202020204" pitchFamily="34" charset="0"/>
              <a:cs typeface="Arial" panose="020B0604020202020204" pitchFamily="34" charset="0"/>
            </a:endParaRPr>
          </a:p>
        </p:txBody>
      </p:sp>
      <p:sp>
        <p:nvSpPr>
          <p:cNvPr id="22" name="Diagrama de flujo: conector 21">
            <a:extLst>
              <a:ext uri="{FF2B5EF4-FFF2-40B4-BE49-F238E27FC236}">
                <a16:creationId xmlns:a16="http://schemas.microsoft.com/office/drawing/2014/main" id="{313A8E9A-D69C-4AA7-A248-50B861D8654E}"/>
              </a:ext>
            </a:extLst>
          </p:cNvPr>
          <p:cNvSpPr/>
          <p:nvPr/>
        </p:nvSpPr>
        <p:spPr>
          <a:xfrm>
            <a:off x="4372300" y="3132123"/>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Diagrama de flujo: conector 22">
            <a:extLst>
              <a:ext uri="{FF2B5EF4-FFF2-40B4-BE49-F238E27FC236}">
                <a16:creationId xmlns:a16="http://schemas.microsoft.com/office/drawing/2014/main" id="{798C643A-8DFF-4F22-A9F8-8AA1AA0A90EA}"/>
              </a:ext>
            </a:extLst>
          </p:cNvPr>
          <p:cNvSpPr/>
          <p:nvPr/>
        </p:nvSpPr>
        <p:spPr>
          <a:xfrm>
            <a:off x="3737278" y="1886105"/>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6" name="Conector recto 25">
            <a:extLst>
              <a:ext uri="{FF2B5EF4-FFF2-40B4-BE49-F238E27FC236}">
                <a16:creationId xmlns:a16="http://schemas.microsoft.com/office/drawing/2014/main" id="{7DC960D1-AED4-43BE-B1A1-E78EFF73621F}"/>
              </a:ext>
            </a:extLst>
          </p:cNvPr>
          <p:cNvCxnSpPr>
            <a:cxnSpLocks/>
            <a:stCxn id="19" idx="5"/>
            <a:endCxn id="28" idx="2"/>
          </p:cNvCxnSpPr>
          <p:nvPr/>
        </p:nvCxnSpPr>
        <p:spPr>
          <a:xfrm>
            <a:off x="7341088" y="2883087"/>
            <a:ext cx="845167" cy="3908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Diagrama de flujo: conector 26">
            <a:extLst>
              <a:ext uri="{FF2B5EF4-FFF2-40B4-BE49-F238E27FC236}">
                <a16:creationId xmlns:a16="http://schemas.microsoft.com/office/drawing/2014/main" id="{48A2D422-44CD-4D56-93FC-FDE654223B2F}"/>
              </a:ext>
            </a:extLst>
          </p:cNvPr>
          <p:cNvSpPr/>
          <p:nvPr/>
        </p:nvSpPr>
        <p:spPr>
          <a:xfrm>
            <a:off x="5374272" y="2320180"/>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Diagrama de flujo: conector 27">
            <a:extLst>
              <a:ext uri="{FF2B5EF4-FFF2-40B4-BE49-F238E27FC236}">
                <a16:creationId xmlns:a16="http://schemas.microsoft.com/office/drawing/2014/main" id="{8581CE72-1A02-45B3-9D6B-4E925CE249CF}"/>
              </a:ext>
            </a:extLst>
          </p:cNvPr>
          <p:cNvSpPr/>
          <p:nvPr/>
        </p:nvSpPr>
        <p:spPr>
          <a:xfrm>
            <a:off x="8186255" y="3045333"/>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Diagrama de flujo: conector 28">
            <a:extLst>
              <a:ext uri="{FF2B5EF4-FFF2-40B4-BE49-F238E27FC236}">
                <a16:creationId xmlns:a16="http://schemas.microsoft.com/office/drawing/2014/main" id="{5CA9B1EE-D72B-4A81-9CE6-0B4D13FB3811}"/>
              </a:ext>
            </a:extLst>
          </p:cNvPr>
          <p:cNvSpPr/>
          <p:nvPr/>
        </p:nvSpPr>
        <p:spPr>
          <a:xfrm>
            <a:off x="9750089" y="2738027"/>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Diagrama de flujo: conector 29">
            <a:extLst>
              <a:ext uri="{FF2B5EF4-FFF2-40B4-BE49-F238E27FC236}">
                <a16:creationId xmlns:a16="http://schemas.microsoft.com/office/drawing/2014/main" id="{1EF9A282-BEC9-46A6-B1CA-B7CFF98A2545}"/>
              </a:ext>
            </a:extLst>
          </p:cNvPr>
          <p:cNvSpPr/>
          <p:nvPr/>
        </p:nvSpPr>
        <p:spPr>
          <a:xfrm>
            <a:off x="9254695" y="1469298"/>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1" name="Conector recto 30">
            <a:extLst>
              <a:ext uri="{FF2B5EF4-FFF2-40B4-BE49-F238E27FC236}">
                <a16:creationId xmlns:a16="http://schemas.microsoft.com/office/drawing/2014/main" id="{AA96ACE4-28E8-43EF-897A-11432A01A4A4}"/>
              </a:ext>
            </a:extLst>
          </p:cNvPr>
          <p:cNvCxnSpPr>
            <a:endCxn id="28" idx="0"/>
          </p:cNvCxnSpPr>
          <p:nvPr/>
        </p:nvCxnSpPr>
        <p:spPr>
          <a:xfrm>
            <a:off x="8270476" y="2376973"/>
            <a:ext cx="144379" cy="668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12C45C9E-D95D-4179-B92D-D0A7D46E60F9}"/>
              </a:ext>
            </a:extLst>
          </p:cNvPr>
          <p:cNvCxnSpPr/>
          <p:nvPr/>
        </p:nvCxnSpPr>
        <p:spPr>
          <a:xfrm flipV="1">
            <a:off x="7400636" y="2231819"/>
            <a:ext cx="703930" cy="3980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94F39019-5352-4A30-8A5C-DB4F8C9BCA46}"/>
              </a:ext>
            </a:extLst>
          </p:cNvPr>
          <p:cNvCxnSpPr>
            <a:endCxn id="29" idx="1"/>
          </p:cNvCxnSpPr>
          <p:nvPr/>
        </p:nvCxnSpPr>
        <p:spPr>
          <a:xfrm>
            <a:off x="8448332" y="2231819"/>
            <a:ext cx="1368712" cy="573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2C7661C7-E915-40BB-9122-F9D81AE095FB}"/>
              </a:ext>
            </a:extLst>
          </p:cNvPr>
          <p:cNvCxnSpPr>
            <a:endCxn id="23" idx="2"/>
          </p:cNvCxnSpPr>
          <p:nvPr/>
        </p:nvCxnSpPr>
        <p:spPr>
          <a:xfrm flipV="1">
            <a:off x="2481776" y="2114705"/>
            <a:ext cx="1255502" cy="450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DB315C2A-5C58-4209-866B-4DE3D88F1CEF}"/>
              </a:ext>
            </a:extLst>
          </p:cNvPr>
          <p:cNvCxnSpPr>
            <a:endCxn id="22" idx="2"/>
          </p:cNvCxnSpPr>
          <p:nvPr/>
        </p:nvCxnSpPr>
        <p:spPr>
          <a:xfrm>
            <a:off x="3332621" y="3136134"/>
            <a:ext cx="1039679" cy="224589"/>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EF5847F8-BAD9-499D-B633-834C048BCAF0}"/>
              </a:ext>
            </a:extLst>
          </p:cNvPr>
          <p:cNvCxnSpPr>
            <a:cxnSpLocks/>
            <a:endCxn id="23" idx="3"/>
          </p:cNvCxnSpPr>
          <p:nvPr/>
        </p:nvCxnSpPr>
        <p:spPr>
          <a:xfrm flipV="1">
            <a:off x="3223873" y="2276350"/>
            <a:ext cx="580360" cy="6376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1318CEAD-AEE3-40FF-BC43-ECA4705E1D38}"/>
              </a:ext>
            </a:extLst>
          </p:cNvPr>
          <p:cNvCxnSpPr>
            <a:endCxn id="18" idx="1"/>
          </p:cNvCxnSpPr>
          <p:nvPr/>
        </p:nvCxnSpPr>
        <p:spPr>
          <a:xfrm>
            <a:off x="2418221" y="2361400"/>
            <a:ext cx="524155" cy="609078"/>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C5068870-CD3C-4C4F-A314-E87C584AD9F5}"/>
              </a:ext>
            </a:extLst>
          </p:cNvPr>
          <p:cNvCxnSpPr>
            <a:endCxn id="30" idx="2"/>
          </p:cNvCxnSpPr>
          <p:nvPr/>
        </p:nvCxnSpPr>
        <p:spPr>
          <a:xfrm flipV="1">
            <a:off x="8496110" y="1697898"/>
            <a:ext cx="758585" cy="342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E5D6F269-D12F-40B5-B699-B78455818E3D}"/>
              </a:ext>
            </a:extLst>
          </p:cNvPr>
          <p:cNvCxnSpPr>
            <a:cxnSpLocks/>
            <a:endCxn id="22" idx="0"/>
          </p:cNvCxnSpPr>
          <p:nvPr/>
        </p:nvCxnSpPr>
        <p:spPr>
          <a:xfrm>
            <a:off x="4063310" y="2340654"/>
            <a:ext cx="537590" cy="791469"/>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0" name="Rectángulo 39">
            <a:extLst>
              <a:ext uri="{FF2B5EF4-FFF2-40B4-BE49-F238E27FC236}">
                <a16:creationId xmlns:a16="http://schemas.microsoft.com/office/drawing/2014/main" id="{9EA256BB-15E5-49EC-9FA9-9FA17C0EF757}"/>
              </a:ext>
            </a:extLst>
          </p:cNvPr>
          <p:cNvSpPr/>
          <p:nvPr/>
        </p:nvSpPr>
        <p:spPr>
          <a:xfrm>
            <a:off x="8261834" y="3097481"/>
            <a:ext cx="312906" cy="369332"/>
          </a:xfrm>
          <a:prstGeom prst="rect">
            <a:avLst/>
          </a:prstGeom>
          <a:noFill/>
        </p:spPr>
        <p:txBody>
          <a:bodyPr wrap="none">
            <a:spAutoFit/>
          </a:bodyPr>
          <a:lstStyle/>
          <a:p>
            <a:r>
              <a:rPr lang="es-MX" dirty="0">
                <a:latin typeface="Arial" panose="020B0604020202020204" pitchFamily="34" charset="0"/>
                <a:cs typeface="Arial" panose="020B0604020202020204" pitchFamily="34" charset="0"/>
              </a:rPr>
              <a:t>2</a:t>
            </a:r>
          </a:p>
        </p:txBody>
      </p:sp>
      <p:sp>
        <p:nvSpPr>
          <p:cNvPr id="41" name="Rectángulo 40">
            <a:extLst>
              <a:ext uri="{FF2B5EF4-FFF2-40B4-BE49-F238E27FC236}">
                <a16:creationId xmlns:a16="http://schemas.microsoft.com/office/drawing/2014/main" id="{DBB191AA-4F7E-4A1D-A5A1-6785A212236C}"/>
              </a:ext>
            </a:extLst>
          </p:cNvPr>
          <p:cNvSpPr/>
          <p:nvPr/>
        </p:nvSpPr>
        <p:spPr>
          <a:xfrm>
            <a:off x="3825602" y="1928714"/>
            <a:ext cx="312906" cy="369332"/>
          </a:xfrm>
          <a:prstGeom prst="rect">
            <a:avLst/>
          </a:prstGeom>
          <a:noFill/>
        </p:spPr>
        <p:txBody>
          <a:bodyPr wrap="none">
            <a:spAutoFit/>
          </a:bodyPr>
          <a:lstStyle/>
          <a:p>
            <a:r>
              <a:rPr lang="es-MX" dirty="0">
                <a:latin typeface="Arial" panose="020B0604020202020204" pitchFamily="34" charset="0"/>
                <a:cs typeface="Arial" panose="020B0604020202020204" pitchFamily="34" charset="0"/>
              </a:rPr>
              <a:t>3</a:t>
            </a:r>
          </a:p>
        </p:txBody>
      </p:sp>
      <p:cxnSp>
        <p:nvCxnSpPr>
          <p:cNvPr id="47" name="Conector recto 46">
            <a:extLst>
              <a:ext uri="{FF2B5EF4-FFF2-40B4-BE49-F238E27FC236}">
                <a16:creationId xmlns:a16="http://schemas.microsoft.com/office/drawing/2014/main" id="{0C2D49C3-1093-4788-94CE-AA663339B7DC}"/>
              </a:ext>
            </a:extLst>
          </p:cNvPr>
          <p:cNvCxnSpPr>
            <a:cxnSpLocks/>
          </p:cNvCxnSpPr>
          <p:nvPr/>
        </p:nvCxnSpPr>
        <p:spPr>
          <a:xfrm>
            <a:off x="4176051" y="2107844"/>
            <a:ext cx="1203833" cy="389215"/>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51" name="Rectángulo 50">
            <a:extLst>
              <a:ext uri="{FF2B5EF4-FFF2-40B4-BE49-F238E27FC236}">
                <a16:creationId xmlns:a16="http://schemas.microsoft.com/office/drawing/2014/main" id="{273C8388-825C-4C11-8590-FF1796F66ADE}"/>
              </a:ext>
            </a:extLst>
          </p:cNvPr>
          <p:cNvSpPr/>
          <p:nvPr/>
        </p:nvSpPr>
        <p:spPr>
          <a:xfrm>
            <a:off x="2105315" y="1979381"/>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52" name="Rectángulo 51">
            <a:extLst>
              <a:ext uri="{FF2B5EF4-FFF2-40B4-BE49-F238E27FC236}">
                <a16:creationId xmlns:a16="http://schemas.microsoft.com/office/drawing/2014/main" id="{3E73BC61-AEAC-4E93-8B35-60BBC055B427}"/>
              </a:ext>
            </a:extLst>
          </p:cNvPr>
          <p:cNvSpPr/>
          <p:nvPr/>
        </p:nvSpPr>
        <p:spPr>
          <a:xfrm>
            <a:off x="5450710" y="2364114"/>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5</a:t>
            </a:r>
          </a:p>
        </p:txBody>
      </p:sp>
      <p:sp>
        <p:nvSpPr>
          <p:cNvPr id="53" name="Rectángulo 52">
            <a:extLst>
              <a:ext uri="{FF2B5EF4-FFF2-40B4-BE49-F238E27FC236}">
                <a16:creationId xmlns:a16="http://schemas.microsoft.com/office/drawing/2014/main" id="{01924AA3-F9BC-4DA2-A2CD-8ED63289531C}"/>
              </a:ext>
            </a:extLst>
          </p:cNvPr>
          <p:cNvSpPr/>
          <p:nvPr/>
        </p:nvSpPr>
        <p:spPr>
          <a:xfrm>
            <a:off x="4456521" y="3169573"/>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4</a:t>
            </a:r>
          </a:p>
        </p:txBody>
      </p:sp>
      <p:sp>
        <p:nvSpPr>
          <p:cNvPr id="54" name="Rectángulo 53">
            <a:extLst>
              <a:ext uri="{FF2B5EF4-FFF2-40B4-BE49-F238E27FC236}">
                <a16:creationId xmlns:a16="http://schemas.microsoft.com/office/drawing/2014/main" id="{97139169-43A2-4068-80BE-4119EBDA8235}"/>
              </a:ext>
            </a:extLst>
          </p:cNvPr>
          <p:cNvSpPr/>
          <p:nvPr/>
        </p:nvSpPr>
        <p:spPr>
          <a:xfrm>
            <a:off x="2944114" y="2958028"/>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2</a:t>
            </a:r>
          </a:p>
        </p:txBody>
      </p:sp>
      <p:cxnSp>
        <p:nvCxnSpPr>
          <p:cNvPr id="55" name="Conector recto 54">
            <a:extLst>
              <a:ext uri="{FF2B5EF4-FFF2-40B4-BE49-F238E27FC236}">
                <a16:creationId xmlns:a16="http://schemas.microsoft.com/office/drawing/2014/main" id="{855F54C2-4329-4D8C-A688-62CD4F3E1738}"/>
              </a:ext>
            </a:extLst>
          </p:cNvPr>
          <p:cNvCxnSpPr>
            <a:cxnSpLocks/>
            <a:stCxn id="21" idx="5"/>
            <a:endCxn id="22" idx="1"/>
          </p:cNvCxnSpPr>
          <p:nvPr/>
        </p:nvCxnSpPr>
        <p:spPr>
          <a:xfrm>
            <a:off x="2435487" y="2320140"/>
            <a:ext cx="2003768" cy="87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B6412520-491D-4262-BBB3-07CBE13C4FBF}"/>
              </a:ext>
            </a:extLst>
          </p:cNvPr>
          <p:cNvCxnSpPr>
            <a:cxnSpLocks/>
            <a:endCxn id="27" idx="3"/>
          </p:cNvCxnSpPr>
          <p:nvPr/>
        </p:nvCxnSpPr>
        <p:spPr>
          <a:xfrm>
            <a:off x="2489527" y="2234880"/>
            <a:ext cx="2951700" cy="475545"/>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66" name="Rectángulo 65">
            <a:extLst>
              <a:ext uri="{FF2B5EF4-FFF2-40B4-BE49-F238E27FC236}">
                <a16:creationId xmlns:a16="http://schemas.microsoft.com/office/drawing/2014/main" id="{28B14F4D-6B11-4AEB-8275-931749F0D6CE}"/>
              </a:ext>
            </a:extLst>
          </p:cNvPr>
          <p:cNvSpPr/>
          <p:nvPr/>
        </p:nvSpPr>
        <p:spPr>
          <a:xfrm>
            <a:off x="7015583" y="2545937"/>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67" name="Rectángulo 66">
            <a:extLst>
              <a:ext uri="{FF2B5EF4-FFF2-40B4-BE49-F238E27FC236}">
                <a16:creationId xmlns:a16="http://schemas.microsoft.com/office/drawing/2014/main" id="{09691E56-F129-431B-8C4F-963E23233D08}"/>
              </a:ext>
            </a:extLst>
          </p:cNvPr>
          <p:cNvSpPr/>
          <p:nvPr/>
        </p:nvSpPr>
        <p:spPr>
          <a:xfrm>
            <a:off x="8129587" y="1937235"/>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3</a:t>
            </a:r>
          </a:p>
        </p:txBody>
      </p:sp>
      <p:sp>
        <p:nvSpPr>
          <p:cNvPr id="68" name="Rectángulo 67">
            <a:extLst>
              <a:ext uri="{FF2B5EF4-FFF2-40B4-BE49-F238E27FC236}">
                <a16:creationId xmlns:a16="http://schemas.microsoft.com/office/drawing/2014/main" id="{09A18D42-B30A-4A8D-A7B9-F6C182B37AE3}"/>
              </a:ext>
            </a:extLst>
          </p:cNvPr>
          <p:cNvSpPr/>
          <p:nvPr/>
        </p:nvSpPr>
        <p:spPr>
          <a:xfrm>
            <a:off x="9341305" y="1506808"/>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5</a:t>
            </a:r>
          </a:p>
        </p:txBody>
      </p:sp>
      <p:sp>
        <p:nvSpPr>
          <p:cNvPr id="69" name="Rectángulo 68">
            <a:extLst>
              <a:ext uri="{FF2B5EF4-FFF2-40B4-BE49-F238E27FC236}">
                <a16:creationId xmlns:a16="http://schemas.microsoft.com/office/drawing/2014/main" id="{10277E24-DF86-4F1F-B223-2B59278FF3C7}"/>
              </a:ext>
            </a:extLst>
          </p:cNvPr>
          <p:cNvSpPr/>
          <p:nvPr/>
        </p:nvSpPr>
        <p:spPr>
          <a:xfrm>
            <a:off x="9822236" y="2777380"/>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4</a:t>
            </a:r>
          </a:p>
        </p:txBody>
      </p:sp>
      <p:cxnSp>
        <p:nvCxnSpPr>
          <p:cNvPr id="70" name="Conector recto 69">
            <a:extLst>
              <a:ext uri="{FF2B5EF4-FFF2-40B4-BE49-F238E27FC236}">
                <a16:creationId xmlns:a16="http://schemas.microsoft.com/office/drawing/2014/main" id="{F121ACC5-70B7-42C8-AFF7-4FD1B360B60C}"/>
              </a:ext>
            </a:extLst>
          </p:cNvPr>
          <p:cNvCxnSpPr>
            <a:cxnSpLocks/>
            <a:endCxn id="29" idx="0"/>
          </p:cNvCxnSpPr>
          <p:nvPr/>
        </p:nvCxnSpPr>
        <p:spPr>
          <a:xfrm>
            <a:off x="9547111" y="1918776"/>
            <a:ext cx="431578" cy="8192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Rectángulo 71">
            <a:extLst>
              <a:ext uri="{FF2B5EF4-FFF2-40B4-BE49-F238E27FC236}">
                <a16:creationId xmlns:a16="http://schemas.microsoft.com/office/drawing/2014/main" id="{CCDBCB77-946D-458D-8FF3-2BEE6B3E06FB}"/>
              </a:ext>
            </a:extLst>
          </p:cNvPr>
          <p:cNvSpPr/>
          <p:nvPr/>
        </p:nvSpPr>
        <p:spPr>
          <a:xfrm>
            <a:off x="7843960" y="3550292"/>
            <a:ext cx="1598515" cy="338554"/>
          </a:xfrm>
          <a:prstGeom prst="rect">
            <a:avLst/>
          </a:prstGeom>
        </p:spPr>
        <p:txBody>
          <a:bodyPr wrap="none">
            <a:spAutoFit/>
          </a:bodyPr>
          <a:lstStyle/>
          <a:p>
            <a:r>
              <a:rPr lang="es-AR" sz="1600" dirty="0">
                <a:latin typeface="Arial" panose="020B0604020202020204" pitchFamily="34" charset="0"/>
                <a:cs typeface="Arial" panose="020B0604020202020204" pitchFamily="34" charset="0"/>
              </a:rPr>
              <a:t>Grafo sin </a:t>
            </a:r>
            <a:r>
              <a:rPr lang="es-AR" sz="1600" dirty="0" err="1">
                <a:latin typeface="Arial" panose="020B0604020202020204" pitchFamily="34" charset="0"/>
                <a:cs typeface="Arial" panose="020B0604020202020204" pitchFamily="34" charset="0"/>
              </a:rPr>
              <a:t>CdeH</a:t>
            </a:r>
            <a:endParaRPr lang="es-AR" sz="1600" dirty="0">
              <a:latin typeface="Arial" panose="020B0604020202020204" pitchFamily="34" charset="0"/>
              <a:cs typeface="Arial" panose="020B0604020202020204" pitchFamily="34" charset="0"/>
            </a:endParaRPr>
          </a:p>
        </p:txBody>
      </p:sp>
      <p:sp>
        <p:nvSpPr>
          <p:cNvPr id="42" name="Slide Number Placeholder 2">
            <a:extLst>
              <a:ext uri="{FF2B5EF4-FFF2-40B4-BE49-F238E27FC236}">
                <a16:creationId xmlns:a16="http://schemas.microsoft.com/office/drawing/2014/main" id="{051DA065-88C4-4384-B69A-46070951995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3" name="Rectángulo 42">
            <a:extLst>
              <a:ext uri="{FF2B5EF4-FFF2-40B4-BE49-F238E27FC236}">
                <a16:creationId xmlns:a16="http://schemas.microsoft.com/office/drawing/2014/main" id="{803DB346-6FC8-40BD-A497-D30F218FFE47}"/>
              </a:ext>
            </a:extLst>
          </p:cNvPr>
          <p:cNvSpPr/>
          <p:nvPr/>
        </p:nvSpPr>
        <p:spPr>
          <a:xfrm>
            <a:off x="744552" y="5000882"/>
            <a:ext cx="11377090" cy="723275"/>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Dados m vértices existen </a:t>
            </a:r>
            <a:r>
              <a:rPr lang="es-AR" b="1" dirty="0">
                <a:latin typeface="Arial" panose="020B0604020202020204" pitchFamily="34" charset="0"/>
                <a:cs typeface="Arial" panose="020B0604020202020204" pitchFamily="34" charset="0"/>
              </a:rPr>
              <a:t>m!</a:t>
            </a:r>
            <a:r>
              <a:rPr lang="es-AR" dirty="0">
                <a:latin typeface="Arial" panose="020B0604020202020204" pitchFamily="34" charset="0"/>
                <a:cs typeface="Arial" panose="020B0604020202020204" pitchFamily="34" charset="0"/>
              </a:rPr>
              <a:t> permutaciones. Por ej., si m = 5: (1,2,3,4,5), (1,2,3,5,4), (1,2,4,3,5), etc.</a:t>
            </a:r>
            <a:endParaRPr lang="es-AR" sz="800"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Por otro lado, chequear si una permutación es un </a:t>
            </a:r>
            <a:r>
              <a:rPr lang="es-AR" dirty="0" err="1">
                <a:latin typeface="Arial" panose="020B0604020202020204" pitchFamily="34" charset="0"/>
                <a:cs typeface="Arial" panose="020B0604020202020204" pitchFamily="34" charset="0"/>
              </a:rPr>
              <a:t>CdeH</a:t>
            </a:r>
            <a:r>
              <a:rPr lang="es-AR" dirty="0">
                <a:latin typeface="Arial" panose="020B0604020202020204" pitchFamily="34" charset="0"/>
                <a:cs typeface="Arial" panose="020B0604020202020204" pitchFamily="34" charset="0"/>
              </a:rPr>
              <a:t> lleva tiempo O(|V|</a:t>
            </a:r>
            <a:r>
              <a:rPr lang="es-AR" b="1"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|E|) = O(|G|</a:t>
            </a:r>
            <a:r>
              <a:rPr lang="es-AR" baseline="30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a:t>
            </a:r>
            <a:r>
              <a:rPr lang="es-AR" b="1" dirty="0">
                <a:latin typeface="Arial" panose="020B0604020202020204" pitchFamily="34" charset="0"/>
                <a:cs typeface="Arial" panose="020B0604020202020204" pitchFamily="34" charset="0"/>
              </a:rPr>
              <a:t>O(n</a:t>
            </a:r>
            <a:r>
              <a:rPr lang="es-AR" b="1" baseline="30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a:t>
            </a:r>
            <a:endParaRPr lang="es-AR" dirty="0">
              <a:solidFill>
                <a:srgbClr val="FF0000"/>
              </a:solidFill>
              <a:latin typeface="Arial" panose="020B0604020202020204" pitchFamily="34" charset="0"/>
              <a:cs typeface="Arial" panose="020B0604020202020204" pitchFamily="34" charset="0"/>
            </a:endParaRPr>
          </a:p>
        </p:txBody>
      </p:sp>
      <p:sp>
        <p:nvSpPr>
          <p:cNvPr id="44" name="CuadroTexto 43">
            <a:extLst>
              <a:ext uri="{FF2B5EF4-FFF2-40B4-BE49-F238E27FC236}">
                <a16:creationId xmlns:a16="http://schemas.microsoft.com/office/drawing/2014/main" id="{0950372F-5E6E-4C5A-A3BC-4C12138B2504}"/>
              </a:ext>
            </a:extLst>
          </p:cNvPr>
          <p:cNvSpPr txBox="1"/>
          <p:nvPr/>
        </p:nvSpPr>
        <p:spPr>
          <a:xfrm>
            <a:off x="744552" y="6006781"/>
            <a:ext cx="11437923" cy="446276"/>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Como m! = m.(m – 1).(m – 2).(m – 3)…2.1 = O(m</a:t>
            </a:r>
            <a:r>
              <a:rPr lang="es-AR" baseline="30000" dirty="0">
                <a:latin typeface="Arial" panose="020B0604020202020204" pitchFamily="34" charset="0"/>
                <a:cs typeface="Arial" panose="020B0604020202020204" pitchFamily="34" charset="0"/>
              </a:rPr>
              <a:t>m</a:t>
            </a:r>
            <a:r>
              <a:rPr lang="es-AR" dirty="0">
                <a:latin typeface="Arial" panose="020B0604020202020204" pitchFamily="34" charset="0"/>
                <a:cs typeface="Arial" panose="020B0604020202020204" pitchFamily="34" charset="0"/>
              </a:rPr>
              <a:t>) = </a:t>
            </a:r>
            <a:r>
              <a:rPr lang="es-AR" b="1" dirty="0">
                <a:latin typeface="Arial" panose="020B0604020202020204" pitchFamily="34" charset="0"/>
                <a:cs typeface="Arial" panose="020B0604020202020204" pitchFamily="34" charset="0"/>
              </a:rPr>
              <a:t>O(</a:t>
            </a:r>
            <a:r>
              <a:rPr lang="es-AR" b="1" dirty="0" err="1">
                <a:latin typeface="Arial" panose="020B0604020202020204" pitchFamily="34" charset="0"/>
                <a:cs typeface="Arial" panose="020B0604020202020204" pitchFamily="34" charset="0"/>
              </a:rPr>
              <a:t>n</a:t>
            </a:r>
            <a:r>
              <a:rPr lang="es-AR" b="1" baseline="30000" dirty="0" err="1">
                <a:latin typeface="Arial" panose="020B0604020202020204" pitchFamily="34" charset="0"/>
                <a:cs typeface="Arial" panose="020B0604020202020204" pitchFamily="34" charset="0"/>
              </a:rPr>
              <a:t>n</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M puede alcanzar los O(n</a:t>
            </a:r>
            <a:r>
              <a:rPr lang="es-AR" baseline="30000" dirty="0">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.n</a:t>
            </a:r>
            <a:r>
              <a:rPr lang="es-AR" baseline="30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a:t>
            </a:r>
            <a:r>
              <a:rPr lang="es-AR" b="1" dirty="0" err="1">
                <a:latin typeface="Arial" panose="020B0604020202020204" pitchFamily="34" charset="0"/>
                <a:cs typeface="Arial" panose="020B0604020202020204" pitchFamily="34" charset="0"/>
              </a:rPr>
              <a:t>exp</a:t>
            </a:r>
            <a:r>
              <a:rPr lang="es-AR" b="1" dirty="0">
                <a:latin typeface="Arial" panose="020B0604020202020204" pitchFamily="34" charset="0"/>
                <a:cs typeface="Arial" panose="020B0604020202020204" pitchFamily="34" charset="0"/>
              </a:rPr>
              <a:t>(n) pasos.</a:t>
            </a:r>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endParaRPr lang="es-AR" sz="5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537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1A924D58-4371-4B6D-8AED-503CB998B376}"/>
              </a:ext>
            </a:extLst>
          </p:cNvPr>
          <p:cNvSpPr/>
          <p:nvPr/>
        </p:nvSpPr>
        <p:spPr>
          <a:xfrm>
            <a:off x="3619762" y="1320922"/>
            <a:ext cx="8572237" cy="1477328"/>
          </a:xfrm>
          <a:prstGeom prst="rect">
            <a:avLst/>
          </a:prstGeom>
        </p:spPr>
        <p:txBody>
          <a:bodyPr wrap="square">
            <a:spAutoFit/>
          </a:bodyPr>
          <a:lstStyle/>
          <a:p>
            <a:pPr algn="just"/>
            <a:r>
              <a:rPr lang="es-AR" b="1" dirty="0">
                <a:latin typeface="Arial" panose="020B0604020202020204" pitchFamily="34" charset="0"/>
                <a:cs typeface="Arial" panose="020B0604020202020204" pitchFamily="34" charset="0"/>
              </a:rPr>
              <a:t>P</a:t>
            </a:r>
            <a:r>
              <a:rPr lang="es-AR" dirty="0">
                <a:latin typeface="Arial" panose="020B0604020202020204" pitchFamily="34" charset="0"/>
                <a:cs typeface="Arial" panose="020B0604020202020204" pitchFamily="34" charset="0"/>
              </a:rPr>
              <a:t> es la clase de los lenguajes </a:t>
            </a:r>
            <a:r>
              <a:rPr lang="es-AR" dirty="0" err="1">
                <a:latin typeface="Arial" panose="020B0604020202020204" pitchFamily="34" charset="0"/>
                <a:cs typeface="Arial" panose="020B0604020202020204" pitchFamily="34" charset="0"/>
              </a:rPr>
              <a:t>decidibles</a:t>
            </a:r>
            <a:r>
              <a:rPr lang="es-AR" dirty="0">
                <a:latin typeface="Arial" panose="020B0604020202020204" pitchFamily="34" charset="0"/>
                <a:cs typeface="Arial" panose="020B0604020202020204" pitchFamily="34" charset="0"/>
              </a:rPr>
              <a:t> en tiempo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(n) (</a:t>
            </a:r>
            <a:r>
              <a:rPr lang="es-AR" b="1" dirty="0">
                <a:latin typeface="Arial" panose="020B0604020202020204" pitchFamily="34" charset="0"/>
                <a:cs typeface="Arial" panose="020B0604020202020204" pitchFamily="34" charset="0"/>
              </a:rPr>
              <a:t>lenguajes tratables</a:t>
            </a:r>
            <a:r>
              <a:rPr lang="es-AR" dirty="0">
                <a:latin typeface="Arial" panose="020B0604020202020204" pitchFamily="34" charset="0"/>
                <a:cs typeface="Arial" panose="020B0604020202020204" pitchFamily="34" charset="0"/>
              </a:rPr>
              <a:t>) </a:t>
            </a:r>
          </a:p>
          <a:p>
            <a:pPr algn="just"/>
            <a:endParaRPr lang="es-AR"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EXP</a:t>
            </a:r>
            <a:r>
              <a:rPr lang="es-AR" dirty="0">
                <a:latin typeface="Arial" panose="020B0604020202020204" pitchFamily="34" charset="0"/>
                <a:cs typeface="Arial" panose="020B0604020202020204" pitchFamily="34" charset="0"/>
              </a:rPr>
              <a:t> es la clase de los lenguajes </a:t>
            </a:r>
            <a:r>
              <a:rPr lang="es-AR" dirty="0" err="1">
                <a:latin typeface="Arial" panose="020B0604020202020204" pitchFamily="34" charset="0"/>
                <a:cs typeface="Arial" panose="020B0604020202020204" pitchFamily="34" charset="0"/>
              </a:rPr>
              <a:t>decidibles</a:t>
            </a:r>
            <a:r>
              <a:rPr lang="es-AR" dirty="0">
                <a:latin typeface="Arial" panose="020B0604020202020204" pitchFamily="34" charset="0"/>
                <a:cs typeface="Arial" panose="020B0604020202020204" pitchFamily="34" charset="0"/>
              </a:rPr>
              <a:t> en tiempo O(</a:t>
            </a:r>
            <a:r>
              <a:rPr lang="es-AR" dirty="0" err="1">
                <a:latin typeface="Arial" panose="020B0604020202020204" pitchFamily="34" charset="0"/>
                <a:cs typeface="Arial" panose="020B0604020202020204" pitchFamily="34" charset="0"/>
              </a:rPr>
              <a:t>c</a:t>
            </a:r>
            <a:r>
              <a:rPr lang="es-AR" baseline="30000" dirty="0" err="1">
                <a:latin typeface="Arial" panose="020B0604020202020204" pitchFamily="34" charset="0"/>
                <a:cs typeface="Arial" panose="020B0604020202020204" pitchFamily="34" charset="0"/>
              </a:rPr>
              <a:t>poly</a:t>
            </a:r>
            <a:r>
              <a:rPr lang="es-AR" baseline="30000" dirty="0">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a:t>
            </a:r>
          </a:p>
          <a:p>
            <a:pPr algn="just"/>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Se prueba que existen lenguajes fuera de </a:t>
            </a:r>
            <a:r>
              <a:rPr lang="es-MX" dirty="0">
                <a:latin typeface="Arial" panose="020B0604020202020204" pitchFamily="34" charset="0"/>
                <a:cs typeface="Arial" panose="020B0604020202020204" pitchFamily="34" charset="0"/>
              </a:rPr>
              <a:t>P y fuera de EXP. </a:t>
            </a:r>
          </a:p>
        </p:txBody>
      </p:sp>
      <p:sp>
        <p:nvSpPr>
          <p:cNvPr id="11" name="Slide Number Placeholder 2">
            <a:extLst>
              <a:ext uri="{FF2B5EF4-FFF2-40B4-BE49-F238E27FC236}">
                <a16:creationId xmlns:a16="http://schemas.microsoft.com/office/drawing/2014/main" id="{F296C151-81B6-4F0B-9082-896A294902EA}"/>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3" name="CuadroTexto 12">
            <a:extLst>
              <a:ext uri="{FF2B5EF4-FFF2-40B4-BE49-F238E27FC236}">
                <a16:creationId xmlns:a16="http://schemas.microsoft.com/office/drawing/2014/main" id="{4CB1D50A-B04B-441E-82D8-49983E459D20}"/>
              </a:ext>
            </a:extLst>
          </p:cNvPr>
          <p:cNvSpPr txBox="1"/>
          <p:nvPr/>
        </p:nvSpPr>
        <p:spPr>
          <a:xfrm>
            <a:off x="279782" y="3600451"/>
            <a:ext cx="11655043" cy="3154710"/>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      Tesis fuerte de </a:t>
            </a:r>
            <a:r>
              <a:rPr lang="es-MX" b="1" dirty="0" err="1">
                <a:latin typeface="Arial" panose="020B0604020202020204" pitchFamily="34" charset="0"/>
                <a:cs typeface="Arial" panose="020B0604020202020204" pitchFamily="34" charset="0"/>
              </a:rPr>
              <a:t>Church</a:t>
            </a:r>
            <a:r>
              <a:rPr lang="es-MX" b="1" dirty="0">
                <a:latin typeface="Arial" panose="020B0604020202020204" pitchFamily="34" charset="0"/>
                <a:cs typeface="Arial" panose="020B0604020202020204" pitchFamily="34" charset="0"/>
              </a:rPr>
              <a:t>-Turing (robustez de la clase P) </a:t>
            </a:r>
          </a:p>
          <a:p>
            <a:pPr algn="just"/>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Si un lenguaje es </a:t>
            </a:r>
            <a:r>
              <a:rPr lang="es-MX" dirty="0" err="1">
                <a:latin typeface="Arial" panose="020B0604020202020204" pitchFamily="34" charset="0"/>
                <a:cs typeface="Arial" panose="020B0604020202020204" pitchFamily="34" charset="0"/>
              </a:rPr>
              <a:t>decidible</a:t>
            </a:r>
            <a:r>
              <a:rPr lang="es-MX" dirty="0">
                <a:latin typeface="Arial" panose="020B0604020202020204" pitchFamily="34" charset="0"/>
                <a:cs typeface="Arial" panose="020B0604020202020204" pitchFamily="34" charset="0"/>
              </a:rPr>
              <a:t> en tiempo </a:t>
            </a:r>
            <a:r>
              <a:rPr lang="es-MX" dirty="0" err="1">
                <a:latin typeface="Arial" panose="020B0604020202020204" pitchFamily="34" charset="0"/>
                <a:cs typeface="Arial" panose="020B0604020202020204" pitchFamily="34" charset="0"/>
              </a:rPr>
              <a:t>poly</a:t>
            </a:r>
            <a:r>
              <a:rPr lang="es-MX" dirty="0">
                <a:latin typeface="Arial" panose="020B0604020202020204" pitchFamily="34" charset="0"/>
                <a:cs typeface="Arial" panose="020B0604020202020204" pitchFamily="34" charset="0"/>
              </a:rPr>
              <a:t>(n) por un modelo computacional </a:t>
            </a:r>
            <a:r>
              <a:rPr lang="es-MX" b="1" dirty="0">
                <a:latin typeface="Arial" panose="020B0604020202020204" pitchFamily="34" charset="0"/>
                <a:cs typeface="Arial" panose="020B0604020202020204" pitchFamily="34" charset="0"/>
              </a:rPr>
              <a:t>razonable (realizable), </a:t>
            </a:r>
            <a:r>
              <a:rPr lang="es-MX" dirty="0">
                <a:latin typeface="Arial" panose="020B0604020202020204" pitchFamily="34" charset="0"/>
                <a:cs typeface="Arial" panose="020B0604020202020204" pitchFamily="34" charset="0"/>
              </a:rPr>
              <a:t>también  </a:t>
            </a:r>
          </a:p>
          <a:p>
            <a:pPr algn="just"/>
            <a:r>
              <a:rPr lang="es-MX" dirty="0">
                <a:latin typeface="Arial" panose="020B0604020202020204" pitchFamily="34" charset="0"/>
                <a:cs typeface="Arial" panose="020B0604020202020204" pitchFamily="34" charset="0"/>
              </a:rPr>
              <a:t>      es </a:t>
            </a:r>
            <a:r>
              <a:rPr lang="es-MX" dirty="0" err="1">
                <a:latin typeface="Arial" panose="020B0604020202020204" pitchFamily="34" charset="0"/>
                <a:cs typeface="Arial" panose="020B0604020202020204" pitchFamily="34" charset="0"/>
              </a:rPr>
              <a:t>decidible</a:t>
            </a:r>
            <a:r>
              <a:rPr lang="es-MX" dirty="0">
                <a:latin typeface="Arial" panose="020B0604020202020204" pitchFamily="34" charset="0"/>
                <a:cs typeface="Arial" panose="020B0604020202020204" pitchFamily="34" charset="0"/>
              </a:rPr>
              <a:t> en tiempo </a:t>
            </a:r>
            <a:r>
              <a:rPr lang="es-MX" dirty="0" err="1">
                <a:latin typeface="Arial" panose="020B0604020202020204" pitchFamily="34" charset="0"/>
                <a:cs typeface="Arial" panose="020B0604020202020204" pitchFamily="34" charset="0"/>
              </a:rPr>
              <a:t>poly</a:t>
            </a:r>
            <a:r>
              <a:rPr lang="es-MX" dirty="0">
                <a:latin typeface="Arial" panose="020B0604020202020204" pitchFamily="34" charset="0"/>
                <a:cs typeface="Arial" panose="020B0604020202020204" pitchFamily="34" charset="0"/>
              </a:rPr>
              <a:t>(n) por una MT </a:t>
            </a:r>
            <a:r>
              <a:rPr lang="es-MX" b="1" dirty="0">
                <a:solidFill>
                  <a:srgbClr val="FF0000"/>
                </a:solidFill>
                <a:latin typeface="Arial" panose="020B0604020202020204" pitchFamily="34" charset="0"/>
                <a:cs typeface="Arial" panose="020B0604020202020204" pitchFamily="34" charset="0"/>
              </a:rPr>
              <a:t>(¿hasta que las máquinas cuánticas sean una realidad?).</a:t>
            </a:r>
          </a:p>
          <a:p>
            <a:pPr algn="just"/>
            <a:endParaRPr lang="es-MX" sz="1500" b="1" dirty="0">
              <a:solidFill>
                <a:srgbClr val="FF0000"/>
              </a:solidFill>
              <a:latin typeface="Arial" panose="020B0604020202020204" pitchFamily="34" charset="0"/>
              <a:cs typeface="Arial" panose="020B0604020202020204" pitchFamily="34" charset="0"/>
            </a:endParaRPr>
          </a:p>
          <a:p>
            <a:pPr algn="just"/>
            <a:endParaRPr lang="es-MX" sz="15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Modelos computacionales razonables: </a:t>
            </a:r>
          </a:p>
          <a:p>
            <a:pPr algn="just"/>
            <a:r>
              <a:rPr lang="es-MX" dirty="0">
                <a:latin typeface="Arial" panose="020B0604020202020204" pitchFamily="34" charset="0"/>
                <a:cs typeface="Arial" panose="020B0604020202020204" pitchFamily="34" charset="0"/>
              </a:rPr>
              <a:t>      Máquinas RAM, programas Java, circuitos booleanos, etc.</a:t>
            </a:r>
          </a:p>
          <a:p>
            <a:pPr algn="just"/>
            <a:endParaRPr lang="es-MX" sz="1500" dirty="0">
              <a:latin typeface="Arial" panose="020B0604020202020204" pitchFamily="34" charset="0"/>
              <a:cs typeface="Arial" panose="020B0604020202020204" pitchFamily="34" charset="0"/>
            </a:endParaRPr>
          </a:p>
          <a:p>
            <a:pPr algn="just"/>
            <a:endParaRPr lang="es-MX" sz="10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Codificación razonable (realizable) de números      </a:t>
            </a:r>
          </a:p>
          <a:p>
            <a:pPr algn="just"/>
            <a:r>
              <a:rPr lang="es-MX" dirty="0">
                <a:latin typeface="Arial" panose="020B0604020202020204" pitchFamily="34" charset="0"/>
                <a:cs typeface="Arial" panose="020B0604020202020204" pitchFamily="34" charset="0"/>
              </a:rPr>
              <a:t>      Cualquiera menos la de base unaria </a:t>
            </a:r>
            <a:r>
              <a:rPr lang="es-MX" b="1" dirty="0">
                <a:solidFill>
                  <a:srgbClr val="FF0000"/>
                </a:solidFill>
                <a:latin typeface="Arial" panose="020B0604020202020204" pitchFamily="34" charset="0"/>
                <a:cs typeface="Arial" panose="020B0604020202020204" pitchFamily="34" charset="0"/>
              </a:rPr>
              <a:t>(pensar p.ej. en 1.000.000.000 codificado como 1111111111111111…).</a:t>
            </a:r>
          </a:p>
          <a:p>
            <a:pPr algn="just"/>
            <a:r>
              <a:rPr lang="es-MX" dirty="0">
                <a:latin typeface="Arial" panose="020B0604020202020204" pitchFamily="34" charset="0"/>
                <a:cs typeface="Arial" panose="020B0604020202020204" pitchFamily="34" charset="0"/>
              </a:rPr>
              <a:t>      </a:t>
            </a:r>
            <a:endParaRPr lang="es-AR" sz="1800" b="1" dirty="0">
              <a:effectLst/>
              <a:latin typeface="Arial" panose="020B0604020202020204" pitchFamily="34" charset="0"/>
              <a:ea typeface="Calibri" panose="020F0502020204030204" pitchFamily="34" charset="0"/>
            </a:endParaRPr>
          </a:p>
        </p:txBody>
      </p:sp>
      <p:sp>
        <p:nvSpPr>
          <p:cNvPr id="15" name="Rectángulo: esquinas diagonales redondeadas 14">
            <a:extLst>
              <a:ext uri="{FF2B5EF4-FFF2-40B4-BE49-F238E27FC236}">
                <a16:creationId xmlns:a16="http://schemas.microsoft.com/office/drawing/2014/main" id="{9690D2D6-7CF1-4D35-BFE8-C2A2FFC0E93D}"/>
              </a:ext>
            </a:extLst>
          </p:cNvPr>
          <p:cNvSpPr/>
          <p:nvPr/>
        </p:nvSpPr>
        <p:spPr>
          <a:xfrm>
            <a:off x="8138819" y="4891398"/>
            <a:ext cx="594804" cy="342786"/>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esquinas diagonales redondeadas 16">
            <a:extLst>
              <a:ext uri="{FF2B5EF4-FFF2-40B4-BE49-F238E27FC236}">
                <a16:creationId xmlns:a16="http://schemas.microsoft.com/office/drawing/2014/main" id="{9B7DEB72-1EEA-4AA3-A05F-E8DD806FA02F}"/>
              </a:ext>
            </a:extLst>
          </p:cNvPr>
          <p:cNvSpPr/>
          <p:nvPr/>
        </p:nvSpPr>
        <p:spPr>
          <a:xfrm>
            <a:off x="10599412" y="4891398"/>
            <a:ext cx="594804" cy="342786"/>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CuadroTexto 17">
            <a:extLst>
              <a:ext uri="{FF2B5EF4-FFF2-40B4-BE49-F238E27FC236}">
                <a16:creationId xmlns:a16="http://schemas.microsoft.com/office/drawing/2014/main" id="{97863EBC-E00A-48C1-B7A1-BF4A46FFFBD3}"/>
              </a:ext>
            </a:extLst>
          </p:cNvPr>
          <p:cNvSpPr txBox="1"/>
          <p:nvPr/>
        </p:nvSpPr>
        <p:spPr>
          <a:xfrm>
            <a:off x="7991596" y="5239377"/>
            <a:ext cx="1332319" cy="523220"/>
          </a:xfrm>
          <a:prstGeom prst="rect">
            <a:avLst/>
          </a:prstGeom>
          <a:noFill/>
        </p:spPr>
        <p:txBody>
          <a:bodyPr wrap="square">
            <a:spAutoFit/>
          </a:bodyPr>
          <a:lstStyle/>
          <a:p>
            <a:r>
              <a:rPr lang="es-AR" sz="1400" b="1" dirty="0">
                <a:latin typeface="Arial" panose="020B0604020202020204" pitchFamily="34" charset="0"/>
                <a:cs typeface="Arial" panose="020B0604020202020204" pitchFamily="34" charset="0"/>
              </a:rPr>
              <a:t>modelo razonable</a:t>
            </a:r>
            <a:endParaRPr lang="es-AR" sz="1400" b="1" dirty="0"/>
          </a:p>
        </p:txBody>
      </p:sp>
      <p:sp>
        <p:nvSpPr>
          <p:cNvPr id="19" name="CuadroTexto 18">
            <a:extLst>
              <a:ext uri="{FF2B5EF4-FFF2-40B4-BE49-F238E27FC236}">
                <a16:creationId xmlns:a16="http://schemas.microsoft.com/office/drawing/2014/main" id="{7E8DFD6A-9C27-4A38-96DA-DB1B6B03FC8E}"/>
              </a:ext>
            </a:extLst>
          </p:cNvPr>
          <p:cNvSpPr txBox="1"/>
          <p:nvPr/>
        </p:nvSpPr>
        <p:spPr>
          <a:xfrm>
            <a:off x="10659747" y="5229301"/>
            <a:ext cx="1093043" cy="307777"/>
          </a:xfrm>
          <a:prstGeom prst="rect">
            <a:avLst/>
          </a:prstGeom>
          <a:noFill/>
        </p:spPr>
        <p:txBody>
          <a:bodyPr wrap="square">
            <a:spAutoFit/>
          </a:bodyPr>
          <a:lstStyle/>
          <a:p>
            <a:r>
              <a:rPr lang="es-AR" sz="1400" b="1" dirty="0">
                <a:latin typeface="Arial" panose="020B0604020202020204" pitchFamily="34" charset="0"/>
                <a:cs typeface="Arial" panose="020B0604020202020204" pitchFamily="34" charset="0"/>
              </a:rPr>
              <a:t>MT</a:t>
            </a:r>
            <a:endParaRPr lang="es-AR" sz="1400" b="1" dirty="0"/>
          </a:p>
        </p:txBody>
      </p:sp>
      <p:sp>
        <p:nvSpPr>
          <p:cNvPr id="20" name="CuadroTexto 19">
            <a:extLst>
              <a:ext uri="{FF2B5EF4-FFF2-40B4-BE49-F238E27FC236}">
                <a16:creationId xmlns:a16="http://schemas.microsoft.com/office/drawing/2014/main" id="{DE5F2582-DCC4-4BC0-908D-8BFAF0BD4D63}"/>
              </a:ext>
            </a:extLst>
          </p:cNvPr>
          <p:cNvSpPr txBox="1"/>
          <p:nvPr/>
        </p:nvSpPr>
        <p:spPr>
          <a:xfrm>
            <a:off x="8942902" y="4763948"/>
            <a:ext cx="1350690"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retardo </a:t>
            </a:r>
            <a:r>
              <a:rPr lang="es-AR" sz="1400" dirty="0" err="1">
                <a:latin typeface="Arial" panose="020B0604020202020204" pitchFamily="34" charset="0"/>
                <a:cs typeface="Arial" panose="020B0604020202020204" pitchFamily="34" charset="0"/>
              </a:rPr>
              <a:t>poly</a:t>
            </a:r>
            <a:r>
              <a:rPr lang="es-AR" sz="1400" dirty="0">
                <a:latin typeface="Arial" panose="020B0604020202020204" pitchFamily="34" charset="0"/>
                <a:cs typeface="Arial" panose="020B0604020202020204" pitchFamily="34" charset="0"/>
              </a:rPr>
              <a:t>(n)</a:t>
            </a:r>
            <a:endParaRPr lang="es-AR" sz="1400" dirty="0"/>
          </a:p>
        </p:txBody>
      </p:sp>
      <p:cxnSp>
        <p:nvCxnSpPr>
          <p:cNvPr id="7" name="Conector recto de flecha 6">
            <a:extLst>
              <a:ext uri="{FF2B5EF4-FFF2-40B4-BE49-F238E27FC236}">
                <a16:creationId xmlns:a16="http://schemas.microsoft.com/office/drawing/2014/main" id="{AACC21B2-CD36-4F13-929F-AD942B86ACF9}"/>
              </a:ext>
            </a:extLst>
          </p:cNvPr>
          <p:cNvCxnSpPr>
            <a:cxnSpLocks/>
          </p:cNvCxnSpPr>
          <p:nvPr/>
        </p:nvCxnSpPr>
        <p:spPr>
          <a:xfrm rot="60000" flipV="1">
            <a:off x="8878081" y="5062791"/>
            <a:ext cx="1556356" cy="175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0B11C2BB-40C2-0E80-80C5-09D2097C4E67}"/>
              </a:ext>
            </a:extLst>
          </p:cNvPr>
          <p:cNvSpPr/>
          <p:nvPr/>
        </p:nvSpPr>
        <p:spPr>
          <a:xfrm>
            <a:off x="249172" y="143605"/>
            <a:ext cx="11685653"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Primera versión de la jerarquía temporal</a:t>
            </a:r>
          </a:p>
        </p:txBody>
      </p:sp>
      <p:sp>
        <p:nvSpPr>
          <p:cNvPr id="9" name="Diagrama de flujo: conector 8">
            <a:extLst>
              <a:ext uri="{FF2B5EF4-FFF2-40B4-BE49-F238E27FC236}">
                <a16:creationId xmlns:a16="http://schemas.microsoft.com/office/drawing/2014/main" id="{29C18B07-E8A3-74BB-BC74-C8868231F763}"/>
              </a:ext>
            </a:extLst>
          </p:cNvPr>
          <p:cNvSpPr/>
          <p:nvPr/>
        </p:nvSpPr>
        <p:spPr>
          <a:xfrm>
            <a:off x="828675" y="752474"/>
            <a:ext cx="2482955" cy="2591785"/>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Diagrama de flujo: conector 11">
            <a:extLst>
              <a:ext uri="{FF2B5EF4-FFF2-40B4-BE49-F238E27FC236}">
                <a16:creationId xmlns:a16="http://schemas.microsoft.com/office/drawing/2014/main" id="{B2581CB5-067D-0123-2064-DF70F9E2C1E8}"/>
              </a:ext>
            </a:extLst>
          </p:cNvPr>
          <p:cNvSpPr/>
          <p:nvPr/>
        </p:nvSpPr>
        <p:spPr>
          <a:xfrm>
            <a:off x="1293864" y="1617008"/>
            <a:ext cx="1552575" cy="1640542"/>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Título 1">
            <a:extLst>
              <a:ext uri="{FF2B5EF4-FFF2-40B4-BE49-F238E27FC236}">
                <a16:creationId xmlns:a16="http://schemas.microsoft.com/office/drawing/2014/main" id="{6931E2C7-DB18-85BC-D56A-B3128960F70A}"/>
              </a:ext>
            </a:extLst>
          </p:cNvPr>
          <p:cNvSpPr txBox="1">
            <a:spLocks/>
          </p:cNvSpPr>
          <p:nvPr/>
        </p:nvSpPr>
        <p:spPr>
          <a:xfrm>
            <a:off x="1196487" y="1691317"/>
            <a:ext cx="1747326"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EXP</a:t>
            </a:r>
          </a:p>
        </p:txBody>
      </p:sp>
      <p:sp>
        <p:nvSpPr>
          <p:cNvPr id="24" name="Título 1">
            <a:extLst>
              <a:ext uri="{FF2B5EF4-FFF2-40B4-BE49-F238E27FC236}">
                <a16:creationId xmlns:a16="http://schemas.microsoft.com/office/drawing/2014/main" id="{AD5C629A-6CA4-058C-BC2C-987D1626D7BF}"/>
              </a:ext>
            </a:extLst>
          </p:cNvPr>
          <p:cNvSpPr txBox="1">
            <a:spLocks/>
          </p:cNvSpPr>
          <p:nvPr/>
        </p:nvSpPr>
        <p:spPr>
          <a:xfrm>
            <a:off x="1788176" y="738744"/>
            <a:ext cx="563947" cy="6805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dirty="0">
                <a:latin typeface="Arial" panose="020B0604020202020204" pitchFamily="34" charset="0"/>
                <a:cs typeface="Arial" panose="020B0604020202020204" pitchFamily="34" charset="0"/>
              </a:rPr>
              <a:t>R</a:t>
            </a:r>
          </a:p>
        </p:txBody>
      </p:sp>
      <p:sp>
        <p:nvSpPr>
          <p:cNvPr id="25" name="Diagrama de flujo: conector 24">
            <a:extLst>
              <a:ext uri="{FF2B5EF4-FFF2-40B4-BE49-F238E27FC236}">
                <a16:creationId xmlns:a16="http://schemas.microsoft.com/office/drawing/2014/main" id="{8D0AB92A-A35C-00E5-6A7E-AD9808B23E3B}"/>
              </a:ext>
            </a:extLst>
          </p:cNvPr>
          <p:cNvSpPr/>
          <p:nvPr/>
        </p:nvSpPr>
        <p:spPr>
          <a:xfrm>
            <a:off x="1601997" y="2182697"/>
            <a:ext cx="936307" cy="960481"/>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Título 1">
            <a:extLst>
              <a:ext uri="{FF2B5EF4-FFF2-40B4-BE49-F238E27FC236}">
                <a16:creationId xmlns:a16="http://schemas.microsoft.com/office/drawing/2014/main" id="{48AEE139-BE21-2B8A-F97D-A1318E639E87}"/>
              </a:ext>
            </a:extLst>
          </p:cNvPr>
          <p:cNvSpPr txBox="1">
            <a:spLocks/>
          </p:cNvSpPr>
          <p:nvPr/>
        </p:nvSpPr>
        <p:spPr>
          <a:xfrm>
            <a:off x="1359809" y="2269054"/>
            <a:ext cx="1420682" cy="384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dirty="0">
                <a:latin typeface="Arial" panose="020B0604020202020204" pitchFamily="34" charset="0"/>
                <a:cs typeface="Arial" panose="020B0604020202020204" pitchFamily="34" charset="0"/>
              </a:rPr>
              <a:t>P</a:t>
            </a:r>
          </a:p>
        </p:txBody>
      </p:sp>
    </p:spTree>
    <p:extLst>
      <p:ext uri="{BB962C8B-B14F-4D97-AF65-F5344CB8AC3E}">
        <p14:creationId xmlns:p14="http://schemas.microsoft.com/office/powerpoint/2010/main" val="2587381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0D5842D-1618-42BB-96EC-566DC6903C8F}"/>
              </a:ext>
            </a:extLst>
          </p:cNvPr>
          <p:cNvSpPr/>
          <p:nvPr/>
        </p:nvSpPr>
        <p:spPr>
          <a:xfrm>
            <a:off x="3812867" y="1058756"/>
            <a:ext cx="901209" cy="523220"/>
          </a:xfrm>
          <a:prstGeom prst="rect">
            <a:avLst/>
          </a:prstGeom>
        </p:spPr>
        <p:txBody>
          <a:bodyPr wrap="none">
            <a:spAutoFit/>
          </a:bodyPr>
          <a:lstStyle/>
          <a:p>
            <a:r>
              <a:rPr lang="es-AR" sz="2800" dirty="0">
                <a:latin typeface="Arial" panose="020B0604020202020204" pitchFamily="34" charset="0"/>
                <a:cs typeface="Arial" panose="020B0604020202020204" pitchFamily="34" charset="0"/>
              </a:rPr>
              <a:t>EXP</a:t>
            </a:r>
            <a:endParaRPr lang="es-MX" sz="2800" dirty="0"/>
          </a:p>
        </p:txBody>
      </p:sp>
      <p:sp>
        <p:nvSpPr>
          <p:cNvPr id="5" name="Rectángulo 4">
            <a:extLst>
              <a:ext uri="{FF2B5EF4-FFF2-40B4-BE49-F238E27FC236}">
                <a16:creationId xmlns:a16="http://schemas.microsoft.com/office/drawing/2014/main" id="{45F23E33-F565-4D54-88B4-DAEF5BB7343C}"/>
              </a:ext>
            </a:extLst>
          </p:cNvPr>
          <p:cNvSpPr/>
          <p:nvPr/>
        </p:nvSpPr>
        <p:spPr>
          <a:xfrm>
            <a:off x="3969211" y="1940076"/>
            <a:ext cx="575799"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a:t>
            </a:r>
            <a:endParaRPr lang="es-MX" sz="2200" dirty="0"/>
          </a:p>
        </p:txBody>
      </p:sp>
      <p:sp>
        <p:nvSpPr>
          <p:cNvPr id="7" name="Elipse 6">
            <a:extLst>
              <a:ext uri="{FF2B5EF4-FFF2-40B4-BE49-F238E27FC236}">
                <a16:creationId xmlns:a16="http://schemas.microsoft.com/office/drawing/2014/main" id="{3DF15832-601A-4595-8031-7293C0ADEA32}"/>
              </a:ext>
            </a:extLst>
          </p:cNvPr>
          <p:cNvSpPr/>
          <p:nvPr/>
        </p:nvSpPr>
        <p:spPr>
          <a:xfrm>
            <a:off x="6505452" y="2647339"/>
            <a:ext cx="641685"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Diagrama de flujo: conector 14">
            <a:extLst>
              <a:ext uri="{FF2B5EF4-FFF2-40B4-BE49-F238E27FC236}">
                <a16:creationId xmlns:a16="http://schemas.microsoft.com/office/drawing/2014/main" id="{9CC7A165-EE04-4CEB-BF9B-BDDABBE494F0}"/>
              </a:ext>
            </a:extLst>
          </p:cNvPr>
          <p:cNvSpPr/>
          <p:nvPr/>
        </p:nvSpPr>
        <p:spPr>
          <a:xfrm>
            <a:off x="2990171" y="946739"/>
            <a:ext cx="2546603" cy="334429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Diagrama de flujo: conector 15">
            <a:extLst>
              <a:ext uri="{FF2B5EF4-FFF2-40B4-BE49-F238E27FC236}">
                <a16:creationId xmlns:a16="http://schemas.microsoft.com/office/drawing/2014/main" id="{AF7DD23E-C3EE-473A-B9B4-BCACA35E49DD}"/>
              </a:ext>
            </a:extLst>
          </p:cNvPr>
          <p:cNvSpPr/>
          <p:nvPr/>
        </p:nvSpPr>
        <p:spPr>
          <a:xfrm>
            <a:off x="3377972" y="1848601"/>
            <a:ext cx="1775792" cy="2269963"/>
          </a:xfrm>
          <a:prstGeom prst="flowChartConnector">
            <a:avLst/>
          </a:prstGeom>
          <a:solidFill>
            <a:schemeClr val="accent6">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Diagrama de flujo: conector 16">
            <a:extLst>
              <a:ext uri="{FF2B5EF4-FFF2-40B4-BE49-F238E27FC236}">
                <a16:creationId xmlns:a16="http://schemas.microsoft.com/office/drawing/2014/main" id="{C39ABFCA-2E67-47BA-8150-D95BE4835AF4}"/>
              </a:ext>
            </a:extLst>
          </p:cNvPr>
          <p:cNvSpPr/>
          <p:nvPr/>
        </p:nvSpPr>
        <p:spPr>
          <a:xfrm>
            <a:off x="3725746" y="2790756"/>
            <a:ext cx="1094015" cy="1318844"/>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Slide Number Placeholder 2">
            <a:extLst>
              <a:ext uri="{FF2B5EF4-FFF2-40B4-BE49-F238E27FC236}">
                <a16:creationId xmlns:a16="http://schemas.microsoft.com/office/drawing/2014/main" id="{AB3479F3-67C8-4320-B520-E37B9EF64C4A}"/>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27F50F6D-1673-B1E2-99C6-0360AFC13E0B}"/>
              </a:ext>
            </a:extLst>
          </p:cNvPr>
          <p:cNvSpPr/>
          <p:nvPr/>
        </p:nvSpPr>
        <p:spPr>
          <a:xfrm>
            <a:off x="249172" y="143605"/>
            <a:ext cx="11706546"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Segunda versión de la jerarquía temporal. La clase NP.</a:t>
            </a:r>
          </a:p>
        </p:txBody>
      </p:sp>
      <p:sp>
        <p:nvSpPr>
          <p:cNvPr id="8" name="CuadroTexto 7">
            <a:extLst>
              <a:ext uri="{FF2B5EF4-FFF2-40B4-BE49-F238E27FC236}">
                <a16:creationId xmlns:a16="http://schemas.microsoft.com/office/drawing/2014/main" id="{E47BE99A-5A42-7DC9-A580-6EA6850F535D}"/>
              </a:ext>
            </a:extLst>
          </p:cNvPr>
          <p:cNvSpPr txBox="1"/>
          <p:nvPr/>
        </p:nvSpPr>
        <p:spPr>
          <a:xfrm>
            <a:off x="456855" y="2718597"/>
            <a:ext cx="2202734" cy="584775"/>
          </a:xfrm>
          <a:prstGeom prst="rect">
            <a:avLst/>
          </a:prstGeom>
          <a:noFill/>
        </p:spPr>
        <p:txBody>
          <a:bodyPr wrap="square">
            <a:spAutoFit/>
          </a:bodyPr>
          <a:lstStyle/>
          <a:p>
            <a:pPr algn="just"/>
            <a:r>
              <a:rPr lang="es-AR" sz="1600" dirty="0">
                <a:latin typeface="Arial" panose="020B0604020202020204" pitchFamily="34" charset="0"/>
                <a:cs typeface="Arial" panose="020B0604020202020204" pitchFamily="34" charset="0"/>
              </a:rPr>
              <a:t>Lenguajes </a:t>
            </a:r>
            <a:r>
              <a:rPr lang="es-AR" sz="1600" dirty="0" err="1">
                <a:latin typeface="Arial" panose="020B0604020202020204" pitchFamily="34" charset="0"/>
                <a:cs typeface="Arial" panose="020B0604020202020204" pitchFamily="34" charset="0"/>
              </a:rPr>
              <a:t>decidibles</a:t>
            </a:r>
            <a:r>
              <a:rPr lang="es-AR" sz="1600" dirty="0">
                <a:latin typeface="Arial" panose="020B0604020202020204" pitchFamily="34" charset="0"/>
                <a:cs typeface="Arial" panose="020B0604020202020204" pitchFamily="34" charset="0"/>
              </a:rPr>
              <a:t> </a:t>
            </a:r>
          </a:p>
          <a:p>
            <a:pPr algn="just"/>
            <a:r>
              <a:rPr lang="es-AR" sz="1600" dirty="0">
                <a:latin typeface="Arial" panose="020B0604020202020204" pitchFamily="34" charset="0"/>
                <a:cs typeface="Arial" panose="020B0604020202020204" pitchFamily="34" charset="0"/>
              </a:rPr>
              <a:t>en tiempo </a:t>
            </a:r>
            <a:r>
              <a:rPr lang="es-AR" sz="1600" dirty="0" err="1">
                <a:latin typeface="Arial" panose="020B0604020202020204" pitchFamily="34" charset="0"/>
                <a:cs typeface="Arial" panose="020B0604020202020204" pitchFamily="34" charset="0"/>
              </a:rPr>
              <a:t>poly</a:t>
            </a:r>
            <a:r>
              <a:rPr lang="es-AR" sz="1600" dirty="0">
                <a:latin typeface="Arial" panose="020B0604020202020204" pitchFamily="34" charset="0"/>
                <a:cs typeface="Arial" panose="020B0604020202020204" pitchFamily="34" charset="0"/>
              </a:rPr>
              <a:t>(n)</a:t>
            </a:r>
          </a:p>
        </p:txBody>
      </p:sp>
      <p:sp>
        <p:nvSpPr>
          <p:cNvPr id="11" name="CuadroTexto 10">
            <a:extLst>
              <a:ext uri="{FF2B5EF4-FFF2-40B4-BE49-F238E27FC236}">
                <a16:creationId xmlns:a16="http://schemas.microsoft.com/office/drawing/2014/main" id="{14682E2B-CA76-FCBD-C7CD-BDC5372EDE3F}"/>
              </a:ext>
            </a:extLst>
          </p:cNvPr>
          <p:cNvSpPr txBox="1"/>
          <p:nvPr/>
        </p:nvSpPr>
        <p:spPr>
          <a:xfrm>
            <a:off x="456855" y="1804399"/>
            <a:ext cx="2339416" cy="584775"/>
          </a:xfrm>
          <a:prstGeom prst="rect">
            <a:avLst/>
          </a:prstGeom>
          <a:noFill/>
        </p:spPr>
        <p:txBody>
          <a:bodyPr wrap="square">
            <a:spAutoFit/>
          </a:bodyPr>
          <a:lstStyle/>
          <a:p>
            <a:pPr algn="just"/>
            <a:r>
              <a:rPr lang="es-AR" sz="1600" dirty="0">
                <a:latin typeface="Arial" panose="020B0604020202020204" pitchFamily="34" charset="0"/>
                <a:cs typeface="Arial" panose="020B0604020202020204" pitchFamily="34" charset="0"/>
              </a:rPr>
              <a:t>Lenguajes verificables</a:t>
            </a:r>
          </a:p>
          <a:p>
            <a:pPr algn="just"/>
            <a:r>
              <a:rPr lang="es-AR" sz="1600" dirty="0">
                <a:latin typeface="Arial" panose="020B0604020202020204" pitchFamily="34" charset="0"/>
                <a:cs typeface="Arial" panose="020B0604020202020204" pitchFamily="34" charset="0"/>
              </a:rPr>
              <a:t>en tiempo </a:t>
            </a:r>
            <a:r>
              <a:rPr lang="es-AR" sz="1600" dirty="0" err="1">
                <a:latin typeface="Arial" panose="020B0604020202020204" pitchFamily="34" charset="0"/>
                <a:cs typeface="Arial" panose="020B0604020202020204" pitchFamily="34" charset="0"/>
              </a:rPr>
              <a:t>poly</a:t>
            </a:r>
            <a:r>
              <a:rPr lang="es-AR" sz="1600" dirty="0">
                <a:latin typeface="Arial" panose="020B0604020202020204" pitchFamily="34" charset="0"/>
                <a:cs typeface="Arial" panose="020B0604020202020204" pitchFamily="34" charset="0"/>
              </a:rPr>
              <a:t>(n)</a:t>
            </a:r>
          </a:p>
        </p:txBody>
      </p:sp>
      <p:cxnSp>
        <p:nvCxnSpPr>
          <p:cNvPr id="14" name="Conector recto de flecha 13">
            <a:extLst>
              <a:ext uri="{FF2B5EF4-FFF2-40B4-BE49-F238E27FC236}">
                <a16:creationId xmlns:a16="http://schemas.microsoft.com/office/drawing/2014/main" id="{28798604-323E-A536-66C1-C36D012F0F5E}"/>
              </a:ext>
            </a:extLst>
          </p:cNvPr>
          <p:cNvCxnSpPr>
            <a:cxnSpLocks/>
          </p:cNvCxnSpPr>
          <p:nvPr/>
        </p:nvCxnSpPr>
        <p:spPr>
          <a:xfrm flipH="1">
            <a:off x="2699109" y="2155519"/>
            <a:ext cx="127010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F227497-D1BC-D3A5-C4FA-DEA2EDACF7AD}"/>
              </a:ext>
            </a:extLst>
          </p:cNvPr>
          <p:cNvCxnSpPr>
            <a:cxnSpLocks/>
            <a:endCxn id="8" idx="3"/>
          </p:cNvCxnSpPr>
          <p:nvPr/>
        </p:nvCxnSpPr>
        <p:spPr>
          <a:xfrm flipH="1">
            <a:off x="2659589" y="3010985"/>
            <a:ext cx="13159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D511E744-4771-454B-7725-0220428F38B2}"/>
              </a:ext>
            </a:extLst>
          </p:cNvPr>
          <p:cNvSpPr/>
          <p:nvPr/>
        </p:nvSpPr>
        <p:spPr>
          <a:xfrm>
            <a:off x="4062821" y="2795542"/>
            <a:ext cx="372218"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P</a:t>
            </a:r>
            <a:endParaRPr lang="es-MX" sz="2200" dirty="0"/>
          </a:p>
        </p:txBody>
      </p:sp>
      <p:sp>
        <p:nvSpPr>
          <p:cNvPr id="18" name="Rectángulo 17">
            <a:extLst>
              <a:ext uri="{FF2B5EF4-FFF2-40B4-BE49-F238E27FC236}">
                <a16:creationId xmlns:a16="http://schemas.microsoft.com/office/drawing/2014/main" id="{6A3950C6-6B55-A6C6-4C71-734B8825F2DA}"/>
              </a:ext>
            </a:extLst>
          </p:cNvPr>
          <p:cNvSpPr/>
          <p:nvPr/>
        </p:nvSpPr>
        <p:spPr>
          <a:xfrm>
            <a:off x="9897150" y="3815993"/>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20" name="Rectángulo 19">
            <a:extLst>
              <a:ext uri="{FF2B5EF4-FFF2-40B4-BE49-F238E27FC236}">
                <a16:creationId xmlns:a16="http://schemas.microsoft.com/office/drawing/2014/main" id="{2BD47D33-B0F4-11C4-E926-9CFC815E5DA1}"/>
              </a:ext>
            </a:extLst>
          </p:cNvPr>
          <p:cNvSpPr/>
          <p:nvPr/>
        </p:nvSpPr>
        <p:spPr>
          <a:xfrm>
            <a:off x="9832266" y="2830518"/>
            <a:ext cx="36420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sí</a:t>
            </a:r>
            <a:endParaRPr lang="es-MX" dirty="0"/>
          </a:p>
        </p:txBody>
      </p:sp>
      <p:sp>
        <p:nvSpPr>
          <p:cNvPr id="21" name="Rectángulo 20">
            <a:extLst>
              <a:ext uri="{FF2B5EF4-FFF2-40B4-BE49-F238E27FC236}">
                <a16:creationId xmlns:a16="http://schemas.microsoft.com/office/drawing/2014/main" id="{673EE983-9ED3-109F-B261-EDC78CEC413D}"/>
              </a:ext>
            </a:extLst>
          </p:cNvPr>
          <p:cNvSpPr/>
          <p:nvPr/>
        </p:nvSpPr>
        <p:spPr>
          <a:xfrm>
            <a:off x="7879275" y="3184193"/>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2" name="Conector recto de flecha 21">
            <a:extLst>
              <a:ext uri="{FF2B5EF4-FFF2-40B4-BE49-F238E27FC236}">
                <a16:creationId xmlns:a16="http://schemas.microsoft.com/office/drawing/2014/main" id="{25F60F88-9B10-7D41-A883-744832C6C0DB}"/>
              </a:ext>
            </a:extLst>
          </p:cNvPr>
          <p:cNvCxnSpPr>
            <a:cxnSpLocks/>
          </p:cNvCxnSpPr>
          <p:nvPr/>
        </p:nvCxnSpPr>
        <p:spPr>
          <a:xfrm>
            <a:off x="6748121" y="3648190"/>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141BEDE4-5016-8055-924E-039568FC6184}"/>
              </a:ext>
            </a:extLst>
          </p:cNvPr>
          <p:cNvCxnSpPr>
            <a:cxnSpLocks/>
          </p:cNvCxnSpPr>
          <p:nvPr/>
        </p:nvCxnSpPr>
        <p:spPr>
          <a:xfrm>
            <a:off x="8793675" y="3672253"/>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ítulo 1">
            <a:extLst>
              <a:ext uri="{FF2B5EF4-FFF2-40B4-BE49-F238E27FC236}">
                <a16:creationId xmlns:a16="http://schemas.microsoft.com/office/drawing/2014/main" id="{E1F811B0-2201-FE83-FBCB-0E2BCDF86A8C}"/>
              </a:ext>
            </a:extLst>
          </p:cNvPr>
          <p:cNvSpPr txBox="1">
            <a:spLocks/>
          </p:cNvSpPr>
          <p:nvPr/>
        </p:nvSpPr>
        <p:spPr>
          <a:xfrm>
            <a:off x="6943949" y="3344625"/>
            <a:ext cx="1255362" cy="304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latin typeface="Arial" panose="020B0604020202020204" pitchFamily="34" charset="0"/>
                <a:cs typeface="Arial" panose="020B0604020202020204" pitchFamily="34" charset="0"/>
              </a:rPr>
              <a:t>(w, x)</a:t>
            </a:r>
          </a:p>
        </p:txBody>
      </p:sp>
      <p:cxnSp>
        <p:nvCxnSpPr>
          <p:cNvPr id="25" name="Conector recto de flecha 24">
            <a:extLst>
              <a:ext uri="{FF2B5EF4-FFF2-40B4-BE49-F238E27FC236}">
                <a16:creationId xmlns:a16="http://schemas.microsoft.com/office/drawing/2014/main" id="{2C249BAF-C3CC-C075-65D2-F35F5429FACD}"/>
              </a:ext>
            </a:extLst>
          </p:cNvPr>
          <p:cNvCxnSpPr>
            <a:cxnSpLocks/>
          </p:cNvCxnSpPr>
          <p:nvPr/>
        </p:nvCxnSpPr>
        <p:spPr>
          <a:xfrm flipV="1">
            <a:off x="8796584" y="3003441"/>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ítulo 1">
            <a:extLst>
              <a:ext uri="{FF2B5EF4-FFF2-40B4-BE49-F238E27FC236}">
                <a16:creationId xmlns:a16="http://schemas.microsoft.com/office/drawing/2014/main" id="{78C1775D-8BE6-6143-8012-EC6EC69C72AF}"/>
              </a:ext>
            </a:extLst>
          </p:cNvPr>
          <p:cNvSpPr txBox="1">
            <a:spLocks/>
          </p:cNvSpPr>
          <p:nvPr/>
        </p:nvSpPr>
        <p:spPr>
          <a:xfrm>
            <a:off x="8122479" y="3475451"/>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8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800" dirty="0">
              <a:latin typeface="Arial" panose="020B0604020202020204" pitchFamily="34" charset="0"/>
              <a:cs typeface="Arial" panose="020B0604020202020204" pitchFamily="34" charset="0"/>
            </a:endParaRPr>
          </a:p>
        </p:txBody>
      </p:sp>
      <p:sp>
        <p:nvSpPr>
          <p:cNvPr id="28" name="CuadroTexto 27">
            <a:extLst>
              <a:ext uri="{FF2B5EF4-FFF2-40B4-BE49-F238E27FC236}">
                <a16:creationId xmlns:a16="http://schemas.microsoft.com/office/drawing/2014/main" id="{0ED97744-014F-80BE-DBB6-D19BC427F8DB}"/>
              </a:ext>
            </a:extLst>
          </p:cNvPr>
          <p:cNvSpPr txBox="1"/>
          <p:nvPr/>
        </p:nvSpPr>
        <p:spPr>
          <a:xfrm>
            <a:off x="5812865" y="4959059"/>
            <a:ext cx="6142853" cy="646331"/>
          </a:xfrm>
          <a:prstGeom prst="rect">
            <a:avLst/>
          </a:prstGeom>
          <a:noFill/>
        </p:spPr>
        <p:txBody>
          <a:bodyPr wrap="square">
            <a:spAutoFit/>
          </a:bodyPr>
          <a:lstStyle/>
          <a:p>
            <a:pPr algn="just"/>
            <a:r>
              <a:rPr lang="es-AR" dirty="0">
                <a:latin typeface="Arial" panose="020B0604020202020204" pitchFamily="34" charset="0"/>
                <a:cs typeface="Arial" panose="020B0604020202020204" pitchFamily="34" charset="0"/>
              </a:rPr>
              <a:t>La MT M es un </a:t>
            </a:r>
            <a:r>
              <a:rPr lang="es-AR" b="1" dirty="0">
                <a:latin typeface="Arial" panose="020B0604020202020204" pitchFamily="34" charset="0"/>
                <a:cs typeface="Arial" panose="020B0604020202020204" pitchFamily="34" charset="0"/>
              </a:rPr>
              <a:t>verificador eficiente </a:t>
            </a:r>
            <a:r>
              <a:rPr lang="es-AR" dirty="0">
                <a:latin typeface="Arial" panose="020B0604020202020204" pitchFamily="34" charset="0"/>
                <a:cs typeface="Arial" panose="020B0604020202020204" pitchFamily="34" charset="0"/>
              </a:rPr>
              <a:t>de L.</a:t>
            </a:r>
          </a:p>
          <a:p>
            <a:pPr algn="just"/>
            <a:r>
              <a:rPr lang="es-AR" dirty="0">
                <a:latin typeface="Arial" panose="020B0604020202020204" pitchFamily="34" charset="0"/>
                <a:cs typeface="Arial" panose="020B0604020202020204" pitchFamily="34" charset="0"/>
              </a:rPr>
              <a:t>x es un </a:t>
            </a:r>
            <a:r>
              <a:rPr lang="es-AR" b="1" dirty="0">
                <a:latin typeface="Arial" panose="020B0604020202020204" pitchFamily="34" charset="0"/>
                <a:cs typeface="Arial" panose="020B0604020202020204" pitchFamily="34" charset="0"/>
              </a:rPr>
              <a:t>certificado sucinto (o prueba sucinta) </a:t>
            </a:r>
            <a:r>
              <a:rPr lang="es-AR" dirty="0">
                <a:latin typeface="Arial" panose="020B0604020202020204" pitchFamily="34" charset="0"/>
                <a:cs typeface="Arial" panose="020B0604020202020204" pitchFamily="34" charset="0"/>
              </a:rPr>
              <a:t>de w. </a:t>
            </a:r>
          </a:p>
        </p:txBody>
      </p:sp>
      <p:sp>
        <p:nvSpPr>
          <p:cNvPr id="30" name="CuadroTexto 29">
            <a:extLst>
              <a:ext uri="{FF2B5EF4-FFF2-40B4-BE49-F238E27FC236}">
                <a16:creationId xmlns:a16="http://schemas.microsoft.com/office/drawing/2014/main" id="{30D7204F-4922-F5AC-468A-429B5F8E1D16}"/>
              </a:ext>
            </a:extLst>
          </p:cNvPr>
          <p:cNvSpPr txBox="1"/>
          <p:nvPr/>
        </p:nvSpPr>
        <p:spPr>
          <a:xfrm>
            <a:off x="7147137" y="4074153"/>
            <a:ext cx="4285934" cy="646331"/>
          </a:xfrm>
          <a:prstGeom prst="rect">
            <a:avLst/>
          </a:prstGeom>
          <a:noFill/>
        </p:spPr>
        <p:txBody>
          <a:bodyPr wrap="square">
            <a:spAutoFit/>
          </a:bodyPr>
          <a:lstStyle/>
          <a:p>
            <a:pPr algn="just"/>
            <a:r>
              <a:rPr lang="es-AR" dirty="0">
                <a:latin typeface="Arial" panose="020B0604020202020204" pitchFamily="34" charset="0"/>
                <a:cs typeface="Arial" panose="020B0604020202020204" pitchFamily="34" charset="0"/>
              </a:rPr>
              <a:t>M tarda tiempo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(|w|)</a:t>
            </a:r>
          </a:p>
          <a:p>
            <a:pPr algn="just"/>
            <a:r>
              <a:rPr lang="es-AR" dirty="0">
                <a:latin typeface="Arial" panose="020B0604020202020204" pitchFamily="34" charset="0"/>
                <a:cs typeface="Arial" panose="020B0604020202020204" pitchFamily="34" charset="0"/>
              </a:rPr>
              <a:t>|x| </a:t>
            </a: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 poly(</a:t>
            </a:r>
            <a:r>
              <a:rPr lang="es-AR" dirty="0">
                <a:latin typeface="Arial" panose="020B0604020202020204" pitchFamily="34" charset="0"/>
                <a:cs typeface="Arial" panose="020B0604020202020204" pitchFamily="34" charset="0"/>
              </a:rPr>
              <a:t>|w|)</a:t>
            </a:r>
            <a:r>
              <a:rPr lang="es-AR" b="1" dirty="0">
                <a:solidFill>
                  <a:srgbClr val="FF0000"/>
                </a:solidFill>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7F5E97E8-189F-CF08-8384-2575B03AB73D}"/>
              </a:ext>
            </a:extLst>
          </p:cNvPr>
          <p:cNvSpPr txBox="1"/>
          <p:nvPr/>
        </p:nvSpPr>
        <p:spPr>
          <a:xfrm>
            <a:off x="1879061" y="5836699"/>
            <a:ext cx="8459235" cy="369332"/>
          </a:xfrm>
          <a:prstGeom prst="rect">
            <a:avLst/>
          </a:prstGeom>
          <a:noFill/>
        </p:spPr>
        <p:txBody>
          <a:bodyPr wrap="square">
            <a:spAutoFit/>
          </a:bodyPr>
          <a:lstStyle/>
          <a:p>
            <a:pPr algn="just"/>
            <a:r>
              <a:rPr lang="es-AR" b="1" dirty="0">
                <a:latin typeface="Arial" panose="020B0604020202020204" pitchFamily="34" charset="0"/>
                <a:cs typeface="Arial" panose="020B0604020202020204" pitchFamily="34" charset="0"/>
              </a:rPr>
              <a:t>Aunque intuitivo, hasta hoy día no se ha encontrado una prueba de P </a:t>
            </a:r>
            <a:r>
              <a:rPr lang="es-AR" sz="1800" b="1" dirty="0">
                <a:effectLst/>
                <a:latin typeface="Arial" panose="020B0604020202020204" pitchFamily="34" charset="0"/>
                <a:ea typeface="Calibri" panose="020F0502020204030204" pitchFamily="34" charset="0"/>
              </a:rPr>
              <a:t>≠ NP.</a:t>
            </a:r>
            <a:endParaRPr lang="es-AR" dirty="0"/>
          </a:p>
        </p:txBody>
      </p:sp>
      <p:sp>
        <p:nvSpPr>
          <p:cNvPr id="13" name="Rectángulo 12">
            <a:extLst>
              <a:ext uri="{FF2B5EF4-FFF2-40B4-BE49-F238E27FC236}">
                <a16:creationId xmlns:a16="http://schemas.microsoft.com/office/drawing/2014/main" id="{C0757671-FB01-6072-D74D-381FC9B3C30E}"/>
              </a:ext>
            </a:extLst>
          </p:cNvPr>
          <p:cNvSpPr/>
          <p:nvPr/>
        </p:nvSpPr>
        <p:spPr>
          <a:xfrm>
            <a:off x="5664678" y="1180571"/>
            <a:ext cx="6527322" cy="1631216"/>
          </a:xfrm>
          <a:prstGeom prst="rect">
            <a:avLst/>
          </a:prstGeom>
        </p:spPr>
        <p:txBody>
          <a:bodyPr wrap="square">
            <a:spAutoFit/>
          </a:bodyPr>
          <a:lstStyle/>
          <a:p>
            <a:r>
              <a:rPr lang="es-AR" dirty="0">
                <a:latin typeface="Arial" panose="020B0604020202020204" pitchFamily="34" charset="0"/>
                <a:cs typeface="Arial" panose="020B0604020202020204" pitchFamily="34" charset="0"/>
              </a:rPr>
              <a:t>Un lenguaje L está en </a:t>
            </a:r>
            <a:r>
              <a:rPr lang="es-AR" b="1" dirty="0">
                <a:latin typeface="Arial" panose="020B0604020202020204" pitchFamily="34" charset="0"/>
                <a:cs typeface="Arial" panose="020B0604020202020204" pitchFamily="34" charset="0"/>
              </a:rPr>
              <a:t>NP</a:t>
            </a:r>
            <a:r>
              <a:rPr lang="es-AR" dirty="0">
                <a:latin typeface="Arial" panose="020B0604020202020204" pitchFamily="34" charset="0"/>
                <a:cs typeface="Arial" panose="020B0604020202020204" pitchFamily="34" charset="0"/>
              </a:rPr>
              <a:t> si existe una MT M tal que: </a:t>
            </a:r>
          </a:p>
          <a:p>
            <a:r>
              <a:rPr lang="es-AR" dirty="0">
                <a:latin typeface="Arial" panose="020B0604020202020204" pitchFamily="34" charset="0"/>
                <a:cs typeface="Arial" panose="020B0604020202020204" pitchFamily="34" charset="0"/>
              </a:rPr>
              <a:t>w </a:t>
            </a:r>
            <a:r>
              <a:rPr lang="es-AR" dirty="0"/>
              <a:t>∈</a:t>
            </a:r>
            <a:r>
              <a:rPr lang="es-AR" dirty="0">
                <a:latin typeface="Arial" panose="020B0604020202020204" pitchFamily="34" charset="0"/>
                <a:cs typeface="Arial" panose="020B0604020202020204" pitchFamily="34" charset="0"/>
              </a:rPr>
              <a:t> L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existe x tal que M acepta (w, x) en tiempo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(n).</a:t>
            </a:r>
          </a:p>
          <a:p>
            <a:endParaRPr lang="es-AR" sz="10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En otras palabras: toda cadena w de L cuenta con un </a:t>
            </a:r>
            <a:r>
              <a:rPr lang="es-AR" b="1" dirty="0">
                <a:latin typeface="Arial" panose="020B0604020202020204" pitchFamily="34" charset="0"/>
                <a:cs typeface="Arial" panose="020B0604020202020204" pitchFamily="34" charset="0"/>
              </a:rPr>
              <a:t>certificado </a:t>
            </a:r>
            <a:r>
              <a:rPr lang="es-AR" dirty="0">
                <a:latin typeface="Arial" panose="020B0604020202020204" pitchFamily="34" charset="0"/>
                <a:cs typeface="Arial" panose="020B0604020202020204" pitchFamily="34" charset="0"/>
              </a:rPr>
              <a:t>o </a:t>
            </a:r>
            <a:r>
              <a:rPr lang="es-AR" b="1" dirty="0">
                <a:latin typeface="Arial" panose="020B0604020202020204" pitchFamily="34" charset="0"/>
                <a:cs typeface="Arial" panose="020B0604020202020204" pitchFamily="34" charset="0"/>
              </a:rPr>
              <a:t>prueba</a:t>
            </a:r>
            <a:r>
              <a:rPr lang="es-AR" dirty="0">
                <a:latin typeface="Arial" panose="020B0604020202020204" pitchFamily="34" charset="0"/>
                <a:cs typeface="Arial" panose="020B0604020202020204" pitchFamily="34" charset="0"/>
              </a:rPr>
              <a:t> x que permite verificar </a:t>
            </a:r>
            <a:r>
              <a:rPr lang="es-AR" b="1" dirty="0">
                <a:latin typeface="Arial" panose="020B0604020202020204" pitchFamily="34" charset="0"/>
                <a:cs typeface="Arial" panose="020B0604020202020204" pitchFamily="34" charset="0"/>
              </a:rPr>
              <a:t>eficientemente </a:t>
            </a:r>
            <a:r>
              <a:rPr lang="es-AR" dirty="0">
                <a:latin typeface="Arial" panose="020B0604020202020204" pitchFamily="34" charset="0"/>
                <a:cs typeface="Arial" panose="020B0604020202020204" pitchFamily="34" charset="0"/>
              </a:rPr>
              <a:t>que pertenece a L. </a:t>
            </a:r>
          </a:p>
        </p:txBody>
      </p:sp>
      <p:sp>
        <p:nvSpPr>
          <p:cNvPr id="9" name="CuadroTexto 8">
            <a:extLst>
              <a:ext uri="{FF2B5EF4-FFF2-40B4-BE49-F238E27FC236}">
                <a16:creationId xmlns:a16="http://schemas.microsoft.com/office/drawing/2014/main" id="{6E516AFE-370B-763E-9D31-B3595B4BC9B2}"/>
              </a:ext>
            </a:extLst>
          </p:cNvPr>
          <p:cNvSpPr txBox="1"/>
          <p:nvPr/>
        </p:nvSpPr>
        <p:spPr>
          <a:xfrm>
            <a:off x="3100284" y="4268897"/>
            <a:ext cx="2650179" cy="369332"/>
          </a:xfrm>
          <a:prstGeom prst="rect">
            <a:avLst/>
          </a:prstGeom>
          <a:noFill/>
        </p:spPr>
        <p:txBody>
          <a:bodyPr wrap="square">
            <a:spAutoFit/>
          </a:bodyPr>
          <a:lstStyle/>
          <a:p>
            <a:pPr algn="just"/>
            <a:r>
              <a:rPr lang="es-AR" sz="1800" b="1" dirty="0">
                <a:solidFill>
                  <a:srgbClr val="FF0000"/>
                </a:solidFill>
                <a:latin typeface="Arial" panose="020B0604020202020204" pitchFamily="34" charset="0"/>
                <a:cs typeface="Arial" panose="020B0604020202020204" pitchFamily="34" charset="0"/>
              </a:rPr>
              <a:t>Asumiendo</a:t>
            </a:r>
            <a:r>
              <a:rPr lang="es-AR" b="1" dirty="0">
                <a:solidFill>
                  <a:srgbClr val="FF0000"/>
                </a:solidFill>
                <a:latin typeface="Arial" panose="020B0604020202020204" pitchFamily="34" charset="0"/>
                <a:cs typeface="Arial" panose="020B0604020202020204" pitchFamily="34" charset="0"/>
              </a:rPr>
              <a:t> P </a:t>
            </a:r>
            <a:r>
              <a:rPr lang="es-AR" sz="1800" b="1" dirty="0">
                <a:solidFill>
                  <a:srgbClr val="FF0000"/>
                </a:solidFill>
                <a:effectLst/>
                <a:latin typeface="Arial" panose="020B0604020202020204" pitchFamily="34" charset="0"/>
                <a:ea typeface="Calibri" panose="020F0502020204030204" pitchFamily="34" charset="0"/>
              </a:rPr>
              <a:t>≠ NP</a:t>
            </a:r>
            <a:r>
              <a:rPr lang="es-AR" sz="1800" b="1" dirty="0">
                <a:solidFill>
                  <a:srgbClr val="FF0000"/>
                </a:solidFill>
                <a:latin typeface="Arial" panose="020B0604020202020204" pitchFamily="34" charset="0"/>
                <a:cs typeface="Arial" panose="020B0604020202020204" pitchFamily="34" charset="0"/>
              </a:rPr>
              <a:t> </a:t>
            </a:r>
          </a:p>
        </p:txBody>
      </p:sp>
      <p:sp>
        <p:nvSpPr>
          <p:cNvPr id="27" name="CuadroTexto 26">
            <a:extLst>
              <a:ext uri="{FF2B5EF4-FFF2-40B4-BE49-F238E27FC236}">
                <a16:creationId xmlns:a16="http://schemas.microsoft.com/office/drawing/2014/main" id="{74AEA446-6A3D-B6E5-C1AD-9EF2E5D10838}"/>
              </a:ext>
            </a:extLst>
          </p:cNvPr>
          <p:cNvSpPr txBox="1"/>
          <p:nvPr/>
        </p:nvSpPr>
        <p:spPr>
          <a:xfrm>
            <a:off x="3100284" y="4527065"/>
            <a:ext cx="2650179" cy="369332"/>
          </a:xfrm>
          <a:prstGeom prst="rect">
            <a:avLst/>
          </a:prstGeom>
          <a:noFill/>
        </p:spPr>
        <p:txBody>
          <a:bodyPr wrap="square">
            <a:spAutoFit/>
          </a:bodyPr>
          <a:lstStyle/>
          <a:p>
            <a:pPr algn="just"/>
            <a:r>
              <a:rPr lang="es-AR" sz="1800" b="1" dirty="0">
                <a:solidFill>
                  <a:srgbClr val="FF0000"/>
                </a:solidFill>
                <a:latin typeface="Arial" panose="020B0604020202020204" pitchFamily="34" charset="0"/>
                <a:cs typeface="Arial" panose="020B0604020202020204" pitchFamily="34" charset="0"/>
              </a:rPr>
              <a:t>Asumiendo</a:t>
            </a:r>
            <a:r>
              <a:rPr lang="es-AR" b="1" dirty="0">
                <a:solidFill>
                  <a:srgbClr val="FF0000"/>
                </a:solidFill>
                <a:latin typeface="Arial" panose="020B0604020202020204" pitchFamily="34" charset="0"/>
                <a:cs typeface="Arial" panose="020B0604020202020204" pitchFamily="34" charset="0"/>
              </a:rPr>
              <a:t> NP </a:t>
            </a:r>
            <a:r>
              <a:rPr lang="es-AR" sz="1800" b="1" dirty="0">
                <a:solidFill>
                  <a:srgbClr val="FF0000"/>
                </a:solidFill>
                <a:effectLst/>
                <a:latin typeface="Arial" panose="020B0604020202020204" pitchFamily="34" charset="0"/>
                <a:ea typeface="Calibri" panose="020F0502020204030204" pitchFamily="34" charset="0"/>
              </a:rPr>
              <a:t>≠ EXP</a:t>
            </a:r>
            <a:r>
              <a:rPr lang="es-AR" sz="1800" b="1" dirty="0">
                <a:solidFill>
                  <a:srgbClr val="FF0000"/>
                </a:solidFill>
                <a:latin typeface="Arial" panose="020B0604020202020204" pitchFamily="34" charset="0"/>
                <a:cs typeface="Arial" panose="020B0604020202020204" pitchFamily="34" charset="0"/>
              </a:rPr>
              <a:t> </a:t>
            </a:r>
          </a:p>
        </p:txBody>
      </p:sp>
      <p:sp>
        <p:nvSpPr>
          <p:cNvPr id="32" name="Rectángulo 31">
            <a:extLst>
              <a:ext uri="{FF2B5EF4-FFF2-40B4-BE49-F238E27FC236}">
                <a16:creationId xmlns:a16="http://schemas.microsoft.com/office/drawing/2014/main" id="{914CF3F0-8046-DC89-4AF6-F25B01FE7160}"/>
              </a:ext>
            </a:extLst>
          </p:cNvPr>
          <p:cNvSpPr/>
          <p:nvPr/>
        </p:nvSpPr>
        <p:spPr>
          <a:xfrm>
            <a:off x="3969211" y="1924736"/>
            <a:ext cx="575799"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a:t>
            </a:r>
            <a:endParaRPr lang="es-MX" sz="2200" dirty="0"/>
          </a:p>
        </p:txBody>
      </p:sp>
    </p:spTree>
    <p:extLst>
      <p:ext uri="{BB962C8B-B14F-4D97-AF65-F5344CB8AC3E}">
        <p14:creationId xmlns:p14="http://schemas.microsoft.com/office/powerpoint/2010/main" val="2276517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32141F60-5FFF-463D-B251-C64B1C99DCAB}"/>
              </a:ext>
            </a:extLst>
          </p:cNvPr>
          <p:cNvSpPr/>
          <p:nvPr/>
        </p:nvSpPr>
        <p:spPr>
          <a:xfrm>
            <a:off x="224338" y="270931"/>
            <a:ext cx="11967661" cy="3093154"/>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Ejemplos de lenguajes en NP</a:t>
            </a:r>
          </a:p>
          <a:p>
            <a:pPr algn="just"/>
            <a:endParaRPr lang="es-AR"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AR" b="1" dirty="0">
                <a:latin typeface="Arial" panose="020B0604020202020204" pitchFamily="34" charset="0"/>
                <a:cs typeface="Arial" panose="020B0604020202020204" pitchFamily="34" charset="0"/>
              </a:rPr>
              <a:t>SAT = {φ | φ es una fórmula booleana sin cuantificadores, con m variables, y es </a:t>
            </a:r>
            <a:r>
              <a:rPr lang="es-AR" b="1" dirty="0" err="1">
                <a:latin typeface="Arial" panose="020B0604020202020204" pitchFamily="34" charset="0"/>
                <a:cs typeface="Arial" panose="020B0604020202020204" pitchFamily="34" charset="0"/>
              </a:rPr>
              <a:t>satisfactible</a:t>
            </a:r>
            <a:r>
              <a:rPr lang="es-AR" b="1" dirty="0">
                <a:latin typeface="Arial" panose="020B0604020202020204" pitchFamily="34" charset="0"/>
                <a:cs typeface="Arial" panose="020B0604020202020204" pitchFamily="34" charset="0"/>
              </a:rPr>
              <a:t>} </a:t>
            </a:r>
          </a:p>
          <a:p>
            <a:pPr algn="just"/>
            <a:endParaRPr lang="es-AR" sz="9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sz="1800" b="1" dirty="0">
                <a:latin typeface="Arial" panose="020B0604020202020204" pitchFamily="34" charset="0"/>
                <a:cs typeface="Arial" panose="020B0604020202020204" pitchFamily="34" charset="0"/>
              </a:rPr>
              <a:t>SAT no estaría en P: </a:t>
            </a:r>
          </a:p>
          <a:p>
            <a:r>
              <a:rPr lang="es-AR" dirty="0">
                <a:latin typeface="Arial" panose="020B0604020202020204" pitchFamily="34" charset="0"/>
                <a:cs typeface="Arial" panose="020B0604020202020204" pitchFamily="34" charset="0"/>
              </a:rPr>
              <a:t>     </a:t>
            </a:r>
            <a:r>
              <a:rPr lang="es-AR" sz="1800" dirty="0">
                <a:latin typeface="Arial" panose="020B0604020202020204" pitchFamily="34" charset="0"/>
                <a:cs typeface="Arial" panose="020B0604020202020204" pitchFamily="34" charset="0"/>
              </a:rPr>
              <a:t>Si </a:t>
            </a:r>
            <a:r>
              <a:rPr lang="es-AR" dirty="0">
                <a:latin typeface="Arial" panose="020B0604020202020204" pitchFamily="34" charset="0"/>
                <a:cs typeface="Arial" panose="020B0604020202020204" pitchFamily="34" charset="0"/>
              </a:rPr>
              <a:t>φ tiene m variables, hay </a:t>
            </a:r>
            <a:r>
              <a:rPr lang="es-AR" sz="1800" dirty="0">
                <a:latin typeface="Arial" panose="020B0604020202020204" pitchFamily="34" charset="0"/>
                <a:cs typeface="Arial" panose="020B0604020202020204" pitchFamily="34" charset="0"/>
                <a:sym typeface="Symbol" panose="05050102010706020507" pitchFamily="18" charset="2"/>
              </a:rPr>
              <a:t>2</a:t>
            </a:r>
            <a:r>
              <a:rPr lang="es-AR" sz="1800" baseline="30000" dirty="0">
                <a:latin typeface="Arial" panose="020B0604020202020204" pitchFamily="34" charset="0"/>
                <a:cs typeface="Arial" panose="020B0604020202020204" pitchFamily="34" charset="0"/>
              </a:rPr>
              <a:t>m</a:t>
            </a:r>
            <a:r>
              <a:rPr lang="es-AR" sz="1800" dirty="0">
                <a:latin typeface="Arial" panose="020B0604020202020204" pitchFamily="34" charset="0"/>
                <a:cs typeface="Arial" panose="020B0604020202020204" pitchFamily="34" charset="0"/>
                <a:sym typeface="Symbol" panose="05050102010706020507" pitchFamily="18" charset="2"/>
              </a:rPr>
              <a:t> asignaciones A para chequear.</a:t>
            </a:r>
          </a:p>
          <a:p>
            <a:endParaRPr lang="es-AR" sz="900" b="1" dirty="0">
              <a:latin typeface="Arial" panose="020B0604020202020204" pitchFamily="34" charset="0"/>
              <a:cs typeface="Arial" panose="020B0604020202020204" pitchFamily="34" charset="0"/>
              <a:sym typeface="Symbol" panose="05050102010706020507" pitchFamily="18" charset="2"/>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SAT está en NP:     </a:t>
            </a:r>
          </a:p>
          <a:p>
            <a:r>
              <a:rPr lang="es-AR" dirty="0">
                <a:latin typeface="Arial" panose="020B0604020202020204" pitchFamily="34" charset="0"/>
                <a:cs typeface="Arial" panose="020B0604020202020204" pitchFamily="34" charset="0"/>
              </a:rPr>
              <a:t>     Dada una fórmula booleana φ y una asignación A, </a:t>
            </a:r>
          </a:p>
          <a:p>
            <a:r>
              <a:rPr lang="es-AR" dirty="0">
                <a:latin typeface="Arial" panose="020B0604020202020204" pitchFamily="34" charset="0"/>
                <a:cs typeface="Arial" panose="020B0604020202020204" pitchFamily="34" charset="0"/>
              </a:rPr>
              <a:t>     se puede</a:t>
            </a:r>
            <a:r>
              <a:rPr lang="es-AR" b="1" dirty="0">
                <a:latin typeface="Arial" panose="020B0604020202020204" pitchFamily="34" charset="0"/>
                <a:cs typeface="Arial" panose="020B0604020202020204" pitchFamily="34" charset="0"/>
              </a:rPr>
              <a:t> verificar en tiempo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(n) </a:t>
            </a:r>
            <a:r>
              <a:rPr lang="es-AR" dirty="0">
                <a:latin typeface="Arial" panose="020B0604020202020204" pitchFamily="34" charset="0"/>
                <a:cs typeface="Arial" panose="020B0604020202020204" pitchFamily="34" charset="0"/>
              </a:rPr>
              <a:t>si A satisface φ. </a:t>
            </a:r>
          </a:p>
          <a:p>
            <a:endParaRPr lang="es-AR" sz="9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SAT</a:t>
            </a:r>
            <a:r>
              <a:rPr lang="es-AR" sz="1800" b="1" baseline="30000" dirty="0">
                <a:latin typeface="Arial" panose="020B0604020202020204" pitchFamily="34" charset="0"/>
                <a:cs typeface="Arial" panose="020B0604020202020204" pitchFamily="34" charset="0"/>
              </a:rPr>
              <a:t>C</a:t>
            </a:r>
            <a:r>
              <a:rPr lang="es-AR" b="1" dirty="0">
                <a:latin typeface="Arial" panose="020B0604020202020204" pitchFamily="34" charset="0"/>
                <a:cs typeface="Arial" panose="020B0604020202020204" pitchFamily="34" charset="0"/>
              </a:rPr>
              <a:t> no estaría en NP: </a:t>
            </a:r>
            <a:r>
              <a:rPr lang="es-AR" dirty="0">
                <a:latin typeface="Arial" panose="020B0604020202020204" pitchFamily="34" charset="0"/>
                <a:cs typeface="Arial" panose="020B0604020202020204" pitchFamily="34" charset="0"/>
              </a:rPr>
              <a:t>para verificar si φ no es </a:t>
            </a:r>
            <a:r>
              <a:rPr lang="es-AR"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hay que chequear </a:t>
            </a:r>
            <a:r>
              <a:rPr lang="es-AR" sz="1800" dirty="0">
                <a:latin typeface="Arial" panose="020B0604020202020204" pitchFamily="34" charset="0"/>
                <a:cs typeface="Arial" panose="020B0604020202020204" pitchFamily="34" charset="0"/>
                <a:sym typeface="Symbol" panose="05050102010706020507" pitchFamily="18" charset="2"/>
              </a:rPr>
              <a:t>2</a:t>
            </a:r>
            <a:r>
              <a:rPr lang="es-AR" sz="1800" baseline="30000" dirty="0">
                <a:latin typeface="Arial" panose="020B0604020202020204" pitchFamily="34" charset="0"/>
                <a:cs typeface="Arial" panose="020B0604020202020204" pitchFamily="34" charset="0"/>
              </a:rPr>
              <a:t>m</a:t>
            </a:r>
            <a:r>
              <a:rPr lang="es-AR" sz="1800" dirty="0">
                <a:latin typeface="Arial" panose="020B0604020202020204" pitchFamily="34" charset="0"/>
                <a:cs typeface="Arial" panose="020B0604020202020204" pitchFamily="34" charset="0"/>
                <a:sym typeface="Symbol" panose="05050102010706020507" pitchFamily="18" charset="2"/>
              </a:rPr>
              <a:t> asignaciones.</a:t>
            </a:r>
          </a:p>
        </p:txBody>
      </p:sp>
      <p:sp>
        <p:nvSpPr>
          <p:cNvPr id="60" name="Slide Number Placeholder 2">
            <a:extLst>
              <a:ext uri="{FF2B5EF4-FFF2-40B4-BE49-F238E27FC236}">
                <a16:creationId xmlns:a16="http://schemas.microsoft.com/office/drawing/2014/main" id="{D4778436-7A66-4E95-AE99-3AD9B970F3B2}"/>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 name="Rectángulo 3">
            <a:extLst>
              <a:ext uri="{FF2B5EF4-FFF2-40B4-BE49-F238E27FC236}">
                <a16:creationId xmlns:a16="http://schemas.microsoft.com/office/drawing/2014/main" id="{490E2948-A5BC-552A-CD0F-212A7487E743}"/>
              </a:ext>
            </a:extLst>
          </p:cNvPr>
          <p:cNvSpPr/>
          <p:nvPr/>
        </p:nvSpPr>
        <p:spPr>
          <a:xfrm>
            <a:off x="11348198" y="2250920"/>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5" name="Rectángulo 4">
            <a:extLst>
              <a:ext uri="{FF2B5EF4-FFF2-40B4-BE49-F238E27FC236}">
                <a16:creationId xmlns:a16="http://schemas.microsoft.com/office/drawing/2014/main" id="{7EC0933E-5218-0F71-E9EB-6775B3D53A10}"/>
              </a:ext>
            </a:extLst>
          </p:cNvPr>
          <p:cNvSpPr/>
          <p:nvPr/>
        </p:nvSpPr>
        <p:spPr>
          <a:xfrm>
            <a:off x="11283314" y="1265445"/>
            <a:ext cx="36420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sí</a:t>
            </a:r>
            <a:endParaRPr lang="es-MX" dirty="0"/>
          </a:p>
        </p:txBody>
      </p:sp>
      <p:sp>
        <p:nvSpPr>
          <p:cNvPr id="8" name="Rectángulo 7">
            <a:extLst>
              <a:ext uri="{FF2B5EF4-FFF2-40B4-BE49-F238E27FC236}">
                <a16:creationId xmlns:a16="http://schemas.microsoft.com/office/drawing/2014/main" id="{ADF7A46A-986D-A9EC-46BD-4FE9953B9682}"/>
              </a:ext>
            </a:extLst>
          </p:cNvPr>
          <p:cNvSpPr/>
          <p:nvPr/>
        </p:nvSpPr>
        <p:spPr>
          <a:xfrm>
            <a:off x="9330323" y="1619120"/>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9" name="Conector recto de flecha 8">
            <a:extLst>
              <a:ext uri="{FF2B5EF4-FFF2-40B4-BE49-F238E27FC236}">
                <a16:creationId xmlns:a16="http://schemas.microsoft.com/office/drawing/2014/main" id="{B79E8E41-07A4-3052-E2BF-1A86C21232FE}"/>
              </a:ext>
            </a:extLst>
          </p:cNvPr>
          <p:cNvCxnSpPr>
            <a:cxnSpLocks/>
          </p:cNvCxnSpPr>
          <p:nvPr/>
        </p:nvCxnSpPr>
        <p:spPr>
          <a:xfrm>
            <a:off x="8199169" y="2083117"/>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08E3E2DD-5F8C-37CD-F4D6-41973E7361C8}"/>
              </a:ext>
            </a:extLst>
          </p:cNvPr>
          <p:cNvCxnSpPr>
            <a:cxnSpLocks/>
          </p:cNvCxnSpPr>
          <p:nvPr/>
        </p:nvCxnSpPr>
        <p:spPr>
          <a:xfrm>
            <a:off x="10244723" y="2107180"/>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E6555DAE-838C-CEB4-B338-DD354A0C0F49}"/>
              </a:ext>
            </a:extLst>
          </p:cNvPr>
          <p:cNvCxnSpPr>
            <a:cxnSpLocks/>
          </p:cNvCxnSpPr>
          <p:nvPr/>
        </p:nvCxnSpPr>
        <p:spPr>
          <a:xfrm flipV="1">
            <a:off x="10247632" y="1438368"/>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ítulo 1">
            <a:extLst>
              <a:ext uri="{FF2B5EF4-FFF2-40B4-BE49-F238E27FC236}">
                <a16:creationId xmlns:a16="http://schemas.microsoft.com/office/drawing/2014/main" id="{ACB1480B-E5B0-2EED-2BDC-214E0E5E9968}"/>
              </a:ext>
            </a:extLst>
          </p:cNvPr>
          <p:cNvSpPr txBox="1">
            <a:spLocks/>
          </p:cNvSpPr>
          <p:nvPr/>
        </p:nvSpPr>
        <p:spPr>
          <a:xfrm>
            <a:off x="9596911" y="1878542"/>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600" dirty="0">
              <a:latin typeface="Arial" panose="020B0604020202020204" pitchFamily="34" charset="0"/>
              <a:cs typeface="Arial" panose="020B0604020202020204" pitchFamily="34" charset="0"/>
            </a:endParaRPr>
          </a:p>
        </p:txBody>
      </p:sp>
      <p:sp>
        <p:nvSpPr>
          <p:cNvPr id="21" name="CuadroTexto 20">
            <a:extLst>
              <a:ext uri="{FF2B5EF4-FFF2-40B4-BE49-F238E27FC236}">
                <a16:creationId xmlns:a16="http://schemas.microsoft.com/office/drawing/2014/main" id="{36331826-6E90-FBA0-9A65-048AF64206C0}"/>
              </a:ext>
            </a:extLst>
          </p:cNvPr>
          <p:cNvSpPr txBox="1"/>
          <p:nvPr/>
        </p:nvSpPr>
        <p:spPr>
          <a:xfrm>
            <a:off x="8422733" y="1752518"/>
            <a:ext cx="934712"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(φ, A)</a:t>
            </a:r>
            <a:endParaRPr lang="es-AR" sz="1600" dirty="0"/>
          </a:p>
        </p:txBody>
      </p:sp>
      <p:sp>
        <p:nvSpPr>
          <p:cNvPr id="26" name="CuadroTexto 25">
            <a:extLst>
              <a:ext uri="{FF2B5EF4-FFF2-40B4-BE49-F238E27FC236}">
                <a16:creationId xmlns:a16="http://schemas.microsoft.com/office/drawing/2014/main" id="{42655FCA-1656-44C5-6DEA-057F2E44E613}"/>
              </a:ext>
            </a:extLst>
          </p:cNvPr>
          <p:cNvSpPr txBox="1"/>
          <p:nvPr/>
        </p:nvSpPr>
        <p:spPr>
          <a:xfrm>
            <a:off x="8622916" y="2506620"/>
            <a:ext cx="3479555"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M tarda tiempo </a:t>
            </a:r>
            <a:r>
              <a:rPr lang="es-AR" sz="1600" dirty="0" err="1">
                <a:latin typeface="Arial" panose="020B0604020202020204" pitchFamily="34" charset="0"/>
                <a:cs typeface="Arial" panose="020B0604020202020204" pitchFamily="34" charset="0"/>
              </a:rPr>
              <a:t>poly</a:t>
            </a:r>
            <a:r>
              <a:rPr lang="es-AR" sz="1600" dirty="0">
                <a:latin typeface="Arial" panose="020B0604020202020204" pitchFamily="34" charset="0"/>
                <a:cs typeface="Arial" panose="020B0604020202020204" pitchFamily="34" charset="0"/>
              </a:rPr>
              <a:t>(|φ|)</a:t>
            </a:r>
          </a:p>
        </p:txBody>
      </p:sp>
      <p:sp>
        <p:nvSpPr>
          <p:cNvPr id="2" name="Rectángulo 1">
            <a:extLst>
              <a:ext uri="{FF2B5EF4-FFF2-40B4-BE49-F238E27FC236}">
                <a16:creationId xmlns:a16="http://schemas.microsoft.com/office/drawing/2014/main" id="{216F6EDC-EB48-9AD2-C0E0-4BD601E3F49A}"/>
              </a:ext>
            </a:extLst>
          </p:cNvPr>
          <p:cNvSpPr/>
          <p:nvPr/>
        </p:nvSpPr>
        <p:spPr>
          <a:xfrm>
            <a:off x="302861" y="3675739"/>
            <a:ext cx="11260841" cy="3000821"/>
          </a:xfrm>
          <a:prstGeom prst="rect">
            <a:avLst/>
          </a:prstGeom>
        </p:spPr>
        <p:txBody>
          <a:bodyPr wrap="square">
            <a:spAutoFit/>
          </a:bodyPr>
          <a:lstStyle/>
          <a:p>
            <a:pPr marL="285750" indent="-285750" algn="just">
              <a:buFont typeface="Arial" panose="020B0604020202020204" pitchFamily="34" charset="0"/>
              <a:buChar char="•"/>
            </a:pPr>
            <a:r>
              <a:rPr lang="es-AR" b="1" dirty="0">
                <a:latin typeface="Arial" panose="020B0604020202020204" pitchFamily="34" charset="0"/>
                <a:cs typeface="Arial" panose="020B0604020202020204" pitchFamily="34" charset="0"/>
              </a:rPr>
              <a:t>CH = {G : G es un grafo no dirigido con m vértices y tiene un circuito de Hamilton} </a:t>
            </a:r>
          </a:p>
          <a:p>
            <a:pPr algn="just"/>
            <a:endParaRPr lang="es-AR" sz="9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CH </a:t>
            </a:r>
            <a:r>
              <a:rPr lang="es-AR" sz="1800" b="1" dirty="0">
                <a:latin typeface="Arial" panose="020B0604020202020204" pitchFamily="34" charset="0"/>
                <a:cs typeface="Arial" panose="020B0604020202020204" pitchFamily="34" charset="0"/>
              </a:rPr>
              <a:t>no estaría en P: </a:t>
            </a:r>
          </a:p>
          <a:p>
            <a:r>
              <a:rPr lang="es-AR" dirty="0">
                <a:latin typeface="Arial" panose="020B0604020202020204" pitchFamily="34" charset="0"/>
                <a:cs typeface="Arial" panose="020B0604020202020204" pitchFamily="34" charset="0"/>
              </a:rPr>
              <a:t>     </a:t>
            </a:r>
            <a:r>
              <a:rPr lang="es-AR" sz="1800" dirty="0">
                <a:latin typeface="Arial" panose="020B0604020202020204" pitchFamily="34" charset="0"/>
                <a:cs typeface="Arial" panose="020B0604020202020204" pitchFamily="34" charset="0"/>
              </a:rPr>
              <a:t>Si G tiene </a:t>
            </a:r>
            <a:r>
              <a:rPr lang="es-AR" dirty="0">
                <a:latin typeface="Arial" panose="020B0604020202020204" pitchFamily="34" charset="0"/>
                <a:cs typeface="Arial" panose="020B0604020202020204" pitchFamily="34" charset="0"/>
              </a:rPr>
              <a:t>m vértices, hay m! secuencias C de m vértices </a:t>
            </a:r>
            <a:r>
              <a:rPr lang="es-AR" sz="1800" dirty="0">
                <a:latin typeface="Arial" panose="020B0604020202020204" pitchFamily="34" charset="0"/>
                <a:cs typeface="Arial" panose="020B0604020202020204" pitchFamily="34" charset="0"/>
                <a:sym typeface="Symbol" panose="05050102010706020507" pitchFamily="18" charset="2"/>
              </a:rPr>
              <a:t>para chequear.</a:t>
            </a:r>
            <a:endParaRPr lang="es-AR" dirty="0">
              <a:latin typeface="Arial" panose="020B0604020202020204" pitchFamily="34" charset="0"/>
              <a:cs typeface="Arial" panose="020B0604020202020204" pitchFamily="34" charset="0"/>
              <a:sym typeface="Symbol" panose="05050102010706020507" pitchFamily="18" charset="2"/>
            </a:endParaRPr>
          </a:p>
          <a:p>
            <a:endParaRPr lang="es-AR" sz="900" b="1" dirty="0">
              <a:latin typeface="Arial" panose="020B0604020202020204" pitchFamily="34" charset="0"/>
              <a:cs typeface="Arial" panose="020B0604020202020204" pitchFamily="34" charset="0"/>
              <a:sym typeface="Symbol" panose="05050102010706020507" pitchFamily="18" charset="2"/>
            </a:endParaRPr>
          </a:p>
          <a:p>
            <a:r>
              <a:rPr lang="es-AR" b="1" dirty="0">
                <a:latin typeface="Arial" panose="020B0604020202020204" pitchFamily="34" charset="0"/>
                <a:cs typeface="Arial" panose="020B0604020202020204" pitchFamily="34" charset="0"/>
                <a:sym typeface="Symbol" panose="05050102010706020507" pitchFamily="18" charset="2"/>
              </a:rPr>
              <a:t>     CH está en NP:</a:t>
            </a:r>
            <a:endParaRPr lang="es-AR"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Dado un grafo G y una secuencia C de m vértices, </a:t>
            </a:r>
          </a:p>
          <a:p>
            <a:r>
              <a:rPr lang="es-AR" dirty="0">
                <a:latin typeface="Arial" panose="020B0604020202020204" pitchFamily="34" charset="0"/>
                <a:cs typeface="Arial" panose="020B0604020202020204" pitchFamily="34" charset="0"/>
              </a:rPr>
              <a:t>     se puede </a:t>
            </a:r>
            <a:r>
              <a:rPr lang="es-AR" b="1" dirty="0">
                <a:latin typeface="Arial" panose="020B0604020202020204" pitchFamily="34" charset="0"/>
                <a:cs typeface="Arial" panose="020B0604020202020204" pitchFamily="34" charset="0"/>
              </a:rPr>
              <a:t>verificar en tiempo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(n) </a:t>
            </a:r>
            <a:r>
              <a:rPr lang="es-AR" dirty="0">
                <a:latin typeface="Arial" panose="020B0604020202020204" pitchFamily="34" charset="0"/>
                <a:cs typeface="Arial" panose="020B0604020202020204" pitchFamily="34" charset="0"/>
              </a:rPr>
              <a:t>si C es un </a:t>
            </a:r>
            <a:r>
              <a:rPr lang="es-AR" dirty="0" err="1">
                <a:latin typeface="Arial" panose="020B0604020202020204" pitchFamily="34" charset="0"/>
                <a:cs typeface="Arial" panose="020B0604020202020204" pitchFamily="34" charset="0"/>
              </a:rPr>
              <a:t>CdeH</a:t>
            </a:r>
            <a:r>
              <a:rPr lang="es-AR" dirty="0">
                <a:latin typeface="Arial" panose="020B0604020202020204" pitchFamily="34" charset="0"/>
                <a:cs typeface="Arial" panose="020B0604020202020204" pitchFamily="34" charset="0"/>
              </a:rPr>
              <a:t> de G.</a:t>
            </a:r>
            <a:r>
              <a:rPr lang="es-AR" b="1" dirty="0">
                <a:latin typeface="Arial" panose="020B0604020202020204" pitchFamily="34" charset="0"/>
                <a:cs typeface="Arial" panose="020B0604020202020204" pitchFamily="34" charset="0"/>
              </a:rPr>
              <a:t> </a:t>
            </a:r>
          </a:p>
          <a:p>
            <a:endParaRPr lang="es-AR" sz="900"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     CH</a:t>
            </a:r>
            <a:r>
              <a:rPr lang="es-AR" sz="1800" b="1" baseline="30000" dirty="0">
                <a:latin typeface="Arial" panose="020B0604020202020204" pitchFamily="34" charset="0"/>
                <a:cs typeface="Arial" panose="020B0604020202020204" pitchFamily="34" charset="0"/>
              </a:rPr>
              <a:t>C</a:t>
            </a:r>
            <a:r>
              <a:rPr lang="es-AR" b="1" dirty="0">
                <a:latin typeface="Arial" panose="020B0604020202020204" pitchFamily="34" charset="0"/>
                <a:cs typeface="Arial" panose="020B0604020202020204" pitchFamily="34" charset="0"/>
              </a:rPr>
              <a:t> no estaría en NP: </a:t>
            </a:r>
            <a:r>
              <a:rPr lang="es-AR" dirty="0">
                <a:latin typeface="Arial" panose="020B0604020202020204" pitchFamily="34" charset="0"/>
                <a:cs typeface="Arial" panose="020B0604020202020204" pitchFamily="34" charset="0"/>
              </a:rPr>
              <a:t>para verificar si G no tiene un CH hay que chequear m! secuencias.</a:t>
            </a:r>
          </a:p>
          <a:p>
            <a:r>
              <a:rPr lang="es-AR" dirty="0">
                <a:latin typeface="Arial" panose="020B0604020202020204" pitchFamily="34" charset="0"/>
                <a:cs typeface="Arial" panose="020B0604020202020204" pitchFamily="34" charset="0"/>
              </a:rPr>
              <a:t>     </a:t>
            </a:r>
          </a:p>
          <a:p>
            <a:r>
              <a:rPr lang="es-AR" b="1" dirty="0">
                <a:solidFill>
                  <a:srgbClr val="FF0000"/>
                </a:solidFill>
                <a:latin typeface="Arial" panose="020B0604020202020204" pitchFamily="34" charset="0"/>
                <a:cs typeface="Arial" panose="020B0604020202020204" pitchFamily="34" charset="0"/>
                <a:sym typeface="Symbol" panose="05050102010706020507" pitchFamily="18" charset="2"/>
              </a:rPr>
              <a:t>					CO-NP sería distinto a NP</a:t>
            </a:r>
            <a:endParaRPr lang="es-AR" dirty="0">
              <a:latin typeface="Arial" panose="020B0604020202020204" pitchFamily="34" charset="0"/>
              <a:cs typeface="Arial" panose="020B0604020202020204" pitchFamily="34" charset="0"/>
            </a:endParaRPr>
          </a:p>
        </p:txBody>
      </p:sp>
      <p:sp>
        <p:nvSpPr>
          <p:cNvPr id="12" name="Rectángulo 11">
            <a:extLst>
              <a:ext uri="{FF2B5EF4-FFF2-40B4-BE49-F238E27FC236}">
                <a16:creationId xmlns:a16="http://schemas.microsoft.com/office/drawing/2014/main" id="{74139A9D-BB5E-A4D2-4829-BD8B3D8D6057}"/>
              </a:ext>
            </a:extLst>
          </p:cNvPr>
          <p:cNvSpPr/>
          <p:nvPr/>
        </p:nvSpPr>
        <p:spPr>
          <a:xfrm>
            <a:off x="11492270" y="5062377"/>
            <a:ext cx="44114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no</a:t>
            </a:r>
            <a:endParaRPr lang="es-MX" dirty="0"/>
          </a:p>
        </p:txBody>
      </p:sp>
      <p:sp>
        <p:nvSpPr>
          <p:cNvPr id="19" name="Rectángulo 18">
            <a:extLst>
              <a:ext uri="{FF2B5EF4-FFF2-40B4-BE49-F238E27FC236}">
                <a16:creationId xmlns:a16="http://schemas.microsoft.com/office/drawing/2014/main" id="{85B4260E-D9B4-1598-88D0-6893D7437991}"/>
              </a:ext>
            </a:extLst>
          </p:cNvPr>
          <p:cNvSpPr/>
          <p:nvPr/>
        </p:nvSpPr>
        <p:spPr>
          <a:xfrm>
            <a:off x="11427386" y="4076902"/>
            <a:ext cx="364202"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sí</a:t>
            </a:r>
            <a:endParaRPr lang="es-MX" dirty="0"/>
          </a:p>
        </p:txBody>
      </p:sp>
      <p:sp>
        <p:nvSpPr>
          <p:cNvPr id="20" name="Rectángulo 19">
            <a:extLst>
              <a:ext uri="{FF2B5EF4-FFF2-40B4-BE49-F238E27FC236}">
                <a16:creationId xmlns:a16="http://schemas.microsoft.com/office/drawing/2014/main" id="{A2B51F7D-C663-7272-5F60-0CD689B6D395}"/>
              </a:ext>
            </a:extLst>
          </p:cNvPr>
          <p:cNvSpPr/>
          <p:nvPr/>
        </p:nvSpPr>
        <p:spPr>
          <a:xfrm>
            <a:off x="9474395" y="4430577"/>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2" name="Conector recto de flecha 21">
            <a:extLst>
              <a:ext uri="{FF2B5EF4-FFF2-40B4-BE49-F238E27FC236}">
                <a16:creationId xmlns:a16="http://schemas.microsoft.com/office/drawing/2014/main" id="{DBDF368C-9360-9AC6-3B3C-C7573AC9C853}"/>
              </a:ext>
            </a:extLst>
          </p:cNvPr>
          <p:cNvCxnSpPr>
            <a:cxnSpLocks/>
          </p:cNvCxnSpPr>
          <p:nvPr/>
        </p:nvCxnSpPr>
        <p:spPr>
          <a:xfrm>
            <a:off x="8343241" y="4894574"/>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6AA32FAA-C53A-6A8F-47A6-62F2474FBBB8}"/>
              </a:ext>
            </a:extLst>
          </p:cNvPr>
          <p:cNvCxnSpPr>
            <a:cxnSpLocks/>
          </p:cNvCxnSpPr>
          <p:nvPr/>
        </p:nvCxnSpPr>
        <p:spPr>
          <a:xfrm>
            <a:off x="10388795" y="4918637"/>
            <a:ext cx="1130523" cy="36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AC810DFC-E5FD-CE2A-7B7E-321D2F882B19}"/>
              </a:ext>
            </a:extLst>
          </p:cNvPr>
          <p:cNvCxnSpPr>
            <a:cxnSpLocks/>
          </p:cNvCxnSpPr>
          <p:nvPr/>
        </p:nvCxnSpPr>
        <p:spPr>
          <a:xfrm flipV="1">
            <a:off x="10391704" y="4249825"/>
            <a:ext cx="1060980" cy="6648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ítulo 1">
            <a:extLst>
              <a:ext uri="{FF2B5EF4-FFF2-40B4-BE49-F238E27FC236}">
                <a16:creationId xmlns:a16="http://schemas.microsoft.com/office/drawing/2014/main" id="{63E8F1AE-A45E-9496-FA3E-EE82923BC7ED}"/>
              </a:ext>
            </a:extLst>
          </p:cNvPr>
          <p:cNvSpPr txBox="1">
            <a:spLocks/>
          </p:cNvSpPr>
          <p:nvPr/>
        </p:nvSpPr>
        <p:spPr>
          <a:xfrm>
            <a:off x="9743685" y="4706223"/>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600" dirty="0">
              <a:latin typeface="Arial" panose="020B0604020202020204" pitchFamily="34" charset="0"/>
              <a:cs typeface="Arial" panose="020B0604020202020204" pitchFamily="34" charset="0"/>
            </a:endParaRPr>
          </a:p>
        </p:txBody>
      </p:sp>
      <p:sp>
        <p:nvSpPr>
          <p:cNvPr id="29" name="CuadroTexto 28">
            <a:extLst>
              <a:ext uri="{FF2B5EF4-FFF2-40B4-BE49-F238E27FC236}">
                <a16:creationId xmlns:a16="http://schemas.microsoft.com/office/drawing/2014/main" id="{2A5328DD-A4C2-4D2D-5B0C-4C6B7183C1AE}"/>
              </a:ext>
            </a:extLst>
          </p:cNvPr>
          <p:cNvSpPr txBox="1"/>
          <p:nvPr/>
        </p:nvSpPr>
        <p:spPr>
          <a:xfrm>
            <a:off x="8566805" y="4563975"/>
            <a:ext cx="934712"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(G, C)</a:t>
            </a:r>
            <a:endParaRPr lang="es-AR" sz="1600" dirty="0"/>
          </a:p>
        </p:txBody>
      </p:sp>
      <p:sp>
        <p:nvSpPr>
          <p:cNvPr id="30" name="CuadroTexto 29">
            <a:extLst>
              <a:ext uri="{FF2B5EF4-FFF2-40B4-BE49-F238E27FC236}">
                <a16:creationId xmlns:a16="http://schemas.microsoft.com/office/drawing/2014/main" id="{103AB88D-0BE7-9B56-7F1F-2D34B7E6D0FC}"/>
              </a:ext>
            </a:extLst>
          </p:cNvPr>
          <p:cNvSpPr txBox="1"/>
          <p:nvPr/>
        </p:nvSpPr>
        <p:spPr>
          <a:xfrm>
            <a:off x="8766988" y="5318077"/>
            <a:ext cx="3479555"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M tarda tiempo </a:t>
            </a:r>
            <a:r>
              <a:rPr lang="es-AR" sz="1600" dirty="0" err="1">
                <a:latin typeface="Arial" panose="020B0604020202020204" pitchFamily="34" charset="0"/>
                <a:cs typeface="Arial" panose="020B0604020202020204" pitchFamily="34" charset="0"/>
              </a:rPr>
              <a:t>poly</a:t>
            </a:r>
            <a:r>
              <a:rPr lang="es-AR" sz="1600" dirty="0">
                <a:latin typeface="Arial" panose="020B0604020202020204" pitchFamily="34" charset="0"/>
                <a:cs typeface="Arial" panose="020B0604020202020204" pitchFamily="34" charset="0"/>
              </a:rPr>
              <a:t>(|G|)</a:t>
            </a:r>
          </a:p>
        </p:txBody>
      </p:sp>
    </p:spTree>
    <p:extLst>
      <p:ext uri="{BB962C8B-B14F-4D97-AF65-F5344CB8AC3E}">
        <p14:creationId xmlns:p14="http://schemas.microsoft.com/office/powerpoint/2010/main" val="1293775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C4F8E59B-11D3-410E-ACB8-4411D6F0278B}"/>
              </a:ext>
            </a:extLst>
          </p:cNvPr>
          <p:cNvSpPr/>
          <p:nvPr/>
        </p:nvSpPr>
        <p:spPr>
          <a:xfrm>
            <a:off x="274694" y="624483"/>
            <a:ext cx="11268807" cy="5786199"/>
          </a:xfrm>
          <a:prstGeom prst="rect">
            <a:avLst/>
          </a:prstGeom>
        </p:spPr>
        <p:txBody>
          <a:bodyPr wrap="square">
            <a:spAutoFit/>
          </a:bodyPr>
          <a:lstStyle/>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Una visión más detallada de NP:</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sz="400"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Asumiendo la conjetura</a:t>
            </a:r>
            <a:r>
              <a:rPr lang="es-AR" dirty="0">
                <a:latin typeface="Arial" panose="020B0604020202020204" pitchFamily="34" charset="0"/>
                <a:cs typeface="Arial" panose="020B0604020202020204" pitchFamily="34" charset="0"/>
              </a:rPr>
              <a:t> P </a:t>
            </a:r>
            <a:r>
              <a:rPr lang="es-AR" sz="1800" dirty="0">
                <a:effectLst/>
                <a:latin typeface="Arial" panose="020B0604020202020204" pitchFamily="34" charset="0"/>
                <a:ea typeface="Calibri" panose="020F0502020204030204" pitchFamily="34" charset="0"/>
              </a:rPr>
              <a:t>≠ NP, hay una manera de establecer que un lenguaje L de NP no está en P.</a:t>
            </a: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sz="800"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Esto ocurre cuando se prueba que L es </a:t>
            </a:r>
            <a:r>
              <a:rPr lang="es-AR" b="1" dirty="0">
                <a:latin typeface="Arial" panose="020B0604020202020204" pitchFamily="34" charset="0"/>
                <a:cs typeface="Arial" panose="020B0604020202020204" pitchFamily="34" charset="0"/>
                <a:sym typeface="Symbol" panose="05050102010706020507" pitchFamily="18" charset="2"/>
              </a:rPr>
              <a:t>NP-completo, </a:t>
            </a:r>
            <a:r>
              <a:rPr lang="es-AR" dirty="0">
                <a:latin typeface="Arial" panose="020B0604020202020204" pitchFamily="34" charset="0"/>
                <a:cs typeface="Arial" panose="020B0604020202020204" pitchFamily="34" charset="0"/>
                <a:sym typeface="Symbol" panose="05050102010706020507" pitchFamily="18" charset="2"/>
              </a:rPr>
              <a:t>o que está en la clase </a:t>
            </a:r>
            <a:r>
              <a:rPr lang="es-AR" b="1" dirty="0">
                <a:latin typeface="Arial" panose="020B0604020202020204" pitchFamily="34" charset="0"/>
                <a:cs typeface="Arial" panose="020B0604020202020204" pitchFamily="34" charset="0"/>
                <a:sym typeface="Symbol" panose="05050102010706020507" pitchFamily="18" charset="2"/>
              </a:rPr>
              <a:t>NPC.</a:t>
            </a:r>
          </a:p>
          <a:p>
            <a:pPr marL="342900" indent="-342900" algn="just">
              <a:buFont typeface="Arial" panose="020B0604020202020204" pitchFamily="34" charset="0"/>
              <a:buChar char="•"/>
            </a:pPr>
            <a:endParaRPr lang="es-AR" b="1"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sz="8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Los lenguajes NP-completos son </a:t>
            </a:r>
            <a:r>
              <a:rPr lang="es-AR" b="1" dirty="0">
                <a:latin typeface="Arial" panose="020B0604020202020204" pitchFamily="34" charset="0"/>
                <a:cs typeface="Arial" panose="020B0604020202020204" pitchFamily="34" charset="0"/>
                <a:sym typeface="Symbol" panose="05050102010706020507" pitchFamily="18" charset="2"/>
              </a:rPr>
              <a:t>los más difíciles </a:t>
            </a:r>
            <a:r>
              <a:rPr lang="es-AR" dirty="0">
                <a:latin typeface="Arial" panose="020B0604020202020204" pitchFamily="34" charset="0"/>
                <a:cs typeface="Arial" panose="020B0604020202020204" pitchFamily="34" charset="0"/>
                <a:sym typeface="Symbol" panose="05050102010706020507" pitchFamily="18" charset="2"/>
              </a:rPr>
              <a:t>de la clase NP. </a:t>
            </a:r>
          </a:p>
          <a:p>
            <a:pPr marL="342900" indent="-342900" algn="just">
              <a:buFont typeface="Arial" panose="020B0604020202020204" pitchFamily="34" charset="0"/>
              <a:buChar char="•"/>
            </a:pPr>
            <a:endParaRPr lang="es-AR" sz="800" dirty="0">
              <a:latin typeface="Arial" panose="020B0604020202020204" pitchFamily="34" charset="0"/>
              <a:cs typeface="Arial" panose="020B0604020202020204" pitchFamily="34" charset="0"/>
              <a:sym typeface="Symbol" panose="05050102010706020507" pitchFamily="18" charset="2"/>
            </a:endParaRPr>
          </a:p>
        </p:txBody>
      </p:sp>
      <p:sp>
        <p:nvSpPr>
          <p:cNvPr id="31" name="Slide Number Placeholder 2">
            <a:extLst>
              <a:ext uri="{FF2B5EF4-FFF2-40B4-BE49-F238E27FC236}">
                <a16:creationId xmlns:a16="http://schemas.microsoft.com/office/drawing/2014/main" id="{2F17C997-A76C-465A-9E2D-1CBE1E5A5514}"/>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 name="Rectángulo 1">
            <a:extLst>
              <a:ext uri="{FF2B5EF4-FFF2-40B4-BE49-F238E27FC236}">
                <a16:creationId xmlns:a16="http://schemas.microsoft.com/office/drawing/2014/main" id="{4175F06D-4336-F1F6-0CAC-7E164D262EA8}"/>
              </a:ext>
            </a:extLst>
          </p:cNvPr>
          <p:cNvSpPr/>
          <p:nvPr/>
        </p:nvSpPr>
        <p:spPr>
          <a:xfrm>
            <a:off x="249172" y="143605"/>
            <a:ext cx="11668134"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6. Lenguajes NP-completos y la clase </a:t>
            </a:r>
            <a:r>
              <a:rPr lang="es-MX" sz="2800" b="1" dirty="0" err="1">
                <a:solidFill>
                  <a:srgbClr val="7030A0"/>
                </a:solidFill>
                <a:latin typeface="Arial" panose="020B0604020202020204" pitchFamily="34" charset="0"/>
                <a:cs typeface="Arial" panose="020B0604020202020204" pitchFamily="34" charset="0"/>
              </a:rPr>
              <a:t>NPI</a:t>
            </a:r>
            <a:endParaRPr lang="es-MX" sz="2800" b="1" dirty="0">
              <a:solidFill>
                <a:srgbClr val="7030A0"/>
              </a:solidFill>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957BC1B-6593-79DC-6C60-5A6A5AB98F5A}"/>
              </a:ext>
            </a:extLst>
          </p:cNvPr>
          <p:cNvSpPr/>
          <p:nvPr/>
        </p:nvSpPr>
        <p:spPr>
          <a:xfrm>
            <a:off x="5594241" y="1841855"/>
            <a:ext cx="575799"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a:t>
            </a:r>
            <a:endParaRPr lang="es-MX" sz="2200" dirty="0"/>
          </a:p>
        </p:txBody>
      </p:sp>
      <p:sp>
        <p:nvSpPr>
          <p:cNvPr id="7" name="Diagrama de flujo: conector 6">
            <a:extLst>
              <a:ext uri="{FF2B5EF4-FFF2-40B4-BE49-F238E27FC236}">
                <a16:creationId xmlns:a16="http://schemas.microsoft.com/office/drawing/2014/main" id="{0C496DEB-5BC5-82D2-9DD7-1B0CD8B30272}"/>
              </a:ext>
            </a:extLst>
          </p:cNvPr>
          <p:cNvSpPr/>
          <p:nvPr/>
        </p:nvSpPr>
        <p:spPr>
          <a:xfrm>
            <a:off x="5003002" y="939761"/>
            <a:ext cx="1775792" cy="3344249"/>
          </a:xfrm>
          <a:prstGeom prst="flowChartConnector">
            <a:avLst/>
          </a:prstGeom>
          <a:solidFill>
            <a:schemeClr val="accent6">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Diagrama de flujo: conector 7">
            <a:extLst>
              <a:ext uri="{FF2B5EF4-FFF2-40B4-BE49-F238E27FC236}">
                <a16:creationId xmlns:a16="http://schemas.microsoft.com/office/drawing/2014/main" id="{7FD803E3-A2FB-DE3F-E80A-B9AAAE3492AA}"/>
              </a:ext>
            </a:extLst>
          </p:cNvPr>
          <p:cNvSpPr/>
          <p:nvPr/>
        </p:nvSpPr>
        <p:spPr>
          <a:xfrm>
            <a:off x="5350776" y="3050972"/>
            <a:ext cx="1094015" cy="1233037"/>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56888AF5-31B9-BA68-4845-EFC7D67D49E0}"/>
              </a:ext>
            </a:extLst>
          </p:cNvPr>
          <p:cNvSpPr/>
          <p:nvPr/>
        </p:nvSpPr>
        <p:spPr>
          <a:xfrm>
            <a:off x="5747273" y="3535562"/>
            <a:ext cx="372218"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P</a:t>
            </a:r>
            <a:endParaRPr lang="es-MX" sz="2200" dirty="0"/>
          </a:p>
        </p:txBody>
      </p:sp>
      <p:sp>
        <p:nvSpPr>
          <p:cNvPr id="16" name="CuadroTexto 15">
            <a:extLst>
              <a:ext uri="{FF2B5EF4-FFF2-40B4-BE49-F238E27FC236}">
                <a16:creationId xmlns:a16="http://schemas.microsoft.com/office/drawing/2014/main" id="{89BDC37C-B2EF-4149-FD7F-B01AED3FE019}"/>
              </a:ext>
            </a:extLst>
          </p:cNvPr>
          <p:cNvSpPr txBox="1"/>
          <p:nvPr/>
        </p:nvSpPr>
        <p:spPr>
          <a:xfrm>
            <a:off x="6589560" y="3751005"/>
            <a:ext cx="2650179" cy="369332"/>
          </a:xfrm>
          <a:prstGeom prst="rect">
            <a:avLst/>
          </a:prstGeom>
          <a:noFill/>
        </p:spPr>
        <p:txBody>
          <a:bodyPr wrap="square">
            <a:spAutoFit/>
          </a:bodyPr>
          <a:lstStyle/>
          <a:p>
            <a:pPr algn="just"/>
            <a:r>
              <a:rPr lang="es-AR" sz="1800" dirty="0">
                <a:latin typeface="Arial" panose="020B0604020202020204" pitchFamily="34" charset="0"/>
                <a:cs typeface="Arial" panose="020B0604020202020204" pitchFamily="34" charset="0"/>
              </a:rPr>
              <a:t>Asumiendo</a:t>
            </a:r>
            <a:r>
              <a:rPr lang="es-AR" dirty="0">
                <a:latin typeface="Arial" panose="020B0604020202020204" pitchFamily="34" charset="0"/>
                <a:cs typeface="Arial" panose="020B0604020202020204" pitchFamily="34" charset="0"/>
              </a:rPr>
              <a:t> P </a:t>
            </a:r>
            <a:r>
              <a:rPr lang="es-AR" sz="1800" dirty="0">
                <a:effectLst/>
                <a:latin typeface="Arial" panose="020B0604020202020204" pitchFamily="34" charset="0"/>
                <a:ea typeface="Calibri" panose="020F0502020204030204" pitchFamily="34" charset="0"/>
              </a:rPr>
              <a:t>≠ NP</a:t>
            </a:r>
            <a:r>
              <a:rPr lang="es-AR" sz="1800" dirty="0">
                <a:latin typeface="Arial" panose="020B0604020202020204" pitchFamily="34" charset="0"/>
                <a:cs typeface="Arial" panose="020B0604020202020204" pitchFamily="34" charset="0"/>
              </a:rPr>
              <a:t> </a:t>
            </a:r>
          </a:p>
        </p:txBody>
      </p:sp>
      <p:sp>
        <p:nvSpPr>
          <p:cNvPr id="18" name="Rectángulo 17">
            <a:extLst>
              <a:ext uri="{FF2B5EF4-FFF2-40B4-BE49-F238E27FC236}">
                <a16:creationId xmlns:a16="http://schemas.microsoft.com/office/drawing/2014/main" id="{34935F6F-1FF9-4CF3-945B-5246353D1D3D}"/>
              </a:ext>
            </a:extLst>
          </p:cNvPr>
          <p:cNvSpPr/>
          <p:nvPr/>
        </p:nvSpPr>
        <p:spPr>
          <a:xfrm>
            <a:off x="5567738" y="2372620"/>
            <a:ext cx="755335" cy="584775"/>
          </a:xfrm>
          <a:prstGeom prst="rect">
            <a:avLst/>
          </a:prstGeom>
        </p:spPr>
        <p:txBody>
          <a:bodyPr wrap="none">
            <a:spAutoFit/>
          </a:bodyPr>
          <a:lstStyle/>
          <a:p>
            <a:r>
              <a:rPr lang="es-AR" sz="3200" dirty="0">
                <a:latin typeface="Arial" panose="020B0604020202020204" pitchFamily="34" charset="0"/>
                <a:cs typeface="Arial" panose="020B0604020202020204" pitchFamily="34" charset="0"/>
              </a:rPr>
              <a:t>NP</a:t>
            </a:r>
            <a:endParaRPr lang="es-MX" sz="3200" dirty="0"/>
          </a:p>
        </p:txBody>
      </p:sp>
      <p:sp>
        <p:nvSpPr>
          <p:cNvPr id="21" name="Diagrama de flujo: conector 20">
            <a:extLst>
              <a:ext uri="{FF2B5EF4-FFF2-40B4-BE49-F238E27FC236}">
                <a16:creationId xmlns:a16="http://schemas.microsoft.com/office/drawing/2014/main" id="{E86062E0-0727-34AC-B6E7-244C26A60292}"/>
              </a:ext>
            </a:extLst>
          </p:cNvPr>
          <p:cNvSpPr/>
          <p:nvPr/>
        </p:nvSpPr>
        <p:spPr>
          <a:xfrm>
            <a:off x="5326952" y="939761"/>
            <a:ext cx="1094015" cy="1332982"/>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Rectángulo 22">
            <a:extLst>
              <a:ext uri="{FF2B5EF4-FFF2-40B4-BE49-F238E27FC236}">
                <a16:creationId xmlns:a16="http://schemas.microsoft.com/office/drawing/2014/main" id="{5E0125F1-A898-9C06-3657-7B8C71AFAD1F}"/>
              </a:ext>
            </a:extLst>
          </p:cNvPr>
          <p:cNvSpPr/>
          <p:nvPr/>
        </p:nvSpPr>
        <p:spPr>
          <a:xfrm>
            <a:off x="5535742" y="1308851"/>
            <a:ext cx="779381"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NPC</a:t>
            </a:r>
            <a:endParaRPr lang="es-MX" sz="2200" dirty="0"/>
          </a:p>
        </p:txBody>
      </p:sp>
    </p:spTree>
    <p:extLst>
      <p:ext uri="{BB962C8B-B14F-4D97-AF65-F5344CB8AC3E}">
        <p14:creationId xmlns:p14="http://schemas.microsoft.com/office/powerpoint/2010/main" val="527651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0C99084-CF9E-4B36-8BFA-F1129AD9AF5A}"/>
              </a:ext>
            </a:extLst>
          </p:cNvPr>
          <p:cNvSpPr/>
          <p:nvPr/>
        </p:nvSpPr>
        <p:spPr>
          <a:xfrm>
            <a:off x="276983" y="1020753"/>
            <a:ext cx="11357810" cy="646331"/>
          </a:xfrm>
          <a:prstGeom prst="rect">
            <a:avLst/>
          </a:prstGeom>
        </p:spPr>
        <p:txBody>
          <a:bodyPr wrap="square">
            <a:spAutoFit/>
          </a:bodyPr>
          <a:lstStyle/>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Para definir a los problemas NP-completos, tenemos que volver a utilizar </a:t>
            </a:r>
            <a:r>
              <a:rPr lang="es-AR" b="1" dirty="0">
                <a:solidFill>
                  <a:srgbClr val="0070C0"/>
                </a:solidFill>
                <a:latin typeface="Arial" panose="020B0604020202020204" pitchFamily="34" charset="0"/>
                <a:cs typeface="Arial" panose="020B0604020202020204" pitchFamily="34" charset="0"/>
              </a:rPr>
              <a:t>reducciones</a:t>
            </a:r>
            <a:r>
              <a:rPr lang="es-AR" dirty="0">
                <a:latin typeface="Arial" panose="020B0604020202020204" pitchFamily="34" charset="0"/>
                <a:cs typeface="Arial" panose="020B0604020202020204" pitchFamily="34" charset="0"/>
              </a:rPr>
              <a:t>, ahora </a:t>
            </a:r>
            <a:r>
              <a:rPr lang="es-AR" b="1" dirty="0">
                <a:solidFill>
                  <a:srgbClr val="0070C0"/>
                </a:solidFill>
                <a:latin typeface="Arial" panose="020B0604020202020204" pitchFamily="34" charset="0"/>
                <a:cs typeface="Arial" panose="020B0604020202020204" pitchFamily="34" charset="0"/>
              </a:rPr>
              <a:t>polinomiales</a:t>
            </a:r>
            <a:r>
              <a:rPr lang="es-AR" dirty="0">
                <a:latin typeface="Arial" panose="020B0604020202020204" pitchFamily="34" charset="0"/>
                <a:cs typeface="Arial" panose="020B0604020202020204" pitchFamily="34" charset="0"/>
              </a:rPr>
              <a:t>, es decir computables en tiempo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(n):</a:t>
            </a:r>
          </a:p>
        </p:txBody>
      </p:sp>
      <p:sp>
        <p:nvSpPr>
          <p:cNvPr id="13" name="Rectángulo 12">
            <a:extLst>
              <a:ext uri="{FF2B5EF4-FFF2-40B4-BE49-F238E27FC236}">
                <a16:creationId xmlns:a16="http://schemas.microsoft.com/office/drawing/2014/main" id="{0454E117-C2F5-4310-BA2F-FD75FD1A70CC}"/>
              </a:ext>
            </a:extLst>
          </p:cNvPr>
          <p:cNvSpPr/>
          <p:nvPr/>
        </p:nvSpPr>
        <p:spPr>
          <a:xfrm>
            <a:off x="371869" y="4673287"/>
            <a:ext cx="11261557" cy="1754326"/>
          </a:xfrm>
          <a:prstGeom prst="rect">
            <a:avLst/>
          </a:prstGeom>
        </p:spPr>
        <p:txBody>
          <a:bodyPr wrap="square">
            <a:spAutoFit/>
          </a:bodyPr>
          <a:lstStyle/>
          <a:p>
            <a:pPr marL="342900" indent="-342900" algn="just">
              <a:buFont typeface="Arial" panose="020B0604020202020204" pitchFamily="34" charset="0"/>
              <a:buChar char="•"/>
            </a:pPr>
            <a:r>
              <a:rPr lang="es-ES" dirty="0">
                <a:solidFill>
                  <a:srgbClr val="000000"/>
                </a:solidFill>
                <a:latin typeface="Arial" panose="020B0604020202020204" pitchFamily="34" charset="0"/>
                <a:cs typeface="Arial" panose="020B0604020202020204" pitchFamily="34" charset="0"/>
              </a:rPr>
              <a:t>La expresión </a:t>
            </a:r>
            <a:r>
              <a:rPr lang="es-ES" b="1" dirty="0">
                <a:latin typeface="Arial" panose="020B0604020202020204" pitchFamily="34" charset="0"/>
                <a:cs typeface="Arial" panose="020B0604020202020204" pitchFamily="34" charset="0"/>
              </a:rPr>
              <a:t>L</a:t>
            </a:r>
            <a:r>
              <a:rPr lang="es-ES" b="1" baseline="-25000" dirty="0">
                <a:latin typeface="Arial" panose="020B0604020202020204" pitchFamily="34" charset="0"/>
                <a:cs typeface="Arial" panose="020B0604020202020204" pitchFamily="34" charset="0"/>
              </a:rPr>
              <a:t>1</a:t>
            </a:r>
            <a:r>
              <a:rPr lang="es-ES" b="1" dirty="0">
                <a:latin typeface="Arial" panose="020B0604020202020204" pitchFamily="34" charset="0"/>
                <a:cs typeface="Arial" panose="020B0604020202020204" pitchFamily="34" charset="0"/>
              </a:rPr>
              <a:t> </a:t>
            </a: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latin typeface="Arial" panose="020B0604020202020204" pitchFamily="34" charset="0"/>
                <a:cs typeface="Arial" panose="020B0604020202020204" pitchFamily="34" charset="0"/>
              </a:rPr>
              <a:t>p </a:t>
            </a:r>
            <a:r>
              <a:rPr lang="es-ES" b="1" dirty="0">
                <a:latin typeface="Arial" panose="020B0604020202020204" pitchFamily="34" charset="0"/>
                <a:cs typeface="Arial" panose="020B0604020202020204" pitchFamily="34" charset="0"/>
              </a:rPr>
              <a:t>L</a:t>
            </a:r>
            <a:r>
              <a:rPr lang="es-ES" b="1" baseline="-25000" dirty="0">
                <a:latin typeface="Arial" panose="020B0604020202020204" pitchFamily="34" charset="0"/>
                <a:cs typeface="Arial" panose="020B0604020202020204" pitchFamily="34" charset="0"/>
              </a:rPr>
              <a:t>2</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establece que existe una reducción polinomial de</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 L</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ES" dirty="0">
                <a:latin typeface="Arial" panose="020B0604020202020204" pitchFamily="34" charset="0"/>
                <a:cs typeface="Arial" panose="020B0604020202020204" pitchFamily="34" charset="0"/>
              </a:rPr>
              <a:t>Se cumple, como en el caso general, que las reducciones polinomiales son </a:t>
            </a:r>
            <a:r>
              <a:rPr lang="es-ES" b="1" dirty="0">
                <a:latin typeface="Arial" panose="020B0604020202020204" pitchFamily="34" charset="0"/>
                <a:cs typeface="Arial" panose="020B0604020202020204" pitchFamily="34" charset="0"/>
              </a:rPr>
              <a:t>reflexivas, transitivas</a:t>
            </a:r>
            <a:r>
              <a:rPr lang="es-ES" dirty="0">
                <a:latin typeface="Arial" panose="020B0604020202020204" pitchFamily="34" charset="0"/>
                <a:cs typeface="Arial" panose="020B0604020202020204" pitchFamily="34" charset="0"/>
              </a:rPr>
              <a:t> y      </a:t>
            </a:r>
            <a:r>
              <a:rPr lang="es-ES" b="1" dirty="0">
                <a:latin typeface="Arial" panose="020B0604020202020204" pitchFamily="34" charset="0"/>
                <a:cs typeface="Arial" panose="020B0604020202020204" pitchFamily="34" charset="0"/>
              </a:rPr>
              <a:t>no simétricas</a:t>
            </a:r>
            <a:r>
              <a:rPr lang="es-ES" dirty="0">
                <a:latin typeface="Arial" panose="020B0604020202020204" pitchFamily="34" charset="0"/>
                <a:cs typeface="Arial" panose="020B0604020202020204" pitchFamily="34" charset="0"/>
              </a:rPr>
              <a:t>. </a:t>
            </a:r>
          </a:p>
          <a:p>
            <a:pPr algn="just"/>
            <a:endParaRPr lang="es-ES"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ES" dirty="0">
                <a:latin typeface="Arial" panose="020B0604020202020204" pitchFamily="34" charset="0"/>
                <a:cs typeface="Arial" panose="020B0604020202020204" pitchFamily="34" charset="0"/>
              </a:rPr>
              <a:t>También como en el caso general, las reducciones polinomiales permiten </a:t>
            </a:r>
            <a:r>
              <a:rPr lang="es-ES" b="1" dirty="0">
                <a:latin typeface="Arial" panose="020B0604020202020204" pitchFamily="34" charset="0"/>
                <a:cs typeface="Arial" panose="020B0604020202020204" pitchFamily="34" charset="0"/>
              </a:rPr>
              <a:t>relacionar lenguajes.</a:t>
            </a:r>
            <a:endParaRPr lang="es-ES" dirty="0">
              <a:latin typeface="Arial" panose="020B0604020202020204" pitchFamily="34" charset="0"/>
              <a:cs typeface="Arial" panose="020B0604020202020204" pitchFamily="34" charset="0"/>
            </a:endParaRPr>
          </a:p>
        </p:txBody>
      </p:sp>
      <p:sp>
        <p:nvSpPr>
          <p:cNvPr id="30" name="Slide Number Placeholder 2">
            <a:extLst>
              <a:ext uri="{FF2B5EF4-FFF2-40B4-BE49-F238E27FC236}">
                <a16:creationId xmlns:a16="http://schemas.microsoft.com/office/drawing/2014/main" id="{D8E3DC2D-5A99-4726-B003-E62B3D513CD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7" name="Diagrama de flujo: conector 6">
            <a:extLst>
              <a:ext uri="{FF2B5EF4-FFF2-40B4-BE49-F238E27FC236}">
                <a16:creationId xmlns:a16="http://schemas.microsoft.com/office/drawing/2014/main" id="{A234838C-4565-8AE6-A671-3FD11A403926}"/>
              </a:ext>
            </a:extLst>
          </p:cNvPr>
          <p:cNvSpPr/>
          <p:nvPr/>
        </p:nvSpPr>
        <p:spPr>
          <a:xfrm>
            <a:off x="2378245" y="1912461"/>
            <a:ext cx="2150761" cy="247607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Diagrama de flujo: conector 7">
            <a:extLst>
              <a:ext uri="{FF2B5EF4-FFF2-40B4-BE49-F238E27FC236}">
                <a16:creationId xmlns:a16="http://schemas.microsoft.com/office/drawing/2014/main" id="{52E3E4CD-D150-EA1E-08BA-29C53268FD87}"/>
              </a:ext>
            </a:extLst>
          </p:cNvPr>
          <p:cNvSpPr/>
          <p:nvPr/>
        </p:nvSpPr>
        <p:spPr>
          <a:xfrm>
            <a:off x="2805186" y="2509265"/>
            <a:ext cx="1337666" cy="1541381"/>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Diagrama de flujo: conector 8">
            <a:extLst>
              <a:ext uri="{FF2B5EF4-FFF2-40B4-BE49-F238E27FC236}">
                <a16:creationId xmlns:a16="http://schemas.microsoft.com/office/drawing/2014/main" id="{70A6A0F4-33E0-28DC-E041-7EDE1C7812FD}"/>
              </a:ext>
            </a:extLst>
          </p:cNvPr>
          <p:cNvSpPr/>
          <p:nvPr/>
        </p:nvSpPr>
        <p:spPr>
          <a:xfrm>
            <a:off x="5072227" y="1912461"/>
            <a:ext cx="2047545" cy="247607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492969A0-6394-EC84-310A-6794024A2AD1}"/>
              </a:ext>
            </a:extLst>
          </p:cNvPr>
          <p:cNvSpPr/>
          <p:nvPr/>
        </p:nvSpPr>
        <p:spPr>
          <a:xfrm>
            <a:off x="3276270" y="2514021"/>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1</a:t>
            </a:r>
            <a:endParaRPr lang="es-MX" sz="2400" dirty="0"/>
          </a:p>
        </p:txBody>
      </p:sp>
      <p:sp>
        <p:nvSpPr>
          <p:cNvPr id="11" name="Rectángulo 10">
            <a:extLst>
              <a:ext uri="{FF2B5EF4-FFF2-40B4-BE49-F238E27FC236}">
                <a16:creationId xmlns:a16="http://schemas.microsoft.com/office/drawing/2014/main" id="{766E9697-AB30-7CEC-0F70-DC5608DE5DA5}"/>
              </a:ext>
            </a:extLst>
          </p:cNvPr>
          <p:cNvSpPr/>
          <p:nvPr/>
        </p:nvSpPr>
        <p:spPr>
          <a:xfrm>
            <a:off x="3284685" y="3214021"/>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1</a:t>
            </a:r>
            <a:endParaRPr lang="es-MX" sz="1600" dirty="0"/>
          </a:p>
        </p:txBody>
      </p:sp>
      <p:sp>
        <p:nvSpPr>
          <p:cNvPr id="12" name="CuadroTexto 11">
            <a:extLst>
              <a:ext uri="{FF2B5EF4-FFF2-40B4-BE49-F238E27FC236}">
                <a16:creationId xmlns:a16="http://schemas.microsoft.com/office/drawing/2014/main" id="{A071D9F1-AF4F-6CC0-CBB9-125451BFD0B6}"/>
              </a:ext>
            </a:extLst>
          </p:cNvPr>
          <p:cNvSpPr txBox="1"/>
          <p:nvPr/>
        </p:nvSpPr>
        <p:spPr>
          <a:xfrm>
            <a:off x="3213164" y="1924491"/>
            <a:ext cx="712216" cy="584775"/>
          </a:xfrm>
          <a:prstGeom prst="rect">
            <a:avLst/>
          </a:prstGeom>
          <a:noFill/>
        </p:spPr>
        <p:txBody>
          <a:bodyPr wrap="square">
            <a:spAutoFit/>
          </a:bodyPr>
          <a:lstStyle/>
          <a:p>
            <a:r>
              <a:rPr lang="es-AR" sz="3200" dirty="0">
                <a:latin typeface="Arial" panose="020B0604020202020204" pitchFamily="34" charset="0"/>
                <a:cs typeface="Arial" panose="020B0604020202020204" pitchFamily="34" charset="0"/>
              </a:rPr>
              <a:t>Ʃ*</a:t>
            </a:r>
            <a:endParaRPr lang="es-AR" sz="3200" dirty="0"/>
          </a:p>
        </p:txBody>
      </p:sp>
      <p:sp>
        <p:nvSpPr>
          <p:cNvPr id="17" name="Diagrama de flujo: conector 16">
            <a:extLst>
              <a:ext uri="{FF2B5EF4-FFF2-40B4-BE49-F238E27FC236}">
                <a16:creationId xmlns:a16="http://schemas.microsoft.com/office/drawing/2014/main" id="{DE33ED24-C574-220D-386F-14E6969B038C}"/>
              </a:ext>
            </a:extLst>
          </p:cNvPr>
          <p:cNvSpPr/>
          <p:nvPr/>
        </p:nvSpPr>
        <p:spPr>
          <a:xfrm>
            <a:off x="5480789" y="2535102"/>
            <a:ext cx="1277956" cy="1492460"/>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AAC013F5-46EF-ED42-7C1C-0055218D076B}"/>
              </a:ext>
            </a:extLst>
          </p:cNvPr>
          <p:cNvSpPr txBox="1"/>
          <p:nvPr/>
        </p:nvSpPr>
        <p:spPr>
          <a:xfrm>
            <a:off x="5861626" y="1932808"/>
            <a:ext cx="712216" cy="584775"/>
          </a:xfrm>
          <a:prstGeom prst="rect">
            <a:avLst/>
          </a:prstGeom>
          <a:noFill/>
        </p:spPr>
        <p:txBody>
          <a:bodyPr wrap="square">
            <a:spAutoFit/>
          </a:bodyPr>
          <a:lstStyle/>
          <a:p>
            <a:r>
              <a:rPr lang="es-AR" sz="3200" dirty="0">
                <a:latin typeface="Arial" panose="020B0604020202020204" pitchFamily="34" charset="0"/>
                <a:cs typeface="Arial" panose="020B0604020202020204" pitchFamily="34" charset="0"/>
              </a:rPr>
              <a:t>Ʃ*</a:t>
            </a:r>
            <a:endParaRPr lang="es-AR" sz="3200" dirty="0"/>
          </a:p>
        </p:txBody>
      </p:sp>
      <p:sp>
        <p:nvSpPr>
          <p:cNvPr id="20" name="Rectángulo 19">
            <a:extLst>
              <a:ext uri="{FF2B5EF4-FFF2-40B4-BE49-F238E27FC236}">
                <a16:creationId xmlns:a16="http://schemas.microsoft.com/office/drawing/2014/main" id="{2EB47D18-F610-1CC2-F011-7B315CBF90C5}"/>
              </a:ext>
            </a:extLst>
          </p:cNvPr>
          <p:cNvSpPr/>
          <p:nvPr/>
        </p:nvSpPr>
        <p:spPr>
          <a:xfrm>
            <a:off x="5893194" y="2581154"/>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2</a:t>
            </a:r>
            <a:endParaRPr lang="es-MX" sz="2400" dirty="0"/>
          </a:p>
        </p:txBody>
      </p:sp>
      <p:cxnSp>
        <p:nvCxnSpPr>
          <p:cNvPr id="33" name="Conector recto de flecha 32">
            <a:extLst>
              <a:ext uri="{FF2B5EF4-FFF2-40B4-BE49-F238E27FC236}">
                <a16:creationId xmlns:a16="http://schemas.microsoft.com/office/drawing/2014/main" id="{D067A49C-B161-2262-94DB-147D6E812A91}"/>
              </a:ext>
            </a:extLst>
          </p:cNvPr>
          <p:cNvCxnSpPr>
            <a:cxnSpLocks/>
          </p:cNvCxnSpPr>
          <p:nvPr/>
        </p:nvCxnSpPr>
        <p:spPr>
          <a:xfrm flipV="1">
            <a:off x="3672222" y="3369072"/>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ángulo 33">
            <a:extLst>
              <a:ext uri="{FF2B5EF4-FFF2-40B4-BE49-F238E27FC236}">
                <a16:creationId xmlns:a16="http://schemas.microsoft.com/office/drawing/2014/main" id="{E1D95EC1-B2AE-8D59-157C-A7D1BACD20AF}"/>
              </a:ext>
            </a:extLst>
          </p:cNvPr>
          <p:cNvSpPr/>
          <p:nvPr/>
        </p:nvSpPr>
        <p:spPr>
          <a:xfrm>
            <a:off x="5963453" y="3199410"/>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a:t>
            </a:r>
            <a:endParaRPr lang="es-MX" sz="1600" dirty="0"/>
          </a:p>
        </p:txBody>
      </p:sp>
      <p:sp>
        <p:nvSpPr>
          <p:cNvPr id="35" name="Rectángulo 34">
            <a:extLst>
              <a:ext uri="{FF2B5EF4-FFF2-40B4-BE49-F238E27FC236}">
                <a16:creationId xmlns:a16="http://schemas.microsoft.com/office/drawing/2014/main" id="{93B75CA9-1023-EE6F-C68E-9784C768F8E5}"/>
              </a:ext>
            </a:extLst>
          </p:cNvPr>
          <p:cNvSpPr/>
          <p:nvPr/>
        </p:nvSpPr>
        <p:spPr>
          <a:xfrm>
            <a:off x="3276270" y="4042173"/>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2</a:t>
            </a:r>
            <a:endParaRPr lang="es-MX" sz="1600" dirty="0"/>
          </a:p>
        </p:txBody>
      </p:sp>
      <p:cxnSp>
        <p:nvCxnSpPr>
          <p:cNvPr id="36" name="Conector recto de flecha 35">
            <a:extLst>
              <a:ext uri="{FF2B5EF4-FFF2-40B4-BE49-F238E27FC236}">
                <a16:creationId xmlns:a16="http://schemas.microsoft.com/office/drawing/2014/main" id="{BB3422D9-CFE7-47D5-546F-993B81AE2E21}"/>
              </a:ext>
            </a:extLst>
          </p:cNvPr>
          <p:cNvCxnSpPr>
            <a:cxnSpLocks/>
          </p:cNvCxnSpPr>
          <p:nvPr/>
        </p:nvCxnSpPr>
        <p:spPr>
          <a:xfrm flipV="1">
            <a:off x="3663807" y="4197224"/>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61B2714D-0010-53B3-4FE4-7BECC4AF7E84}"/>
              </a:ext>
            </a:extLst>
          </p:cNvPr>
          <p:cNvSpPr/>
          <p:nvPr/>
        </p:nvSpPr>
        <p:spPr>
          <a:xfrm>
            <a:off x="5955038" y="4027562"/>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a:t>
            </a:r>
            <a:endParaRPr lang="es-MX" sz="1600" dirty="0"/>
          </a:p>
        </p:txBody>
      </p:sp>
      <p:sp>
        <p:nvSpPr>
          <p:cNvPr id="39" name="Rectángulo 38">
            <a:extLst>
              <a:ext uri="{FF2B5EF4-FFF2-40B4-BE49-F238E27FC236}">
                <a16:creationId xmlns:a16="http://schemas.microsoft.com/office/drawing/2014/main" id="{89B5A2DC-F3E8-CC28-2BF3-4C67BF16C426}"/>
              </a:ext>
            </a:extLst>
          </p:cNvPr>
          <p:cNvSpPr/>
          <p:nvPr/>
        </p:nvSpPr>
        <p:spPr>
          <a:xfrm>
            <a:off x="8064839" y="3512481"/>
            <a:ext cx="3132487" cy="369332"/>
          </a:xfrm>
          <a:prstGeom prst="rect">
            <a:avLst/>
          </a:prstGeom>
        </p:spPr>
        <p:txBody>
          <a:bodyPr wrap="square">
            <a:spAutoFit/>
          </a:bodyPr>
          <a:lstStyle/>
          <a:p>
            <a:r>
              <a:rPr lang="es-MX" dirty="0">
                <a:latin typeface="Arial" panose="020B0604020202020204" pitchFamily="34" charset="0"/>
                <a:ea typeface="Times New Roman" panose="02020603050405020304" pitchFamily="18" charset="0"/>
                <a:cs typeface="Arial" panose="020B0604020202020204" pitchFamily="34" charset="0"/>
              </a:rPr>
              <a:t>tiempo </a:t>
            </a:r>
            <a:r>
              <a:rPr lang="es-MX" dirty="0" err="1">
                <a:latin typeface="Arial" panose="020B0604020202020204" pitchFamily="34" charset="0"/>
                <a:ea typeface="Times New Roman" panose="02020603050405020304" pitchFamily="18" charset="0"/>
                <a:cs typeface="Arial" panose="020B0604020202020204" pitchFamily="34" charset="0"/>
              </a:rPr>
              <a:t>poly</a:t>
            </a:r>
            <a:r>
              <a:rPr lang="es-MX" dirty="0">
                <a:latin typeface="Arial" panose="020B0604020202020204" pitchFamily="34" charset="0"/>
                <a:ea typeface="Times New Roman" panose="02020603050405020304" pitchFamily="18" charset="0"/>
                <a:cs typeface="Arial" panose="020B0604020202020204" pitchFamily="34" charset="0"/>
              </a:rPr>
              <a:t>(|w|) </a:t>
            </a:r>
            <a:endParaRPr lang="es-MX" dirty="0"/>
          </a:p>
        </p:txBody>
      </p:sp>
      <p:sp>
        <p:nvSpPr>
          <p:cNvPr id="42" name="Rectángulo 41">
            <a:extLst>
              <a:ext uri="{FF2B5EF4-FFF2-40B4-BE49-F238E27FC236}">
                <a16:creationId xmlns:a16="http://schemas.microsoft.com/office/drawing/2014/main" id="{390BBBDA-120D-6A58-4B35-5ADED50D7D0F}"/>
              </a:ext>
            </a:extLst>
          </p:cNvPr>
          <p:cNvSpPr/>
          <p:nvPr/>
        </p:nvSpPr>
        <p:spPr>
          <a:xfrm>
            <a:off x="8680074" y="2714035"/>
            <a:ext cx="420308"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f</a:t>
            </a:r>
            <a:endParaRPr lang="es-MX" dirty="0"/>
          </a:p>
        </p:txBody>
      </p:sp>
      <p:sp>
        <p:nvSpPr>
          <p:cNvPr id="44" name="Rectángulo 43">
            <a:extLst>
              <a:ext uri="{FF2B5EF4-FFF2-40B4-BE49-F238E27FC236}">
                <a16:creationId xmlns:a16="http://schemas.microsoft.com/office/drawing/2014/main" id="{722D77E9-0F77-F3A5-5499-2C57F507D30E}"/>
              </a:ext>
            </a:extLst>
          </p:cNvPr>
          <p:cNvSpPr/>
          <p:nvPr/>
        </p:nvSpPr>
        <p:spPr>
          <a:xfrm>
            <a:off x="7853461" y="2616673"/>
            <a:ext cx="332142" cy="369332"/>
          </a:xfrm>
          <a:prstGeom prst="rect">
            <a:avLst/>
          </a:prstGeom>
        </p:spPr>
        <p:txBody>
          <a:bodyPr wrap="square">
            <a:spAutoFit/>
          </a:bodyPr>
          <a:lstStyle/>
          <a:p>
            <a:r>
              <a:rPr lang="es-AR" dirty="0">
                <a:solidFill>
                  <a:srgbClr val="000000"/>
                </a:solidFill>
                <a:latin typeface="Arial" panose="020B0604020202020204" pitchFamily="34" charset="0"/>
                <a:cs typeface="Arial" panose="020B0604020202020204" pitchFamily="34" charset="0"/>
              </a:rPr>
              <a:t>w</a:t>
            </a:r>
            <a:endParaRPr lang="es-MX" dirty="0"/>
          </a:p>
        </p:txBody>
      </p:sp>
      <p:sp>
        <p:nvSpPr>
          <p:cNvPr id="46" name="Rectángulo 45">
            <a:extLst>
              <a:ext uri="{FF2B5EF4-FFF2-40B4-BE49-F238E27FC236}">
                <a16:creationId xmlns:a16="http://schemas.microsoft.com/office/drawing/2014/main" id="{D8F3128A-A296-856F-3BF5-D7DC860032AD}"/>
              </a:ext>
            </a:extLst>
          </p:cNvPr>
          <p:cNvSpPr/>
          <p:nvPr/>
        </p:nvSpPr>
        <p:spPr>
          <a:xfrm>
            <a:off x="8433463" y="2509265"/>
            <a:ext cx="931518" cy="9259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Rectángulo 47">
            <a:extLst>
              <a:ext uri="{FF2B5EF4-FFF2-40B4-BE49-F238E27FC236}">
                <a16:creationId xmlns:a16="http://schemas.microsoft.com/office/drawing/2014/main" id="{F7C76064-F0A0-600C-A925-492B58DE3693}"/>
              </a:ext>
            </a:extLst>
          </p:cNvPr>
          <p:cNvSpPr/>
          <p:nvPr/>
        </p:nvSpPr>
        <p:spPr>
          <a:xfrm>
            <a:off x="9457506" y="2602790"/>
            <a:ext cx="558720" cy="369332"/>
          </a:xfrm>
          <a:prstGeom prst="rect">
            <a:avLst/>
          </a:prstGeom>
        </p:spPr>
        <p:txBody>
          <a:bodyPr wrap="square">
            <a:spAutoFit/>
          </a:bodyPr>
          <a:lstStyle/>
          <a:p>
            <a:r>
              <a:rPr lang="es-MX" dirty="0"/>
              <a:t>f(w)</a:t>
            </a:r>
          </a:p>
        </p:txBody>
      </p:sp>
      <p:cxnSp>
        <p:nvCxnSpPr>
          <p:cNvPr id="49" name="Conector recto de flecha 48">
            <a:extLst>
              <a:ext uri="{FF2B5EF4-FFF2-40B4-BE49-F238E27FC236}">
                <a16:creationId xmlns:a16="http://schemas.microsoft.com/office/drawing/2014/main" id="{DF7B891D-5AFB-D0B6-3233-ABEC8714B888}"/>
              </a:ext>
            </a:extLst>
          </p:cNvPr>
          <p:cNvCxnSpPr>
            <a:cxnSpLocks/>
          </p:cNvCxnSpPr>
          <p:nvPr/>
        </p:nvCxnSpPr>
        <p:spPr>
          <a:xfrm>
            <a:off x="9385209" y="2928707"/>
            <a:ext cx="703315" cy="27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de flecha 53">
            <a:extLst>
              <a:ext uri="{FF2B5EF4-FFF2-40B4-BE49-F238E27FC236}">
                <a16:creationId xmlns:a16="http://schemas.microsoft.com/office/drawing/2014/main" id="{C079B47C-9256-32DF-7AE0-B796BFE17575}"/>
              </a:ext>
            </a:extLst>
          </p:cNvPr>
          <p:cNvCxnSpPr>
            <a:cxnSpLocks/>
          </p:cNvCxnSpPr>
          <p:nvPr/>
        </p:nvCxnSpPr>
        <p:spPr>
          <a:xfrm>
            <a:off x="7800411" y="2930405"/>
            <a:ext cx="63305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ángulo 2">
            <a:extLst>
              <a:ext uri="{FF2B5EF4-FFF2-40B4-BE49-F238E27FC236}">
                <a16:creationId xmlns:a16="http://schemas.microsoft.com/office/drawing/2014/main" id="{D0122FE5-F7EA-6E0D-CFEA-54637E8A0E62}"/>
              </a:ext>
            </a:extLst>
          </p:cNvPr>
          <p:cNvSpPr/>
          <p:nvPr/>
        </p:nvSpPr>
        <p:spPr>
          <a:xfrm>
            <a:off x="249172" y="143605"/>
            <a:ext cx="5846828"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Reducciones polinomiales</a:t>
            </a:r>
          </a:p>
        </p:txBody>
      </p:sp>
      <p:sp>
        <p:nvSpPr>
          <p:cNvPr id="4" name="Rectángulo 3">
            <a:extLst>
              <a:ext uri="{FF2B5EF4-FFF2-40B4-BE49-F238E27FC236}">
                <a16:creationId xmlns:a16="http://schemas.microsoft.com/office/drawing/2014/main" id="{260E33FA-ADA3-8C96-F5D6-58925258443D}"/>
              </a:ext>
            </a:extLst>
          </p:cNvPr>
          <p:cNvSpPr/>
          <p:nvPr/>
        </p:nvSpPr>
        <p:spPr>
          <a:xfrm>
            <a:off x="4531528" y="3552937"/>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37E50773-0438-2FBD-5452-2A7C8D96A6D5}"/>
              </a:ext>
            </a:extLst>
          </p:cNvPr>
          <p:cNvSpPr/>
          <p:nvPr/>
        </p:nvSpPr>
        <p:spPr>
          <a:xfrm>
            <a:off x="4612095" y="3630774"/>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512012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AF846D6-1510-4EA0-B958-23000A3DF642}"/>
              </a:ext>
            </a:extLst>
          </p:cNvPr>
          <p:cNvSpPr/>
          <p:nvPr/>
        </p:nvSpPr>
        <p:spPr>
          <a:xfrm>
            <a:off x="308935" y="811359"/>
            <a:ext cx="11118716" cy="6263253"/>
          </a:xfrm>
          <a:prstGeom prst="rect">
            <a:avLst/>
          </a:prstGeom>
        </p:spPr>
        <p:txBody>
          <a:bodyPr wrap="square">
            <a:spAutoFit/>
          </a:bodyPr>
          <a:lstStyle/>
          <a:p>
            <a:r>
              <a:rPr lang="es-AR" b="1" u="sng" dirty="0">
                <a:latin typeface="Arial" panose="020B0604020202020204" pitchFamily="34" charset="0"/>
                <a:cs typeface="Arial" panose="020B0604020202020204" pitchFamily="34" charset="0"/>
              </a:rPr>
              <a:t>Teorema</a:t>
            </a:r>
          </a:p>
          <a:p>
            <a:endParaRPr lang="es-AR" sz="600" b="1" dirty="0">
              <a:latin typeface="Arial" panose="020B0604020202020204" pitchFamily="34" charset="0"/>
              <a:cs typeface="Arial" panose="020B0604020202020204" pitchFamily="34" charset="0"/>
            </a:endParaRPr>
          </a:p>
          <a:p>
            <a:pPr marL="457200" indent="-457200">
              <a:buAutoNum type="alphaLcParenBoth"/>
            </a:pP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aseline="-25000" dirty="0">
                <a:latin typeface="Arial" panose="020B0604020202020204" pitchFamily="34" charset="0"/>
                <a:cs typeface="Arial" panose="020B0604020202020204" pitchFamily="34" charset="0"/>
              </a:rPr>
              <a:t>p</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y   L</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sym typeface="Symbol" panose="05050102010706020507" pitchFamily="18" charset="2"/>
              </a:rPr>
              <a:t> P: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P</a:t>
            </a:r>
            <a:endParaRPr lang="es-AR" dirty="0">
              <a:latin typeface="Arial" panose="020B0604020202020204" pitchFamily="34" charset="0"/>
              <a:cs typeface="Arial" panose="020B0604020202020204" pitchFamily="34" charset="0"/>
            </a:endParaRPr>
          </a:p>
          <a:p>
            <a:pPr marL="457200" indent="-457200">
              <a:buFontTx/>
              <a:buAutoNum type="alphaLcParenBoth"/>
            </a:pP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n-US"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aseline="-25000" dirty="0">
                <a:latin typeface="Arial" panose="020B0604020202020204" pitchFamily="34" charset="0"/>
                <a:cs typeface="Arial" panose="020B0604020202020204" pitchFamily="34" charset="0"/>
              </a:rPr>
              <a:t>p</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y   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NP:  </a:t>
            </a:r>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NP</a:t>
            </a:r>
          </a:p>
          <a:p>
            <a:pPr marL="457200" indent="-457200">
              <a:buFontTx/>
              <a:buAutoNum type="alphaLcParenBoth"/>
            </a:pPr>
            <a:endParaRPr lang="es-AR" dirty="0">
              <a:latin typeface="Arial" panose="020B0604020202020204" pitchFamily="34" charset="0"/>
              <a:cs typeface="Arial" panose="020B0604020202020204" pitchFamily="34" charset="0"/>
            </a:endParaRPr>
          </a:p>
          <a:p>
            <a:pPr>
              <a:spcAft>
                <a:spcPts val="0"/>
              </a:spcAft>
            </a:pPr>
            <a:endParaRPr lang="es-AR" sz="15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MX" sz="800" dirty="0">
              <a:latin typeface="Arial" panose="020B0604020202020204" pitchFamily="34" charset="0"/>
              <a:ea typeface="Times New Roman" panose="02020603050405020304" pitchFamily="18" charset="0"/>
              <a:cs typeface="Arial" panose="020B0604020202020204" pitchFamily="34" charset="0"/>
            </a:endParaRPr>
          </a:p>
          <a:p>
            <a:pPr algn="just">
              <a:spcAft>
                <a:spcPts val="0"/>
              </a:spcAft>
            </a:pPr>
            <a:endParaRPr lang="es-MX" sz="1600" b="1" dirty="0">
              <a:latin typeface="Arial" panose="020B0604020202020204" pitchFamily="34" charset="0"/>
              <a:ea typeface="Times New Roman" panose="02020603050405020304" pitchFamily="18" charset="0"/>
              <a:cs typeface="Arial" panose="020B0604020202020204" pitchFamily="34" charset="0"/>
            </a:endParaRPr>
          </a:p>
          <a:p>
            <a:pPr algn="just"/>
            <a:endParaRPr lang="es-MX" sz="1600" dirty="0">
              <a:latin typeface="Arial" panose="020B0604020202020204" pitchFamily="34" charset="0"/>
              <a:ea typeface="Times New Roman" panose="02020603050405020304" pitchFamily="18" charset="0"/>
              <a:cs typeface="Arial" panose="020B0604020202020204" pitchFamily="34" charset="0"/>
            </a:endParaRPr>
          </a:p>
          <a:p>
            <a:pPr marL="285750" indent="-285750" algn="just">
              <a:spcAft>
                <a:spcPts val="0"/>
              </a:spcAft>
              <a:buFontTx/>
              <a:buChar char="-"/>
            </a:pPr>
            <a:endParaRPr lang="es-AR" sz="1600" b="1" dirty="0">
              <a:latin typeface="Arial" panose="020B0604020202020204" pitchFamily="34" charset="0"/>
              <a:cs typeface="Arial" panose="020B0604020202020204" pitchFamily="34" charset="0"/>
            </a:endParaRPr>
          </a:p>
          <a:p>
            <a:pPr>
              <a:spcAft>
                <a:spcPts val="0"/>
              </a:spcAft>
            </a:pPr>
            <a:endParaRPr lang="es-AR" dirty="0">
              <a:latin typeface="Arial" panose="020B0604020202020204" pitchFamily="34" charset="0"/>
              <a:cs typeface="Arial" panose="020B0604020202020204" pitchFamily="34" charset="0"/>
            </a:endParaRPr>
          </a:p>
          <a:p>
            <a:pPr>
              <a:spcAft>
                <a:spcPts val="0"/>
              </a:spcAft>
            </a:pPr>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endParaRPr lang="es-AR" dirty="0">
              <a:latin typeface="Arial" panose="020B0604020202020204" pitchFamily="34" charset="0"/>
              <a:cs typeface="Arial" panose="020B0604020202020204" pitchFamily="34" charset="0"/>
            </a:endParaRPr>
          </a:p>
          <a:p>
            <a:r>
              <a:rPr lang="es-MX" dirty="0">
                <a:latin typeface="Arial" panose="020B0604020202020204" pitchFamily="34" charset="0"/>
                <a:ea typeface="Times New Roman" panose="02020603050405020304" pitchFamily="18" charset="0"/>
                <a:cs typeface="Arial" panose="020B0604020202020204" pitchFamily="34" charset="0"/>
              </a:rPr>
              <a:t> </a:t>
            </a:r>
          </a:p>
          <a:p>
            <a:endParaRPr lang="es-MX" dirty="0">
              <a:latin typeface="Arial" panose="020B0604020202020204" pitchFamily="34" charset="0"/>
              <a:ea typeface="Times New Roman" panose="02020603050405020304" pitchFamily="18" charset="0"/>
              <a:cs typeface="Arial" panose="020B0604020202020204" pitchFamily="34" charset="0"/>
            </a:endParaRPr>
          </a:p>
          <a:p>
            <a:endParaRPr lang="es-MX" dirty="0">
              <a:latin typeface="Arial" panose="020B0604020202020204" pitchFamily="34" charset="0"/>
              <a:ea typeface="Times New Roman" panose="02020603050405020304" pitchFamily="18" charset="0"/>
              <a:cs typeface="Arial" panose="020B0604020202020204" pitchFamily="34" charset="0"/>
            </a:endParaRPr>
          </a:p>
          <a:p>
            <a:endParaRPr lang="es-MX" dirty="0">
              <a:latin typeface="Arial" panose="020B0604020202020204" pitchFamily="34" charset="0"/>
              <a:ea typeface="Times New Roman" panose="02020603050405020304" pitchFamily="18" charset="0"/>
              <a:cs typeface="Arial" panose="020B0604020202020204" pitchFamily="34" charset="0"/>
            </a:endParaRPr>
          </a:p>
        </p:txBody>
      </p:sp>
      <p:sp>
        <p:nvSpPr>
          <p:cNvPr id="13" name="Rectángulo 12">
            <a:extLst>
              <a:ext uri="{FF2B5EF4-FFF2-40B4-BE49-F238E27FC236}">
                <a16:creationId xmlns:a16="http://schemas.microsoft.com/office/drawing/2014/main" id="{C864867A-58CD-48DC-B255-0599D6A9C00B}"/>
              </a:ext>
            </a:extLst>
          </p:cNvPr>
          <p:cNvSpPr/>
          <p:nvPr/>
        </p:nvSpPr>
        <p:spPr>
          <a:xfrm>
            <a:off x="1024014" y="3566016"/>
            <a:ext cx="904415" cy="523220"/>
          </a:xfrm>
          <a:prstGeom prst="rect">
            <a:avLst/>
          </a:prstGeom>
        </p:spPr>
        <p:txBody>
          <a:bodyPr wrap="none">
            <a:spAutoFit/>
          </a:bodyPr>
          <a:lstStyle/>
          <a:p>
            <a:r>
              <a:rPr lang="es-MX" sz="1400" dirty="0">
                <a:latin typeface="Arial" panose="020B0604020202020204" pitchFamily="34" charset="0"/>
                <a:ea typeface="Times New Roman" panose="02020603050405020304" pitchFamily="18" charset="0"/>
                <a:cs typeface="Arial" panose="020B0604020202020204" pitchFamily="34" charset="0"/>
              </a:rPr>
              <a:t>tiempo</a:t>
            </a:r>
          </a:p>
          <a:p>
            <a:r>
              <a:rPr lang="es-MX" sz="1400" dirty="0" err="1">
                <a:latin typeface="Arial" panose="020B0604020202020204" pitchFamily="34" charset="0"/>
                <a:ea typeface="Times New Roman" panose="02020603050405020304" pitchFamily="18" charset="0"/>
                <a:cs typeface="Arial" panose="020B0604020202020204" pitchFamily="34" charset="0"/>
              </a:rPr>
              <a:t>poly</a:t>
            </a:r>
            <a:r>
              <a:rPr lang="es-MX" sz="1400" dirty="0">
                <a:latin typeface="Arial" panose="020B0604020202020204" pitchFamily="34" charset="0"/>
                <a:ea typeface="Times New Roman" panose="02020603050405020304" pitchFamily="18" charset="0"/>
                <a:cs typeface="Arial" panose="020B0604020202020204" pitchFamily="34" charset="0"/>
              </a:rPr>
              <a:t>(|w|) </a:t>
            </a:r>
            <a:endParaRPr lang="es-MX" sz="1400" dirty="0"/>
          </a:p>
        </p:txBody>
      </p:sp>
      <p:sp>
        <p:nvSpPr>
          <p:cNvPr id="14" name="Rectángulo 13">
            <a:extLst>
              <a:ext uri="{FF2B5EF4-FFF2-40B4-BE49-F238E27FC236}">
                <a16:creationId xmlns:a16="http://schemas.microsoft.com/office/drawing/2014/main" id="{399A1A0A-2F5C-4EE9-A93D-15C047632D54}"/>
              </a:ext>
            </a:extLst>
          </p:cNvPr>
          <p:cNvSpPr/>
          <p:nvPr/>
        </p:nvSpPr>
        <p:spPr>
          <a:xfrm>
            <a:off x="2257480" y="3566016"/>
            <a:ext cx="1013419" cy="523220"/>
          </a:xfrm>
          <a:prstGeom prst="rect">
            <a:avLst/>
          </a:prstGeom>
        </p:spPr>
        <p:txBody>
          <a:bodyPr wrap="none">
            <a:spAutoFit/>
          </a:bodyPr>
          <a:lstStyle/>
          <a:p>
            <a:r>
              <a:rPr lang="es-MX" sz="1400" dirty="0">
                <a:latin typeface="Arial" panose="020B0604020202020204" pitchFamily="34" charset="0"/>
                <a:ea typeface="Times New Roman" panose="02020603050405020304" pitchFamily="18" charset="0"/>
                <a:cs typeface="Arial" panose="020B0604020202020204" pitchFamily="34" charset="0"/>
              </a:rPr>
              <a:t>tiempo</a:t>
            </a:r>
          </a:p>
          <a:p>
            <a:r>
              <a:rPr lang="es-MX" sz="1400" dirty="0" err="1">
                <a:latin typeface="Arial" panose="020B0604020202020204" pitchFamily="34" charset="0"/>
                <a:ea typeface="Times New Roman" panose="02020603050405020304" pitchFamily="18" charset="0"/>
                <a:cs typeface="Arial" panose="020B0604020202020204" pitchFamily="34" charset="0"/>
              </a:rPr>
              <a:t>poly</a:t>
            </a:r>
            <a:r>
              <a:rPr lang="es-MX" sz="1400" dirty="0">
                <a:latin typeface="Arial" panose="020B0604020202020204" pitchFamily="34" charset="0"/>
                <a:ea typeface="Times New Roman" panose="02020603050405020304" pitchFamily="18" charset="0"/>
                <a:cs typeface="Arial" panose="020B0604020202020204" pitchFamily="34" charset="0"/>
              </a:rPr>
              <a:t>(|f(w|) </a:t>
            </a:r>
            <a:endParaRPr lang="es-MX" sz="1400" dirty="0"/>
          </a:p>
        </p:txBody>
      </p:sp>
      <p:sp>
        <p:nvSpPr>
          <p:cNvPr id="39" name="Rectángulo 38">
            <a:extLst>
              <a:ext uri="{FF2B5EF4-FFF2-40B4-BE49-F238E27FC236}">
                <a16:creationId xmlns:a16="http://schemas.microsoft.com/office/drawing/2014/main" id="{90648F1A-2B67-4F42-A32D-F70215441B67}"/>
              </a:ext>
            </a:extLst>
          </p:cNvPr>
          <p:cNvSpPr/>
          <p:nvPr/>
        </p:nvSpPr>
        <p:spPr>
          <a:xfrm>
            <a:off x="1756517" y="2576520"/>
            <a:ext cx="46198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M</a:t>
            </a:r>
            <a:r>
              <a:rPr lang="es-AR" baseline="-25000" dirty="0">
                <a:latin typeface="Arial" panose="020B0604020202020204" pitchFamily="34" charset="0"/>
                <a:cs typeface="Arial" panose="020B0604020202020204" pitchFamily="34" charset="0"/>
              </a:rPr>
              <a:t>1</a:t>
            </a:r>
            <a:endParaRPr lang="es-MX" dirty="0"/>
          </a:p>
        </p:txBody>
      </p:sp>
      <p:sp>
        <p:nvSpPr>
          <p:cNvPr id="40" name="Rectángulo 39">
            <a:extLst>
              <a:ext uri="{FF2B5EF4-FFF2-40B4-BE49-F238E27FC236}">
                <a16:creationId xmlns:a16="http://schemas.microsoft.com/office/drawing/2014/main" id="{9CC31489-2B5C-4715-9DA3-D2AD50444B86}"/>
              </a:ext>
            </a:extLst>
          </p:cNvPr>
          <p:cNvSpPr/>
          <p:nvPr/>
        </p:nvSpPr>
        <p:spPr>
          <a:xfrm>
            <a:off x="1127242" y="3141041"/>
            <a:ext cx="420308"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f</a:t>
            </a:r>
            <a:endParaRPr lang="es-MX" dirty="0"/>
          </a:p>
        </p:txBody>
      </p:sp>
      <p:sp>
        <p:nvSpPr>
          <p:cNvPr id="41" name="Rectángulo 40">
            <a:extLst>
              <a:ext uri="{FF2B5EF4-FFF2-40B4-BE49-F238E27FC236}">
                <a16:creationId xmlns:a16="http://schemas.microsoft.com/office/drawing/2014/main" id="{09DDEC50-54BB-4EC0-ACC5-A9476F51F896}"/>
              </a:ext>
            </a:extLst>
          </p:cNvPr>
          <p:cNvSpPr/>
          <p:nvPr/>
        </p:nvSpPr>
        <p:spPr>
          <a:xfrm>
            <a:off x="2419861" y="3124194"/>
            <a:ext cx="461986"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2</a:t>
            </a:r>
            <a:endParaRPr lang="es-MX" dirty="0"/>
          </a:p>
        </p:txBody>
      </p:sp>
      <p:sp>
        <p:nvSpPr>
          <p:cNvPr id="42" name="Rectángulo 41">
            <a:extLst>
              <a:ext uri="{FF2B5EF4-FFF2-40B4-BE49-F238E27FC236}">
                <a16:creationId xmlns:a16="http://schemas.microsoft.com/office/drawing/2014/main" id="{4D66CE0E-98F5-4317-A6B1-9311578927D6}"/>
              </a:ext>
            </a:extLst>
          </p:cNvPr>
          <p:cNvSpPr/>
          <p:nvPr/>
        </p:nvSpPr>
        <p:spPr>
          <a:xfrm>
            <a:off x="497339" y="3021873"/>
            <a:ext cx="332142" cy="338554"/>
          </a:xfrm>
          <a:prstGeom prst="rect">
            <a:avLst/>
          </a:prstGeom>
        </p:spPr>
        <p:txBody>
          <a:bodyPr wrap="square">
            <a:spAutoFit/>
          </a:bodyPr>
          <a:lstStyle/>
          <a:p>
            <a:r>
              <a:rPr lang="es-AR" sz="1600" dirty="0">
                <a:solidFill>
                  <a:srgbClr val="000000"/>
                </a:solidFill>
                <a:latin typeface="Arial" panose="020B0604020202020204" pitchFamily="34" charset="0"/>
                <a:cs typeface="Arial" panose="020B0604020202020204" pitchFamily="34" charset="0"/>
              </a:rPr>
              <a:t>w</a:t>
            </a:r>
            <a:endParaRPr lang="es-MX" sz="1600" dirty="0"/>
          </a:p>
        </p:txBody>
      </p:sp>
      <p:sp>
        <p:nvSpPr>
          <p:cNvPr id="43" name="Rectángulo 42">
            <a:extLst>
              <a:ext uri="{FF2B5EF4-FFF2-40B4-BE49-F238E27FC236}">
                <a16:creationId xmlns:a16="http://schemas.microsoft.com/office/drawing/2014/main" id="{DFBC1AAD-4352-4575-A4CB-C385D3E6609D}"/>
              </a:ext>
            </a:extLst>
          </p:cNvPr>
          <p:cNvSpPr/>
          <p:nvPr/>
        </p:nvSpPr>
        <p:spPr>
          <a:xfrm>
            <a:off x="3578844" y="2991388"/>
            <a:ext cx="441146"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sí</a:t>
            </a:r>
            <a:endParaRPr lang="es-MX" sz="1600" dirty="0"/>
          </a:p>
        </p:txBody>
      </p:sp>
      <p:sp>
        <p:nvSpPr>
          <p:cNvPr id="44" name="Rectángulo 43">
            <a:extLst>
              <a:ext uri="{FF2B5EF4-FFF2-40B4-BE49-F238E27FC236}">
                <a16:creationId xmlns:a16="http://schemas.microsoft.com/office/drawing/2014/main" id="{79C75E0C-BD3A-46F7-9E69-52AF00CE92C0}"/>
              </a:ext>
            </a:extLst>
          </p:cNvPr>
          <p:cNvSpPr/>
          <p:nvPr/>
        </p:nvSpPr>
        <p:spPr>
          <a:xfrm>
            <a:off x="1082836" y="3109696"/>
            <a:ext cx="551790" cy="4353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Diagrama de flujo: proceso 44">
            <a:extLst>
              <a:ext uri="{FF2B5EF4-FFF2-40B4-BE49-F238E27FC236}">
                <a16:creationId xmlns:a16="http://schemas.microsoft.com/office/drawing/2014/main" id="{4E730673-6F7E-447F-9D96-0EA0FB839951}"/>
              </a:ext>
            </a:extLst>
          </p:cNvPr>
          <p:cNvSpPr/>
          <p:nvPr/>
        </p:nvSpPr>
        <p:spPr>
          <a:xfrm>
            <a:off x="810187" y="2897100"/>
            <a:ext cx="2373045" cy="1259183"/>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Rectángulo 45">
            <a:extLst>
              <a:ext uri="{FF2B5EF4-FFF2-40B4-BE49-F238E27FC236}">
                <a16:creationId xmlns:a16="http://schemas.microsoft.com/office/drawing/2014/main" id="{99F7B748-73A4-4060-A947-5C524C117E1E}"/>
              </a:ext>
            </a:extLst>
          </p:cNvPr>
          <p:cNvSpPr/>
          <p:nvPr/>
        </p:nvSpPr>
        <p:spPr>
          <a:xfrm>
            <a:off x="1708150" y="3037642"/>
            <a:ext cx="558720" cy="338554"/>
          </a:xfrm>
          <a:prstGeom prst="rect">
            <a:avLst/>
          </a:prstGeom>
        </p:spPr>
        <p:txBody>
          <a:bodyPr wrap="square">
            <a:spAutoFit/>
          </a:bodyPr>
          <a:lstStyle/>
          <a:p>
            <a:r>
              <a:rPr lang="es-MX" sz="1600" dirty="0"/>
              <a:t>f(w)</a:t>
            </a:r>
          </a:p>
        </p:txBody>
      </p:sp>
      <p:cxnSp>
        <p:nvCxnSpPr>
          <p:cNvPr id="47" name="Conector recto de flecha 46">
            <a:extLst>
              <a:ext uri="{FF2B5EF4-FFF2-40B4-BE49-F238E27FC236}">
                <a16:creationId xmlns:a16="http://schemas.microsoft.com/office/drawing/2014/main" id="{B39FFD51-CE55-4F2F-83B1-AC8D3A852D65}"/>
              </a:ext>
            </a:extLst>
          </p:cNvPr>
          <p:cNvCxnSpPr>
            <a:cxnSpLocks/>
          </p:cNvCxnSpPr>
          <p:nvPr/>
        </p:nvCxnSpPr>
        <p:spPr>
          <a:xfrm>
            <a:off x="1635853" y="3322931"/>
            <a:ext cx="703315" cy="27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ángulo 47">
            <a:extLst>
              <a:ext uri="{FF2B5EF4-FFF2-40B4-BE49-F238E27FC236}">
                <a16:creationId xmlns:a16="http://schemas.microsoft.com/office/drawing/2014/main" id="{7BFF97F4-A6C9-4309-934E-F92D0A64D4DB}"/>
              </a:ext>
            </a:extLst>
          </p:cNvPr>
          <p:cNvSpPr/>
          <p:nvPr/>
        </p:nvSpPr>
        <p:spPr>
          <a:xfrm>
            <a:off x="2339168" y="3092147"/>
            <a:ext cx="543340" cy="4755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9" name="Conector recto de flecha 48">
            <a:extLst>
              <a:ext uri="{FF2B5EF4-FFF2-40B4-BE49-F238E27FC236}">
                <a16:creationId xmlns:a16="http://schemas.microsoft.com/office/drawing/2014/main" id="{6AD2E515-B286-4AFA-B28B-7589E7766474}"/>
              </a:ext>
            </a:extLst>
          </p:cNvPr>
          <p:cNvCxnSpPr>
            <a:cxnSpLocks/>
          </p:cNvCxnSpPr>
          <p:nvPr/>
        </p:nvCxnSpPr>
        <p:spPr>
          <a:xfrm>
            <a:off x="2881847" y="3334530"/>
            <a:ext cx="696997" cy="1275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DB3405AC-1669-4DEA-8137-60731A4FD9E6}"/>
              </a:ext>
            </a:extLst>
          </p:cNvPr>
          <p:cNvCxnSpPr>
            <a:cxnSpLocks/>
          </p:cNvCxnSpPr>
          <p:nvPr/>
        </p:nvCxnSpPr>
        <p:spPr>
          <a:xfrm flipV="1">
            <a:off x="2887743" y="3182841"/>
            <a:ext cx="696742" cy="1289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ángulo 50">
            <a:extLst>
              <a:ext uri="{FF2B5EF4-FFF2-40B4-BE49-F238E27FC236}">
                <a16:creationId xmlns:a16="http://schemas.microsoft.com/office/drawing/2014/main" id="{C598424A-16E4-489F-BFB5-1F9F180A6894}"/>
              </a:ext>
            </a:extLst>
          </p:cNvPr>
          <p:cNvSpPr/>
          <p:nvPr/>
        </p:nvSpPr>
        <p:spPr>
          <a:xfrm>
            <a:off x="3596709" y="3292774"/>
            <a:ext cx="412292" cy="338554"/>
          </a:xfrm>
          <a:prstGeom prst="rect">
            <a:avLst/>
          </a:prstGeom>
        </p:spPr>
        <p:txBody>
          <a:bodyPr wrap="square">
            <a:spAutoFit/>
          </a:body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no</a:t>
            </a:r>
            <a:endParaRPr lang="es-MX" sz="1600" dirty="0"/>
          </a:p>
        </p:txBody>
      </p:sp>
      <p:cxnSp>
        <p:nvCxnSpPr>
          <p:cNvPr id="52" name="Conector recto de flecha 51">
            <a:extLst>
              <a:ext uri="{FF2B5EF4-FFF2-40B4-BE49-F238E27FC236}">
                <a16:creationId xmlns:a16="http://schemas.microsoft.com/office/drawing/2014/main" id="{851E67A8-863D-495F-86AB-B01A99D63F75}"/>
              </a:ext>
            </a:extLst>
          </p:cNvPr>
          <p:cNvCxnSpPr>
            <a:cxnSpLocks/>
          </p:cNvCxnSpPr>
          <p:nvPr/>
        </p:nvCxnSpPr>
        <p:spPr>
          <a:xfrm>
            <a:off x="449784" y="3308860"/>
            <a:ext cx="63305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Slide Number Placeholder 2">
            <a:extLst>
              <a:ext uri="{FF2B5EF4-FFF2-40B4-BE49-F238E27FC236}">
                <a16:creationId xmlns:a16="http://schemas.microsoft.com/office/drawing/2014/main" id="{5866FA36-E855-4ED5-AA84-04BF9E64F515}"/>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7" name="CuadroTexto 56">
            <a:extLst>
              <a:ext uri="{FF2B5EF4-FFF2-40B4-BE49-F238E27FC236}">
                <a16:creationId xmlns:a16="http://schemas.microsoft.com/office/drawing/2014/main" id="{8107ABE3-D45A-4FCB-977F-4CF18DC28243}"/>
              </a:ext>
            </a:extLst>
          </p:cNvPr>
          <p:cNvSpPr txBox="1"/>
          <p:nvPr/>
        </p:nvSpPr>
        <p:spPr>
          <a:xfrm>
            <a:off x="346527" y="4500283"/>
            <a:ext cx="6749598" cy="646331"/>
          </a:xfrm>
          <a:prstGeom prst="rect">
            <a:avLst/>
          </a:prstGeom>
          <a:noFill/>
        </p:spPr>
        <p:txBody>
          <a:bodyPr wrap="square">
            <a:spAutoFit/>
          </a:bodyPr>
          <a:lstStyle/>
          <a:p>
            <a:pPr algn="just">
              <a:spcAft>
                <a:spcPts val="0"/>
              </a:spcAft>
            </a:pPr>
            <a:r>
              <a:rPr lang="es-MX" sz="1600" dirty="0">
                <a:latin typeface="Arial" panose="020B0604020202020204" pitchFamily="34" charset="0"/>
                <a:ea typeface="Times New Roman" panose="02020603050405020304" pitchFamily="18" charset="0"/>
                <a:cs typeface="Arial" panose="020B0604020202020204" pitchFamily="34" charset="0"/>
              </a:rPr>
              <a:t>(</a:t>
            </a:r>
            <a:r>
              <a:rPr lang="es-MX" dirty="0">
                <a:latin typeface="Arial" panose="020B0604020202020204" pitchFamily="34" charset="0"/>
                <a:ea typeface="Times New Roman" panose="02020603050405020304" pitchFamily="18" charset="0"/>
                <a:cs typeface="Arial" panose="020B0604020202020204" pitchFamily="34" charset="0"/>
              </a:rPr>
              <a:t>a)   M</a:t>
            </a:r>
            <a:r>
              <a:rPr lang="es-AR" baseline="-25000" dirty="0">
                <a:latin typeface="Arial" panose="020B0604020202020204" pitchFamily="34" charset="0"/>
                <a:cs typeface="Arial" panose="020B0604020202020204" pitchFamily="34" charset="0"/>
              </a:rPr>
              <a:t>2</a:t>
            </a:r>
            <a:r>
              <a:rPr lang="es-MX" baseline="-25000" dirty="0">
                <a:latin typeface="Arial" panose="020B0604020202020204" pitchFamily="34" charset="0"/>
                <a:cs typeface="Arial" panose="020B0604020202020204" pitchFamily="34" charset="0"/>
              </a:rPr>
              <a:t> </a:t>
            </a:r>
            <a:r>
              <a:rPr lang="es-MX" b="1" dirty="0">
                <a:latin typeface="Arial" panose="020B0604020202020204" pitchFamily="34" charset="0"/>
                <a:ea typeface="Times New Roman" panose="02020603050405020304" pitchFamily="18" charset="0"/>
                <a:cs typeface="Arial" panose="020B0604020202020204" pitchFamily="34" charset="0"/>
              </a:rPr>
              <a:t>decide</a:t>
            </a:r>
            <a:r>
              <a:rPr lang="es-MX" dirty="0">
                <a:latin typeface="Arial" panose="020B0604020202020204" pitchFamily="34" charset="0"/>
                <a:ea typeface="Times New Roman" panose="02020603050405020304" pitchFamily="18" charset="0"/>
                <a:cs typeface="Arial" panose="020B0604020202020204" pitchFamily="34" charset="0"/>
              </a:rPr>
              <a:t> si f(w)</a:t>
            </a:r>
            <a:r>
              <a:rPr lang="es-AR" dirty="0">
                <a:latin typeface="Arial" panose="020B0604020202020204" pitchFamily="34" charset="0"/>
                <a:cs typeface="Arial" panose="020B0604020202020204" pitchFamily="34" charset="0"/>
                <a:sym typeface="Symbol" panose="05050102010706020507" pitchFamily="18" charset="2"/>
              </a:rPr>
              <a:t>  </a:t>
            </a:r>
            <a:r>
              <a:rPr lang="es-MX" dirty="0">
                <a:latin typeface="Arial" panose="020B0604020202020204" pitchFamily="34" charset="0"/>
                <a:ea typeface="Times New Roman" panose="02020603050405020304" pitchFamily="18"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MX" baseline="-25000" dirty="0">
                <a:latin typeface="Arial" panose="020B0604020202020204" pitchFamily="34" charset="0"/>
                <a:cs typeface="Arial" panose="020B0604020202020204" pitchFamily="34" charset="0"/>
              </a:rPr>
              <a:t> </a:t>
            </a:r>
            <a:r>
              <a:rPr lang="es-MX" dirty="0">
                <a:latin typeface="Arial" panose="020B0604020202020204" pitchFamily="34" charset="0"/>
                <a:ea typeface="Times New Roman" panose="02020603050405020304" pitchFamily="18" charset="0"/>
                <a:cs typeface="Arial" panose="020B0604020202020204" pitchFamily="34" charset="0"/>
              </a:rPr>
              <a:t>y así M</a:t>
            </a:r>
            <a:r>
              <a:rPr lang="es-AR" baseline="-25000" dirty="0">
                <a:latin typeface="Arial" panose="020B0604020202020204" pitchFamily="34" charset="0"/>
                <a:cs typeface="Arial" panose="020B0604020202020204" pitchFamily="34" charset="0"/>
              </a:rPr>
              <a:t>1</a:t>
            </a:r>
            <a:r>
              <a:rPr lang="es-MX" baseline="-25000" dirty="0">
                <a:latin typeface="Arial" panose="020B0604020202020204" pitchFamily="34" charset="0"/>
                <a:cs typeface="Arial" panose="020B0604020202020204" pitchFamily="34" charset="0"/>
              </a:rPr>
              <a:t> </a:t>
            </a:r>
            <a:r>
              <a:rPr lang="es-MX" b="1" dirty="0">
                <a:latin typeface="Arial" panose="020B0604020202020204" pitchFamily="34" charset="0"/>
                <a:ea typeface="Times New Roman" panose="02020603050405020304" pitchFamily="18" charset="0"/>
                <a:cs typeface="Arial" panose="020B0604020202020204" pitchFamily="34" charset="0"/>
              </a:rPr>
              <a:t>decide</a:t>
            </a:r>
            <a:r>
              <a:rPr lang="es-MX" dirty="0">
                <a:latin typeface="Arial" panose="020B0604020202020204" pitchFamily="34" charset="0"/>
                <a:ea typeface="Times New Roman" panose="02020603050405020304" pitchFamily="18" charset="0"/>
                <a:cs typeface="Arial" panose="020B0604020202020204" pitchFamily="34" charset="0"/>
              </a:rPr>
              <a:t> si w </a:t>
            </a:r>
            <a:r>
              <a:rPr lang="es-AR" dirty="0">
                <a:latin typeface="Arial" panose="020B0604020202020204" pitchFamily="34" charset="0"/>
                <a:cs typeface="Arial" panose="020B0604020202020204" pitchFamily="34" charset="0"/>
                <a:sym typeface="Symbol" panose="05050102010706020507" pitchFamily="18" charset="2"/>
              </a:rPr>
              <a:t> </a:t>
            </a:r>
            <a:r>
              <a:rPr lang="es-MX" dirty="0">
                <a:latin typeface="Arial" panose="020B0604020202020204" pitchFamily="34" charset="0"/>
                <a:ea typeface="Times New Roman" panose="02020603050405020304" pitchFamily="18"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MX" dirty="0">
                <a:latin typeface="Arial" panose="020B0604020202020204" pitchFamily="34" charset="0"/>
                <a:ea typeface="Times New Roman" panose="02020603050405020304" pitchFamily="18" charset="0"/>
                <a:cs typeface="Arial" panose="020B0604020202020204" pitchFamily="34" charset="0"/>
              </a:rPr>
              <a:t>  </a:t>
            </a:r>
          </a:p>
          <a:p>
            <a:pPr algn="just">
              <a:spcAft>
                <a:spcPts val="0"/>
              </a:spcAft>
            </a:pPr>
            <a:r>
              <a:rPr lang="es-MX" dirty="0">
                <a:latin typeface="Arial" panose="020B0604020202020204" pitchFamily="34" charset="0"/>
                <a:ea typeface="Times New Roman" panose="02020603050405020304" pitchFamily="18" charset="0"/>
                <a:cs typeface="Arial" panose="020B0604020202020204" pitchFamily="34" charset="0"/>
              </a:rPr>
              <a:t>(b)   M</a:t>
            </a:r>
            <a:r>
              <a:rPr lang="es-AR" baseline="-25000" dirty="0">
                <a:latin typeface="Arial" panose="020B0604020202020204" pitchFamily="34" charset="0"/>
                <a:cs typeface="Arial" panose="020B0604020202020204" pitchFamily="34" charset="0"/>
              </a:rPr>
              <a:t>2</a:t>
            </a:r>
            <a:r>
              <a:rPr lang="es-MX" dirty="0">
                <a:latin typeface="Arial" panose="020B0604020202020204" pitchFamily="34" charset="0"/>
                <a:ea typeface="Times New Roman" panose="02020603050405020304" pitchFamily="18" charset="0"/>
                <a:cs typeface="Arial" panose="020B0604020202020204" pitchFamily="34" charset="0"/>
              </a:rPr>
              <a:t> </a:t>
            </a:r>
            <a:r>
              <a:rPr lang="es-MX" b="1" dirty="0">
                <a:latin typeface="Arial" panose="020B0604020202020204" pitchFamily="34" charset="0"/>
                <a:ea typeface="Times New Roman" panose="02020603050405020304" pitchFamily="18" charset="0"/>
                <a:cs typeface="Arial" panose="020B0604020202020204" pitchFamily="34" charset="0"/>
              </a:rPr>
              <a:t>verifica</a:t>
            </a:r>
            <a:r>
              <a:rPr lang="es-MX" dirty="0">
                <a:latin typeface="Arial" panose="020B0604020202020204" pitchFamily="34" charset="0"/>
                <a:ea typeface="Times New Roman" panose="02020603050405020304" pitchFamily="18" charset="0"/>
                <a:cs typeface="Arial" panose="020B0604020202020204" pitchFamily="34" charset="0"/>
              </a:rPr>
              <a:t> si f(w)</a:t>
            </a:r>
            <a:r>
              <a:rPr lang="es-AR" dirty="0">
                <a:latin typeface="Arial" panose="020B0604020202020204" pitchFamily="34" charset="0"/>
                <a:cs typeface="Arial" panose="020B0604020202020204" pitchFamily="34" charset="0"/>
                <a:sym typeface="Symbol" panose="05050102010706020507" pitchFamily="18" charset="2"/>
              </a:rPr>
              <a:t>  </a:t>
            </a:r>
            <a:r>
              <a:rPr lang="es-MX" dirty="0">
                <a:latin typeface="Arial" panose="020B0604020202020204" pitchFamily="34" charset="0"/>
                <a:ea typeface="Times New Roman" panose="02020603050405020304" pitchFamily="18"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a:t>
            </a:r>
            <a:r>
              <a:rPr lang="es-MX" dirty="0">
                <a:latin typeface="Arial" panose="020B0604020202020204" pitchFamily="34" charset="0"/>
                <a:ea typeface="Times New Roman" panose="02020603050405020304" pitchFamily="18" charset="0"/>
                <a:cs typeface="Arial" panose="020B0604020202020204" pitchFamily="34" charset="0"/>
              </a:rPr>
              <a:t>y así M</a:t>
            </a:r>
            <a:r>
              <a:rPr lang="es-AR" baseline="-25000" dirty="0">
                <a:latin typeface="Arial" panose="020B0604020202020204" pitchFamily="34" charset="0"/>
                <a:cs typeface="Arial" panose="020B0604020202020204" pitchFamily="34" charset="0"/>
              </a:rPr>
              <a:t>1</a:t>
            </a:r>
            <a:r>
              <a:rPr lang="es-MX" baseline="-25000" dirty="0">
                <a:latin typeface="Arial" panose="020B0604020202020204" pitchFamily="34" charset="0"/>
                <a:cs typeface="Arial" panose="020B0604020202020204" pitchFamily="34" charset="0"/>
              </a:rPr>
              <a:t> </a:t>
            </a:r>
            <a:r>
              <a:rPr lang="es-MX" b="1" dirty="0">
                <a:latin typeface="Arial" panose="020B0604020202020204" pitchFamily="34" charset="0"/>
                <a:ea typeface="Times New Roman" panose="02020603050405020304" pitchFamily="18" charset="0"/>
                <a:cs typeface="Arial" panose="020B0604020202020204" pitchFamily="34" charset="0"/>
              </a:rPr>
              <a:t>verifica</a:t>
            </a:r>
            <a:r>
              <a:rPr lang="es-MX" dirty="0">
                <a:latin typeface="Arial" panose="020B0604020202020204" pitchFamily="34" charset="0"/>
                <a:ea typeface="Times New Roman" panose="02020603050405020304" pitchFamily="18" charset="0"/>
                <a:cs typeface="Arial" panose="020B0604020202020204" pitchFamily="34" charset="0"/>
              </a:rPr>
              <a:t> si w </a:t>
            </a:r>
            <a:r>
              <a:rPr lang="es-AR" dirty="0">
                <a:latin typeface="Arial" panose="020B0604020202020204" pitchFamily="34" charset="0"/>
                <a:cs typeface="Arial" panose="020B0604020202020204" pitchFamily="34" charset="0"/>
                <a:sym typeface="Symbol" panose="05050102010706020507" pitchFamily="18" charset="2"/>
              </a:rPr>
              <a:t> </a:t>
            </a:r>
            <a:r>
              <a:rPr lang="es-MX" dirty="0">
                <a:latin typeface="Arial" panose="020B0604020202020204" pitchFamily="34" charset="0"/>
                <a:ea typeface="Times New Roman" panose="02020603050405020304" pitchFamily="18"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r>
              <a:rPr lang="es-MX" baseline="-25000" dirty="0">
                <a:latin typeface="Arial" panose="020B0604020202020204" pitchFamily="34" charset="0"/>
                <a:cs typeface="Arial" panose="020B0604020202020204" pitchFamily="34" charset="0"/>
              </a:rPr>
              <a:t> </a:t>
            </a:r>
            <a:endParaRPr lang="es-MX" dirty="0">
              <a:latin typeface="Arial" panose="020B0604020202020204" pitchFamily="34" charset="0"/>
              <a:ea typeface="Times New Roman" panose="02020603050405020304" pitchFamily="18" charset="0"/>
              <a:cs typeface="Arial" panose="020B0604020202020204" pitchFamily="34" charset="0"/>
            </a:endParaRPr>
          </a:p>
        </p:txBody>
      </p:sp>
      <p:sp>
        <p:nvSpPr>
          <p:cNvPr id="59" name="CuadroTexto 58">
            <a:extLst>
              <a:ext uri="{FF2B5EF4-FFF2-40B4-BE49-F238E27FC236}">
                <a16:creationId xmlns:a16="http://schemas.microsoft.com/office/drawing/2014/main" id="{66C48A2C-EEC8-4CA4-8202-A94715AB3BE5}"/>
              </a:ext>
            </a:extLst>
          </p:cNvPr>
          <p:cNvSpPr txBox="1"/>
          <p:nvPr/>
        </p:nvSpPr>
        <p:spPr>
          <a:xfrm>
            <a:off x="262203" y="5304856"/>
            <a:ext cx="7074428" cy="923330"/>
          </a:xfrm>
          <a:prstGeom prst="rect">
            <a:avLst/>
          </a:prstGeom>
          <a:noFill/>
          <a:ln w="3175">
            <a:noFill/>
          </a:ln>
        </p:spPr>
        <p:txBody>
          <a:bodyPr wrap="square">
            <a:spAutoFit/>
          </a:bodyPr>
          <a:lstStyle/>
          <a:p>
            <a:pPr marL="74250" algn="just"/>
            <a:r>
              <a:rPr lang="es-AR" dirty="0">
                <a:latin typeface="Arial" panose="020B0604020202020204" pitchFamily="34" charset="0"/>
                <a:cs typeface="Arial" panose="020B0604020202020204" pitchFamily="34" charset="0"/>
              </a:rPr>
              <a:t>Tiempo de M</a:t>
            </a:r>
            <a:r>
              <a:rPr lang="es-AR"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(|w|) +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(|f(w)|)</a:t>
            </a:r>
            <a:endParaRPr lang="es-AR" b="1" dirty="0">
              <a:latin typeface="Arial" panose="020B0604020202020204" pitchFamily="34" charset="0"/>
              <a:cs typeface="Arial" panose="020B0604020202020204" pitchFamily="34" charset="0"/>
            </a:endParaRPr>
          </a:p>
          <a:p>
            <a:pPr marL="74250" algn="just"/>
            <a:r>
              <a:rPr lang="es-AR" dirty="0">
                <a:latin typeface="Arial" panose="020B0604020202020204" pitchFamily="34" charset="0"/>
                <a:cs typeface="Arial" panose="020B0604020202020204" pitchFamily="34" charset="0"/>
              </a:rPr>
              <a:t>Como |f(w)| =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(|w|)</a:t>
            </a:r>
            <a:endParaRPr lang="es-AR" dirty="0">
              <a:solidFill>
                <a:srgbClr val="FF0000"/>
              </a:solidFill>
              <a:latin typeface="Arial" panose="020B0604020202020204" pitchFamily="34" charset="0"/>
              <a:cs typeface="Arial" panose="020B0604020202020204" pitchFamily="34" charset="0"/>
            </a:endParaRPr>
          </a:p>
          <a:p>
            <a:pPr marL="74250" algn="just"/>
            <a:r>
              <a:rPr lang="es-AR" dirty="0">
                <a:latin typeface="Arial" panose="020B0604020202020204" pitchFamily="34" charset="0"/>
                <a:cs typeface="Arial" panose="020B0604020202020204" pitchFamily="34" charset="0"/>
              </a:rPr>
              <a:t>entonces </a:t>
            </a:r>
            <a:r>
              <a:rPr lang="es-AR" b="1" dirty="0">
                <a:latin typeface="Arial" panose="020B0604020202020204" pitchFamily="34" charset="0"/>
                <a:cs typeface="Arial" panose="020B0604020202020204" pitchFamily="34" charset="0"/>
              </a:rPr>
              <a:t>tiempo de M</a:t>
            </a:r>
            <a:r>
              <a:rPr lang="es-AR" b="1" baseline="-25000" dirty="0">
                <a:latin typeface="Arial" panose="020B0604020202020204" pitchFamily="34" charset="0"/>
                <a:cs typeface="Arial" panose="020B0604020202020204" pitchFamily="34" charset="0"/>
              </a:rPr>
              <a:t>1 </a:t>
            </a:r>
            <a:r>
              <a:rPr lang="es-AR" b="1" dirty="0">
                <a:latin typeface="Arial" panose="020B0604020202020204" pitchFamily="34" charset="0"/>
                <a:cs typeface="Arial" panose="020B0604020202020204" pitchFamily="34" charset="0"/>
              </a:rPr>
              <a:t>=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(|w|) +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(|w|)) =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(|w|)</a:t>
            </a:r>
          </a:p>
        </p:txBody>
      </p:sp>
      <p:sp>
        <p:nvSpPr>
          <p:cNvPr id="4" name="CuadroTexto 3">
            <a:extLst>
              <a:ext uri="{FF2B5EF4-FFF2-40B4-BE49-F238E27FC236}">
                <a16:creationId xmlns:a16="http://schemas.microsoft.com/office/drawing/2014/main" id="{81124D89-DFC6-9265-ED40-8C2AD6E018A8}"/>
              </a:ext>
            </a:extLst>
          </p:cNvPr>
          <p:cNvSpPr txBox="1"/>
          <p:nvPr/>
        </p:nvSpPr>
        <p:spPr>
          <a:xfrm>
            <a:off x="587987" y="2233823"/>
            <a:ext cx="3144417" cy="369332"/>
          </a:xfrm>
          <a:prstGeom prst="rect">
            <a:avLst/>
          </a:prstGeom>
          <a:noFill/>
        </p:spPr>
        <p:txBody>
          <a:bodyPr wrap="square">
            <a:spAutoFit/>
          </a:bodyPr>
          <a:lstStyle/>
          <a:p>
            <a:pPr algn="just">
              <a:spcAft>
                <a:spcPts val="0"/>
              </a:spcAft>
            </a:pPr>
            <a:r>
              <a:rPr lang="es-AR" b="1" u="sng" dirty="0">
                <a:solidFill>
                  <a:srgbClr val="000000"/>
                </a:solidFill>
                <a:latin typeface="Arial" panose="020B0604020202020204" pitchFamily="34" charset="0"/>
                <a:ea typeface="Times New Roman" panose="02020603050405020304" pitchFamily="18" charset="0"/>
                <a:cs typeface="Arial" panose="020B0604020202020204" pitchFamily="34" charset="0"/>
              </a:rPr>
              <a:t>Idea general de la prueba</a:t>
            </a:r>
          </a:p>
        </p:txBody>
      </p:sp>
      <p:sp>
        <p:nvSpPr>
          <p:cNvPr id="6" name="CuadroTexto 5">
            <a:extLst>
              <a:ext uri="{FF2B5EF4-FFF2-40B4-BE49-F238E27FC236}">
                <a16:creationId xmlns:a16="http://schemas.microsoft.com/office/drawing/2014/main" id="{27B9123E-EF9B-55CE-CB8A-B01660FE3AA5}"/>
              </a:ext>
            </a:extLst>
          </p:cNvPr>
          <p:cNvSpPr txBox="1"/>
          <p:nvPr/>
        </p:nvSpPr>
        <p:spPr>
          <a:xfrm>
            <a:off x="7542406" y="3842720"/>
            <a:ext cx="4683180" cy="2723823"/>
          </a:xfrm>
          <a:prstGeom prst="rect">
            <a:avLst/>
          </a:prstGeom>
          <a:noFill/>
        </p:spPr>
        <p:txBody>
          <a:bodyPr wrap="square">
            <a:spAutoFit/>
          </a:bodyPr>
          <a:lstStyle/>
          <a:p>
            <a:r>
              <a:rPr lang="es-AR" b="1" u="sng" dirty="0">
                <a:latin typeface="Arial" panose="020B0604020202020204" pitchFamily="34" charset="0"/>
                <a:cs typeface="Arial" panose="020B0604020202020204" pitchFamily="34" charset="0"/>
              </a:rPr>
              <a:t>Corolario</a:t>
            </a:r>
          </a:p>
          <a:p>
            <a:endParaRPr lang="es-AR" sz="900" dirty="0">
              <a:latin typeface="Arial" panose="020B0604020202020204" pitchFamily="34" charset="0"/>
              <a:cs typeface="Arial" panose="020B0604020202020204" pitchFamily="34" charset="0"/>
            </a:endParaRPr>
          </a:p>
          <a:p>
            <a:r>
              <a:rPr lang="es-AR" b="1" dirty="0">
                <a:solidFill>
                  <a:srgbClr val="0070C0"/>
                </a:solidFill>
                <a:latin typeface="Arial" panose="020B0604020202020204" pitchFamily="34" charset="0"/>
                <a:cs typeface="Arial" panose="020B0604020202020204" pitchFamily="34" charset="0"/>
              </a:rPr>
              <a:t>(a´)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solidFill>
                  <a:srgbClr val="0070C0"/>
                </a:solidFill>
                <a:latin typeface="Arial" panose="020B0604020202020204" pitchFamily="34" charset="0"/>
                <a:cs typeface="Arial" panose="020B0604020202020204" pitchFamily="34" charset="0"/>
              </a:rPr>
              <a:t>p</a:t>
            </a:r>
            <a:r>
              <a:rPr lang="es-ES"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   </a:t>
            </a:r>
            <a:r>
              <a:rPr lang="es-AR" b="1" dirty="0">
                <a:solidFill>
                  <a:srgbClr val="0070C0"/>
                </a:solidFill>
                <a:latin typeface="Arial" panose="020B0604020202020204" pitchFamily="34" charset="0"/>
                <a:cs typeface="Arial" panose="020B0604020202020204" pitchFamily="34" charset="0"/>
              </a:rPr>
              <a:t>y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s-AR" sz="1800" b="1" dirty="0">
                <a:solidFill>
                  <a:srgbClr val="0070C0"/>
                </a:solidFill>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P: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a:t>
            </a:r>
            <a:r>
              <a:rPr lang="es-AR" sz="1800" b="1" dirty="0">
                <a:solidFill>
                  <a:srgbClr val="0070C0"/>
                </a:solidFill>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P</a:t>
            </a:r>
            <a:endParaRPr lang="es-AR" b="1" dirty="0">
              <a:solidFill>
                <a:srgbClr val="0070C0"/>
              </a:solidFill>
              <a:latin typeface="Arial" panose="020B0604020202020204" pitchFamily="34" charset="0"/>
              <a:cs typeface="Arial" panose="020B0604020202020204" pitchFamily="34" charset="0"/>
            </a:endParaRPr>
          </a:p>
          <a:p>
            <a:r>
              <a:rPr lang="es-AR" b="1" dirty="0">
                <a:solidFill>
                  <a:srgbClr val="0070C0"/>
                </a:solidFill>
                <a:latin typeface="Arial" panose="020B0604020202020204" pitchFamily="34" charset="0"/>
                <a:cs typeface="Arial" panose="020B0604020202020204" pitchFamily="34" charset="0"/>
              </a:rPr>
              <a:t>(b´)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solidFill>
                  <a:srgbClr val="0070C0"/>
                </a:solidFill>
                <a:latin typeface="Arial" panose="020B0604020202020204" pitchFamily="34" charset="0"/>
                <a:cs typeface="Arial" panose="020B0604020202020204" pitchFamily="34" charset="0"/>
              </a:rPr>
              <a:t>p</a:t>
            </a:r>
            <a:r>
              <a:rPr lang="es-ES"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   </a:t>
            </a:r>
            <a:r>
              <a:rPr lang="es-AR" b="1" dirty="0">
                <a:solidFill>
                  <a:srgbClr val="0070C0"/>
                </a:solidFill>
                <a:latin typeface="Arial" panose="020B0604020202020204" pitchFamily="34" charset="0"/>
                <a:cs typeface="Arial" panose="020B0604020202020204" pitchFamily="34" charset="0"/>
              </a:rPr>
              <a:t>y   L</a:t>
            </a:r>
            <a:r>
              <a:rPr lang="es-AR" b="1" baseline="-25000" dirty="0">
                <a:solidFill>
                  <a:srgbClr val="0070C0"/>
                </a:solidFill>
                <a:latin typeface="Arial" panose="020B0604020202020204" pitchFamily="34" charset="0"/>
                <a:cs typeface="Arial" panose="020B0604020202020204" pitchFamily="34" charset="0"/>
              </a:rPr>
              <a:t>1 </a:t>
            </a:r>
            <a:r>
              <a:rPr lang="es-AR" sz="1800" b="1" dirty="0">
                <a:solidFill>
                  <a:srgbClr val="0070C0"/>
                </a:solidFill>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NP: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 </a:t>
            </a:r>
            <a:r>
              <a:rPr lang="es-AR" sz="1800" b="1" dirty="0">
                <a:solidFill>
                  <a:srgbClr val="0070C0"/>
                </a:solidFill>
                <a:effectLst/>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a:t>
            </a:r>
            <a:r>
              <a:rPr lang="es-AR" b="1" dirty="0">
                <a:solidFill>
                  <a:srgbClr val="0070C0"/>
                </a:solidFill>
                <a:latin typeface="Arial" panose="020B0604020202020204" pitchFamily="34" charset="0"/>
                <a:cs typeface="Arial" panose="020B0604020202020204" pitchFamily="34" charset="0"/>
              </a:rPr>
              <a:t>NP</a:t>
            </a:r>
          </a:p>
          <a:p>
            <a:endParaRPr lang="es-AR" dirty="0">
              <a:latin typeface="Arial" panose="020B0604020202020204" pitchFamily="34" charset="0"/>
              <a:cs typeface="Arial" panose="020B0604020202020204" pitchFamily="34" charset="0"/>
            </a:endParaRPr>
          </a:p>
          <a:p>
            <a:r>
              <a:rPr lang="es-AR" b="1" dirty="0">
                <a:solidFill>
                  <a:srgbClr val="0070C0"/>
                </a:solidFill>
                <a:latin typeface="Arial" panose="020B0604020202020204" pitchFamily="34" charset="0"/>
                <a:cs typeface="Arial" panose="020B0604020202020204" pitchFamily="34" charset="0"/>
              </a:rPr>
              <a:t>Si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n-US" b="1" dirty="0">
                <a:solidFill>
                  <a:srgbClr val="0070C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solidFill>
                  <a:srgbClr val="0070C0"/>
                </a:solidFill>
                <a:latin typeface="Arial" panose="020B0604020202020204" pitchFamily="34" charset="0"/>
                <a:cs typeface="Arial" panose="020B0604020202020204" pitchFamily="34" charset="0"/>
              </a:rPr>
              <a:t>p</a:t>
            </a:r>
            <a:r>
              <a:rPr lang="es-ES"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L</a:t>
            </a:r>
            <a:r>
              <a:rPr lang="es-AR" b="1" baseline="-25000" dirty="0">
                <a:solidFill>
                  <a:srgbClr val="0070C0"/>
                </a:solidFill>
                <a:latin typeface="Arial" panose="020B0604020202020204" pitchFamily="34" charset="0"/>
                <a:cs typeface="Arial" panose="020B0604020202020204" pitchFamily="34" charset="0"/>
              </a:rPr>
              <a:t>2 </a:t>
            </a:r>
            <a:r>
              <a:rPr lang="es-AR" b="1" dirty="0">
                <a:solidFill>
                  <a:srgbClr val="0070C0"/>
                </a:solidFill>
                <a:latin typeface="Arial" panose="020B0604020202020204" pitchFamily="34" charset="0"/>
                <a:cs typeface="Arial" panose="020B0604020202020204" pitchFamily="34" charset="0"/>
              </a:rPr>
              <a:t>es tan o más difícil que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p>
          <a:p>
            <a:endParaRPr lang="es-AR" b="1" dirty="0">
              <a:solidFill>
                <a:srgbClr val="0070C0"/>
              </a:solidFill>
              <a:latin typeface="Arial" panose="020B0604020202020204" pitchFamily="34" charset="0"/>
              <a:cs typeface="Arial" panose="020B0604020202020204" pitchFamily="34" charset="0"/>
            </a:endParaRPr>
          </a:p>
          <a:p>
            <a:r>
              <a:rPr lang="es-AR" b="1" dirty="0">
                <a:solidFill>
                  <a:srgbClr val="0070C0"/>
                </a:solidFill>
                <a:latin typeface="Arial" panose="020B0604020202020204" pitchFamily="34" charset="0"/>
                <a:cs typeface="Arial" panose="020B0604020202020204" pitchFamily="34" charset="0"/>
              </a:rPr>
              <a:t>No puede ser que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P y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P</a:t>
            </a:r>
          </a:p>
          <a:p>
            <a:r>
              <a:rPr lang="es-AR" b="1" dirty="0">
                <a:solidFill>
                  <a:srgbClr val="0070C0"/>
                </a:solidFill>
                <a:latin typeface="Arial" panose="020B0604020202020204" pitchFamily="34" charset="0"/>
                <a:cs typeface="Arial" panose="020B0604020202020204" pitchFamily="34" charset="0"/>
              </a:rPr>
              <a:t>No puede ser que L</a:t>
            </a:r>
            <a:r>
              <a:rPr lang="es-AR" b="1" baseline="-25000" dirty="0">
                <a:solidFill>
                  <a:srgbClr val="0070C0"/>
                </a:solidFill>
                <a:latin typeface="Arial" panose="020B0604020202020204" pitchFamily="34" charset="0"/>
                <a:cs typeface="Arial" panose="020B0604020202020204" pitchFamily="34" charset="0"/>
              </a:rPr>
              <a:t>1</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ea typeface="Calibri" panose="020F0502020204030204" pitchFamily="34" charset="0"/>
                <a:cs typeface="Arial" panose="020B0604020202020204" pitchFamily="34" charset="0"/>
              </a:rPr>
              <a:t>∉</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NP y </a:t>
            </a:r>
            <a:r>
              <a:rPr lang="es-AR" b="1" dirty="0">
                <a:solidFill>
                  <a:srgbClr val="0070C0"/>
                </a:solidFill>
                <a:latin typeface="Arial" panose="020B0604020202020204" pitchFamily="34" charset="0"/>
                <a:cs typeface="Arial" panose="020B0604020202020204" pitchFamily="34" charset="0"/>
              </a:rPr>
              <a:t>L</a:t>
            </a:r>
            <a:r>
              <a:rPr lang="es-AR" b="1" baseline="-25000" dirty="0">
                <a:solidFill>
                  <a:srgbClr val="0070C0"/>
                </a:solidFill>
                <a:latin typeface="Arial" panose="020B0604020202020204" pitchFamily="34" charset="0"/>
                <a:cs typeface="Arial" panose="020B0604020202020204" pitchFamily="34" charset="0"/>
              </a:rPr>
              <a:t>2</a:t>
            </a:r>
            <a:r>
              <a:rPr lang="es-AR" b="1" dirty="0">
                <a:solidFill>
                  <a:srgbClr val="0070C0"/>
                </a:solidFill>
                <a:latin typeface="Arial" panose="020B0604020202020204" pitchFamily="34" charset="0"/>
                <a:cs typeface="Arial" panose="020B0604020202020204" pitchFamily="34" charset="0"/>
              </a:rPr>
              <a:t> </a:t>
            </a:r>
            <a:r>
              <a:rPr lang="es-AR" b="1" dirty="0">
                <a:solidFill>
                  <a:srgbClr val="0070C0"/>
                </a:solidFill>
                <a:latin typeface="Arial" panose="020B0604020202020204" pitchFamily="34" charset="0"/>
                <a:cs typeface="Arial" panose="020B0604020202020204" pitchFamily="34" charset="0"/>
                <a:sym typeface="Symbol" panose="05050102010706020507" pitchFamily="18" charset="2"/>
              </a:rPr>
              <a:t> NP</a:t>
            </a:r>
            <a:endParaRPr lang="es-AR" b="1" dirty="0">
              <a:solidFill>
                <a:srgbClr val="0070C0"/>
              </a:solidFill>
              <a:latin typeface="Arial" panose="020B0604020202020204" pitchFamily="34" charset="0"/>
              <a:cs typeface="Arial" panose="020B0604020202020204" pitchFamily="34" charset="0"/>
            </a:endParaRPr>
          </a:p>
          <a:p>
            <a:r>
              <a:rPr lang="es-AR" b="1" dirty="0">
                <a:solidFill>
                  <a:srgbClr val="0070C0"/>
                </a:solidFill>
                <a:latin typeface="Arial" panose="020B0604020202020204" pitchFamily="34" charset="0"/>
                <a:cs typeface="Arial" panose="020B0604020202020204" pitchFamily="34" charset="0"/>
              </a:rPr>
              <a:t> </a:t>
            </a:r>
          </a:p>
        </p:txBody>
      </p:sp>
      <p:sp>
        <p:nvSpPr>
          <p:cNvPr id="7" name="Diagrama de flujo: conector 6">
            <a:extLst>
              <a:ext uri="{FF2B5EF4-FFF2-40B4-BE49-F238E27FC236}">
                <a16:creationId xmlns:a16="http://schemas.microsoft.com/office/drawing/2014/main" id="{AA5A7E8B-1D64-03CF-9D01-5B0A9D072121}"/>
              </a:ext>
            </a:extLst>
          </p:cNvPr>
          <p:cNvSpPr/>
          <p:nvPr/>
        </p:nvSpPr>
        <p:spPr>
          <a:xfrm>
            <a:off x="4678734" y="1190646"/>
            <a:ext cx="1337666" cy="1541381"/>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5DB9BAA7-C2D2-6C60-DEEF-FBFD6072D9C5}"/>
              </a:ext>
            </a:extLst>
          </p:cNvPr>
          <p:cNvSpPr/>
          <p:nvPr/>
        </p:nvSpPr>
        <p:spPr>
          <a:xfrm>
            <a:off x="5149818" y="1195402"/>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1</a:t>
            </a:r>
            <a:endParaRPr lang="es-MX" sz="2400" dirty="0"/>
          </a:p>
        </p:txBody>
      </p:sp>
      <p:sp>
        <p:nvSpPr>
          <p:cNvPr id="10" name="Rectángulo 9">
            <a:extLst>
              <a:ext uri="{FF2B5EF4-FFF2-40B4-BE49-F238E27FC236}">
                <a16:creationId xmlns:a16="http://schemas.microsoft.com/office/drawing/2014/main" id="{B20B8040-0B9D-3F49-4A34-672A8B35D471}"/>
              </a:ext>
            </a:extLst>
          </p:cNvPr>
          <p:cNvSpPr/>
          <p:nvPr/>
        </p:nvSpPr>
        <p:spPr>
          <a:xfrm>
            <a:off x="5158233" y="1895402"/>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1</a:t>
            </a:r>
            <a:endParaRPr lang="es-MX" sz="1600" dirty="0"/>
          </a:p>
        </p:txBody>
      </p:sp>
      <p:sp>
        <p:nvSpPr>
          <p:cNvPr id="12" name="Diagrama de flujo: conector 11">
            <a:extLst>
              <a:ext uri="{FF2B5EF4-FFF2-40B4-BE49-F238E27FC236}">
                <a16:creationId xmlns:a16="http://schemas.microsoft.com/office/drawing/2014/main" id="{EFB433FD-1A96-011D-541F-3DB52F3A9795}"/>
              </a:ext>
            </a:extLst>
          </p:cNvPr>
          <p:cNvSpPr/>
          <p:nvPr/>
        </p:nvSpPr>
        <p:spPr>
          <a:xfrm>
            <a:off x="7354337" y="1216483"/>
            <a:ext cx="1277956" cy="1492460"/>
          </a:xfrm>
          <a:prstGeom prst="flowChartConnector">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A15073DA-2558-196F-AA55-8109D0239840}"/>
              </a:ext>
            </a:extLst>
          </p:cNvPr>
          <p:cNvSpPr/>
          <p:nvPr/>
        </p:nvSpPr>
        <p:spPr>
          <a:xfrm>
            <a:off x="7766742" y="1262535"/>
            <a:ext cx="470000"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L</a:t>
            </a:r>
            <a:r>
              <a:rPr lang="es-AR" sz="2400" baseline="-25000" dirty="0">
                <a:latin typeface="Arial" panose="020B0604020202020204" pitchFamily="34" charset="0"/>
                <a:cs typeface="Arial" panose="020B0604020202020204" pitchFamily="34" charset="0"/>
              </a:rPr>
              <a:t>2</a:t>
            </a:r>
            <a:endParaRPr lang="es-MX" sz="2400" dirty="0"/>
          </a:p>
        </p:txBody>
      </p:sp>
      <p:cxnSp>
        <p:nvCxnSpPr>
          <p:cNvPr id="17" name="Conector recto de flecha 16">
            <a:extLst>
              <a:ext uri="{FF2B5EF4-FFF2-40B4-BE49-F238E27FC236}">
                <a16:creationId xmlns:a16="http://schemas.microsoft.com/office/drawing/2014/main" id="{F65B9EB5-E1C0-8C66-EB2C-6C345CFBA4AC}"/>
              </a:ext>
            </a:extLst>
          </p:cNvPr>
          <p:cNvCxnSpPr>
            <a:cxnSpLocks/>
          </p:cNvCxnSpPr>
          <p:nvPr/>
        </p:nvCxnSpPr>
        <p:spPr>
          <a:xfrm flipV="1">
            <a:off x="5545770" y="2050453"/>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5941865F-1EBF-340A-4F02-1E401E3E796F}"/>
              </a:ext>
            </a:extLst>
          </p:cNvPr>
          <p:cNvSpPr/>
          <p:nvPr/>
        </p:nvSpPr>
        <p:spPr>
          <a:xfrm>
            <a:off x="7837001" y="1880791"/>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a:t>
            </a:r>
            <a:endParaRPr lang="es-MX" sz="1600" dirty="0"/>
          </a:p>
        </p:txBody>
      </p:sp>
      <p:sp>
        <p:nvSpPr>
          <p:cNvPr id="19" name="Rectángulo 18">
            <a:extLst>
              <a:ext uri="{FF2B5EF4-FFF2-40B4-BE49-F238E27FC236}">
                <a16:creationId xmlns:a16="http://schemas.microsoft.com/office/drawing/2014/main" id="{42F764B1-C1FC-4F3A-6402-7CA8EE90CBD8}"/>
              </a:ext>
            </a:extLst>
          </p:cNvPr>
          <p:cNvSpPr/>
          <p:nvPr/>
        </p:nvSpPr>
        <p:spPr>
          <a:xfrm>
            <a:off x="5149818" y="2723554"/>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w</a:t>
            </a:r>
            <a:r>
              <a:rPr lang="es-AR" sz="1600" baseline="-25000" dirty="0">
                <a:latin typeface="Arial" panose="020B0604020202020204" pitchFamily="34" charset="0"/>
                <a:cs typeface="Arial" panose="020B0604020202020204" pitchFamily="34" charset="0"/>
              </a:rPr>
              <a:t>2</a:t>
            </a:r>
            <a:endParaRPr lang="es-MX" sz="1600" dirty="0"/>
          </a:p>
        </p:txBody>
      </p:sp>
      <p:cxnSp>
        <p:nvCxnSpPr>
          <p:cNvPr id="20" name="Conector recto de flecha 19">
            <a:extLst>
              <a:ext uri="{FF2B5EF4-FFF2-40B4-BE49-F238E27FC236}">
                <a16:creationId xmlns:a16="http://schemas.microsoft.com/office/drawing/2014/main" id="{2056E3BF-E423-9532-88BF-654753F2E304}"/>
              </a:ext>
            </a:extLst>
          </p:cNvPr>
          <p:cNvCxnSpPr>
            <a:cxnSpLocks/>
          </p:cNvCxnSpPr>
          <p:nvPr/>
        </p:nvCxnSpPr>
        <p:spPr>
          <a:xfrm flipV="1">
            <a:off x="5537355" y="2878605"/>
            <a:ext cx="2291231" cy="22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54675DB1-99C9-348D-AFE5-4B09C9481BD8}"/>
              </a:ext>
            </a:extLst>
          </p:cNvPr>
          <p:cNvSpPr/>
          <p:nvPr/>
        </p:nvSpPr>
        <p:spPr>
          <a:xfrm>
            <a:off x="7828586" y="2708943"/>
            <a:ext cx="80370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f(w</a:t>
            </a:r>
            <a:r>
              <a:rPr lang="es-AR"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a:t>
            </a:r>
            <a:endParaRPr lang="es-MX" sz="1600" dirty="0"/>
          </a:p>
        </p:txBody>
      </p:sp>
      <p:sp>
        <p:nvSpPr>
          <p:cNvPr id="24" name="Rectángulo 23">
            <a:extLst>
              <a:ext uri="{FF2B5EF4-FFF2-40B4-BE49-F238E27FC236}">
                <a16:creationId xmlns:a16="http://schemas.microsoft.com/office/drawing/2014/main" id="{29927D79-0638-B0B9-1A5B-D2EC44C2D6B1}"/>
              </a:ext>
            </a:extLst>
          </p:cNvPr>
          <p:cNvSpPr/>
          <p:nvPr/>
        </p:nvSpPr>
        <p:spPr>
          <a:xfrm>
            <a:off x="249171" y="143605"/>
            <a:ext cx="11647967"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Reducciones polinomiales (continuación) </a:t>
            </a:r>
          </a:p>
        </p:txBody>
      </p:sp>
      <p:sp>
        <p:nvSpPr>
          <p:cNvPr id="25" name="Rectángulo 24">
            <a:extLst>
              <a:ext uri="{FF2B5EF4-FFF2-40B4-BE49-F238E27FC236}">
                <a16:creationId xmlns:a16="http://schemas.microsoft.com/office/drawing/2014/main" id="{86487B9D-A4F8-6EFE-305D-137354D79396}"/>
              </a:ext>
            </a:extLst>
          </p:cNvPr>
          <p:cNvSpPr/>
          <p:nvPr/>
        </p:nvSpPr>
        <p:spPr>
          <a:xfrm>
            <a:off x="10087080" y="1865787"/>
            <a:ext cx="420308" cy="369332"/>
          </a:xfrm>
          <a:prstGeom prst="rect">
            <a:avLst/>
          </a:prstGeom>
        </p:spPr>
        <p:txBody>
          <a:bodyPr wrap="square">
            <a:spAutoFit/>
          </a:bodyPr>
          <a:lstStyle/>
          <a:p>
            <a:r>
              <a:rPr lang="es-AR"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r>
              <a:rPr lang="es-AR" baseline="-25000" dirty="0">
                <a:solidFill>
                  <a:srgbClr val="000000"/>
                </a:solidFill>
                <a:latin typeface="Arial" panose="020B0604020202020204" pitchFamily="34" charset="0"/>
                <a:ea typeface="Times New Roman" panose="02020603050405020304" pitchFamily="18" charset="0"/>
                <a:cs typeface="Arial" panose="020B0604020202020204" pitchFamily="34" charset="0"/>
              </a:rPr>
              <a:t>f</a:t>
            </a:r>
            <a:endParaRPr lang="es-MX" dirty="0"/>
          </a:p>
        </p:txBody>
      </p:sp>
      <p:sp>
        <p:nvSpPr>
          <p:cNvPr id="26" name="Rectángulo 25">
            <a:extLst>
              <a:ext uri="{FF2B5EF4-FFF2-40B4-BE49-F238E27FC236}">
                <a16:creationId xmlns:a16="http://schemas.microsoft.com/office/drawing/2014/main" id="{421EF9B0-FAC9-ED2C-34C3-C839583816E5}"/>
              </a:ext>
            </a:extLst>
          </p:cNvPr>
          <p:cNvSpPr/>
          <p:nvPr/>
        </p:nvSpPr>
        <p:spPr>
          <a:xfrm>
            <a:off x="9260467" y="1768425"/>
            <a:ext cx="332142" cy="369332"/>
          </a:xfrm>
          <a:prstGeom prst="rect">
            <a:avLst/>
          </a:prstGeom>
        </p:spPr>
        <p:txBody>
          <a:bodyPr wrap="square">
            <a:spAutoFit/>
          </a:bodyPr>
          <a:lstStyle/>
          <a:p>
            <a:r>
              <a:rPr lang="es-AR" dirty="0">
                <a:solidFill>
                  <a:srgbClr val="000000"/>
                </a:solidFill>
                <a:latin typeface="Arial" panose="020B0604020202020204" pitchFamily="34" charset="0"/>
                <a:cs typeface="Arial" panose="020B0604020202020204" pitchFamily="34" charset="0"/>
              </a:rPr>
              <a:t>w</a:t>
            </a:r>
            <a:endParaRPr lang="es-MX" dirty="0"/>
          </a:p>
        </p:txBody>
      </p:sp>
      <p:sp>
        <p:nvSpPr>
          <p:cNvPr id="27" name="Rectángulo 26">
            <a:extLst>
              <a:ext uri="{FF2B5EF4-FFF2-40B4-BE49-F238E27FC236}">
                <a16:creationId xmlns:a16="http://schemas.microsoft.com/office/drawing/2014/main" id="{4E06CB32-C9D1-E803-E021-A18AD35D9558}"/>
              </a:ext>
            </a:extLst>
          </p:cNvPr>
          <p:cNvSpPr/>
          <p:nvPr/>
        </p:nvSpPr>
        <p:spPr>
          <a:xfrm>
            <a:off x="9840469" y="1661017"/>
            <a:ext cx="931518" cy="9259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6653A8B7-9537-37B5-A16E-586DDB9765BB}"/>
              </a:ext>
            </a:extLst>
          </p:cNvPr>
          <p:cNvSpPr/>
          <p:nvPr/>
        </p:nvSpPr>
        <p:spPr>
          <a:xfrm>
            <a:off x="10864512" y="1754542"/>
            <a:ext cx="558720" cy="369332"/>
          </a:xfrm>
          <a:prstGeom prst="rect">
            <a:avLst/>
          </a:prstGeom>
        </p:spPr>
        <p:txBody>
          <a:bodyPr wrap="square">
            <a:spAutoFit/>
          </a:bodyPr>
          <a:lstStyle/>
          <a:p>
            <a:r>
              <a:rPr lang="es-MX" dirty="0"/>
              <a:t>f(w)</a:t>
            </a:r>
          </a:p>
        </p:txBody>
      </p:sp>
      <p:cxnSp>
        <p:nvCxnSpPr>
          <p:cNvPr id="29" name="Conector recto de flecha 28">
            <a:extLst>
              <a:ext uri="{FF2B5EF4-FFF2-40B4-BE49-F238E27FC236}">
                <a16:creationId xmlns:a16="http://schemas.microsoft.com/office/drawing/2014/main" id="{E94E6477-A69D-AA62-4E35-E43C77B59061}"/>
              </a:ext>
            </a:extLst>
          </p:cNvPr>
          <p:cNvCxnSpPr>
            <a:cxnSpLocks/>
          </p:cNvCxnSpPr>
          <p:nvPr/>
        </p:nvCxnSpPr>
        <p:spPr>
          <a:xfrm>
            <a:off x="10792215" y="2080459"/>
            <a:ext cx="703315" cy="27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65442204-E4F3-C3AF-D9C3-FB8981538912}"/>
              </a:ext>
            </a:extLst>
          </p:cNvPr>
          <p:cNvCxnSpPr>
            <a:cxnSpLocks/>
          </p:cNvCxnSpPr>
          <p:nvPr/>
        </p:nvCxnSpPr>
        <p:spPr>
          <a:xfrm>
            <a:off x="9207417" y="2082157"/>
            <a:ext cx="63305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3EE7A58E-6A2E-BB14-4ABF-51FA819E991D}"/>
              </a:ext>
            </a:extLst>
          </p:cNvPr>
          <p:cNvSpPr/>
          <p:nvPr/>
        </p:nvSpPr>
        <p:spPr>
          <a:xfrm>
            <a:off x="6453994" y="2220549"/>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2A1E1310-89F1-578C-980E-0B6FE24BBA7D}"/>
              </a:ext>
            </a:extLst>
          </p:cNvPr>
          <p:cNvSpPr/>
          <p:nvPr/>
        </p:nvSpPr>
        <p:spPr>
          <a:xfrm>
            <a:off x="6516861" y="2278857"/>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5623066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333308" y="867704"/>
            <a:ext cx="7419553" cy="1107996"/>
          </a:xfrm>
          <a:prstGeom prst="rect">
            <a:avLst/>
          </a:prstGeom>
        </p:spPr>
        <p:txBody>
          <a:bodyPr wrap="square">
            <a:spAutoFit/>
          </a:bodyPr>
          <a:lstStyle/>
          <a:p>
            <a:endParaRPr lang="es-AR" sz="600" b="1"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Un lenguaje L es </a:t>
            </a:r>
            <a:r>
              <a:rPr lang="es-AR" b="1" dirty="0">
                <a:solidFill>
                  <a:srgbClr val="0070C0"/>
                </a:solidFill>
                <a:latin typeface="Arial" panose="020B0604020202020204" pitchFamily="34" charset="0"/>
                <a:cs typeface="Arial" panose="020B0604020202020204" pitchFamily="34" charset="0"/>
              </a:rPr>
              <a:t>NP-completo</a:t>
            </a:r>
            <a:r>
              <a:rPr lang="es-AR" dirty="0">
                <a:latin typeface="Arial" panose="020B0604020202020204" pitchFamily="34" charset="0"/>
                <a:cs typeface="Arial" panose="020B0604020202020204" pitchFamily="34" charset="0"/>
              </a:rPr>
              <a:t>, o L ∈ NPC,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a:t>
            </a:r>
          </a:p>
          <a:p>
            <a:endParaRPr lang="es-AR" sz="6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a)   </a:t>
            </a:r>
            <a:r>
              <a:rPr lang="es-AR" b="1" dirty="0">
                <a:latin typeface="Arial" panose="020B0604020202020204" pitchFamily="34" charset="0"/>
                <a:cs typeface="Arial" panose="020B0604020202020204" pitchFamily="34" charset="0"/>
              </a:rPr>
              <a:t>L ∈ NP</a:t>
            </a:r>
          </a:p>
          <a:p>
            <a:r>
              <a:rPr lang="es-AR" dirty="0">
                <a:latin typeface="Arial" panose="020B0604020202020204" pitchFamily="34" charset="0"/>
                <a:cs typeface="Arial" panose="020B0604020202020204" pitchFamily="34" charset="0"/>
              </a:rPr>
              <a:t>  b)   Para todo L´ ∈ NP se cumple L´ </a:t>
            </a:r>
            <a:r>
              <a:rPr lang="en-US"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aseline="-25000" dirty="0">
                <a:latin typeface="Arial" panose="020B0604020202020204" pitchFamily="34" charset="0"/>
                <a:cs typeface="Arial" panose="020B0604020202020204" pitchFamily="34" charset="0"/>
              </a:rPr>
              <a:t>p</a:t>
            </a:r>
            <a:r>
              <a:rPr lang="es-ES" baseline="-25000"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 (se dice que L es </a:t>
            </a:r>
            <a:r>
              <a:rPr lang="es-ES" b="1" dirty="0">
                <a:latin typeface="Arial" panose="020B0604020202020204" pitchFamily="34" charset="0"/>
                <a:cs typeface="Arial" panose="020B0604020202020204" pitchFamily="34" charset="0"/>
              </a:rPr>
              <a:t>NP-difícil</a:t>
            </a:r>
            <a:r>
              <a:rPr lang="es-ES"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a:t>
            </a:r>
          </a:p>
        </p:txBody>
      </p:sp>
      <p:sp>
        <p:nvSpPr>
          <p:cNvPr id="17" name="Rectángulo 16">
            <a:extLst>
              <a:ext uri="{FF2B5EF4-FFF2-40B4-BE49-F238E27FC236}">
                <a16:creationId xmlns:a16="http://schemas.microsoft.com/office/drawing/2014/main" id="{086BACF6-3407-435B-B352-1EEAB40F95BB}"/>
              </a:ext>
            </a:extLst>
          </p:cNvPr>
          <p:cNvSpPr/>
          <p:nvPr/>
        </p:nvSpPr>
        <p:spPr>
          <a:xfrm>
            <a:off x="6120025" y="3504158"/>
            <a:ext cx="31290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endParaRPr lang="es-MX" dirty="0"/>
          </a:p>
        </p:txBody>
      </p:sp>
      <p:sp>
        <p:nvSpPr>
          <p:cNvPr id="18" name="Rectángulo 17">
            <a:extLst>
              <a:ext uri="{FF2B5EF4-FFF2-40B4-BE49-F238E27FC236}">
                <a16:creationId xmlns:a16="http://schemas.microsoft.com/office/drawing/2014/main" id="{4324D2DD-91F9-4350-B114-673D0D4D75C4}"/>
              </a:ext>
            </a:extLst>
          </p:cNvPr>
          <p:cNvSpPr/>
          <p:nvPr/>
        </p:nvSpPr>
        <p:spPr>
          <a:xfrm>
            <a:off x="4564458" y="2570311"/>
            <a:ext cx="39786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19" name="Rectángulo 18">
            <a:extLst>
              <a:ext uri="{FF2B5EF4-FFF2-40B4-BE49-F238E27FC236}">
                <a16:creationId xmlns:a16="http://schemas.microsoft.com/office/drawing/2014/main" id="{65768BE7-CD28-44E1-85FD-20C867072B0D}"/>
              </a:ext>
            </a:extLst>
          </p:cNvPr>
          <p:cNvSpPr/>
          <p:nvPr/>
        </p:nvSpPr>
        <p:spPr>
          <a:xfrm>
            <a:off x="4358250" y="2782970"/>
            <a:ext cx="39786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21" name="Rectángulo 20">
            <a:extLst>
              <a:ext uri="{FF2B5EF4-FFF2-40B4-BE49-F238E27FC236}">
                <a16:creationId xmlns:a16="http://schemas.microsoft.com/office/drawing/2014/main" id="{DB3603F0-8112-45F8-AB71-6C91E4316922}"/>
              </a:ext>
            </a:extLst>
          </p:cNvPr>
          <p:cNvSpPr/>
          <p:nvPr/>
        </p:nvSpPr>
        <p:spPr>
          <a:xfrm>
            <a:off x="4195121" y="3100084"/>
            <a:ext cx="39786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endParaRPr lang="es-MX" dirty="0"/>
          </a:p>
        </p:txBody>
      </p:sp>
      <p:sp>
        <p:nvSpPr>
          <p:cNvPr id="22" name="Rectángulo 21">
            <a:extLst>
              <a:ext uri="{FF2B5EF4-FFF2-40B4-BE49-F238E27FC236}">
                <a16:creationId xmlns:a16="http://schemas.microsoft.com/office/drawing/2014/main" id="{068C133C-90A7-435A-A6CD-9475A0E09E59}"/>
              </a:ext>
            </a:extLst>
          </p:cNvPr>
          <p:cNvSpPr/>
          <p:nvPr/>
        </p:nvSpPr>
        <p:spPr>
          <a:xfrm>
            <a:off x="4582971" y="4180418"/>
            <a:ext cx="34657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i</a:t>
            </a:r>
            <a:endParaRPr lang="es-MX" dirty="0"/>
          </a:p>
        </p:txBody>
      </p:sp>
      <p:sp>
        <p:nvSpPr>
          <p:cNvPr id="23" name="Rectángulo 22">
            <a:extLst>
              <a:ext uri="{FF2B5EF4-FFF2-40B4-BE49-F238E27FC236}">
                <a16:creationId xmlns:a16="http://schemas.microsoft.com/office/drawing/2014/main" id="{2CCB2763-8D59-41AA-A362-DCC9A00D6E81}"/>
              </a:ext>
            </a:extLst>
          </p:cNvPr>
          <p:cNvSpPr/>
          <p:nvPr/>
        </p:nvSpPr>
        <p:spPr>
          <a:xfrm>
            <a:off x="5079058" y="2074069"/>
            <a:ext cx="542136" cy="400110"/>
          </a:xfrm>
          <a:prstGeom prst="rect">
            <a:avLst/>
          </a:prstGeom>
        </p:spPr>
        <p:txBody>
          <a:bodyPr wrap="square">
            <a:spAutoFit/>
          </a:bodyPr>
          <a:lstStyle/>
          <a:p>
            <a:r>
              <a:rPr lang="es-AR" sz="2000" dirty="0">
                <a:latin typeface="Arial" panose="020B0604020202020204" pitchFamily="34" charset="0"/>
                <a:cs typeface="Arial" panose="020B0604020202020204" pitchFamily="34" charset="0"/>
              </a:rPr>
              <a:t>NP</a:t>
            </a:r>
            <a:endParaRPr lang="es-MX" sz="2000" dirty="0"/>
          </a:p>
        </p:txBody>
      </p:sp>
      <p:sp>
        <p:nvSpPr>
          <p:cNvPr id="28" name="Diagrama de flujo: conector 27">
            <a:extLst>
              <a:ext uri="{FF2B5EF4-FFF2-40B4-BE49-F238E27FC236}">
                <a16:creationId xmlns:a16="http://schemas.microsoft.com/office/drawing/2014/main" id="{7747B9F9-D06D-4ECC-8298-B5C8975BDE03}"/>
              </a:ext>
            </a:extLst>
          </p:cNvPr>
          <p:cNvSpPr/>
          <p:nvPr/>
        </p:nvSpPr>
        <p:spPr>
          <a:xfrm>
            <a:off x="4023207" y="2428309"/>
            <a:ext cx="2525601" cy="2327268"/>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9" name="Conector recto de flecha 28">
            <a:extLst>
              <a:ext uri="{FF2B5EF4-FFF2-40B4-BE49-F238E27FC236}">
                <a16:creationId xmlns:a16="http://schemas.microsoft.com/office/drawing/2014/main" id="{E9D81B9C-0BB5-422D-A00E-43D9D0AD2EC7}"/>
              </a:ext>
            </a:extLst>
          </p:cNvPr>
          <p:cNvCxnSpPr>
            <a:cxnSpLocks/>
          </p:cNvCxnSpPr>
          <p:nvPr/>
        </p:nvCxnSpPr>
        <p:spPr>
          <a:xfrm>
            <a:off x="4920937" y="2855804"/>
            <a:ext cx="1202215" cy="72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575A70B1-AD2D-4DF2-804E-9ADF0C2F71E3}"/>
              </a:ext>
            </a:extLst>
          </p:cNvPr>
          <p:cNvCxnSpPr>
            <a:cxnSpLocks/>
          </p:cNvCxnSpPr>
          <p:nvPr/>
        </p:nvCxnSpPr>
        <p:spPr>
          <a:xfrm>
            <a:off x="4742451" y="3100084"/>
            <a:ext cx="1377574" cy="5842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5B108950-D434-4929-9A36-5AA2DB8916E0}"/>
              </a:ext>
            </a:extLst>
          </p:cNvPr>
          <p:cNvCxnSpPr>
            <a:cxnSpLocks/>
          </p:cNvCxnSpPr>
          <p:nvPr/>
        </p:nvCxnSpPr>
        <p:spPr>
          <a:xfrm>
            <a:off x="4592987" y="3383250"/>
            <a:ext cx="1527038" cy="3787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9E334291-8C38-4D24-AE7A-19D0CE8C76FE}"/>
              </a:ext>
            </a:extLst>
          </p:cNvPr>
          <p:cNvCxnSpPr>
            <a:cxnSpLocks/>
          </p:cNvCxnSpPr>
          <p:nvPr/>
        </p:nvCxnSpPr>
        <p:spPr>
          <a:xfrm flipV="1">
            <a:off x="4920937" y="3828256"/>
            <a:ext cx="1199088" cy="5561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32">
            <a:extLst>
              <a:ext uri="{FF2B5EF4-FFF2-40B4-BE49-F238E27FC236}">
                <a16:creationId xmlns:a16="http://schemas.microsoft.com/office/drawing/2014/main" id="{C391E881-B921-4C11-9F01-7484C6039284}"/>
              </a:ext>
            </a:extLst>
          </p:cNvPr>
          <p:cNvSpPr/>
          <p:nvPr/>
        </p:nvSpPr>
        <p:spPr>
          <a:xfrm>
            <a:off x="4195121" y="3518517"/>
            <a:ext cx="397866"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4</a:t>
            </a:r>
            <a:endParaRPr lang="es-MX" dirty="0"/>
          </a:p>
        </p:txBody>
      </p:sp>
      <p:cxnSp>
        <p:nvCxnSpPr>
          <p:cNvPr id="34" name="Conector recto de flecha 33">
            <a:extLst>
              <a:ext uri="{FF2B5EF4-FFF2-40B4-BE49-F238E27FC236}">
                <a16:creationId xmlns:a16="http://schemas.microsoft.com/office/drawing/2014/main" id="{3C26FBFC-E1A6-45F9-8CDC-3F08150CB40A}"/>
              </a:ext>
            </a:extLst>
          </p:cNvPr>
          <p:cNvCxnSpPr>
            <a:cxnSpLocks/>
          </p:cNvCxnSpPr>
          <p:nvPr/>
        </p:nvCxnSpPr>
        <p:spPr>
          <a:xfrm>
            <a:off x="4577626" y="3767299"/>
            <a:ext cx="1536222" cy="329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B5E135CB-46D4-4981-BD33-58A5358B9224}"/>
              </a:ext>
            </a:extLst>
          </p:cNvPr>
          <p:cNvCxnSpPr>
            <a:cxnSpLocks/>
          </p:cNvCxnSpPr>
          <p:nvPr/>
        </p:nvCxnSpPr>
        <p:spPr>
          <a:xfrm>
            <a:off x="4364346" y="3898150"/>
            <a:ext cx="228641" cy="32217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0D4FD3E4-CF60-49F4-BFA3-EF7DD904705A}"/>
              </a:ext>
            </a:extLst>
          </p:cNvPr>
          <p:cNvCxnSpPr>
            <a:cxnSpLocks/>
          </p:cNvCxnSpPr>
          <p:nvPr/>
        </p:nvCxnSpPr>
        <p:spPr>
          <a:xfrm>
            <a:off x="4924438" y="4549750"/>
            <a:ext cx="367899" cy="6171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3BC1D9F5-82A2-4CCC-9C29-D4BCC0CC904C}"/>
              </a:ext>
            </a:extLst>
          </p:cNvPr>
          <p:cNvSpPr txBox="1"/>
          <p:nvPr/>
        </p:nvSpPr>
        <p:spPr>
          <a:xfrm>
            <a:off x="171712" y="4927814"/>
            <a:ext cx="11623022" cy="1477328"/>
          </a:xfrm>
          <a:prstGeom prst="rect">
            <a:avLst/>
          </a:prstGeom>
          <a:noFill/>
        </p:spPr>
        <p:txBody>
          <a:bodyPr wrap="square">
            <a:spAutoFit/>
          </a:bodyPr>
          <a:lstStyle/>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Si L estuviera en P, entonces todos los lenguajes de NP estarían en P, y de esta manera, la relación entre P y NP sería P = NP. </a:t>
            </a:r>
            <a:r>
              <a:rPr lang="es-AR" dirty="0">
                <a:latin typeface="Arial" panose="020B0604020202020204" pitchFamily="34" charset="0"/>
                <a:cs typeface="Arial" panose="020B0604020202020204" pitchFamily="34" charset="0"/>
                <a:sym typeface="Symbol" panose="05050102010706020507" pitchFamily="18" charset="2"/>
              </a:rPr>
              <a:t>Resumiendo: </a:t>
            </a:r>
            <a:r>
              <a:rPr lang="es-AR" b="1" dirty="0">
                <a:latin typeface="Arial" panose="020B0604020202020204" pitchFamily="34" charset="0"/>
                <a:cs typeface="Arial" panose="020B0604020202020204" pitchFamily="34" charset="0"/>
                <a:sym typeface="Symbol" panose="05050102010706020507" pitchFamily="18" charset="2"/>
              </a:rPr>
              <a:t>los  lenguajes NP-completos no están en P a menos que P = NP.</a:t>
            </a:r>
          </a:p>
          <a:p>
            <a:pPr marL="571500" indent="-342000" algn="just">
              <a:buFont typeface="Arial" panose="020B0604020202020204" pitchFamily="34" charset="0"/>
              <a:buChar char="•"/>
            </a:pPr>
            <a:endParaRPr lang="es-AR" b="1"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Históricamente, Cook (EEUU) y Levin (Rusia), en 1971, encontraron casi en simultáneo un primer lenguaje NP-completo, </a:t>
            </a:r>
            <a:r>
              <a:rPr lang="es-AR" b="1" dirty="0">
                <a:latin typeface="Arial" panose="020B0604020202020204" pitchFamily="34" charset="0"/>
                <a:cs typeface="Arial" panose="020B0604020202020204" pitchFamily="34" charset="0"/>
              </a:rPr>
              <a:t>el lenguaje SAT: </a:t>
            </a:r>
            <a:r>
              <a:rPr lang="es-AR" dirty="0">
                <a:latin typeface="Arial" panose="020B0604020202020204" pitchFamily="34" charset="0"/>
                <a:cs typeface="Arial" panose="020B0604020202020204" pitchFamily="34" charset="0"/>
              </a:rPr>
              <a:t>SAT = {φ | φ es una fórmula booleana sin cuantificadores y es </a:t>
            </a:r>
            <a:r>
              <a:rPr lang="es-AR"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a:t>
            </a:r>
          </a:p>
        </p:txBody>
      </p:sp>
      <p:sp>
        <p:nvSpPr>
          <p:cNvPr id="40" name="Slide Number Placeholder 2">
            <a:extLst>
              <a:ext uri="{FF2B5EF4-FFF2-40B4-BE49-F238E27FC236}">
                <a16:creationId xmlns:a16="http://schemas.microsoft.com/office/drawing/2014/main" id="{73BDC29B-F5F5-4C42-914E-BC8DF0CA51CE}"/>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1" name="Rectángulo 40">
            <a:extLst>
              <a:ext uri="{FF2B5EF4-FFF2-40B4-BE49-F238E27FC236}">
                <a16:creationId xmlns:a16="http://schemas.microsoft.com/office/drawing/2014/main" id="{E4B6FD5C-ED3D-45C6-9DFE-A3B4DE76B3E9}"/>
              </a:ext>
            </a:extLst>
          </p:cNvPr>
          <p:cNvSpPr/>
          <p:nvPr/>
        </p:nvSpPr>
        <p:spPr>
          <a:xfrm>
            <a:off x="5303037" y="2901674"/>
            <a:ext cx="301686"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1</a:t>
            </a:r>
            <a:endParaRPr lang="es-MX" sz="1400" dirty="0"/>
          </a:p>
        </p:txBody>
      </p:sp>
      <p:sp>
        <p:nvSpPr>
          <p:cNvPr id="42" name="Rectángulo 41">
            <a:extLst>
              <a:ext uri="{FF2B5EF4-FFF2-40B4-BE49-F238E27FC236}">
                <a16:creationId xmlns:a16="http://schemas.microsoft.com/office/drawing/2014/main" id="{7AC8E2F5-176D-456F-93DD-2D84049625B3}"/>
              </a:ext>
            </a:extLst>
          </p:cNvPr>
          <p:cNvSpPr/>
          <p:nvPr/>
        </p:nvSpPr>
        <p:spPr>
          <a:xfrm>
            <a:off x="5108387" y="3047480"/>
            <a:ext cx="301686"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2</a:t>
            </a:r>
            <a:endParaRPr lang="es-MX" sz="1400" dirty="0"/>
          </a:p>
        </p:txBody>
      </p:sp>
      <p:sp>
        <p:nvSpPr>
          <p:cNvPr id="43" name="Rectángulo 42">
            <a:extLst>
              <a:ext uri="{FF2B5EF4-FFF2-40B4-BE49-F238E27FC236}">
                <a16:creationId xmlns:a16="http://schemas.microsoft.com/office/drawing/2014/main" id="{D01C3FC3-53CA-49AA-99CA-46FDC5FB184D}"/>
              </a:ext>
            </a:extLst>
          </p:cNvPr>
          <p:cNvSpPr/>
          <p:nvPr/>
        </p:nvSpPr>
        <p:spPr>
          <a:xfrm>
            <a:off x="4905985" y="3232212"/>
            <a:ext cx="301686"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3</a:t>
            </a:r>
            <a:endParaRPr lang="es-MX" sz="1400" dirty="0"/>
          </a:p>
        </p:txBody>
      </p:sp>
      <p:sp>
        <p:nvSpPr>
          <p:cNvPr id="44" name="Rectángulo 43">
            <a:extLst>
              <a:ext uri="{FF2B5EF4-FFF2-40B4-BE49-F238E27FC236}">
                <a16:creationId xmlns:a16="http://schemas.microsoft.com/office/drawing/2014/main" id="{5D6938B4-36B5-4AFC-A88B-264F29CDB98E}"/>
              </a:ext>
            </a:extLst>
          </p:cNvPr>
          <p:cNvSpPr/>
          <p:nvPr/>
        </p:nvSpPr>
        <p:spPr>
          <a:xfrm>
            <a:off x="5083685" y="3506482"/>
            <a:ext cx="301686"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4</a:t>
            </a:r>
            <a:endParaRPr lang="es-MX" sz="1400" dirty="0"/>
          </a:p>
        </p:txBody>
      </p:sp>
      <p:sp>
        <p:nvSpPr>
          <p:cNvPr id="45" name="Rectángulo 44">
            <a:extLst>
              <a:ext uri="{FF2B5EF4-FFF2-40B4-BE49-F238E27FC236}">
                <a16:creationId xmlns:a16="http://schemas.microsoft.com/office/drawing/2014/main" id="{DCF449B3-8085-4451-8C8B-D12BEF4238A1}"/>
              </a:ext>
            </a:extLst>
          </p:cNvPr>
          <p:cNvSpPr/>
          <p:nvPr/>
        </p:nvSpPr>
        <p:spPr>
          <a:xfrm>
            <a:off x="5181279" y="3913023"/>
            <a:ext cx="261610"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i</a:t>
            </a:r>
            <a:endParaRPr lang="es-MX" sz="1400" dirty="0"/>
          </a:p>
        </p:txBody>
      </p:sp>
      <p:sp>
        <p:nvSpPr>
          <p:cNvPr id="3" name="Rectángulo 2">
            <a:extLst>
              <a:ext uri="{FF2B5EF4-FFF2-40B4-BE49-F238E27FC236}">
                <a16:creationId xmlns:a16="http://schemas.microsoft.com/office/drawing/2014/main" id="{F46FCFBE-27D3-E786-8285-A09E929C060B}"/>
              </a:ext>
            </a:extLst>
          </p:cNvPr>
          <p:cNvSpPr/>
          <p:nvPr/>
        </p:nvSpPr>
        <p:spPr>
          <a:xfrm>
            <a:off x="6743459" y="3154439"/>
            <a:ext cx="4040498" cy="646331"/>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Todos los lenguajes de NP </a:t>
            </a:r>
          </a:p>
          <a:p>
            <a:pPr algn="just"/>
            <a:r>
              <a:rPr lang="es-AR" dirty="0">
                <a:latin typeface="Arial" panose="020B0604020202020204" pitchFamily="34" charset="0"/>
                <a:cs typeface="Arial" panose="020B0604020202020204" pitchFamily="34" charset="0"/>
              </a:rPr>
              <a:t>se reducen </a:t>
            </a:r>
            <a:r>
              <a:rPr lang="es-AR" dirty="0" err="1">
                <a:latin typeface="Arial" panose="020B0604020202020204" pitchFamily="34" charset="0"/>
                <a:cs typeface="Arial" panose="020B0604020202020204" pitchFamily="34" charset="0"/>
              </a:rPr>
              <a:t>polinomialmente</a:t>
            </a:r>
            <a:r>
              <a:rPr lang="es-AR" dirty="0">
                <a:latin typeface="Arial" panose="020B0604020202020204" pitchFamily="34" charset="0"/>
                <a:cs typeface="Arial" panose="020B0604020202020204" pitchFamily="34" charset="0"/>
              </a:rPr>
              <a:t> a L</a:t>
            </a:r>
          </a:p>
        </p:txBody>
      </p:sp>
      <p:sp>
        <p:nvSpPr>
          <p:cNvPr id="2" name="Rectángulo 1">
            <a:extLst>
              <a:ext uri="{FF2B5EF4-FFF2-40B4-BE49-F238E27FC236}">
                <a16:creationId xmlns:a16="http://schemas.microsoft.com/office/drawing/2014/main" id="{207FBBDF-7440-C056-59C3-819B910FE2C5}"/>
              </a:ext>
            </a:extLst>
          </p:cNvPr>
          <p:cNvSpPr/>
          <p:nvPr/>
        </p:nvSpPr>
        <p:spPr>
          <a:xfrm>
            <a:off x="249172" y="143605"/>
            <a:ext cx="9073732"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Definición de los lenguajes NP-completos</a:t>
            </a:r>
          </a:p>
        </p:txBody>
      </p:sp>
    </p:spTree>
    <p:extLst>
      <p:ext uri="{BB962C8B-B14F-4D97-AF65-F5344CB8AC3E}">
        <p14:creationId xmlns:p14="http://schemas.microsoft.com/office/powerpoint/2010/main" val="3539972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29C1AA0-D454-49C5-82AC-1236C6FAC8A5}"/>
              </a:ext>
            </a:extLst>
          </p:cNvPr>
          <p:cNvSpPr/>
          <p:nvPr/>
        </p:nvSpPr>
        <p:spPr>
          <a:xfrm>
            <a:off x="301692" y="273260"/>
            <a:ext cx="11573761" cy="461665"/>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Cómo poblar la clase NPC</a:t>
            </a:r>
          </a:p>
        </p:txBody>
      </p:sp>
      <p:sp>
        <p:nvSpPr>
          <p:cNvPr id="5" name="Rectángulo 4">
            <a:extLst>
              <a:ext uri="{FF2B5EF4-FFF2-40B4-BE49-F238E27FC236}">
                <a16:creationId xmlns:a16="http://schemas.microsoft.com/office/drawing/2014/main" id="{E38DF031-984D-4215-BC1D-CEEC9D79EECE}"/>
              </a:ext>
            </a:extLst>
          </p:cNvPr>
          <p:cNvSpPr/>
          <p:nvPr/>
        </p:nvSpPr>
        <p:spPr>
          <a:xfrm>
            <a:off x="8578938" y="3537573"/>
            <a:ext cx="325730" cy="369332"/>
          </a:xfrm>
          <a:prstGeom prst="rect">
            <a:avLst/>
          </a:prstGeom>
        </p:spPr>
        <p:txBody>
          <a:bodyPr wrap="none">
            <a:spAutoFit/>
          </a:bodyPr>
          <a:lstStyle/>
          <a:p>
            <a:r>
              <a:rPr lang="es-AR" b="1" dirty="0">
                <a:solidFill>
                  <a:srgbClr val="0070C0"/>
                </a:solidFill>
                <a:latin typeface="Arial" panose="020B0604020202020204" pitchFamily="34" charset="0"/>
                <a:cs typeface="Arial" panose="020B0604020202020204" pitchFamily="34" charset="0"/>
              </a:rPr>
              <a:t>L</a:t>
            </a:r>
            <a:endParaRPr lang="es-MX" b="1" dirty="0">
              <a:solidFill>
                <a:srgbClr val="0070C0"/>
              </a:solidFill>
            </a:endParaRPr>
          </a:p>
        </p:txBody>
      </p:sp>
      <p:sp>
        <p:nvSpPr>
          <p:cNvPr id="7" name="Rectángulo 6">
            <a:extLst>
              <a:ext uri="{FF2B5EF4-FFF2-40B4-BE49-F238E27FC236}">
                <a16:creationId xmlns:a16="http://schemas.microsoft.com/office/drawing/2014/main" id="{495002B1-E656-489D-8D62-58FB76643F47}"/>
              </a:ext>
            </a:extLst>
          </p:cNvPr>
          <p:cNvSpPr/>
          <p:nvPr/>
        </p:nvSpPr>
        <p:spPr>
          <a:xfrm>
            <a:off x="7848404" y="2961495"/>
            <a:ext cx="671979" cy="369332"/>
          </a:xfrm>
          <a:prstGeom prst="rect">
            <a:avLst/>
          </a:prstGeom>
        </p:spPr>
        <p:txBody>
          <a:bodyPr wrap="none">
            <a:spAutoFit/>
          </a:bodyPr>
          <a:lstStyle/>
          <a:p>
            <a:r>
              <a:rPr lang="es-AR" b="1" dirty="0">
                <a:solidFill>
                  <a:srgbClr val="7030A0"/>
                </a:solidFill>
                <a:latin typeface="Arial" panose="020B0604020202020204" pitchFamily="34" charset="0"/>
                <a:cs typeface="Arial" panose="020B0604020202020204" pitchFamily="34" charset="0"/>
              </a:rPr>
              <a:t>NPC</a:t>
            </a:r>
            <a:endParaRPr lang="es-MX" b="1" dirty="0">
              <a:solidFill>
                <a:srgbClr val="7030A0"/>
              </a:solidFill>
            </a:endParaRPr>
          </a:p>
        </p:txBody>
      </p:sp>
      <p:sp>
        <p:nvSpPr>
          <p:cNvPr id="9" name="Rectángulo 8">
            <a:extLst>
              <a:ext uri="{FF2B5EF4-FFF2-40B4-BE49-F238E27FC236}">
                <a16:creationId xmlns:a16="http://schemas.microsoft.com/office/drawing/2014/main" id="{873FAE86-16F6-4B3E-A3C9-6F04A9F14C9D}"/>
              </a:ext>
            </a:extLst>
          </p:cNvPr>
          <p:cNvSpPr/>
          <p:nvPr/>
        </p:nvSpPr>
        <p:spPr>
          <a:xfrm>
            <a:off x="6973130" y="2004908"/>
            <a:ext cx="612668" cy="461665"/>
          </a:xfrm>
          <a:prstGeom prst="rect">
            <a:avLst/>
          </a:prstGeom>
        </p:spPr>
        <p:txBody>
          <a:bodyPr wrap="none">
            <a:spAutoFit/>
          </a:bodyPr>
          <a:lstStyle/>
          <a:p>
            <a:r>
              <a:rPr lang="es-AR" sz="2400" dirty="0">
                <a:latin typeface="Arial" panose="020B0604020202020204" pitchFamily="34" charset="0"/>
                <a:cs typeface="Arial" panose="020B0604020202020204" pitchFamily="34" charset="0"/>
              </a:rPr>
              <a:t>NP</a:t>
            </a:r>
            <a:endParaRPr lang="es-MX" sz="2400" dirty="0"/>
          </a:p>
        </p:txBody>
      </p:sp>
      <p:sp>
        <p:nvSpPr>
          <p:cNvPr id="20" name="Rectángulo 19">
            <a:extLst>
              <a:ext uri="{FF2B5EF4-FFF2-40B4-BE49-F238E27FC236}">
                <a16:creationId xmlns:a16="http://schemas.microsoft.com/office/drawing/2014/main" id="{55D66F72-4F55-4C05-8A37-959109BEBE52}"/>
              </a:ext>
            </a:extLst>
          </p:cNvPr>
          <p:cNvSpPr/>
          <p:nvPr/>
        </p:nvSpPr>
        <p:spPr>
          <a:xfrm>
            <a:off x="8113945" y="3429327"/>
            <a:ext cx="261610" cy="369332"/>
          </a:xfrm>
          <a:prstGeom prst="rect">
            <a:avLst/>
          </a:prstGeom>
        </p:spPr>
        <p:txBody>
          <a:bodyPr wrap="none">
            <a:spAutoFit/>
          </a:bodyPr>
          <a:lstStyle/>
          <a:p>
            <a:r>
              <a:rPr lang="es-ES" b="1" dirty="0">
                <a:solidFill>
                  <a:srgbClr val="C00000"/>
                </a:solidFill>
                <a:latin typeface="Arial" panose="020B0604020202020204" pitchFamily="34" charset="0"/>
                <a:cs typeface="Arial" panose="020B0604020202020204" pitchFamily="34" charset="0"/>
              </a:rPr>
              <a:t>f</a:t>
            </a:r>
            <a:endParaRPr lang="es-MX" b="1" dirty="0">
              <a:solidFill>
                <a:srgbClr val="C00000"/>
              </a:solidFill>
            </a:endParaRPr>
          </a:p>
        </p:txBody>
      </p:sp>
      <p:sp>
        <p:nvSpPr>
          <p:cNvPr id="21" name="Rectángulo 20">
            <a:extLst>
              <a:ext uri="{FF2B5EF4-FFF2-40B4-BE49-F238E27FC236}">
                <a16:creationId xmlns:a16="http://schemas.microsoft.com/office/drawing/2014/main" id="{CF48C1F8-0478-4CF4-A2B7-DBE8FA7A159E}"/>
              </a:ext>
            </a:extLst>
          </p:cNvPr>
          <p:cNvSpPr/>
          <p:nvPr/>
        </p:nvSpPr>
        <p:spPr>
          <a:xfrm>
            <a:off x="436520" y="2226246"/>
            <a:ext cx="4685047" cy="3724096"/>
          </a:xfrm>
          <a:prstGeom prst="rect">
            <a:avLst/>
          </a:prstGeom>
        </p:spPr>
        <p:txBody>
          <a:bodyPr wrap="square">
            <a:spAutoFit/>
          </a:bodyPr>
          <a:lstStyle/>
          <a:p>
            <a:pPr marL="342900" indent="-342900">
              <a:buAutoNum type="arabicPeriod"/>
            </a:pPr>
            <a:r>
              <a:rPr lang="es-AR" dirty="0">
                <a:latin typeface="Arial" panose="020B0604020202020204" pitchFamily="34" charset="0"/>
                <a:cs typeface="Arial" panose="020B0604020202020204" pitchFamily="34" charset="0"/>
              </a:rPr>
              <a:t>Sea </a:t>
            </a:r>
            <a:r>
              <a:rPr lang="es-AR" b="1" dirty="0">
                <a:solidFill>
                  <a:srgbClr val="0070C0"/>
                </a:solidFill>
                <a:latin typeface="Arial" panose="020B0604020202020204" pitchFamily="34" charset="0"/>
                <a:cs typeface="Arial" panose="020B0604020202020204" pitchFamily="34" charset="0"/>
              </a:rPr>
              <a:t>L</a:t>
            </a:r>
            <a:r>
              <a:rPr lang="es-AR" dirty="0">
                <a:latin typeface="Arial" panose="020B0604020202020204" pitchFamily="34" charset="0"/>
                <a:cs typeface="Arial" panose="020B0604020202020204" pitchFamily="34" charset="0"/>
              </a:rPr>
              <a:t> un lenguaje de NP</a:t>
            </a:r>
          </a:p>
          <a:p>
            <a:pPr marL="342900" indent="-342900">
              <a:buAutoNum type="arabicPeriod"/>
            </a:pPr>
            <a:endParaRPr lang="es-AR" dirty="0">
              <a:latin typeface="Arial" panose="020B0604020202020204" pitchFamily="34" charset="0"/>
              <a:cs typeface="Arial" panose="020B0604020202020204" pitchFamily="34" charset="0"/>
            </a:endParaRPr>
          </a:p>
          <a:p>
            <a:pPr marL="342900" indent="-342900">
              <a:buAutoNum type="arabicPeriod"/>
            </a:pPr>
            <a:r>
              <a:rPr lang="es-AR" dirty="0">
                <a:latin typeface="Arial" panose="020B0604020202020204" pitchFamily="34" charset="0"/>
                <a:cs typeface="Arial" panose="020B0604020202020204" pitchFamily="34" charset="0"/>
              </a:rPr>
              <a:t>Sea </a:t>
            </a:r>
            <a:r>
              <a:rPr lang="es-AR" b="1" dirty="0">
                <a:solidFill>
                  <a:srgbClr val="C00000"/>
                </a:solidFill>
                <a:latin typeface="Arial" panose="020B0604020202020204" pitchFamily="34" charset="0"/>
                <a:cs typeface="Arial" panose="020B0604020202020204" pitchFamily="34" charset="0"/>
              </a:rPr>
              <a:t>f</a:t>
            </a:r>
            <a:r>
              <a:rPr lang="es-AR" dirty="0">
                <a:latin typeface="Arial" panose="020B0604020202020204" pitchFamily="34" charset="0"/>
                <a:cs typeface="Arial" panose="020B0604020202020204" pitchFamily="34" charset="0"/>
              </a:rPr>
              <a:t> una reducción polinomial de SAT al lenguaje L</a:t>
            </a:r>
          </a:p>
          <a:p>
            <a:endParaRPr lang="es-AR" dirty="0">
              <a:latin typeface="Arial" panose="020B0604020202020204" pitchFamily="34" charset="0"/>
              <a:cs typeface="Arial" panose="020B0604020202020204" pitchFamily="34" charset="0"/>
            </a:endParaRPr>
          </a:p>
          <a:p>
            <a:pPr marL="342900" indent="-342900">
              <a:buFont typeface="+mj-lt"/>
              <a:buAutoNum type="arabicPeriod" startAt="3"/>
            </a:pPr>
            <a:r>
              <a:rPr lang="es-AR" dirty="0">
                <a:latin typeface="Arial" panose="020B0604020202020204" pitchFamily="34" charset="0"/>
                <a:cs typeface="Arial" panose="020B0604020202020204" pitchFamily="34" charset="0"/>
              </a:rPr>
              <a:t>Sea </a:t>
            </a:r>
            <a:r>
              <a:rPr lang="es-AR" b="1" dirty="0">
                <a:solidFill>
                  <a:srgbClr val="C00000"/>
                </a:solidFill>
                <a:latin typeface="Arial" panose="020B0604020202020204" pitchFamily="34" charset="0"/>
                <a:cs typeface="Arial" panose="020B0604020202020204" pitchFamily="34" charset="0"/>
              </a:rPr>
              <a:t>g</a:t>
            </a:r>
            <a:r>
              <a:rPr lang="es-AR" dirty="0">
                <a:latin typeface="Arial" panose="020B0604020202020204" pitchFamily="34" charset="0"/>
                <a:cs typeface="Arial" panose="020B0604020202020204" pitchFamily="34" charset="0"/>
              </a:rPr>
              <a:t> la reducción polinomial obtenida componiendo la reducción polinomial f</a:t>
            </a:r>
            <a:r>
              <a:rPr lang="es-ES" baseline="-25000" dirty="0">
                <a:latin typeface="Arial" panose="020B0604020202020204" pitchFamily="34" charset="0"/>
                <a:cs typeface="Arial" panose="020B0604020202020204" pitchFamily="34" charset="0"/>
              </a:rPr>
              <a:t>i</a:t>
            </a:r>
            <a:r>
              <a:rPr lang="es-MX" baseline="-25000"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con la reducción </a:t>
            </a:r>
            <a:r>
              <a:rPr lang="es-AR" b="1" dirty="0">
                <a:solidFill>
                  <a:srgbClr val="C00000"/>
                </a:solidFill>
                <a:latin typeface="Arial" panose="020B0604020202020204" pitchFamily="34" charset="0"/>
                <a:cs typeface="Arial" panose="020B0604020202020204" pitchFamily="34" charset="0"/>
              </a:rPr>
              <a:t>f</a:t>
            </a:r>
          </a:p>
          <a:p>
            <a:pPr marL="342900" indent="-342900">
              <a:buFont typeface="+mj-lt"/>
              <a:buAutoNum type="arabicPeriod" startAt="3"/>
            </a:pPr>
            <a:endParaRPr lang="es-AR" b="1" dirty="0">
              <a:solidFill>
                <a:srgbClr val="C00000"/>
              </a:solidFill>
              <a:latin typeface="Arial" panose="020B0604020202020204" pitchFamily="34" charset="0"/>
              <a:cs typeface="Arial" panose="020B0604020202020204" pitchFamily="34" charset="0"/>
            </a:endParaRPr>
          </a:p>
          <a:p>
            <a:pPr marL="342900" indent="-342900">
              <a:buFont typeface="+mj-lt"/>
              <a:buAutoNum type="arabicPeriod" startAt="3"/>
            </a:pPr>
            <a:r>
              <a:rPr lang="es-AR" dirty="0">
                <a:latin typeface="Arial" panose="020B0604020202020204" pitchFamily="34" charset="0"/>
                <a:cs typeface="Arial" panose="020B0604020202020204" pitchFamily="34" charset="0"/>
              </a:rPr>
              <a:t>Lo anterior vale para todos los lenguajes </a:t>
            </a:r>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i</a:t>
            </a:r>
            <a:r>
              <a:rPr lang="es-AR" dirty="0">
                <a:latin typeface="Arial" panose="020B0604020202020204" pitchFamily="34" charset="0"/>
                <a:cs typeface="Arial" panose="020B0604020202020204" pitchFamily="34" charset="0"/>
              </a:rPr>
              <a:t>, lo que significa que </a:t>
            </a:r>
            <a:r>
              <a:rPr lang="es-AR" b="1" dirty="0">
                <a:latin typeface="Arial" panose="020B0604020202020204" pitchFamily="34" charset="0"/>
                <a:cs typeface="Arial" panose="020B0604020202020204" pitchFamily="34" charset="0"/>
              </a:rPr>
              <a:t>el lenguaje L es NP-completo</a:t>
            </a:r>
          </a:p>
          <a:p>
            <a:endParaRPr lang="es-AR" sz="2000" i="1" dirty="0">
              <a:latin typeface="Arial" panose="020B0604020202020204" pitchFamily="34" charset="0"/>
              <a:cs typeface="Arial" panose="020B0604020202020204" pitchFamily="34" charset="0"/>
            </a:endParaRPr>
          </a:p>
        </p:txBody>
      </p:sp>
      <p:sp>
        <p:nvSpPr>
          <p:cNvPr id="22" name="Rectángulo 21">
            <a:extLst>
              <a:ext uri="{FF2B5EF4-FFF2-40B4-BE49-F238E27FC236}">
                <a16:creationId xmlns:a16="http://schemas.microsoft.com/office/drawing/2014/main" id="{33785A3C-F05E-4F21-B1E1-450090183A74}"/>
              </a:ext>
            </a:extLst>
          </p:cNvPr>
          <p:cNvSpPr/>
          <p:nvPr/>
        </p:nvSpPr>
        <p:spPr>
          <a:xfrm>
            <a:off x="9879718" y="2226246"/>
            <a:ext cx="1700385" cy="2728952"/>
          </a:xfrm>
          <a:prstGeom prst="rect">
            <a:avLst/>
          </a:prstGeom>
        </p:spPr>
        <p:txBody>
          <a:bodyPr wrap="square">
            <a:spAutoFit/>
          </a:bodyPr>
          <a:lstStyle/>
          <a:p>
            <a:pPr algn="just"/>
            <a:r>
              <a:rPr lang="es-AR" u="sng" dirty="0">
                <a:latin typeface="Arial" panose="020B0604020202020204" pitchFamily="34" charset="0"/>
                <a:cs typeface="Arial" panose="020B0604020202020204" pitchFamily="34" charset="0"/>
              </a:rPr>
              <a:t>Resumiendo</a:t>
            </a:r>
            <a:r>
              <a:rPr lang="es-AR" dirty="0">
                <a:latin typeface="Arial" panose="020B0604020202020204" pitchFamily="34" charset="0"/>
                <a:cs typeface="Arial" panose="020B0604020202020204" pitchFamily="34" charset="0"/>
              </a:rPr>
              <a:t>:</a:t>
            </a:r>
          </a:p>
          <a:p>
            <a:pPr algn="just"/>
            <a:endParaRPr lang="es-AR"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 NPC</a:t>
            </a:r>
          </a:p>
          <a:p>
            <a:pPr algn="just"/>
            <a:endParaRPr lang="es-AR"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 NP</a:t>
            </a:r>
          </a:p>
          <a:p>
            <a:pPr algn="just"/>
            <a:endParaRPr lang="es-AR" dirty="0">
              <a:latin typeface="Arial" panose="020B0604020202020204" pitchFamily="34" charset="0"/>
              <a:cs typeface="Arial" panose="020B0604020202020204" pitchFamily="34" charset="0"/>
            </a:endParaRPr>
          </a:p>
          <a:p>
            <a:pPr algn="just">
              <a:lnSpc>
                <a:spcPts val="1920"/>
              </a:lnSpc>
            </a:pPr>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1 </a:t>
            </a:r>
            <a:r>
              <a:rPr lang="en-US"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aseline="-25000" dirty="0">
                <a:latin typeface="Arial" panose="020B0604020202020204" pitchFamily="34" charset="0"/>
                <a:cs typeface="Arial" panose="020B0604020202020204" pitchFamily="34" charset="0"/>
              </a:rPr>
              <a:t>p</a:t>
            </a:r>
            <a:r>
              <a:rPr lang="es-ES" baseline="-25000"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2</a:t>
            </a:r>
            <a:endParaRPr lang="es-AR" dirty="0">
              <a:latin typeface="Arial" panose="020B0604020202020204" pitchFamily="34" charset="0"/>
              <a:cs typeface="Arial" panose="020B0604020202020204" pitchFamily="34" charset="0"/>
            </a:endParaRPr>
          </a:p>
          <a:p>
            <a:pPr algn="just">
              <a:lnSpc>
                <a:spcPts val="1920"/>
              </a:lnSpc>
            </a:pPr>
            <a:r>
              <a:rPr lang="es-AR" dirty="0">
                <a:latin typeface="Arial" panose="020B0604020202020204" pitchFamily="34" charset="0"/>
                <a:cs typeface="Arial" panose="020B0604020202020204" pitchFamily="34" charset="0"/>
              </a:rPr>
              <a:t>________</a:t>
            </a:r>
          </a:p>
          <a:p>
            <a:pPr algn="just">
              <a:lnSpc>
                <a:spcPts val="1920"/>
              </a:lnSpc>
            </a:pPr>
            <a:endParaRPr lang="es-AR" dirty="0">
              <a:latin typeface="Arial" panose="020B0604020202020204" pitchFamily="34" charset="0"/>
              <a:cs typeface="Arial" panose="020B0604020202020204" pitchFamily="34" charset="0"/>
            </a:endParaRPr>
          </a:p>
          <a:p>
            <a:pPr algn="just">
              <a:lnSpc>
                <a:spcPts val="1920"/>
              </a:lnSpc>
            </a:pPr>
            <a:r>
              <a:rPr lang="es-AR"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L</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 NPC</a:t>
            </a:r>
          </a:p>
        </p:txBody>
      </p:sp>
      <p:sp>
        <p:nvSpPr>
          <p:cNvPr id="23" name="Rectángulo 22">
            <a:extLst>
              <a:ext uri="{FF2B5EF4-FFF2-40B4-BE49-F238E27FC236}">
                <a16:creationId xmlns:a16="http://schemas.microsoft.com/office/drawing/2014/main" id="{704D9D3D-0D56-48EF-9617-008FB7ACF9C5}"/>
              </a:ext>
            </a:extLst>
          </p:cNvPr>
          <p:cNvSpPr/>
          <p:nvPr/>
        </p:nvSpPr>
        <p:spPr>
          <a:xfrm>
            <a:off x="7388507" y="3550235"/>
            <a:ext cx="61638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SAT</a:t>
            </a:r>
            <a:endParaRPr lang="es-MX" dirty="0"/>
          </a:p>
        </p:txBody>
      </p:sp>
      <p:sp>
        <p:nvSpPr>
          <p:cNvPr id="24" name="Rectángulo 23">
            <a:extLst>
              <a:ext uri="{FF2B5EF4-FFF2-40B4-BE49-F238E27FC236}">
                <a16:creationId xmlns:a16="http://schemas.microsoft.com/office/drawing/2014/main" id="{6DF7C1BD-BB41-49B1-BB91-936EEF9F4821}"/>
              </a:ext>
            </a:extLst>
          </p:cNvPr>
          <p:cNvSpPr/>
          <p:nvPr/>
        </p:nvSpPr>
        <p:spPr>
          <a:xfrm>
            <a:off x="5832940" y="2616388"/>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25" name="Rectángulo 24">
            <a:extLst>
              <a:ext uri="{FF2B5EF4-FFF2-40B4-BE49-F238E27FC236}">
                <a16:creationId xmlns:a16="http://schemas.microsoft.com/office/drawing/2014/main" id="{E475055E-E9BA-4702-9403-6A0515952DC9}"/>
              </a:ext>
            </a:extLst>
          </p:cNvPr>
          <p:cNvSpPr/>
          <p:nvPr/>
        </p:nvSpPr>
        <p:spPr>
          <a:xfrm>
            <a:off x="5626732" y="2829047"/>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26" name="Rectángulo 25">
            <a:extLst>
              <a:ext uri="{FF2B5EF4-FFF2-40B4-BE49-F238E27FC236}">
                <a16:creationId xmlns:a16="http://schemas.microsoft.com/office/drawing/2014/main" id="{780499EF-5885-46FB-BEF2-61B319BD94BE}"/>
              </a:ext>
            </a:extLst>
          </p:cNvPr>
          <p:cNvSpPr/>
          <p:nvPr/>
        </p:nvSpPr>
        <p:spPr>
          <a:xfrm>
            <a:off x="5463603" y="3146161"/>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3</a:t>
            </a:r>
            <a:endParaRPr lang="es-MX" dirty="0"/>
          </a:p>
        </p:txBody>
      </p:sp>
      <p:sp>
        <p:nvSpPr>
          <p:cNvPr id="27" name="Rectángulo 26">
            <a:extLst>
              <a:ext uri="{FF2B5EF4-FFF2-40B4-BE49-F238E27FC236}">
                <a16:creationId xmlns:a16="http://schemas.microsoft.com/office/drawing/2014/main" id="{334B4218-26B2-4482-915B-861B99575CBA}"/>
              </a:ext>
            </a:extLst>
          </p:cNvPr>
          <p:cNvSpPr/>
          <p:nvPr/>
        </p:nvSpPr>
        <p:spPr>
          <a:xfrm>
            <a:off x="5851453" y="4226495"/>
            <a:ext cx="369012" cy="369332"/>
          </a:xfrm>
          <a:prstGeom prst="rect">
            <a:avLst/>
          </a:prstGeom>
        </p:spPr>
        <p:txBody>
          <a:bodyPr wrap="none">
            <a:spAutoFit/>
          </a:bodyPr>
          <a:lstStyle/>
          <a:p>
            <a:r>
              <a:rPr lang="es-AR" b="1" dirty="0">
                <a:solidFill>
                  <a:schemeClr val="accent6">
                    <a:lumMod val="50000"/>
                  </a:schemeClr>
                </a:solidFill>
                <a:latin typeface="Arial" panose="020B0604020202020204" pitchFamily="34" charset="0"/>
                <a:cs typeface="Arial" panose="020B0604020202020204" pitchFamily="34" charset="0"/>
              </a:rPr>
              <a:t>L</a:t>
            </a:r>
            <a:r>
              <a:rPr lang="es-AR" b="1" baseline="-25000" dirty="0">
                <a:solidFill>
                  <a:schemeClr val="accent6">
                    <a:lumMod val="50000"/>
                  </a:schemeClr>
                </a:solidFill>
                <a:latin typeface="Arial" panose="020B0604020202020204" pitchFamily="34" charset="0"/>
                <a:cs typeface="Arial" panose="020B0604020202020204" pitchFamily="34" charset="0"/>
              </a:rPr>
              <a:t>i</a:t>
            </a:r>
            <a:endParaRPr lang="es-MX" b="1" dirty="0">
              <a:solidFill>
                <a:schemeClr val="accent6">
                  <a:lumMod val="50000"/>
                </a:schemeClr>
              </a:solidFill>
            </a:endParaRPr>
          </a:p>
        </p:txBody>
      </p:sp>
      <p:sp>
        <p:nvSpPr>
          <p:cNvPr id="33" name="Diagrama de flujo: conector 32">
            <a:extLst>
              <a:ext uri="{FF2B5EF4-FFF2-40B4-BE49-F238E27FC236}">
                <a16:creationId xmlns:a16="http://schemas.microsoft.com/office/drawing/2014/main" id="{65415347-5093-4333-B9EC-1E2CF7BAA656}"/>
              </a:ext>
            </a:extLst>
          </p:cNvPr>
          <p:cNvSpPr/>
          <p:nvPr/>
        </p:nvSpPr>
        <p:spPr>
          <a:xfrm>
            <a:off x="5291688" y="1978081"/>
            <a:ext cx="3975553" cy="369526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4" name="Conector recto de flecha 33">
            <a:extLst>
              <a:ext uri="{FF2B5EF4-FFF2-40B4-BE49-F238E27FC236}">
                <a16:creationId xmlns:a16="http://schemas.microsoft.com/office/drawing/2014/main" id="{0ED217EF-1B0B-4479-A806-0C58D92316D7}"/>
              </a:ext>
            </a:extLst>
          </p:cNvPr>
          <p:cNvCxnSpPr>
            <a:cxnSpLocks/>
          </p:cNvCxnSpPr>
          <p:nvPr/>
        </p:nvCxnSpPr>
        <p:spPr>
          <a:xfrm>
            <a:off x="6189419" y="2901881"/>
            <a:ext cx="1202215" cy="72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417BB53E-9F9F-4D6A-9F54-6C9CCE42B6DF}"/>
              </a:ext>
            </a:extLst>
          </p:cNvPr>
          <p:cNvCxnSpPr>
            <a:cxnSpLocks/>
          </p:cNvCxnSpPr>
          <p:nvPr/>
        </p:nvCxnSpPr>
        <p:spPr>
          <a:xfrm>
            <a:off x="6010933" y="3146161"/>
            <a:ext cx="1377574" cy="5842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E261D8B4-1035-4CAD-83F8-B1FF6AB93E42}"/>
              </a:ext>
            </a:extLst>
          </p:cNvPr>
          <p:cNvCxnSpPr>
            <a:cxnSpLocks/>
          </p:cNvCxnSpPr>
          <p:nvPr/>
        </p:nvCxnSpPr>
        <p:spPr>
          <a:xfrm>
            <a:off x="5861469" y="3429327"/>
            <a:ext cx="1527038" cy="3787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5FF689A7-073E-4D3C-96C2-ECB96D6C9FA3}"/>
              </a:ext>
            </a:extLst>
          </p:cNvPr>
          <p:cNvCxnSpPr>
            <a:cxnSpLocks/>
          </p:cNvCxnSpPr>
          <p:nvPr/>
        </p:nvCxnSpPr>
        <p:spPr>
          <a:xfrm flipV="1">
            <a:off x="6189419" y="3874333"/>
            <a:ext cx="1199088" cy="5561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ángulo 37">
            <a:extLst>
              <a:ext uri="{FF2B5EF4-FFF2-40B4-BE49-F238E27FC236}">
                <a16:creationId xmlns:a16="http://schemas.microsoft.com/office/drawing/2014/main" id="{145CEBDD-24AA-42B0-A9FB-D92C0CC5C3AA}"/>
              </a:ext>
            </a:extLst>
          </p:cNvPr>
          <p:cNvSpPr/>
          <p:nvPr/>
        </p:nvSpPr>
        <p:spPr>
          <a:xfrm>
            <a:off x="5463603" y="3564594"/>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4</a:t>
            </a:r>
            <a:endParaRPr lang="es-MX" dirty="0"/>
          </a:p>
        </p:txBody>
      </p:sp>
      <p:cxnSp>
        <p:nvCxnSpPr>
          <p:cNvPr id="39" name="Conector recto de flecha 38">
            <a:extLst>
              <a:ext uri="{FF2B5EF4-FFF2-40B4-BE49-F238E27FC236}">
                <a16:creationId xmlns:a16="http://schemas.microsoft.com/office/drawing/2014/main" id="{43599C59-714E-4667-BB62-8B030CF2A87E}"/>
              </a:ext>
            </a:extLst>
          </p:cNvPr>
          <p:cNvCxnSpPr>
            <a:cxnSpLocks/>
          </p:cNvCxnSpPr>
          <p:nvPr/>
        </p:nvCxnSpPr>
        <p:spPr>
          <a:xfrm>
            <a:off x="5846108" y="3813376"/>
            <a:ext cx="1536222" cy="329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07916D93-9CFE-4984-99EF-0B685600BFA1}"/>
              </a:ext>
            </a:extLst>
          </p:cNvPr>
          <p:cNvCxnSpPr>
            <a:cxnSpLocks/>
          </p:cNvCxnSpPr>
          <p:nvPr/>
        </p:nvCxnSpPr>
        <p:spPr>
          <a:xfrm>
            <a:off x="5632828" y="3944227"/>
            <a:ext cx="228641" cy="32217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2" name="Diagrama de flujo: conector 41">
            <a:extLst>
              <a:ext uri="{FF2B5EF4-FFF2-40B4-BE49-F238E27FC236}">
                <a16:creationId xmlns:a16="http://schemas.microsoft.com/office/drawing/2014/main" id="{6DE80247-A411-4D53-9314-00C75F33AD70}"/>
              </a:ext>
            </a:extLst>
          </p:cNvPr>
          <p:cNvSpPr/>
          <p:nvPr/>
        </p:nvSpPr>
        <p:spPr>
          <a:xfrm>
            <a:off x="7400958" y="3268397"/>
            <a:ext cx="1527037" cy="1149639"/>
          </a:xfrm>
          <a:prstGeom prst="flowChartConnector">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Slide Number Placeholder 2">
            <a:extLst>
              <a:ext uri="{FF2B5EF4-FFF2-40B4-BE49-F238E27FC236}">
                <a16:creationId xmlns:a16="http://schemas.microsoft.com/office/drawing/2014/main" id="{CDC4C873-8E30-42F4-BFB4-3DD46C334EC5}"/>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49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cxnSp>
        <p:nvCxnSpPr>
          <p:cNvPr id="49" name="Conector recto de flecha 48">
            <a:extLst>
              <a:ext uri="{FF2B5EF4-FFF2-40B4-BE49-F238E27FC236}">
                <a16:creationId xmlns:a16="http://schemas.microsoft.com/office/drawing/2014/main" id="{6F123A0E-FB7D-4C5B-B495-D7EB6D565B33}"/>
              </a:ext>
            </a:extLst>
          </p:cNvPr>
          <p:cNvCxnSpPr>
            <a:cxnSpLocks/>
          </p:cNvCxnSpPr>
          <p:nvPr/>
        </p:nvCxnSpPr>
        <p:spPr>
          <a:xfrm>
            <a:off x="7973989" y="3749260"/>
            <a:ext cx="604949" cy="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0" name="Rectángulo 49">
            <a:extLst>
              <a:ext uri="{FF2B5EF4-FFF2-40B4-BE49-F238E27FC236}">
                <a16:creationId xmlns:a16="http://schemas.microsoft.com/office/drawing/2014/main" id="{B35B6AF0-623C-413F-A6A8-4B3E6DFB441D}"/>
              </a:ext>
            </a:extLst>
          </p:cNvPr>
          <p:cNvSpPr/>
          <p:nvPr/>
        </p:nvSpPr>
        <p:spPr>
          <a:xfrm>
            <a:off x="6553199" y="2904347"/>
            <a:ext cx="30168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1</a:t>
            </a:r>
            <a:endParaRPr lang="es-MX" sz="1400" dirty="0"/>
          </a:p>
        </p:txBody>
      </p:sp>
      <p:sp>
        <p:nvSpPr>
          <p:cNvPr id="51" name="Rectángulo 50">
            <a:extLst>
              <a:ext uri="{FF2B5EF4-FFF2-40B4-BE49-F238E27FC236}">
                <a16:creationId xmlns:a16="http://schemas.microsoft.com/office/drawing/2014/main" id="{B1F28086-FD02-47E1-8B74-84E559D47DF2}"/>
              </a:ext>
            </a:extLst>
          </p:cNvPr>
          <p:cNvSpPr/>
          <p:nvPr/>
        </p:nvSpPr>
        <p:spPr>
          <a:xfrm>
            <a:off x="6291393" y="3063808"/>
            <a:ext cx="30168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2</a:t>
            </a:r>
            <a:endParaRPr lang="es-MX" sz="1400" dirty="0"/>
          </a:p>
        </p:txBody>
      </p:sp>
      <p:sp>
        <p:nvSpPr>
          <p:cNvPr id="52" name="Rectángulo 51">
            <a:extLst>
              <a:ext uri="{FF2B5EF4-FFF2-40B4-BE49-F238E27FC236}">
                <a16:creationId xmlns:a16="http://schemas.microsoft.com/office/drawing/2014/main" id="{C40DE035-995C-43D6-984B-A287BE14C9C8}"/>
              </a:ext>
            </a:extLst>
          </p:cNvPr>
          <p:cNvSpPr/>
          <p:nvPr/>
        </p:nvSpPr>
        <p:spPr>
          <a:xfrm>
            <a:off x="6146207" y="3282300"/>
            <a:ext cx="30168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3</a:t>
            </a:r>
            <a:endParaRPr lang="es-MX" sz="1400" dirty="0"/>
          </a:p>
        </p:txBody>
      </p:sp>
      <p:sp>
        <p:nvSpPr>
          <p:cNvPr id="53" name="Rectángulo 52">
            <a:extLst>
              <a:ext uri="{FF2B5EF4-FFF2-40B4-BE49-F238E27FC236}">
                <a16:creationId xmlns:a16="http://schemas.microsoft.com/office/drawing/2014/main" id="{5F2BCD7E-B79D-40A9-9F7E-CD8FE6F1E0B0}"/>
              </a:ext>
            </a:extLst>
          </p:cNvPr>
          <p:cNvSpPr/>
          <p:nvPr/>
        </p:nvSpPr>
        <p:spPr>
          <a:xfrm>
            <a:off x="6295298" y="3583055"/>
            <a:ext cx="30168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4</a:t>
            </a:r>
            <a:endParaRPr lang="es-MX" sz="1400" dirty="0"/>
          </a:p>
        </p:txBody>
      </p:sp>
      <p:sp>
        <p:nvSpPr>
          <p:cNvPr id="54" name="Rectángulo 53">
            <a:extLst>
              <a:ext uri="{FF2B5EF4-FFF2-40B4-BE49-F238E27FC236}">
                <a16:creationId xmlns:a16="http://schemas.microsoft.com/office/drawing/2014/main" id="{4C9CC9DC-97F1-4072-9600-C7B28C27987E}"/>
              </a:ext>
            </a:extLst>
          </p:cNvPr>
          <p:cNvSpPr/>
          <p:nvPr/>
        </p:nvSpPr>
        <p:spPr>
          <a:xfrm>
            <a:off x="6402356" y="3958456"/>
            <a:ext cx="261610"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f</a:t>
            </a:r>
            <a:r>
              <a:rPr lang="es-AR" sz="1400" baseline="-25000" dirty="0">
                <a:latin typeface="Arial" panose="020B0604020202020204" pitchFamily="34" charset="0"/>
                <a:cs typeface="Arial" panose="020B0604020202020204" pitchFamily="34" charset="0"/>
              </a:rPr>
              <a:t>i</a:t>
            </a:r>
            <a:endParaRPr lang="es-MX" sz="1400" dirty="0"/>
          </a:p>
        </p:txBody>
      </p:sp>
      <p:cxnSp>
        <p:nvCxnSpPr>
          <p:cNvPr id="4" name="Conector recto de flecha 3">
            <a:extLst>
              <a:ext uri="{FF2B5EF4-FFF2-40B4-BE49-F238E27FC236}">
                <a16:creationId xmlns:a16="http://schemas.microsoft.com/office/drawing/2014/main" id="{0A5960DC-249F-5A0F-7550-58BB935ADA5D}"/>
              </a:ext>
            </a:extLst>
          </p:cNvPr>
          <p:cNvCxnSpPr>
            <a:cxnSpLocks/>
          </p:cNvCxnSpPr>
          <p:nvPr/>
        </p:nvCxnSpPr>
        <p:spPr>
          <a:xfrm flipV="1">
            <a:off x="6242520" y="3846340"/>
            <a:ext cx="2336418" cy="67800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9C1586F4-66E2-44D6-D66B-C6629DB6B5D4}"/>
              </a:ext>
            </a:extLst>
          </p:cNvPr>
          <p:cNvSpPr/>
          <p:nvPr/>
        </p:nvSpPr>
        <p:spPr>
          <a:xfrm>
            <a:off x="7254052" y="4144546"/>
            <a:ext cx="325730" cy="369332"/>
          </a:xfrm>
          <a:prstGeom prst="rect">
            <a:avLst/>
          </a:prstGeom>
        </p:spPr>
        <p:txBody>
          <a:bodyPr wrap="none">
            <a:spAutoFit/>
          </a:bodyPr>
          <a:lstStyle/>
          <a:p>
            <a:r>
              <a:rPr lang="es-ES" b="1" dirty="0">
                <a:solidFill>
                  <a:srgbClr val="C00000"/>
                </a:solidFill>
                <a:latin typeface="Arial" panose="020B0604020202020204" pitchFamily="34" charset="0"/>
                <a:cs typeface="Arial" panose="020B0604020202020204" pitchFamily="34" charset="0"/>
              </a:rPr>
              <a:t>g</a:t>
            </a:r>
            <a:endParaRPr lang="es-MX" b="1" dirty="0">
              <a:solidFill>
                <a:srgbClr val="C00000"/>
              </a:solidFill>
            </a:endParaRPr>
          </a:p>
        </p:txBody>
      </p:sp>
    </p:spTree>
    <p:extLst>
      <p:ext uri="{BB962C8B-B14F-4D97-AF65-F5344CB8AC3E}">
        <p14:creationId xmlns:p14="http://schemas.microsoft.com/office/powerpoint/2010/main" val="3684946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98697" y="255515"/>
            <a:ext cx="11893303" cy="4755148"/>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Ejemplos clásicos</a:t>
            </a:r>
          </a:p>
          <a:p>
            <a:pPr algn="just"/>
            <a:endParaRPr lang="es-AR" b="1" u="sng" dirty="0">
              <a:latin typeface="Arial" panose="020B0604020202020204" pitchFamily="34" charset="0"/>
              <a:cs typeface="Arial" panose="020B0604020202020204" pitchFamily="34" charset="0"/>
            </a:endParaRPr>
          </a:p>
          <a:p>
            <a:pPr algn="just"/>
            <a:endParaRPr lang="es-AR"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SAT</a:t>
            </a:r>
            <a:r>
              <a:rPr lang="es-AR" dirty="0">
                <a:latin typeface="Arial" panose="020B0604020202020204" pitchFamily="34" charset="0"/>
                <a:cs typeface="Arial" panose="020B0604020202020204" pitchFamily="34" charset="0"/>
              </a:rPr>
              <a:t> = {φ | φ es una fórmula booleana sin cuantificadores, </a:t>
            </a:r>
            <a:r>
              <a:rPr lang="es-AR" b="1"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a:t>
            </a:r>
          </a:p>
          <a:p>
            <a:pPr algn="just"/>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 </a:t>
            </a:r>
            <a:r>
              <a:rPr lang="es-AR" dirty="0">
                <a:sym typeface="Symbol" panose="05050102010706020507" pitchFamily="18" charset="2"/>
              </a:rPr>
              <a:t></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sym typeface="Symbol" panose="05050102010706020507" pitchFamily="18" charset="2"/>
              </a:rPr>
              <a:t>) </a:t>
            </a:r>
            <a:r>
              <a:rPr lang="es-AR" dirty="0">
                <a:sym typeface="Symbol" panose="05050102010706020507" pitchFamily="18" charset="2"/>
              </a:rPr>
              <a:t>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1 </a:t>
            </a:r>
            <a:r>
              <a:rPr lang="es-AR" dirty="0">
                <a:sym typeface="Symbol" panose="05050102010706020507" pitchFamily="18" charset="2"/>
              </a:rPr>
              <a:t>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sym typeface="Symbol" panose="05050102010706020507" pitchFamily="18" charset="2"/>
              </a:rPr>
              <a:t>)</a:t>
            </a:r>
            <a:r>
              <a:rPr lang="es-AR"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a:t>
            </a:r>
            <a:r>
              <a:rPr lang="es-AR" dirty="0">
                <a:sym typeface="Symbol" panose="05050102010706020507" pitchFamily="18" charset="2"/>
              </a:rPr>
              <a:t>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5</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sym typeface="Symbol" panose="05050102010706020507" pitchFamily="18" charset="2"/>
              </a:rPr>
              <a:t>)</a:t>
            </a:r>
            <a:r>
              <a:rPr lang="es-AR" dirty="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a:t>
            </a:r>
          </a:p>
          <a:p>
            <a:r>
              <a:rPr lang="es-AR" sz="3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      </a:t>
            </a:r>
          </a:p>
          <a:p>
            <a:r>
              <a:rPr lang="es-AR" b="1" dirty="0">
                <a:latin typeface="Arial" panose="020B0604020202020204" pitchFamily="34" charset="0"/>
                <a:cs typeface="Arial" panose="020B0604020202020204" pitchFamily="34" charset="0"/>
              </a:rPr>
              <a:t>CSAT</a:t>
            </a:r>
            <a:r>
              <a:rPr lang="es-AR" dirty="0">
                <a:latin typeface="Arial" panose="020B0604020202020204" pitchFamily="34" charset="0"/>
                <a:cs typeface="Arial" panose="020B0604020202020204" pitchFamily="34" charset="0"/>
              </a:rPr>
              <a:t> = {φ | φ es una fórmula booleana sin cuantificadores en la </a:t>
            </a:r>
            <a:r>
              <a:rPr lang="es-AR" b="1" dirty="0">
                <a:latin typeface="Arial" panose="020B0604020202020204" pitchFamily="34" charset="0"/>
                <a:cs typeface="Arial" panose="020B0604020202020204" pitchFamily="34" charset="0"/>
              </a:rPr>
              <a:t>forma normal conjuntiva (FNC), </a:t>
            </a:r>
            <a:r>
              <a:rPr lang="es-AR" b="1"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x</a:t>
            </a:r>
            <a:r>
              <a:rPr lang="es-ES" baseline="-25000" dirty="0">
                <a:latin typeface="Arial" panose="020B0604020202020204" pitchFamily="34" charset="0"/>
                <a:cs typeface="Arial" panose="020B0604020202020204" pitchFamily="34" charset="0"/>
              </a:rPr>
              <a:t>1 </a:t>
            </a:r>
            <a:r>
              <a:rPr lang="es-AR" dirty="0">
                <a:sym typeface="Symbol" panose="05050102010706020507" pitchFamily="18" charset="2"/>
              </a:rPr>
              <a:t>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5</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sym typeface="Symbol" panose="05050102010706020507" pitchFamily="18" charset="2"/>
              </a:rPr>
              <a:t>) </a:t>
            </a:r>
            <a:r>
              <a:rPr lang="es-AR" dirty="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t>¬</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5</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sym typeface="Symbol" panose="05050102010706020507" pitchFamily="18" charset="2"/>
              </a:rPr>
              <a:t>)</a:t>
            </a:r>
            <a:r>
              <a:rPr lang="es-AR" dirty="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sym typeface="Symbol" panose="05050102010706020507" pitchFamily="18" charset="2"/>
              </a:rPr>
              <a:t>)          </a:t>
            </a:r>
          </a:p>
          <a:p>
            <a:pPr algn="just"/>
            <a:endParaRPr lang="es-AR" sz="3000"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3-SAT</a:t>
            </a:r>
            <a:r>
              <a:rPr lang="es-AR" dirty="0">
                <a:latin typeface="Arial" panose="020B0604020202020204" pitchFamily="34" charset="0"/>
                <a:cs typeface="Arial" panose="020B0604020202020204" pitchFamily="34" charset="0"/>
              </a:rPr>
              <a:t> = {φ | φ es una fórmula booleana sin cuantificadores en FNC </a:t>
            </a:r>
            <a:r>
              <a:rPr lang="es-AR" b="1" dirty="0">
                <a:latin typeface="Arial" panose="020B0604020202020204" pitchFamily="34" charset="0"/>
                <a:cs typeface="Arial" panose="020B0604020202020204" pitchFamily="34" charset="0"/>
              </a:rPr>
              <a:t>con tres literales por cláusula, </a:t>
            </a:r>
            <a:r>
              <a:rPr lang="es-AR" b="1"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sym typeface="Symbol" panose="05050102010706020507" pitchFamily="18" charset="2"/>
              </a:rPr>
              <a:t>1</a:t>
            </a:r>
            <a:r>
              <a:rPr lang="es-AR" dirty="0">
                <a:latin typeface="Arial" panose="020B0604020202020204" pitchFamily="34" charset="0"/>
                <a:cs typeface="Arial" panose="020B0604020202020204" pitchFamily="34" charset="0"/>
                <a:sym typeface="Symbol" panose="05050102010706020507" pitchFamily="18" charset="2"/>
              </a:rPr>
              <a:t>)          </a:t>
            </a: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BABC9443-52E4-4A40-8904-674747F990A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Elipse 4">
            <a:extLst>
              <a:ext uri="{FF2B5EF4-FFF2-40B4-BE49-F238E27FC236}">
                <a16:creationId xmlns:a16="http://schemas.microsoft.com/office/drawing/2014/main" id="{C994AB20-5F41-D8E0-1A0A-0E6239247C4B}"/>
              </a:ext>
            </a:extLst>
          </p:cNvPr>
          <p:cNvSpPr/>
          <p:nvPr/>
        </p:nvSpPr>
        <p:spPr>
          <a:xfrm>
            <a:off x="2535305" y="4349055"/>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51808C9C-6109-B92F-14F8-A24A37B66458}"/>
              </a:ext>
            </a:extLst>
          </p:cNvPr>
          <p:cNvSpPr/>
          <p:nvPr/>
        </p:nvSpPr>
        <p:spPr>
          <a:xfrm>
            <a:off x="2222016" y="4412310"/>
            <a:ext cx="61638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SAT</a:t>
            </a:r>
            <a:endParaRPr lang="es-MX" dirty="0"/>
          </a:p>
        </p:txBody>
      </p:sp>
      <p:sp>
        <p:nvSpPr>
          <p:cNvPr id="15" name="Rectángulo 14">
            <a:extLst>
              <a:ext uri="{FF2B5EF4-FFF2-40B4-BE49-F238E27FC236}">
                <a16:creationId xmlns:a16="http://schemas.microsoft.com/office/drawing/2014/main" id="{99D00CF8-FE39-3BAF-D5CA-AA3006ECF8C5}"/>
              </a:ext>
            </a:extLst>
          </p:cNvPr>
          <p:cNvSpPr/>
          <p:nvPr/>
        </p:nvSpPr>
        <p:spPr>
          <a:xfrm>
            <a:off x="4655127" y="4422143"/>
            <a:ext cx="783099"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CSAT</a:t>
            </a:r>
            <a:endParaRPr lang="es-MX" dirty="0"/>
          </a:p>
        </p:txBody>
      </p:sp>
      <p:sp>
        <p:nvSpPr>
          <p:cNvPr id="16" name="Rectángulo 15">
            <a:extLst>
              <a:ext uri="{FF2B5EF4-FFF2-40B4-BE49-F238E27FC236}">
                <a16:creationId xmlns:a16="http://schemas.microsoft.com/office/drawing/2014/main" id="{1FE62857-D826-195B-1C79-77568917032B}"/>
              </a:ext>
            </a:extLst>
          </p:cNvPr>
          <p:cNvSpPr/>
          <p:nvPr/>
        </p:nvSpPr>
        <p:spPr>
          <a:xfrm>
            <a:off x="4889230" y="5222882"/>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17" name="Rectángulo 16">
            <a:extLst>
              <a:ext uri="{FF2B5EF4-FFF2-40B4-BE49-F238E27FC236}">
                <a16:creationId xmlns:a16="http://schemas.microsoft.com/office/drawing/2014/main" id="{38D85ED9-19E7-6650-D7E0-0B6E7FF5E6FA}"/>
              </a:ext>
            </a:extLst>
          </p:cNvPr>
          <p:cNvSpPr/>
          <p:nvPr/>
        </p:nvSpPr>
        <p:spPr>
          <a:xfrm>
            <a:off x="4887253" y="6251211"/>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18" name="Rectángulo 17">
            <a:extLst>
              <a:ext uri="{FF2B5EF4-FFF2-40B4-BE49-F238E27FC236}">
                <a16:creationId xmlns:a16="http://schemas.microsoft.com/office/drawing/2014/main" id="{055D8BE4-E0FD-F097-9E02-07F153FCDAEB}"/>
              </a:ext>
            </a:extLst>
          </p:cNvPr>
          <p:cNvSpPr/>
          <p:nvPr/>
        </p:nvSpPr>
        <p:spPr>
          <a:xfrm>
            <a:off x="3656403" y="6114099"/>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19" name="Rectángulo 18">
            <a:extLst>
              <a:ext uri="{FF2B5EF4-FFF2-40B4-BE49-F238E27FC236}">
                <a16:creationId xmlns:a16="http://schemas.microsoft.com/office/drawing/2014/main" id="{0F5B5EED-DFC9-1EE0-8AF5-60B2343A33D8}"/>
              </a:ext>
            </a:extLst>
          </p:cNvPr>
          <p:cNvSpPr/>
          <p:nvPr/>
        </p:nvSpPr>
        <p:spPr>
          <a:xfrm>
            <a:off x="2351955" y="5222882"/>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23" name="Rectángulo 22">
            <a:extLst>
              <a:ext uri="{FF2B5EF4-FFF2-40B4-BE49-F238E27FC236}">
                <a16:creationId xmlns:a16="http://schemas.microsoft.com/office/drawing/2014/main" id="{FAC1E0F9-A88F-BDD6-FE68-41E400E8C529}"/>
              </a:ext>
            </a:extLst>
          </p:cNvPr>
          <p:cNvSpPr/>
          <p:nvPr/>
        </p:nvSpPr>
        <p:spPr>
          <a:xfrm>
            <a:off x="2354569" y="6195534"/>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25" name="Diagrama de flujo: conector 24">
            <a:extLst>
              <a:ext uri="{FF2B5EF4-FFF2-40B4-BE49-F238E27FC236}">
                <a16:creationId xmlns:a16="http://schemas.microsoft.com/office/drawing/2014/main" id="{DC3587F0-4E7A-1D67-0C50-1E9BD111856C}"/>
              </a:ext>
            </a:extLst>
          </p:cNvPr>
          <p:cNvSpPr/>
          <p:nvPr/>
        </p:nvSpPr>
        <p:spPr>
          <a:xfrm>
            <a:off x="2053346" y="4724931"/>
            <a:ext cx="960000" cy="148319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lumMod val="85000"/>
                </a:schemeClr>
              </a:solidFill>
            </a:endParaRPr>
          </a:p>
        </p:txBody>
      </p:sp>
      <p:sp>
        <p:nvSpPr>
          <p:cNvPr id="28" name="Diagrama de flujo: conector 27">
            <a:extLst>
              <a:ext uri="{FF2B5EF4-FFF2-40B4-BE49-F238E27FC236}">
                <a16:creationId xmlns:a16="http://schemas.microsoft.com/office/drawing/2014/main" id="{AA18E853-69A0-CFCD-B8BB-F99314300B17}"/>
              </a:ext>
            </a:extLst>
          </p:cNvPr>
          <p:cNvSpPr/>
          <p:nvPr/>
        </p:nvSpPr>
        <p:spPr>
          <a:xfrm>
            <a:off x="4548247" y="4724930"/>
            <a:ext cx="960000" cy="148974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9" name="Conector recto de flecha 28">
            <a:extLst>
              <a:ext uri="{FF2B5EF4-FFF2-40B4-BE49-F238E27FC236}">
                <a16:creationId xmlns:a16="http://schemas.microsoft.com/office/drawing/2014/main" id="{3A40B1A8-BE69-4FEA-1AE9-188756CDE23C}"/>
              </a:ext>
            </a:extLst>
          </p:cNvPr>
          <p:cNvCxnSpPr>
            <a:cxnSpLocks/>
          </p:cNvCxnSpPr>
          <p:nvPr/>
        </p:nvCxnSpPr>
        <p:spPr>
          <a:xfrm>
            <a:off x="2709535" y="5461423"/>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FCF38EF4-8536-9C50-8F7C-4EE786E5B7C3}"/>
              </a:ext>
            </a:extLst>
          </p:cNvPr>
          <p:cNvSpPr/>
          <p:nvPr/>
        </p:nvSpPr>
        <p:spPr>
          <a:xfrm>
            <a:off x="4967621" y="5249810"/>
            <a:ext cx="2920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r>
              <a:rPr lang="es-ES" baseline="-25000" dirty="0">
                <a:latin typeface="Arial" panose="020B0604020202020204" pitchFamily="34" charset="0"/>
                <a:cs typeface="Arial" panose="020B0604020202020204" pitchFamily="34" charset="0"/>
              </a:rPr>
              <a:t> </a:t>
            </a:r>
            <a:endParaRPr lang="es-MX" dirty="0"/>
          </a:p>
        </p:txBody>
      </p:sp>
      <p:sp>
        <p:nvSpPr>
          <p:cNvPr id="36" name="Rectángulo 35">
            <a:extLst>
              <a:ext uri="{FF2B5EF4-FFF2-40B4-BE49-F238E27FC236}">
                <a16:creationId xmlns:a16="http://schemas.microsoft.com/office/drawing/2014/main" id="{9F8BC029-25B4-3744-4AD4-52F4C87D605E}"/>
              </a:ext>
            </a:extLst>
          </p:cNvPr>
          <p:cNvSpPr/>
          <p:nvPr/>
        </p:nvSpPr>
        <p:spPr>
          <a:xfrm>
            <a:off x="4987232" y="6257134"/>
            <a:ext cx="32573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endParaRPr lang="es-MX" dirty="0"/>
          </a:p>
        </p:txBody>
      </p:sp>
      <p:cxnSp>
        <p:nvCxnSpPr>
          <p:cNvPr id="37" name="Conector recto de flecha 36">
            <a:extLst>
              <a:ext uri="{FF2B5EF4-FFF2-40B4-BE49-F238E27FC236}">
                <a16:creationId xmlns:a16="http://schemas.microsoft.com/office/drawing/2014/main" id="{778C397D-80A9-919D-0239-3AD76270537B}"/>
              </a:ext>
            </a:extLst>
          </p:cNvPr>
          <p:cNvCxnSpPr>
            <a:cxnSpLocks/>
          </p:cNvCxnSpPr>
          <p:nvPr/>
        </p:nvCxnSpPr>
        <p:spPr>
          <a:xfrm>
            <a:off x="2744452" y="6452594"/>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ángulo 37">
            <a:extLst>
              <a:ext uri="{FF2B5EF4-FFF2-40B4-BE49-F238E27FC236}">
                <a16:creationId xmlns:a16="http://schemas.microsoft.com/office/drawing/2014/main" id="{EBFF02FD-2A98-427B-18D0-056EE477A89B}"/>
              </a:ext>
            </a:extLst>
          </p:cNvPr>
          <p:cNvSpPr/>
          <p:nvPr/>
        </p:nvSpPr>
        <p:spPr>
          <a:xfrm>
            <a:off x="2359662" y="5237256"/>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39" name="Rectángulo 38">
            <a:extLst>
              <a:ext uri="{FF2B5EF4-FFF2-40B4-BE49-F238E27FC236}">
                <a16:creationId xmlns:a16="http://schemas.microsoft.com/office/drawing/2014/main" id="{0CE56A51-4D8C-4F04-9552-314DD2418EDE}"/>
              </a:ext>
            </a:extLst>
          </p:cNvPr>
          <p:cNvSpPr/>
          <p:nvPr/>
        </p:nvSpPr>
        <p:spPr>
          <a:xfrm>
            <a:off x="4890324" y="5216959"/>
            <a:ext cx="410690"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40" name="Rectángulo 39">
            <a:extLst>
              <a:ext uri="{FF2B5EF4-FFF2-40B4-BE49-F238E27FC236}">
                <a16:creationId xmlns:a16="http://schemas.microsoft.com/office/drawing/2014/main" id="{07C5F8A9-747D-46C0-4B2D-F6133833FC99}"/>
              </a:ext>
            </a:extLst>
          </p:cNvPr>
          <p:cNvSpPr/>
          <p:nvPr/>
        </p:nvSpPr>
        <p:spPr>
          <a:xfrm>
            <a:off x="3643659" y="5149234"/>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42" name="Elipse 41">
            <a:extLst>
              <a:ext uri="{FF2B5EF4-FFF2-40B4-BE49-F238E27FC236}">
                <a16:creationId xmlns:a16="http://schemas.microsoft.com/office/drawing/2014/main" id="{FDA9FBA5-DB02-A513-05D2-E4DDD7ADE11B}"/>
              </a:ext>
            </a:extLst>
          </p:cNvPr>
          <p:cNvSpPr/>
          <p:nvPr/>
        </p:nvSpPr>
        <p:spPr>
          <a:xfrm>
            <a:off x="7654824" y="4320919"/>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Rectángulo 42">
            <a:extLst>
              <a:ext uri="{FF2B5EF4-FFF2-40B4-BE49-F238E27FC236}">
                <a16:creationId xmlns:a16="http://schemas.microsoft.com/office/drawing/2014/main" id="{91E42A49-B8AC-9406-02A1-B2CB2A375580}"/>
              </a:ext>
            </a:extLst>
          </p:cNvPr>
          <p:cNvSpPr/>
          <p:nvPr/>
        </p:nvSpPr>
        <p:spPr>
          <a:xfrm>
            <a:off x="7253432" y="4384174"/>
            <a:ext cx="783099"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CSAT</a:t>
            </a:r>
            <a:endParaRPr lang="es-MX" dirty="0"/>
          </a:p>
        </p:txBody>
      </p:sp>
      <p:sp>
        <p:nvSpPr>
          <p:cNvPr id="44" name="Rectángulo 43">
            <a:extLst>
              <a:ext uri="{FF2B5EF4-FFF2-40B4-BE49-F238E27FC236}">
                <a16:creationId xmlns:a16="http://schemas.microsoft.com/office/drawing/2014/main" id="{198F976E-3A65-60D7-0B3A-6F6FDCAE860F}"/>
              </a:ext>
            </a:extLst>
          </p:cNvPr>
          <p:cNvSpPr/>
          <p:nvPr/>
        </p:nvSpPr>
        <p:spPr>
          <a:xfrm>
            <a:off x="9736980" y="4393170"/>
            <a:ext cx="821572"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3-SAT</a:t>
            </a:r>
            <a:endParaRPr lang="es-MX" dirty="0"/>
          </a:p>
        </p:txBody>
      </p:sp>
      <p:sp>
        <p:nvSpPr>
          <p:cNvPr id="46" name="Rectángulo 45">
            <a:extLst>
              <a:ext uri="{FF2B5EF4-FFF2-40B4-BE49-F238E27FC236}">
                <a16:creationId xmlns:a16="http://schemas.microsoft.com/office/drawing/2014/main" id="{CE51804F-FDAD-5936-EE04-405E8C734A0B}"/>
              </a:ext>
            </a:extLst>
          </p:cNvPr>
          <p:cNvSpPr/>
          <p:nvPr/>
        </p:nvSpPr>
        <p:spPr>
          <a:xfrm>
            <a:off x="10008749" y="5194746"/>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48" name="Rectángulo 47">
            <a:extLst>
              <a:ext uri="{FF2B5EF4-FFF2-40B4-BE49-F238E27FC236}">
                <a16:creationId xmlns:a16="http://schemas.microsoft.com/office/drawing/2014/main" id="{30944AAD-EBE0-2A69-7752-A0C94D0EC10E}"/>
              </a:ext>
            </a:extLst>
          </p:cNvPr>
          <p:cNvSpPr/>
          <p:nvPr/>
        </p:nvSpPr>
        <p:spPr>
          <a:xfrm>
            <a:off x="8775922" y="6085963"/>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49" name="Rectángulo 48">
            <a:extLst>
              <a:ext uri="{FF2B5EF4-FFF2-40B4-BE49-F238E27FC236}">
                <a16:creationId xmlns:a16="http://schemas.microsoft.com/office/drawing/2014/main" id="{FA248BDC-D5A5-32CD-D772-C8FE27DA9F04}"/>
              </a:ext>
            </a:extLst>
          </p:cNvPr>
          <p:cNvSpPr/>
          <p:nvPr/>
        </p:nvSpPr>
        <p:spPr>
          <a:xfrm>
            <a:off x="7471474" y="5194746"/>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50" name="Rectángulo 49">
            <a:extLst>
              <a:ext uri="{FF2B5EF4-FFF2-40B4-BE49-F238E27FC236}">
                <a16:creationId xmlns:a16="http://schemas.microsoft.com/office/drawing/2014/main" id="{96FFB03A-A9B9-61D6-9CFE-C8F7C850676C}"/>
              </a:ext>
            </a:extLst>
          </p:cNvPr>
          <p:cNvSpPr/>
          <p:nvPr/>
        </p:nvSpPr>
        <p:spPr>
          <a:xfrm>
            <a:off x="7471474" y="6155179"/>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51" name="Diagrama de flujo: conector 50">
            <a:extLst>
              <a:ext uri="{FF2B5EF4-FFF2-40B4-BE49-F238E27FC236}">
                <a16:creationId xmlns:a16="http://schemas.microsoft.com/office/drawing/2014/main" id="{FA13BE24-566A-F63F-430D-5B730DF53DE2}"/>
              </a:ext>
            </a:extLst>
          </p:cNvPr>
          <p:cNvSpPr/>
          <p:nvPr/>
        </p:nvSpPr>
        <p:spPr>
          <a:xfrm>
            <a:off x="7172865" y="4696795"/>
            <a:ext cx="960000" cy="148319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lumMod val="85000"/>
                </a:schemeClr>
              </a:solidFill>
            </a:endParaRPr>
          </a:p>
        </p:txBody>
      </p:sp>
      <p:sp>
        <p:nvSpPr>
          <p:cNvPr id="52" name="Diagrama de flujo: conector 51">
            <a:extLst>
              <a:ext uri="{FF2B5EF4-FFF2-40B4-BE49-F238E27FC236}">
                <a16:creationId xmlns:a16="http://schemas.microsoft.com/office/drawing/2014/main" id="{5AF1DBBD-34E6-4D07-AD7F-ACA1F917CE07}"/>
              </a:ext>
            </a:extLst>
          </p:cNvPr>
          <p:cNvSpPr/>
          <p:nvPr/>
        </p:nvSpPr>
        <p:spPr>
          <a:xfrm>
            <a:off x="9667766" y="4696794"/>
            <a:ext cx="960000" cy="148974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53" name="Conector recto de flecha 52">
            <a:extLst>
              <a:ext uri="{FF2B5EF4-FFF2-40B4-BE49-F238E27FC236}">
                <a16:creationId xmlns:a16="http://schemas.microsoft.com/office/drawing/2014/main" id="{A41F8424-6C48-03B0-04C7-8DC448F15731}"/>
              </a:ext>
            </a:extLst>
          </p:cNvPr>
          <p:cNvCxnSpPr>
            <a:cxnSpLocks/>
          </p:cNvCxnSpPr>
          <p:nvPr/>
        </p:nvCxnSpPr>
        <p:spPr>
          <a:xfrm>
            <a:off x="7829054" y="5433287"/>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ángulo 53">
            <a:extLst>
              <a:ext uri="{FF2B5EF4-FFF2-40B4-BE49-F238E27FC236}">
                <a16:creationId xmlns:a16="http://schemas.microsoft.com/office/drawing/2014/main" id="{F675CE80-EBCF-0ED0-6CEC-B7458F926A8C}"/>
              </a:ext>
            </a:extLst>
          </p:cNvPr>
          <p:cNvSpPr/>
          <p:nvPr/>
        </p:nvSpPr>
        <p:spPr>
          <a:xfrm>
            <a:off x="10087140" y="5221674"/>
            <a:ext cx="369012"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r>
              <a:rPr lang="es-ES" baseline="-25000" dirty="0">
                <a:latin typeface="Arial" panose="020B0604020202020204" pitchFamily="34" charset="0"/>
                <a:cs typeface="Arial" panose="020B0604020202020204" pitchFamily="34" charset="0"/>
              </a:rPr>
              <a:t> </a:t>
            </a:r>
            <a:endParaRPr lang="es-MX" dirty="0"/>
          </a:p>
        </p:txBody>
      </p:sp>
      <p:sp>
        <p:nvSpPr>
          <p:cNvPr id="55" name="Rectángulo 54">
            <a:extLst>
              <a:ext uri="{FF2B5EF4-FFF2-40B4-BE49-F238E27FC236}">
                <a16:creationId xmlns:a16="http://schemas.microsoft.com/office/drawing/2014/main" id="{71D1ED60-E52F-9914-5F95-3BB2DBC8764E}"/>
              </a:ext>
            </a:extLst>
          </p:cNvPr>
          <p:cNvSpPr/>
          <p:nvPr/>
        </p:nvSpPr>
        <p:spPr>
          <a:xfrm>
            <a:off x="10030368" y="6223091"/>
            <a:ext cx="410690" cy="646331"/>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a:p>
            <a:r>
              <a:rPr lang="es-AR" dirty="0">
                <a:latin typeface="Arial" panose="020B0604020202020204" pitchFamily="34" charset="0"/>
                <a:cs typeface="Arial" panose="020B0604020202020204" pitchFamily="34" charset="0"/>
              </a:rPr>
              <a:t> </a:t>
            </a:r>
            <a:endParaRPr lang="es-MX" dirty="0"/>
          </a:p>
        </p:txBody>
      </p:sp>
      <p:cxnSp>
        <p:nvCxnSpPr>
          <p:cNvPr id="56" name="Conector recto de flecha 55">
            <a:extLst>
              <a:ext uri="{FF2B5EF4-FFF2-40B4-BE49-F238E27FC236}">
                <a16:creationId xmlns:a16="http://schemas.microsoft.com/office/drawing/2014/main" id="{AF8B31F4-3736-347C-2CFE-1366BEDF1605}"/>
              </a:ext>
            </a:extLst>
          </p:cNvPr>
          <p:cNvCxnSpPr>
            <a:cxnSpLocks/>
          </p:cNvCxnSpPr>
          <p:nvPr/>
        </p:nvCxnSpPr>
        <p:spPr>
          <a:xfrm>
            <a:off x="7863971" y="6424458"/>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ángulo 56">
            <a:extLst>
              <a:ext uri="{FF2B5EF4-FFF2-40B4-BE49-F238E27FC236}">
                <a16:creationId xmlns:a16="http://schemas.microsoft.com/office/drawing/2014/main" id="{F9B9031A-8807-43EB-746E-72641DA729E6}"/>
              </a:ext>
            </a:extLst>
          </p:cNvPr>
          <p:cNvSpPr/>
          <p:nvPr/>
        </p:nvSpPr>
        <p:spPr>
          <a:xfrm>
            <a:off x="7479181" y="5209120"/>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58" name="Rectángulo 57">
            <a:extLst>
              <a:ext uri="{FF2B5EF4-FFF2-40B4-BE49-F238E27FC236}">
                <a16:creationId xmlns:a16="http://schemas.microsoft.com/office/drawing/2014/main" id="{CE02A3A2-C8EE-53DE-BC2B-F2C34099560B}"/>
              </a:ext>
            </a:extLst>
          </p:cNvPr>
          <p:cNvSpPr/>
          <p:nvPr/>
        </p:nvSpPr>
        <p:spPr>
          <a:xfrm>
            <a:off x="10009843" y="5188823"/>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59" name="Rectángulo 58">
            <a:extLst>
              <a:ext uri="{FF2B5EF4-FFF2-40B4-BE49-F238E27FC236}">
                <a16:creationId xmlns:a16="http://schemas.microsoft.com/office/drawing/2014/main" id="{20AE77FF-37B7-B8B5-0A21-DD47D8D2161F}"/>
              </a:ext>
            </a:extLst>
          </p:cNvPr>
          <p:cNvSpPr/>
          <p:nvPr/>
        </p:nvSpPr>
        <p:spPr>
          <a:xfrm>
            <a:off x="8763178" y="5121098"/>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2" name="Rectángulo 1">
            <a:extLst>
              <a:ext uri="{FF2B5EF4-FFF2-40B4-BE49-F238E27FC236}">
                <a16:creationId xmlns:a16="http://schemas.microsoft.com/office/drawing/2014/main" id="{C79C3BFC-71D7-EB9E-084D-F5438CF3F14F}"/>
              </a:ext>
            </a:extLst>
          </p:cNvPr>
          <p:cNvSpPr/>
          <p:nvPr/>
        </p:nvSpPr>
        <p:spPr>
          <a:xfrm>
            <a:off x="3511941" y="5594825"/>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a:extLst>
              <a:ext uri="{FF2B5EF4-FFF2-40B4-BE49-F238E27FC236}">
                <a16:creationId xmlns:a16="http://schemas.microsoft.com/office/drawing/2014/main" id="{FFF64205-E788-CC1C-F58A-6E216683F6CA}"/>
              </a:ext>
            </a:extLst>
          </p:cNvPr>
          <p:cNvSpPr/>
          <p:nvPr/>
        </p:nvSpPr>
        <p:spPr>
          <a:xfrm>
            <a:off x="3574808" y="5653133"/>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
        <p:nvSpPr>
          <p:cNvPr id="6" name="Rectángulo 5">
            <a:extLst>
              <a:ext uri="{FF2B5EF4-FFF2-40B4-BE49-F238E27FC236}">
                <a16:creationId xmlns:a16="http://schemas.microsoft.com/office/drawing/2014/main" id="{0C18EC7C-5555-3F7A-B539-06E5FD424704}"/>
              </a:ext>
            </a:extLst>
          </p:cNvPr>
          <p:cNvSpPr/>
          <p:nvPr/>
        </p:nvSpPr>
        <p:spPr>
          <a:xfrm>
            <a:off x="8653179" y="5554403"/>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C765BC22-A04A-EF82-FAAE-F450F37148BF}"/>
              </a:ext>
            </a:extLst>
          </p:cNvPr>
          <p:cNvSpPr/>
          <p:nvPr/>
        </p:nvSpPr>
        <p:spPr>
          <a:xfrm>
            <a:off x="8716046" y="5612711"/>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42031130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98697" y="255515"/>
            <a:ext cx="11893303" cy="3631763"/>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Ejemplos clásicos (continuación)</a:t>
            </a:r>
          </a:p>
          <a:p>
            <a:pPr algn="just"/>
            <a:endParaRPr lang="es-AR" b="1" u="sng" dirty="0">
              <a:latin typeface="Arial" panose="020B0604020202020204" pitchFamily="34" charset="0"/>
              <a:cs typeface="Arial" panose="020B0604020202020204" pitchFamily="34" charset="0"/>
            </a:endParaRPr>
          </a:p>
          <a:p>
            <a:pPr algn="just"/>
            <a:endParaRPr lang="es-AR" sz="900"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3-SAT</a:t>
            </a:r>
            <a:r>
              <a:rPr lang="es-AR" dirty="0">
                <a:latin typeface="Arial" panose="020B0604020202020204" pitchFamily="34" charset="0"/>
                <a:cs typeface="Arial" panose="020B0604020202020204" pitchFamily="34" charset="0"/>
              </a:rPr>
              <a:t> = {φ | φ es una fórmula booleana sin cuantificadores en FNC </a:t>
            </a:r>
            <a:r>
              <a:rPr lang="es-AR" b="1" dirty="0">
                <a:latin typeface="Arial" panose="020B0604020202020204" pitchFamily="34" charset="0"/>
                <a:cs typeface="Arial" panose="020B0604020202020204" pitchFamily="34" charset="0"/>
              </a:rPr>
              <a:t>con tres literales por cláusula, </a:t>
            </a:r>
            <a:r>
              <a:rPr lang="es-AR" b="1"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sym typeface="Symbol" panose="05050102010706020507" pitchFamily="18" charset="2"/>
              </a:rPr>
              <a:t>1</a:t>
            </a:r>
            <a:r>
              <a:rPr lang="es-AR" dirty="0">
                <a:latin typeface="Arial" panose="020B0604020202020204" pitchFamily="34" charset="0"/>
                <a:cs typeface="Arial" panose="020B0604020202020204" pitchFamily="34" charset="0"/>
                <a:sym typeface="Symbol" panose="05050102010706020507" pitchFamily="18" charset="2"/>
              </a:rPr>
              <a:t>)          </a:t>
            </a:r>
          </a:p>
          <a:p>
            <a:r>
              <a:rPr lang="es-AR" sz="3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     </a:t>
            </a:r>
          </a:p>
          <a:p>
            <a:pPr algn="just"/>
            <a:r>
              <a:rPr lang="es-AR" b="1" dirty="0">
                <a:latin typeface="Arial" panose="020B0604020202020204" pitchFamily="34" charset="0"/>
                <a:cs typeface="Arial" panose="020B0604020202020204" pitchFamily="34" charset="0"/>
              </a:rPr>
              <a:t>CV</a:t>
            </a:r>
            <a:r>
              <a:rPr lang="es-AR" dirty="0">
                <a:latin typeface="Arial" panose="020B0604020202020204" pitchFamily="34" charset="0"/>
                <a:cs typeface="Arial" panose="020B0604020202020204" pitchFamily="34" charset="0"/>
              </a:rPr>
              <a:t> = {(G, K) | G es un grafo y tiene un </a:t>
            </a:r>
            <a:r>
              <a:rPr lang="es-AR" b="1" dirty="0">
                <a:latin typeface="Arial" panose="020B0604020202020204" pitchFamily="34" charset="0"/>
                <a:cs typeface="Arial" panose="020B0604020202020204" pitchFamily="34" charset="0"/>
              </a:rPr>
              <a:t>cubrimiento de vértices de tamaño K</a:t>
            </a:r>
            <a:r>
              <a:rPr lang="es-AR" dirty="0">
                <a:latin typeface="Arial" panose="020B0604020202020204" pitchFamily="34" charset="0"/>
                <a:cs typeface="Arial" panose="020B0604020202020204" pitchFamily="34" charset="0"/>
              </a:rPr>
              <a:t>}          </a:t>
            </a: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BABC9443-52E4-4A40-8904-674747F990A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Elipse 4">
            <a:extLst>
              <a:ext uri="{FF2B5EF4-FFF2-40B4-BE49-F238E27FC236}">
                <a16:creationId xmlns:a16="http://schemas.microsoft.com/office/drawing/2014/main" id="{C994AB20-5F41-D8E0-1A0A-0E6239247C4B}"/>
              </a:ext>
            </a:extLst>
          </p:cNvPr>
          <p:cNvSpPr/>
          <p:nvPr/>
        </p:nvSpPr>
        <p:spPr>
          <a:xfrm>
            <a:off x="1099449" y="4024319"/>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51808C9C-6109-B92F-14F8-A24A37B66458}"/>
              </a:ext>
            </a:extLst>
          </p:cNvPr>
          <p:cNvSpPr/>
          <p:nvPr/>
        </p:nvSpPr>
        <p:spPr>
          <a:xfrm>
            <a:off x="726409" y="4079171"/>
            <a:ext cx="821572"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3-SAT</a:t>
            </a:r>
            <a:endParaRPr lang="es-MX" dirty="0"/>
          </a:p>
        </p:txBody>
      </p:sp>
      <p:sp>
        <p:nvSpPr>
          <p:cNvPr id="15" name="Rectángulo 14">
            <a:extLst>
              <a:ext uri="{FF2B5EF4-FFF2-40B4-BE49-F238E27FC236}">
                <a16:creationId xmlns:a16="http://schemas.microsoft.com/office/drawing/2014/main" id="{99D00CF8-FE39-3BAF-D5CA-AA3006ECF8C5}"/>
              </a:ext>
            </a:extLst>
          </p:cNvPr>
          <p:cNvSpPr/>
          <p:nvPr/>
        </p:nvSpPr>
        <p:spPr>
          <a:xfrm>
            <a:off x="3318566" y="4079171"/>
            <a:ext cx="50526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CV</a:t>
            </a:r>
            <a:endParaRPr lang="es-MX" dirty="0"/>
          </a:p>
        </p:txBody>
      </p:sp>
      <p:sp>
        <p:nvSpPr>
          <p:cNvPr id="16" name="Rectángulo 15">
            <a:extLst>
              <a:ext uri="{FF2B5EF4-FFF2-40B4-BE49-F238E27FC236}">
                <a16:creationId xmlns:a16="http://schemas.microsoft.com/office/drawing/2014/main" id="{1FE62857-D826-195B-1C79-77568917032B}"/>
              </a:ext>
            </a:extLst>
          </p:cNvPr>
          <p:cNvSpPr/>
          <p:nvPr/>
        </p:nvSpPr>
        <p:spPr>
          <a:xfrm>
            <a:off x="3453374" y="4898146"/>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17" name="Rectángulo 16">
            <a:extLst>
              <a:ext uri="{FF2B5EF4-FFF2-40B4-BE49-F238E27FC236}">
                <a16:creationId xmlns:a16="http://schemas.microsoft.com/office/drawing/2014/main" id="{38D85ED9-19E7-6650-D7E0-0B6E7FF5E6FA}"/>
              </a:ext>
            </a:extLst>
          </p:cNvPr>
          <p:cNvSpPr/>
          <p:nvPr/>
        </p:nvSpPr>
        <p:spPr>
          <a:xfrm>
            <a:off x="3304204" y="5943816"/>
            <a:ext cx="819455" cy="369332"/>
          </a:xfrm>
          <a:prstGeom prst="rect">
            <a:avLst/>
          </a:prstGeom>
        </p:spPr>
        <p:txBody>
          <a:bodyPr wrap="none">
            <a:spAutoFit/>
          </a:bodyPr>
          <a:lstStyle/>
          <a:p>
            <a:r>
              <a:rPr lang="es-MX" dirty="0"/>
              <a:t>(G, 2K)</a:t>
            </a:r>
          </a:p>
        </p:txBody>
      </p:sp>
      <p:sp>
        <p:nvSpPr>
          <p:cNvPr id="18" name="Rectángulo 17">
            <a:extLst>
              <a:ext uri="{FF2B5EF4-FFF2-40B4-BE49-F238E27FC236}">
                <a16:creationId xmlns:a16="http://schemas.microsoft.com/office/drawing/2014/main" id="{055D8BE4-E0FD-F097-9E02-07F153FCDAEB}"/>
              </a:ext>
            </a:extLst>
          </p:cNvPr>
          <p:cNvSpPr/>
          <p:nvPr/>
        </p:nvSpPr>
        <p:spPr>
          <a:xfrm>
            <a:off x="2220547" y="5789363"/>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19" name="Rectángulo 18">
            <a:extLst>
              <a:ext uri="{FF2B5EF4-FFF2-40B4-BE49-F238E27FC236}">
                <a16:creationId xmlns:a16="http://schemas.microsoft.com/office/drawing/2014/main" id="{0F5B5EED-DFC9-1EE0-8AF5-60B2343A33D8}"/>
              </a:ext>
            </a:extLst>
          </p:cNvPr>
          <p:cNvSpPr/>
          <p:nvPr/>
        </p:nvSpPr>
        <p:spPr>
          <a:xfrm>
            <a:off x="916099" y="4898146"/>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23" name="Rectángulo 22">
            <a:extLst>
              <a:ext uri="{FF2B5EF4-FFF2-40B4-BE49-F238E27FC236}">
                <a16:creationId xmlns:a16="http://schemas.microsoft.com/office/drawing/2014/main" id="{FAC1E0F9-A88F-BDD6-FE68-41E400E8C529}"/>
              </a:ext>
            </a:extLst>
          </p:cNvPr>
          <p:cNvSpPr/>
          <p:nvPr/>
        </p:nvSpPr>
        <p:spPr>
          <a:xfrm>
            <a:off x="970322" y="5897759"/>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25" name="Diagrama de flujo: conector 24">
            <a:extLst>
              <a:ext uri="{FF2B5EF4-FFF2-40B4-BE49-F238E27FC236}">
                <a16:creationId xmlns:a16="http://schemas.microsoft.com/office/drawing/2014/main" id="{DC3587F0-4E7A-1D67-0C50-1E9BD111856C}"/>
              </a:ext>
            </a:extLst>
          </p:cNvPr>
          <p:cNvSpPr/>
          <p:nvPr/>
        </p:nvSpPr>
        <p:spPr>
          <a:xfrm>
            <a:off x="617490" y="4400195"/>
            <a:ext cx="960000" cy="148319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lumMod val="85000"/>
                </a:schemeClr>
              </a:solidFill>
            </a:endParaRPr>
          </a:p>
        </p:txBody>
      </p:sp>
      <p:sp>
        <p:nvSpPr>
          <p:cNvPr id="28" name="Diagrama de flujo: conector 27">
            <a:extLst>
              <a:ext uri="{FF2B5EF4-FFF2-40B4-BE49-F238E27FC236}">
                <a16:creationId xmlns:a16="http://schemas.microsoft.com/office/drawing/2014/main" id="{AA18E853-69A0-CFCD-B8BB-F99314300B17}"/>
              </a:ext>
            </a:extLst>
          </p:cNvPr>
          <p:cNvSpPr/>
          <p:nvPr/>
        </p:nvSpPr>
        <p:spPr>
          <a:xfrm>
            <a:off x="3112391" y="4400194"/>
            <a:ext cx="960000" cy="148974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9" name="Conector recto de flecha 28">
            <a:extLst>
              <a:ext uri="{FF2B5EF4-FFF2-40B4-BE49-F238E27FC236}">
                <a16:creationId xmlns:a16="http://schemas.microsoft.com/office/drawing/2014/main" id="{3A40B1A8-BE69-4FEA-1AE9-188756CDE23C}"/>
              </a:ext>
            </a:extLst>
          </p:cNvPr>
          <p:cNvCxnSpPr>
            <a:cxnSpLocks/>
          </p:cNvCxnSpPr>
          <p:nvPr/>
        </p:nvCxnSpPr>
        <p:spPr>
          <a:xfrm>
            <a:off x="1211541" y="5136687"/>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FCF38EF4-8536-9C50-8F7C-4EE786E5B7C3}"/>
              </a:ext>
            </a:extLst>
          </p:cNvPr>
          <p:cNvSpPr/>
          <p:nvPr/>
        </p:nvSpPr>
        <p:spPr>
          <a:xfrm>
            <a:off x="3531765" y="4925074"/>
            <a:ext cx="2920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r>
              <a:rPr lang="es-ES" baseline="-25000" dirty="0">
                <a:latin typeface="Arial" panose="020B0604020202020204" pitchFamily="34" charset="0"/>
                <a:cs typeface="Arial" panose="020B0604020202020204" pitchFamily="34" charset="0"/>
              </a:rPr>
              <a:t> </a:t>
            </a:r>
            <a:endParaRPr lang="es-MX" dirty="0"/>
          </a:p>
        </p:txBody>
      </p:sp>
      <p:cxnSp>
        <p:nvCxnSpPr>
          <p:cNvPr id="37" name="Conector recto de flecha 36">
            <a:extLst>
              <a:ext uri="{FF2B5EF4-FFF2-40B4-BE49-F238E27FC236}">
                <a16:creationId xmlns:a16="http://schemas.microsoft.com/office/drawing/2014/main" id="{778C397D-80A9-919D-0239-3AD76270537B}"/>
              </a:ext>
            </a:extLst>
          </p:cNvPr>
          <p:cNvCxnSpPr>
            <a:cxnSpLocks/>
          </p:cNvCxnSpPr>
          <p:nvPr/>
        </p:nvCxnSpPr>
        <p:spPr>
          <a:xfrm>
            <a:off x="1270771" y="6110310"/>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ángulo 37">
            <a:extLst>
              <a:ext uri="{FF2B5EF4-FFF2-40B4-BE49-F238E27FC236}">
                <a16:creationId xmlns:a16="http://schemas.microsoft.com/office/drawing/2014/main" id="{EBFF02FD-2A98-427B-18D0-056EE477A89B}"/>
              </a:ext>
            </a:extLst>
          </p:cNvPr>
          <p:cNvSpPr/>
          <p:nvPr/>
        </p:nvSpPr>
        <p:spPr>
          <a:xfrm>
            <a:off x="923806" y="4912520"/>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39" name="Rectángulo 38">
            <a:extLst>
              <a:ext uri="{FF2B5EF4-FFF2-40B4-BE49-F238E27FC236}">
                <a16:creationId xmlns:a16="http://schemas.microsoft.com/office/drawing/2014/main" id="{0CE56A51-4D8C-4F04-9552-314DD2418EDE}"/>
              </a:ext>
            </a:extLst>
          </p:cNvPr>
          <p:cNvSpPr/>
          <p:nvPr/>
        </p:nvSpPr>
        <p:spPr>
          <a:xfrm>
            <a:off x="3244975" y="4943914"/>
            <a:ext cx="819455" cy="369332"/>
          </a:xfrm>
          <a:prstGeom prst="rect">
            <a:avLst/>
          </a:prstGeom>
        </p:spPr>
        <p:txBody>
          <a:bodyPr wrap="none">
            <a:spAutoFit/>
          </a:bodyPr>
          <a:lstStyle/>
          <a:p>
            <a:r>
              <a:rPr lang="es-MX" dirty="0"/>
              <a:t>(G, 2K)</a:t>
            </a:r>
          </a:p>
        </p:txBody>
      </p:sp>
      <p:sp>
        <p:nvSpPr>
          <p:cNvPr id="40" name="Rectángulo 39">
            <a:extLst>
              <a:ext uri="{FF2B5EF4-FFF2-40B4-BE49-F238E27FC236}">
                <a16:creationId xmlns:a16="http://schemas.microsoft.com/office/drawing/2014/main" id="{07C5F8A9-747D-46C0-4B2D-F6133833FC99}"/>
              </a:ext>
            </a:extLst>
          </p:cNvPr>
          <p:cNvSpPr/>
          <p:nvPr/>
        </p:nvSpPr>
        <p:spPr>
          <a:xfrm>
            <a:off x="2207803" y="4824498"/>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60" name="Diagrama de flujo: conector 59">
            <a:extLst>
              <a:ext uri="{FF2B5EF4-FFF2-40B4-BE49-F238E27FC236}">
                <a16:creationId xmlns:a16="http://schemas.microsoft.com/office/drawing/2014/main" id="{504AF503-A41B-3CD2-206A-FFDE3CF8F884}"/>
              </a:ext>
            </a:extLst>
          </p:cNvPr>
          <p:cNvSpPr/>
          <p:nvPr/>
        </p:nvSpPr>
        <p:spPr>
          <a:xfrm>
            <a:off x="5002306" y="2679041"/>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1" name="Diagrama de flujo: conector 60">
            <a:extLst>
              <a:ext uri="{FF2B5EF4-FFF2-40B4-BE49-F238E27FC236}">
                <a16:creationId xmlns:a16="http://schemas.microsoft.com/office/drawing/2014/main" id="{7BA1F469-A1A4-CAAE-698D-37FEB08C1A5D}"/>
              </a:ext>
            </a:extLst>
          </p:cNvPr>
          <p:cNvSpPr/>
          <p:nvPr/>
        </p:nvSpPr>
        <p:spPr>
          <a:xfrm>
            <a:off x="4446547" y="2989952"/>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2" name="Diagrama de flujo: conector 61">
            <a:extLst>
              <a:ext uri="{FF2B5EF4-FFF2-40B4-BE49-F238E27FC236}">
                <a16:creationId xmlns:a16="http://schemas.microsoft.com/office/drawing/2014/main" id="{60C00C16-3358-47EF-F24D-534ED23BE9E0}"/>
              </a:ext>
            </a:extLst>
          </p:cNvPr>
          <p:cNvSpPr/>
          <p:nvPr/>
        </p:nvSpPr>
        <p:spPr>
          <a:xfrm>
            <a:off x="5491625" y="2829549"/>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3" name="Diagrama de flujo: conector 62">
            <a:extLst>
              <a:ext uri="{FF2B5EF4-FFF2-40B4-BE49-F238E27FC236}">
                <a16:creationId xmlns:a16="http://schemas.microsoft.com/office/drawing/2014/main" id="{64944465-D577-78F3-ED3E-91E2EFB496A4}"/>
              </a:ext>
            </a:extLst>
          </p:cNvPr>
          <p:cNvSpPr/>
          <p:nvPr/>
        </p:nvSpPr>
        <p:spPr>
          <a:xfrm>
            <a:off x="5018642" y="3237924"/>
            <a:ext cx="319551" cy="320807"/>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4" name="Diagrama de flujo: conector 63">
            <a:extLst>
              <a:ext uri="{FF2B5EF4-FFF2-40B4-BE49-F238E27FC236}">
                <a16:creationId xmlns:a16="http://schemas.microsoft.com/office/drawing/2014/main" id="{3B11BF02-B734-CB57-3295-F4AE7C74AD09}"/>
              </a:ext>
            </a:extLst>
          </p:cNvPr>
          <p:cNvSpPr/>
          <p:nvPr/>
        </p:nvSpPr>
        <p:spPr>
          <a:xfrm>
            <a:off x="5924453" y="3204709"/>
            <a:ext cx="319551" cy="320807"/>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7" name="Diagrama de flujo: conector 66">
            <a:extLst>
              <a:ext uri="{FF2B5EF4-FFF2-40B4-BE49-F238E27FC236}">
                <a16:creationId xmlns:a16="http://schemas.microsoft.com/office/drawing/2014/main" id="{3CD11748-01EC-C3D4-AF94-E5219E7B4B4A}"/>
              </a:ext>
            </a:extLst>
          </p:cNvPr>
          <p:cNvSpPr/>
          <p:nvPr/>
        </p:nvSpPr>
        <p:spPr>
          <a:xfrm>
            <a:off x="6024972" y="2643724"/>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8" name="Diagrama de flujo: conector 67">
            <a:extLst>
              <a:ext uri="{FF2B5EF4-FFF2-40B4-BE49-F238E27FC236}">
                <a16:creationId xmlns:a16="http://schemas.microsoft.com/office/drawing/2014/main" id="{44E2D692-3229-133E-AD01-8F24501A6CE2}"/>
              </a:ext>
            </a:extLst>
          </p:cNvPr>
          <p:cNvSpPr/>
          <p:nvPr/>
        </p:nvSpPr>
        <p:spPr>
          <a:xfrm>
            <a:off x="6572413" y="2804127"/>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9" name="Conector recto 68">
            <a:extLst>
              <a:ext uri="{FF2B5EF4-FFF2-40B4-BE49-F238E27FC236}">
                <a16:creationId xmlns:a16="http://schemas.microsoft.com/office/drawing/2014/main" id="{7B5CDA9B-FC2E-8F8F-75F1-5185214C6E8B}"/>
              </a:ext>
            </a:extLst>
          </p:cNvPr>
          <p:cNvCxnSpPr>
            <a:cxnSpLocks/>
          </p:cNvCxnSpPr>
          <p:nvPr/>
        </p:nvCxnSpPr>
        <p:spPr>
          <a:xfrm>
            <a:off x="4756077" y="3211896"/>
            <a:ext cx="260748" cy="153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81F7C47C-43A8-0250-C2F3-D5F737A3DCB8}"/>
              </a:ext>
            </a:extLst>
          </p:cNvPr>
          <p:cNvCxnSpPr>
            <a:cxnSpLocks/>
          </p:cNvCxnSpPr>
          <p:nvPr/>
        </p:nvCxnSpPr>
        <p:spPr>
          <a:xfrm>
            <a:off x="5148690" y="2983388"/>
            <a:ext cx="3399" cy="254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EF0B52E2-D55C-141F-410C-6A2125A63C14}"/>
              </a:ext>
            </a:extLst>
          </p:cNvPr>
          <p:cNvCxnSpPr>
            <a:cxnSpLocks/>
            <a:endCxn id="64" idx="2"/>
          </p:cNvCxnSpPr>
          <p:nvPr/>
        </p:nvCxnSpPr>
        <p:spPr>
          <a:xfrm flipV="1">
            <a:off x="5353521" y="3365113"/>
            <a:ext cx="570932" cy="42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FED61068-E4EC-C3EC-CF5E-7A781B811920}"/>
              </a:ext>
            </a:extLst>
          </p:cNvPr>
          <p:cNvCxnSpPr>
            <a:cxnSpLocks/>
            <a:endCxn id="62" idx="3"/>
          </p:cNvCxnSpPr>
          <p:nvPr/>
        </p:nvCxnSpPr>
        <p:spPr>
          <a:xfrm flipV="1">
            <a:off x="5292741" y="3103375"/>
            <a:ext cx="245681" cy="196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EE829AA6-B8AB-CA4B-9E86-49D52AFF9B7E}"/>
              </a:ext>
            </a:extLst>
          </p:cNvPr>
          <p:cNvCxnSpPr>
            <a:cxnSpLocks/>
            <a:endCxn id="68" idx="3"/>
          </p:cNvCxnSpPr>
          <p:nvPr/>
        </p:nvCxnSpPr>
        <p:spPr>
          <a:xfrm flipV="1">
            <a:off x="6244004" y="3077953"/>
            <a:ext cx="375206" cy="278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CFD735C7-E109-A8C3-B264-20F345317648}"/>
              </a:ext>
            </a:extLst>
          </p:cNvPr>
          <p:cNvCxnSpPr>
            <a:cxnSpLocks/>
            <a:endCxn id="67" idx="4"/>
          </p:cNvCxnSpPr>
          <p:nvPr/>
        </p:nvCxnSpPr>
        <p:spPr>
          <a:xfrm flipV="1">
            <a:off x="6147208" y="2964531"/>
            <a:ext cx="37540" cy="239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Rectángulo 76">
            <a:extLst>
              <a:ext uri="{FF2B5EF4-FFF2-40B4-BE49-F238E27FC236}">
                <a16:creationId xmlns:a16="http://schemas.microsoft.com/office/drawing/2014/main" id="{0BC790D8-5FDA-C7EB-F731-3AE2571CA258}"/>
              </a:ext>
            </a:extLst>
          </p:cNvPr>
          <p:cNvSpPr/>
          <p:nvPr/>
        </p:nvSpPr>
        <p:spPr>
          <a:xfrm>
            <a:off x="1892042" y="3555188"/>
            <a:ext cx="8904962" cy="338554"/>
          </a:xfrm>
          <a:prstGeom prst="rect">
            <a:avLst/>
          </a:prstGeom>
        </p:spPr>
        <p:txBody>
          <a:bodyPr wrap="square">
            <a:spAutoFit/>
          </a:bodyPr>
          <a:lstStyle/>
          <a:p>
            <a:pPr algn="just"/>
            <a:r>
              <a:rPr lang="es-AR" sz="1600" dirty="0">
                <a:latin typeface="Arial" panose="020B0604020202020204" pitchFamily="34" charset="0"/>
                <a:cs typeface="Arial" panose="020B0604020202020204" pitchFamily="34" charset="0"/>
              </a:rPr>
              <a:t>Ejemplo de cubrimiento de vértices de tamaño 2 (con 2 vértices toca todos los arcos)</a:t>
            </a:r>
            <a:endParaRPr lang="es-MX" sz="1600" dirty="0"/>
          </a:p>
        </p:txBody>
      </p:sp>
      <p:cxnSp>
        <p:nvCxnSpPr>
          <p:cNvPr id="12" name="Conector recto 11">
            <a:extLst>
              <a:ext uri="{FF2B5EF4-FFF2-40B4-BE49-F238E27FC236}">
                <a16:creationId xmlns:a16="http://schemas.microsoft.com/office/drawing/2014/main" id="{F4DF78D4-63BD-5558-99AF-D55EF4BEDAF3}"/>
              </a:ext>
            </a:extLst>
          </p:cNvPr>
          <p:cNvCxnSpPr>
            <a:cxnSpLocks/>
          </p:cNvCxnSpPr>
          <p:nvPr/>
        </p:nvCxnSpPr>
        <p:spPr>
          <a:xfrm>
            <a:off x="9365922" y="5542029"/>
            <a:ext cx="472464" cy="3136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E6E04F28-9929-8343-3D49-8808C50BE9C1}"/>
              </a:ext>
            </a:extLst>
          </p:cNvPr>
          <p:cNvSpPr/>
          <p:nvPr/>
        </p:nvSpPr>
        <p:spPr>
          <a:xfrm>
            <a:off x="9796882" y="5735772"/>
            <a:ext cx="515494" cy="50663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Diagrama de flujo: conector 31">
            <a:extLst>
              <a:ext uri="{FF2B5EF4-FFF2-40B4-BE49-F238E27FC236}">
                <a16:creationId xmlns:a16="http://schemas.microsoft.com/office/drawing/2014/main" id="{F0558F13-53C1-F1C7-D18A-B321485C2D5A}"/>
              </a:ext>
            </a:extLst>
          </p:cNvPr>
          <p:cNvSpPr/>
          <p:nvPr/>
        </p:nvSpPr>
        <p:spPr>
          <a:xfrm>
            <a:off x="9569669" y="4323087"/>
            <a:ext cx="515494" cy="506632"/>
          </a:xfrm>
          <a:prstGeom prst="flowChartConnector">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Diagrama de flujo: conector 32">
            <a:extLst>
              <a:ext uri="{FF2B5EF4-FFF2-40B4-BE49-F238E27FC236}">
                <a16:creationId xmlns:a16="http://schemas.microsoft.com/office/drawing/2014/main" id="{04A4BFE6-8DB0-C2AE-44AF-6D343F3E7489}"/>
              </a:ext>
            </a:extLst>
          </p:cNvPr>
          <p:cNvSpPr/>
          <p:nvPr/>
        </p:nvSpPr>
        <p:spPr>
          <a:xfrm>
            <a:off x="8865439" y="5129851"/>
            <a:ext cx="515494" cy="506632"/>
          </a:xfrm>
          <a:prstGeom prst="flowChartConnector">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36" name="Conector recto 35">
            <a:extLst>
              <a:ext uri="{FF2B5EF4-FFF2-40B4-BE49-F238E27FC236}">
                <a16:creationId xmlns:a16="http://schemas.microsoft.com/office/drawing/2014/main" id="{938E3B01-505E-5DB3-7563-743EB48F05C5}"/>
              </a:ext>
            </a:extLst>
          </p:cNvPr>
          <p:cNvCxnSpPr>
            <a:cxnSpLocks/>
          </p:cNvCxnSpPr>
          <p:nvPr/>
        </p:nvCxnSpPr>
        <p:spPr>
          <a:xfrm flipV="1">
            <a:off x="10104524" y="4496154"/>
            <a:ext cx="812067" cy="26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A687CD7E-EF0D-4E94-2CDC-554F9A375D80}"/>
              </a:ext>
            </a:extLst>
          </p:cNvPr>
          <p:cNvCxnSpPr>
            <a:cxnSpLocks/>
          </p:cNvCxnSpPr>
          <p:nvPr/>
        </p:nvCxnSpPr>
        <p:spPr>
          <a:xfrm flipV="1">
            <a:off x="9268307" y="4780507"/>
            <a:ext cx="383620" cy="354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C2955B8F-A78E-46A8-8811-EC8371F2B6DA}"/>
              </a:ext>
            </a:extLst>
          </p:cNvPr>
          <p:cNvCxnSpPr>
            <a:cxnSpLocks/>
          </p:cNvCxnSpPr>
          <p:nvPr/>
        </p:nvCxnSpPr>
        <p:spPr>
          <a:xfrm>
            <a:off x="9930950" y="4792270"/>
            <a:ext cx="70759" cy="920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770C1760-FD71-B1EE-D2C0-BE73D664DF13}"/>
              </a:ext>
            </a:extLst>
          </p:cNvPr>
          <p:cNvCxnSpPr>
            <a:cxnSpLocks/>
          </p:cNvCxnSpPr>
          <p:nvPr/>
        </p:nvCxnSpPr>
        <p:spPr>
          <a:xfrm>
            <a:off x="10692221" y="5499035"/>
            <a:ext cx="472464" cy="3136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Diagrama de flujo: conector 45">
            <a:extLst>
              <a:ext uri="{FF2B5EF4-FFF2-40B4-BE49-F238E27FC236}">
                <a16:creationId xmlns:a16="http://schemas.microsoft.com/office/drawing/2014/main" id="{6B223665-6F27-F01F-92F5-6897B4F6E059}"/>
              </a:ext>
            </a:extLst>
          </p:cNvPr>
          <p:cNvSpPr/>
          <p:nvPr/>
        </p:nvSpPr>
        <p:spPr>
          <a:xfrm>
            <a:off x="11123181" y="5692778"/>
            <a:ext cx="515494" cy="506632"/>
          </a:xfrm>
          <a:prstGeom prst="flowChartConnector">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7" name="Diagrama de flujo: conector 46">
            <a:extLst>
              <a:ext uri="{FF2B5EF4-FFF2-40B4-BE49-F238E27FC236}">
                <a16:creationId xmlns:a16="http://schemas.microsoft.com/office/drawing/2014/main" id="{2F288748-0289-A4FC-0E3A-A1C6B700BBB9}"/>
              </a:ext>
            </a:extLst>
          </p:cNvPr>
          <p:cNvSpPr/>
          <p:nvPr/>
        </p:nvSpPr>
        <p:spPr>
          <a:xfrm>
            <a:off x="10895968" y="4280093"/>
            <a:ext cx="515494" cy="506632"/>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8" name="Diagrama de flujo: conector 47">
            <a:extLst>
              <a:ext uri="{FF2B5EF4-FFF2-40B4-BE49-F238E27FC236}">
                <a16:creationId xmlns:a16="http://schemas.microsoft.com/office/drawing/2014/main" id="{0495B3B1-2D36-13A8-E2B2-40BB801ED16E}"/>
              </a:ext>
            </a:extLst>
          </p:cNvPr>
          <p:cNvSpPr/>
          <p:nvPr/>
        </p:nvSpPr>
        <p:spPr>
          <a:xfrm>
            <a:off x="10191738" y="5086857"/>
            <a:ext cx="515494" cy="506632"/>
          </a:xfrm>
          <a:prstGeom prst="flowChartConnector">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49" name="Conector recto 48">
            <a:extLst>
              <a:ext uri="{FF2B5EF4-FFF2-40B4-BE49-F238E27FC236}">
                <a16:creationId xmlns:a16="http://schemas.microsoft.com/office/drawing/2014/main" id="{5CA25DA4-C122-2B2B-05B9-816F07D9B68D}"/>
              </a:ext>
            </a:extLst>
          </p:cNvPr>
          <p:cNvCxnSpPr>
            <a:cxnSpLocks/>
          </p:cNvCxnSpPr>
          <p:nvPr/>
        </p:nvCxnSpPr>
        <p:spPr>
          <a:xfrm flipV="1">
            <a:off x="10594606" y="4737513"/>
            <a:ext cx="383620" cy="354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DFDB257F-1E99-8EEB-62E2-731D9B71A6B7}"/>
              </a:ext>
            </a:extLst>
          </p:cNvPr>
          <p:cNvCxnSpPr>
            <a:cxnSpLocks/>
          </p:cNvCxnSpPr>
          <p:nvPr/>
        </p:nvCxnSpPr>
        <p:spPr>
          <a:xfrm>
            <a:off x="11257249" y="4749276"/>
            <a:ext cx="70759" cy="920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8792691C-DCFE-CA9D-8622-39AD962E58F9}"/>
              </a:ext>
            </a:extLst>
          </p:cNvPr>
          <p:cNvSpPr txBox="1"/>
          <p:nvPr/>
        </p:nvSpPr>
        <p:spPr>
          <a:xfrm>
            <a:off x="8916208" y="5170656"/>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endParaRPr lang="es-AR" dirty="0"/>
          </a:p>
        </p:txBody>
      </p:sp>
      <p:sp>
        <p:nvSpPr>
          <p:cNvPr id="54" name="CuadroTexto 53">
            <a:extLst>
              <a:ext uri="{FF2B5EF4-FFF2-40B4-BE49-F238E27FC236}">
                <a16:creationId xmlns:a16="http://schemas.microsoft.com/office/drawing/2014/main" id="{0F39F8A0-628B-6784-AF20-F63C74A706A2}"/>
              </a:ext>
            </a:extLst>
          </p:cNvPr>
          <p:cNvSpPr txBox="1"/>
          <p:nvPr/>
        </p:nvSpPr>
        <p:spPr>
          <a:xfrm>
            <a:off x="9651927" y="4348717"/>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endParaRPr lang="es-AR" dirty="0"/>
          </a:p>
        </p:txBody>
      </p:sp>
      <p:sp>
        <p:nvSpPr>
          <p:cNvPr id="55" name="CuadroTexto 54">
            <a:extLst>
              <a:ext uri="{FF2B5EF4-FFF2-40B4-BE49-F238E27FC236}">
                <a16:creationId xmlns:a16="http://schemas.microsoft.com/office/drawing/2014/main" id="{F9DA7163-BA82-8621-21D9-742CCFEC74D0}"/>
              </a:ext>
            </a:extLst>
          </p:cNvPr>
          <p:cNvSpPr txBox="1"/>
          <p:nvPr/>
        </p:nvSpPr>
        <p:spPr>
          <a:xfrm>
            <a:off x="9904038" y="5790267"/>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endParaRPr lang="es-AR" dirty="0"/>
          </a:p>
        </p:txBody>
      </p:sp>
      <p:sp>
        <p:nvSpPr>
          <p:cNvPr id="56" name="CuadroTexto 55">
            <a:extLst>
              <a:ext uri="{FF2B5EF4-FFF2-40B4-BE49-F238E27FC236}">
                <a16:creationId xmlns:a16="http://schemas.microsoft.com/office/drawing/2014/main" id="{C435AC5F-3831-DF0E-0CF6-989ECC49C86A}"/>
              </a:ext>
            </a:extLst>
          </p:cNvPr>
          <p:cNvSpPr txBox="1"/>
          <p:nvPr/>
        </p:nvSpPr>
        <p:spPr>
          <a:xfrm>
            <a:off x="10236632" y="5106744"/>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4</a:t>
            </a:r>
            <a:r>
              <a:rPr lang="es-ES" dirty="0">
                <a:latin typeface="Arial" panose="020B0604020202020204" pitchFamily="34" charset="0"/>
                <a:cs typeface="Arial" panose="020B0604020202020204" pitchFamily="34" charset="0"/>
              </a:rPr>
              <a:t> </a:t>
            </a:r>
            <a:endParaRPr lang="es-AR" dirty="0"/>
          </a:p>
        </p:txBody>
      </p:sp>
      <p:sp>
        <p:nvSpPr>
          <p:cNvPr id="57" name="CuadroTexto 56">
            <a:extLst>
              <a:ext uri="{FF2B5EF4-FFF2-40B4-BE49-F238E27FC236}">
                <a16:creationId xmlns:a16="http://schemas.microsoft.com/office/drawing/2014/main" id="{B91E2F1F-1B90-FF4E-AC02-88D4672C9D57}"/>
              </a:ext>
            </a:extLst>
          </p:cNvPr>
          <p:cNvSpPr txBox="1"/>
          <p:nvPr/>
        </p:nvSpPr>
        <p:spPr>
          <a:xfrm>
            <a:off x="11227475" y="5741973"/>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5</a:t>
            </a:r>
            <a:r>
              <a:rPr lang="es-ES" dirty="0">
                <a:latin typeface="Arial" panose="020B0604020202020204" pitchFamily="34" charset="0"/>
                <a:cs typeface="Arial" panose="020B0604020202020204" pitchFamily="34" charset="0"/>
              </a:rPr>
              <a:t> </a:t>
            </a:r>
            <a:endParaRPr lang="es-AR" dirty="0"/>
          </a:p>
        </p:txBody>
      </p:sp>
      <p:sp>
        <p:nvSpPr>
          <p:cNvPr id="58" name="CuadroTexto 57">
            <a:extLst>
              <a:ext uri="{FF2B5EF4-FFF2-40B4-BE49-F238E27FC236}">
                <a16:creationId xmlns:a16="http://schemas.microsoft.com/office/drawing/2014/main" id="{2C81BFD2-B11F-CF90-4D67-4990584C38E5}"/>
              </a:ext>
            </a:extLst>
          </p:cNvPr>
          <p:cNvSpPr txBox="1"/>
          <p:nvPr/>
        </p:nvSpPr>
        <p:spPr>
          <a:xfrm>
            <a:off x="10926175" y="4309490"/>
            <a:ext cx="5280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endParaRPr lang="es-AR" dirty="0"/>
          </a:p>
        </p:txBody>
      </p:sp>
      <p:sp>
        <p:nvSpPr>
          <p:cNvPr id="65" name="CuadroTexto 64">
            <a:extLst>
              <a:ext uri="{FF2B5EF4-FFF2-40B4-BE49-F238E27FC236}">
                <a16:creationId xmlns:a16="http://schemas.microsoft.com/office/drawing/2014/main" id="{BEDD849B-DBC9-462C-A3CD-E90F08DD17B1}"/>
              </a:ext>
            </a:extLst>
          </p:cNvPr>
          <p:cNvSpPr txBox="1"/>
          <p:nvPr/>
        </p:nvSpPr>
        <p:spPr>
          <a:xfrm>
            <a:off x="4827612" y="5168074"/>
            <a:ext cx="3300821" cy="369332"/>
          </a:xfrm>
          <a:prstGeom prst="rect">
            <a:avLst/>
          </a:prstGeom>
          <a:noFill/>
        </p:spPr>
        <p:txBody>
          <a:bodyPr wrap="square">
            <a:spAutoFit/>
          </a:bodyPr>
          <a:lstStyle/>
          <a:p>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3</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4</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5</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sym typeface="Symbol" panose="05050102010706020507" pitchFamily="18" charset="2"/>
              </a:rPr>
              <a:t>)</a:t>
            </a:r>
            <a:endParaRPr lang="es-MX" dirty="0"/>
          </a:p>
        </p:txBody>
      </p:sp>
      <p:sp>
        <p:nvSpPr>
          <p:cNvPr id="71" name="Flecha: a la derecha 70">
            <a:extLst>
              <a:ext uri="{FF2B5EF4-FFF2-40B4-BE49-F238E27FC236}">
                <a16:creationId xmlns:a16="http://schemas.microsoft.com/office/drawing/2014/main" id="{BF9D2012-E70F-D390-180E-1A031AC15615}"/>
              </a:ext>
            </a:extLst>
          </p:cNvPr>
          <p:cNvSpPr/>
          <p:nvPr/>
        </p:nvSpPr>
        <p:spPr>
          <a:xfrm>
            <a:off x="8070678" y="5121655"/>
            <a:ext cx="602231" cy="479328"/>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8" name="CuadroTexto 77">
            <a:extLst>
              <a:ext uri="{FF2B5EF4-FFF2-40B4-BE49-F238E27FC236}">
                <a16:creationId xmlns:a16="http://schemas.microsoft.com/office/drawing/2014/main" id="{5EF42118-9C00-6BE3-7D3D-BE1365296A33}"/>
              </a:ext>
            </a:extLst>
          </p:cNvPr>
          <p:cNvSpPr txBox="1"/>
          <p:nvPr/>
        </p:nvSpPr>
        <p:spPr>
          <a:xfrm>
            <a:off x="1350922" y="6313148"/>
            <a:ext cx="6191250"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K = </a:t>
            </a:r>
            <a:r>
              <a:rPr lang="es-AR" sz="1600" dirty="0" err="1">
                <a:latin typeface="Arial" panose="020B0604020202020204" pitchFamily="34" charset="0"/>
                <a:cs typeface="Arial" panose="020B0604020202020204" pitchFamily="34" charset="0"/>
              </a:rPr>
              <a:t>nro</a:t>
            </a:r>
            <a:r>
              <a:rPr lang="es-AR" sz="1600" dirty="0">
                <a:latin typeface="Arial" panose="020B0604020202020204" pitchFamily="34" charset="0"/>
                <a:cs typeface="Arial" panose="020B0604020202020204" pitchFamily="34" charset="0"/>
              </a:rPr>
              <a:t> de </a:t>
            </a:r>
            <a:r>
              <a:rPr lang="es-AR" sz="1600" dirty="0" err="1">
                <a:latin typeface="Arial" panose="020B0604020202020204" pitchFamily="34" charset="0"/>
                <a:cs typeface="Arial" panose="020B0604020202020204" pitchFamily="34" charset="0"/>
              </a:rPr>
              <a:t>clásulas</a:t>
            </a:r>
            <a:endParaRPr lang="es-AR" sz="1600" dirty="0"/>
          </a:p>
        </p:txBody>
      </p:sp>
      <p:sp>
        <p:nvSpPr>
          <p:cNvPr id="2" name="Rectángulo 1">
            <a:extLst>
              <a:ext uri="{FF2B5EF4-FFF2-40B4-BE49-F238E27FC236}">
                <a16:creationId xmlns:a16="http://schemas.microsoft.com/office/drawing/2014/main" id="{9AC53F30-E72F-9E66-9674-880B913463F9}"/>
              </a:ext>
            </a:extLst>
          </p:cNvPr>
          <p:cNvSpPr/>
          <p:nvPr/>
        </p:nvSpPr>
        <p:spPr>
          <a:xfrm>
            <a:off x="2099244" y="5278434"/>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a:extLst>
              <a:ext uri="{FF2B5EF4-FFF2-40B4-BE49-F238E27FC236}">
                <a16:creationId xmlns:a16="http://schemas.microsoft.com/office/drawing/2014/main" id="{1E4DA3F2-7B36-9E8F-D35C-FA4CBF4EBAA5}"/>
              </a:ext>
            </a:extLst>
          </p:cNvPr>
          <p:cNvSpPr/>
          <p:nvPr/>
        </p:nvSpPr>
        <p:spPr>
          <a:xfrm>
            <a:off x="2162111" y="5336742"/>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8844672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83564" y="137332"/>
            <a:ext cx="11893303" cy="4816703"/>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Ejemplos clásicos (continuación)</a:t>
            </a:r>
            <a:r>
              <a:rPr lang="es-AR" sz="2400" dirty="0">
                <a:latin typeface="Arial" panose="020B0604020202020204" pitchFamily="34" charset="0"/>
                <a:cs typeface="Arial" panose="020B0604020202020204" pitchFamily="34" charset="0"/>
                <a:sym typeface="Symbol" panose="05050102010706020507" pitchFamily="18" charset="2"/>
              </a:rPr>
              <a:t>   </a:t>
            </a:r>
          </a:p>
          <a:p>
            <a:r>
              <a:rPr lang="es-AR" dirty="0">
                <a:latin typeface="Arial" panose="020B0604020202020204" pitchFamily="34" charset="0"/>
                <a:cs typeface="Arial" panose="020B0604020202020204" pitchFamily="34" charset="0"/>
                <a:sym typeface="Symbol" panose="05050102010706020507" pitchFamily="18" charset="2"/>
              </a:rPr>
              <a:t>     </a:t>
            </a:r>
          </a:p>
          <a:p>
            <a:pPr algn="just"/>
            <a:r>
              <a:rPr lang="es-AR" b="1" dirty="0">
                <a:latin typeface="Arial" panose="020B0604020202020204" pitchFamily="34" charset="0"/>
                <a:cs typeface="Arial" panose="020B0604020202020204" pitchFamily="34" charset="0"/>
              </a:rPr>
              <a:t>CV</a:t>
            </a:r>
            <a:r>
              <a:rPr lang="es-AR" dirty="0">
                <a:latin typeface="Arial" panose="020B0604020202020204" pitchFamily="34" charset="0"/>
                <a:cs typeface="Arial" panose="020B0604020202020204" pitchFamily="34" charset="0"/>
              </a:rPr>
              <a:t> = {(G, K) | G es un grafo y tiene un </a:t>
            </a:r>
            <a:r>
              <a:rPr lang="es-AR" b="1" dirty="0">
                <a:latin typeface="Arial" panose="020B0604020202020204" pitchFamily="34" charset="0"/>
                <a:cs typeface="Arial" panose="020B0604020202020204" pitchFamily="34" charset="0"/>
              </a:rPr>
              <a:t>cubrimiento de vértices de tamaño K</a:t>
            </a:r>
            <a:r>
              <a:rPr lang="es-AR" dirty="0">
                <a:latin typeface="Arial" panose="020B0604020202020204" pitchFamily="34" charset="0"/>
                <a:cs typeface="Arial" panose="020B0604020202020204" pitchFamily="34" charset="0"/>
              </a:rPr>
              <a:t>}   </a:t>
            </a: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dirty="0">
              <a:latin typeface="Arial" panose="020B0604020202020204" pitchFamily="34" charset="0"/>
              <a:cs typeface="Arial" panose="020B0604020202020204" pitchFamily="34" charset="0"/>
            </a:endParaRPr>
          </a:p>
          <a:p>
            <a:pPr algn="just"/>
            <a:endParaRPr lang="es-AR" sz="2500"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CLIQUE</a:t>
            </a:r>
            <a:r>
              <a:rPr lang="es-AR" dirty="0">
                <a:latin typeface="Arial" panose="020B0604020202020204" pitchFamily="34" charset="0"/>
                <a:cs typeface="Arial" panose="020B0604020202020204" pitchFamily="34" charset="0"/>
              </a:rPr>
              <a:t> = {(G, K) | G es un grafo y tiene un </a:t>
            </a:r>
            <a:r>
              <a:rPr lang="es-AR" b="1" dirty="0">
                <a:latin typeface="Arial" panose="020B0604020202020204" pitchFamily="34" charset="0"/>
                <a:cs typeface="Arial" panose="020B0604020202020204" pitchFamily="34" charset="0"/>
              </a:rPr>
              <a:t>clique de tamaño K</a:t>
            </a:r>
            <a:r>
              <a:rPr lang="es-AR" dirty="0">
                <a:latin typeface="Arial" panose="020B0604020202020204" pitchFamily="34" charset="0"/>
                <a:cs typeface="Arial" panose="020B0604020202020204" pitchFamily="34" charset="0"/>
              </a:rPr>
              <a:t>}   </a:t>
            </a:r>
          </a:p>
          <a:p>
            <a:pPr algn="just"/>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t>
            </a: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BABC9443-52E4-4A40-8904-674747F990A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Elipse 4">
            <a:extLst>
              <a:ext uri="{FF2B5EF4-FFF2-40B4-BE49-F238E27FC236}">
                <a16:creationId xmlns:a16="http://schemas.microsoft.com/office/drawing/2014/main" id="{C994AB20-5F41-D8E0-1A0A-0E6239247C4B}"/>
              </a:ext>
            </a:extLst>
          </p:cNvPr>
          <p:cNvSpPr/>
          <p:nvPr/>
        </p:nvSpPr>
        <p:spPr>
          <a:xfrm>
            <a:off x="1256045" y="3923812"/>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51808C9C-6109-B92F-14F8-A24A37B66458}"/>
              </a:ext>
            </a:extLst>
          </p:cNvPr>
          <p:cNvSpPr/>
          <p:nvPr/>
        </p:nvSpPr>
        <p:spPr>
          <a:xfrm>
            <a:off x="1008563" y="3928538"/>
            <a:ext cx="505267"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CV</a:t>
            </a:r>
            <a:endParaRPr lang="es-MX" dirty="0"/>
          </a:p>
        </p:txBody>
      </p:sp>
      <p:sp>
        <p:nvSpPr>
          <p:cNvPr id="15" name="Rectángulo 14">
            <a:extLst>
              <a:ext uri="{FF2B5EF4-FFF2-40B4-BE49-F238E27FC236}">
                <a16:creationId xmlns:a16="http://schemas.microsoft.com/office/drawing/2014/main" id="{99D00CF8-FE39-3BAF-D5CA-AA3006ECF8C5}"/>
              </a:ext>
            </a:extLst>
          </p:cNvPr>
          <p:cNvSpPr/>
          <p:nvPr/>
        </p:nvSpPr>
        <p:spPr>
          <a:xfrm>
            <a:off x="3185111" y="3946599"/>
            <a:ext cx="104387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CLIQUE</a:t>
            </a:r>
            <a:endParaRPr lang="es-MX" dirty="0"/>
          </a:p>
        </p:txBody>
      </p:sp>
      <p:sp>
        <p:nvSpPr>
          <p:cNvPr id="16" name="Rectángulo 15">
            <a:extLst>
              <a:ext uri="{FF2B5EF4-FFF2-40B4-BE49-F238E27FC236}">
                <a16:creationId xmlns:a16="http://schemas.microsoft.com/office/drawing/2014/main" id="{1FE62857-D826-195B-1C79-77568917032B}"/>
              </a:ext>
            </a:extLst>
          </p:cNvPr>
          <p:cNvSpPr/>
          <p:nvPr/>
        </p:nvSpPr>
        <p:spPr>
          <a:xfrm>
            <a:off x="3609970" y="4797639"/>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17" name="Rectángulo 16">
            <a:extLst>
              <a:ext uri="{FF2B5EF4-FFF2-40B4-BE49-F238E27FC236}">
                <a16:creationId xmlns:a16="http://schemas.microsoft.com/office/drawing/2014/main" id="{38D85ED9-19E7-6650-D7E0-0B6E7FF5E6FA}"/>
              </a:ext>
            </a:extLst>
          </p:cNvPr>
          <p:cNvSpPr/>
          <p:nvPr/>
        </p:nvSpPr>
        <p:spPr>
          <a:xfrm>
            <a:off x="3358298" y="5868471"/>
            <a:ext cx="837089" cy="369332"/>
          </a:xfrm>
          <a:prstGeom prst="rect">
            <a:avLst/>
          </a:prstGeom>
        </p:spPr>
        <p:txBody>
          <a:bodyPr wrap="none">
            <a:spAutoFit/>
          </a:bodyPr>
          <a:lstStyle/>
          <a:p>
            <a:r>
              <a:rPr lang="es-MX" dirty="0"/>
              <a:t>(G´, K´)</a:t>
            </a:r>
          </a:p>
        </p:txBody>
      </p:sp>
      <p:sp>
        <p:nvSpPr>
          <p:cNvPr id="18" name="Rectángulo 17">
            <a:extLst>
              <a:ext uri="{FF2B5EF4-FFF2-40B4-BE49-F238E27FC236}">
                <a16:creationId xmlns:a16="http://schemas.microsoft.com/office/drawing/2014/main" id="{055D8BE4-E0FD-F097-9E02-07F153FCDAEB}"/>
              </a:ext>
            </a:extLst>
          </p:cNvPr>
          <p:cNvSpPr/>
          <p:nvPr/>
        </p:nvSpPr>
        <p:spPr>
          <a:xfrm>
            <a:off x="2389888" y="5715500"/>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19" name="Rectángulo 18">
            <a:extLst>
              <a:ext uri="{FF2B5EF4-FFF2-40B4-BE49-F238E27FC236}">
                <a16:creationId xmlns:a16="http://schemas.microsoft.com/office/drawing/2014/main" id="{0F5B5EED-DFC9-1EE0-8AF5-60B2343A33D8}"/>
              </a:ext>
            </a:extLst>
          </p:cNvPr>
          <p:cNvSpPr/>
          <p:nvPr/>
        </p:nvSpPr>
        <p:spPr>
          <a:xfrm>
            <a:off x="1072695" y="4797639"/>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25" name="Diagrama de flujo: conector 24">
            <a:extLst>
              <a:ext uri="{FF2B5EF4-FFF2-40B4-BE49-F238E27FC236}">
                <a16:creationId xmlns:a16="http://schemas.microsoft.com/office/drawing/2014/main" id="{DC3587F0-4E7A-1D67-0C50-1E9BD111856C}"/>
              </a:ext>
            </a:extLst>
          </p:cNvPr>
          <p:cNvSpPr/>
          <p:nvPr/>
        </p:nvSpPr>
        <p:spPr>
          <a:xfrm>
            <a:off x="774086" y="4299688"/>
            <a:ext cx="960000" cy="148319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lumMod val="85000"/>
                </a:schemeClr>
              </a:solidFill>
            </a:endParaRPr>
          </a:p>
        </p:txBody>
      </p:sp>
      <p:sp>
        <p:nvSpPr>
          <p:cNvPr id="28" name="Diagrama de flujo: conector 27">
            <a:extLst>
              <a:ext uri="{FF2B5EF4-FFF2-40B4-BE49-F238E27FC236}">
                <a16:creationId xmlns:a16="http://schemas.microsoft.com/office/drawing/2014/main" id="{AA18E853-69A0-CFCD-B8BB-F99314300B17}"/>
              </a:ext>
            </a:extLst>
          </p:cNvPr>
          <p:cNvSpPr/>
          <p:nvPr/>
        </p:nvSpPr>
        <p:spPr>
          <a:xfrm>
            <a:off x="3268987" y="4299687"/>
            <a:ext cx="960000" cy="148974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9" name="Conector recto de flecha 28">
            <a:extLst>
              <a:ext uri="{FF2B5EF4-FFF2-40B4-BE49-F238E27FC236}">
                <a16:creationId xmlns:a16="http://schemas.microsoft.com/office/drawing/2014/main" id="{3A40B1A8-BE69-4FEA-1AE9-188756CDE23C}"/>
              </a:ext>
            </a:extLst>
          </p:cNvPr>
          <p:cNvCxnSpPr>
            <a:cxnSpLocks/>
          </p:cNvCxnSpPr>
          <p:nvPr/>
        </p:nvCxnSpPr>
        <p:spPr>
          <a:xfrm>
            <a:off x="1925844" y="5022502"/>
            <a:ext cx="11396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FCF38EF4-8536-9C50-8F7C-4EE786E5B7C3}"/>
              </a:ext>
            </a:extLst>
          </p:cNvPr>
          <p:cNvSpPr/>
          <p:nvPr/>
        </p:nvSpPr>
        <p:spPr>
          <a:xfrm>
            <a:off x="3688361" y="4824567"/>
            <a:ext cx="2920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r>
              <a:rPr lang="es-ES" baseline="-25000" dirty="0">
                <a:latin typeface="Arial" panose="020B0604020202020204" pitchFamily="34" charset="0"/>
                <a:cs typeface="Arial" panose="020B0604020202020204" pitchFamily="34" charset="0"/>
              </a:rPr>
              <a:t> </a:t>
            </a:r>
            <a:endParaRPr lang="es-MX" dirty="0"/>
          </a:p>
        </p:txBody>
      </p:sp>
      <p:sp>
        <p:nvSpPr>
          <p:cNvPr id="39" name="Rectángulo 38">
            <a:extLst>
              <a:ext uri="{FF2B5EF4-FFF2-40B4-BE49-F238E27FC236}">
                <a16:creationId xmlns:a16="http://schemas.microsoft.com/office/drawing/2014/main" id="{0CE56A51-4D8C-4F04-9552-314DD2418EDE}"/>
              </a:ext>
            </a:extLst>
          </p:cNvPr>
          <p:cNvSpPr/>
          <p:nvPr/>
        </p:nvSpPr>
        <p:spPr>
          <a:xfrm>
            <a:off x="3310997" y="4824567"/>
            <a:ext cx="837089" cy="369332"/>
          </a:xfrm>
          <a:prstGeom prst="rect">
            <a:avLst/>
          </a:prstGeom>
        </p:spPr>
        <p:txBody>
          <a:bodyPr wrap="none">
            <a:spAutoFit/>
          </a:bodyPr>
          <a:lstStyle/>
          <a:p>
            <a:r>
              <a:rPr lang="es-MX" dirty="0"/>
              <a:t>(G´, K´)</a:t>
            </a:r>
          </a:p>
        </p:txBody>
      </p:sp>
      <p:sp>
        <p:nvSpPr>
          <p:cNvPr id="40" name="Rectángulo 39">
            <a:extLst>
              <a:ext uri="{FF2B5EF4-FFF2-40B4-BE49-F238E27FC236}">
                <a16:creationId xmlns:a16="http://schemas.microsoft.com/office/drawing/2014/main" id="{07C5F8A9-747D-46C0-4B2D-F6133833FC99}"/>
              </a:ext>
            </a:extLst>
          </p:cNvPr>
          <p:cNvSpPr/>
          <p:nvPr/>
        </p:nvSpPr>
        <p:spPr>
          <a:xfrm>
            <a:off x="2364399" y="4723991"/>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60" name="Diagrama de flujo: conector 59">
            <a:extLst>
              <a:ext uri="{FF2B5EF4-FFF2-40B4-BE49-F238E27FC236}">
                <a16:creationId xmlns:a16="http://schemas.microsoft.com/office/drawing/2014/main" id="{504AF503-A41B-3CD2-206A-FFDE3CF8F884}"/>
              </a:ext>
            </a:extLst>
          </p:cNvPr>
          <p:cNvSpPr/>
          <p:nvPr/>
        </p:nvSpPr>
        <p:spPr>
          <a:xfrm>
            <a:off x="5134746" y="1353054"/>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1" name="Diagrama de flujo: conector 60">
            <a:extLst>
              <a:ext uri="{FF2B5EF4-FFF2-40B4-BE49-F238E27FC236}">
                <a16:creationId xmlns:a16="http://schemas.microsoft.com/office/drawing/2014/main" id="{7BA1F469-A1A4-CAAE-698D-37FEB08C1A5D}"/>
              </a:ext>
            </a:extLst>
          </p:cNvPr>
          <p:cNvSpPr/>
          <p:nvPr/>
        </p:nvSpPr>
        <p:spPr>
          <a:xfrm>
            <a:off x="4578987" y="1663965"/>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2" name="Diagrama de flujo: conector 61">
            <a:extLst>
              <a:ext uri="{FF2B5EF4-FFF2-40B4-BE49-F238E27FC236}">
                <a16:creationId xmlns:a16="http://schemas.microsoft.com/office/drawing/2014/main" id="{60C00C16-3358-47EF-F24D-534ED23BE9E0}"/>
              </a:ext>
            </a:extLst>
          </p:cNvPr>
          <p:cNvSpPr/>
          <p:nvPr/>
        </p:nvSpPr>
        <p:spPr>
          <a:xfrm>
            <a:off x="5624065" y="1503562"/>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3" name="Diagrama de flujo: conector 62">
            <a:extLst>
              <a:ext uri="{FF2B5EF4-FFF2-40B4-BE49-F238E27FC236}">
                <a16:creationId xmlns:a16="http://schemas.microsoft.com/office/drawing/2014/main" id="{64944465-D577-78F3-ED3E-91E2EFB496A4}"/>
              </a:ext>
            </a:extLst>
          </p:cNvPr>
          <p:cNvSpPr/>
          <p:nvPr/>
        </p:nvSpPr>
        <p:spPr>
          <a:xfrm>
            <a:off x="5151082" y="1911937"/>
            <a:ext cx="319551" cy="320807"/>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4" name="Diagrama de flujo: conector 63">
            <a:extLst>
              <a:ext uri="{FF2B5EF4-FFF2-40B4-BE49-F238E27FC236}">
                <a16:creationId xmlns:a16="http://schemas.microsoft.com/office/drawing/2014/main" id="{3B11BF02-B734-CB57-3295-F4AE7C74AD09}"/>
              </a:ext>
            </a:extLst>
          </p:cNvPr>
          <p:cNvSpPr/>
          <p:nvPr/>
        </p:nvSpPr>
        <p:spPr>
          <a:xfrm>
            <a:off x="6056893" y="1878722"/>
            <a:ext cx="319551" cy="320807"/>
          </a:xfrm>
          <a:prstGeom prst="flowChartConnector">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7" name="Diagrama de flujo: conector 66">
            <a:extLst>
              <a:ext uri="{FF2B5EF4-FFF2-40B4-BE49-F238E27FC236}">
                <a16:creationId xmlns:a16="http://schemas.microsoft.com/office/drawing/2014/main" id="{3CD11748-01EC-C3D4-AF94-E5219E7B4B4A}"/>
              </a:ext>
            </a:extLst>
          </p:cNvPr>
          <p:cNvSpPr/>
          <p:nvPr/>
        </p:nvSpPr>
        <p:spPr>
          <a:xfrm>
            <a:off x="6157412" y="1317737"/>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8" name="Diagrama de flujo: conector 67">
            <a:extLst>
              <a:ext uri="{FF2B5EF4-FFF2-40B4-BE49-F238E27FC236}">
                <a16:creationId xmlns:a16="http://schemas.microsoft.com/office/drawing/2014/main" id="{44E2D692-3229-133E-AD01-8F24501A6CE2}"/>
              </a:ext>
            </a:extLst>
          </p:cNvPr>
          <p:cNvSpPr/>
          <p:nvPr/>
        </p:nvSpPr>
        <p:spPr>
          <a:xfrm>
            <a:off x="6704853" y="1478140"/>
            <a:ext cx="319551" cy="320807"/>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9" name="Conector recto 68">
            <a:extLst>
              <a:ext uri="{FF2B5EF4-FFF2-40B4-BE49-F238E27FC236}">
                <a16:creationId xmlns:a16="http://schemas.microsoft.com/office/drawing/2014/main" id="{7B5CDA9B-FC2E-8F8F-75F1-5185214C6E8B}"/>
              </a:ext>
            </a:extLst>
          </p:cNvPr>
          <p:cNvCxnSpPr>
            <a:cxnSpLocks/>
          </p:cNvCxnSpPr>
          <p:nvPr/>
        </p:nvCxnSpPr>
        <p:spPr>
          <a:xfrm>
            <a:off x="4888517" y="1885909"/>
            <a:ext cx="260748" cy="153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81F7C47C-43A8-0250-C2F3-D5F737A3DCB8}"/>
              </a:ext>
            </a:extLst>
          </p:cNvPr>
          <p:cNvCxnSpPr>
            <a:cxnSpLocks/>
          </p:cNvCxnSpPr>
          <p:nvPr/>
        </p:nvCxnSpPr>
        <p:spPr>
          <a:xfrm>
            <a:off x="5281130" y="1657401"/>
            <a:ext cx="3399" cy="254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EF0B52E2-D55C-141F-410C-6A2125A63C14}"/>
              </a:ext>
            </a:extLst>
          </p:cNvPr>
          <p:cNvCxnSpPr>
            <a:cxnSpLocks/>
            <a:endCxn id="64" idx="2"/>
          </p:cNvCxnSpPr>
          <p:nvPr/>
        </p:nvCxnSpPr>
        <p:spPr>
          <a:xfrm flipV="1">
            <a:off x="5485961" y="2039126"/>
            <a:ext cx="570932" cy="42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FED61068-E4EC-C3EC-CF5E-7A781B811920}"/>
              </a:ext>
            </a:extLst>
          </p:cNvPr>
          <p:cNvCxnSpPr>
            <a:cxnSpLocks/>
            <a:endCxn id="62" idx="3"/>
          </p:cNvCxnSpPr>
          <p:nvPr/>
        </p:nvCxnSpPr>
        <p:spPr>
          <a:xfrm flipV="1">
            <a:off x="5425181" y="1777388"/>
            <a:ext cx="245681" cy="196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EE829AA6-B8AB-CA4B-9E86-49D52AFF9B7E}"/>
              </a:ext>
            </a:extLst>
          </p:cNvPr>
          <p:cNvCxnSpPr>
            <a:cxnSpLocks/>
            <a:endCxn id="68" idx="3"/>
          </p:cNvCxnSpPr>
          <p:nvPr/>
        </p:nvCxnSpPr>
        <p:spPr>
          <a:xfrm flipV="1">
            <a:off x="6376444" y="1751966"/>
            <a:ext cx="375206" cy="278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CFD735C7-E109-A8C3-B264-20F345317648}"/>
              </a:ext>
            </a:extLst>
          </p:cNvPr>
          <p:cNvCxnSpPr>
            <a:cxnSpLocks/>
            <a:endCxn id="67" idx="4"/>
          </p:cNvCxnSpPr>
          <p:nvPr/>
        </p:nvCxnSpPr>
        <p:spPr>
          <a:xfrm flipV="1">
            <a:off x="6279648" y="1638544"/>
            <a:ext cx="37540" cy="239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iagrama de flujo: conector 1">
            <a:extLst>
              <a:ext uri="{FF2B5EF4-FFF2-40B4-BE49-F238E27FC236}">
                <a16:creationId xmlns:a16="http://schemas.microsoft.com/office/drawing/2014/main" id="{976FCF25-5C11-202D-D1B0-B19612F21526}"/>
              </a:ext>
            </a:extLst>
          </p:cNvPr>
          <p:cNvSpPr/>
          <p:nvPr/>
        </p:nvSpPr>
        <p:spPr>
          <a:xfrm>
            <a:off x="5322041" y="3137785"/>
            <a:ext cx="319551" cy="320807"/>
          </a:xfrm>
          <a:prstGeom prst="flowChartConnector">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Diagrama de flujo: conector 2">
            <a:extLst>
              <a:ext uri="{FF2B5EF4-FFF2-40B4-BE49-F238E27FC236}">
                <a16:creationId xmlns:a16="http://schemas.microsoft.com/office/drawing/2014/main" id="{4A0F2FBF-B366-506F-B62D-1356EED60563}"/>
              </a:ext>
            </a:extLst>
          </p:cNvPr>
          <p:cNvSpPr/>
          <p:nvPr/>
        </p:nvSpPr>
        <p:spPr>
          <a:xfrm>
            <a:off x="5322040" y="3645927"/>
            <a:ext cx="319551" cy="320807"/>
          </a:xfrm>
          <a:prstGeom prst="flowChartConnector">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Diagrama de flujo: conector 5">
            <a:extLst>
              <a:ext uri="{FF2B5EF4-FFF2-40B4-BE49-F238E27FC236}">
                <a16:creationId xmlns:a16="http://schemas.microsoft.com/office/drawing/2014/main" id="{717EED17-9545-13C9-E941-DAE7E403F73A}"/>
              </a:ext>
            </a:extLst>
          </p:cNvPr>
          <p:cNvSpPr/>
          <p:nvPr/>
        </p:nvSpPr>
        <p:spPr>
          <a:xfrm>
            <a:off x="6066038" y="3116009"/>
            <a:ext cx="319551" cy="320807"/>
          </a:xfrm>
          <a:prstGeom prst="flowChartConnector">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Diagrama de flujo: conector 6">
            <a:extLst>
              <a:ext uri="{FF2B5EF4-FFF2-40B4-BE49-F238E27FC236}">
                <a16:creationId xmlns:a16="http://schemas.microsoft.com/office/drawing/2014/main" id="{79737427-9366-6587-0920-8C8FC21D147D}"/>
              </a:ext>
            </a:extLst>
          </p:cNvPr>
          <p:cNvSpPr/>
          <p:nvPr/>
        </p:nvSpPr>
        <p:spPr>
          <a:xfrm>
            <a:off x="6096000" y="3646635"/>
            <a:ext cx="319551" cy="32080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 name="Conector recto 7">
            <a:extLst>
              <a:ext uri="{FF2B5EF4-FFF2-40B4-BE49-F238E27FC236}">
                <a16:creationId xmlns:a16="http://schemas.microsoft.com/office/drawing/2014/main" id="{BF8FCC78-D251-56D2-0A5E-730932F82FEC}"/>
              </a:ext>
            </a:extLst>
          </p:cNvPr>
          <p:cNvCxnSpPr>
            <a:cxnSpLocks/>
          </p:cNvCxnSpPr>
          <p:nvPr/>
        </p:nvCxnSpPr>
        <p:spPr>
          <a:xfrm flipV="1">
            <a:off x="5637822" y="3298188"/>
            <a:ext cx="458178" cy="65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D2F02DED-1574-438B-0BE7-81DEB97C073B}"/>
              </a:ext>
            </a:extLst>
          </p:cNvPr>
          <p:cNvSpPr/>
          <p:nvPr/>
        </p:nvSpPr>
        <p:spPr>
          <a:xfrm>
            <a:off x="6425010" y="3366570"/>
            <a:ext cx="6567090" cy="338554"/>
          </a:xfrm>
          <a:prstGeom prst="rect">
            <a:avLst/>
          </a:prstGeom>
        </p:spPr>
        <p:txBody>
          <a:bodyPr wrap="square">
            <a:spAutoFit/>
          </a:bodyPr>
          <a:lstStyle/>
          <a:p>
            <a:pPr algn="just"/>
            <a:r>
              <a:rPr lang="es-AR" sz="1600" dirty="0">
                <a:latin typeface="Arial" panose="020B0604020202020204" pitchFamily="34" charset="0"/>
                <a:cs typeface="Arial" panose="020B0604020202020204" pitchFamily="34" charset="0"/>
              </a:rPr>
              <a:t>Ejemplo de clique de tamaño 3</a:t>
            </a:r>
            <a:endParaRPr lang="es-MX" sz="1600" dirty="0"/>
          </a:p>
        </p:txBody>
      </p:sp>
      <p:cxnSp>
        <p:nvCxnSpPr>
          <p:cNvPr id="12" name="Conector recto 11">
            <a:extLst>
              <a:ext uri="{FF2B5EF4-FFF2-40B4-BE49-F238E27FC236}">
                <a16:creationId xmlns:a16="http://schemas.microsoft.com/office/drawing/2014/main" id="{5AEC5671-CFF4-2564-D67B-73FB09A199FE}"/>
              </a:ext>
            </a:extLst>
          </p:cNvPr>
          <p:cNvCxnSpPr>
            <a:cxnSpLocks/>
            <a:endCxn id="3" idx="0"/>
          </p:cNvCxnSpPr>
          <p:nvPr/>
        </p:nvCxnSpPr>
        <p:spPr>
          <a:xfrm>
            <a:off x="5471411" y="3475313"/>
            <a:ext cx="10405" cy="170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FD84B92-9340-B6D9-B719-DB3A0E01C113}"/>
              </a:ext>
            </a:extLst>
          </p:cNvPr>
          <p:cNvCxnSpPr>
            <a:cxnSpLocks/>
            <a:stCxn id="6" idx="4"/>
          </p:cNvCxnSpPr>
          <p:nvPr/>
        </p:nvCxnSpPr>
        <p:spPr>
          <a:xfrm flipH="1">
            <a:off x="6225122" y="3436816"/>
            <a:ext cx="692" cy="1980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E17632B1-6292-75DE-92C6-C28C68D7FA1D}"/>
              </a:ext>
            </a:extLst>
          </p:cNvPr>
          <p:cNvCxnSpPr>
            <a:cxnSpLocks/>
            <a:stCxn id="6" idx="3"/>
          </p:cNvCxnSpPr>
          <p:nvPr/>
        </p:nvCxnSpPr>
        <p:spPr>
          <a:xfrm flipH="1">
            <a:off x="5634216" y="3389835"/>
            <a:ext cx="478619" cy="4084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EB714D61-B900-ACA1-ADF2-FA14C0682386}"/>
              </a:ext>
            </a:extLst>
          </p:cNvPr>
          <p:cNvSpPr/>
          <p:nvPr/>
        </p:nvSpPr>
        <p:spPr>
          <a:xfrm>
            <a:off x="864536" y="4824567"/>
            <a:ext cx="702436" cy="369332"/>
          </a:xfrm>
          <a:prstGeom prst="rect">
            <a:avLst/>
          </a:prstGeom>
        </p:spPr>
        <p:txBody>
          <a:bodyPr wrap="none">
            <a:spAutoFit/>
          </a:bodyPr>
          <a:lstStyle/>
          <a:p>
            <a:r>
              <a:rPr lang="es-MX" dirty="0"/>
              <a:t>(G, K)</a:t>
            </a:r>
          </a:p>
        </p:txBody>
      </p:sp>
      <p:cxnSp>
        <p:nvCxnSpPr>
          <p:cNvPr id="27" name="Conector recto de flecha 26">
            <a:extLst>
              <a:ext uri="{FF2B5EF4-FFF2-40B4-BE49-F238E27FC236}">
                <a16:creationId xmlns:a16="http://schemas.microsoft.com/office/drawing/2014/main" id="{67C2051D-064B-FE15-FB41-22BACCDD2058}"/>
              </a:ext>
            </a:extLst>
          </p:cNvPr>
          <p:cNvCxnSpPr>
            <a:cxnSpLocks/>
          </p:cNvCxnSpPr>
          <p:nvPr/>
        </p:nvCxnSpPr>
        <p:spPr>
          <a:xfrm>
            <a:off x="1960312" y="6054619"/>
            <a:ext cx="11396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ángulo 30">
            <a:extLst>
              <a:ext uri="{FF2B5EF4-FFF2-40B4-BE49-F238E27FC236}">
                <a16:creationId xmlns:a16="http://schemas.microsoft.com/office/drawing/2014/main" id="{3560B133-27BB-1C20-EAEC-101355690924}"/>
              </a:ext>
            </a:extLst>
          </p:cNvPr>
          <p:cNvSpPr/>
          <p:nvPr/>
        </p:nvSpPr>
        <p:spPr>
          <a:xfrm>
            <a:off x="925841" y="5825087"/>
            <a:ext cx="702436" cy="369332"/>
          </a:xfrm>
          <a:prstGeom prst="rect">
            <a:avLst/>
          </a:prstGeom>
        </p:spPr>
        <p:txBody>
          <a:bodyPr wrap="none">
            <a:spAutoFit/>
          </a:bodyPr>
          <a:lstStyle/>
          <a:p>
            <a:r>
              <a:rPr lang="es-MX" dirty="0"/>
              <a:t>(G, K)</a:t>
            </a:r>
          </a:p>
        </p:txBody>
      </p:sp>
      <p:pic>
        <p:nvPicPr>
          <p:cNvPr id="11" name="Imagen 10" descr="8.10">
            <a:extLst>
              <a:ext uri="{FF2B5EF4-FFF2-40B4-BE49-F238E27FC236}">
                <a16:creationId xmlns:a16="http://schemas.microsoft.com/office/drawing/2014/main" id="{6F12EADA-875D-9DB2-901C-1F05BFF8C13E}"/>
              </a:ext>
            </a:extLst>
          </p:cNvPr>
          <p:cNvPicPr/>
          <p:nvPr/>
        </p:nvPicPr>
        <p:blipFill>
          <a:blip r:embed="rId3" cstate="print">
            <a:extLst>
              <a:ext uri="{28A0092B-C50C-407E-A947-70E740481C1C}">
                <a14:useLocalDpi xmlns:a14="http://schemas.microsoft.com/office/drawing/2010/main" val="0"/>
              </a:ext>
            </a:extLst>
          </a:blip>
          <a:srcRect l="2821" t="10107" r="3880" b="16989"/>
          <a:stretch>
            <a:fillRect/>
          </a:stretch>
        </p:blipFill>
        <p:spPr bwMode="auto">
          <a:xfrm>
            <a:off x="6720491" y="4167246"/>
            <a:ext cx="4283242" cy="2371607"/>
          </a:xfrm>
          <a:prstGeom prst="rect">
            <a:avLst/>
          </a:prstGeom>
          <a:noFill/>
          <a:ln>
            <a:noFill/>
          </a:ln>
        </p:spPr>
      </p:pic>
      <p:sp>
        <p:nvSpPr>
          <p:cNvPr id="23" name="CuadroTexto 22">
            <a:extLst>
              <a:ext uri="{FF2B5EF4-FFF2-40B4-BE49-F238E27FC236}">
                <a16:creationId xmlns:a16="http://schemas.microsoft.com/office/drawing/2014/main" id="{D5AE267A-DEF5-85E1-41F1-7E9655AA7F37}"/>
              </a:ext>
            </a:extLst>
          </p:cNvPr>
          <p:cNvSpPr txBox="1"/>
          <p:nvPr/>
        </p:nvSpPr>
        <p:spPr>
          <a:xfrm>
            <a:off x="1760176" y="6316840"/>
            <a:ext cx="1849794"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con K´ = m – K</a:t>
            </a:r>
            <a:endParaRPr lang="es-AR" sz="1600" dirty="0"/>
          </a:p>
        </p:txBody>
      </p:sp>
      <p:sp>
        <p:nvSpPr>
          <p:cNvPr id="24" name="Rectángulo 23">
            <a:extLst>
              <a:ext uri="{FF2B5EF4-FFF2-40B4-BE49-F238E27FC236}">
                <a16:creationId xmlns:a16="http://schemas.microsoft.com/office/drawing/2014/main" id="{4093861A-48F8-B31F-B36C-0B793D9BB1ED}"/>
              </a:ext>
            </a:extLst>
          </p:cNvPr>
          <p:cNvSpPr/>
          <p:nvPr/>
        </p:nvSpPr>
        <p:spPr>
          <a:xfrm>
            <a:off x="2226176" y="5168088"/>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Rectángulo 25">
            <a:extLst>
              <a:ext uri="{FF2B5EF4-FFF2-40B4-BE49-F238E27FC236}">
                <a16:creationId xmlns:a16="http://schemas.microsoft.com/office/drawing/2014/main" id="{DE41CB01-7BBC-B294-8FC9-19B2ECB14E6A}"/>
              </a:ext>
            </a:extLst>
          </p:cNvPr>
          <p:cNvSpPr/>
          <p:nvPr/>
        </p:nvSpPr>
        <p:spPr>
          <a:xfrm>
            <a:off x="2289043" y="5226396"/>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2498562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160338E-405C-418F-82E2-C7DE8E538B76}"/>
              </a:ext>
            </a:extLst>
          </p:cNvPr>
          <p:cNvSpPr/>
          <p:nvPr/>
        </p:nvSpPr>
        <p:spPr>
          <a:xfrm>
            <a:off x="3195373" y="901148"/>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C4F8E59B-11D3-410E-ACB8-4411D6F0278B}"/>
              </a:ext>
            </a:extLst>
          </p:cNvPr>
          <p:cNvSpPr/>
          <p:nvPr/>
        </p:nvSpPr>
        <p:spPr>
          <a:xfrm>
            <a:off x="298697" y="255515"/>
            <a:ext cx="11893303" cy="3908762"/>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Ejemplos clásicos (continuación)</a:t>
            </a:r>
          </a:p>
          <a:p>
            <a:pPr algn="just"/>
            <a:endParaRPr lang="es-AR" b="1" u="sng" dirty="0">
              <a:latin typeface="Arial" panose="020B0604020202020204" pitchFamily="34" charset="0"/>
              <a:cs typeface="Arial" panose="020B0604020202020204" pitchFamily="34" charset="0"/>
            </a:endParaRPr>
          </a:p>
          <a:p>
            <a:pPr algn="just"/>
            <a:endParaRPr lang="es-AR" sz="900" b="1" dirty="0">
              <a:latin typeface="Arial" panose="020B0604020202020204" pitchFamily="34" charset="0"/>
              <a:cs typeface="Arial" panose="020B0604020202020204" pitchFamily="34" charset="0"/>
            </a:endParaRPr>
          </a:p>
          <a:p>
            <a:r>
              <a:rPr lang="es-AR" b="1" dirty="0">
                <a:latin typeface="Arial" panose="020B0604020202020204" pitchFamily="34" charset="0"/>
                <a:cs typeface="Arial" panose="020B0604020202020204" pitchFamily="34" charset="0"/>
              </a:rPr>
              <a:t>3-SAT</a:t>
            </a:r>
            <a:r>
              <a:rPr lang="es-AR" dirty="0">
                <a:latin typeface="Arial" panose="020B0604020202020204" pitchFamily="34" charset="0"/>
                <a:cs typeface="Arial" panose="020B0604020202020204" pitchFamily="34" charset="0"/>
              </a:rPr>
              <a:t> = {φ | φ es una fórmula booleana sin cuantificadores en FNC </a:t>
            </a:r>
            <a:r>
              <a:rPr lang="es-AR" b="1" dirty="0">
                <a:latin typeface="Arial" panose="020B0604020202020204" pitchFamily="34" charset="0"/>
                <a:cs typeface="Arial" panose="020B0604020202020204" pitchFamily="34" charset="0"/>
              </a:rPr>
              <a:t>con tres literales por cláusula </a:t>
            </a:r>
            <a:r>
              <a:rPr lang="es-AR" b="1" dirty="0" err="1">
                <a:latin typeface="Arial" panose="020B0604020202020204" pitchFamily="34" charset="0"/>
                <a:cs typeface="Arial" panose="020B0604020202020204" pitchFamily="34" charset="0"/>
              </a:rPr>
              <a:t>satisfactible</a:t>
            </a:r>
            <a:r>
              <a:rPr lang="es-AR"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			(x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rPr>
              <a:t>4</a:t>
            </a:r>
            <a:r>
              <a:rPr lang="es-AR" dirty="0">
                <a:latin typeface="Arial" panose="020B0604020202020204" pitchFamily="34" charset="0"/>
                <a:cs typeface="Arial" panose="020B0604020202020204" pitchFamily="34" charset="0"/>
                <a:sym typeface="Symbol" panose="05050102010706020507" pitchFamily="18" charset="2"/>
              </a:rPr>
              <a:t>)  </a:t>
            </a:r>
            <a:r>
              <a:rPr lang="es-AR" dirty="0">
                <a:latin typeface="Arial" panose="020B0604020202020204" pitchFamily="34" charset="0"/>
                <a:cs typeface="Arial" panose="020B0604020202020204" pitchFamily="34" charset="0"/>
              </a:rPr>
              <a:t>(¬x</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sym typeface="Symbol" panose="05050102010706020507" pitchFamily="18" charset="2"/>
              </a:rPr>
              <a:t>x</a:t>
            </a:r>
            <a:r>
              <a:rPr lang="es-ES" baseline="-25000" dirty="0">
                <a:latin typeface="Arial" panose="020B0604020202020204" pitchFamily="34" charset="0"/>
                <a:cs typeface="Arial" panose="020B0604020202020204" pitchFamily="34" charset="0"/>
              </a:rPr>
              <a:t>3</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sym typeface="Symbol" panose="05050102010706020507" pitchFamily="18" charset="2"/>
              </a:rPr>
              <a:t> x</a:t>
            </a:r>
            <a:r>
              <a:rPr lang="es-ES" baseline="-25000" dirty="0">
                <a:latin typeface="Arial" panose="020B0604020202020204" pitchFamily="34" charset="0"/>
                <a:cs typeface="Arial" panose="020B0604020202020204" pitchFamily="34" charset="0"/>
                <a:sym typeface="Symbol" panose="05050102010706020507" pitchFamily="18" charset="2"/>
              </a:rPr>
              <a:t>1</a:t>
            </a:r>
            <a:r>
              <a:rPr lang="es-AR" dirty="0">
                <a:latin typeface="Arial" panose="020B0604020202020204" pitchFamily="34" charset="0"/>
                <a:cs typeface="Arial" panose="020B0604020202020204" pitchFamily="34" charset="0"/>
                <a:sym typeface="Symbol" panose="05050102010706020507" pitchFamily="18" charset="2"/>
              </a:rPr>
              <a:t>)          </a:t>
            </a:r>
          </a:p>
          <a:p>
            <a:r>
              <a:rPr lang="es-AR" sz="3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     </a:t>
            </a:r>
          </a:p>
          <a:p>
            <a:pPr algn="just"/>
            <a:endParaRPr lang="es-AR"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K-COLOR </a:t>
            </a:r>
            <a:r>
              <a:rPr lang="es-AR" dirty="0">
                <a:latin typeface="Arial" panose="020B0604020202020204" pitchFamily="34" charset="0"/>
                <a:cs typeface="Arial" panose="020B0604020202020204" pitchFamily="34" charset="0"/>
              </a:rPr>
              <a:t>= {(G, K) | G es un grafo y es </a:t>
            </a:r>
            <a:r>
              <a:rPr lang="es-AR" dirty="0" err="1">
                <a:latin typeface="Arial" panose="020B0604020202020204" pitchFamily="34" charset="0"/>
                <a:cs typeface="Arial" panose="020B0604020202020204" pitchFamily="34" charset="0"/>
              </a:rPr>
              <a:t>coloreable</a:t>
            </a:r>
            <a:r>
              <a:rPr lang="es-AR" dirty="0">
                <a:latin typeface="Arial" panose="020B0604020202020204" pitchFamily="34" charset="0"/>
                <a:cs typeface="Arial" panose="020B0604020202020204" pitchFamily="34" charset="0"/>
              </a:rPr>
              <a:t> con K colores sin producir vértices adyacentes con igual color}           </a:t>
            </a: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a:p>
            <a:pPr algn="just"/>
            <a:endParaRPr lang="es-AR" sz="3000" dirty="0">
              <a:latin typeface="Arial" panose="020B0604020202020204" pitchFamily="34" charset="0"/>
              <a:cs typeface="Arial" panose="020B0604020202020204" pitchFamily="34" charset="0"/>
            </a:endParaRPr>
          </a:p>
        </p:txBody>
      </p:sp>
      <p:sp>
        <p:nvSpPr>
          <p:cNvPr id="4" name="Slide Number Placeholder 2">
            <a:extLst>
              <a:ext uri="{FF2B5EF4-FFF2-40B4-BE49-F238E27FC236}">
                <a16:creationId xmlns:a16="http://schemas.microsoft.com/office/drawing/2014/main" id="{BABC9443-52E4-4A40-8904-674747F990A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Elipse 4">
            <a:extLst>
              <a:ext uri="{FF2B5EF4-FFF2-40B4-BE49-F238E27FC236}">
                <a16:creationId xmlns:a16="http://schemas.microsoft.com/office/drawing/2014/main" id="{C994AB20-5F41-D8E0-1A0A-0E6239247C4B}"/>
              </a:ext>
            </a:extLst>
          </p:cNvPr>
          <p:cNvSpPr/>
          <p:nvPr/>
        </p:nvSpPr>
        <p:spPr>
          <a:xfrm>
            <a:off x="2257578" y="4229346"/>
            <a:ext cx="329705" cy="5168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51808C9C-6109-B92F-14F8-A24A37B66458}"/>
              </a:ext>
            </a:extLst>
          </p:cNvPr>
          <p:cNvSpPr/>
          <p:nvPr/>
        </p:nvSpPr>
        <p:spPr>
          <a:xfrm>
            <a:off x="1884538" y="4284198"/>
            <a:ext cx="821572"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3-SAT</a:t>
            </a:r>
            <a:endParaRPr lang="es-MX" dirty="0"/>
          </a:p>
        </p:txBody>
      </p:sp>
      <p:sp>
        <p:nvSpPr>
          <p:cNvPr id="15" name="Rectángulo 14">
            <a:extLst>
              <a:ext uri="{FF2B5EF4-FFF2-40B4-BE49-F238E27FC236}">
                <a16:creationId xmlns:a16="http://schemas.microsoft.com/office/drawing/2014/main" id="{99D00CF8-FE39-3BAF-D5CA-AA3006ECF8C5}"/>
              </a:ext>
            </a:extLst>
          </p:cNvPr>
          <p:cNvSpPr/>
          <p:nvPr/>
        </p:nvSpPr>
        <p:spPr>
          <a:xfrm>
            <a:off x="4242560" y="4274947"/>
            <a:ext cx="1015919" cy="369332"/>
          </a:xfrm>
          <a:prstGeom prst="rect">
            <a:avLst/>
          </a:prstGeom>
        </p:spPr>
        <p:txBody>
          <a:bodyPr wrap="none">
            <a:spAutoFit/>
          </a:bodyPr>
          <a:lstStyle/>
          <a:p>
            <a:r>
              <a:rPr lang="es-MX" dirty="0"/>
              <a:t>3-COLOR</a:t>
            </a:r>
          </a:p>
        </p:txBody>
      </p:sp>
      <p:sp>
        <p:nvSpPr>
          <p:cNvPr id="16" name="Rectángulo 15">
            <a:extLst>
              <a:ext uri="{FF2B5EF4-FFF2-40B4-BE49-F238E27FC236}">
                <a16:creationId xmlns:a16="http://schemas.microsoft.com/office/drawing/2014/main" id="{1FE62857-D826-195B-1C79-77568917032B}"/>
              </a:ext>
            </a:extLst>
          </p:cNvPr>
          <p:cNvSpPr/>
          <p:nvPr/>
        </p:nvSpPr>
        <p:spPr>
          <a:xfrm>
            <a:off x="4611503" y="5103173"/>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17" name="Rectángulo 16">
            <a:extLst>
              <a:ext uri="{FF2B5EF4-FFF2-40B4-BE49-F238E27FC236}">
                <a16:creationId xmlns:a16="http://schemas.microsoft.com/office/drawing/2014/main" id="{38D85ED9-19E7-6650-D7E0-0B6E7FF5E6FA}"/>
              </a:ext>
            </a:extLst>
          </p:cNvPr>
          <p:cNvSpPr/>
          <p:nvPr/>
        </p:nvSpPr>
        <p:spPr>
          <a:xfrm>
            <a:off x="4489004" y="6102786"/>
            <a:ext cx="699230" cy="369332"/>
          </a:xfrm>
          <a:prstGeom prst="rect">
            <a:avLst/>
          </a:prstGeom>
        </p:spPr>
        <p:txBody>
          <a:bodyPr wrap="none">
            <a:spAutoFit/>
          </a:bodyPr>
          <a:lstStyle/>
          <a:p>
            <a:r>
              <a:rPr lang="es-MX" dirty="0"/>
              <a:t>(G, 3)</a:t>
            </a:r>
          </a:p>
        </p:txBody>
      </p:sp>
      <p:sp>
        <p:nvSpPr>
          <p:cNvPr id="18" name="Rectángulo 17">
            <a:extLst>
              <a:ext uri="{FF2B5EF4-FFF2-40B4-BE49-F238E27FC236}">
                <a16:creationId xmlns:a16="http://schemas.microsoft.com/office/drawing/2014/main" id="{055D8BE4-E0FD-F097-9E02-07F153FCDAEB}"/>
              </a:ext>
            </a:extLst>
          </p:cNvPr>
          <p:cNvSpPr/>
          <p:nvPr/>
        </p:nvSpPr>
        <p:spPr>
          <a:xfrm>
            <a:off x="3365383" y="5994390"/>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19" name="Rectángulo 18">
            <a:extLst>
              <a:ext uri="{FF2B5EF4-FFF2-40B4-BE49-F238E27FC236}">
                <a16:creationId xmlns:a16="http://schemas.microsoft.com/office/drawing/2014/main" id="{0F5B5EED-DFC9-1EE0-8AF5-60B2343A33D8}"/>
              </a:ext>
            </a:extLst>
          </p:cNvPr>
          <p:cNvSpPr/>
          <p:nvPr/>
        </p:nvSpPr>
        <p:spPr>
          <a:xfrm>
            <a:off x="2074228" y="5103173"/>
            <a:ext cx="35137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w</a:t>
            </a:r>
            <a:endParaRPr lang="es-MX" dirty="0"/>
          </a:p>
        </p:txBody>
      </p:sp>
      <p:sp>
        <p:nvSpPr>
          <p:cNvPr id="23" name="Rectángulo 22">
            <a:extLst>
              <a:ext uri="{FF2B5EF4-FFF2-40B4-BE49-F238E27FC236}">
                <a16:creationId xmlns:a16="http://schemas.microsoft.com/office/drawing/2014/main" id="{FAC1E0F9-A88F-BDD6-FE68-41E400E8C529}"/>
              </a:ext>
            </a:extLst>
          </p:cNvPr>
          <p:cNvSpPr/>
          <p:nvPr/>
        </p:nvSpPr>
        <p:spPr>
          <a:xfrm>
            <a:off x="2115158" y="6102786"/>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25" name="Diagrama de flujo: conector 24">
            <a:extLst>
              <a:ext uri="{FF2B5EF4-FFF2-40B4-BE49-F238E27FC236}">
                <a16:creationId xmlns:a16="http://schemas.microsoft.com/office/drawing/2014/main" id="{DC3587F0-4E7A-1D67-0C50-1E9BD111856C}"/>
              </a:ext>
            </a:extLst>
          </p:cNvPr>
          <p:cNvSpPr/>
          <p:nvPr/>
        </p:nvSpPr>
        <p:spPr>
          <a:xfrm>
            <a:off x="1775619" y="4605222"/>
            <a:ext cx="960000" cy="148319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lumMod val="85000"/>
                </a:schemeClr>
              </a:solidFill>
            </a:endParaRPr>
          </a:p>
        </p:txBody>
      </p:sp>
      <p:sp>
        <p:nvSpPr>
          <p:cNvPr id="28" name="Diagrama de flujo: conector 27">
            <a:extLst>
              <a:ext uri="{FF2B5EF4-FFF2-40B4-BE49-F238E27FC236}">
                <a16:creationId xmlns:a16="http://schemas.microsoft.com/office/drawing/2014/main" id="{AA18E853-69A0-CFCD-B8BB-F99314300B17}"/>
              </a:ext>
            </a:extLst>
          </p:cNvPr>
          <p:cNvSpPr/>
          <p:nvPr/>
        </p:nvSpPr>
        <p:spPr>
          <a:xfrm>
            <a:off x="4270520" y="4605221"/>
            <a:ext cx="960000" cy="1489747"/>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9" name="Conector recto de flecha 28">
            <a:extLst>
              <a:ext uri="{FF2B5EF4-FFF2-40B4-BE49-F238E27FC236}">
                <a16:creationId xmlns:a16="http://schemas.microsoft.com/office/drawing/2014/main" id="{3A40B1A8-BE69-4FEA-1AE9-188756CDE23C}"/>
              </a:ext>
            </a:extLst>
          </p:cNvPr>
          <p:cNvCxnSpPr>
            <a:cxnSpLocks/>
          </p:cNvCxnSpPr>
          <p:nvPr/>
        </p:nvCxnSpPr>
        <p:spPr>
          <a:xfrm>
            <a:off x="2455761" y="5341714"/>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FCF38EF4-8536-9C50-8F7C-4EE786E5B7C3}"/>
              </a:ext>
            </a:extLst>
          </p:cNvPr>
          <p:cNvSpPr/>
          <p:nvPr/>
        </p:nvSpPr>
        <p:spPr>
          <a:xfrm>
            <a:off x="4689894" y="5130101"/>
            <a:ext cx="292068"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r>
              <a:rPr lang="es-ES" baseline="-25000" dirty="0">
                <a:latin typeface="Arial" panose="020B0604020202020204" pitchFamily="34" charset="0"/>
                <a:cs typeface="Arial" panose="020B0604020202020204" pitchFamily="34" charset="0"/>
              </a:rPr>
              <a:t> </a:t>
            </a:r>
            <a:endParaRPr lang="es-MX" dirty="0"/>
          </a:p>
        </p:txBody>
      </p:sp>
      <p:cxnSp>
        <p:nvCxnSpPr>
          <p:cNvPr id="37" name="Conector recto de flecha 36">
            <a:extLst>
              <a:ext uri="{FF2B5EF4-FFF2-40B4-BE49-F238E27FC236}">
                <a16:creationId xmlns:a16="http://schemas.microsoft.com/office/drawing/2014/main" id="{778C397D-80A9-919D-0239-3AD76270537B}"/>
              </a:ext>
            </a:extLst>
          </p:cNvPr>
          <p:cNvCxnSpPr>
            <a:cxnSpLocks/>
          </p:cNvCxnSpPr>
          <p:nvPr/>
        </p:nvCxnSpPr>
        <p:spPr>
          <a:xfrm>
            <a:off x="2490548" y="6317165"/>
            <a:ext cx="2092812" cy="102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ángulo 37">
            <a:extLst>
              <a:ext uri="{FF2B5EF4-FFF2-40B4-BE49-F238E27FC236}">
                <a16:creationId xmlns:a16="http://schemas.microsoft.com/office/drawing/2014/main" id="{EBFF02FD-2A98-427B-18D0-056EE477A89B}"/>
              </a:ext>
            </a:extLst>
          </p:cNvPr>
          <p:cNvSpPr/>
          <p:nvPr/>
        </p:nvSpPr>
        <p:spPr>
          <a:xfrm>
            <a:off x="2081935" y="5117547"/>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φ</a:t>
            </a:r>
            <a:endParaRPr lang="es-MX" dirty="0"/>
          </a:p>
        </p:txBody>
      </p:sp>
      <p:sp>
        <p:nvSpPr>
          <p:cNvPr id="39" name="Rectángulo 38">
            <a:extLst>
              <a:ext uri="{FF2B5EF4-FFF2-40B4-BE49-F238E27FC236}">
                <a16:creationId xmlns:a16="http://schemas.microsoft.com/office/drawing/2014/main" id="{0CE56A51-4D8C-4F04-9552-314DD2418EDE}"/>
              </a:ext>
            </a:extLst>
          </p:cNvPr>
          <p:cNvSpPr/>
          <p:nvPr/>
        </p:nvSpPr>
        <p:spPr>
          <a:xfrm>
            <a:off x="4489004" y="5143565"/>
            <a:ext cx="699230" cy="369332"/>
          </a:xfrm>
          <a:prstGeom prst="rect">
            <a:avLst/>
          </a:prstGeom>
        </p:spPr>
        <p:txBody>
          <a:bodyPr wrap="none">
            <a:spAutoFit/>
          </a:bodyPr>
          <a:lstStyle/>
          <a:p>
            <a:r>
              <a:rPr lang="es-MX" dirty="0"/>
              <a:t>(G, 3)</a:t>
            </a:r>
          </a:p>
        </p:txBody>
      </p:sp>
      <p:sp>
        <p:nvSpPr>
          <p:cNvPr id="40" name="Rectángulo 39">
            <a:extLst>
              <a:ext uri="{FF2B5EF4-FFF2-40B4-BE49-F238E27FC236}">
                <a16:creationId xmlns:a16="http://schemas.microsoft.com/office/drawing/2014/main" id="{07C5F8A9-747D-46C0-4B2D-F6133833FC99}"/>
              </a:ext>
            </a:extLst>
          </p:cNvPr>
          <p:cNvSpPr/>
          <p:nvPr/>
        </p:nvSpPr>
        <p:spPr>
          <a:xfrm>
            <a:off x="3365932" y="5029525"/>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endParaRPr lang="es-MX" dirty="0"/>
          </a:p>
        </p:txBody>
      </p:sp>
      <p:sp>
        <p:nvSpPr>
          <p:cNvPr id="77" name="Rectángulo 76">
            <a:extLst>
              <a:ext uri="{FF2B5EF4-FFF2-40B4-BE49-F238E27FC236}">
                <a16:creationId xmlns:a16="http://schemas.microsoft.com/office/drawing/2014/main" id="{0BC790D8-5FDA-C7EB-F731-3AE2571CA258}"/>
              </a:ext>
            </a:extLst>
          </p:cNvPr>
          <p:cNvSpPr/>
          <p:nvPr/>
        </p:nvSpPr>
        <p:spPr>
          <a:xfrm>
            <a:off x="3793226" y="3567509"/>
            <a:ext cx="4499233" cy="338554"/>
          </a:xfrm>
          <a:prstGeom prst="rect">
            <a:avLst/>
          </a:prstGeom>
        </p:spPr>
        <p:txBody>
          <a:bodyPr wrap="square">
            <a:spAutoFit/>
          </a:bodyPr>
          <a:lstStyle/>
          <a:p>
            <a:pPr algn="just"/>
            <a:r>
              <a:rPr lang="es-AR" sz="1600" dirty="0">
                <a:latin typeface="Arial" panose="020B0604020202020204" pitchFamily="34" charset="0"/>
                <a:cs typeface="Arial" panose="020B0604020202020204" pitchFamily="34" charset="0"/>
              </a:rPr>
              <a:t>Ejemplo de grafo </a:t>
            </a:r>
            <a:r>
              <a:rPr lang="es-AR" sz="1600" dirty="0" err="1">
                <a:latin typeface="Arial" panose="020B0604020202020204" pitchFamily="34" charset="0"/>
                <a:cs typeface="Arial" panose="020B0604020202020204" pitchFamily="34" charset="0"/>
              </a:rPr>
              <a:t>coloreable</a:t>
            </a:r>
            <a:r>
              <a:rPr lang="es-AR" sz="1600" dirty="0">
                <a:latin typeface="Arial" panose="020B0604020202020204" pitchFamily="34" charset="0"/>
                <a:cs typeface="Arial" panose="020B0604020202020204" pitchFamily="34" charset="0"/>
              </a:rPr>
              <a:t> con 3 colores</a:t>
            </a:r>
            <a:endParaRPr lang="es-MX" sz="1600" dirty="0"/>
          </a:p>
        </p:txBody>
      </p:sp>
      <p:sp>
        <p:nvSpPr>
          <p:cNvPr id="2" name="Diagrama de flujo: conector 1">
            <a:extLst>
              <a:ext uri="{FF2B5EF4-FFF2-40B4-BE49-F238E27FC236}">
                <a16:creationId xmlns:a16="http://schemas.microsoft.com/office/drawing/2014/main" id="{91E57F6E-E3B7-176A-2E85-7CCDC9147216}"/>
              </a:ext>
            </a:extLst>
          </p:cNvPr>
          <p:cNvSpPr/>
          <p:nvPr/>
        </p:nvSpPr>
        <p:spPr>
          <a:xfrm>
            <a:off x="5109109" y="2713424"/>
            <a:ext cx="319551" cy="320807"/>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Diagrama de flujo: conector 2">
            <a:extLst>
              <a:ext uri="{FF2B5EF4-FFF2-40B4-BE49-F238E27FC236}">
                <a16:creationId xmlns:a16="http://schemas.microsoft.com/office/drawing/2014/main" id="{76174F25-22BA-C0C2-5493-AD3B407773E2}"/>
              </a:ext>
            </a:extLst>
          </p:cNvPr>
          <p:cNvSpPr/>
          <p:nvPr/>
        </p:nvSpPr>
        <p:spPr>
          <a:xfrm>
            <a:off x="5109108" y="3221566"/>
            <a:ext cx="319551" cy="320807"/>
          </a:xfrm>
          <a:prstGeom prst="flowChartConnector">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Diagrama de flujo: conector 5">
            <a:extLst>
              <a:ext uri="{FF2B5EF4-FFF2-40B4-BE49-F238E27FC236}">
                <a16:creationId xmlns:a16="http://schemas.microsoft.com/office/drawing/2014/main" id="{1250928C-E9A3-E1F7-6C9F-9D7B35CD4C67}"/>
              </a:ext>
            </a:extLst>
          </p:cNvPr>
          <p:cNvSpPr/>
          <p:nvPr/>
        </p:nvSpPr>
        <p:spPr>
          <a:xfrm>
            <a:off x="5853106" y="2691648"/>
            <a:ext cx="319551" cy="320807"/>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Diagrama de flujo: conector 6">
            <a:extLst>
              <a:ext uri="{FF2B5EF4-FFF2-40B4-BE49-F238E27FC236}">
                <a16:creationId xmlns:a16="http://schemas.microsoft.com/office/drawing/2014/main" id="{CAC8AAEB-3D8A-6C54-4A2A-179FA94949A6}"/>
              </a:ext>
            </a:extLst>
          </p:cNvPr>
          <p:cNvSpPr/>
          <p:nvPr/>
        </p:nvSpPr>
        <p:spPr>
          <a:xfrm>
            <a:off x="5883068" y="3222274"/>
            <a:ext cx="319551" cy="320807"/>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 name="Conector recto 7">
            <a:extLst>
              <a:ext uri="{FF2B5EF4-FFF2-40B4-BE49-F238E27FC236}">
                <a16:creationId xmlns:a16="http://schemas.microsoft.com/office/drawing/2014/main" id="{D1E092FC-1F42-E39A-6EDE-F3F4BEE964A6}"/>
              </a:ext>
            </a:extLst>
          </p:cNvPr>
          <p:cNvCxnSpPr>
            <a:cxnSpLocks/>
          </p:cNvCxnSpPr>
          <p:nvPr/>
        </p:nvCxnSpPr>
        <p:spPr>
          <a:xfrm flipV="1">
            <a:off x="5424890" y="2873827"/>
            <a:ext cx="458178" cy="65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E4F6E08D-BB44-3B63-5B25-AF92C9D1D486}"/>
              </a:ext>
            </a:extLst>
          </p:cNvPr>
          <p:cNvCxnSpPr>
            <a:cxnSpLocks/>
          </p:cNvCxnSpPr>
          <p:nvPr/>
        </p:nvCxnSpPr>
        <p:spPr>
          <a:xfrm flipV="1">
            <a:off x="5424890" y="3381248"/>
            <a:ext cx="458178" cy="65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8970FDDB-9FF3-F3B0-70BD-81E3FF885E01}"/>
              </a:ext>
            </a:extLst>
          </p:cNvPr>
          <p:cNvCxnSpPr>
            <a:cxnSpLocks/>
            <a:endCxn id="3" idx="0"/>
          </p:cNvCxnSpPr>
          <p:nvPr/>
        </p:nvCxnSpPr>
        <p:spPr>
          <a:xfrm>
            <a:off x="5258479" y="3050952"/>
            <a:ext cx="10405" cy="170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14C48056-E7DF-CE65-A4D9-22C2F0932887}"/>
              </a:ext>
            </a:extLst>
          </p:cNvPr>
          <p:cNvCxnSpPr>
            <a:cxnSpLocks/>
            <a:stCxn id="6" idx="4"/>
          </p:cNvCxnSpPr>
          <p:nvPr/>
        </p:nvCxnSpPr>
        <p:spPr>
          <a:xfrm flipH="1">
            <a:off x="6012190" y="3012455"/>
            <a:ext cx="692" cy="1980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B1DBC5A2-8CBF-4E71-6203-551F08E83B32}"/>
              </a:ext>
            </a:extLst>
          </p:cNvPr>
          <p:cNvCxnSpPr>
            <a:cxnSpLocks/>
            <a:stCxn id="3" idx="7"/>
            <a:endCxn id="6" idx="3"/>
          </p:cNvCxnSpPr>
          <p:nvPr/>
        </p:nvCxnSpPr>
        <p:spPr>
          <a:xfrm flipV="1">
            <a:off x="5381862" y="2965474"/>
            <a:ext cx="518041" cy="3030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3F6A6071-4693-D837-E9F1-C2DB9050F3BF}"/>
              </a:ext>
            </a:extLst>
          </p:cNvPr>
          <p:cNvSpPr/>
          <p:nvPr/>
        </p:nvSpPr>
        <p:spPr>
          <a:xfrm>
            <a:off x="6172657" y="4729443"/>
            <a:ext cx="5398620" cy="1338828"/>
          </a:xfrm>
          <a:prstGeom prst="rect">
            <a:avLst/>
          </a:prstGeom>
        </p:spPr>
        <p:txBody>
          <a:bodyPr wrap="square">
            <a:spAutoFit/>
          </a:bodyPr>
          <a:lstStyle/>
          <a:p>
            <a:pPr algn="ctr"/>
            <a:r>
              <a:rPr lang="es-AR" b="1" dirty="0">
                <a:latin typeface="Arial" panose="020B0604020202020204" pitchFamily="34" charset="0"/>
                <a:cs typeface="Arial" panose="020B0604020202020204" pitchFamily="34" charset="0"/>
              </a:rPr>
              <a:t>Teorema de los Cuatro Colores</a:t>
            </a:r>
            <a:endParaRPr lang="es-AR" dirty="0">
              <a:latin typeface="Arial" panose="020B0604020202020204" pitchFamily="34" charset="0"/>
              <a:cs typeface="Arial" panose="020B0604020202020204" pitchFamily="34" charset="0"/>
            </a:endParaRP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Todo grafo planar se puede colorear con cuatro colores sin producir vértices adyacentes con el mismo color.</a:t>
            </a:r>
            <a:endParaRPr lang="es-MX" dirty="0"/>
          </a:p>
        </p:txBody>
      </p:sp>
      <p:sp>
        <p:nvSpPr>
          <p:cNvPr id="21" name="Rectángulo 20">
            <a:extLst>
              <a:ext uri="{FF2B5EF4-FFF2-40B4-BE49-F238E27FC236}">
                <a16:creationId xmlns:a16="http://schemas.microsoft.com/office/drawing/2014/main" id="{11B839F7-41F5-D0E2-93C2-4850575D55B5}"/>
              </a:ext>
            </a:extLst>
          </p:cNvPr>
          <p:cNvSpPr/>
          <p:nvPr/>
        </p:nvSpPr>
        <p:spPr>
          <a:xfrm>
            <a:off x="3241267" y="5452781"/>
            <a:ext cx="523605" cy="527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D22FC8DF-98F3-574F-1B77-05A11CC767C0}"/>
              </a:ext>
            </a:extLst>
          </p:cNvPr>
          <p:cNvSpPr/>
          <p:nvPr/>
        </p:nvSpPr>
        <p:spPr>
          <a:xfrm>
            <a:off x="3304134" y="5511089"/>
            <a:ext cx="452368" cy="338554"/>
          </a:xfrm>
          <a:prstGeom prst="rect">
            <a:avLst/>
          </a:prstGeom>
        </p:spPr>
        <p:txBody>
          <a:bodyPr wrap="none">
            <a:spAutoFit/>
          </a:bodyPr>
          <a:lstStyle/>
          <a:p>
            <a:r>
              <a:rPr lang="es-AR" sz="1600" dirty="0" err="1">
                <a:latin typeface="Arial" panose="020B0604020202020204" pitchFamily="34" charset="0"/>
              </a:rPr>
              <a:t>M</a:t>
            </a:r>
            <a:r>
              <a:rPr lang="es-AR" sz="1600" baseline="-25000" dirty="0" err="1">
                <a:latin typeface="Arial" panose="020B0604020202020204" pitchFamily="34" charset="0"/>
                <a:cs typeface="Arial" panose="020B0604020202020204" pitchFamily="34" charset="0"/>
              </a:rPr>
              <a:t>f</a:t>
            </a:r>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endParaRPr lang="es-MX" sz="1600" dirty="0"/>
          </a:p>
        </p:txBody>
      </p:sp>
    </p:spTree>
    <p:extLst>
      <p:ext uri="{BB962C8B-B14F-4D97-AF65-F5344CB8AC3E}">
        <p14:creationId xmlns:p14="http://schemas.microsoft.com/office/powerpoint/2010/main" val="27715866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BB9AA9A-4B62-4720-A3A7-C248FF07E132}"/>
              </a:ext>
            </a:extLst>
          </p:cNvPr>
          <p:cNvSpPr/>
          <p:nvPr/>
        </p:nvSpPr>
        <p:spPr>
          <a:xfrm>
            <a:off x="334888" y="222985"/>
            <a:ext cx="11421980" cy="1015663"/>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Dos características de los problemas NP-completos</a:t>
            </a:r>
          </a:p>
          <a:p>
            <a:endParaRPr lang="es-AR"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AR" dirty="0">
                <a:latin typeface="Arial" panose="020B0604020202020204" pitchFamily="34" charset="0"/>
                <a:cs typeface="Arial" panose="020B0604020202020204" pitchFamily="34" charset="0"/>
              </a:rPr>
              <a:t>Por definición, para todo par de lenguajes L</a:t>
            </a:r>
            <a:r>
              <a:rPr lang="es-ES"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y L</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de NPC se cumple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latin typeface="Arial" panose="020B0604020202020204" pitchFamily="34" charset="0"/>
                <a:cs typeface="Arial" panose="020B0604020202020204" pitchFamily="34" charset="0"/>
              </a:rPr>
              <a:t>p</a:t>
            </a:r>
            <a:r>
              <a:rPr lang="es-ES"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2 </a:t>
            </a:r>
            <a:r>
              <a:rPr lang="es-AR" b="1" dirty="0">
                <a:latin typeface="Arial" panose="020B0604020202020204" pitchFamily="34" charset="0"/>
                <a:cs typeface="Arial" panose="020B0604020202020204" pitchFamily="34" charset="0"/>
              </a:rPr>
              <a:t>y L</a:t>
            </a:r>
            <a:r>
              <a:rPr lang="es-AR"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a:t>
            </a: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AR" b="1" baseline="-25000" dirty="0">
                <a:latin typeface="Arial" panose="020B0604020202020204" pitchFamily="34" charset="0"/>
                <a:cs typeface="Arial" panose="020B0604020202020204" pitchFamily="34" charset="0"/>
              </a:rPr>
              <a:t>p</a:t>
            </a:r>
            <a:r>
              <a:rPr lang="es-ES"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L</a:t>
            </a:r>
            <a:r>
              <a:rPr lang="es-AR" b="1"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 </a:t>
            </a:r>
          </a:p>
        </p:txBody>
      </p:sp>
      <p:sp>
        <p:nvSpPr>
          <p:cNvPr id="4" name="Rectángulo 3">
            <a:extLst>
              <a:ext uri="{FF2B5EF4-FFF2-40B4-BE49-F238E27FC236}">
                <a16:creationId xmlns:a16="http://schemas.microsoft.com/office/drawing/2014/main" id="{A7DE0438-BA2E-494A-A8DC-F96614A819F0}"/>
              </a:ext>
            </a:extLst>
          </p:cNvPr>
          <p:cNvSpPr/>
          <p:nvPr/>
        </p:nvSpPr>
        <p:spPr>
          <a:xfrm>
            <a:off x="4961337" y="1383768"/>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5" name="Rectángulo 4">
            <a:extLst>
              <a:ext uri="{FF2B5EF4-FFF2-40B4-BE49-F238E27FC236}">
                <a16:creationId xmlns:a16="http://schemas.microsoft.com/office/drawing/2014/main" id="{A88897CB-0A54-4373-A31F-BDEC0E7453E2}"/>
              </a:ext>
            </a:extLst>
          </p:cNvPr>
          <p:cNvSpPr/>
          <p:nvPr/>
        </p:nvSpPr>
        <p:spPr>
          <a:xfrm>
            <a:off x="6204726" y="1390284"/>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7" name="Rectángulo 6">
            <a:extLst>
              <a:ext uri="{FF2B5EF4-FFF2-40B4-BE49-F238E27FC236}">
                <a16:creationId xmlns:a16="http://schemas.microsoft.com/office/drawing/2014/main" id="{5FACA3CE-1578-4FAD-BA22-5B405382B8E7}"/>
              </a:ext>
            </a:extLst>
          </p:cNvPr>
          <p:cNvSpPr/>
          <p:nvPr/>
        </p:nvSpPr>
        <p:spPr>
          <a:xfrm>
            <a:off x="5605631" y="1136657"/>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r>
              <a:rPr lang="es-AR" baseline="-25000" dirty="0">
                <a:latin typeface="Arial" panose="020B0604020202020204" pitchFamily="34" charset="0"/>
                <a:cs typeface="Arial" panose="020B0604020202020204" pitchFamily="34" charset="0"/>
              </a:rPr>
              <a:t>1</a:t>
            </a:r>
            <a:endParaRPr lang="es-MX" dirty="0"/>
          </a:p>
        </p:txBody>
      </p:sp>
      <p:sp>
        <p:nvSpPr>
          <p:cNvPr id="9" name="Rectángulo 8">
            <a:extLst>
              <a:ext uri="{FF2B5EF4-FFF2-40B4-BE49-F238E27FC236}">
                <a16:creationId xmlns:a16="http://schemas.microsoft.com/office/drawing/2014/main" id="{0B125ED5-B13E-4D9C-9CB9-09495D47248F}"/>
              </a:ext>
            </a:extLst>
          </p:cNvPr>
          <p:cNvSpPr/>
          <p:nvPr/>
        </p:nvSpPr>
        <p:spPr>
          <a:xfrm>
            <a:off x="5601869" y="1658145"/>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r>
              <a:rPr lang="es-AR" baseline="-25000" dirty="0">
                <a:latin typeface="Arial" panose="020B0604020202020204" pitchFamily="34" charset="0"/>
                <a:cs typeface="Arial" panose="020B0604020202020204" pitchFamily="34" charset="0"/>
              </a:rPr>
              <a:t>2</a:t>
            </a:r>
            <a:endParaRPr lang="es-MX" dirty="0"/>
          </a:p>
        </p:txBody>
      </p:sp>
      <p:sp>
        <p:nvSpPr>
          <p:cNvPr id="11" name="Rectángulo 10">
            <a:extLst>
              <a:ext uri="{FF2B5EF4-FFF2-40B4-BE49-F238E27FC236}">
                <a16:creationId xmlns:a16="http://schemas.microsoft.com/office/drawing/2014/main" id="{ED5903EA-06D9-4D4C-8E1B-A40659021984}"/>
              </a:ext>
            </a:extLst>
          </p:cNvPr>
          <p:cNvSpPr/>
          <p:nvPr/>
        </p:nvSpPr>
        <p:spPr>
          <a:xfrm>
            <a:off x="161996" y="2013376"/>
            <a:ext cx="12030003" cy="769441"/>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      No necesariamente f</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es la función inversa de f</a:t>
            </a:r>
            <a:r>
              <a:rPr lang="es-ES"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a:t>
            </a:r>
          </a:p>
          <a:p>
            <a:pPr algn="just"/>
            <a:endParaRPr lang="es-AR" sz="8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Sin embargo, </a:t>
            </a:r>
            <a:r>
              <a:rPr lang="es-AR" b="1" dirty="0">
                <a:latin typeface="Arial" panose="020B0604020202020204" pitchFamily="34" charset="0"/>
                <a:cs typeface="Arial" panose="020B0604020202020204" pitchFamily="34" charset="0"/>
              </a:rPr>
              <a:t>todos los lenguajes NP-completos conocidos cumplen dicha propiedad (son p-isomorfos).</a:t>
            </a:r>
            <a:r>
              <a:rPr lang="es-AR" dirty="0">
                <a:latin typeface="Arial" panose="020B0604020202020204" pitchFamily="34" charset="0"/>
                <a:cs typeface="Arial" panose="020B0604020202020204" pitchFamily="34" charset="0"/>
              </a:rPr>
              <a:t>  </a:t>
            </a:r>
          </a:p>
        </p:txBody>
      </p:sp>
      <p:sp>
        <p:nvSpPr>
          <p:cNvPr id="17" name="Rectángulo 16">
            <a:extLst>
              <a:ext uri="{FF2B5EF4-FFF2-40B4-BE49-F238E27FC236}">
                <a16:creationId xmlns:a16="http://schemas.microsoft.com/office/drawing/2014/main" id="{0474AEE7-51F5-4E38-AE6A-0908D6EA1A81}"/>
              </a:ext>
            </a:extLst>
          </p:cNvPr>
          <p:cNvSpPr/>
          <p:nvPr/>
        </p:nvSpPr>
        <p:spPr>
          <a:xfrm>
            <a:off x="161996" y="3570502"/>
            <a:ext cx="11930390" cy="646331"/>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      Se conjetura que todos los lenguajes NP-completos cumplen la propiedad de p-isomorfismo. </a:t>
            </a:r>
          </a:p>
          <a:p>
            <a:pPr algn="just"/>
            <a:r>
              <a:rPr lang="es-AR" dirty="0">
                <a:latin typeface="Arial" panose="020B0604020202020204" pitchFamily="34" charset="0"/>
                <a:cs typeface="Arial" panose="020B0604020202020204" pitchFamily="34" charset="0"/>
              </a:rPr>
              <a:t>      Se prueba que si se cumple la conjetura, entonces </a:t>
            </a:r>
            <a:r>
              <a:rPr lang="es-AR" b="1" dirty="0">
                <a:latin typeface="Arial" panose="020B0604020202020204" pitchFamily="34" charset="0"/>
                <a:cs typeface="Arial" panose="020B0604020202020204" pitchFamily="34" charset="0"/>
              </a:rPr>
              <a:t>P ≠ NP.</a:t>
            </a:r>
          </a:p>
        </p:txBody>
      </p:sp>
      <p:cxnSp>
        <p:nvCxnSpPr>
          <p:cNvPr id="19" name="Conector recto de flecha 18">
            <a:extLst>
              <a:ext uri="{FF2B5EF4-FFF2-40B4-BE49-F238E27FC236}">
                <a16:creationId xmlns:a16="http://schemas.microsoft.com/office/drawing/2014/main" id="{3C2D6E6C-9CE5-4143-B157-F5FBA5D5181C}"/>
              </a:ext>
            </a:extLst>
          </p:cNvPr>
          <p:cNvCxnSpPr>
            <a:cxnSpLocks/>
          </p:cNvCxnSpPr>
          <p:nvPr/>
        </p:nvCxnSpPr>
        <p:spPr>
          <a:xfrm>
            <a:off x="5311542" y="1484119"/>
            <a:ext cx="914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93F7ABF5-806E-40D9-B7BB-E6C49E298BFF}"/>
              </a:ext>
            </a:extLst>
          </p:cNvPr>
          <p:cNvCxnSpPr>
            <a:cxnSpLocks/>
          </p:cNvCxnSpPr>
          <p:nvPr/>
        </p:nvCxnSpPr>
        <p:spPr>
          <a:xfrm flipH="1">
            <a:off x="5311543" y="1687396"/>
            <a:ext cx="91439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Slide Number Placeholder 2">
            <a:extLst>
              <a:ext uri="{FF2B5EF4-FFF2-40B4-BE49-F238E27FC236}">
                <a16:creationId xmlns:a16="http://schemas.microsoft.com/office/drawing/2014/main" id="{ECE5FD15-FD1F-4247-81E7-8AE2B82E7820}"/>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54</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3" name="Rectángulo 22">
            <a:extLst>
              <a:ext uri="{FF2B5EF4-FFF2-40B4-BE49-F238E27FC236}">
                <a16:creationId xmlns:a16="http://schemas.microsoft.com/office/drawing/2014/main" id="{955F1E77-A5C4-4372-AC96-D7FEAC992F99}"/>
              </a:ext>
            </a:extLst>
          </p:cNvPr>
          <p:cNvSpPr/>
          <p:nvPr/>
        </p:nvSpPr>
        <p:spPr>
          <a:xfrm>
            <a:off x="5007781" y="2988202"/>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1</a:t>
            </a:r>
            <a:endParaRPr lang="es-MX" dirty="0"/>
          </a:p>
        </p:txBody>
      </p:sp>
      <p:sp>
        <p:nvSpPr>
          <p:cNvPr id="24" name="Rectángulo 23">
            <a:extLst>
              <a:ext uri="{FF2B5EF4-FFF2-40B4-BE49-F238E27FC236}">
                <a16:creationId xmlns:a16="http://schemas.microsoft.com/office/drawing/2014/main" id="{16FD90F8-B18F-493F-8363-5E300C2BDECC}"/>
              </a:ext>
            </a:extLst>
          </p:cNvPr>
          <p:cNvSpPr/>
          <p:nvPr/>
        </p:nvSpPr>
        <p:spPr>
          <a:xfrm>
            <a:off x="6251170" y="2994718"/>
            <a:ext cx="39786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L</a:t>
            </a:r>
            <a:r>
              <a:rPr lang="es-AR" baseline="-25000" dirty="0">
                <a:latin typeface="Arial" panose="020B0604020202020204" pitchFamily="34" charset="0"/>
                <a:cs typeface="Arial" panose="020B0604020202020204" pitchFamily="34" charset="0"/>
              </a:rPr>
              <a:t>2</a:t>
            </a:r>
            <a:endParaRPr lang="es-MX" dirty="0"/>
          </a:p>
        </p:txBody>
      </p:sp>
      <p:sp>
        <p:nvSpPr>
          <p:cNvPr id="25" name="Rectángulo 24">
            <a:extLst>
              <a:ext uri="{FF2B5EF4-FFF2-40B4-BE49-F238E27FC236}">
                <a16:creationId xmlns:a16="http://schemas.microsoft.com/office/drawing/2014/main" id="{FD7C6F0E-3E9D-499F-94B1-DE364A68D204}"/>
              </a:ext>
            </a:extLst>
          </p:cNvPr>
          <p:cNvSpPr/>
          <p:nvPr/>
        </p:nvSpPr>
        <p:spPr>
          <a:xfrm>
            <a:off x="5652075" y="2741091"/>
            <a:ext cx="33374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f</a:t>
            </a:r>
            <a:r>
              <a:rPr lang="es-AR" baseline="-25000" dirty="0">
                <a:latin typeface="Arial" panose="020B0604020202020204" pitchFamily="34" charset="0"/>
                <a:cs typeface="Arial" panose="020B0604020202020204" pitchFamily="34" charset="0"/>
              </a:rPr>
              <a:t>1</a:t>
            </a:r>
            <a:endParaRPr lang="es-MX" dirty="0"/>
          </a:p>
        </p:txBody>
      </p:sp>
      <p:sp>
        <p:nvSpPr>
          <p:cNvPr id="31" name="Rectángulo 30">
            <a:extLst>
              <a:ext uri="{FF2B5EF4-FFF2-40B4-BE49-F238E27FC236}">
                <a16:creationId xmlns:a16="http://schemas.microsoft.com/office/drawing/2014/main" id="{C00BADA6-14A6-4470-B365-343D73F9080C}"/>
              </a:ext>
            </a:extLst>
          </p:cNvPr>
          <p:cNvSpPr/>
          <p:nvPr/>
        </p:nvSpPr>
        <p:spPr>
          <a:xfrm>
            <a:off x="5626905" y="3266022"/>
            <a:ext cx="449162"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f </a:t>
            </a:r>
            <a:r>
              <a:rPr lang="es-AR" baseline="30000" dirty="0">
                <a:latin typeface="Arial" panose="020B0604020202020204" pitchFamily="34" charset="0"/>
                <a:cs typeface="Arial" panose="020B0604020202020204" pitchFamily="34" charset="0"/>
              </a:rPr>
              <a:t>-1</a:t>
            </a:r>
            <a:endParaRPr lang="es-MX" dirty="0"/>
          </a:p>
        </p:txBody>
      </p:sp>
      <p:cxnSp>
        <p:nvCxnSpPr>
          <p:cNvPr id="32" name="Conector recto de flecha 31">
            <a:extLst>
              <a:ext uri="{FF2B5EF4-FFF2-40B4-BE49-F238E27FC236}">
                <a16:creationId xmlns:a16="http://schemas.microsoft.com/office/drawing/2014/main" id="{3B773ED5-272E-449B-AB98-2F59DB26564B}"/>
              </a:ext>
            </a:extLst>
          </p:cNvPr>
          <p:cNvCxnSpPr>
            <a:cxnSpLocks/>
          </p:cNvCxnSpPr>
          <p:nvPr/>
        </p:nvCxnSpPr>
        <p:spPr>
          <a:xfrm>
            <a:off x="5357986" y="3088553"/>
            <a:ext cx="914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7ABF7F6A-614D-4ED3-AEDF-CA8D16E2D122}"/>
              </a:ext>
            </a:extLst>
          </p:cNvPr>
          <p:cNvCxnSpPr>
            <a:cxnSpLocks/>
          </p:cNvCxnSpPr>
          <p:nvPr/>
        </p:nvCxnSpPr>
        <p:spPr>
          <a:xfrm flipH="1">
            <a:off x="5357987" y="3291830"/>
            <a:ext cx="91439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ángulo 33">
            <a:extLst>
              <a:ext uri="{FF2B5EF4-FFF2-40B4-BE49-F238E27FC236}">
                <a16:creationId xmlns:a16="http://schemas.microsoft.com/office/drawing/2014/main" id="{7131B542-05CF-4489-980D-A5A3940ED7F4}"/>
              </a:ext>
            </a:extLst>
          </p:cNvPr>
          <p:cNvSpPr/>
          <p:nvPr/>
        </p:nvSpPr>
        <p:spPr>
          <a:xfrm>
            <a:off x="364217" y="4623874"/>
            <a:ext cx="11463565" cy="1862048"/>
          </a:xfrm>
          <a:prstGeom prst="rect">
            <a:avLst/>
          </a:prstGeom>
        </p:spPr>
        <p:txBody>
          <a:bodyPr wrap="square">
            <a:spAutoFit/>
          </a:bodyPr>
          <a:lstStyle/>
          <a:p>
            <a:pPr marL="285750" indent="-285750" algn="just">
              <a:buFont typeface="Arial" panose="020B0604020202020204" pitchFamily="34" charset="0"/>
              <a:buChar char="•"/>
            </a:pPr>
            <a:r>
              <a:rPr lang="es-AR" b="1" dirty="0">
                <a:latin typeface="Arial" panose="020B0604020202020204" pitchFamily="34" charset="0"/>
                <a:cs typeface="Arial" panose="020B0604020202020204" pitchFamily="34" charset="0"/>
              </a:rPr>
              <a:t>Todos los lenguajes NP-completos conocidos son densos</a:t>
            </a:r>
            <a:r>
              <a:rPr lang="es-AR" dirty="0">
                <a:latin typeface="Arial" panose="020B0604020202020204" pitchFamily="34" charset="0"/>
                <a:cs typeface="Arial" panose="020B0604020202020204" pitchFamily="34" charset="0"/>
              </a:rPr>
              <a:t>. </a:t>
            </a:r>
          </a:p>
          <a:p>
            <a:pPr algn="just"/>
            <a:endParaRPr lang="es-AR" sz="600" dirty="0">
              <a:latin typeface="Arial" panose="020B0604020202020204" pitchFamily="34" charset="0"/>
              <a:cs typeface="Arial" panose="020B0604020202020204" pitchFamily="34" charset="0"/>
            </a:endParaRPr>
          </a:p>
          <a:p>
            <a:pPr algn="just"/>
            <a:endParaRPr lang="es-AR" sz="6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Un lenguaje es denso si para todo n tiene </a:t>
            </a:r>
            <a:r>
              <a:rPr lang="es-AR" dirty="0" err="1">
                <a:latin typeface="Arial" panose="020B0604020202020204" pitchFamily="34" charset="0"/>
                <a:cs typeface="Arial" panose="020B0604020202020204" pitchFamily="34" charset="0"/>
              </a:rPr>
              <a:t>exp</a:t>
            </a:r>
            <a:r>
              <a:rPr lang="es-AR" dirty="0">
                <a:latin typeface="Arial" panose="020B0604020202020204" pitchFamily="34" charset="0"/>
                <a:cs typeface="Arial" panose="020B0604020202020204" pitchFamily="34" charset="0"/>
              </a:rPr>
              <a:t>(n) cadenas de longitud a lo sumo n.</a:t>
            </a:r>
          </a:p>
          <a:p>
            <a:pPr algn="just"/>
            <a:r>
              <a:rPr lang="es-AR" dirty="0">
                <a:latin typeface="Arial" panose="020B0604020202020204" pitchFamily="34" charset="0"/>
                <a:cs typeface="Arial" panose="020B0604020202020204" pitchFamily="34" charset="0"/>
              </a:rPr>
              <a:t>     Un lenguaje es disperso en caso contrario (para todo n tiene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(n) cadenas de longitud a lo sumo n).</a:t>
            </a:r>
          </a:p>
          <a:p>
            <a:pPr algn="just"/>
            <a:endParaRPr lang="es-AR" sz="13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Se conjetura que todos los lenguajes NP-completos son densos. </a:t>
            </a:r>
          </a:p>
          <a:p>
            <a:pPr algn="just"/>
            <a:r>
              <a:rPr lang="es-AR" dirty="0">
                <a:latin typeface="Arial" panose="020B0604020202020204" pitchFamily="34" charset="0"/>
                <a:cs typeface="Arial" panose="020B0604020202020204" pitchFamily="34" charset="0"/>
              </a:rPr>
              <a:t>     Se prueba que si existe un lenguaje NP-completo disperso, entonces </a:t>
            </a:r>
            <a:r>
              <a:rPr lang="es-AR" b="1" dirty="0">
                <a:latin typeface="Arial" panose="020B0604020202020204" pitchFamily="34" charset="0"/>
                <a:cs typeface="Arial" panose="020B0604020202020204" pitchFamily="34" charset="0"/>
              </a:rPr>
              <a:t>P = NP.</a:t>
            </a:r>
          </a:p>
        </p:txBody>
      </p:sp>
    </p:spTree>
    <p:extLst>
      <p:ext uri="{BB962C8B-B14F-4D97-AF65-F5344CB8AC3E}">
        <p14:creationId xmlns:p14="http://schemas.microsoft.com/office/powerpoint/2010/main" val="114723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C4F8E59B-11D3-410E-ACB8-4411D6F0278B}"/>
              </a:ext>
            </a:extLst>
          </p:cNvPr>
          <p:cNvSpPr/>
          <p:nvPr/>
        </p:nvSpPr>
        <p:spPr>
          <a:xfrm>
            <a:off x="274694" y="624483"/>
            <a:ext cx="11268807" cy="5816977"/>
          </a:xfrm>
          <a:prstGeom prst="rect">
            <a:avLst/>
          </a:prstGeom>
        </p:spPr>
        <p:txBody>
          <a:bodyPr wrap="square">
            <a:spAutoFit/>
          </a:bodyPr>
          <a:lstStyle/>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Una visión aún más detallada de NP:</a:t>
            </a: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sz="400" dirty="0">
              <a:latin typeface="Arial" panose="020B0604020202020204" pitchFamily="34" charset="0"/>
              <a:cs typeface="Arial" panose="020B0604020202020204" pitchFamily="34" charset="0"/>
              <a:sym typeface="Symbol" panose="05050102010706020507" pitchFamily="18" charset="2"/>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Asumiendo </a:t>
            </a:r>
            <a:r>
              <a:rPr lang="es-AR" dirty="0">
                <a:latin typeface="Arial" panose="020B0604020202020204" pitchFamily="34" charset="0"/>
                <a:cs typeface="Arial" panose="020B0604020202020204" pitchFamily="34" charset="0"/>
              </a:rPr>
              <a:t>P ≠ NP, se prueba que además de P y NPC, NP incluye una tercera clase de lenguajes: </a:t>
            </a:r>
            <a:r>
              <a:rPr lang="es-AR" b="1" dirty="0">
                <a:latin typeface="Arial" panose="020B0604020202020204" pitchFamily="34" charset="0"/>
                <a:cs typeface="Arial" panose="020B0604020202020204" pitchFamily="34" charset="0"/>
              </a:rPr>
              <a:t>NPI.</a:t>
            </a:r>
          </a:p>
          <a:p>
            <a:pPr marL="342900" indent="-342900" algn="just">
              <a:buFont typeface="Arial" panose="020B0604020202020204" pitchFamily="34" charset="0"/>
              <a:buChar char="•"/>
            </a:pPr>
            <a:endParaRPr lang="es-AR" sz="26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Los lenguajes de NPI </a:t>
            </a:r>
            <a:r>
              <a:rPr lang="es-AR" b="1" dirty="0">
                <a:latin typeface="Arial" panose="020B0604020202020204" pitchFamily="34" charset="0"/>
                <a:cs typeface="Arial" panose="020B0604020202020204" pitchFamily="34" charset="0"/>
                <a:sym typeface="Symbol" panose="05050102010706020507" pitchFamily="18" charset="2"/>
              </a:rPr>
              <a:t>no son ni tan fáciles como los de P ni tan difíciles como los de NPC.</a:t>
            </a:r>
          </a:p>
        </p:txBody>
      </p:sp>
      <p:sp>
        <p:nvSpPr>
          <p:cNvPr id="31" name="Slide Number Placeholder 2">
            <a:extLst>
              <a:ext uri="{FF2B5EF4-FFF2-40B4-BE49-F238E27FC236}">
                <a16:creationId xmlns:a16="http://schemas.microsoft.com/office/drawing/2014/main" id="{2F17C997-A76C-465A-9E2D-1CBE1E5A5514}"/>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55</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 name="Rectángulo 1">
            <a:extLst>
              <a:ext uri="{FF2B5EF4-FFF2-40B4-BE49-F238E27FC236}">
                <a16:creationId xmlns:a16="http://schemas.microsoft.com/office/drawing/2014/main" id="{4175F06D-4336-F1F6-0CAC-7E164D262EA8}"/>
              </a:ext>
            </a:extLst>
          </p:cNvPr>
          <p:cNvSpPr/>
          <p:nvPr/>
        </p:nvSpPr>
        <p:spPr>
          <a:xfrm>
            <a:off x="261933" y="342849"/>
            <a:ext cx="11668134"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La clase </a:t>
            </a:r>
            <a:r>
              <a:rPr lang="es-MX" sz="2400" b="1" dirty="0" err="1">
                <a:latin typeface="Arial" panose="020B0604020202020204" pitchFamily="34" charset="0"/>
                <a:cs typeface="Arial" panose="020B0604020202020204" pitchFamily="34" charset="0"/>
              </a:rPr>
              <a:t>NPI</a:t>
            </a:r>
            <a:endParaRPr lang="es-MX" sz="2400" b="1"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957BC1B-6593-79DC-6C60-5A6A5AB98F5A}"/>
              </a:ext>
            </a:extLst>
          </p:cNvPr>
          <p:cNvSpPr/>
          <p:nvPr/>
        </p:nvSpPr>
        <p:spPr>
          <a:xfrm>
            <a:off x="5764809" y="2049797"/>
            <a:ext cx="575799"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a:t>
            </a:r>
            <a:endParaRPr lang="es-MX" sz="2200" dirty="0"/>
          </a:p>
        </p:txBody>
      </p:sp>
      <p:sp>
        <p:nvSpPr>
          <p:cNvPr id="7" name="Diagrama de flujo: conector 6">
            <a:extLst>
              <a:ext uri="{FF2B5EF4-FFF2-40B4-BE49-F238E27FC236}">
                <a16:creationId xmlns:a16="http://schemas.microsoft.com/office/drawing/2014/main" id="{0C496DEB-5BC5-82D2-9DD7-1B0CD8B30272}"/>
              </a:ext>
            </a:extLst>
          </p:cNvPr>
          <p:cNvSpPr/>
          <p:nvPr/>
        </p:nvSpPr>
        <p:spPr>
          <a:xfrm>
            <a:off x="5173570" y="1147703"/>
            <a:ext cx="1775792" cy="3344249"/>
          </a:xfrm>
          <a:prstGeom prst="flowChartConnector">
            <a:avLst/>
          </a:prstGeom>
          <a:solidFill>
            <a:schemeClr val="accent6">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Diagrama de flujo: conector 7">
            <a:extLst>
              <a:ext uri="{FF2B5EF4-FFF2-40B4-BE49-F238E27FC236}">
                <a16:creationId xmlns:a16="http://schemas.microsoft.com/office/drawing/2014/main" id="{7FD803E3-A2FB-DE3F-E80A-B9AAAE3492AA}"/>
              </a:ext>
            </a:extLst>
          </p:cNvPr>
          <p:cNvSpPr/>
          <p:nvPr/>
        </p:nvSpPr>
        <p:spPr>
          <a:xfrm>
            <a:off x="5521344" y="3258914"/>
            <a:ext cx="1094015" cy="1233037"/>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56888AF5-31B9-BA68-4845-EFC7D67D49E0}"/>
              </a:ext>
            </a:extLst>
          </p:cNvPr>
          <p:cNvSpPr/>
          <p:nvPr/>
        </p:nvSpPr>
        <p:spPr>
          <a:xfrm>
            <a:off x="5909891" y="3685141"/>
            <a:ext cx="372218"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P</a:t>
            </a:r>
            <a:endParaRPr lang="es-MX" sz="2200" dirty="0"/>
          </a:p>
        </p:txBody>
      </p:sp>
      <p:sp>
        <p:nvSpPr>
          <p:cNvPr id="16" name="CuadroTexto 15">
            <a:extLst>
              <a:ext uri="{FF2B5EF4-FFF2-40B4-BE49-F238E27FC236}">
                <a16:creationId xmlns:a16="http://schemas.microsoft.com/office/drawing/2014/main" id="{89BDC37C-B2EF-4149-FD7F-B01AED3FE019}"/>
              </a:ext>
            </a:extLst>
          </p:cNvPr>
          <p:cNvSpPr txBox="1"/>
          <p:nvPr/>
        </p:nvSpPr>
        <p:spPr>
          <a:xfrm>
            <a:off x="6640881" y="3958948"/>
            <a:ext cx="2650179" cy="369332"/>
          </a:xfrm>
          <a:prstGeom prst="rect">
            <a:avLst/>
          </a:prstGeom>
          <a:noFill/>
        </p:spPr>
        <p:txBody>
          <a:bodyPr wrap="square">
            <a:spAutoFit/>
          </a:bodyPr>
          <a:lstStyle/>
          <a:p>
            <a:pPr algn="just"/>
            <a:r>
              <a:rPr lang="es-AR" sz="1800" dirty="0">
                <a:latin typeface="Arial" panose="020B0604020202020204" pitchFamily="34" charset="0"/>
                <a:cs typeface="Arial" panose="020B0604020202020204" pitchFamily="34" charset="0"/>
              </a:rPr>
              <a:t>Asumiendo</a:t>
            </a:r>
            <a:r>
              <a:rPr lang="es-AR" dirty="0">
                <a:latin typeface="Arial" panose="020B0604020202020204" pitchFamily="34" charset="0"/>
                <a:cs typeface="Arial" panose="020B0604020202020204" pitchFamily="34" charset="0"/>
              </a:rPr>
              <a:t> P </a:t>
            </a:r>
            <a:r>
              <a:rPr lang="es-AR" sz="1800" dirty="0">
                <a:effectLst/>
                <a:latin typeface="Arial" panose="020B0604020202020204" pitchFamily="34" charset="0"/>
                <a:ea typeface="Calibri" panose="020F0502020204030204" pitchFamily="34" charset="0"/>
              </a:rPr>
              <a:t>≠ NP</a:t>
            </a:r>
            <a:r>
              <a:rPr lang="es-AR" sz="1800" dirty="0">
                <a:latin typeface="Arial" panose="020B0604020202020204" pitchFamily="34" charset="0"/>
                <a:cs typeface="Arial" panose="020B0604020202020204" pitchFamily="34" charset="0"/>
              </a:rPr>
              <a:t> </a:t>
            </a:r>
          </a:p>
        </p:txBody>
      </p:sp>
      <p:sp>
        <p:nvSpPr>
          <p:cNvPr id="18" name="Rectángulo 17">
            <a:extLst>
              <a:ext uri="{FF2B5EF4-FFF2-40B4-BE49-F238E27FC236}">
                <a16:creationId xmlns:a16="http://schemas.microsoft.com/office/drawing/2014/main" id="{34935F6F-1FF9-4CF3-945B-5246353D1D3D}"/>
              </a:ext>
            </a:extLst>
          </p:cNvPr>
          <p:cNvSpPr/>
          <p:nvPr/>
        </p:nvSpPr>
        <p:spPr>
          <a:xfrm>
            <a:off x="6987208" y="2557386"/>
            <a:ext cx="755335" cy="584775"/>
          </a:xfrm>
          <a:prstGeom prst="rect">
            <a:avLst/>
          </a:prstGeom>
        </p:spPr>
        <p:txBody>
          <a:bodyPr wrap="none">
            <a:spAutoFit/>
          </a:bodyPr>
          <a:lstStyle/>
          <a:p>
            <a:r>
              <a:rPr lang="es-AR" sz="3200" dirty="0">
                <a:latin typeface="Arial" panose="020B0604020202020204" pitchFamily="34" charset="0"/>
                <a:cs typeface="Arial" panose="020B0604020202020204" pitchFamily="34" charset="0"/>
              </a:rPr>
              <a:t>NP</a:t>
            </a:r>
            <a:endParaRPr lang="es-MX" sz="3200" dirty="0"/>
          </a:p>
        </p:txBody>
      </p:sp>
      <p:sp>
        <p:nvSpPr>
          <p:cNvPr id="21" name="Diagrama de flujo: conector 20">
            <a:extLst>
              <a:ext uri="{FF2B5EF4-FFF2-40B4-BE49-F238E27FC236}">
                <a16:creationId xmlns:a16="http://schemas.microsoft.com/office/drawing/2014/main" id="{E86062E0-0727-34AC-B6E7-244C26A60292}"/>
              </a:ext>
            </a:extLst>
          </p:cNvPr>
          <p:cNvSpPr/>
          <p:nvPr/>
        </p:nvSpPr>
        <p:spPr>
          <a:xfrm>
            <a:off x="5497520" y="1147703"/>
            <a:ext cx="1094015" cy="1332982"/>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Rectángulo 22">
            <a:extLst>
              <a:ext uri="{FF2B5EF4-FFF2-40B4-BE49-F238E27FC236}">
                <a16:creationId xmlns:a16="http://schemas.microsoft.com/office/drawing/2014/main" id="{5E0125F1-A898-9C06-3657-7B8C71AFAD1F}"/>
              </a:ext>
            </a:extLst>
          </p:cNvPr>
          <p:cNvSpPr/>
          <p:nvPr/>
        </p:nvSpPr>
        <p:spPr>
          <a:xfrm>
            <a:off x="5706310" y="1516793"/>
            <a:ext cx="779381"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NPC</a:t>
            </a:r>
            <a:endParaRPr lang="es-MX" sz="2200" dirty="0"/>
          </a:p>
        </p:txBody>
      </p:sp>
      <p:sp>
        <p:nvSpPr>
          <p:cNvPr id="3" name="Rectángulo 2">
            <a:extLst>
              <a:ext uri="{FF2B5EF4-FFF2-40B4-BE49-F238E27FC236}">
                <a16:creationId xmlns:a16="http://schemas.microsoft.com/office/drawing/2014/main" id="{138E16CA-9A12-9BEF-8A21-1A59A7C5BF59}"/>
              </a:ext>
            </a:extLst>
          </p:cNvPr>
          <p:cNvSpPr/>
          <p:nvPr/>
        </p:nvSpPr>
        <p:spPr>
          <a:xfrm>
            <a:off x="5714259" y="2634331"/>
            <a:ext cx="654346"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NPI</a:t>
            </a:r>
            <a:endParaRPr lang="es-MX" sz="2200" dirty="0"/>
          </a:p>
        </p:txBody>
      </p:sp>
    </p:spTree>
    <p:extLst>
      <p:ext uri="{BB962C8B-B14F-4D97-AF65-F5344CB8AC3E}">
        <p14:creationId xmlns:p14="http://schemas.microsoft.com/office/powerpoint/2010/main" val="42692778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D7595EA-CFA9-4464-9455-9990C559C525}"/>
              </a:ext>
            </a:extLst>
          </p:cNvPr>
          <p:cNvSpPr/>
          <p:nvPr/>
        </p:nvSpPr>
        <p:spPr>
          <a:xfrm>
            <a:off x="233097" y="165494"/>
            <a:ext cx="11686186" cy="969496"/>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El problema de los grafos isomorfos (candidato a estar en NPI)</a:t>
            </a:r>
          </a:p>
          <a:p>
            <a:pPr algn="just"/>
            <a:endParaRPr lang="es-AR" sz="1000" b="1" dirty="0">
              <a:latin typeface="Arial" panose="020B0604020202020204" pitchFamily="34" charset="0"/>
              <a:cs typeface="Arial" panose="020B0604020202020204" pitchFamily="34" charset="0"/>
            </a:endParaRPr>
          </a:p>
          <a:p>
            <a:pPr algn="just"/>
            <a:endParaRPr lang="es-AR" sz="5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ISO = {(G</a:t>
            </a:r>
            <a:r>
              <a:rPr lang="es-AR" baseline="-25000" dirty="0">
                <a:latin typeface="Arial" panose="020B0604020202020204" pitchFamily="34" charset="0"/>
                <a:cs typeface="Arial" panose="020B0604020202020204" pitchFamily="34" charset="0"/>
              </a:rPr>
              <a:t>1</a:t>
            </a:r>
            <a:r>
              <a:rPr lang="es-AR" dirty="0">
                <a:latin typeface="Arial" panose="020B0604020202020204" pitchFamily="34" charset="0"/>
                <a:cs typeface="Arial" panose="020B0604020202020204" pitchFamily="34" charset="0"/>
              </a:rPr>
              <a:t>, G</a:t>
            </a:r>
            <a:r>
              <a:rPr lang="es-AR" baseline="-25000" dirty="0">
                <a:latin typeface="Arial" panose="020B0604020202020204" pitchFamily="34" charset="0"/>
                <a:cs typeface="Arial" panose="020B0604020202020204" pitchFamily="34" charset="0"/>
              </a:rPr>
              <a:t>2</a:t>
            </a:r>
            <a:r>
              <a:rPr lang="es-AR" dirty="0">
                <a:latin typeface="Arial" panose="020B0604020202020204" pitchFamily="34" charset="0"/>
                <a:cs typeface="Arial" panose="020B0604020202020204" pitchFamily="34" charset="0"/>
              </a:rPr>
              <a:t>) | G</a:t>
            </a:r>
            <a:r>
              <a:rPr lang="es-AR"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rPr>
              <a:t>y G</a:t>
            </a:r>
            <a:r>
              <a:rPr lang="es-AR"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rPr>
              <a:t>son grafos isomorfos, es decir son idénticos salvo por el nombre de sus arcos}</a:t>
            </a:r>
            <a:r>
              <a:rPr lang="es-AR" b="1" dirty="0">
                <a:latin typeface="Arial" panose="020B0604020202020204" pitchFamily="34" charset="0"/>
                <a:cs typeface="Arial" panose="020B0604020202020204" pitchFamily="34" charset="0"/>
              </a:rPr>
              <a:t>  </a:t>
            </a:r>
            <a:r>
              <a:rPr lang="es-AR" b="1" baseline="-25000"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p:txBody>
      </p:sp>
      <p:sp>
        <p:nvSpPr>
          <p:cNvPr id="17" name="Rectángulo 16">
            <a:extLst>
              <a:ext uri="{FF2B5EF4-FFF2-40B4-BE49-F238E27FC236}">
                <a16:creationId xmlns:a16="http://schemas.microsoft.com/office/drawing/2014/main" id="{58EA83A2-52AF-4EF3-831C-9CF4559B7CE3}"/>
              </a:ext>
            </a:extLst>
          </p:cNvPr>
          <p:cNvSpPr/>
          <p:nvPr/>
        </p:nvSpPr>
        <p:spPr>
          <a:xfrm>
            <a:off x="367388" y="3326097"/>
            <a:ext cx="8548020" cy="3247043"/>
          </a:xfrm>
          <a:prstGeom prst="rect">
            <a:avLst/>
          </a:prstGeom>
        </p:spPr>
        <p:txBody>
          <a:bodyPr wrap="square">
            <a:spAutoFit/>
          </a:bodyPr>
          <a:lstStyle/>
          <a:p>
            <a:pPr algn="just"/>
            <a:r>
              <a:rPr lang="es-AR" b="1" dirty="0">
                <a:latin typeface="Arial" panose="020B0604020202020204" pitchFamily="34" charset="0"/>
                <a:cs typeface="Arial" panose="020B0604020202020204" pitchFamily="34" charset="0"/>
              </a:rPr>
              <a:t>ISO está en NP</a:t>
            </a:r>
          </a:p>
          <a:p>
            <a:pPr algn="just"/>
            <a:r>
              <a:rPr lang="es-AR" dirty="0">
                <a:latin typeface="Arial" panose="020B0604020202020204" pitchFamily="34" charset="0"/>
                <a:cs typeface="Arial" panose="020B0604020202020204" pitchFamily="34" charset="0"/>
              </a:rPr>
              <a:t>los certificados </a:t>
            </a:r>
            <a:r>
              <a:rPr lang="es-AR" dirty="0" err="1">
                <a:latin typeface="Arial" panose="020B0604020202020204" pitchFamily="34" charset="0"/>
                <a:cs typeface="Arial" panose="020B0604020202020204" pitchFamily="34" charset="0"/>
              </a:rPr>
              <a:t>suscintos</a:t>
            </a:r>
            <a:r>
              <a:rPr lang="es-AR" dirty="0">
                <a:latin typeface="Arial" panose="020B0604020202020204" pitchFamily="34" charset="0"/>
                <a:cs typeface="Arial" panose="020B0604020202020204" pitchFamily="34" charset="0"/>
              </a:rPr>
              <a:t> son permutaciones de V </a:t>
            </a:r>
          </a:p>
          <a:p>
            <a:pPr algn="just"/>
            <a:endParaRPr lang="es-AR" b="1"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ISO no estaría en P</a:t>
            </a:r>
          </a:p>
          <a:p>
            <a:pPr algn="just"/>
            <a:r>
              <a:rPr lang="es-AR" dirty="0">
                <a:latin typeface="Arial" panose="020B0604020202020204" pitchFamily="34" charset="0"/>
                <a:cs typeface="Arial" panose="020B0604020202020204" pitchFamily="34" charset="0"/>
              </a:rPr>
              <a:t>en el peor caso hay que probar con todas las permutaciones de V  </a:t>
            </a:r>
          </a:p>
          <a:p>
            <a:pPr algn="just"/>
            <a:r>
              <a:rPr lang="es-AR" b="1" dirty="0">
                <a:latin typeface="Arial" panose="020B0604020202020204" pitchFamily="34" charset="0"/>
                <a:cs typeface="Arial" panose="020B0604020202020204" pitchFamily="34" charset="0"/>
              </a:rPr>
              <a:t>     </a:t>
            </a:r>
            <a:endParaRPr lang="es-AR" sz="700"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ISO no estaría en NPC</a:t>
            </a:r>
          </a:p>
          <a:p>
            <a:pPr algn="just"/>
            <a:r>
              <a:rPr lang="es-AR" dirty="0">
                <a:latin typeface="Arial" panose="020B0604020202020204" pitchFamily="34" charset="0"/>
                <a:cs typeface="Arial" panose="020B0604020202020204" pitchFamily="34" charset="0"/>
              </a:rPr>
              <a:t>no se ha encontrado un lenguaje NP-completo L tal que L </a:t>
            </a: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s-ES" baseline="-25000" dirty="0">
                <a:latin typeface="Arial" panose="020B0604020202020204" pitchFamily="34" charset="0"/>
                <a:cs typeface="Arial" panose="020B0604020202020204" pitchFamily="34" charset="0"/>
              </a:rPr>
              <a:t>P</a:t>
            </a:r>
            <a:r>
              <a:rPr lang="es-ES"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ISO </a:t>
            </a:r>
          </a:p>
          <a:p>
            <a:pPr algn="just"/>
            <a:endParaRPr lang="es-AR"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ISO</a:t>
            </a:r>
            <a:r>
              <a:rPr lang="es-AR" b="1" baseline="30000" dirty="0">
                <a:latin typeface="Arial" panose="020B0604020202020204" pitchFamily="34" charset="0"/>
                <a:cs typeface="Arial" panose="020B0604020202020204" pitchFamily="34" charset="0"/>
              </a:rPr>
              <a:t>C </a:t>
            </a:r>
            <a:r>
              <a:rPr lang="es-AR" b="1" dirty="0">
                <a:latin typeface="Arial" panose="020B0604020202020204" pitchFamily="34" charset="0"/>
                <a:cs typeface="Arial" panose="020B0604020202020204" pitchFamily="34" charset="0"/>
              </a:rPr>
              <a:t>no estaría en NP</a:t>
            </a:r>
          </a:p>
          <a:p>
            <a:pPr algn="just"/>
            <a:r>
              <a:rPr lang="es-AR" dirty="0">
                <a:latin typeface="Arial" panose="020B0604020202020204" pitchFamily="34" charset="0"/>
                <a:cs typeface="Arial" panose="020B0604020202020204" pitchFamily="34" charset="0"/>
              </a:rPr>
              <a:t>no se han encontrado sucintos para ISO</a:t>
            </a:r>
            <a:r>
              <a:rPr lang="es-AR"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endParaRPr lang="es-AR" sz="700" dirty="0">
              <a:latin typeface="Arial" panose="020B0604020202020204" pitchFamily="34" charset="0"/>
              <a:cs typeface="Arial" panose="020B0604020202020204" pitchFamily="34" charset="0"/>
            </a:endParaRPr>
          </a:p>
        </p:txBody>
      </p:sp>
      <p:sp>
        <p:nvSpPr>
          <p:cNvPr id="25" name="Diagrama de flujo: conector 24">
            <a:extLst>
              <a:ext uri="{FF2B5EF4-FFF2-40B4-BE49-F238E27FC236}">
                <a16:creationId xmlns:a16="http://schemas.microsoft.com/office/drawing/2014/main" id="{08565689-5706-43FA-BE73-E450E814A043}"/>
              </a:ext>
            </a:extLst>
          </p:cNvPr>
          <p:cNvSpPr/>
          <p:nvPr/>
        </p:nvSpPr>
        <p:spPr>
          <a:xfrm>
            <a:off x="3456761" y="1230793"/>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1" name="Conector recto 30">
            <a:extLst>
              <a:ext uri="{FF2B5EF4-FFF2-40B4-BE49-F238E27FC236}">
                <a16:creationId xmlns:a16="http://schemas.microsoft.com/office/drawing/2014/main" id="{248F2D58-C901-4A3B-BCC9-167CD030D215}"/>
              </a:ext>
            </a:extLst>
          </p:cNvPr>
          <p:cNvCxnSpPr>
            <a:stCxn id="32" idx="5"/>
            <a:endCxn id="33" idx="2"/>
          </p:cNvCxnSpPr>
          <p:nvPr/>
        </p:nvCxnSpPr>
        <p:spPr>
          <a:xfrm>
            <a:off x="2723106" y="2159516"/>
            <a:ext cx="878034" cy="441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Diagrama de flujo: conector 31">
            <a:extLst>
              <a:ext uri="{FF2B5EF4-FFF2-40B4-BE49-F238E27FC236}">
                <a16:creationId xmlns:a16="http://schemas.microsoft.com/office/drawing/2014/main" id="{797D92CA-307C-40E7-B8C0-956B04499D93}"/>
              </a:ext>
            </a:extLst>
          </p:cNvPr>
          <p:cNvSpPr/>
          <p:nvPr/>
        </p:nvSpPr>
        <p:spPr>
          <a:xfrm>
            <a:off x="2332861" y="1769271"/>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a:latin typeface="Arial" panose="020B0604020202020204" pitchFamily="34" charset="0"/>
                <a:cs typeface="Arial" panose="020B0604020202020204" pitchFamily="34" charset="0"/>
              </a:rPr>
              <a:t>1</a:t>
            </a:r>
            <a:endParaRPr lang="es-MX" dirty="0">
              <a:latin typeface="Arial" panose="020B0604020202020204" pitchFamily="34" charset="0"/>
              <a:cs typeface="Arial" panose="020B0604020202020204" pitchFamily="34" charset="0"/>
            </a:endParaRPr>
          </a:p>
        </p:txBody>
      </p:sp>
      <p:sp>
        <p:nvSpPr>
          <p:cNvPr id="33" name="Diagrama de flujo: conector 32">
            <a:extLst>
              <a:ext uri="{FF2B5EF4-FFF2-40B4-BE49-F238E27FC236}">
                <a16:creationId xmlns:a16="http://schemas.microsoft.com/office/drawing/2014/main" id="{AB10C5E8-4013-42D2-A39A-2995058AD246}"/>
              </a:ext>
            </a:extLst>
          </p:cNvPr>
          <p:cNvSpPr/>
          <p:nvPr/>
        </p:nvSpPr>
        <p:spPr>
          <a:xfrm>
            <a:off x="3601140" y="2372551"/>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Diagrama de flujo: conector 33">
            <a:extLst>
              <a:ext uri="{FF2B5EF4-FFF2-40B4-BE49-F238E27FC236}">
                <a16:creationId xmlns:a16="http://schemas.microsoft.com/office/drawing/2014/main" id="{ED2C603B-EC09-4DD1-A1F7-32980A92D422}"/>
              </a:ext>
            </a:extLst>
          </p:cNvPr>
          <p:cNvSpPr/>
          <p:nvPr/>
        </p:nvSpPr>
        <p:spPr>
          <a:xfrm>
            <a:off x="5164974" y="2065245"/>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6" name="Conector recto 35">
            <a:extLst>
              <a:ext uri="{FF2B5EF4-FFF2-40B4-BE49-F238E27FC236}">
                <a16:creationId xmlns:a16="http://schemas.microsoft.com/office/drawing/2014/main" id="{77AA8D2B-0348-43EC-B7B8-B0A603F873E8}"/>
              </a:ext>
            </a:extLst>
          </p:cNvPr>
          <p:cNvCxnSpPr>
            <a:endCxn id="33" idx="0"/>
          </p:cNvCxnSpPr>
          <p:nvPr/>
        </p:nvCxnSpPr>
        <p:spPr>
          <a:xfrm>
            <a:off x="3685361" y="1704191"/>
            <a:ext cx="144379" cy="668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E4D42419-8DDA-4103-A662-03CD70CDDEF4}"/>
              </a:ext>
            </a:extLst>
          </p:cNvPr>
          <p:cNvCxnSpPr/>
          <p:nvPr/>
        </p:nvCxnSpPr>
        <p:spPr>
          <a:xfrm flipV="1">
            <a:off x="2815521" y="1559037"/>
            <a:ext cx="703930" cy="3980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6C20E777-F01C-4416-9215-2723D052C12C}"/>
              </a:ext>
            </a:extLst>
          </p:cNvPr>
          <p:cNvCxnSpPr>
            <a:endCxn id="34" idx="1"/>
          </p:cNvCxnSpPr>
          <p:nvPr/>
        </p:nvCxnSpPr>
        <p:spPr>
          <a:xfrm>
            <a:off x="3863217" y="1559037"/>
            <a:ext cx="1368712" cy="573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ángulo 44">
            <a:extLst>
              <a:ext uri="{FF2B5EF4-FFF2-40B4-BE49-F238E27FC236}">
                <a16:creationId xmlns:a16="http://schemas.microsoft.com/office/drawing/2014/main" id="{0F410884-E885-4A94-A302-8F9E327A1E39}"/>
              </a:ext>
            </a:extLst>
          </p:cNvPr>
          <p:cNvSpPr/>
          <p:nvPr/>
        </p:nvSpPr>
        <p:spPr>
          <a:xfrm>
            <a:off x="3685361" y="2447426"/>
            <a:ext cx="284052" cy="307777"/>
          </a:xfrm>
          <a:prstGeom prst="rect">
            <a:avLst/>
          </a:prstGeom>
          <a:noFill/>
        </p:spPr>
        <p:txBody>
          <a:bodyPr wrap="none">
            <a:spAutoFit/>
          </a:bodyPr>
          <a:lstStyle/>
          <a:p>
            <a:r>
              <a:rPr lang="es-MX" sz="1400" dirty="0">
                <a:latin typeface="Arial" panose="020B0604020202020204" pitchFamily="34" charset="0"/>
                <a:cs typeface="Arial" panose="020B0604020202020204" pitchFamily="34" charset="0"/>
              </a:rPr>
              <a:t>3</a:t>
            </a:r>
          </a:p>
        </p:txBody>
      </p:sp>
      <p:sp>
        <p:nvSpPr>
          <p:cNvPr id="14" name="Rectángulo 13">
            <a:extLst>
              <a:ext uri="{FF2B5EF4-FFF2-40B4-BE49-F238E27FC236}">
                <a16:creationId xmlns:a16="http://schemas.microsoft.com/office/drawing/2014/main" id="{0A4D8786-7E9A-44ED-9F4E-F62E49AE8746}"/>
              </a:ext>
            </a:extLst>
          </p:cNvPr>
          <p:cNvSpPr/>
          <p:nvPr/>
        </p:nvSpPr>
        <p:spPr>
          <a:xfrm>
            <a:off x="2408157" y="1816286"/>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15" name="Rectángulo 14">
            <a:extLst>
              <a:ext uri="{FF2B5EF4-FFF2-40B4-BE49-F238E27FC236}">
                <a16:creationId xmlns:a16="http://schemas.microsoft.com/office/drawing/2014/main" id="{E6D4E027-EED1-47BC-97F8-C5F0BB037CFD}"/>
              </a:ext>
            </a:extLst>
          </p:cNvPr>
          <p:cNvSpPr/>
          <p:nvPr/>
        </p:nvSpPr>
        <p:spPr>
          <a:xfrm>
            <a:off x="3525643" y="1271338"/>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2</a:t>
            </a:r>
          </a:p>
        </p:txBody>
      </p:sp>
      <p:sp>
        <p:nvSpPr>
          <p:cNvPr id="16" name="Rectángulo 15">
            <a:extLst>
              <a:ext uri="{FF2B5EF4-FFF2-40B4-BE49-F238E27FC236}">
                <a16:creationId xmlns:a16="http://schemas.microsoft.com/office/drawing/2014/main" id="{0A84393A-97EB-496C-9BF5-135EDFF9EB06}"/>
              </a:ext>
            </a:extLst>
          </p:cNvPr>
          <p:cNvSpPr/>
          <p:nvPr/>
        </p:nvSpPr>
        <p:spPr>
          <a:xfrm>
            <a:off x="5229774" y="2118440"/>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4</a:t>
            </a:r>
          </a:p>
        </p:txBody>
      </p:sp>
      <p:sp>
        <p:nvSpPr>
          <p:cNvPr id="48" name="Diagrama de flujo: conector 47">
            <a:extLst>
              <a:ext uri="{FF2B5EF4-FFF2-40B4-BE49-F238E27FC236}">
                <a16:creationId xmlns:a16="http://schemas.microsoft.com/office/drawing/2014/main" id="{F46AF1BC-2374-4283-9021-F4762479E0A3}"/>
              </a:ext>
            </a:extLst>
          </p:cNvPr>
          <p:cNvSpPr/>
          <p:nvPr/>
        </p:nvSpPr>
        <p:spPr>
          <a:xfrm>
            <a:off x="8081521" y="1254084"/>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9" name="Conector recto 48">
            <a:extLst>
              <a:ext uri="{FF2B5EF4-FFF2-40B4-BE49-F238E27FC236}">
                <a16:creationId xmlns:a16="http://schemas.microsoft.com/office/drawing/2014/main" id="{B1C0E8F5-2A94-4341-B11A-2473FD06AEF3}"/>
              </a:ext>
            </a:extLst>
          </p:cNvPr>
          <p:cNvCxnSpPr>
            <a:stCxn id="50" idx="5"/>
            <a:endCxn id="51" idx="2"/>
          </p:cNvCxnSpPr>
          <p:nvPr/>
        </p:nvCxnSpPr>
        <p:spPr>
          <a:xfrm>
            <a:off x="7347866" y="2182807"/>
            <a:ext cx="878034" cy="441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Diagrama de flujo: conector 49">
            <a:extLst>
              <a:ext uri="{FF2B5EF4-FFF2-40B4-BE49-F238E27FC236}">
                <a16:creationId xmlns:a16="http://schemas.microsoft.com/office/drawing/2014/main" id="{41B539F8-044A-4852-B9A6-E08F90DCCDF9}"/>
              </a:ext>
            </a:extLst>
          </p:cNvPr>
          <p:cNvSpPr/>
          <p:nvPr/>
        </p:nvSpPr>
        <p:spPr>
          <a:xfrm>
            <a:off x="6957621" y="1792562"/>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a:latin typeface="Arial" panose="020B0604020202020204" pitchFamily="34" charset="0"/>
                <a:cs typeface="Arial" panose="020B0604020202020204" pitchFamily="34" charset="0"/>
              </a:rPr>
              <a:t>1</a:t>
            </a:r>
            <a:endParaRPr lang="es-MX" dirty="0">
              <a:latin typeface="Arial" panose="020B0604020202020204" pitchFamily="34" charset="0"/>
              <a:cs typeface="Arial" panose="020B0604020202020204" pitchFamily="34" charset="0"/>
            </a:endParaRPr>
          </a:p>
        </p:txBody>
      </p:sp>
      <p:sp>
        <p:nvSpPr>
          <p:cNvPr id="51" name="Diagrama de flujo: conector 50">
            <a:extLst>
              <a:ext uri="{FF2B5EF4-FFF2-40B4-BE49-F238E27FC236}">
                <a16:creationId xmlns:a16="http://schemas.microsoft.com/office/drawing/2014/main" id="{957E6AD2-9C4A-4272-83A9-9E8BA6A16F9C}"/>
              </a:ext>
            </a:extLst>
          </p:cNvPr>
          <p:cNvSpPr/>
          <p:nvPr/>
        </p:nvSpPr>
        <p:spPr>
          <a:xfrm>
            <a:off x="8225900" y="2395842"/>
            <a:ext cx="457200" cy="4572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2" name="Diagrama de flujo: conector 51">
            <a:extLst>
              <a:ext uri="{FF2B5EF4-FFF2-40B4-BE49-F238E27FC236}">
                <a16:creationId xmlns:a16="http://schemas.microsoft.com/office/drawing/2014/main" id="{064E9B61-F9A2-4797-9C98-D72C6A5B0034}"/>
              </a:ext>
            </a:extLst>
          </p:cNvPr>
          <p:cNvSpPr/>
          <p:nvPr/>
        </p:nvSpPr>
        <p:spPr>
          <a:xfrm>
            <a:off x="9789734" y="2088536"/>
            <a:ext cx="457200" cy="457200"/>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53" name="Conector recto 52">
            <a:extLst>
              <a:ext uri="{FF2B5EF4-FFF2-40B4-BE49-F238E27FC236}">
                <a16:creationId xmlns:a16="http://schemas.microsoft.com/office/drawing/2014/main" id="{BDB51070-895A-425E-BFA4-9D8ACC0749CA}"/>
              </a:ext>
            </a:extLst>
          </p:cNvPr>
          <p:cNvCxnSpPr>
            <a:endCxn id="51" idx="0"/>
          </p:cNvCxnSpPr>
          <p:nvPr/>
        </p:nvCxnSpPr>
        <p:spPr>
          <a:xfrm>
            <a:off x="8310121" y="1727482"/>
            <a:ext cx="144379" cy="668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42152487-3234-4AE5-91E7-858F181AB355}"/>
              </a:ext>
            </a:extLst>
          </p:cNvPr>
          <p:cNvCxnSpPr/>
          <p:nvPr/>
        </p:nvCxnSpPr>
        <p:spPr>
          <a:xfrm flipV="1">
            <a:off x="7440281" y="1582328"/>
            <a:ext cx="703930" cy="3980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8912C6CA-9B28-49B5-9E07-6F4B9731086B}"/>
              </a:ext>
            </a:extLst>
          </p:cNvPr>
          <p:cNvCxnSpPr>
            <a:endCxn id="52" idx="1"/>
          </p:cNvCxnSpPr>
          <p:nvPr/>
        </p:nvCxnSpPr>
        <p:spPr>
          <a:xfrm>
            <a:off x="8487977" y="1582328"/>
            <a:ext cx="1368712" cy="573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ángulo 55">
            <a:extLst>
              <a:ext uri="{FF2B5EF4-FFF2-40B4-BE49-F238E27FC236}">
                <a16:creationId xmlns:a16="http://schemas.microsoft.com/office/drawing/2014/main" id="{DA812573-EBA8-4C6E-91F6-DA1D8A790FDC}"/>
              </a:ext>
            </a:extLst>
          </p:cNvPr>
          <p:cNvSpPr/>
          <p:nvPr/>
        </p:nvSpPr>
        <p:spPr>
          <a:xfrm>
            <a:off x="8310121" y="2470717"/>
            <a:ext cx="284052" cy="307777"/>
          </a:xfrm>
          <a:prstGeom prst="rect">
            <a:avLst/>
          </a:prstGeom>
          <a:noFill/>
        </p:spPr>
        <p:txBody>
          <a:bodyPr wrap="none">
            <a:spAutoFit/>
          </a:bodyPr>
          <a:lstStyle/>
          <a:p>
            <a:r>
              <a:rPr lang="es-MX" sz="1400" dirty="0">
                <a:latin typeface="Arial" panose="020B0604020202020204" pitchFamily="34" charset="0"/>
                <a:cs typeface="Arial" panose="020B0604020202020204" pitchFamily="34" charset="0"/>
              </a:rPr>
              <a:t>4</a:t>
            </a:r>
          </a:p>
        </p:txBody>
      </p:sp>
      <p:sp>
        <p:nvSpPr>
          <p:cNvPr id="57" name="Rectángulo 56">
            <a:extLst>
              <a:ext uri="{FF2B5EF4-FFF2-40B4-BE49-F238E27FC236}">
                <a16:creationId xmlns:a16="http://schemas.microsoft.com/office/drawing/2014/main" id="{14CBE012-7838-4AE7-A724-810BA4E36857}"/>
              </a:ext>
            </a:extLst>
          </p:cNvPr>
          <p:cNvSpPr/>
          <p:nvPr/>
        </p:nvSpPr>
        <p:spPr>
          <a:xfrm>
            <a:off x="7032917" y="1839577"/>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3</a:t>
            </a:r>
          </a:p>
        </p:txBody>
      </p:sp>
      <p:sp>
        <p:nvSpPr>
          <p:cNvPr id="58" name="Rectángulo 57">
            <a:extLst>
              <a:ext uri="{FF2B5EF4-FFF2-40B4-BE49-F238E27FC236}">
                <a16:creationId xmlns:a16="http://schemas.microsoft.com/office/drawing/2014/main" id="{53B6A437-6661-4FA2-ACDC-30301909E8CD}"/>
              </a:ext>
            </a:extLst>
          </p:cNvPr>
          <p:cNvSpPr/>
          <p:nvPr/>
        </p:nvSpPr>
        <p:spPr>
          <a:xfrm>
            <a:off x="8150403" y="1294629"/>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2</a:t>
            </a:r>
          </a:p>
        </p:txBody>
      </p:sp>
      <p:sp>
        <p:nvSpPr>
          <p:cNvPr id="59" name="Rectángulo 58">
            <a:extLst>
              <a:ext uri="{FF2B5EF4-FFF2-40B4-BE49-F238E27FC236}">
                <a16:creationId xmlns:a16="http://schemas.microsoft.com/office/drawing/2014/main" id="{94647A5E-151C-409F-820C-2E831250DD92}"/>
              </a:ext>
            </a:extLst>
          </p:cNvPr>
          <p:cNvSpPr/>
          <p:nvPr/>
        </p:nvSpPr>
        <p:spPr>
          <a:xfrm>
            <a:off x="9854534" y="2141731"/>
            <a:ext cx="312906" cy="369332"/>
          </a:xfrm>
          <a:prstGeom prst="rect">
            <a:avLst/>
          </a:prstGeom>
        </p:spPr>
        <p:txBody>
          <a:bodyPr wrap="none">
            <a:spAutoFit/>
          </a:bodyPr>
          <a:lstStyle/>
          <a:p>
            <a:r>
              <a:rPr lang="es-MX" dirty="0">
                <a:latin typeface="Arial" panose="020B0604020202020204" pitchFamily="34" charset="0"/>
                <a:cs typeface="Arial" panose="020B0604020202020204" pitchFamily="34" charset="0"/>
              </a:rPr>
              <a:t>1</a:t>
            </a:r>
          </a:p>
        </p:txBody>
      </p:sp>
      <p:sp>
        <p:nvSpPr>
          <p:cNvPr id="21" name="Rectángulo 20">
            <a:extLst>
              <a:ext uri="{FF2B5EF4-FFF2-40B4-BE49-F238E27FC236}">
                <a16:creationId xmlns:a16="http://schemas.microsoft.com/office/drawing/2014/main" id="{DDB34B6A-B712-F784-A896-124758BF19E0}"/>
              </a:ext>
            </a:extLst>
          </p:cNvPr>
          <p:cNvSpPr/>
          <p:nvPr/>
        </p:nvSpPr>
        <p:spPr>
          <a:xfrm>
            <a:off x="11318499" y="6166101"/>
            <a:ext cx="24878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 </a:t>
            </a:r>
            <a:endParaRPr lang="es-MX" dirty="0"/>
          </a:p>
        </p:txBody>
      </p:sp>
      <p:sp>
        <p:nvSpPr>
          <p:cNvPr id="42" name="Slide Number Placeholder 2">
            <a:extLst>
              <a:ext uri="{FF2B5EF4-FFF2-40B4-BE49-F238E27FC236}">
                <a16:creationId xmlns:a16="http://schemas.microsoft.com/office/drawing/2014/main" id="{F622EE23-43BE-0A8E-DB6B-F076447F7ED1}"/>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56</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6F216AE8-6B58-E17A-5155-39032D097FED}"/>
              </a:ext>
            </a:extLst>
          </p:cNvPr>
          <p:cNvSpPr/>
          <p:nvPr/>
        </p:nvSpPr>
        <p:spPr>
          <a:xfrm>
            <a:off x="9636702" y="3878448"/>
            <a:ext cx="575799"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a:t>
            </a:r>
            <a:endParaRPr lang="es-MX" sz="2200" dirty="0"/>
          </a:p>
        </p:txBody>
      </p:sp>
      <p:sp>
        <p:nvSpPr>
          <p:cNvPr id="4" name="Diagrama de flujo: conector 3">
            <a:extLst>
              <a:ext uri="{FF2B5EF4-FFF2-40B4-BE49-F238E27FC236}">
                <a16:creationId xmlns:a16="http://schemas.microsoft.com/office/drawing/2014/main" id="{9E910219-8907-AB21-3FEA-4B1E4897CD48}"/>
              </a:ext>
            </a:extLst>
          </p:cNvPr>
          <p:cNvSpPr/>
          <p:nvPr/>
        </p:nvSpPr>
        <p:spPr>
          <a:xfrm>
            <a:off x="9359823" y="3182808"/>
            <a:ext cx="1152951" cy="2969057"/>
          </a:xfrm>
          <a:prstGeom prst="flowChartConnector">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Diagrama de flujo: conector 4">
            <a:extLst>
              <a:ext uri="{FF2B5EF4-FFF2-40B4-BE49-F238E27FC236}">
                <a16:creationId xmlns:a16="http://schemas.microsoft.com/office/drawing/2014/main" id="{C4C4A250-E8A3-F911-2EB6-D3B99AC29BAB}"/>
              </a:ext>
            </a:extLst>
          </p:cNvPr>
          <p:cNvSpPr/>
          <p:nvPr/>
        </p:nvSpPr>
        <p:spPr>
          <a:xfrm>
            <a:off x="9546378" y="5087565"/>
            <a:ext cx="779381" cy="1064300"/>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5">
            <a:extLst>
              <a:ext uri="{FF2B5EF4-FFF2-40B4-BE49-F238E27FC236}">
                <a16:creationId xmlns:a16="http://schemas.microsoft.com/office/drawing/2014/main" id="{1BE9A0FD-8BB6-A7E1-79E7-9453621485F4}"/>
              </a:ext>
            </a:extLst>
          </p:cNvPr>
          <p:cNvSpPr/>
          <p:nvPr/>
        </p:nvSpPr>
        <p:spPr>
          <a:xfrm>
            <a:off x="9782942" y="5411663"/>
            <a:ext cx="372218"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P</a:t>
            </a:r>
            <a:endParaRPr lang="es-MX" sz="2200" dirty="0"/>
          </a:p>
        </p:txBody>
      </p:sp>
      <p:sp>
        <p:nvSpPr>
          <p:cNvPr id="7" name="CuadroTexto 6">
            <a:extLst>
              <a:ext uri="{FF2B5EF4-FFF2-40B4-BE49-F238E27FC236}">
                <a16:creationId xmlns:a16="http://schemas.microsoft.com/office/drawing/2014/main" id="{22A8A33C-6044-3FA3-1390-0136691CA9F6}"/>
              </a:ext>
            </a:extLst>
          </p:cNvPr>
          <p:cNvSpPr txBox="1"/>
          <p:nvPr/>
        </p:nvSpPr>
        <p:spPr>
          <a:xfrm>
            <a:off x="8915408" y="6129835"/>
            <a:ext cx="2650179" cy="369332"/>
          </a:xfrm>
          <a:prstGeom prst="rect">
            <a:avLst/>
          </a:prstGeom>
          <a:noFill/>
        </p:spPr>
        <p:txBody>
          <a:bodyPr wrap="square">
            <a:spAutoFit/>
          </a:bodyPr>
          <a:lstStyle/>
          <a:p>
            <a:pPr algn="just"/>
            <a:r>
              <a:rPr lang="es-AR" sz="1800" dirty="0">
                <a:latin typeface="Arial" panose="020B0604020202020204" pitchFamily="34" charset="0"/>
                <a:cs typeface="Arial" panose="020B0604020202020204" pitchFamily="34" charset="0"/>
              </a:rPr>
              <a:t>Asumiendo</a:t>
            </a:r>
            <a:r>
              <a:rPr lang="es-AR" dirty="0">
                <a:latin typeface="Arial" panose="020B0604020202020204" pitchFamily="34" charset="0"/>
                <a:cs typeface="Arial" panose="020B0604020202020204" pitchFamily="34" charset="0"/>
              </a:rPr>
              <a:t> P </a:t>
            </a:r>
            <a:r>
              <a:rPr lang="es-AR" sz="1800" dirty="0">
                <a:effectLst/>
                <a:latin typeface="Arial" panose="020B0604020202020204" pitchFamily="34" charset="0"/>
                <a:ea typeface="Calibri" panose="020F0502020204030204" pitchFamily="34" charset="0"/>
              </a:rPr>
              <a:t>≠ NP</a:t>
            </a:r>
            <a:r>
              <a:rPr lang="es-AR" sz="18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1A8C7674-8311-A8E4-F82E-04BE099A1940}"/>
              </a:ext>
            </a:extLst>
          </p:cNvPr>
          <p:cNvSpPr/>
          <p:nvPr/>
        </p:nvSpPr>
        <p:spPr>
          <a:xfrm>
            <a:off x="10543794" y="4386037"/>
            <a:ext cx="755335" cy="584775"/>
          </a:xfrm>
          <a:prstGeom prst="rect">
            <a:avLst/>
          </a:prstGeom>
        </p:spPr>
        <p:txBody>
          <a:bodyPr wrap="none">
            <a:spAutoFit/>
          </a:bodyPr>
          <a:lstStyle/>
          <a:p>
            <a:r>
              <a:rPr lang="es-AR" sz="3200" dirty="0">
                <a:latin typeface="Arial" panose="020B0604020202020204" pitchFamily="34" charset="0"/>
                <a:cs typeface="Arial" panose="020B0604020202020204" pitchFamily="34" charset="0"/>
              </a:rPr>
              <a:t>NP</a:t>
            </a:r>
            <a:endParaRPr lang="es-MX" sz="3200" dirty="0"/>
          </a:p>
        </p:txBody>
      </p:sp>
      <p:sp>
        <p:nvSpPr>
          <p:cNvPr id="10" name="Diagrama de flujo: conector 9">
            <a:extLst>
              <a:ext uri="{FF2B5EF4-FFF2-40B4-BE49-F238E27FC236}">
                <a16:creationId xmlns:a16="http://schemas.microsoft.com/office/drawing/2014/main" id="{42ADE7B3-7C9E-8786-9F81-AA68818A43A7}"/>
              </a:ext>
            </a:extLst>
          </p:cNvPr>
          <p:cNvSpPr/>
          <p:nvPr/>
        </p:nvSpPr>
        <p:spPr>
          <a:xfrm>
            <a:off x="9534910" y="3182808"/>
            <a:ext cx="779381" cy="1126527"/>
          </a:xfrm>
          <a:prstGeom prst="flowChartConnector">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85B706CB-742D-821E-69B4-15B7D32730F7}"/>
              </a:ext>
            </a:extLst>
          </p:cNvPr>
          <p:cNvSpPr/>
          <p:nvPr/>
        </p:nvSpPr>
        <p:spPr>
          <a:xfrm>
            <a:off x="9546378" y="3509357"/>
            <a:ext cx="779381"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NPC</a:t>
            </a:r>
            <a:endParaRPr lang="es-MX" sz="2200" dirty="0"/>
          </a:p>
        </p:txBody>
      </p:sp>
      <p:sp>
        <p:nvSpPr>
          <p:cNvPr id="18" name="Rectángulo 17">
            <a:extLst>
              <a:ext uri="{FF2B5EF4-FFF2-40B4-BE49-F238E27FC236}">
                <a16:creationId xmlns:a16="http://schemas.microsoft.com/office/drawing/2014/main" id="{063A3467-888D-C2D4-8788-86CD2D7F0CF2}"/>
              </a:ext>
            </a:extLst>
          </p:cNvPr>
          <p:cNvSpPr/>
          <p:nvPr/>
        </p:nvSpPr>
        <p:spPr>
          <a:xfrm>
            <a:off x="9586152" y="4462982"/>
            <a:ext cx="654346" cy="430887"/>
          </a:xfrm>
          <a:prstGeom prst="rect">
            <a:avLst/>
          </a:prstGeom>
        </p:spPr>
        <p:txBody>
          <a:bodyPr wrap="none">
            <a:spAutoFit/>
          </a:bodyPr>
          <a:lstStyle/>
          <a:p>
            <a:r>
              <a:rPr lang="es-AR" sz="2200" dirty="0">
                <a:latin typeface="Arial" panose="020B0604020202020204" pitchFamily="34" charset="0"/>
                <a:cs typeface="Arial" panose="020B0604020202020204" pitchFamily="34" charset="0"/>
              </a:rPr>
              <a:t>NPI</a:t>
            </a:r>
            <a:endParaRPr lang="es-MX" sz="2200" dirty="0"/>
          </a:p>
        </p:txBody>
      </p:sp>
      <p:sp>
        <p:nvSpPr>
          <p:cNvPr id="26" name="CuadroTexto 25">
            <a:extLst>
              <a:ext uri="{FF2B5EF4-FFF2-40B4-BE49-F238E27FC236}">
                <a16:creationId xmlns:a16="http://schemas.microsoft.com/office/drawing/2014/main" id="{6E85026C-48E4-B8EB-601B-6C05B8650A7B}"/>
              </a:ext>
            </a:extLst>
          </p:cNvPr>
          <p:cNvSpPr txBox="1"/>
          <p:nvPr/>
        </p:nvSpPr>
        <p:spPr>
          <a:xfrm>
            <a:off x="8124225" y="4225451"/>
            <a:ext cx="962715" cy="369332"/>
          </a:xfrm>
          <a:prstGeom prst="rect">
            <a:avLst/>
          </a:prstGeom>
          <a:noFill/>
        </p:spPr>
        <p:txBody>
          <a:bodyPr wrap="square">
            <a:spAutoFit/>
          </a:bodyPr>
          <a:lstStyle/>
          <a:p>
            <a:r>
              <a:rPr lang="es-AR" b="1" dirty="0">
                <a:latin typeface="Arial" panose="020B0604020202020204" pitchFamily="34" charset="0"/>
                <a:cs typeface="Arial" panose="020B0604020202020204" pitchFamily="34" charset="0"/>
              </a:rPr>
              <a:t>ISO </a:t>
            </a:r>
            <a:endParaRPr lang="es-AR" dirty="0"/>
          </a:p>
        </p:txBody>
      </p:sp>
      <p:cxnSp>
        <p:nvCxnSpPr>
          <p:cNvPr id="28" name="Conector recto de flecha 27">
            <a:extLst>
              <a:ext uri="{FF2B5EF4-FFF2-40B4-BE49-F238E27FC236}">
                <a16:creationId xmlns:a16="http://schemas.microsoft.com/office/drawing/2014/main" id="{F19D8FD2-AA29-39B5-B7D6-4B832219ACEF}"/>
              </a:ext>
            </a:extLst>
          </p:cNvPr>
          <p:cNvCxnSpPr>
            <a:cxnSpLocks/>
          </p:cNvCxnSpPr>
          <p:nvPr/>
        </p:nvCxnSpPr>
        <p:spPr>
          <a:xfrm rot="60000" flipV="1">
            <a:off x="8765878" y="4394843"/>
            <a:ext cx="780500" cy="138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1470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2823CBE-5E8E-4CBD-A07D-6112B0E8B381}"/>
              </a:ext>
            </a:extLst>
          </p:cNvPr>
          <p:cNvSpPr/>
          <p:nvPr/>
        </p:nvSpPr>
        <p:spPr>
          <a:xfrm>
            <a:off x="195989" y="185959"/>
            <a:ext cx="11600407" cy="6355586"/>
          </a:xfrm>
          <a:prstGeom prst="rect">
            <a:avLst/>
          </a:prstGeom>
        </p:spPr>
        <p:txBody>
          <a:bodyPr wrap="square">
            <a:spAutoFit/>
          </a:bodyPr>
          <a:lstStyle/>
          <a:p>
            <a:r>
              <a:rPr lang="es-AR" sz="2400" b="1" dirty="0">
                <a:latin typeface="Arial" panose="020B0604020202020204" pitchFamily="34" charset="0"/>
                <a:cs typeface="Arial" panose="020B0604020202020204" pitchFamily="34" charset="0"/>
              </a:rPr>
              <a:t>El problema de la factorización (otro candidato a estar en NPI)</a:t>
            </a:r>
          </a:p>
          <a:p>
            <a:pPr lvl="1" algn="just"/>
            <a:endParaRPr lang="es-AR" sz="10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Dado N, hay que encontrar todos sus divisores primos. </a:t>
            </a:r>
            <a:r>
              <a:rPr lang="es-AR" dirty="0" err="1">
                <a:latin typeface="Arial" panose="020B0604020202020204" pitchFamily="34" charset="0"/>
                <a:cs typeface="Arial" panose="020B0604020202020204" pitchFamily="34" charset="0"/>
              </a:rPr>
              <a:t>P.ej</a:t>
            </a:r>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180 = 2</a:t>
            </a:r>
            <a:r>
              <a:rPr lang="es-AR" b="1" baseline="30000" dirty="0">
                <a:latin typeface="Arial" panose="020B0604020202020204" pitchFamily="34" charset="0"/>
                <a:cs typeface="Arial" panose="020B0604020202020204" pitchFamily="34" charset="0"/>
              </a:rPr>
              <a:t>2 </a:t>
            </a:r>
            <a:r>
              <a:rPr lang="es-AR" b="1" dirty="0">
                <a:latin typeface="Arial" panose="020B0604020202020204" pitchFamily="34" charset="0"/>
                <a:cs typeface="Arial" panose="020B0604020202020204" pitchFamily="34" charset="0"/>
              </a:rPr>
              <a:t>x 3</a:t>
            </a:r>
            <a:r>
              <a:rPr lang="es-AR" b="1" baseline="30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x 5.  </a:t>
            </a:r>
          </a:p>
          <a:p>
            <a:pPr algn="just"/>
            <a:endParaRPr lang="es-AR" sz="25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Llevado a un problema de decisión tiene la siguiente forma: </a:t>
            </a:r>
          </a:p>
          <a:p>
            <a:pPr algn="just"/>
            <a:endParaRPr lang="es-AR" sz="900" dirty="0">
              <a:latin typeface="Arial" panose="020B0604020202020204" pitchFamily="34" charset="0"/>
              <a:cs typeface="Arial" panose="020B0604020202020204" pitchFamily="34" charset="0"/>
            </a:endParaRPr>
          </a:p>
          <a:p>
            <a:pPr algn="just"/>
            <a:r>
              <a:rPr lang="es-AR" b="1" dirty="0">
                <a:latin typeface="Arial" panose="020B0604020202020204" pitchFamily="34" charset="0"/>
                <a:cs typeface="Arial" panose="020B0604020202020204" pitchFamily="34" charset="0"/>
              </a:rPr>
              <a:t>	FACT = {(N, M</a:t>
            </a:r>
            <a:r>
              <a:rPr lang="es-ES"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M</a:t>
            </a:r>
            <a:r>
              <a:rPr lang="es-ES"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 | N tiene un divisor primo entre M</a:t>
            </a:r>
            <a:r>
              <a:rPr lang="es-ES" b="1" baseline="-25000" dirty="0">
                <a:latin typeface="Arial" panose="020B0604020202020204" pitchFamily="34" charset="0"/>
                <a:cs typeface="Arial" panose="020B0604020202020204" pitchFamily="34" charset="0"/>
              </a:rPr>
              <a:t>1</a:t>
            </a:r>
            <a:r>
              <a:rPr lang="es-AR" b="1" dirty="0">
                <a:latin typeface="Arial" panose="020B0604020202020204" pitchFamily="34" charset="0"/>
                <a:cs typeface="Arial" panose="020B0604020202020204" pitchFamily="34" charset="0"/>
              </a:rPr>
              <a:t> y M</a:t>
            </a:r>
            <a:r>
              <a:rPr lang="es-ES"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rPr>
              <a:t>}</a:t>
            </a:r>
          </a:p>
          <a:p>
            <a:pPr lvl="1" algn="just"/>
            <a:endParaRPr lang="es-AR" sz="3000" b="1" dirty="0">
              <a:latin typeface="Arial" panose="020B0604020202020204" pitchFamily="34" charset="0"/>
              <a:cs typeface="Arial" panose="020B0604020202020204" pitchFamily="34" charset="0"/>
            </a:endParaRPr>
          </a:p>
          <a:p>
            <a:pPr marL="0" lvl="1"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Como la sospecha es que no está en P, se lo usa para </a:t>
            </a:r>
            <a:r>
              <a:rPr lang="es-AR" b="1" dirty="0">
                <a:latin typeface="Arial" panose="020B0604020202020204" pitchFamily="34" charset="0"/>
                <a:cs typeface="Arial" panose="020B0604020202020204" pitchFamily="34" charset="0"/>
              </a:rPr>
              <a:t>encriptar mensajes</a:t>
            </a:r>
            <a:r>
              <a:rPr lang="es-AR" dirty="0">
                <a:latin typeface="Arial" panose="020B0604020202020204" pitchFamily="34" charset="0"/>
                <a:cs typeface="Arial" panose="020B0604020202020204" pitchFamily="34" charset="0"/>
              </a:rPr>
              <a:t>:</a:t>
            </a:r>
          </a:p>
          <a:p>
            <a:pPr marL="0" lvl="1" algn="just"/>
            <a:r>
              <a:rPr lang="es-AR" dirty="0">
                <a:latin typeface="Arial" panose="020B0604020202020204" pitchFamily="34" charset="0"/>
                <a:cs typeface="Arial" panose="020B0604020202020204" pitchFamily="34" charset="0"/>
              </a:rPr>
              <a:t>     Dado un número N muy grande,  </a:t>
            </a:r>
          </a:p>
          <a:p>
            <a:pPr marL="0" lvl="1" algn="just"/>
            <a:r>
              <a:rPr lang="es-AR" dirty="0">
                <a:latin typeface="Arial" panose="020B0604020202020204" pitchFamily="34" charset="0"/>
                <a:cs typeface="Arial" panose="020B0604020202020204" pitchFamily="34" charset="0"/>
              </a:rPr>
              <a:t>     si N = N</a:t>
            </a:r>
            <a:r>
              <a:rPr lang="es-ES"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x N</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y </a:t>
            </a:r>
            <a:r>
              <a:rPr lang="es-AR" dirty="0">
                <a:latin typeface="Arial" panose="020B0604020202020204" pitchFamily="34" charset="0"/>
                <a:cs typeface="Arial" panose="020B0604020202020204" pitchFamily="34" charset="0"/>
              </a:rPr>
              <a:t>N</a:t>
            </a:r>
            <a:r>
              <a:rPr lang="es-ES" baseline="-25000" dirty="0">
                <a:latin typeface="Arial" panose="020B0604020202020204" pitchFamily="34" charset="0"/>
                <a:cs typeface="Arial" panose="020B0604020202020204" pitchFamily="34" charset="0"/>
              </a:rPr>
              <a:t>1 </a:t>
            </a:r>
            <a:r>
              <a:rPr lang="es-ES" dirty="0">
                <a:latin typeface="Arial" panose="020B0604020202020204" pitchFamily="34" charset="0"/>
                <a:cs typeface="Arial" panose="020B0604020202020204" pitchFamily="34" charset="0"/>
              </a:rPr>
              <a:t>y N</a:t>
            </a:r>
            <a:r>
              <a:rPr lang="es-ES" baseline="-25000" dirty="0">
                <a:latin typeface="Arial" panose="020B0604020202020204" pitchFamily="34" charset="0"/>
                <a:cs typeface="Arial" panose="020B0604020202020204" pitchFamily="34" charset="0"/>
              </a:rPr>
              <a:t>2 </a:t>
            </a:r>
            <a:r>
              <a:rPr lang="es-ES" dirty="0">
                <a:latin typeface="Arial" panose="020B0604020202020204" pitchFamily="34" charset="0"/>
                <a:cs typeface="Arial" panose="020B0604020202020204" pitchFamily="34" charset="0"/>
              </a:rPr>
              <a:t>son números primos de tamaño similar,       </a:t>
            </a:r>
          </a:p>
          <a:p>
            <a:pPr marL="0" lvl="1" algn="just"/>
            <a:r>
              <a:rPr lang="es-ES" b="1" dirty="0">
                <a:latin typeface="Arial" panose="020B0604020202020204" pitchFamily="34" charset="0"/>
                <a:cs typeface="Arial" panose="020B0604020202020204" pitchFamily="34" charset="0"/>
              </a:rPr>
              <a:t>     resulta muy difícil obtener </a:t>
            </a:r>
            <a:r>
              <a:rPr lang="es-AR" b="1" dirty="0">
                <a:latin typeface="Arial" panose="020B0604020202020204" pitchFamily="34" charset="0"/>
                <a:cs typeface="Arial" panose="020B0604020202020204" pitchFamily="34" charset="0"/>
              </a:rPr>
              <a:t>N</a:t>
            </a:r>
            <a:r>
              <a:rPr lang="es-ES" b="1" baseline="-25000" dirty="0">
                <a:latin typeface="Arial" panose="020B0604020202020204" pitchFamily="34" charset="0"/>
                <a:cs typeface="Arial" panose="020B0604020202020204" pitchFamily="34" charset="0"/>
              </a:rPr>
              <a:t>1 </a:t>
            </a:r>
            <a:r>
              <a:rPr lang="es-ES" b="1" dirty="0">
                <a:latin typeface="Arial" panose="020B0604020202020204" pitchFamily="34" charset="0"/>
                <a:cs typeface="Arial" panose="020B0604020202020204" pitchFamily="34" charset="0"/>
              </a:rPr>
              <a:t>y N</a:t>
            </a:r>
            <a:r>
              <a:rPr lang="es-ES" b="1" baseline="-25000" dirty="0">
                <a:latin typeface="Arial" panose="020B0604020202020204" pitchFamily="34" charset="0"/>
                <a:cs typeface="Arial" panose="020B0604020202020204" pitchFamily="34" charset="0"/>
              </a:rPr>
              <a:t>2 </a:t>
            </a:r>
            <a:r>
              <a:rPr lang="es-ES" b="1" dirty="0">
                <a:latin typeface="Arial" panose="020B0604020202020204" pitchFamily="34" charset="0"/>
                <a:cs typeface="Arial" panose="020B0604020202020204" pitchFamily="34" charset="0"/>
              </a:rPr>
              <a:t>conociendo solamente N. </a:t>
            </a:r>
          </a:p>
          <a:p>
            <a:pPr marL="0" lvl="1" algn="just"/>
            <a:endParaRPr lang="es-AR" sz="1900" b="1"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s-AR" dirty="0">
                <a:latin typeface="Arial" panose="020B0604020202020204" pitchFamily="34" charset="0"/>
                <a:cs typeface="Arial" panose="020B0604020202020204" pitchFamily="34" charset="0"/>
              </a:rPr>
              <a:t>En base a esto, un esquema de seguridad habitual consiste en </a:t>
            </a:r>
          </a:p>
          <a:p>
            <a:pPr marL="0" lvl="1"/>
            <a:r>
              <a:rPr lang="es-AR"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rPr>
              <a:t>encriptar mensajes con N </a:t>
            </a:r>
            <a:r>
              <a:rPr lang="es-AR" dirty="0">
                <a:latin typeface="Arial" panose="020B0604020202020204" pitchFamily="34" charset="0"/>
                <a:cs typeface="Arial" panose="020B0604020202020204" pitchFamily="34" charset="0"/>
              </a:rPr>
              <a:t>(que conoce todo el mundo), </a:t>
            </a:r>
          </a:p>
          <a:p>
            <a:pPr marL="0" lvl="1"/>
            <a:r>
              <a:rPr lang="es-AR" dirty="0">
                <a:latin typeface="Arial" panose="020B0604020202020204" pitchFamily="34" charset="0"/>
                <a:cs typeface="Arial" panose="020B0604020202020204" pitchFamily="34" charset="0"/>
              </a:rPr>
              <a:t>     y </a:t>
            </a:r>
            <a:r>
              <a:rPr lang="es-AR" b="1" dirty="0">
                <a:latin typeface="Arial" panose="020B0604020202020204" pitchFamily="34" charset="0"/>
                <a:cs typeface="Arial" panose="020B0604020202020204" pitchFamily="34" charset="0"/>
              </a:rPr>
              <a:t>desencriptarlos con N</a:t>
            </a:r>
            <a:r>
              <a:rPr lang="es-ES" b="1" baseline="-25000" dirty="0">
                <a:latin typeface="Arial" panose="020B0604020202020204" pitchFamily="34" charset="0"/>
                <a:cs typeface="Arial" panose="020B0604020202020204" pitchFamily="34" charset="0"/>
              </a:rPr>
              <a:t>1 </a:t>
            </a:r>
            <a:r>
              <a:rPr lang="es-ES" b="1" dirty="0">
                <a:latin typeface="Arial" panose="020B0604020202020204" pitchFamily="34" charset="0"/>
                <a:cs typeface="Arial" panose="020B0604020202020204" pitchFamily="34" charset="0"/>
              </a:rPr>
              <a:t>y N</a:t>
            </a:r>
            <a:r>
              <a:rPr lang="es-ES" b="1" baseline="-25000" dirty="0">
                <a:latin typeface="Arial" panose="020B0604020202020204" pitchFamily="34" charset="0"/>
                <a:cs typeface="Arial" panose="020B0604020202020204" pitchFamily="34" charset="0"/>
              </a:rPr>
              <a:t>2</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(qué sólo conoce el receptor)</a:t>
            </a:r>
          </a:p>
          <a:p>
            <a:pPr marL="0" lvl="1"/>
            <a:endParaRPr lang="es-ES" sz="19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s-AR" dirty="0">
                <a:latin typeface="Arial" panose="020B0604020202020204" pitchFamily="34" charset="0"/>
                <a:cs typeface="Arial" panose="020B0604020202020204" pitchFamily="34" charset="0"/>
              </a:rPr>
              <a:t>Si se probase que FACT está en P, habría que reemplazar dicho esquema de seguridad.</a:t>
            </a:r>
          </a:p>
          <a:p>
            <a:pPr marL="0" lvl="1"/>
            <a:endParaRPr lang="es-AR" sz="19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s-AR" dirty="0">
                <a:latin typeface="Arial" panose="020B0604020202020204" pitchFamily="34" charset="0"/>
                <a:cs typeface="Arial" panose="020B0604020202020204" pitchFamily="34" charset="0"/>
              </a:rPr>
              <a:t>En 1994, P. Shor encontró un </a:t>
            </a:r>
            <a:r>
              <a:rPr lang="es-AR" b="1" dirty="0">
                <a:latin typeface="Arial" panose="020B0604020202020204" pitchFamily="34" charset="0"/>
                <a:cs typeface="Arial" panose="020B0604020202020204" pitchFamily="34" charset="0"/>
              </a:rPr>
              <a:t>algoritmo cuántico </a:t>
            </a:r>
            <a:r>
              <a:rPr lang="es-AR" dirty="0">
                <a:latin typeface="Arial" panose="020B0604020202020204" pitchFamily="34" charset="0"/>
                <a:cs typeface="Arial" panose="020B0604020202020204" pitchFamily="34" charset="0"/>
              </a:rPr>
              <a:t>que factoriza los números en tiempo </a:t>
            </a:r>
            <a:r>
              <a:rPr lang="es-AR" b="1" dirty="0" err="1">
                <a:latin typeface="Arial" panose="020B0604020202020204" pitchFamily="34" charset="0"/>
                <a:cs typeface="Arial" panose="020B0604020202020204" pitchFamily="34" charset="0"/>
              </a:rPr>
              <a:t>poly</a:t>
            </a:r>
            <a:r>
              <a:rPr lang="es-AR" b="1" dirty="0">
                <a:latin typeface="Arial" panose="020B0604020202020204" pitchFamily="34" charset="0"/>
                <a:cs typeface="Arial" panose="020B0604020202020204" pitchFamily="34" charset="0"/>
              </a:rPr>
              <a:t>(n).</a:t>
            </a:r>
          </a:p>
          <a:p>
            <a:pPr marL="0" lvl="1"/>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¿Será que efectivamente lo cuántico acelera exponencialmente los algoritmos clásicos?</a:t>
            </a:r>
          </a:p>
          <a:p>
            <a:pPr marL="0" lvl="1"/>
            <a:r>
              <a:rPr lang="es-AR" dirty="0">
                <a:latin typeface="Arial" panose="020B0604020202020204" pitchFamily="34" charset="0"/>
                <a:cs typeface="Arial" panose="020B0604020202020204" pitchFamily="34" charset="0"/>
              </a:rPr>
              <a:t>     ¿O Será que la factorización está en P?     </a:t>
            </a:r>
          </a:p>
        </p:txBody>
      </p:sp>
      <p:sp>
        <p:nvSpPr>
          <p:cNvPr id="3" name="Slide Number Placeholder 2">
            <a:extLst>
              <a:ext uri="{FF2B5EF4-FFF2-40B4-BE49-F238E27FC236}">
                <a16:creationId xmlns:a16="http://schemas.microsoft.com/office/drawing/2014/main" id="{C4678C75-57F3-467E-AA72-7433C96A7A0A}"/>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57</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 name="Rectángulo 3">
            <a:extLst>
              <a:ext uri="{FF2B5EF4-FFF2-40B4-BE49-F238E27FC236}">
                <a16:creationId xmlns:a16="http://schemas.microsoft.com/office/drawing/2014/main" id="{E8AC55EA-7F3D-41ED-907F-0C912ECD636D}"/>
              </a:ext>
            </a:extLst>
          </p:cNvPr>
          <p:cNvSpPr/>
          <p:nvPr/>
        </p:nvSpPr>
        <p:spPr>
          <a:xfrm>
            <a:off x="7489300" y="3739218"/>
            <a:ext cx="3625768" cy="47939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CuadroTexto 5">
            <a:extLst>
              <a:ext uri="{FF2B5EF4-FFF2-40B4-BE49-F238E27FC236}">
                <a16:creationId xmlns:a16="http://schemas.microsoft.com/office/drawing/2014/main" id="{BA90A292-5040-470E-A43B-C66EAF5D08D8}"/>
              </a:ext>
            </a:extLst>
          </p:cNvPr>
          <p:cNvSpPr txBox="1"/>
          <p:nvPr/>
        </p:nvSpPr>
        <p:spPr>
          <a:xfrm>
            <a:off x="7553283" y="3840415"/>
            <a:ext cx="3497802" cy="276999"/>
          </a:xfrm>
          <a:prstGeom prst="rect">
            <a:avLst/>
          </a:prstGeom>
          <a:noFill/>
        </p:spPr>
        <p:txBody>
          <a:bodyPr wrap="square">
            <a:spAutoFit/>
          </a:bodyPr>
          <a:lstStyle/>
          <a:p>
            <a:r>
              <a:rPr lang="es-AR" sz="1200" dirty="0">
                <a:latin typeface="Arial" panose="020B0604020202020204" pitchFamily="34" charset="0"/>
                <a:cs typeface="Arial" panose="020B0604020202020204" pitchFamily="34" charset="0"/>
              </a:rPr>
              <a:t>1001111010100001110101110001111100101010</a:t>
            </a:r>
            <a:endParaRPr lang="es-AR" sz="1200" dirty="0"/>
          </a:p>
        </p:txBody>
      </p:sp>
      <p:sp>
        <p:nvSpPr>
          <p:cNvPr id="10" name="CuadroTexto 9">
            <a:extLst>
              <a:ext uri="{FF2B5EF4-FFF2-40B4-BE49-F238E27FC236}">
                <a16:creationId xmlns:a16="http://schemas.microsoft.com/office/drawing/2014/main" id="{8530D0CD-CB6A-4727-895E-8A78332D7E62}"/>
              </a:ext>
            </a:extLst>
          </p:cNvPr>
          <p:cNvSpPr txBox="1"/>
          <p:nvPr/>
        </p:nvSpPr>
        <p:spPr>
          <a:xfrm>
            <a:off x="7803891" y="3443215"/>
            <a:ext cx="3444342" cy="307777"/>
          </a:xfrm>
          <a:prstGeom prst="rect">
            <a:avLst/>
          </a:prstGeom>
          <a:noFill/>
        </p:spPr>
        <p:txBody>
          <a:bodyPr wrap="square">
            <a:spAutoFit/>
          </a:bodyPr>
          <a:lstStyle/>
          <a:p>
            <a:r>
              <a:rPr lang="es-AR" sz="1400" dirty="0">
                <a:solidFill>
                  <a:srgbClr val="7030A0"/>
                </a:solidFill>
                <a:latin typeface="Arial" panose="020B0604020202020204" pitchFamily="34" charset="0"/>
                <a:cs typeface="Arial" panose="020B0604020202020204" pitchFamily="34" charset="0"/>
              </a:rPr>
              <a:t>mensaje encriptado (sistema RSA)</a:t>
            </a:r>
            <a:endParaRPr lang="es-AR" sz="1400" dirty="0">
              <a:solidFill>
                <a:srgbClr val="7030A0"/>
              </a:solidFill>
            </a:endParaRPr>
          </a:p>
        </p:txBody>
      </p:sp>
      <p:sp>
        <p:nvSpPr>
          <p:cNvPr id="11" name="CuadroTexto 10">
            <a:extLst>
              <a:ext uri="{FF2B5EF4-FFF2-40B4-BE49-F238E27FC236}">
                <a16:creationId xmlns:a16="http://schemas.microsoft.com/office/drawing/2014/main" id="{D6DD88A8-D448-4F67-AC49-42A15393300B}"/>
              </a:ext>
            </a:extLst>
          </p:cNvPr>
          <p:cNvSpPr txBox="1"/>
          <p:nvPr/>
        </p:nvSpPr>
        <p:spPr>
          <a:xfrm>
            <a:off x="7559830" y="4278294"/>
            <a:ext cx="1629539"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se encripta con N</a:t>
            </a:r>
            <a:endParaRPr lang="es-AR" sz="1400" dirty="0"/>
          </a:p>
        </p:txBody>
      </p:sp>
      <p:sp>
        <p:nvSpPr>
          <p:cNvPr id="12" name="CuadroTexto 11">
            <a:extLst>
              <a:ext uri="{FF2B5EF4-FFF2-40B4-BE49-F238E27FC236}">
                <a16:creationId xmlns:a16="http://schemas.microsoft.com/office/drawing/2014/main" id="{2F1643FE-DDCA-4DD2-B699-74A842FE2892}"/>
              </a:ext>
            </a:extLst>
          </p:cNvPr>
          <p:cNvSpPr txBox="1"/>
          <p:nvPr/>
        </p:nvSpPr>
        <p:spPr>
          <a:xfrm>
            <a:off x="7553283" y="4521605"/>
            <a:ext cx="2342956" cy="307777"/>
          </a:xfrm>
          <a:prstGeom prst="rect">
            <a:avLst/>
          </a:prstGeom>
          <a:noFill/>
        </p:spPr>
        <p:txBody>
          <a:bodyPr wrap="square">
            <a:spAutoFit/>
          </a:bodyPr>
          <a:lstStyle/>
          <a:p>
            <a:r>
              <a:rPr lang="es-AR" sz="1400" dirty="0">
                <a:latin typeface="Arial" panose="020B0604020202020204" pitchFamily="34" charset="0"/>
                <a:cs typeface="Arial" panose="020B0604020202020204" pitchFamily="34" charset="0"/>
              </a:rPr>
              <a:t>se desencripta con N</a:t>
            </a:r>
            <a:r>
              <a:rPr lang="es-ES" sz="1400" baseline="-25000" dirty="0">
                <a:latin typeface="Arial" panose="020B0604020202020204" pitchFamily="34" charset="0"/>
                <a:cs typeface="Arial" panose="020B0604020202020204" pitchFamily="34" charset="0"/>
              </a:rPr>
              <a:t>1 </a:t>
            </a:r>
            <a:r>
              <a:rPr lang="es-ES" sz="1400" dirty="0">
                <a:latin typeface="Arial" panose="020B0604020202020204" pitchFamily="34" charset="0"/>
                <a:cs typeface="Arial" panose="020B0604020202020204" pitchFamily="34" charset="0"/>
              </a:rPr>
              <a:t>y N</a:t>
            </a:r>
            <a:r>
              <a:rPr lang="es-ES" sz="1400" baseline="-25000" dirty="0">
                <a:latin typeface="Arial" panose="020B0604020202020204" pitchFamily="34" charset="0"/>
                <a:cs typeface="Arial" panose="020B0604020202020204" pitchFamily="34" charset="0"/>
              </a:rPr>
              <a:t>2</a:t>
            </a:r>
          </a:p>
        </p:txBody>
      </p:sp>
      <p:sp>
        <p:nvSpPr>
          <p:cNvPr id="14" name="CuadroTexto 13">
            <a:extLst>
              <a:ext uri="{FF2B5EF4-FFF2-40B4-BE49-F238E27FC236}">
                <a16:creationId xmlns:a16="http://schemas.microsoft.com/office/drawing/2014/main" id="{3A373FA8-3428-4CCE-A21F-EA9AEBAFD19D}"/>
              </a:ext>
            </a:extLst>
          </p:cNvPr>
          <p:cNvSpPr txBox="1"/>
          <p:nvPr/>
        </p:nvSpPr>
        <p:spPr>
          <a:xfrm>
            <a:off x="9804430" y="4521605"/>
            <a:ext cx="1629539" cy="307777"/>
          </a:xfrm>
          <a:prstGeom prst="rect">
            <a:avLst/>
          </a:prstGeom>
          <a:noFill/>
        </p:spPr>
        <p:txBody>
          <a:bodyPr wrap="square">
            <a:spAutoFit/>
          </a:bodyPr>
          <a:lstStyle/>
          <a:p>
            <a:pPr marL="0" lvl="1"/>
            <a:r>
              <a:rPr lang="es-AR" sz="1400" dirty="0">
                <a:solidFill>
                  <a:srgbClr val="7030A0"/>
                </a:solidFill>
                <a:latin typeface="Arial" panose="020B0604020202020204" pitchFamily="34" charset="0"/>
                <a:cs typeface="Arial" panose="020B0604020202020204" pitchFamily="34" charset="0"/>
              </a:rPr>
              <a:t>clave privada</a:t>
            </a:r>
            <a:endParaRPr lang="es-ES" sz="1400" dirty="0">
              <a:solidFill>
                <a:srgbClr val="7030A0"/>
              </a:solidFill>
              <a:latin typeface="Arial" panose="020B0604020202020204" pitchFamily="34" charset="0"/>
              <a:cs typeface="Arial" panose="020B0604020202020204" pitchFamily="34" charset="0"/>
            </a:endParaRPr>
          </a:p>
        </p:txBody>
      </p:sp>
      <p:sp>
        <p:nvSpPr>
          <p:cNvPr id="15" name="CuadroTexto 14">
            <a:extLst>
              <a:ext uri="{FF2B5EF4-FFF2-40B4-BE49-F238E27FC236}">
                <a16:creationId xmlns:a16="http://schemas.microsoft.com/office/drawing/2014/main" id="{27F9BBF0-29AF-4C7A-9331-90D836025318}"/>
              </a:ext>
            </a:extLst>
          </p:cNvPr>
          <p:cNvSpPr txBox="1"/>
          <p:nvPr/>
        </p:nvSpPr>
        <p:spPr>
          <a:xfrm>
            <a:off x="9818715" y="4240803"/>
            <a:ext cx="1296141" cy="307777"/>
          </a:xfrm>
          <a:prstGeom prst="rect">
            <a:avLst/>
          </a:prstGeom>
          <a:noFill/>
        </p:spPr>
        <p:txBody>
          <a:bodyPr wrap="square">
            <a:spAutoFit/>
          </a:bodyPr>
          <a:lstStyle/>
          <a:p>
            <a:pPr marL="0" lvl="1"/>
            <a:r>
              <a:rPr lang="es-AR" sz="1400" dirty="0">
                <a:solidFill>
                  <a:srgbClr val="7030A0"/>
                </a:solidFill>
                <a:latin typeface="Arial" panose="020B0604020202020204" pitchFamily="34" charset="0"/>
                <a:cs typeface="Arial" panose="020B0604020202020204" pitchFamily="34" charset="0"/>
              </a:rPr>
              <a:t>clave pública</a:t>
            </a:r>
            <a:endParaRPr lang="es-ES" sz="1400" dirty="0">
              <a:solidFill>
                <a:srgbClr val="7030A0"/>
              </a:solidFill>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5E8CECE-78A0-13E7-0BB6-DD835D7F5452}"/>
              </a:ext>
            </a:extLst>
          </p:cNvPr>
          <p:cNvSpPr/>
          <p:nvPr/>
        </p:nvSpPr>
        <p:spPr>
          <a:xfrm>
            <a:off x="10475587" y="2069781"/>
            <a:ext cx="412292"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no</a:t>
            </a:r>
            <a:endParaRPr lang="es-MX" sz="1600" dirty="0"/>
          </a:p>
        </p:txBody>
      </p:sp>
      <p:sp>
        <p:nvSpPr>
          <p:cNvPr id="8" name="Rectángulo 7">
            <a:extLst>
              <a:ext uri="{FF2B5EF4-FFF2-40B4-BE49-F238E27FC236}">
                <a16:creationId xmlns:a16="http://schemas.microsoft.com/office/drawing/2014/main" id="{53EA28B3-59F2-5807-D249-FF9D41AF1FD1}"/>
              </a:ext>
            </a:extLst>
          </p:cNvPr>
          <p:cNvSpPr/>
          <p:nvPr/>
        </p:nvSpPr>
        <p:spPr>
          <a:xfrm>
            <a:off x="10449792" y="1753674"/>
            <a:ext cx="344966"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sí</a:t>
            </a:r>
            <a:endParaRPr lang="es-MX" sz="1600" dirty="0"/>
          </a:p>
        </p:txBody>
      </p:sp>
      <p:sp>
        <p:nvSpPr>
          <p:cNvPr id="9" name="Rectángulo 8">
            <a:extLst>
              <a:ext uri="{FF2B5EF4-FFF2-40B4-BE49-F238E27FC236}">
                <a16:creationId xmlns:a16="http://schemas.microsoft.com/office/drawing/2014/main" id="{E81AD4DE-5334-0FA2-2891-0E2110634B06}"/>
              </a:ext>
            </a:extLst>
          </p:cNvPr>
          <p:cNvSpPr/>
          <p:nvPr/>
        </p:nvSpPr>
        <p:spPr>
          <a:xfrm>
            <a:off x="9530118" y="1865437"/>
            <a:ext cx="578379" cy="6008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3" name="Conector recto de flecha 12">
            <a:extLst>
              <a:ext uri="{FF2B5EF4-FFF2-40B4-BE49-F238E27FC236}">
                <a16:creationId xmlns:a16="http://schemas.microsoft.com/office/drawing/2014/main" id="{C71A9768-83C2-492B-5FEC-9B0AEFAE9CD3}"/>
              </a:ext>
            </a:extLst>
          </p:cNvPr>
          <p:cNvCxnSpPr>
            <a:cxnSpLocks/>
          </p:cNvCxnSpPr>
          <p:nvPr/>
        </p:nvCxnSpPr>
        <p:spPr>
          <a:xfrm>
            <a:off x="8398964" y="2166213"/>
            <a:ext cx="11311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684267B3-E709-046A-D5D6-75841E68F961}"/>
              </a:ext>
            </a:extLst>
          </p:cNvPr>
          <p:cNvCxnSpPr>
            <a:cxnSpLocks/>
          </p:cNvCxnSpPr>
          <p:nvPr/>
        </p:nvCxnSpPr>
        <p:spPr>
          <a:xfrm>
            <a:off x="10111385" y="2170152"/>
            <a:ext cx="364202" cy="1196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ítulo 1">
            <a:extLst>
              <a:ext uri="{FF2B5EF4-FFF2-40B4-BE49-F238E27FC236}">
                <a16:creationId xmlns:a16="http://schemas.microsoft.com/office/drawing/2014/main" id="{8E12709C-E929-96EA-285C-C2128863815B}"/>
              </a:ext>
            </a:extLst>
          </p:cNvPr>
          <p:cNvSpPr txBox="1">
            <a:spLocks/>
          </p:cNvSpPr>
          <p:nvPr/>
        </p:nvSpPr>
        <p:spPr>
          <a:xfrm>
            <a:off x="8317123" y="1896867"/>
            <a:ext cx="1925561" cy="244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latin typeface="Arial" panose="020B0604020202020204" pitchFamily="34" charset="0"/>
                <a:cs typeface="Arial" panose="020B0604020202020204" pitchFamily="34" charset="0"/>
              </a:rPr>
              <a:t>(N, M</a:t>
            </a:r>
            <a:r>
              <a:rPr lang="es-ES" sz="1600" baseline="-25000" dirty="0">
                <a:latin typeface="Arial" panose="020B0604020202020204" pitchFamily="34" charset="0"/>
                <a:cs typeface="Arial" panose="020B0604020202020204" pitchFamily="34" charset="0"/>
              </a:rPr>
              <a:t>1</a:t>
            </a:r>
            <a:r>
              <a:rPr lang="es-AR" sz="1600" dirty="0">
                <a:latin typeface="Arial" panose="020B0604020202020204" pitchFamily="34" charset="0"/>
                <a:cs typeface="Arial" panose="020B0604020202020204" pitchFamily="34" charset="0"/>
              </a:rPr>
              <a:t>, M</a:t>
            </a:r>
            <a:r>
              <a:rPr lang="es-ES" sz="1600" baseline="-25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a:t>
            </a:r>
            <a:endParaRPr lang="es-MX" sz="1600" dirty="0">
              <a:latin typeface="Arial" panose="020B0604020202020204" pitchFamily="34" charset="0"/>
              <a:cs typeface="Arial" panose="020B0604020202020204" pitchFamily="34" charset="0"/>
            </a:endParaRPr>
          </a:p>
        </p:txBody>
      </p:sp>
      <p:cxnSp>
        <p:nvCxnSpPr>
          <p:cNvPr id="18" name="Conector recto de flecha 17">
            <a:extLst>
              <a:ext uri="{FF2B5EF4-FFF2-40B4-BE49-F238E27FC236}">
                <a16:creationId xmlns:a16="http://schemas.microsoft.com/office/drawing/2014/main" id="{B023A8A2-03DA-531D-BB8C-656C9F23C17F}"/>
              </a:ext>
            </a:extLst>
          </p:cNvPr>
          <p:cNvCxnSpPr>
            <a:cxnSpLocks/>
          </p:cNvCxnSpPr>
          <p:nvPr/>
        </p:nvCxnSpPr>
        <p:spPr>
          <a:xfrm flipV="1">
            <a:off x="10114294" y="1973350"/>
            <a:ext cx="361293" cy="192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ítulo 1">
            <a:extLst>
              <a:ext uri="{FF2B5EF4-FFF2-40B4-BE49-F238E27FC236}">
                <a16:creationId xmlns:a16="http://schemas.microsoft.com/office/drawing/2014/main" id="{E6073EF9-DA50-B34D-7759-A7029209D75D}"/>
              </a:ext>
            </a:extLst>
          </p:cNvPr>
          <p:cNvSpPr txBox="1">
            <a:spLocks/>
          </p:cNvSpPr>
          <p:nvPr/>
        </p:nvSpPr>
        <p:spPr>
          <a:xfrm>
            <a:off x="9612358" y="1997499"/>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600" dirty="0">
              <a:latin typeface="Arial" panose="020B0604020202020204" pitchFamily="34" charset="0"/>
              <a:cs typeface="Arial" panose="020B0604020202020204" pitchFamily="34" charset="0"/>
            </a:endParaRPr>
          </a:p>
        </p:txBody>
      </p:sp>
      <p:sp>
        <p:nvSpPr>
          <p:cNvPr id="26" name="Rectángulo 25">
            <a:extLst>
              <a:ext uri="{FF2B5EF4-FFF2-40B4-BE49-F238E27FC236}">
                <a16:creationId xmlns:a16="http://schemas.microsoft.com/office/drawing/2014/main" id="{0FF56606-868C-CEAF-AE25-DA45985830AD}"/>
              </a:ext>
            </a:extLst>
          </p:cNvPr>
          <p:cNvSpPr/>
          <p:nvPr/>
        </p:nvSpPr>
        <p:spPr>
          <a:xfrm>
            <a:off x="8930161" y="795458"/>
            <a:ext cx="578379" cy="6008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7" name="Conector recto de flecha 26">
            <a:extLst>
              <a:ext uri="{FF2B5EF4-FFF2-40B4-BE49-F238E27FC236}">
                <a16:creationId xmlns:a16="http://schemas.microsoft.com/office/drawing/2014/main" id="{CCAEAEB2-0730-F5A1-FCFF-E8B503EC972E}"/>
              </a:ext>
            </a:extLst>
          </p:cNvPr>
          <p:cNvCxnSpPr>
            <a:cxnSpLocks/>
          </p:cNvCxnSpPr>
          <p:nvPr/>
        </p:nvCxnSpPr>
        <p:spPr>
          <a:xfrm>
            <a:off x="8416878" y="1092084"/>
            <a:ext cx="51328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ítulo 1">
            <a:extLst>
              <a:ext uri="{FF2B5EF4-FFF2-40B4-BE49-F238E27FC236}">
                <a16:creationId xmlns:a16="http://schemas.microsoft.com/office/drawing/2014/main" id="{572DEF05-EF27-854D-AAB6-97C3A8339F17}"/>
              </a:ext>
            </a:extLst>
          </p:cNvPr>
          <p:cNvSpPr txBox="1">
            <a:spLocks/>
          </p:cNvSpPr>
          <p:nvPr/>
        </p:nvSpPr>
        <p:spPr>
          <a:xfrm>
            <a:off x="8367093" y="837372"/>
            <a:ext cx="1925561" cy="244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latin typeface="Arial" panose="020B0604020202020204" pitchFamily="34" charset="0"/>
                <a:cs typeface="Arial" panose="020B0604020202020204" pitchFamily="34" charset="0"/>
              </a:rPr>
              <a:t>180</a:t>
            </a:r>
            <a:endParaRPr lang="es-MX" sz="1600" dirty="0">
              <a:latin typeface="Arial" panose="020B0604020202020204" pitchFamily="34" charset="0"/>
              <a:cs typeface="Arial" panose="020B0604020202020204" pitchFamily="34" charset="0"/>
            </a:endParaRPr>
          </a:p>
        </p:txBody>
      </p:sp>
      <p:cxnSp>
        <p:nvCxnSpPr>
          <p:cNvPr id="30" name="Conector recto de flecha 29">
            <a:extLst>
              <a:ext uri="{FF2B5EF4-FFF2-40B4-BE49-F238E27FC236}">
                <a16:creationId xmlns:a16="http://schemas.microsoft.com/office/drawing/2014/main" id="{F8AD23BF-AA9D-D146-F610-F499A8E3DB7B}"/>
              </a:ext>
            </a:extLst>
          </p:cNvPr>
          <p:cNvCxnSpPr>
            <a:cxnSpLocks/>
          </p:cNvCxnSpPr>
          <p:nvPr/>
        </p:nvCxnSpPr>
        <p:spPr>
          <a:xfrm flipV="1">
            <a:off x="9514337" y="1081569"/>
            <a:ext cx="1153322" cy="146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ítulo 1">
            <a:extLst>
              <a:ext uri="{FF2B5EF4-FFF2-40B4-BE49-F238E27FC236}">
                <a16:creationId xmlns:a16="http://schemas.microsoft.com/office/drawing/2014/main" id="{D882CAC5-FF1E-C031-886C-D30147F412DD}"/>
              </a:ext>
            </a:extLst>
          </p:cNvPr>
          <p:cNvSpPr txBox="1">
            <a:spLocks/>
          </p:cNvSpPr>
          <p:nvPr/>
        </p:nvSpPr>
        <p:spPr>
          <a:xfrm>
            <a:off x="9012401" y="927520"/>
            <a:ext cx="567762" cy="3164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sz="1600" dirty="0">
                <a:solidFill>
                  <a:srgbClr val="000000"/>
                </a:solidFill>
                <a:latin typeface="Arial" panose="020B0604020202020204" pitchFamily="34" charset="0"/>
                <a:ea typeface="Times New Roman" panose="02020603050405020304" pitchFamily="18" charset="0"/>
                <a:cs typeface="Arial" panose="020B0604020202020204" pitchFamily="34" charset="0"/>
              </a:rPr>
              <a:t>M</a:t>
            </a:r>
            <a:endParaRPr lang="es-MX" sz="1600" dirty="0">
              <a:latin typeface="Arial" panose="020B0604020202020204" pitchFamily="34" charset="0"/>
              <a:cs typeface="Arial" panose="020B0604020202020204" pitchFamily="34" charset="0"/>
            </a:endParaRPr>
          </a:p>
        </p:txBody>
      </p:sp>
      <p:sp>
        <p:nvSpPr>
          <p:cNvPr id="36" name="CuadroTexto 35">
            <a:extLst>
              <a:ext uri="{FF2B5EF4-FFF2-40B4-BE49-F238E27FC236}">
                <a16:creationId xmlns:a16="http://schemas.microsoft.com/office/drawing/2014/main" id="{39BAE9F5-3EA1-A7E6-B84F-FC1B579A93A8}"/>
              </a:ext>
            </a:extLst>
          </p:cNvPr>
          <p:cNvSpPr txBox="1"/>
          <p:nvPr/>
        </p:nvSpPr>
        <p:spPr>
          <a:xfrm>
            <a:off x="9508540" y="780825"/>
            <a:ext cx="1522962" cy="338554"/>
          </a:xfrm>
          <a:prstGeom prst="rect">
            <a:avLst/>
          </a:prstGeom>
          <a:noFill/>
        </p:spPr>
        <p:txBody>
          <a:bodyPr wrap="square">
            <a:spAutoFit/>
          </a:bodyPr>
          <a:lstStyle/>
          <a:p>
            <a:r>
              <a:rPr lang="es-AR" sz="1600" dirty="0">
                <a:latin typeface="Arial" panose="020B0604020202020204" pitchFamily="34" charset="0"/>
                <a:cs typeface="Arial" panose="020B0604020202020204" pitchFamily="34" charset="0"/>
              </a:rPr>
              <a:t>2</a:t>
            </a:r>
            <a:r>
              <a:rPr lang="es-AR" sz="1600" baseline="30000" dirty="0">
                <a:latin typeface="Arial" panose="020B0604020202020204" pitchFamily="34" charset="0"/>
                <a:cs typeface="Arial" panose="020B0604020202020204" pitchFamily="34" charset="0"/>
              </a:rPr>
              <a:t>2 </a:t>
            </a:r>
            <a:r>
              <a:rPr lang="es-AR" sz="1600" dirty="0">
                <a:latin typeface="Arial" panose="020B0604020202020204" pitchFamily="34" charset="0"/>
                <a:cs typeface="Arial" panose="020B0604020202020204" pitchFamily="34" charset="0"/>
              </a:rPr>
              <a:t>x 3</a:t>
            </a:r>
            <a:r>
              <a:rPr lang="es-AR" sz="1600" baseline="30000" dirty="0">
                <a:latin typeface="Arial" panose="020B0604020202020204" pitchFamily="34" charset="0"/>
                <a:cs typeface="Arial" panose="020B0604020202020204" pitchFamily="34" charset="0"/>
              </a:rPr>
              <a:t>2</a:t>
            </a:r>
            <a:r>
              <a:rPr lang="es-AR" sz="1600" dirty="0">
                <a:latin typeface="Arial" panose="020B0604020202020204" pitchFamily="34" charset="0"/>
                <a:cs typeface="Arial" panose="020B0604020202020204" pitchFamily="34" charset="0"/>
              </a:rPr>
              <a:t> x 5 </a:t>
            </a:r>
            <a:endParaRPr lang="es-AR" sz="1600" dirty="0"/>
          </a:p>
        </p:txBody>
      </p:sp>
    </p:spTree>
    <p:extLst>
      <p:ext uri="{BB962C8B-B14F-4D97-AF65-F5344CB8AC3E}">
        <p14:creationId xmlns:p14="http://schemas.microsoft.com/office/powerpoint/2010/main" val="10030416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76C76192-A96A-4FD8-B11D-DCEB3F2D28F9}"/>
              </a:ext>
            </a:extLst>
          </p:cNvPr>
          <p:cNvSpPr/>
          <p:nvPr/>
        </p:nvSpPr>
        <p:spPr>
          <a:xfrm>
            <a:off x="205561" y="4336779"/>
            <a:ext cx="5994140" cy="2108269"/>
          </a:xfrm>
          <a:prstGeom prst="rect">
            <a:avLst/>
          </a:prstGeom>
        </p:spPr>
        <p:txBody>
          <a:bodyPr wrap="square">
            <a:spAutoFit/>
          </a:bodyPr>
          <a:lstStyle/>
          <a:p>
            <a:r>
              <a:rPr lang="es-AR" b="1" dirty="0">
                <a:latin typeface="Arial" panose="020B0604020202020204" pitchFamily="34" charset="0"/>
                <a:cs typeface="Arial" panose="020B0604020202020204" pitchFamily="34" charset="0"/>
              </a:rPr>
              <a:t>Jerarquía de lenguajes (de menor a mayor dificultad) </a:t>
            </a:r>
          </a:p>
          <a:p>
            <a:endParaRPr lang="es-AR" sz="500" b="1" dirty="0">
              <a:latin typeface="Arial" panose="020B0604020202020204" pitchFamily="34" charset="0"/>
              <a:cs typeface="Arial" panose="020B0604020202020204" pitchFamily="34" charset="0"/>
            </a:endParaRPr>
          </a:p>
          <a:p>
            <a:pPr marL="1828800" lvl="8" indent="-342900">
              <a:buAutoNum type="arabicParenR"/>
            </a:pPr>
            <a:r>
              <a:rPr lang="es-AR" dirty="0">
                <a:latin typeface="Arial" panose="020B0604020202020204" pitchFamily="34" charset="0"/>
                <a:cs typeface="Arial" panose="020B0604020202020204" pitchFamily="34" charset="0"/>
              </a:rPr>
              <a:t>P</a:t>
            </a:r>
          </a:p>
          <a:p>
            <a:pPr marL="1828800" lvl="8" indent="-342900">
              <a:buAutoNum type="arabicParenR"/>
            </a:pPr>
            <a:r>
              <a:rPr lang="es-AR" dirty="0">
                <a:latin typeface="Arial" panose="020B0604020202020204" pitchFamily="34" charset="0"/>
                <a:cs typeface="Arial" panose="020B0604020202020204" pitchFamily="34" charset="0"/>
              </a:rPr>
              <a:t>(NP ⋂ CO-NP) – P</a:t>
            </a:r>
          </a:p>
          <a:p>
            <a:pPr marL="1828800" lvl="8" indent="-342900">
              <a:buFontTx/>
              <a:buAutoNum type="arabicParenR"/>
            </a:pPr>
            <a:r>
              <a:rPr lang="es-AR" dirty="0">
                <a:latin typeface="Arial" panose="020B0604020202020204" pitchFamily="34" charset="0"/>
                <a:cs typeface="Arial" panose="020B0604020202020204" pitchFamily="34" charset="0"/>
              </a:rPr>
              <a:t>NPI - CO-NP</a:t>
            </a:r>
          </a:p>
          <a:p>
            <a:pPr marL="1828800" lvl="8" indent="-342900">
              <a:buAutoNum type="arabicParenR"/>
            </a:pPr>
            <a:r>
              <a:rPr lang="es-AR" dirty="0">
                <a:latin typeface="Arial" panose="020B0604020202020204" pitchFamily="34" charset="0"/>
                <a:cs typeface="Arial" panose="020B0604020202020204" pitchFamily="34" charset="0"/>
              </a:rPr>
              <a:t>NPC</a:t>
            </a:r>
          </a:p>
          <a:p>
            <a:pPr marL="1828800" lvl="8" indent="-342900">
              <a:buFontTx/>
              <a:buAutoNum type="arabicParenR"/>
            </a:pPr>
            <a:r>
              <a:rPr lang="es-AR" dirty="0">
                <a:latin typeface="Arial" panose="020B0604020202020204" pitchFamily="34" charset="0"/>
                <a:cs typeface="Arial" panose="020B0604020202020204" pitchFamily="34" charset="0"/>
              </a:rPr>
              <a:t>CO-NPI – NP</a:t>
            </a:r>
          </a:p>
          <a:p>
            <a:pPr marL="1828800" lvl="8" indent="-342900">
              <a:buFontTx/>
              <a:buAutoNum type="arabicParenR"/>
            </a:pPr>
            <a:r>
              <a:rPr lang="es-AR" dirty="0">
                <a:latin typeface="Arial" panose="020B0604020202020204" pitchFamily="34" charset="0"/>
                <a:cs typeface="Arial" panose="020B0604020202020204" pitchFamily="34" charset="0"/>
              </a:rPr>
              <a:t>CO-NPC</a:t>
            </a:r>
          </a:p>
        </p:txBody>
      </p:sp>
      <p:sp>
        <p:nvSpPr>
          <p:cNvPr id="10" name="Diagrama de flujo: conector 9">
            <a:extLst>
              <a:ext uri="{FF2B5EF4-FFF2-40B4-BE49-F238E27FC236}">
                <a16:creationId xmlns:a16="http://schemas.microsoft.com/office/drawing/2014/main" id="{06E78EB6-5875-40EB-989C-ADFB5A5D1869}"/>
              </a:ext>
            </a:extLst>
          </p:cNvPr>
          <p:cNvSpPr/>
          <p:nvPr/>
        </p:nvSpPr>
        <p:spPr>
          <a:xfrm>
            <a:off x="521327" y="948539"/>
            <a:ext cx="5897508" cy="2517036"/>
          </a:xfrm>
          <a:prstGeom prst="flowChartConnector">
            <a:avLst/>
          </a:prstGeom>
          <a:solidFill>
            <a:schemeClr val="bg1"/>
          </a:solid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Diagrama de flujo: conector 20">
            <a:extLst>
              <a:ext uri="{FF2B5EF4-FFF2-40B4-BE49-F238E27FC236}">
                <a16:creationId xmlns:a16="http://schemas.microsoft.com/office/drawing/2014/main" id="{3F09AF73-F794-4C08-A066-6EB4B97A16D9}"/>
              </a:ext>
            </a:extLst>
          </p:cNvPr>
          <p:cNvSpPr/>
          <p:nvPr/>
        </p:nvSpPr>
        <p:spPr>
          <a:xfrm>
            <a:off x="3634496" y="880449"/>
            <a:ext cx="5793685" cy="2548551"/>
          </a:xfrm>
          <a:prstGeom prst="flowChartConnector">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Diagrama de flujo: conector 24">
            <a:extLst>
              <a:ext uri="{FF2B5EF4-FFF2-40B4-BE49-F238E27FC236}">
                <a16:creationId xmlns:a16="http://schemas.microsoft.com/office/drawing/2014/main" id="{05E36FA1-E3DA-4363-88D3-950A0A5A5C1F}"/>
              </a:ext>
            </a:extLst>
          </p:cNvPr>
          <p:cNvSpPr/>
          <p:nvPr/>
        </p:nvSpPr>
        <p:spPr>
          <a:xfrm>
            <a:off x="3795079" y="1406426"/>
            <a:ext cx="2430071" cy="1278230"/>
          </a:xfrm>
          <a:prstGeom prst="flowChartConnector">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Rectángulo 32">
            <a:extLst>
              <a:ext uri="{FF2B5EF4-FFF2-40B4-BE49-F238E27FC236}">
                <a16:creationId xmlns:a16="http://schemas.microsoft.com/office/drawing/2014/main" id="{C503C951-D759-4573-9E3B-A4EF6C3E9BF5}"/>
              </a:ext>
            </a:extLst>
          </p:cNvPr>
          <p:cNvSpPr/>
          <p:nvPr/>
        </p:nvSpPr>
        <p:spPr>
          <a:xfrm>
            <a:off x="4236080" y="3463194"/>
            <a:ext cx="2584169" cy="738664"/>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Asumiendo</a:t>
            </a:r>
            <a:r>
              <a:rPr lang="es-MX" sz="1400" dirty="0">
                <a:latin typeface="Arial" panose="020B0604020202020204" pitchFamily="34" charset="0"/>
                <a:cs typeface="Arial" panose="020B0604020202020204" pitchFamily="34" charset="0"/>
              </a:rPr>
              <a:t> P </a:t>
            </a:r>
            <a:r>
              <a:rPr lang="es-AR" sz="1400" dirty="0">
                <a:latin typeface="Arial" panose="020B0604020202020204" pitchFamily="34" charset="0"/>
                <a:cs typeface="Arial" panose="020B0604020202020204" pitchFamily="34" charset="0"/>
                <a:sym typeface="Symbol" panose="05050102010706020507" pitchFamily="18" charset="2"/>
              </a:rPr>
              <a:t> NP</a:t>
            </a:r>
          </a:p>
          <a:p>
            <a:r>
              <a:rPr lang="es-AR" sz="1400" dirty="0">
                <a:latin typeface="Arial" panose="020B0604020202020204" pitchFamily="34" charset="0"/>
                <a:cs typeface="Arial" panose="020B0604020202020204" pitchFamily="34" charset="0"/>
                <a:sym typeface="Symbol" panose="05050102010706020507" pitchFamily="18" charset="2"/>
              </a:rPr>
              <a:t>Asumiendo P</a:t>
            </a:r>
            <a:r>
              <a:rPr lang="es-ES" sz="1400" dirty="0">
                <a:latin typeface="Arial" panose="020B0604020202020204" pitchFamily="34" charset="0"/>
                <a:cs typeface="Arial" panose="020B0604020202020204" pitchFamily="34" charset="0"/>
              </a:rPr>
              <a:t> </a:t>
            </a:r>
            <a:r>
              <a:rPr lang="es-AR" sz="1400" dirty="0">
                <a:latin typeface="Arial" panose="020B0604020202020204" pitchFamily="34" charset="0"/>
                <a:cs typeface="Arial" panose="020B0604020202020204" pitchFamily="34" charset="0"/>
                <a:sym typeface="Symbol" panose="05050102010706020507" pitchFamily="18" charset="2"/>
              </a:rPr>
              <a:t> </a:t>
            </a:r>
            <a:r>
              <a:rPr lang="es-ES" sz="1400" dirty="0">
                <a:latin typeface="Arial" panose="020B0604020202020204" pitchFamily="34" charset="0"/>
                <a:cs typeface="Arial" panose="020B0604020202020204" pitchFamily="34" charset="0"/>
              </a:rPr>
              <a:t>NP </a:t>
            </a:r>
            <a:r>
              <a:rPr lang="es-AR" sz="1400" dirty="0">
                <a:latin typeface="Arial" panose="020B0604020202020204" pitchFamily="34" charset="0"/>
                <a:cs typeface="Arial" panose="020B0604020202020204" pitchFamily="34" charset="0"/>
              </a:rPr>
              <a:t>⋂ CO-NP</a:t>
            </a:r>
            <a:r>
              <a:rPr lang="es-AR" sz="1400" dirty="0">
                <a:latin typeface="Arial" panose="020B0604020202020204" pitchFamily="34" charset="0"/>
                <a:cs typeface="Arial" panose="020B0604020202020204" pitchFamily="34" charset="0"/>
                <a:sym typeface="Symbol" panose="05050102010706020507" pitchFamily="18" charset="2"/>
              </a:rPr>
              <a:t> </a:t>
            </a:r>
          </a:p>
          <a:p>
            <a:r>
              <a:rPr lang="es-AR" sz="1400" dirty="0">
                <a:latin typeface="Arial" panose="020B0604020202020204" pitchFamily="34" charset="0"/>
                <a:cs typeface="Arial" panose="020B0604020202020204" pitchFamily="34" charset="0"/>
                <a:sym typeface="Symbol" panose="05050102010706020507" pitchFamily="18" charset="2"/>
              </a:rPr>
              <a:t>Asumiendo NP </a:t>
            </a:r>
            <a:r>
              <a:rPr lang="es-AR" sz="1400" dirty="0">
                <a:latin typeface="Arial" panose="020B0604020202020204" pitchFamily="34" charset="0"/>
                <a:cs typeface="Arial" panose="020B0604020202020204" pitchFamily="34" charset="0"/>
              </a:rPr>
              <a:t>≠ </a:t>
            </a:r>
            <a:r>
              <a:rPr lang="es-AR" sz="1400" dirty="0">
                <a:latin typeface="Arial" panose="020B0604020202020204" pitchFamily="34" charset="0"/>
                <a:cs typeface="Arial" panose="020B0604020202020204" pitchFamily="34" charset="0"/>
                <a:sym typeface="Symbol" panose="05050102010706020507" pitchFamily="18" charset="2"/>
              </a:rPr>
              <a:t>CO-NP</a:t>
            </a:r>
            <a:r>
              <a:rPr lang="es-AR" sz="1400" dirty="0">
                <a:latin typeface="Arial" panose="020B0604020202020204" pitchFamily="34" charset="0"/>
                <a:cs typeface="Arial" panose="020B0604020202020204" pitchFamily="34" charset="0"/>
              </a:rPr>
              <a:t>  </a:t>
            </a:r>
            <a:endParaRPr lang="es-MX" sz="1400" dirty="0"/>
          </a:p>
        </p:txBody>
      </p:sp>
      <p:sp>
        <p:nvSpPr>
          <p:cNvPr id="3" name="Rectángulo 2">
            <a:extLst>
              <a:ext uri="{FF2B5EF4-FFF2-40B4-BE49-F238E27FC236}">
                <a16:creationId xmlns:a16="http://schemas.microsoft.com/office/drawing/2014/main" id="{3702AE5A-004C-0267-9A36-EB01D2A3F74F}"/>
              </a:ext>
            </a:extLst>
          </p:cNvPr>
          <p:cNvSpPr/>
          <p:nvPr/>
        </p:nvSpPr>
        <p:spPr>
          <a:xfrm>
            <a:off x="249171" y="143605"/>
            <a:ext cx="11771193"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Ultima visión de la jerarquía temporal</a:t>
            </a:r>
          </a:p>
        </p:txBody>
      </p:sp>
      <p:sp>
        <p:nvSpPr>
          <p:cNvPr id="16" name="Slide Number Placeholder 2">
            <a:extLst>
              <a:ext uri="{FF2B5EF4-FFF2-40B4-BE49-F238E27FC236}">
                <a16:creationId xmlns:a16="http://schemas.microsoft.com/office/drawing/2014/main" id="{59873675-E67D-4755-0572-D534FAA64A20}"/>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58</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17" name="CuadroTexto 16">
            <a:extLst>
              <a:ext uri="{FF2B5EF4-FFF2-40B4-BE49-F238E27FC236}">
                <a16:creationId xmlns:a16="http://schemas.microsoft.com/office/drawing/2014/main" id="{D6B024DB-3191-7EEF-6E1B-307DC5D44645}"/>
              </a:ext>
            </a:extLst>
          </p:cNvPr>
          <p:cNvSpPr txBox="1"/>
          <p:nvPr/>
        </p:nvSpPr>
        <p:spPr>
          <a:xfrm>
            <a:off x="4250831" y="2666807"/>
            <a:ext cx="831630"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FACT</a:t>
            </a:r>
            <a:endParaRPr lang="es-AR" sz="1400" b="1" dirty="0">
              <a:solidFill>
                <a:srgbClr val="C00000"/>
              </a:solidFill>
            </a:endParaRPr>
          </a:p>
        </p:txBody>
      </p:sp>
      <p:sp>
        <p:nvSpPr>
          <p:cNvPr id="18" name="CuadroTexto 17">
            <a:extLst>
              <a:ext uri="{FF2B5EF4-FFF2-40B4-BE49-F238E27FC236}">
                <a16:creationId xmlns:a16="http://schemas.microsoft.com/office/drawing/2014/main" id="{84317DFA-EDA1-0365-13B8-CA5108343C3A}"/>
              </a:ext>
            </a:extLst>
          </p:cNvPr>
          <p:cNvSpPr txBox="1"/>
          <p:nvPr/>
        </p:nvSpPr>
        <p:spPr>
          <a:xfrm>
            <a:off x="3298956" y="2666807"/>
            <a:ext cx="606060"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ISO</a:t>
            </a:r>
            <a:endParaRPr lang="es-AR" sz="1400" b="1" dirty="0">
              <a:solidFill>
                <a:srgbClr val="C00000"/>
              </a:solidFill>
            </a:endParaRPr>
          </a:p>
        </p:txBody>
      </p:sp>
      <p:sp>
        <p:nvSpPr>
          <p:cNvPr id="35" name="CuadroTexto 34">
            <a:extLst>
              <a:ext uri="{FF2B5EF4-FFF2-40B4-BE49-F238E27FC236}">
                <a16:creationId xmlns:a16="http://schemas.microsoft.com/office/drawing/2014/main" id="{293C0A24-DC30-C831-DF8C-2EBEC068182E}"/>
              </a:ext>
            </a:extLst>
          </p:cNvPr>
          <p:cNvSpPr txBox="1"/>
          <p:nvPr/>
        </p:nvSpPr>
        <p:spPr>
          <a:xfrm>
            <a:off x="4611618" y="2246982"/>
            <a:ext cx="1807217"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ACCES</a:t>
            </a:r>
            <a:endParaRPr lang="es-AR" sz="1400" b="1" dirty="0">
              <a:solidFill>
                <a:srgbClr val="C00000"/>
              </a:solidFill>
            </a:endParaRPr>
          </a:p>
        </p:txBody>
      </p:sp>
      <p:sp>
        <p:nvSpPr>
          <p:cNvPr id="2" name="Diagrama de flujo: conector 1">
            <a:extLst>
              <a:ext uri="{FF2B5EF4-FFF2-40B4-BE49-F238E27FC236}">
                <a16:creationId xmlns:a16="http://schemas.microsoft.com/office/drawing/2014/main" id="{8EF0BF0D-F613-8307-8045-651820DD2625}"/>
              </a:ext>
            </a:extLst>
          </p:cNvPr>
          <p:cNvSpPr/>
          <p:nvPr/>
        </p:nvSpPr>
        <p:spPr>
          <a:xfrm>
            <a:off x="545473" y="1237890"/>
            <a:ext cx="2908030" cy="1924049"/>
          </a:xfrm>
          <a:prstGeom prst="flowChartConnector">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Diagrama de flujo: conector 33">
            <a:extLst>
              <a:ext uri="{FF2B5EF4-FFF2-40B4-BE49-F238E27FC236}">
                <a16:creationId xmlns:a16="http://schemas.microsoft.com/office/drawing/2014/main" id="{7EACC7DD-1AA7-1552-D5DC-FB97428212F7}"/>
              </a:ext>
            </a:extLst>
          </p:cNvPr>
          <p:cNvSpPr/>
          <p:nvPr/>
        </p:nvSpPr>
        <p:spPr>
          <a:xfrm>
            <a:off x="6634293" y="1237890"/>
            <a:ext cx="2793888" cy="1852822"/>
          </a:xfrm>
          <a:prstGeom prst="flowChartConnector">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7" name="Rectángulo 36">
            <a:extLst>
              <a:ext uri="{FF2B5EF4-FFF2-40B4-BE49-F238E27FC236}">
                <a16:creationId xmlns:a16="http://schemas.microsoft.com/office/drawing/2014/main" id="{E96E2439-1C39-94F0-D5BD-F18F65B34416}"/>
              </a:ext>
            </a:extLst>
          </p:cNvPr>
          <p:cNvSpPr/>
          <p:nvPr/>
        </p:nvSpPr>
        <p:spPr>
          <a:xfrm>
            <a:off x="676100" y="1960834"/>
            <a:ext cx="728084"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NPC</a:t>
            </a:r>
            <a:endParaRPr lang="es-MX" sz="2000" dirty="0"/>
          </a:p>
        </p:txBody>
      </p:sp>
      <p:sp>
        <p:nvSpPr>
          <p:cNvPr id="38" name="Rectángulo 37">
            <a:extLst>
              <a:ext uri="{FF2B5EF4-FFF2-40B4-BE49-F238E27FC236}">
                <a16:creationId xmlns:a16="http://schemas.microsoft.com/office/drawing/2014/main" id="{81E34B2C-C499-1442-557D-0FFD65C59EFD}"/>
              </a:ext>
            </a:extLst>
          </p:cNvPr>
          <p:cNvSpPr/>
          <p:nvPr/>
        </p:nvSpPr>
        <p:spPr>
          <a:xfrm>
            <a:off x="8031237" y="1880488"/>
            <a:ext cx="1197764"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CO-NPC</a:t>
            </a:r>
            <a:endParaRPr lang="es-MX" sz="2000" dirty="0"/>
          </a:p>
        </p:txBody>
      </p:sp>
      <p:sp>
        <p:nvSpPr>
          <p:cNvPr id="43" name="Rectángulo 42">
            <a:extLst>
              <a:ext uri="{FF2B5EF4-FFF2-40B4-BE49-F238E27FC236}">
                <a16:creationId xmlns:a16="http://schemas.microsoft.com/office/drawing/2014/main" id="{456A2798-D83E-B9DB-79A3-2F6EE596BDBB}"/>
              </a:ext>
            </a:extLst>
          </p:cNvPr>
          <p:cNvSpPr/>
          <p:nvPr/>
        </p:nvSpPr>
        <p:spPr>
          <a:xfrm>
            <a:off x="4792117" y="1725480"/>
            <a:ext cx="356188"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P</a:t>
            </a:r>
            <a:endParaRPr lang="es-MX" sz="2000" dirty="0"/>
          </a:p>
        </p:txBody>
      </p:sp>
      <p:sp>
        <p:nvSpPr>
          <p:cNvPr id="44" name="Rectángulo 43">
            <a:extLst>
              <a:ext uri="{FF2B5EF4-FFF2-40B4-BE49-F238E27FC236}">
                <a16:creationId xmlns:a16="http://schemas.microsoft.com/office/drawing/2014/main" id="{4F9F2472-BDCF-401D-9BC3-F80181369F0F}"/>
              </a:ext>
            </a:extLst>
          </p:cNvPr>
          <p:cNvSpPr/>
          <p:nvPr/>
        </p:nvSpPr>
        <p:spPr>
          <a:xfrm>
            <a:off x="3098995" y="880449"/>
            <a:ext cx="755335" cy="584775"/>
          </a:xfrm>
          <a:prstGeom prst="rect">
            <a:avLst/>
          </a:prstGeom>
        </p:spPr>
        <p:txBody>
          <a:bodyPr wrap="none">
            <a:spAutoFit/>
          </a:bodyPr>
          <a:lstStyle/>
          <a:p>
            <a:r>
              <a:rPr lang="es-AR" sz="3200" b="1" dirty="0">
                <a:solidFill>
                  <a:srgbClr val="7030A0"/>
                </a:solidFill>
                <a:latin typeface="Arial" panose="020B0604020202020204" pitchFamily="34" charset="0"/>
                <a:cs typeface="Arial" panose="020B0604020202020204" pitchFamily="34" charset="0"/>
              </a:rPr>
              <a:t>NP</a:t>
            </a:r>
            <a:endParaRPr lang="es-MX" sz="3200" b="1" dirty="0">
              <a:solidFill>
                <a:srgbClr val="7030A0"/>
              </a:solidFill>
            </a:endParaRPr>
          </a:p>
        </p:txBody>
      </p:sp>
      <p:sp>
        <p:nvSpPr>
          <p:cNvPr id="45" name="Rectángulo 44">
            <a:extLst>
              <a:ext uri="{FF2B5EF4-FFF2-40B4-BE49-F238E27FC236}">
                <a16:creationId xmlns:a16="http://schemas.microsoft.com/office/drawing/2014/main" id="{2883C7AF-BD8C-03FF-B4C9-6F44E964EB5E}"/>
              </a:ext>
            </a:extLst>
          </p:cNvPr>
          <p:cNvSpPr/>
          <p:nvPr/>
        </p:nvSpPr>
        <p:spPr>
          <a:xfrm>
            <a:off x="5796370" y="842469"/>
            <a:ext cx="1507144" cy="584775"/>
          </a:xfrm>
          <a:prstGeom prst="rect">
            <a:avLst/>
          </a:prstGeom>
        </p:spPr>
        <p:txBody>
          <a:bodyPr wrap="none">
            <a:spAutoFit/>
          </a:bodyPr>
          <a:lstStyle/>
          <a:p>
            <a:r>
              <a:rPr lang="es-AR" sz="3200" b="1" dirty="0">
                <a:solidFill>
                  <a:srgbClr val="FF0000"/>
                </a:solidFill>
                <a:latin typeface="Arial" panose="020B0604020202020204" pitchFamily="34" charset="0"/>
                <a:cs typeface="Arial" panose="020B0604020202020204" pitchFamily="34" charset="0"/>
              </a:rPr>
              <a:t>CO-NP</a:t>
            </a:r>
            <a:endParaRPr lang="es-MX" sz="3200" b="1" dirty="0">
              <a:solidFill>
                <a:srgbClr val="FF0000"/>
              </a:solidFill>
            </a:endParaRPr>
          </a:p>
        </p:txBody>
      </p:sp>
      <p:sp>
        <p:nvSpPr>
          <p:cNvPr id="47" name="Rectángulo 46">
            <a:extLst>
              <a:ext uri="{FF2B5EF4-FFF2-40B4-BE49-F238E27FC236}">
                <a16:creationId xmlns:a16="http://schemas.microsoft.com/office/drawing/2014/main" id="{153A07F0-D6FC-B822-2C8B-15C2B1A01699}"/>
              </a:ext>
            </a:extLst>
          </p:cNvPr>
          <p:cNvSpPr/>
          <p:nvPr/>
        </p:nvSpPr>
        <p:spPr>
          <a:xfrm>
            <a:off x="2917219" y="3090712"/>
            <a:ext cx="612668"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NPI</a:t>
            </a:r>
            <a:endParaRPr lang="es-MX" sz="2000" dirty="0"/>
          </a:p>
        </p:txBody>
      </p:sp>
      <p:sp>
        <p:nvSpPr>
          <p:cNvPr id="48" name="Rectángulo 47">
            <a:extLst>
              <a:ext uri="{FF2B5EF4-FFF2-40B4-BE49-F238E27FC236}">
                <a16:creationId xmlns:a16="http://schemas.microsoft.com/office/drawing/2014/main" id="{2E8AC058-2CF3-D689-5DD1-E679F92D5C6A}"/>
              </a:ext>
            </a:extLst>
          </p:cNvPr>
          <p:cNvSpPr/>
          <p:nvPr/>
        </p:nvSpPr>
        <p:spPr>
          <a:xfrm>
            <a:off x="4812875" y="2841264"/>
            <a:ext cx="612668"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NPI</a:t>
            </a:r>
            <a:endParaRPr lang="es-MX" sz="2000" dirty="0"/>
          </a:p>
        </p:txBody>
      </p:sp>
      <p:sp>
        <p:nvSpPr>
          <p:cNvPr id="49" name="Rectángulo 48">
            <a:extLst>
              <a:ext uri="{FF2B5EF4-FFF2-40B4-BE49-F238E27FC236}">
                <a16:creationId xmlns:a16="http://schemas.microsoft.com/office/drawing/2014/main" id="{4AAA90DB-45E3-1E34-66A5-B7FE981C6F5D}"/>
              </a:ext>
            </a:extLst>
          </p:cNvPr>
          <p:cNvSpPr/>
          <p:nvPr/>
        </p:nvSpPr>
        <p:spPr>
          <a:xfrm>
            <a:off x="6062748" y="3068581"/>
            <a:ext cx="1082348"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CO-NPI</a:t>
            </a:r>
            <a:endParaRPr lang="es-MX" sz="2000" dirty="0"/>
          </a:p>
        </p:txBody>
      </p:sp>
      <p:sp>
        <p:nvSpPr>
          <p:cNvPr id="51" name="CuadroTexto 50">
            <a:extLst>
              <a:ext uri="{FF2B5EF4-FFF2-40B4-BE49-F238E27FC236}">
                <a16:creationId xmlns:a16="http://schemas.microsoft.com/office/drawing/2014/main" id="{6692CE1E-EF55-08B3-68A6-3D53FB192B5B}"/>
              </a:ext>
            </a:extLst>
          </p:cNvPr>
          <p:cNvSpPr txBox="1"/>
          <p:nvPr/>
        </p:nvSpPr>
        <p:spPr>
          <a:xfrm>
            <a:off x="2342432" y="2419062"/>
            <a:ext cx="606060" cy="307777"/>
          </a:xfrm>
          <a:prstGeom prst="rect">
            <a:avLst/>
          </a:prstGeom>
          <a:noFill/>
        </p:spPr>
        <p:txBody>
          <a:bodyPr wrap="square">
            <a:spAutoFit/>
          </a:bodyPr>
          <a:lstStyle/>
          <a:p>
            <a:r>
              <a:rPr lang="es-ES" sz="1400" b="1" dirty="0">
                <a:solidFill>
                  <a:srgbClr val="C00000"/>
                </a:solidFill>
                <a:latin typeface="Arial" panose="020B0604020202020204" pitchFamily="34" charset="0"/>
                <a:cs typeface="Arial" panose="020B0604020202020204" pitchFamily="34" charset="0"/>
              </a:rPr>
              <a:t>SAT</a:t>
            </a:r>
            <a:endParaRPr lang="es-AR" sz="1400" b="1" dirty="0">
              <a:solidFill>
                <a:srgbClr val="C00000"/>
              </a:solidFill>
            </a:endParaRPr>
          </a:p>
        </p:txBody>
      </p:sp>
      <p:sp>
        <p:nvSpPr>
          <p:cNvPr id="53" name="CuadroTexto 52">
            <a:extLst>
              <a:ext uri="{FF2B5EF4-FFF2-40B4-BE49-F238E27FC236}">
                <a16:creationId xmlns:a16="http://schemas.microsoft.com/office/drawing/2014/main" id="{7BD170DD-93E7-5B11-6A5D-EE5A7CB2C7B5}"/>
              </a:ext>
            </a:extLst>
          </p:cNvPr>
          <p:cNvSpPr txBox="1"/>
          <p:nvPr/>
        </p:nvSpPr>
        <p:spPr>
          <a:xfrm>
            <a:off x="6259907" y="2670887"/>
            <a:ext cx="1120684"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ISO</a:t>
            </a:r>
            <a:r>
              <a:rPr lang="es-AR" sz="1400" b="1" baseline="30000" dirty="0">
                <a:solidFill>
                  <a:srgbClr val="C00000"/>
                </a:solidFill>
                <a:latin typeface="Arial" panose="020B0604020202020204" pitchFamily="34" charset="0"/>
                <a:cs typeface="Arial" panose="020B0604020202020204" pitchFamily="34" charset="0"/>
              </a:rPr>
              <a:t>C</a:t>
            </a:r>
            <a:r>
              <a:rPr lang="es-AR" sz="1400" b="1" dirty="0">
                <a:solidFill>
                  <a:srgbClr val="C00000"/>
                </a:solidFill>
                <a:latin typeface="Arial" panose="020B0604020202020204" pitchFamily="34" charset="0"/>
                <a:cs typeface="Arial" panose="020B0604020202020204" pitchFamily="34" charset="0"/>
              </a:rPr>
              <a:t> </a:t>
            </a:r>
            <a:endParaRPr lang="es-AR" sz="1400" dirty="0">
              <a:solidFill>
                <a:srgbClr val="C00000"/>
              </a:solidFill>
            </a:endParaRPr>
          </a:p>
        </p:txBody>
      </p:sp>
      <p:sp>
        <p:nvSpPr>
          <p:cNvPr id="54" name="CuadroTexto 53">
            <a:extLst>
              <a:ext uri="{FF2B5EF4-FFF2-40B4-BE49-F238E27FC236}">
                <a16:creationId xmlns:a16="http://schemas.microsoft.com/office/drawing/2014/main" id="{52A379D9-E29D-D4C2-14BC-3FE7AC7EE7E8}"/>
              </a:ext>
            </a:extLst>
          </p:cNvPr>
          <p:cNvSpPr txBox="1"/>
          <p:nvPr/>
        </p:nvSpPr>
        <p:spPr>
          <a:xfrm>
            <a:off x="7164518" y="2321854"/>
            <a:ext cx="1120684"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SAT</a:t>
            </a:r>
            <a:r>
              <a:rPr lang="es-AR" sz="1400" b="1" baseline="30000" dirty="0">
                <a:solidFill>
                  <a:srgbClr val="C00000"/>
                </a:solidFill>
                <a:latin typeface="Arial" panose="020B0604020202020204" pitchFamily="34" charset="0"/>
                <a:cs typeface="Arial" panose="020B0604020202020204" pitchFamily="34" charset="0"/>
              </a:rPr>
              <a:t>C</a:t>
            </a:r>
            <a:r>
              <a:rPr lang="es-AR" sz="1400" b="1" dirty="0">
                <a:solidFill>
                  <a:srgbClr val="C00000"/>
                </a:solidFill>
                <a:latin typeface="Arial" panose="020B0604020202020204" pitchFamily="34" charset="0"/>
                <a:cs typeface="Arial" panose="020B0604020202020204" pitchFamily="34" charset="0"/>
              </a:rPr>
              <a:t> </a:t>
            </a:r>
            <a:endParaRPr lang="es-AR" sz="1400" dirty="0">
              <a:solidFill>
                <a:srgbClr val="C00000"/>
              </a:solidFill>
            </a:endParaRPr>
          </a:p>
        </p:txBody>
      </p:sp>
      <p:sp>
        <p:nvSpPr>
          <p:cNvPr id="55" name="CuadroTexto 54">
            <a:extLst>
              <a:ext uri="{FF2B5EF4-FFF2-40B4-BE49-F238E27FC236}">
                <a16:creationId xmlns:a16="http://schemas.microsoft.com/office/drawing/2014/main" id="{55DAFFE0-5212-5C4E-C6EE-739A0727EEEB}"/>
              </a:ext>
            </a:extLst>
          </p:cNvPr>
          <p:cNvSpPr txBox="1"/>
          <p:nvPr/>
        </p:nvSpPr>
        <p:spPr>
          <a:xfrm>
            <a:off x="5265049" y="2656940"/>
            <a:ext cx="1120684" cy="307777"/>
          </a:xfrm>
          <a:prstGeom prst="rect">
            <a:avLst/>
          </a:prstGeom>
          <a:noFill/>
        </p:spPr>
        <p:txBody>
          <a:bodyPr wrap="square">
            <a:spAutoFit/>
          </a:bodyPr>
          <a:lstStyle/>
          <a:p>
            <a:r>
              <a:rPr lang="es-AR" sz="1400" b="1" dirty="0">
                <a:solidFill>
                  <a:srgbClr val="C00000"/>
                </a:solidFill>
                <a:latin typeface="Arial" panose="020B0604020202020204" pitchFamily="34" charset="0"/>
                <a:cs typeface="Arial" panose="020B0604020202020204" pitchFamily="34" charset="0"/>
              </a:rPr>
              <a:t>FACT</a:t>
            </a:r>
            <a:r>
              <a:rPr lang="es-AR" sz="1400" b="1" baseline="30000" dirty="0">
                <a:solidFill>
                  <a:srgbClr val="C00000"/>
                </a:solidFill>
                <a:latin typeface="Arial" panose="020B0604020202020204" pitchFamily="34" charset="0"/>
                <a:cs typeface="Arial" panose="020B0604020202020204" pitchFamily="34" charset="0"/>
              </a:rPr>
              <a:t>C</a:t>
            </a:r>
            <a:r>
              <a:rPr lang="es-AR" sz="1400" b="1" dirty="0">
                <a:solidFill>
                  <a:srgbClr val="C00000"/>
                </a:solidFill>
                <a:latin typeface="Arial" panose="020B0604020202020204" pitchFamily="34" charset="0"/>
                <a:cs typeface="Arial" panose="020B0604020202020204" pitchFamily="34" charset="0"/>
              </a:rPr>
              <a:t> </a:t>
            </a:r>
            <a:endParaRPr lang="es-AR" sz="1400" dirty="0">
              <a:solidFill>
                <a:srgbClr val="C00000"/>
              </a:solidFill>
            </a:endParaRPr>
          </a:p>
        </p:txBody>
      </p:sp>
      <p:sp>
        <p:nvSpPr>
          <p:cNvPr id="5" name="Rectángulo 4">
            <a:extLst>
              <a:ext uri="{FF2B5EF4-FFF2-40B4-BE49-F238E27FC236}">
                <a16:creationId xmlns:a16="http://schemas.microsoft.com/office/drawing/2014/main" id="{02EF6302-116A-E095-55C6-0F8CE7D7BFBB}"/>
              </a:ext>
            </a:extLst>
          </p:cNvPr>
          <p:cNvSpPr/>
          <p:nvPr/>
        </p:nvSpPr>
        <p:spPr>
          <a:xfrm>
            <a:off x="6418835" y="4770185"/>
            <a:ext cx="4943661" cy="1754326"/>
          </a:xfrm>
          <a:prstGeom prst="rect">
            <a:avLst/>
          </a:prstGeom>
        </p:spPr>
        <p:txBody>
          <a:bodyPr wrap="square">
            <a:spAutoFit/>
          </a:bodyPr>
          <a:lstStyle/>
          <a:p>
            <a:r>
              <a:rPr lang="es-AR" dirty="0">
                <a:latin typeface="Arial" panose="020B0604020202020204" pitchFamily="34" charset="0"/>
                <a:cs typeface="Arial" panose="020B0604020202020204" pitchFamily="34" charset="0"/>
              </a:rPr>
              <a:t>Las cadenas de los lenguajes de CO-NP no tendrían certificados sucintos. Por ejemplo, para verificar si una fórmula booleana no tiene una asignación que la satisface, hay que chequear todas las posibles asignaciones, las cuales suman una cantidad exponencial.</a:t>
            </a:r>
          </a:p>
        </p:txBody>
      </p:sp>
      <p:cxnSp>
        <p:nvCxnSpPr>
          <p:cNvPr id="8" name="Conector recto de flecha 7">
            <a:extLst>
              <a:ext uri="{FF2B5EF4-FFF2-40B4-BE49-F238E27FC236}">
                <a16:creationId xmlns:a16="http://schemas.microsoft.com/office/drawing/2014/main" id="{C4DDD09C-D12C-881A-637C-86ADB9AFF49D}"/>
              </a:ext>
            </a:extLst>
          </p:cNvPr>
          <p:cNvCxnSpPr>
            <a:cxnSpLocks/>
          </p:cNvCxnSpPr>
          <p:nvPr/>
        </p:nvCxnSpPr>
        <p:spPr>
          <a:xfrm>
            <a:off x="7303514" y="3419955"/>
            <a:ext cx="1193214" cy="12381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8828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C8290B3-7A88-47A7-96FC-5A7DB3967D0E}"/>
              </a:ext>
            </a:extLst>
          </p:cNvPr>
          <p:cNvSpPr/>
          <p:nvPr/>
        </p:nvSpPr>
        <p:spPr>
          <a:xfrm>
            <a:off x="277296" y="863323"/>
            <a:ext cx="8066933" cy="2062103"/>
          </a:xfrm>
          <a:prstGeom prst="rect">
            <a:avLst/>
          </a:prstGeom>
        </p:spPr>
        <p:txBody>
          <a:bodyPr wrap="square">
            <a:spAutoFit/>
          </a:bodyPr>
          <a:lstStyle/>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Se consideran MT tales que la cinta de entrada es de </a:t>
            </a:r>
            <a:r>
              <a:rPr lang="es-AR" b="1" dirty="0">
                <a:latin typeface="Arial" panose="020B0604020202020204" pitchFamily="34" charset="0"/>
                <a:cs typeface="Arial" panose="020B0604020202020204" pitchFamily="34" charset="0"/>
              </a:rPr>
              <a:t>sólo lectura</a:t>
            </a:r>
            <a:r>
              <a:rPr lang="es-AR" dirty="0">
                <a:latin typeface="Arial" panose="020B0604020202020204" pitchFamily="34" charset="0"/>
                <a:cs typeface="Arial" panose="020B0604020202020204" pitchFamily="34" charset="0"/>
              </a:rPr>
              <a:t>. El resto son </a:t>
            </a:r>
            <a:r>
              <a:rPr lang="es-AR" b="1" dirty="0">
                <a:latin typeface="Arial" panose="020B0604020202020204" pitchFamily="34" charset="0"/>
                <a:cs typeface="Arial" panose="020B0604020202020204" pitchFamily="34" charset="0"/>
              </a:rPr>
              <a:t>cintas de trabajo</a:t>
            </a:r>
            <a:r>
              <a:rPr lang="es-AR"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endParaRPr lang="es-AR" sz="10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Una MT ocupa </a:t>
            </a:r>
            <a:r>
              <a:rPr lang="es-AR" b="1" dirty="0">
                <a:latin typeface="Arial" panose="020B0604020202020204" pitchFamily="34" charset="0"/>
                <a:cs typeface="Arial" panose="020B0604020202020204" pitchFamily="34" charset="0"/>
              </a:rPr>
              <a:t>espacio S(n)</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sii</a:t>
            </a:r>
            <a:r>
              <a:rPr lang="es-AR" dirty="0">
                <a:latin typeface="Arial" panose="020B0604020202020204" pitchFamily="34" charset="0"/>
                <a:cs typeface="Arial" panose="020B0604020202020204" pitchFamily="34" charset="0"/>
              </a:rPr>
              <a:t> en todas sus cintas de trabajo (no cuenta la cinta de entrada) ocupa </a:t>
            </a:r>
            <a:r>
              <a:rPr lang="es-AR" b="1" dirty="0">
                <a:latin typeface="Arial" panose="020B0604020202020204" pitchFamily="34" charset="0"/>
                <a:cs typeface="Arial" panose="020B0604020202020204" pitchFamily="34" charset="0"/>
              </a:rPr>
              <a:t>a lo sumo S(n) celdas</a:t>
            </a:r>
            <a:r>
              <a:rPr lang="es-AR" dirty="0">
                <a:latin typeface="Arial" panose="020B0604020202020204" pitchFamily="34" charset="0"/>
                <a:cs typeface="Arial" panose="020B0604020202020204" pitchFamily="34" charset="0"/>
              </a:rPr>
              <a:t>, siendo n como siempre el tamaño de las cadenas de entrada.</a:t>
            </a:r>
          </a:p>
          <a:p>
            <a:pPr marL="342900" indent="-342900" algn="just">
              <a:buFont typeface="Arial" panose="020B0604020202020204" pitchFamily="34" charset="0"/>
              <a:buChar char="•"/>
            </a:pPr>
            <a:endParaRPr lang="es-AR" sz="1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AR" dirty="0">
                <a:latin typeface="Arial" panose="020B0604020202020204" pitchFamily="34" charset="0"/>
                <a:cs typeface="Arial" panose="020B0604020202020204" pitchFamily="34" charset="0"/>
              </a:rPr>
              <a:t>La cinta de entrada de sólo lectura permite espacios </a:t>
            </a:r>
            <a:r>
              <a:rPr lang="es-AR" b="1" dirty="0">
                <a:solidFill>
                  <a:srgbClr val="0070C0"/>
                </a:solidFill>
                <a:latin typeface="Arial" panose="020B0604020202020204" pitchFamily="34" charset="0"/>
                <a:cs typeface="Arial" panose="020B0604020202020204" pitchFamily="34" charset="0"/>
              </a:rPr>
              <a:t>menores que O(n).</a:t>
            </a:r>
            <a:endParaRPr lang="es-AR" dirty="0">
              <a:solidFill>
                <a:srgbClr val="0070C0"/>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2DF4341C-9AA6-434D-9B89-73A6A885A547}"/>
              </a:ext>
            </a:extLst>
          </p:cNvPr>
          <p:cNvSpPr/>
          <p:nvPr/>
        </p:nvSpPr>
        <p:spPr>
          <a:xfrm>
            <a:off x="9216469" y="682138"/>
            <a:ext cx="1936036" cy="307777"/>
          </a:xfrm>
          <a:prstGeom prst="rect">
            <a:avLst/>
          </a:prstGeom>
        </p:spPr>
        <p:txBody>
          <a:bodyPr wrap="square">
            <a:spAutoFit/>
          </a:bodyPr>
          <a:lstStyle/>
          <a:p>
            <a:r>
              <a:rPr lang="es-AR" sz="1400" b="1" dirty="0">
                <a:solidFill>
                  <a:srgbClr val="0070C0"/>
                </a:solidFill>
                <a:latin typeface="Arial" panose="020B0604020202020204" pitchFamily="34" charset="0"/>
                <a:cs typeface="Arial" panose="020B0604020202020204" pitchFamily="34" charset="0"/>
              </a:rPr>
              <a:t>cinta de entrada</a:t>
            </a:r>
          </a:p>
        </p:txBody>
      </p:sp>
      <p:sp>
        <p:nvSpPr>
          <p:cNvPr id="5" name="Rectángulo 4">
            <a:extLst>
              <a:ext uri="{FF2B5EF4-FFF2-40B4-BE49-F238E27FC236}">
                <a16:creationId xmlns:a16="http://schemas.microsoft.com/office/drawing/2014/main" id="{2660DA3F-E882-4070-A9E0-0E12120B433B}"/>
              </a:ext>
            </a:extLst>
          </p:cNvPr>
          <p:cNvSpPr/>
          <p:nvPr/>
        </p:nvSpPr>
        <p:spPr>
          <a:xfrm>
            <a:off x="9256920" y="1218972"/>
            <a:ext cx="1556836" cy="307777"/>
          </a:xfrm>
          <a:prstGeom prst="rect">
            <a:avLst/>
          </a:prstGeom>
        </p:spPr>
        <p:txBody>
          <a:bodyPr wrap="none">
            <a:spAutoFit/>
          </a:bodyPr>
          <a:lstStyle/>
          <a:p>
            <a:r>
              <a:rPr lang="es-AR" sz="1400" dirty="0">
                <a:latin typeface="Arial" panose="020B0604020202020204" pitchFamily="34" charset="0"/>
                <a:cs typeface="Arial" panose="020B0604020202020204" pitchFamily="34" charset="0"/>
              </a:rPr>
              <a:t>cinta de trabajo 1</a:t>
            </a:r>
          </a:p>
        </p:txBody>
      </p:sp>
      <p:sp>
        <p:nvSpPr>
          <p:cNvPr id="7" name="Rectángulo 6">
            <a:extLst>
              <a:ext uri="{FF2B5EF4-FFF2-40B4-BE49-F238E27FC236}">
                <a16:creationId xmlns:a16="http://schemas.microsoft.com/office/drawing/2014/main" id="{A5ED0269-D9D1-4FBD-A4D5-F726569C2EBA}"/>
              </a:ext>
            </a:extLst>
          </p:cNvPr>
          <p:cNvSpPr/>
          <p:nvPr/>
        </p:nvSpPr>
        <p:spPr>
          <a:xfrm>
            <a:off x="9404829" y="3280973"/>
            <a:ext cx="1505540" cy="369332"/>
          </a:xfrm>
          <a:prstGeom prst="rect">
            <a:avLst/>
          </a:prstGeom>
        </p:spPr>
        <p:txBody>
          <a:bodyPr wrap="none">
            <a:spAutoFit/>
          </a:bodyPr>
          <a:lstStyle/>
          <a:p>
            <a:r>
              <a:rPr lang="es-AR" dirty="0">
                <a:solidFill>
                  <a:srgbClr val="FF0000"/>
                </a:solidFill>
                <a:latin typeface="Arial" panose="020B0604020202020204" pitchFamily="34" charset="0"/>
                <a:cs typeface="Arial" panose="020B0604020202020204" pitchFamily="34" charset="0"/>
              </a:rPr>
              <a:t>Espacio S(n)</a:t>
            </a:r>
          </a:p>
        </p:txBody>
      </p:sp>
      <p:sp>
        <p:nvSpPr>
          <p:cNvPr id="9" name="Rectángulo 8">
            <a:extLst>
              <a:ext uri="{FF2B5EF4-FFF2-40B4-BE49-F238E27FC236}">
                <a16:creationId xmlns:a16="http://schemas.microsoft.com/office/drawing/2014/main" id="{51B99820-AF74-40DB-B211-327F132E88AB}"/>
              </a:ext>
            </a:extLst>
          </p:cNvPr>
          <p:cNvSpPr/>
          <p:nvPr/>
        </p:nvSpPr>
        <p:spPr>
          <a:xfrm>
            <a:off x="277296" y="3564712"/>
            <a:ext cx="11680126" cy="3123932"/>
          </a:xfrm>
          <a:prstGeom prst="rect">
            <a:avLst/>
          </a:prstGeom>
        </p:spPr>
        <p:txBody>
          <a:bodyPr wrap="square">
            <a:spAutoFit/>
          </a:bodyPr>
          <a:lstStyle/>
          <a:p>
            <a:pPr marL="285750" lvl="1" indent="-285750" algn="just">
              <a:buFont typeface="Arial" panose="020B0604020202020204" pitchFamily="34" charset="0"/>
              <a:buChar char="•"/>
            </a:pPr>
            <a:r>
              <a:rPr lang="es-AR" dirty="0">
                <a:latin typeface="Arial" panose="020B0604020202020204" pitchFamily="34" charset="0"/>
                <a:cs typeface="Arial" panose="020B0604020202020204" pitchFamily="34" charset="0"/>
              </a:rPr>
              <a:t>Una MT M que ocupa espacio S(n) </a:t>
            </a:r>
            <a:r>
              <a:rPr lang="es-AR" b="1" dirty="0">
                <a:latin typeface="Arial" panose="020B0604020202020204" pitchFamily="34" charset="0"/>
                <a:cs typeface="Arial" panose="020B0604020202020204" pitchFamily="34" charset="0"/>
              </a:rPr>
              <a:t>puede no parar</a:t>
            </a:r>
            <a:r>
              <a:rPr lang="es-AR" dirty="0">
                <a:latin typeface="Arial" panose="020B0604020202020204" pitchFamily="34" charset="0"/>
                <a:cs typeface="Arial" panose="020B0604020202020204" pitchFamily="34" charset="0"/>
              </a:rPr>
              <a:t>, pero dada M, existe </a:t>
            </a:r>
          </a:p>
          <a:p>
            <a:pPr marL="0" lvl="1" algn="just"/>
            <a:r>
              <a:rPr lang="es-AR" dirty="0">
                <a:latin typeface="Arial" panose="020B0604020202020204" pitchFamily="34" charset="0"/>
                <a:cs typeface="Arial" panose="020B0604020202020204" pitchFamily="34" charset="0"/>
              </a:rPr>
              <a:t>     una MT M´ equivalente que ocupa espacio S(n) y </a:t>
            </a:r>
            <a:r>
              <a:rPr lang="es-AR" b="1" dirty="0">
                <a:latin typeface="Arial" panose="020B0604020202020204" pitchFamily="34" charset="0"/>
                <a:cs typeface="Arial" panose="020B0604020202020204" pitchFamily="34" charset="0"/>
              </a:rPr>
              <a:t>para siempre. </a:t>
            </a:r>
          </a:p>
          <a:p>
            <a:pPr marL="0" lvl="1" algn="just"/>
            <a:endParaRPr lang="es-AR" sz="900" b="1" dirty="0">
              <a:latin typeface="Arial" panose="020B0604020202020204" pitchFamily="34" charset="0"/>
              <a:cs typeface="Arial" panose="020B0604020202020204" pitchFamily="34" charset="0"/>
            </a:endParaRPr>
          </a:p>
          <a:p>
            <a:pPr marL="0" lvl="1" algn="just"/>
            <a:r>
              <a:rPr lang="es-AR" dirty="0">
                <a:latin typeface="Arial" panose="020B0604020202020204" pitchFamily="34" charset="0"/>
                <a:cs typeface="Arial" panose="020B0604020202020204" pitchFamily="34" charset="0"/>
              </a:rPr>
              <a:t>     P.ej., una MT con 1 cinta de entrada de sólo lectura y 1 cinta de trabajo </a:t>
            </a:r>
          </a:p>
          <a:p>
            <a:pPr marL="0" lvl="1" algn="just"/>
            <a:r>
              <a:rPr lang="es-AR" dirty="0">
                <a:latin typeface="Arial" panose="020B0604020202020204" pitchFamily="34" charset="0"/>
                <a:cs typeface="Arial" panose="020B0604020202020204" pitchFamily="34" charset="0"/>
              </a:rPr>
              <a:t>     entró en </a:t>
            </a:r>
            <a:r>
              <a:rPr lang="es-AR" dirty="0" err="1">
                <a:latin typeface="Arial" panose="020B0604020202020204" pitchFamily="34" charset="0"/>
                <a:cs typeface="Arial" panose="020B0604020202020204" pitchFamily="34" charset="0"/>
              </a:rPr>
              <a:t>loop</a:t>
            </a:r>
            <a:r>
              <a:rPr lang="es-AR" dirty="0">
                <a:latin typeface="Arial" panose="020B0604020202020204" pitchFamily="34" charset="0"/>
                <a:cs typeface="Arial" panose="020B0604020202020204" pitchFamily="34" charset="0"/>
              </a:rPr>
              <a:t> si hizo más de </a:t>
            </a:r>
            <a:r>
              <a:rPr lang="es-AR" b="1" dirty="0" err="1">
                <a:latin typeface="Arial" panose="020B0604020202020204" pitchFamily="34" charset="0"/>
                <a:cs typeface="Arial" panose="020B0604020202020204" pitchFamily="34" charset="0"/>
              </a:rPr>
              <a:t>n.S</a:t>
            </a:r>
            <a:r>
              <a:rPr lang="es-AR" b="1" dirty="0">
                <a:latin typeface="Arial" panose="020B0604020202020204" pitchFamily="34" charset="0"/>
                <a:cs typeface="Arial" panose="020B0604020202020204" pitchFamily="34" charset="0"/>
              </a:rPr>
              <a:t>(n).|Q|.|</a:t>
            </a:r>
            <a:r>
              <a:rPr lang="es-AR" sz="1800" b="1" dirty="0">
                <a:effectLst/>
                <a:latin typeface="Arial" panose="020B0604020202020204" pitchFamily="34" charset="0"/>
                <a:ea typeface="Calibri" panose="020F0502020204030204" pitchFamily="34" charset="0"/>
              </a:rPr>
              <a:t>Γ</a:t>
            </a:r>
            <a:r>
              <a:rPr lang="es-AR" b="1" dirty="0">
                <a:latin typeface="Arial" panose="020B0604020202020204" pitchFamily="34" charset="0"/>
                <a:cs typeface="Arial" panose="020B0604020202020204" pitchFamily="34" charset="0"/>
              </a:rPr>
              <a:t>|</a:t>
            </a:r>
            <a:r>
              <a:rPr lang="es-AR" sz="2400" b="1" baseline="30000" dirty="0">
                <a:latin typeface="Arial" panose="020B0604020202020204" pitchFamily="34" charset="0"/>
                <a:cs typeface="Arial" panose="020B0604020202020204" pitchFamily="34" charset="0"/>
              </a:rPr>
              <a:t>S(n)</a:t>
            </a:r>
            <a:r>
              <a:rPr lang="es-AR" b="1" dirty="0">
                <a:latin typeface="Arial" panose="020B0604020202020204" pitchFamily="34" charset="0"/>
                <a:cs typeface="Arial" panose="020B0604020202020204" pitchFamily="34" charset="0"/>
              </a:rPr>
              <a:t> = O(</a:t>
            </a:r>
            <a:r>
              <a:rPr lang="es-AR" b="1" dirty="0" err="1">
                <a:latin typeface="Arial" panose="020B0604020202020204" pitchFamily="34" charset="0"/>
                <a:cs typeface="Arial" panose="020B0604020202020204" pitchFamily="34" charset="0"/>
              </a:rPr>
              <a:t>c</a:t>
            </a:r>
            <a:r>
              <a:rPr lang="es-AR" sz="2400" b="1" baseline="30000" dirty="0" err="1">
                <a:latin typeface="Arial" panose="020B0604020202020204" pitchFamily="34" charset="0"/>
                <a:cs typeface="Arial" panose="020B0604020202020204" pitchFamily="34" charset="0"/>
              </a:rPr>
              <a:t>S</a:t>
            </a:r>
            <a:r>
              <a:rPr lang="es-AR" sz="2400" b="1" baseline="30000" dirty="0">
                <a:latin typeface="Arial" panose="020B0604020202020204" pitchFamily="34" charset="0"/>
                <a:cs typeface="Arial" panose="020B0604020202020204" pitchFamily="34" charset="0"/>
              </a:rPr>
              <a:t>(n)</a:t>
            </a:r>
            <a:r>
              <a:rPr lang="es-AR" b="1" dirty="0">
                <a:latin typeface="Arial" panose="020B0604020202020204" pitchFamily="34" charset="0"/>
                <a:cs typeface="Arial" panose="020B0604020202020204" pitchFamily="34" charset="0"/>
              </a:rPr>
              <a:t>) pasos. </a:t>
            </a:r>
          </a:p>
          <a:p>
            <a:pPr marL="0" lvl="1" algn="just"/>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Tener en cuenta entonces que:</a:t>
            </a:r>
          </a:p>
          <a:p>
            <a:pPr marL="0" lvl="1" algn="just"/>
            <a:endParaRPr lang="es-AR" sz="600" dirty="0">
              <a:latin typeface="Arial" panose="020B0604020202020204" pitchFamily="34" charset="0"/>
              <a:cs typeface="Arial" panose="020B0604020202020204" pitchFamily="34" charset="0"/>
            </a:endParaRPr>
          </a:p>
          <a:p>
            <a:pPr marL="0" lvl="1" algn="just"/>
            <a:r>
              <a:rPr lang="es-AR" b="1" dirty="0">
                <a:solidFill>
                  <a:srgbClr val="0070C0"/>
                </a:solidFill>
                <a:latin typeface="Arial" panose="020B0604020202020204" pitchFamily="34" charset="0"/>
                <a:cs typeface="Arial" panose="020B0604020202020204" pitchFamily="34" charset="0"/>
              </a:rPr>
              <a:t>        tiempo T(n) implica espacio S(n)</a:t>
            </a:r>
          </a:p>
          <a:p>
            <a:pPr marL="0" lvl="1" algn="just"/>
            <a:r>
              <a:rPr lang="es-AR" b="1" dirty="0">
                <a:solidFill>
                  <a:srgbClr val="0070C0"/>
                </a:solidFill>
                <a:latin typeface="Arial" panose="020B0604020202020204" pitchFamily="34" charset="0"/>
                <a:cs typeface="Arial" panose="020B0604020202020204" pitchFamily="34" charset="0"/>
              </a:rPr>
              <a:t>        espacio S(n) implica tiempo O(</a:t>
            </a:r>
            <a:r>
              <a:rPr lang="es-AR" b="1" dirty="0" err="1">
                <a:solidFill>
                  <a:srgbClr val="0070C0"/>
                </a:solidFill>
                <a:latin typeface="Arial" panose="020B0604020202020204" pitchFamily="34" charset="0"/>
                <a:cs typeface="Arial" panose="020B0604020202020204" pitchFamily="34" charset="0"/>
              </a:rPr>
              <a:t>c</a:t>
            </a:r>
            <a:r>
              <a:rPr lang="es-AR" sz="2400" b="1" baseline="30000" dirty="0" err="1">
                <a:solidFill>
                  <a:srgbClr val="0070C0"/>
                </a:solidFill>
                <a:latin typeface="Arial" panose="020B0604020202020204" pitchFamily="34" charset="0"/>
                <a:cs typeface="Arial" panose="020B0604020202020204" pitchFamily="34" charset="0"/>
              </a:rPr>
              <a:t>S</a:t>
            </a:r>
            <a:r>
              <a:rPr lang="es-AR" sz="2400" b="1" baseline="30000" dirty="0">
                <a:solidFill>
                  <a:srgbClr val="0070C0"/>
                </a:solidFill>
                <a:latin typeface="Arial" panose="020B0604020202020204" pitchFamily="34" charset="0"/>
                <a:cs typeface="Arial" panose="020B0604020202020204" pitchFamily="34" charset="0"/>
              </a:rPr>
              <a:t>(n)</a:t>
            </a:r>
            <a:r>
              <a:rPr lang="es-AR" b="1" dirty="0">
                <a:solidFill>
                  <a:srgbClr val="0070C0"/>
                </a:solidFill>
                <a:latin typeface="Arial" panose="020B0604020202020204" pitchFamily="34" charset="0"/>
                <a:cs typeface="Arial" panose="020B0604020202020204" pitchFamily="34" charset="0"/>
              </a:rPr>
              <a:t>)</a:t>
            </a:r>
          </a:p>
          <a:p>
            <a:pPr marL="0" lvl="1" algn="just"/>
            <a:endParaRPr lang="es-AR" sz="1000" dirty="0">
              <a:latin typeface="Arial" panose="020B0604020202020204" pitchFamily="34" charset="0"/>
              <a:cs typeface="Arial" panose="020B0604020202020204" pitchFamily="34" charset="0"/>
            </a:endParaRPr>
          </a:p>
          <a:p>
            <a:pPr marL="0" lvl="1" algn="just"/>
            <a:endParaRPr lang="es-AR" sz="1000" dirty="0">
              <a:latin typeface="Arial" panose="020B0604020202020204" pitchFamily="34" charset="0"/>
              <a:cs typeface="Arial" panose="020B0604020202020204" pitchFamily="34" charset="0"/>
            </a:endParaRPr>
          </a:p>
          <a:p>
            <a:pPr marL="342900" lvl="1" indent="-342900" algn="just">
              <a:buFont typeface="Arial" panose="020B0604020202020204" pitchFamily="34" charset="0"/>
              <a:buChar char="•"/>
            </a:pPr>
            <a:r>
              <a:rPr lang="es-AR" b="1" dirty="0">
                <a:latin typeface="Arial" panose="020B0604020202020204" pitchFamily="34" charset="0"/>
                <a:cs typeface="Arial" panose="020B0604020202020204" pitchFamily="34" charset="0"/>
              </a:rPr>
              <a:t>Un lenguaje L pertenece a la clase SPACE(S(n)) </a:t>
            </a:r>
          </a:p>
          <a:p>
            <a:pPr marL="0" lvl="1" algn="just"/>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sii existe una MT que decide L en espacio O(S(n)). </a:t>
            </a:r>
          </a:p>
        </p:txBody>
      </p:sp>
      <p:cxnSp>
        <p:nvCxnSpPr>
          <p:cNvPr id="10" name="Conector recto 9">
            <a:extLst>
              <a:ext uri="{FF2B5EF4-FFF2-40B4-BE49-F238E27FC236}">
                <a16:creationId xmlns:a16="http://schemas.microsoft.com/office/drawing/2014/main" id="{F2922CE4-3B7D-422D-B75D-DB9098CFDA0C}"/>
              </a:ext>
            </a:extLst>
          </p:cNvPr>
          <p:cNvCxnSpPr>
            <a:cxnSpLocks/>
          </p:cNvCxnSpPr>
          <p:nvPr/>
        </p:nvCxnSpPr>
        <p:spPr>
          <a:xfrm>
            <a:off x="8976930" y="63158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1818340A-F9A0-429E-9B9E-546842E6C41F}"/>
              </a:ext>
            </a:extLst>
          </p:cNvPr>
          <p:cNvCxnSpPr>
            <a:cxnSpLocks/>
          </p:cNvCxnSpPr>
          <p:nvPr/>
        </p:nvCxnSpPr>
        <p:spPr>
          <a:xfrm>
            <a:off x="8976930" y="1000914"/>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7D5471BE-6263-4823-996C-331B1DC35BD0}"/>
              </a:ext>
            </a:extLst>
          </p:cNvPr>
          <p:cNvCxnSpPr>
            <a:cxnSpLocks/>
          </p:cNvCxnSpPr>
          <p:nvPr/>
        </p:nvCxnSpPr>
        <p:spPr>
          <a:xfrm>
            <a:off x="8969937" y="1193289"/>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B1026710-8C5A-4E3C-BBF8-F6C7062ABA03}"/>
              </a:ext>
            </a:extLst>
          </p:cNvPr>
          <p:cNvCxnSpPr>
            <a:cxnSpLocks/>
          </p:cNvCxnSpPr>
          <p:nvPr/>
        </p:nvCxnSpPr>
        <p:spPr>
          <a:xfrm>
            <a:off x="8969937" y="156262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A508F61C-0621-41D4-A60C-0F4F00919079}"/>
              </a:ext>
            </a:extLst>
          </p:cNvPr>
          <p:cNvSpPr/>
          <p:nvPr/>
        </p:nvSpPr>
        <p:spPr>
          <a:xfrm>
            <a:off x="9256920" y="2627341"/>
            <a:ext cx="1636295"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cinta de trabajo K</a:t>
            </a:r>
          </a:p>
        </p:txBody>
      </p:sp>
      <p:cxnSp>
        <p:nvCxnSpPr>
          <p:cNvPr id="22" name="Conector recto 21">
            <a:extLst>
              <a:ext uri="{FF2B5EF4-FFF2-40B4-BE49-F238E27FC236}">
                <a16:creationId xmlns:a16="http://schemas.microsoft.com/office/drawing/2014/main" id="{80B4E61A-CE1C-4CB5-82DE-9A03C090C6C8}"/>
              </a:ext>
            </a:extLst>
          </p:cNvPr>
          <p:cNvCxnSpPr>
            <a:cxnSpLocks/>
          </p:cNvCxnSpPr>
          <p:nvPr/>
        </p:nvCxnSpPr>
        <p:spPr>
          <a:xfrm>
            <a:off x="8969000" y="2596564"/>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615B9CDF-170C-4EBE-967E-AE7EBAC9E291}"/>
              </a:ext>
            </a:extLst>
          </p:cNvPr>
          <p:cNvCxnSpPr>
            <a:cxnSpLocks/>
          </p:cNvCxnSpPr>
          <p:nvPr/>
        </p:nvCxnSpPr>
        <p:spPr>
          <a:xfrm>
            <a:off x="8969000" y="2965896"/>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AB95F004-654A-46E9-88EB-14710FAF8AB0}"/>
              </a:ext>
            </a:extLst>
          </p:cNvPr>
          <p:cNvSpPr/>
          <p:nvPr/>
        </p:nvSpPr>
        <p:spPr>
          <a:xfrm>
            <a:off x="9256920" y="1718338"/>
            <a:ext cx="1636295" cy="307777"/>
          </a:xfrm>
          <a:prstGeom prst="rect">
            <a:avLst/>
          </a:prstGeom>
        </p:spPr>
        <p:txBody>
          <a:bodyPr wrap="square">
            <a:spAutoFit/>
          </a:bodyPr>
          <a:lstStyle/>
          <a:p>
            <a:r>
              <a:rPr lang="es-AR" sz="1400" dirty="0">
                <a:latin typeface="Arial" panose="020B0604020202020204" pitchFamily="34" charset="0"/>
                <a:cs typeface="Arial" panose="020B0604020202020204" pitchFamily="34" charset="0"/>
              </a:rPr>
              <a:t>cinta de trabajo 2</a:t>
            </a:r>
          </a:p>
        </p:txBody>
      </p:sp>
      <p:cxnSp>
        <p:nvCxnSpPr>
          <p:cNvPr id="25" name="Conector recto 24">
            <a:extLst>
              <a:ext uri="{FF2B5EF4-FFF2-40B4-BE49-F238E27FC236}">
                <a16:creationId xmlns:a16="http://schemas.microsoft.com/office/drawing/2014/main" id="{8EFD2074-832E-4D44-B296-BECF55942203}"/>
              </a:ext>
            </a:extLst>
          </p:cNvPr>
          <p:cNvCxnSpPr>
            <a:cxnSpLocks/>
          </p:cNvCxnSpPr>
          <p:nvPr/>
        </p:nvCxnSpPr>
        <p:spPr>
          <a:xfrm>
            <a:off x="8969000" y="168756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AF0A876-4E53-4B99-BAC1-E0AD9F7BF144}"/>
              </a:ext>
            </a:extLst>
          </p:cNvPr>
          <p:cNvCxnSpPr>
            <a:cxnSpLocks/>
          </p:cNvCxnSpPr>
          <p:nvPr/>
        </p:nvCxnSpPr>
        <p:spPr>
          <a:xfrm>
            <a:off x="8969000" y="205689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72C66622-5DCE-439F-A51D-37F2463F3D0C}"/>
              </a:ext>
            </a:extLst>
          </p:cNvPr>
          <p:cNvCxnSpPr>
            <a:cxnSpLocks/>
          </p:cNvCxnSpPr>
          <p:nvPr/>
        </p:nvCxnSpPr>
        <p:spPr>
          <a:xfrm>
            <a:off x="8948839" y="3230417"/>
            <a:ext cx="2229947" cy="0"/>
          </a:xfrm>
          <a:prstGeom prst="straightConnector1">
            <a:avLst/>
          </a:prstGeom>
          <a:ln w="254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814324A0-5C59-45A9-9398-020BB35C6645}"/>
              </a:ext>
            </a:extLst>
          </p:cNvPr>
          <p:cNvCxnSpPr>
            <a:cxnSpLocks/>
          </p:cNvCxnSpPr>
          <p:nvPr/>
        </p:nvCxnSpPr>
        <p:spPr>
          <a:xfrm>
            <a:off x="10011786" y="2185285"/>
            <a:ext cx="0" cy="34455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Slide Number Placeholder 2">
            <a:extLst>
              <a:ext uri="{FF2B5EF4-FFF2-40B4-BE49-F238E27FC236}">
                <a16:creationId xmlns:a16="http://schemas.microsoft.com/office/drawing/2014/main" id="{5C696E34-522B-4B18-9C26-421632085B07}"/>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59</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0" name="Rectángulo 39">
            <a:extLst>
              <a:ext uri="{FF2B5EF4-FFF2-40B4-BE49-F238E27FC236}">
                <a16:creationId xmlns:a16="http://schemas.microsoft.com/office/drawing/2014/main" id="{5D74E1F5-D748-4146-9F71-24F8B73F418D}"/>
              </a:ext>
            </a:extLst>
          </p:cNvPr>
          <p:cNvSpPr/>
          <p:nvPr/>
        </p:nvSpPr>
        <p:spPr>
          <a:xfrm>
            <a:off x="7618248" y="5866074"/>
            <a:ext cx="1147878" cy="276999"/>
          </a:xfrm>
          <a:prstGeom prst="rect">
            <a:avLst/>
          </a:prstGeom>
        </p:spPr>
        <p:txBody>
          <a:bodyPr wrap="none">
            <a:spAutoFit/>
          </a:bodyPr>
          <a:lstStyle/>
          <a:p>
            <a:r>
              <a:rPr lang="es-AR" sz="1200" b="1" dirty="0">
                <a:latin typeface="Arial" panose="020B0604020202020204" pitchFamily="34" charset="0"/>
                <a:cs typeface="Arial" panose="020B0604020202020204" pitchFamily="34" charset="0"/>
                <a:sym typeface="Symbol" panose="05050102010706020507" pitchFamily="18" charset="2"/>
              </a:rPr>
              <a:t>SPACE(S(n)) </a:t>
            </a:r>
            <a:endParaRPr lang="es-MX" sz="1200" b="1" dirty="0"/>
          </a:p>
        </p:txBody>
      </p:sp>
      <p:sp>
        <p:nvSpPr>
          <p:cNvPr id="41" name="Rectángulo 40">
            <a:extLst>
              <a:ext uri="{FF2B5EF4-FFF2-40B4-BE49-F238E27FC236}">
                <a16:creationId xmlns:a16="http://schemas.microsoft.com/office/drawing/2014/main" id="{854AC376-1815-4527-B376-734F515C8832}"/>
              </a:ext>
            </a:extLst>
          </p:cNvPr>
          <p:cNvSpPr/>
          <p:nvPr/>
        </p:nvSpPr>
        <p:spPr>
          <a:xfrm>
            <a:off x="6734217" y="5296689"/>
            <a:ext cx="303288"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1</a:t>
            </a:r>
            <a:endParaRPr lang="es-MX" sz="1000" dirty="0"/>
          </a:p>
        </p:txBody>
      </p:sp>
      <p:sp>
        <p:nvSpPr>
          <p:cNvPr id="42" name="Rectángulo 41">
            <a:extLst>
              <a:ext uri="{FF2B5EF4-FFF2-40B4-BE49-F238E27FC236}">
                <a16:creationId xmlns:a16="http://schemas.microsoft.com/office/drawing/2014/main" id="{D0F58804-1371-45AA-91F1-146A1C79EE8F}"/>
              </a:ext>
            </a:extLst>
          </p:cNvPr>
          <p:cNvSpPr/>
          <p:nvPr/>
        </p:nvSpPr>
        <p:spPr>
          <a:xfrm>
            <a:off x="7008642" y="5566350"/>
            <a:ext cx="303288"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3</a:t>
            </a:r>
            <a:endParaRPr lang="es-MX" sz="1000" dirty="0"/>
          </a:p>
        </p:txBody>
      </p:sp>
      <p:sp>
        <p:nvSpPr>
          <p:cNvPr id="43" name="Rectángulo 42">
            <a:extLst>
              <a:ext uri="{FF2B5EF4-FFF2-40B4-BE49-F238E27FC236}">
                <a16:creationId xmlns:a16="http://schemas.microsoft.com/office/drawing/2014/main" id="{A8D724CA-1E21-4A90-AE42-D6E5528A03C2}"/>
              </a:ext>
            </a:extLst>
          </p:cNvPr>
          <p:cNvSpPr/>
          <p:nvPr/>
        </p:nvSpPr>
        <p:spPr>
          <a:xfrm>
            <a:off x="6780745" y="5710087"/>
            <a:ext cx="303288"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4</a:t>
            </a:r>
            <a:endParaRPr lang="es-MX" sz="1000" dirty="0"/>
          </a:p>
        </p:txBody>
      </p:sp>
      <p:sp>
        <p:nvSpPr>
          <p:cNvPr id="44" name="Rectángulo 43">
            <a:extLst>
              <a:ext uri="{FF2B5EF4-FFF2-40B4-BE49-F238E27FC236}">
                <a16:creationId xmlns:a16="http://schemas.microsoft.com/office/drawing/2014/main" id="{A83F8DAF-9D6C-453D-88A6-BB639512BA04}"/>
              </a:ext>
            </a:extLst>
          </p:cNvPr>
          <p:cNvSpPr/>
          <p:nvPr/>
        </p:nvSpPr>
        <p:spPr>
          <a:xfrm>
            <a:off x="6452740" y="5881464"/>
            <a:ext cx="303288"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5</a:t>
            </a:r>
            <a:endParaRPr lang="es-MX" sz="1000" dirty="0"/>
          </a:p>
        </p:txBody>
      </p:sp>
      <p:sp>
        <p:nvSpPr>
          <p:cNvPr id="45" name="Rectángulo 44">
            <a:extLst>
              <a:ext uri="{FF2B5EF4-FFF2-40B4-BE49-F238E27FC236}">
                <a16:creationId xmlns:a16="http://schemas.microsoft.com/office/drawing/2014/main" id="{2EA92E96-60A0-4F7D-AEE7-8139808A365E}"/>
              </a:ext>
            </a:extLst>
          </p:cNvPr>
          <p:cNvSpPr/>
          <p:nvPr/>
        </p:nvSpPr>
        <p:spPr>
          <a:xfrm>
            <a:off x="7091833" y="6239622"/>
            <a:ext cx="298480" cy="246221"/>
          </a:xfrm>
          <a:prstGeom prst="rect">
            <a:avLst/>
          </a:prstGeom>
        </p:spPr>
        <p:txBody>
          <a:bodyPr wrap="none">
            <a:spAutoFit/>
          </a:bodyPr>
          <a:lstStyle/>
          <a:p>
            <a:r>
              <a:rPr lang="es-AR" sz="1000" dirty="0" err="1">
                <a:latin typeface="Arial" panose="020B0604020202020204" pitchFamily="34" charset="0"/>
                <a:cs typeface="Arial" panose="020B0604020202020204" pitchFamily="34" charset="0"/>
              </a:rPr>
              <a:t>L</a:t>
            </a:r>
            <a:r>
              <a:rPr lang="es-AR" sz="1000" baseline="-25000" dirty="0" err="1">
                <a:latin typeface="Arial" panose="020B0604020202020204" pitchFamily="34" charset="0"/>
                <a:cs typeface="Arial" panose="020B0604020202020204" pitchFamily="34" charset="0"/>
              </a:rPr>
              <a:t>k</a:t>
            </a:r>
            <a:endParaRPr lang="es-MX" sz="1000" dirty="0"/>
          </a:p>
        </p:txBody>
      </p:sp>
      <p:sp>
        <p:nvSpPr>
          <p:cNvPr id="46" name="Rectángulo 45">
            <a:extLst>
              <a:ext uri="{FF2B5EF4-FFF2-40B4-BE49-F238E27FC236}">
                <a16:creationId xmlns:a16="http://schemas.microsoft.com/office/drawing/2014/main" id="{70361D5A-D85D-4819-96EC-C1678797E92E}"/>
              </a:ext>
            </a:extLst>
          </p:cNvPr>
          <p:cNvSpPr/>
          <p:nvPr/>
        </p:nvSpPr>
        <p:spPr>
          <a:xfrm>
            <a:off x="6478089" y="5454780"/>
            <a:ext cx="303288"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2</a:t>
            </a:r>
            <a:endParaRPr lang="es-MX" sz="1000" dirty="0"/>
          </a:p>
        </p:txBody>
      </p:sp>
      <p:sp>
        <p:nvSpPr>
          <p:cNvPr id="47" name="Diagrama de flujo: conector 46">
            <a:extLst>
              <a:ext uri="{FF2B5EF4-FFF2-40B4-BE49-F238E27FC236}">
                <a16:creationId xmlns:a16="http://schemas.microsoft.com/office/drawing/2014/main" id="{F37296F6-07C0-48D4-A04F-0F880DA31541}"/>
              </a:ext>
            </a:extLst>
          </p:cNvPr>
          <p:cNvSpPr/>
          <p:nvPr/>
        </p:nvSpPr>
        <p:spPr>
          <a:xfrm>
            <a:off x="6140445" y="5296379"/>
            <a:ext cx="1505540" cy="141801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Rectángulo 47">
            <a:extLst>
              <a:ext uri="{FF2B5EF4-FFF2-40B4-BE49-F238E27FC236}">
                <a16:creationId xmlns:a16="http://schemas.microsoft.com/office/drawing/2014/main" id="{D8AF8013-26A6-42FA-AA82-23D22EE32525}"/>
              </a:ext>
            </a:extLst>
          </p:cNvPr>
          <p:cNvSpPr/>
          <p:nvPr/>
        </p:nvSpPr>
        <p:spPr>
          <a:xfrm>
            <a:off x="6757496" y="6419859"/>
            <a:ext cx="668674" cy="246221"/>
          </a:xfrm>
          <a:prstGeom prst="rect">
            <a:avLst/>
          </a:prstGeom>
        </p:spPr>
        <p:txBody>
          <a:bodyPr wrap="square">
            <a:spAutoFit/>
          </a:bodyPr>
          <a:lstStyle/>
          <a:p>
            <a:r>
              <a:rPr lang="es-MX" sz="1000" b="1" dirty="0">
                <a:latin typeface="Arial" panose="020B0604020202020204" pitchFamily="34" charset="0"/>
                <a:cs typeface="Arial" panose="020B0604020202020204" pitchFamily="34" charset="0"/>
              </a:rPr>
              <a:t>….. </a:t>
            </a:r>
            <a:endParaRPr lang="es-MX" sz="1000" b="1" dirty="0"/>
          </a:p>
        </p:txBody>
      </p:sp>
      <p:sp>
        <p:nvSpPr>
          <p:cNvPr id="49" name="Rectángulo 48">
            <a:extLst>
              <a:ext uri="{FF2B5EF4-FFF2-40B4-BE49-F238E27FC236}">
                <a16:creationId xmlns:a16="http://schemas.microsoft.com/office/drawing/2014/main" id="{3E20A823-53FD-42E8-BD8C-59D812ED75CB}"/>
              </a:ext>
            </a:extLst>
          </p:cNvPr>
          <p:cNvSpPr/>
          <p:nvPr/>
        </p:nvSpPr>
        <p:spPr>
          <a:xfrm>
            <a:off x="6758746" y="6009069"/>
            <a:ext cx="668674" cy="246221"/>
          </a:xfrm>
          <a:prstGeom prst="rect">
            <a:avLst/>
          </a:prstGeom>
        </p:spPr>
        <p:txBody>
          <a:bodyPr wrap="square">
            <a:spAutoFit/>
          </a:bodyPr>
          <a:lstStyle/>
          <a:p>
            <a:r>
              <a:rPr lang="es-MX" sz="1000" b="1" dirty="0">
                <a:latin typeface="Arial" panose="020B0604020202020204" pitchFamily="34" charset="0"/>
                <a:cs typeface="Arial" panose="020B0604020202020204" pitchFamily="34" charset="0"/>
              </a:rPr>
              <a:t>….. </a:t>
            </a:r>
            <a:endParaRPr lang="es-MX" sz="1000" b="1" dirty="0"/>
          </a:p>
        </p:txBody>
      </p:sp>
      <p:sp>
        <p:nvSpPr>
          <p:cNvPr id="50" name="Rectángulo 49">
            <a:extLst>
              <a:ext uri="{FF2B5EF4-FFF2-40B4-BE49-F238E27FC236}">
                <a16:creationId xmlns:a16="http://schemas.microsoft.com/office/drawing/2014/main" id="{D986FB46-6125-461A-87D7-E611778EEEAD}"/>
              </a:ext>
            </a:extLst>
          </p:cNvPr>
          <p:cNvSpPr/>
          <p:nvPr/>
        </p:nvSpPr>
        <p:spPr>
          <a:xfrm>
            <a:off x="6452740" y="6277671"/>
            <a:ext cx="396262" cy="246221"/>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a:t>
            </a:r>
            <a:r>
              <a:rPr lang="es-AR" sz="1000" baseline="-25000" dirty="0">
                <a:latin typeface="Arial" panose="020B0604020202020204" pitchFamily="34" charset="0"/>
                <a:cs typeface="Arial" panose="020B0604020202020204" pitchFamily="34" charset="0"/>
              </a:rPr>
              <a:t>k+1</a:t>
            </a:r>
            <a:endParaRPr lang="es-MX" sz="1000" dirty="0"/>
          </a:p>
        </p:txBody>
      </p:sp>
      <p:sp>
        <p:nvSpPr>
          <p:cNvPr id="52" name="Rectángulo 51">
            <a:extLst>
              <a:ext uri="{FF2B5EF4-FFF2-40B4-BE49-F238E27FC236}">
                <a16:creationId xmlns:a16="http://schemas.microsoft.com/office/drawing/2014/main" id="{4DBA3D49-8225-4DEA-9A81-FF8C1C21B684}"/>
              </a:ext>
            </a:extLst>
          </p:cNvPr>
          <p:cNvSpPr/>
          <p:nvPr/>
        </p:nvSpPr>
        <p:spPr>
          <a:xfrm>
            <a:off x="7618248" y="6172249"/>
            <a:ext cx="1263487" cy="400110"/>
          </a:xfrm>
          <a:prstGeom prst="rect">
            <a:avLst/>
          </a:prstGeom>
        </p:spPr>
        <p:txBody>
          <a:bodyPr wrap="none">
            <a:spAutoFit/>
          </a:bodyPr>
          <a:lstStyle/>
          <a:p>
            <a:r>
              <a:rPr lang="es-AR" sz="1000" dirty="0">
                <a:latin typeface="Arial" panose="020B0604020202020204" pitchFamily="34" charset="0"/>
                <a:cs typeface="Arial" panose="020B0604020202020204" pitchFamily="34" charset="0"/>
              </a:rPr>
              <a:t>Los L</a:t>
            </a:r>
            <a:r>
              <a:rPr lang="es-AR" sz="800" dirty="0">
                <a:latin typeface="Arial" panose="020B0604020202020204" pitchFamily="34" charset="0"/>
                <a:cs typeface="Arial" panose="020B0604020202020204" pitchFamily="34" charset="0"/>
              </a:rPr>
              <a:t>i</a:t>
            </a:r>
            <a:r>
              <a:rPr lang="es-AR" sz="1000" dirty="0">
                <a:latin typeface="Arial" panose="020B0604020202020204" pitchFamily="34" charset="0"/>
                <a:cs typeface="Arial" panose="020B0604020202020204" pitchFamily="34" charset="0"/>
              </a:rPr>
              <a:t> se deciden </a:t>
            </a:r>
          </a:p>
          <a:p>
            <a:r>
              <a:rPr lang="es-AR" sz="1000" dirty="0">
                <a:latin typeface="Arial" panose="020B0604020202020204" pitchFamily="34" charset="0"/>
                <a:cs typeface="Arial" panose="020B0604020202020204" pitchFamily="34" charset="0"/>
              </a:rPr>
              <a:t>en espacio O(S(n))</a:t>
            </a:r>
          </a:p>
        </p:txBody>
      </p:sp>
      <p:sp>
        <p:nvSpPr>
          <p:cNvPr id="14" name="Rectángulo 13">
            <a:extLst>
              <a:ext uri="{FF2B5EF4-FFF2-40B4-BE49-F238E27FC236}">
                <a16:creationId xmlns:a16="http://schemas.microsoft.com/office/drawing/2014/main" id="{E1B864AE-9B85-4EA8-9CA3-84800F1E2FCD}"/>
              </a:ext>
            </a:extLst>
          </p:cNvPr>
          <p:cNvSpPr/>
          <p:nvPr/>
        </p:nvSpPr>
        <p:spPr>
          <a:xfrm>
            <a:off x="8834582" y="1136507"/>
            <a:ext cx="2454380" cy="1910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3" name="Rectángulo 52">
            <a:extLst>
              <a:ext uri="{FF2B5EF4-FFF2-40B4-BE49-F238E27FC236}">
                <a16:creationId xmlns:a16="http://schemas.microsoft.com/office/drawing/2014/main" id="{E4DB11B4-D37A-440F-8ED6-A1A684337A83}"/>
              </a:ext>
            </a:extLst>
          </p:cNvPr>
          <p:cNvSpPr/>
          <p:nvPr/>
        </p:nvSpPr>
        <p:spPr>
          <a:xfrm>
            <a:off x="9196340" y="4148950"/>
            <a:ext cx="197724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a:t>
            </a:r>
            <a:r>
              <a:rPr lang="es-AR" sz="1600" dirty="0" err="1">
                <a:latin typeface="Arial" panose="020B0604020202020204" pitchFamily="34" charset="0"/>
                <a:cs typeface="Arial" panose="020B0604020202020204" pitchFamily="34" charset="0"/>
              </a:rPr>
              <a:t>abbcaabc</a:t>
            </a:r>
            <a:r>
              <a:rPr lang="es-AR" sz="1600" dirty="0">
                <a:latin typeface="Arial" panose="020B0604020202020204" pitchFamily="34" charset="0"/>
                <a:cs typeface="Arial" panose="020B0604020202020204" pitchFamily="34" charset="0"/>
              </a:rPr>
              <a:t>…</a:t>
            </a:r>
          </a:p>
        </p:txBody>
      </p:sp>
      <p:cxnSp>
        <p:nvCxnSpPr>
          <p:cNvPr id="55" name="Conector recto 54">
            <a:extLst>
              <a:ext uri="{FF2B5EF4-FFF2-40B4-BE49-F238E27FC236}">
                <a16:creationId xmlns:a16="http://schemas.microsoft.com/office/drawing/2014/main" id="{DF5F9B6C-A6B9-410E-AF1A-091FCFFCC337}"/>
              </a:ext>
            </a:extLst>
          </p:cNvPr>
          <p:cNvCxnSpPr>
            <a:cxnSpLocks/>
          </p:cNvCxnSpPr>
          <p:nvPr/>
        </p:nvCxnSpPr>
        <p:spPr>
          <a:xfrm rot="120000" flipV="1">
            <a:off x="9105713" y="4152225"/>
            <a:ext cx="1707955" cy="64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92D7DA3B-C92F-4E88-A6E6-8FDCBDDDC6A6}"/>
              </a:ext>
            </a:extLst>
          </p:cNvPr>
          <p:cNvCxnSpPr>
            <a:cxnSpLocks/>
          </p:cNvCxnSpPr>
          <p:nvPr/>
        </p:nvCxnSpPr>
        <p:spPr>
          <a:xfrm>
            <a:off x="9092112" y="4482457"/>
            <a:ext cx="1708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ángulo 58">
            <a:extLst>
              <a:ext uri="{FF2B5EF4-FFF2-40B4-BE49-F238E27FC236}">
                <a16:creationId xmlns:a16="http://schemas.microsoft.com/office/drawing/2014/main" id="{C4B30EE9-29E1-4875-9F2A-C72120EA66AF}"/>
              </a:ext>
            </a:extLst>
          </p:cNvPr>
          <p:cNvSpPr/>
          <p:nvPr/>
        </p:nvSpPr>
        <p:spPr>
          <a:xfrm>
            <a:off x="9948436" y="5476505"/>
            <a:ext cx="255198"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Rectángulo 59">
            <a:extLst>
              <a:ext uri="{FF2B5EF4-FFF2-40B4-BE49-F238E27FC236}">
                <a16:creationId xmlns:a16="http://schemas.microsoft.com/office/drawing/2014/main" id="{A71FBED0-1755-4571-A73D-D495B4CC7204}"/>
              </a:ext>
            </a:extLst>
          </p:cNvPr>
          <p:cNvSpPr/>
          <p:nvPr/>
        </p:nvSpPr>
        <p:spPr>
          <a:xfrm>
            <a:off x="9911998" y="5407254"/>
            <a:ext cx="298480" cy="338554"/>
          </a:xfrm>
          <a:prstGeom prst="rect">
            <a:avLst/>
          </a:prstGeom>
        </p:spPr>
        <p:txBody>
          <a:bodyPr wrap="none">
            <a:spAutoFit/>
          </a:bodyPr>
          <a:lstStyle/>
          <a:p>
            <a:r>
              <a:rPr lang="es-MX" sz="1600" dirty="0">
                <a:latin typeface="Arial" panose="020B0604020202020204" pitchFamily="34" charset="0"/>
                <a:cs typeface="Arial" panose="020B0604020202020204" pitchFamily="34" charset="0"/>
              </a:rPr>
              <a:t>q</a:t>
            </a:r>
            <a:endParaRPr lang="es-MX" sz="1600" dirty="0"/>
          </a:p>
        </p:txBody>
      </p:sp>
      <p:cxnSp>
        <p:nvCxnSpPr>
          <p:cNvPr id="61" name="Conector recto de flecha 60">
            <a:extLst>
              <a:ext uri="{FF2B5EF4-FFF2-40B4-BE49-F238E27FC236}">
                <a16:creationId xmlns:a16="http://schemas.microsoft.com/office/drawing/2014/main" id="{C26DC2C2-EDEA-459A-9407-9B2C196B702F}"/>
              </a:ext>
            </a:extLst>
          </p:cNvPr>
          <p:cNvCxnSpPr>
            <a:cxnSpLocks/>
            <a:endCxn id="6" idx="2"/>
          </p:cNvCxnSpPr>
          <p:nvPr/>
        </p:nvCxnSpPr>
        <p:spPr>
          <a:xfrm flipV="1">
            <a:off x="10059898" y="5004369"/>
            <a:ext cx="264547" cy="4490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ector recto de flecha 61">
            <a:extLst>
              <a:ext uri="{FF2B5EF4-FFF2-40B4-BE49-F238E27FC236}">
                <a16:creationId xmlns:a16="http://schemas.microsoft.com/office/drawing/2014/main" id="{FAAE8DBA-9592-4ABA-917E-8EEEB48F94C6}"/>
              </a:ext>
            </a:extLst>
          </p:cNvPr>
          <p:cNvCxnSpPr>
            <a:cxnSpLocks/>
          </p:cNvCxnSpPr>
          <p:nvPr/>
        </p:nvCxnSpPr>
        <p:spPr>
          <a:xfrm flipH="1" flipV="1">
            <a:off x="9335822" y="4482457"/>
            <a:ext cx="727692" cy="994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ector recto de flecha 62">
            <a:extLst>
              <a:ext uri="{FF2B5EF4-FFF2-40B4-BE49-F238E27FC236}">
                <a16:creationId xmlns:a16="http://schemas.microsoft.com/office/drawing/2014/main" id="{9F0C46BC-18F4-46CA-A756-16BF95A8D9A0}"/>
              </a:ext>
            </a:extLst>
          </p:cNvPr>
          <p:cNvCxnSpPr>
            <a:cxnSpLocks/>
          </p:cNvCxnSpPr>
          <p:nvPr/>
        </p:nvCxnSpPr>
        <p:spPr>
          <a:xfrm>
            <a:off x="9019737" y="5922676"/>
            <a:ext cx="2229947" cy="0"/>
          </a:xfrm>
          <a:prstGeom prst="straightConnector1">
            <a:avLst/>
          </a:prstGeom>
          <a:ln w="254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Rectángulo 63">
            <a:extLst>
              <a:ext uri="{FF2B5EF4-FFF2-40B4-BE49-F238E27FC236}">
                <a16:creationId xmlns:a16="http://schemas.microsoft.com/office/drawing/2014/main" id="{11BE9933-7B2B-49DA-AE6B-9A735C4F8B12}"/>
              </a:ext>
            </a:extLst>
          </p:cNvPr>
          <p:cNvSpPr/>
          <p:nvPr/>
        </p:nvSpPr>
        <p:spPr>
          <a:xfrm>
            <a:off x="9867659" y="5916736"/>
            <a:ext cx="634608" cy="338554"/>
          </a:xfrm>
          <a:prstGeom prst="rect">
            <a:avLst/>
          </a:prstGeom>
        </p:spPr>
        <p:txBody>
          <a:bodyPr wrap="square">
            <a:spAutoFit/>
          </a:bodyPr>
          <a:lstStyle/>
          <a:p>
            <a:r>
              <a:rPr lang="es-AR" sz="1600" b="1" dirty="0">
                <a:solidFill>
                  <a:srgbClr val="FF0000"/>
                </a:solidFill>
                <a:latin typeface="Arial" panose="020B0604020202020204" pitchFamily="34" charset="0"/>
                <a:cs typeface="Arial" panose="020B0604020202020204" pitchFamily="34" charset="0"/>
              </a:rPr>
              <a:t>S(n)</a:t>
            </a:r>
          </a:p>
        </p:txBody>
      </p:sp>
      <p:sp>
        <p:nvSpPr>
          <p:cNvPr id="65" name="CuadroTexto 64">
            <a:extLst>
              <a:ext uri="{FF2B5EF4-FFF2-40B4-BE49-F238E27FC236}">
                <a16:creationId xmlns:a16="http://schemas.microsoft.com/office/drawing/2014/main" id="{B8146616-513C-4EE7-90EF-92B27862B7D6}"/>
              </a:ext>
            </a:extLst>
          </p:cNvPr>
          <p:cNvSpPr txBox="1"/>
          <p:nvPr/>
        </p:nvSpPr>
        <p:spPr>
          <a:xfrm>
            <a:off x="10806336" y="4810173"/>
            <a:ext cx="1504342" cy="276999"/>
          </a:xfrm>
          <a:prstGeom prst="rect">
            <a:avLst/>
          </a:prstGeom>
          <a:noFill/>
        </p:spPr>
        <p:txBody>
          <a:bodyPr wrap="square">
            <a:spAutoFit/>
          </a:bodyPr>
          <a:lstStyle/>
          <a:p>
            <a:r>
              <a:rPr lang="es-AR" sz="1200" dirty="0">
                <a:latin typeface="Arial" panose="020B0604020202020204" pitchFamily="34" charset="0"/>
                <a:cs typeface="Arial" panose="020B0604020202020204" pitchFamily="34" charset="0"/>
              </a:rPr>
              <a:t>|</a:t>
            </a:r>
            <a:r>
              <a:rPr lang="es-AR" sz="1200" dirty="0">
                <a:effectLst/>
                <a:latin typeface="Arial" panose="020B0604020202020204" pitchFamily="34" charset="0"/>
                <a:ea typeface="Calibri" panose="020F0502020204030204" pitchFamily="34" charset="0"/>
              </a:rPr>
              <a:t>Γ</a:t>
            </a:r>
            <a:r>
              <a:rPr lang="es-AR" sz="1200" dirty="0">
                <a:latin typeface="Arial" panose="020B0604020202020204" pitchFamily="34" charset="0"/>
                <a:cs typeface="Arial" panose="020B0604020202020204" pitchFamily="34" charset="0"/>
              </a:rPr>
              <a:t>|</a:t>
            </a:r>
            <a:r>
              <a:rPr lang="es-AR" sz="1200" baseline="30000" dirty="0">
                <a:latin typeface="Arial" panose="020B0604020202020204" pitchFamily="34" charset="0"/>
                <a:cs typeface="Arial" panose="020B0604020202020204" pitchFamily="34" charset="0"/>
              </a:rPr>
              <a:t>S(n) </a:t>
            </a:r>
            <a:r>
              <a:rPr lang="es-AR" sz="1200" dirty="0">
                <a:latin typeface="Arial" panose="020B0604020202020204" pitchFamily="34" charset="0"/>
                <a:cs typeface="Arial" panose="020B0604020202020204" pitchFamily="34" charset="0"/>
              </a:rPr>
              <a:t>contenidos</a:t>
            </a:r>
            <a:endParaRPr lang="es-AR" sz="1200" dirty="0"/>
          </a:p>
        </p:txBody>
      </p:sp>
      <p:sp>
        <p:nvSpPr>
          <p:cNvPr id="66" name="CuadroTexto 65">
            <a:extLst>
              <a:ext uri="{FF2B5EF4-FFF2-40B4-BE49-F238E27FC236}">
                <a16:creationId xmlns:a16="http://schemas.microsoft.com/office/drawing/2014/main" id="{85BC7A03-BA95-46B3-908F-6F20CE0A9C56}"/>
              </a:ext>
            </a:extLst>
          </p:cNvPr>
          <p:cNvSpPr txBox="1"/>
          <p:nvPr/>
        </p:nvSpPr>
        <p:spPr>
          <a:xfrm>
            <a:off x="10214989" y="5459597"/>
            <a:ext cx="1917193" cy="276999"/>
          </a:xfrm>
          <a:prstGeom prst="rect">
            <a:avLst/>
          </a:prstGeom>
          <a:noFill/>
        </p:spPr>
        <p:txBody>
          <a:bodyPr wrap="square">
            <a:spAutoFit/>
          </a:bodyPr>
          <a:lstStyle/>
          <a:p>
            <a:r>
              <a:rPr lang="es-AR" sz="1200" dirty="0">
                <a:latin typeface="Arial" panose="020B0604020202020204" pitchFamily="34" charset="0"/>
                <a:cs typeface="Arial" panose="020B0604020202020204" pitchFamily="34" charset="0"/>
              </a:rPr>
              <a:t>|Q| estados</a:t>
            </a:r>
            <a:endParaRPr lang="es-AR" sz="1200" dirty="0"/>
          </a:p>
        </p:txBody>
      </p:sp>
      <p:sp>
        <p:nvSpPr>
          <p:cNvPr id="67" name="CuadroTexto 66">
            <a:extLst>
              <a:ext uri="{FF2B5EF4-FFF2-40B4-BE49-F238E27FC236}">
                <a16:creationId xmlns:a16="http://schemas.microsoft.com/office/drawing/2014/main" id="{C0708D56-1A61-4179-9BE9-3C659ADF14A6}"/>
              </a:ext>
            </a:extLst>
          </p:cNvPr>
          <p:cNvSpPr txBox="1"/>
          <p:nvPr/>
        </p:nvSpPr>
        <p:spPr>
          <a:xfrm>
            <a:off x="10814280" y="4594491"/>
            <a:ext cx="1039019" cy="276999"/>
          </a:xfrm>
          <a:prstGeom prst="rect">
            <a:avLst/>
          </a:prstGeom>
          <a:noFill/>
        </p:spPr>
        <p:txBody>
          <a:bodyPr wrap="square">
            <a:spAutoFit/>
          </a:bodyPr>
          <a:lstStyle/>
          <a:p>
            <a:r>
              <a:rPr lang="es-AR" sz="1200" dirty="0">
                <a:latin typeface="Arial" panose="020B0604020202020204" pitchFamily="34" charset="0"/>
                <a:cs typeface="Arial" panose="020B0604020202020204" pitchFamily="34" charset="0"/>
              </a:rPr>
              <a:t>S(n) celdas</a:t>
            </a:r>
            <a:endParaRPr lang="es-AR" sz="1200" dirty="0"/>
          </a:p>
        </p:txBody>
      </p:sp>
      <p:sp>
        <p:nvSpPr>
          <p:cNvPr id="68" name="CuadroTexto 67">
            <a:extLst>
              <a:ext uri="{FF2B5EF4-FFF2-40B4-BE49-F238E27FC236}">
                <a16:creationId xmlns:a16="http://schemas.microsoft.com/office/drawing/2014/main" id="{321B532E-E4BA-46AF-9386-7A66864C9506}"/>
              </a:ext>
            </a:extLst>
          </p:cNvPr>
          <p:cNvSpPr txBox="1"/>
          <p:nvPr/>
        </p:nvSpPr>
        <p:spPr>
          <a:xfrm>
            <a:off x="10770026" y="4215775"/>
            <a:ext cx="1917193" cy="276999"/>
          </a:xfrm>
          <a:prstGeom prst="rect">
            <a:avLst/>
          </a:prstGeom>
          <a:noFill/>
        </p:spPr>
        <p:txBody>
          <a:bodyPr wrap="square">
            <a:spAutoFit/>
          </a:bodyPr>
          <a:lstStyle/>
          <a:p>
            <a:r>
              <a:rPr lang="es-AR" sz="1200" dirty="0">
                <a:latin typeface="Arial" panose="020B0604020202020204" pitchFamily="34" charset="0"/>
                <a:cs typeface="Arial" panose="020B0604020202020204" pitchFamily="34" charset="0"/>
              </a:rPr>
              <a:t>n celdas</a:t>
            </a:r>
            <a:endParaRPr lang="es-AR" sz="1200" dirty="0"/>
          </a:p>
        </p:txBody>
      </p:sp>
      <p:sp>
        <p:nvSpPr>
          <p:cNvPr id="3" name="Rectángulo 2">
            <a:extLst>
              <a:ext uri="{FF2B5EF4-FFF2-40B4-BE49-F238E27FC236}">
                <a16:creationId xmlns:a16="http://schemas.microsoft.com/office/drawing/2014/main" id="{A04C6892-488A-2C5A-2C80-4FF90FEDAB98}"/>
              </a:ext>
            </a:extLst>
          </p:cNvPr>
          <p:cNvSpPr/>
          <p:nvPr/>
        </p:nvSpPr>
        <p:spPr>
          <a:xfrm>
            <a:off x="249172" y="143605"/>
            <a:ext cx="11708250"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Clase 7. Complejidad espacial</a:t>
            </a:r>
          </a:p>
        </p:txBody>
      </p:sp>
      <p:sp>
        <p:nvSpPr>
          <p:cNvPr id="6" name="Rectángulo 5">
            <a:extLst>
              <a:ext uri="{FF2B5EF4-FFF2-40B4-BE49-F238E27FC236}">
                <a16:creationId xmlns:a16="http://schemas.microsoft.com/office/drawing/2014/main" id="{AF582DF2-6595-A391-41C5-D2F486F654EB}"/>
              </a:ext>
            </a:extLst>
          </p:cNvPr>
          <p:cNvSpPr/>
          <p:nvPr/>
        </p:nvSpPr>
        <p:spPr>
          <a:xfrm>
            <a:off x="9335822" y="4665815"/>
            <a:ext cx="1977246" cy="338554"/>
          </a:xfrm>
          <a:prstGeom prst="rect">
            <a:avLst/>
          </a:prstGeom>
        </p:spPr>
        <p:txBody>
          <a:bodyPr wrap="square">
            <a:spAutoFit/>
          </a:bodyPr>
          <a:lstStyle/>
          <a:p>
            <a:r>
              <a:rPr lang="es-AR" sz="1600" dirty="0">
                <a:latin typeface="Arial" panose="020B0604020202020204" pitchFamily="34" charset="0"/>
                <a:cs typeface="Arial" panose="020B0604020202020204" pitchFamily="34" charset="0"/>
              </a:rPr>
              <a:t>…</a:t>
            </a:r>
            <a:r>
              <a:rPr lang="es-AR" sz="1600" dirty="0" err="1">
                <a:latin typeface="Arial" panose="020B0604020202020204" pitchFamily="34" charset="0"/>
                <a:cs typeface="Arial" panose="020B0604020202020204" pitchFamily="34" charset="0"/>
              </a:rPr>
              <a:t>xxyxxxz</a:t>
            </a:r>
            <a:r>
              <a:rPr lang="es-AR" sz="1600" dirty="0">
                <a:latin typeface="Arial" panose="020B0604020202020204" pitchFamily="34" charset="0"/>
                <a:cs typeface="Arial" panose="020B0604020202020204" pitchFamily="34" charset="0"/>
              </a:rPr>
              <a:t>…</a:t>
            </a:r>
          </a:p>
        </p:txBody>
      </p:sp>
      <p:cxnSp>
        <p:nvCxnSpPr>
          <p:cNvPr id="8" name="Conector recto 7">
            <a:extLst>
              <a:ext uri="{FF2B5EF4-FFF2-40B4-BE49-F238E27FC236}">
                <a16:creationId xmlns:a16="http://schemas.microsoft.com/office/drawing/2014/main" id="{1E17FE09-2554-CB97-0A94-008EB658D7EC}"/>
              </a:ext>
            </a:extLst>
          </p:cNvPr>
          <p:cNvCxnSpPr>
            <a:cxnSpLocks/>
          </p:cNvCxnSpPr>
          <p:nvPr/>
        </p:nvCxnSpPr>
        <p:spPr>
          <a:xfrm rot="120000" flipV="1">
            <a:off x="9142156" y="4669882"/>
            <a:ext cx="1707955" cy="64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C1F72DA6-7151-C4EF-750F-FB218B3A8DF0}"/>
              </a:ext>
            </a:extLst>
          </p:cNvPr>
          <p:cNvCxnSpPr>
            <a:cxnSpLocks/>
          </p:cNvCxnSpPr>
          <p:nvPr/>
        </p:nvCxnSpPr>
        <p:spPr>
          <a:xfrm>
            <a:off x="9128555" y="5000114"/>
            <a:ext cx="1708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7356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2823CBE-5E8E-4CBD-A07D-6112B0E8B381}"/>
              </a:ext>
            </a:extLst>
          </p:cNvPr>
          <p:cNvSpPr/>
          <p:nvPr/>
        </p:nvSpPr>
        <p:spPr>
          <a:xfrm>
            <a:off x="221090" y="181957"/>
            <a:ext cx="11612844" cy="4893647"/>
          </a:xfrm>
          <a:prstGeom prst="rect">
            <a:avLst/>
          </a:prstGeom>
        </p:spPr>
        <p:txBody>
          <a:bodyPr wrap="square">
            <a:spAutoFit/>
          </a:bodyPr>
          <a:lstStyle/>
          <a:p>
            <a:pPr algn="just"/>
            <a:r>
              <a:rPr lang="es-AR" sz="2400" b="1" dirty="0">
                <a:latin typeface="Arial" panose="020B0604020202020204" pitchFamily="34" charset="0"/>
                <a:cs typeface="Arial" panose="020B0604020202020204" pitchFamily="34" charset="0"/>
              </a:rPr>
              <a:t>Ejemplo. El lenguaje de los palíndromos o capicúas.</a:t>
            </a:r>
          </a:p>
          <a:p>
            <a:pPr algn="just"/>
            <a:endParaRPr lang="es-AR" b="1" dirty="0">
              <a:latin typeface="Arial" panose="020B0604020202020204" pitchFamily="34" charset="0"/>
              <a:cs typeface="Arial" panose="020B0604020202020204" pitchFamily="34" charset="0"/>
            </a:endParaRPr>
          </a:p>
          <a:p>
            <a:pPr lvl="0" algn="just"/>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L = {</a:t>
            </a:r>
            <a:r>
              <a:rPr lang="es-AR" altLang="es-MX" dirty="0" err="1">
                <a:solidFill>
                  <a:srgbClr val="000000"/>
                </a:solidFill>
                <a:latin typeface="Arial" panose="020B0604020202020204" pitchFamily="34" charset="0"/>
                <a:ea typeface="Times New Roman" panose="02020603050405020304" pitchFamily="18" charset="0"/>
                <a:cs typeface="Arial" panose="020B0604020202020204" pitchFamily="34" charset="0"/>
              </a:rPr>
              <a:t>wcw</a:t>
            </a:r>
            <a:r>
              <a:rPr lang="es-AR" altLang="es-MX" baseline="30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R</a:t>
            </a:r>
            <a:r>
              <a:rPr lang="es-AR" altLang="es-MX"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w tiene cero o más símbolos </a:t>
            </a:r>
            <a:r>
              <a:rPr lang="es-AR" altLang="es-MX" i="1" dirty="0">
                <a:solidFill>
                  <a:srgbClr val="000000"/>
                </a:solidFill>
                <a:latin typeface="Arial" panose="020B0604020202020204" pitchFamily="34" charset="0"/>
                <a:ea typeface="Times New Roman" panose="02020603050405020304" pitchFamily="18" charset="0"/>
                <a:cs typeface="Arial" panose="020B0604020202020204" pitchFamily="34" charset="0"/>
              </a:rPr>
              <a:t>a</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y b, y </a:t>
            </a:r>
            <a:r>
              <a:rPr lang="es-AR" altLang="es-MX" dirty="0" err="1">
                <a:solidFill>
                  <a:srgbClr val="000000"/>
                </a:solidFill>
                <a:latin typeface="Arial" panose="020B0604020202020204" pitchFamily="34" charset="0"/>
                <a:ea typeface="Times New Roman" panose="02020603050405020304" pitchFamily="18" charset="0"/>
                <a:cs typeface="Arial" panose="020B0604020202020204" pitchFamily="34" charset="0"/>
              </a:rPr>
              <a:t>w</a:t>
            </a:r>
            <a:r>
              <a:rPr lang="es-AR" altLang="es-MX" baseline="30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R</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es la cadena inversa de w}. P.ej., </a:t>
            </a:r>
            <a:r>
              <a:rPr lang="es-AR" altLang="es-MX" dirty="0" err="1">
                <a:solidFill>
                  <a:srgbClr val="000000"/>
                </a:solidFill>
                <a:latin typeface="Arial" panose="020B0604020202020204" pitchFamily="34" charset="0"/>
                <a:ea typeface="Times New Roman" panose="02020603050405020304" pitchFamily="18" charset="0"/>
                <a:cs typeface="Arial" panose="020B0604020202020204" pitchFamily="34" charset="0"/>
              </a:rPr>
              <a:t>abbbcbbba</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está en L.</a:t>
            </a:r>
          </a:p>
          <a:p>
            <a:pPr lvl="0" algn="just"/>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0" algn="just"/>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L se puede decidir en espacio </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O(n)</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Pero en realidad alcanza con espacio </a:t>
            </a:r>
            <a:r>
              <a:rPr lang="es-AR" altLang="es-MX" b="1" dirty="0">
                <a:solidFill>
                  <a:srgbClr val="0070C0"/>
                </a:solidFill>
                <a:latin typeface="Arial" panose="020B0604020202020204" pitchFamily="34" charset="0"/>
                <a:ea typeface="Times New Roman" panose="02020603050405020304" pitchFamily="18" charset="0"/>
                <a:cs typeface="Arial" panose="020B0604020202020204" pitchFamily="34" charset="0"/>
              </a:rPr>
              <a:t>O(log</a:t>
            </a:r>
            <a:r>
              <a:rPr lang="es-ES" b="1" baseline="-25000" dirty="0">
                <a:solidFill>
                  <a:srgbClr val="0070C0"/>
                </a:solidFill>
                <a:latin typeface="Arial" panose="020B0604020202020204" pitchFamily="34" charset="0"/>
                <a:cs typeface="Arial" panose="020B0604020202020204" pitchFamily="34" charset="0"/>
              </a:rPr>
              <a:t>2</a:t>
            </a:r>
            <a:r>
              <a:rPr lang="es-AR" altLang="es-MX" b="1" dirty="0">
                <a:solidFill>
                  <a:srgbClr val="0070C0"/>
                </a:solidFill>
                <a:latin typeface="Arial" panose="020B0604020202020204" pitchFamily="34" charset="0"/>
                <a:ea typeface="Times New Roman" panose="02020603050405020304" pitchFamily="18" charset="0"/>
                <a:cs typeface="Arial" panose="020B0604020202020204" pitchFamily="34" charset="0"/>
              </a:rPr>
              <a:t>n).</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Una MT M que decide L en espacio O(log</a:t>
            </a:r>
            <a:r>
              <a:rPr lang="es-ES" baseline="-25000" dirty="0">
                <a:latin typeface="Arial" panose="020B0604020202020204" pitchFamily="34" charset="0"/>
                <a:cs typeface="Arial" panose="020B0604020202020204" pitchFamily="34" charset="0"/>
              </a:rPr>
              <a:t>2</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n), usando codificación binaria, se comporta  de la siguiente manera:</a:t>
            </a:r>
          </a:p>
          <a:p>
            <a:pPr lvl="0" algn="just"/>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0" algn="just"/>
            <a:endPar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457200" lvl="0" indent="-457200" algn="just">
              <a:buFont typeface="+mj-lt"/>
              <a:buAutoNum type="arabicPeriod"/>
            </a:pPr>
            <a:r>
              <a:rPr lang="es-AR" dirty="0">
                <a:latin typeface="Arial" panose="020B0604020202020204" pitchFamily="34" charset="0"/>
                <a:cs typeface="Arial" panose="020B0604020202020204" pitchFamily="34" charset="0"/>
              </a:rPr>
              <a:t>Hacer i = 1 en la cinta 1.</a:t>
            </a:r>
          </a:p>
          <a:p>
            <a:pPr marL="457200" lvl="0" indent="-457200" algn="just">
              <a:buFont typeface="+mj-lt"/>
              <a:buAutoNum type="arabicPeriod"/>
            </a:pPr>
            <a:r>
              <a:rPr lang="es-AR" dirty="0">
                <a:latin typeface="Arial" panose="020B0604020202020204" pitchFamily="34" charset="0"/>
                <a:cs typeface="Arial" panose="020B0604020202020204" pitchFamily="34" charset="0"/>
              </a:rPr>
              <a:t>Hacer j = n en la cinta 2, con n = |w|. Si j es par,</a:t>
            </a:r>
            <a:r>
              <a:rPr lang="es-AR" altLang="es-MX" dirty="0">
                <a:solidFill>
                  <a:srgbClr val="C00000"/>
                </a:solidFill>
                <a:latin typeface="Arial" panose="020B0604020202020204" pitchFamily="34" charset="0"/>
                <a:ea typeface="Times New Roman" panose="02020603050405020304" pitchFamily="18" charset="0"/>
                <a:cs typeface="Arial" panose="020B0604020202020204" pitchFamily="34" charset="0"/>
              </a:rPr>
              <a:t> rechazar</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s-AR" dirty="0">
                <a:latin typeface="Arial" panose="020B0604020202020204" pitchFamily="34" charset="0"/>
                <a:cs typeface="Arial" panose="020B0604020202020204" pitchFamily="34" charset="0"/>
              </a:rPr>
              <a:t> </a:t>
            </a:r>
          </a:p>
          <a:p>
            <a:pPr marL="457200" lvl="0" indent="-457200" algn="just">
              <a:buFont typeface="+mj-lt"/>
              <a:buAutoNum type="arabicPeriod"/>
            </a:pPr>
            <a:r>
              <a:rPr lang="es-AR" dirty="0">
                <a:latin typeface="Arial" panose="020B0604020202020204" pitchFamily="34" charset="0"/>
                <a:cs typeface="Arial" panose="020B0604020202020204" pitchFamily="34" charset="0"/>
              </a:rPr>
              <a:t>Copiar el símbolo i de w en la cinta 3.</a:t>
            </a:r>
          </a:p>
          <a:p>
            <a:pPr marL="457200" lvl="0" indent="-457200" algn="just">
              <a:buFont typeface="+mj-lt"/>
              <a:buAutoNum type="arabicPeriod"/>
            </a:pPr>
            <a:r>
              <a:rPr lang="es-AR" dirty="0">
                <a:latin typeface="Arial" panose="020B0604020202020204" pitchFamily="34" charset="0"/>
                <a:cs typeface="Arial" panose="020B0604020202020204" pitchFamily="34" charset="0"/>
              </a:rPr>
              <a:t>Copiar el símbolo j de w en la cinta 4.</a:t>
            </a:r>
          </a:p>
          <a:p>
            <a:pPr marL="457200" indent="-457200" algn="just">
              <a:buFont typeface="+mj-lt"/>
              <a:buAutoNum type="arabicPeriod"/>
            </a:pPr>
            <a:r>
              <a:rPr lang="es-AR" dirty="0">
                <a:latin typeface="Arial" panose="020B0604020202020204" pitchFamily="34" charset="0"/>
                <a:cs typeface="Arial" panose="020B0604020202020204" pitchFamily="34" charset="0"/>
              </a:rPr>
              <a:t>Si i = j : si los símbolos son </a:t>
            </a:r>
            <a:r>
              <a:rPr lang="es-AR" b="1" dirty="0">
                <a:latin typeface="Arial" panose="020B0604020202020204" pitchFamily="34" charset="0"/>
                <a:cs typeface="Arial" panose="020B0604020202020204" pitchFamily="34" charset="0"/>
              </a:rPr>
              <a:t>c, </a:t>
            </a:r>
            <a:r>
              <a:rPr lang="es-AR" altLang="es-MX" dirty="0">
                <a:solidFill>
                  <a:srgbClr val="C00000"/>
                </a:solidFill>
                <a:latin typeface="Arial" panose="020B0604020202020204" pitchFamily="34" charset="0"/>
                <a:ea typeface="Times New Roman" panose="02020603050405020304" pitchFamily="18" charset="0"/>
                <a:cs typeface="Arial" panose="020B0604020202020204" pitchFamily="34" charset="0"/>
              </a:rPr>
              <a:t>aceptar</a:t>
            </a:r>
            <a:r>
              <a:rPr lang="es-AR" altLang="es-MX" dirty="0">
                <a:latin typeface="Arial" panose="020B0604020202020204" pitchFamily="34" charset="0"/>
                <a:ea typeface="Times New Roman" panose="02020603050405020304" pitchFamily="18" charset="0"/>
                <a:cs typeface="Arial" panose="020B0604020202020204" pitchFamily="34" charset="0"/>
              </a:rPr>
              <a:t>,</a:t>
            </a:r>
            <a:r>
              <a:rPr lang="es-AR" altLang="es-MX" dirty="0">
                <a:solidFill>
                  <a:srgbClr val="C00000"/>
                </a:solidFill>
                <a:latin typeface="Arial" panose="020B0604020202020204" pitchFamily="34" charset="0"/>
                <a:ea typeface="Times New Roman" panose="02020603050405020304" pitchFamily="18" charset="0"/>
                <a:cs typeface="Arial" panose="020B0604020202020204" pitchFamily="34" charset="0"/>
              </a:rPr>
              <a:t> </a:t>
            </a:r>
            <a:r>
              <a:rPr lang="es-AR" dirty="0">
                <a:latin typeface="Arial" panose="020B0604020202020204" pitchFamily="34" charset="0"/>
                <a:cs typeface="Arial" panose="020B0604020202020204" pitchFamily="34" charset="0"/>
              </a:rPr>
              <a:t>si no, </a:t>
            </a:r>
            <a:r>
              <a:rPr lang="es-AR" altLang="es-MX" dirty="0">
                <a:solidFill>
                  <a:srgbClr val="C00000"/>
                </a:solidFill>
                <a:latin typeface="Arial" panose="020B0604020202020204" pitchFamily="34" charset="0"/>
                <a:ea typeface="Times New Roman" panose="02020603050405020304" pitchFamily="18" charset="0"/>
                <a:cs typeface="Arial" panose="020B0604020202020204" pitchFamily="34" charset="0"/>
              </a:rPr>
              <a:t>rechazar</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s-AR" dirty="0">
                <a:latin typeface="Arial" panose="020B0604020202020204" pitchFamily="34" charset="0"/>
                <a:cs typeface="Arial" panose="020B0604020202020204" pitchFamily="34" charset="0"/>
              </a:rPr>
              <a:t>  </a:t>
            </a:r>
          </a:p>
          <a:p>
            <a:pPr lvl="0" algn="just"/>
            <a:r>
              <a:rPr lang="es-AR" dirty="0">
                <a:latin typeface="Arial" panose="020B0604020202020204" pitchFamily="34" charset="0"/>
                <a:cs typeface="Arial" panose="020B0604020202020204" pitchFamily="34" charset="0"/>
              </a:rPr>
              <a:t>       Si i ≠ </a:t>
            </a:r>
            <a:r>
              <a:rPr lang="es-AR" dirty="0"/>
              <a:t>j :  si </a:t>
            </a:r>
            <a:r>
              <a:rPr lang="es-AR" dirty="0">
                <a:latin typeface="Arial" panose="020B0604020202020204" pitchFamily="34" charset="0"/>
                <a:cs typeface="Arial" panose="020B0604020202020204" pitchFamily="34" charset="0"/>
              </a:rPr>
              <a:t>los símbolos no son igualmente </a:t>
            </a:r>
            <a:r>
              <a:rPr lang="es-AR" altLang="es-MX" b="1" i="1" dirty="0">
                <a:latin typeface="Arial" panose="020B0604020202020204" pitchFamily="34" charset="0"/>
                <a:ea typeface="Times New Roman" panose="02020603050405020304" pitchFamily="18" charset="0"/>
                <a:cs typeface="Arial" panose="020B0604020202020204" pitchFamily="34" charset="0"/>
              </a:rPr>
              <a:t>a</a:t>
            </a:r>
            <a:r>
              <a:rPr lang="es-AR" altLang="es-MX" b="1" dirty="0">
                <a:latin typeface="Arial" panose="020B0604020202020204" pitchFamily="34" charset="0"/>
                <a:ea typeface="Times New Roman" panose="02020603050405020304" pitchFamily="18" charset="0"/>
                <a:cs typeface="Arial" panose="020B0604020202020204" pitchFamily="34" charset="0"/>
              </a:rPr>
              <a:t> </a:t>
            </a:r>
            <a:r>
              <a:rPr lang="es-AR" altLang="es-MX" dirty="0">
                <a:latin typeface="Arial" panose="020B0604020202020204" pitchFamily="34" charset="0"/>
                <a:ea typeface="Times New Roman" panose="02020603050405020304" pitchFamily="18" charset="0"/>
                <a:cs typeface="Arial" panose="020B0604020202020204" pitchFamily="34" charset="0"/>
              </a:rPr>
              <a:t>o </a:t>
            </a:r>
            <a:r>
              <a:rPr lang="es-AR" altLang="es-MX" b="1" dirty="0">
                <a:latin typeface="Arial" panose="020B0604020202020204" pitchFamily="34" charset="0"/>
                <a:ea typeface="Times New Roman" panose="02020603050405020304" pitchFamily="18" charset="0"/>
                <a:cs typeface="Arial" panose="020B0604020202020204" pitchFamily="34" charset="0"/>
              </a:rPr>
              <a:t>b</a:t>
            </a:r>
            <a:r>
              <a:rPr lang="es-AR" altLang="es-MX" dirty="0">
                <a:latin typeface="Arial" panose="020B0604020202020204" pitchFamily="34" charset="0"/>
                <a:ea typeface="Times New Roman" panose="02020603050405020304" pitchFamily="18" charset="0"/>
                <a:cs typeface="Arial" panose="020B0604020202020204" pitchFamily="34" charset="0"/>
              </a:rPr>
              <a:t>,</a:t>
            </a:r>
            <a:r>
              <a:rPr lang="es-AR" altLang="es-MX" dirty="0">
                <a:solidFill>
                  <a:srgbClr val="C00000"/>
                </a:solidFill>
                <a:latin typeface="Arial" panose="020B0604020202020204" pitchFamily="34" charset="0"/>
                <a:ea typeface="Times New Roman" panose="02020603050405020304" pitchFamily="18" charset="0"/>
                <a:cs typeface="Arial" panose="020B0604020202020204" pitchFamily="34" charset="0"/>
              </a:rPr>
              <a:t> rechazar</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p>
          <a:p>
            <a:pPr marL="457200" lvl="0" indent="-457200" algn="just">
              <a:buFont typeface="+mj-lt"/>
              <a:buAutoNum type="arabicPeriod" startAt="6"/>
            </a:pP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Hacer i = i + 1 en la cinta 1.</a:t>
            </a:r>
          </a:p>
          <a:p>
            <a:pPr marL="457200" lvl="0" indent="-457200" algn="just">
              <a:buFont typeface="+mj-lt"/>
              <a:buAutoNum type="arabicPeriod" startAt="6"/>
            </a:pP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Hacer j = j – 1 en la cinta 2.</a:t>
            </a:r>
          </a:p>
          <a:p>
            <a:pPr marL="457200" lvl="0" indent="-457200" algn="just">
              <a:buFont typeface="+mj-lt"/>
              <a:buAutoNum type="arabicPeriod" startAt="6"/>
            </a:pP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Volver al paso 3.</a:t>
            </a:r>
          </a:p>
        </p:txBody>
      </p:sp>
      <p:sp>
        <p:nvSpPr>
          <p:cNvPr id="3" name="Slide Number Placeholder 2">
            <a:extLst>
              <a:ext uri="{FF2B5EF4-FFF2-40B4-BE49-F238E27FC236}">
                <a16:creationId xmlns:a16="http://schemas.microsoft.com/office/drawing/2014/main" id="{565CCD5A-11FD-4DEF-A59C-DE0794EE206A}"/>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60</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4" name="Rectángulo 3">
            <a:extLst>
              <a:ext uri="{FF2B5EF4-FFF2-40B4-BE49-F238E27FC236}">
                <a16:creationId xmlns:a16="http://schemas.microsoft.com/office/drawing/2014/main" id="{65EB5608-9C5D-4E9A-B37E-02AAC145DCA9}"/>
              </a:ext>
            </a:extLst>
          </p:cNvPr>
          <p:cNvSpPr/>
          <p:nvPr/>
        </p:nvSpPr>
        <p:spPr>
          <a:xfrm>
            <a:off x="7579281" y="2730295"/>
            <a:ext cx="1977246" cy="246221"/>
          </a:xfrm>
          <a:prstGeom prst="rect">
            <a:avLst/>
          </a:prstGeom>
        </p:spPr>
        <p:txBody>
          <a:bodyPr wrap="square">
            <a:spAutoFit/>
          </a:bodyPr>
          <a:lstStyle/>
          <a:p>
            <a:r>
              <a:rPr lang="es-AR" sz="1000" b="1" dirty="0">
                <a:latin typeface="Arial" panose="020B0604020202020204" pitchFamily="34" charset="0"/>
                <a:cs typeface="Arial" panose="020B0604020202020204" pitchFamily="34" charset="0"/>
              </a:rPr>
              <a:t>a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c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a:t>
            </a:r>
          </a:p>
        </p:txBody>
      </p:sp>
      <p:cxnSp>
        <p:nvCxnSpPr>
          <p:cNvPr id="6" name="Conector recto 5">
            <a:extLst>
              <a:ext uri="{FF2B5EF4-FFF2-40B4-BE49-F238E27FC236}">
                <a16:creationId xmlns:a16="http://schemas.microsoft.com/office/drawing/2014/main" id="{A122BDA2-9FB8-48E0-B8FF-BF30C40C1BB2}"/>
              </a:ext>
            </a:extLst>
          </p:cNvPr>
          <p:cNvCxnSpPr>
            <a:cxnSpLocks/>
          </p:cNvCxnSpPr>
          <p:nvPr/>
        </p:nvCxnSpPr>
        <p:spPr>
          <a:xfrm>
            <a:off x="7064804" y="271883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AC88E367-AB61-438A-8726-0A6083AAF491}"/>
              </a:ext>
            </a:extLst>
          </p:cNvPr>
          <p:cNvCxnSpPr>
            <a:cxnSpLocks/>
          </p:cNvCxnSpPr>
          <p:nvPr/>
        </p:nvCxnSpPr>
        <p:spPr>
          <a:xfrm>
            <a:off x="7064804" y="296505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73C915C4-D214-4977-8CD3-EC23ADDA39ED}"/>
              </a:ext>
            </a:extLst>
          </p:cNvPr>
          <p:cNvSpPr/>
          <p:nvPr/>
        </p:nvSpPr>
        <p:spPr>
          <a:xfrm>
            <a:off x="7561832" y="3088162"/>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i = 1</a:t>
            </a:r>
          </a:p>
        </p:txBody>
      </p:sp>
      <p:cxnSp>
        <p:nvCxnSpPr>
          <p:cNvPr id="17" name="Conector recto 16">
            <a:extLst>
              <a:ext uri="{FF2B5EF4-FFF2-40B4-BE49-F238E27FC236}">
                <a16:creationId xmlns:a16="http://schemas.microsoft.com/office/drawing/2014/main" id="{18C4E23F-4FD1-4847-931B-00B6043BDA67}"/>
              </a:ext>
            </a:extLst>
          </p:cNvPr>
          <p:cNvCxnSpPr>
            <a:cxnSpLocks/>
          </p:cNvCxnSpPr>
          <p:nvPr/>
        </p:nvCxnSpPr>
        <p:spPr>
          <a:xfrm>
            <a:off x="7064804" y="308816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E1082DB-FE8C-4281-8614-7318245B5AE8}"/>
              </a:ext>
            </a:extLst>
          </p:cNvPr>
          <p:cNvCxnSpPr>
            <a:cxnSpLocks/>
          </p:cNvCxnSpPr>
          <p:nvPr/>
        </p:nvCxnSpPr>
        <p:spPr>
          <a:xfrm>
            <a:off x="7064804" y="333438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56AA1112-62B3-41EA-A746-707688E74FEA}"/>
              </a:ext>
            </a:extLst>
          </p:cNvPr>
          <p:cNvSpPr/>
          <p:nvPr/>
        </p:nvSpPr>
        <p:spPr>
          <a:xfrm>
            <a:off x="7563204" y="3457491"/>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j = 9</a:t>
            </a:r>
          </a:p>
        </p:txBody>
      </p:sp>
      <p:cxnSp>
        <p:nvCxnSpPr>
          <p:cNvPr id="20" name="Conector recto 19">
            <a:extLst>
              <a:ext uri="{FF2B5EF4-FFF2-40B4-BE49-F238E27FC236}">
                <a16:creationId xmlns:a16="http://schemas.microsoft.com/office/drawing/2014/main" id="{CFFA2D45-C98F-488D-8798-97DF4E218013}"/>
              </a:ext>
            </a:extLst>
          </p:cNvPr>
          <p:cNvCxnSpPr>
            <a:cxnSpLocks/>
          </p:cNvCxnSpPr>
          <p:nvPr/>
        </p:nvCxnSpPr>
        <p:spPr>
          <a:xfrm>
            <a:off x="7066176" y="345749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FDAD6753-F846-4A08-87A6-010F8B5A9C4D}"/>
              </a:ext>
            </a:extLst>
          </p:cNvPr>
          <p:cNvCxnSpPr>
            <a:cxnSpLocks/>
          </p:cNvCxnSpPr>
          <p:nvPr/>
        </p:nvCxnSpPr>
        <p:spPr>
          <a:xfrm>
            <a:off x="7066176" y="370371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9AFE2242-0CEB-47CB-94E0-EC83FC0404E3}"/>
              </a:ext>
            </a:extLst>
          </p:cNvPr>
          <p:cNvSpPr/>
          <p:nvPr/>
        </p:nvSpPr>
        <p:spPr>
          <a:xfrm>
            <a:off x="7561832" y="3819027"/>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a</a:t>
            </a:r>
          </a:p>
        </p:txBody>
      </p:sp>
      <p:cxnSp>
        <p:nvCxnSpPr>
          <p:cNvPr id="23" name="Conector recto 22">
            <a:extLst>
              <a:ext uri="{FF2B5EF4-FFF2-40B4-BE49-F238E27FC236}">
                <a16:creationId xmlns:a16="http://schemas.microsoft.com/office/drawing/2014/main" id="{029D5588-36FD-4703-8BEA-F4993D436235}"/>
              </a:ext>
            </a:extLst>
          </p:cNvPr>
          <p:cNvCxnSpPr>
            <a:cxnSpLocks/>
          </p:cNvCxnSpPr>
          <p:nvPr/>
        </p:nvCxnSpPr>
        <p:spPr>
          <a:xfrm>
            <a:off x="7064804" y="3819027"/>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9E4CB4CB-7599-4070-B602-31C376DF7CDB}"/>
              </a:ext>
            </a:extLst>
          </p:cNvPr>
          <p:cNvCxnSpPr>
            <a:cxnSpLocks/>
          </p:cNvCxnSpPr>
          <p:nvPr/>
        </p:nvCxnSpPr>
        <p:spPr>
          <a:xfrm>
            <a:off x="7064804" y="4065248"/>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A559F6C5-0B46-4EEA-9241-678CD3CF3796}"/>
              </a:ext>
            </a:extLst>
          </p:cNvPr>
          <p:cNvSpPr/>
          <p:nvPr/>
        </p:nvSpPr>
        <p:spPr>
          <a:xfrm>
            <a:off x="7561832" y="4187280"/>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a</a:t>
            </a:r>
          </a:p>
        </p:txBody>
      </p:sp>
      <p:cxnSp>
        <p:nvCxnSpPr>
          <p:cNvPr id="26" name="Conector recto 25">
            <a:extLst>
              <a:ext uri="{FF2B5EF4-FFF2-40B4-BE49-F238E27FC236}">
                <a16:creationId xmlns:a16="http://schemas.microsoft.com/office/drawing/2014/main" id="{7D721708-334D-4D8C-A541-23C3D8898E82}"/>
              </a:ext>
            </a:extLst>
          </p:cNvPr>
          <p:cNvCxnSpPr>
            <a:cxnSpLocks/>
          </p:cNvCxnSpPr>
          <p:nvPr/>
        </p:nvCxnSpPr>
        <p:spPr>
          <a:xfrm>
            <a:off x="7064804" y="4187280"/>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8B93AF67-74CD-4A8D-8469-E51727F7D64C}"/>
              </a:ext>
            </a:extLst>
          </p:cNvPr>
          <p:cNvCxnSpPr>
            <a:cxnSpLocks/>
          </p:cNvCxnSpPr>
          <p:nvPr/>
        </p:nvCxnSpPr>
        <p:spPr>
          <a:xfrm>
            <a:off x="7064804" y="443350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ángulo 27">
            <a:extLst>
              <a:ext uri="{FF2B5EF4-FFF2-40B4-BE49-F238E27FC236}">
                <a16:creationId xmlns:a16="http://schemas.microsoft.com/office/drawing/2014/main" id="{B46E6800-BEC3-47D8-A6CE-36612BB3A337}"/>
              </a:ext>
            </a:extLst>
          </p:cNvPr>
          <p:cNvSpPr/>
          <p:nvPr/>
        </p:nvSpPr>
        <p:spPr>
          <a:xfrm>
            <a:off x="6870412" y="3080365"/>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1</a:t>
            </a:r>
            <a:endParaRPr lang="es-MX" sz="1000" dirty="0"/>
          </a:p>
        </p:txBody>
      </p:sp>
      <p:sp>
        <p:nvSpPr>
          <p:cNvPr id="29" name="Rectángulo 28">
            <a:extLst>
              <a:ext uri="{FF2B5EF4-FFF2-40B4-BE49-F238E27FC236}">
                <a16:creationId xmlns:a16="http://schemas.microsoft.com/office/drawing/2014/main" id="{2CE44050-FF9B-429B-9CE0-F0BFA4B41978}"/>
              </a:ext>
            </a:extLst>
          </p:cNvPr>
          <p:cNvSpPr/>
          <p:nvPr/>
        </p:nvSpPr>
        <p:spPr>
          <a:xfrm>
            <a:off x="6870412" y="3461597"/>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2</a:t>
            </a:r>
            <a:endParaRPr lang="es-MX" sz="1000" dirty="0"/>
          </a:p>
        </p:txBody>
      </p:sp>
      <p:sp>
        <p:nvSpPr>
          <p:cNvPr id="30" name="Rectángulo 29">
            <a:extLst>
              <a:ext uri="{FF2B5EF4-FFF2-40B4-BE49-F238E27FC236}">
                <a16:creationId xmlns:a16="http://schemas.microsoft.com/office/drawing/2014/main" id="{93CAD356-3CCF-4AC2-93EC-90CCE45D8F2F}"/>
              </a:ext>
            </a:extLst>
          </p:cNvPr>
          <p:cNvSpPr/>
          <p:nvPr/>
        </p:nvSpPr>
        <p:spPr>
          <a:xfrm>
            <a:off x="6870412" y="3807062"/>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3</a:t>
            </a:r>
            <a:endParaRPr lang="es-MX" sz="1000" dirty="0"/>
          </a:p>
        </p:txBody>
      </p:sp>
      <p:sp>
        <p:nvSpPr>
          <p:cNvPr id="31" name="Rectángulo 30">
            <a:extLst>
              <a:ext uri="{FF2B5EF4-FFF2-40B4-BE49-F238E27FC236}">
                <a16:creationId xmlns:a16="http://schemas.microsoft.com/office/drawing/2014/main" id="{5F344E9F-80A0-4D5E-9ABB-DE3EEE5E5CC1}"/>
              </a:ext>
            </a:extLst>
          </p:cNvPr>
          <p:cNvSpPr/>
          <p:nvPr/>
        </p:nvSpPr>
        <p:spPr>
          <a:xfrm>
            <a:off x="6875352" y="4175816"/>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4</a:t>
            </a:r>
            <a:endParaRPr lang="es-MX" sz="1000" dirty="0"/>
          </a:p>
        </p:txBody>
      </p:sp>
      <p:sp>
        <p:nvSpPr>
          <p:cNvPr id="32" name="Rectángulo 31">
            <a:extLst>
              <a:ext uri="{FF2B5EF4-FFF2-40B4-BE49-F238E27FC236}">
                <a16:creationId xmlns:a16="http://schemas.microsoft.com/office/drawing/2014/main" id="{7CD57DE4-87EF-4F04-91D7-3B26B48862BA}"/>
              </a:ext>
            </a:extLst>
          </p:cNvPr>
          <p:cNvSpPr/>
          <p:nvPr/>
        </p:nvSpPr>
        <p:spPr>
          <a:xfrm>
            <a:off x="7368574" y="2483023"/>
            <a:ext cx="2413468" cy="246221"/>
          </a:xfrm>
          <a:prstGeom prst="rect">
            <a:avLst/>
          </a:prstGeom>
        </p:spPr>
        <p:txBody>
          <a:bodyPr wrap="square">
            <a:spAutoFit/>
          </a:bodyPr>
          <a:lstStyle/>
          <a:p>
            <a:r>
              <a:rPr lang="es-AR" sz="1000" b="1" dirty="0">
                <a:solidFill>
                  <a:srgbClr val="7030A0"/>
                </a:solidFill>
                <a:latin typeface="Arial" panose="020B0604020202020204" pitchFamily="34" charset="0"/>
                <a:cs typeface="Arial" panose="020B0604020202020204" pitchFamily="34" charset="0"/>
              </a:rPr>
              <a:t>Ejemplo (1ra iteración)</a:t>
            </a:r>
          </a:p>
        </p:txBody>
      </p:sp>
      <p:cxnSp>
        <p:nvCxnSpPr>
          <p:cNvPr id="35" name="Conector recto 34">
            <a:extLst>
              <a:ext uri="{FF2B5EF4-FFF2-40B4-BE49-F238E27FC236}">
                <a16:creationId xmlns:a16="http://schemas.microsoft.com/office/drawing/2014/main" id="{91FE8413-9DBD-44F3-BD0C-7782DA556071}"/>
              </a:ext>
            </a:extLst>
          </p:cNvPr>
          <p:cNvCxnSpPr>
            <a:cxnSpLocks/>
          </p:cNvCxnSpPr>
          <p:nvPr/>
        </p:nvCxnSpPr>
        <p:spPr>
          <a:xfrm>
            <a:off x="9599012" y="271883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1E95A04-68F1-4336-92D2-B83774810868}"/>
              </a:ext>
            </a:extLst>
          </p:cNvPr>
          <p:cNvCxnSpPr>
            <a:cxnSpLocks/>
          </p:cNvCxnSpPr>
          <p:nvPr/>
        </p:nvCxnSpPr>
        <p:spPr>
          <a:xfrm>
            <a:off x="9599012" y="296505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27A8EAC6-2E5B-4920-A887-B8E0A3278C32}"/>
              </a:ext>
            </a:extLst>
          </p:cNvPr>
          <p:cNvSpPr/>
          <p:nvPr/>
        </p:nvSpPr>
        <p:spPr>
          <a:xfrm>
            <a:off x="10096040" y="3088162"/>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i = 2</a:t>
            </a:r>
          </a:p>
        </p:txBody>
      </p:sp>
      <p:cxnSp>
        <p:nvCxnSpPr>
          <p:cNvPr id="38" name="Conector recto 37">
            <a:extLst>
              <a:ext uri="{FF2B5EF4-FFF2-40B4-BE49-F238E27FC236}">
                <a16:creationId xmlns:a16="http://schemas.microsoft.com/office/drawing/2014/main" id="{EC71DC56-CAFA-4515-9561-05E3774AB49A}"/>
              </a:ext>
            </a:extLst>
          </p:cNvPr>
          <p:cNvCxnSpPr>
            <a:cxnSpLocks/>
          </p:cNvCxnSpPr>
          <p:nvPr/>
        </p:nvCxnSpPr>
        <p:spPr>
          <a:xfrm>
            <a:off x="9599012" y="308816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110C335D-B328-40B9-83AD-841D5AD545F3}"/>
              </a:ext>
            </a:extLst>
          </p:cNvPr>
          <p:cNvCxnSpPr>
            <a:cxnSpLocks/>
          </p:cNvCxnSpPr>
          <p:nvPr/>
        </p:nvCxnSpPr>
        <p:spPr>
          <a:xfrm>
            <a:off x="9599012" y="333438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ángulo 39">
            <a:extLst>
              <a:ext uri="{FF2B5EF4-FFF2-40B4-BE49-F238E27FC236}">
                <a16:creationId xmlns:a16="http://schemas.microsoft.com/office/drawing/2014/main" id="{4F76F894-AC5D-4F5D-A853-E3D5A0D2AB1D}"/>
              </a:ext>
            </a:extLst>
          </p:cNvPr>
          <p:cNvSpPr/>
          <p:nvPr/>
        </p:nvSpPr>
        <p:spPr>
          <a:xfrm>
            <a:off x="10097412" y="3457491"/>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j = 8</a:t>
            </a:r>
          </a:p>
        </p:txBody>
      </p:sp>
      <p:cxnSp>
        <p:nvCxnSpPr>
          <p:cNvPr id="41" name="Conector recto 40">
            <a:extLst>
              <a:ext uri="{FF2B5EF4-FFF2-40B4-BE49-F238E27FC236}">
                <a16:creationId xmlns:a16="http://schemas.microsoft.com/office/drawing/2014/main" id="{3EBDA6B9-EAE1-4A85-8225-C2154FB5652A}"/>
              </a:ext>
            </a:extLst>
          </p:cNvPr>
          <p:cNvCxnSpPr>
            <a:cxnSpLocks/>
          </p:cNvCxnSpPr>
          <p:nvPr/>
        </p:nvCxnSpPr>
        <p:spPr>
          <a:xfrm>
            <a:off x="9600384" y="345749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84147B77-5571-4E34-B1BF-63BDAAB3B376}"/>
              </a:ext>
            </a:extLst>
          </p:cNvPr>
          <p:cNvCxnSpPr>
            <a:cxnSpLocks/>
          </p:cNvCxnSpPr>
          <p:nvPr/>
        </p:nvCxnSpPr>
        <p:spPr>
          <a:xfrm>
            <a:off x="9600384" y="370371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ángulo 42">
            <a:extLst>
              <a:ext uri="{FF2B5EF4-FFF2-40B4-BE49-F238E27FC236}">
                <a16:creationId xmlns:a16="http://schemas.microsoft.com/office/drawing/2014/main" id="{26247AF0-DE5A-4902-A3F9-A6E907437B76}"/>
              </a:ext>
            </a:extLst>
          </p:cNvPr>
          <p:cNvSpPr/>
          <p:nvPr/>
        </p:nvSpPr>
        <p:spPr>
          <a:xfrm>
            <a:off x="10096040" y="3819027"/>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b</a:t>
            </a:r>
          </a:p>
        </p:txBody>
      </p:sp>
      <p:cxnSp>
        <p:nvCxnSpPr>
          <p:cNvPr id="44" name="Conector recto 43">
            <a:extLst>
              <a:ext uri="{FF2B5EF4-FFF2-40B4-BE49-F238E27FC236}">
                <a16:creationId xmlns:a16="http://schemas.microsoft.com/office/drawing/2014/main" id="{A3C86E9F-1D98-4117-8FDA-6D7025B14F07}"/>
              </a:ext>
            </a:extLst>
          </p:cNvPr>
          <p:cNvCxnSpPr>
            <a:cxnSpLocks/>
          </p:cNvCxnSpPr>
          <p:nvPr/>
        </p:nvCxnSpPr>
        <p:spPr>
          <a:xfrm>
            <a:off x="9599012" y="3819027"/>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E648F575-77F9-4192-9F3F-030E47D6D903}"/>
              </a:ext>
            </a:extLst>
          </p:cNvPr>
          <p:cNvCxnSpPr>
            <a:cxnSpLocks/>
          </p:cNvCxnSpPr>
          <p:nvPr/>
        </p:nvCxnSpPr>
        <p:spPr>
          <a:xfrm>
            <a:off x="9599012" y="4065248"/>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ángulo 45">
            <a:extLst>
              <a:ext uri="{FF2B5EF4-FFF2-40B4-BE49-F238E27FC236}">
                <a16:creationId xmlns:a16="http://schemas.microsoft.com/office/drawing/2014/main" id="{B8A2FF30-9073-48B5-9619-FC1154A1FB21}"/>
              </a:ext>
            </a:extLst>
          </p:cNvPr>
          <p:cNvSpPr/>
          <p:nvPr/>
        </p:nvSpPr>
        <p:spPr>
          <a:xfrm>
            <a:off x="10096040" y="4187280"/>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b</a:t>
            </a:r>
          </a:p>
        </p:txBody>
      </p:sp>
      <p:cxnSp>
        <p:nvCxnSpPr>
          <p:cNvPr id="47" name="Conector recto 46">
            <a:extLst>
              <a:ext uri="{FF2B5EF4-FFF2-40B4-BE49-F238E27FC236}">
                <a16:creationId xmlns:a16="http://schemas.microsoft.com/office/drawing/2014/main" id="{69DAEEC6-5075-4639-B47C-2BB29E4FB443}"/>
              </a:ext>
            </a:extLst>
          </p:cNvPr>
          <p:cNvCxnSpPr>
            <a:cxnSpLocks/>
          </p:cNvCxnSpPr>
          <p:nvPr/>
        </p:nvCxnSpPr>
        <p:spPr>
          <a:xfrm>
            <a:off x="9599012" y="4187280"/>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A380452F-A4FF-456D-B932-C4E2E5BBC999}"/>
              </a:ext>
            </a:extLst>
          </p:cNvPr>
          <p:cNvCxnSpPr>
            <a:cxnSpLocks/>
          </p:cNvCxnSpPr>
          <p:nvPr/>
        </p:nvCxnSpPr>
        <p:spPr>
          <a:xfrm>
            <a:off x="9599012" y="443350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ángulo 48">
            <a:extLst>
              <a:ext uri="{FF2B5EF4-FFF2-40B4-BE49-F238E27FC236}">
                <a16:creationId xmlns:a16="http://schemas.microsoft.com/office/drawing/2014/main" id="{7CD6AA94-5272-469F-9877-E927A30A0D01}"/>
              </a:ext>
            </a:extLst>
          </p:cNvPr>
          <p:cNvSpPr/>
          <p:nvPr/>
        </p:nvSpPr>
        <p:spPr>
          <a:xfrm>
            <a:off x="9404620" y="3080365"/>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1</a:t>
            </a:r>
            <a:endParaRPr lang="es-MX" sz="1000" dirty="0"/>
          </a:p>
        </p:txBody>
      </p:sp>
      <p:sp>
        <p:nvSpPr>
          <p:cNvPr id="50" name="Rectángulo 49">
            <a:extLst>
              <a:ext uri="{FF2B5EF4-FFF2-40B4-BE49-F238E27FC236}">
                <a16:creationId xmlns:a16="http://schemas.microsoft.com/office/drawing/2014/main" id="{96E38105-A35A-414A-A9EC-C12322216E94}"/>
              </a:ext>
            </a:extLst>
          </p:cNvPr>
          <p:cNvSpPr/>
          <p:nvPr/>
        </p:nvSpPr>
        <p:spPr>
          <a:xfrm>
            <a:off x="9404620" y="3461597"/>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2</a:t>
            </a:r>
            <a:endParaRPr lang="es-MX" sz="1000" dirty="0"/>
          </a:p>
        </p:txBody>
      </p:sp>
      <p:sp>
        <p:nvSpPr>
          <p:cNvPr id="51" name="Rectángulo 50">
            <a:extLst>
              <a:ext uri="{FF2B5EF4-FFF2-40B4-BE49-F238E27FC236}">
                <a16:creationId xmlns:a16="http://schemas.microsoft.com/office/drawing/2014/main" id="{58CC3E40-E2CB-4DEC-85C5-A7DA22415115}"/>
              </a:ext>
            </a:extLst>
          </p:cNvPr>
          <p:cNvSpPr/>
          <p:nvPr/>
        </p:nvSpPr>
        <p:spPr>
          <a:xfrm>
            <a:off x="9404620" y="3807062"/>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3</a:t>
            </a:r>
            <a:endParaRPr lang="es-MX" sz="1000" dirty="0"/>
          </a:p>
        </p:txBody>
      </p:sp>
      <p:sp>
        <p:nvSpPr>
          <p:cNvPr id="52" name="Rectángulo 51">
            <a:extLst>
              <a:ext uri="{FF2B5EF4-FFF2-40B4-BE49-F238E27FC236}">
                <a16:creationId xmlns:a16="http://schemas.microsoft.com/office/drawing/2014/main" id="{9B8A75BE-7BF0-41C2-9D17-09699060199C}"/>
              </a:ext>
            </a:extLst>
          </p:cNvPr>
          <p:cNvSpPr/>
          <p:nvPr/>
        </p:nvSpPr>
        <p:spPr>
          <a:xfrm>
            <a:off x="9409560" y="4175816"/>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4</a:t>
            </a:r>
            <a:endParaRPr lang="es-MX" sz="1000" dirty="0"/>
          </a:p>
        </p:txBody>
      </p:sp>
      <p:sp>
        <p:nvSpPr>
          <p:cNvPr id="53" name="Rectángulo 52">
            <a:extLst>
              <a:ext uri="{FF2B5EF4-FFF2-40B4-BE49-F238E27FC236}">
                <a16:creationId xmlns:a16="http://schemas.microsoft.com/office/drawing/2014/main" id="{16E02278-9ACF-457B-9D4F-7E3DA47F72A1}"/>
              </a:ext>
            </a:extLst>
          </p:cNvPr>
          <p:cNvSpPr/>
          <p:nvPr/>
        </p:nvSpPr>
        <p:spPr>
          <a:xfrm>
            <a:off x="9915995" y="2507850"/>
            <a:ext cx="2413468" cy="246221"/>
          </a:xfrm>
          <a:prstGeom prst="rect">
            <a:avLst/>
          </a:prstGeom>
        </p:spPr>
        <p:txBody>
          <a:bodyPr wrap="square">
            <a:spAutoFit/>
          </a:bodyPr>
          <a:lstStyle/>
          <a:p>
            <a:r>
              <a:rPr lang="es-AR" sz="1000" b="1" dirty="0">
                <a:solidFill>
                  <a:srgbClr val="7030A0"/>
                </a:solidFill>
                <a:latin typeface="Arial" panose="020B0604020202020204" pitchFamily="34" charset="0"/>
                <a:cs typeface="Arial" panose="020B0604020202020204" pitchFamily="34" charset="0"/>
              </a:rPr>
              <a:t>Ejemplo (2da iteración)</a:t>
            </a:r>
          </a:p>
        </p:txBody>
      </p:sp>
      <p:sp>
        <p:nvSpPr>
          <p:cNvPr id="54" name="Rectángulo 53">
            <a:extLst>
              <a:ext uri="{FF2B5EF4-FFF2-40B4-BE49-F238E27FC236}">
                <a16:creationId xmlns:a16="http://schemas.microsoft.com/office/drawing/2014/main" id="{93697E26-43E0-4480-A4DF-D3EC14D4B2E7}"/>
              </a:ext>
            </a:extLst>
          </p:cNvPr>
          <p:cNvSpPr/>
          <p:nvPr/>
        </p:nvSpPr>
        <p:spPr>
          <a:xfrm>
            <a:off x="10091603" y="2726867"/>
            <a:ext cx="1977246" cy="246221"/>
          </a:xfrm>
          <a:prstGeom prst="rect">
            <a:avLst/>
          </a:prstGeom>
        </p:spPr>
        <p:txBody>
          <a:bodyPr wrap="square">
            <a:spAutoFit/>
          </a:bodyPr>
          <a:lstStyle/>
          <a:p>
            <a:r>
              <a:rPr lang="es-AR" sz="1000" b="1" dirty="0">
                <a:latin typeface="Arial" panose="020B0604020202020204" pitchFamily="34" charset="0"/>
                <a:cs typeface="Arial" panose="020B0604020202020204" pitchFamily="34" charset="0"/>
              </a:rPr>
              <a:t>a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c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a:t>
            </a:r>
          </a:p>
        </p:txBody>
      </p:sp>
      <p:sp>
        <p:nvSpPr>
          <p:cNvPr id="55" name="CuadroTexto 54">
            <a:extLst>
              <a:ext uri="{FF2B5EF4-FFF2-40B4-BE49-F238E27FC236}">
                <a16:creationId xmlns:a16="http://schemas.microsoft.com/office/drawing/2014/main" id="{77171BC8-D3F2-480E-9C97-6810355C6E8F}"/>
              </a:ext>
            </a:extLst>
          </p:cNvPr>
          <p:cNvSpPr txBox="1"/>
          <p:nvPr/>
        </p:nvSpPr>
        <p:spPr>
          <a:xfrm>
            <a:off x="295740" y="5476572"/>
            <a:ext cx="8859600" cy="1061829"/>
          </a:xfrm>
          <a:prstGeom prst="rect">
            <a:avLst/>
          </a:prstGeom>
          <a:noFill/>
          <a:ln>
            <a:solidFill>
              <a:schemeClr val="tx1"/>
            </a:solidFill>
          </a:ln>
        </p:spPr>
        <p:txBody>
          <a:bodyPr wrap="square">
            <a:spAutoFit/>
          </a:bodyPr>
          <a:lstStyle/>
          <a:p>
            <a:pPr lvl="0" algn="just"/>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La MT M ocupa el espacio de los contadores i y j, que en binario miden </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O(log</a:t>
            </a:r>
            <a:r>
              <a:rPr lang="es-ES" b="1" baseline="-25000" dirty="0">
                <a:latin typeface="Arial" panose="020B0604020202020204" pitchFamily="34" charset="0"/>
                <a:cs typeface="Arial" panose="020B0604020202020204" pitchFamily="34" charset="0"/>
              </a:rPr>
              <a:t>2</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n)</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más 2 celdas </a:t>
            </a:r>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para alojar a los símbolos que se van comparando en cada iteración. </a:t>
            </a:r>
          </a:p>
          <a:p>
            <a:pPr lvl="0" algn="just"/>
            <a:endParaRPr lang="es-AR" altLang="es-MX" sz="9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0" algn="just"/>
            <a:r>
              <a:rPr lang="es-AR" alt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Así, </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L </a:t>
            </a:r>
            <a:r>
              <a:rPr lang="es-AR" b="1" dirty="0">
                <a:latin typeface="Arial" panose="020B0604020202020204" pitchFamily="34" charset="0"/>
                <a:cs typeface="Arial" panose="020B0604020202020204" pitchFamily="34" charset="0"/>
              </a:rPr>
              <a:t>∈ SPACE(</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log</a:t>
            </a:r>
            <a:r>
              <a:rPr lang="es-ES" b="1" baseline="-25000" dirty="0">
                <a:latin typeface="Arial" panose="020B0604020202020204" pitchFamily="34" charset="0"/>
                <a:cs typeface="Arial" panose="020B0604020202020204" pitchFamily="34" charset="0"/>
              </a:rPr>
              <a:t>2</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n</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A esta clase también se la llama </a:t>
            </a:r>
            <a:r>
              <a:rPr lang="es-AR" b="1" dirty="0">
                <a:solidFill>
                  <a:srgbClr val="0070C0"/>
                </a:solidFill>
                <a:latin typeface="Arial" panose="020B0604020202020204" pitchFamily="34" charset="0"/>
                <a:cs typeface="Arial" panose="020B0604020202020204" pitchFamily="34" charset="0"/>
              </a:rPr>
              <a:t>LOGSPACE.</a:t>
            </a:r>
            <a:endParaRPr lang="es-AR" altLang="es-MX" dirty="0">
              <a:solidFill>
                <a:srgbClr val="0070C0"/>
              </a:solidFill>
              <a:latin typeface="Arial" panose="020B0604020202020204" pitchFamily="34" charset="0"/>
              <a:ea typeface="Times New Roman" panose="02020603050405020304" pitchFamily="18" charset="0"/>
              <a:cs typeface="Arial" panose="020B0604020202020204" pitchFamily="34" charset="0"/>
            </a:endParaRPr>
          </a:p>
        </p:txBody>
      </p:sp>
      <p:cxnSp>
        <p:nvCxnSpPr>
          <p:cNvPr id="5" name="Conector recto 4">
            <a:extLst>
              <a:ext uri="{FF2B5EF4-FFF2-40B4-BE49-F238E27FC236}">
                <a16:creationId xmlns:a16="http://schemas.microsoft.com/office/drawing/2014/main" id="{079D4FFE-C213-6066-E21B-9DB2118A5121}"/>
              </a:ext>
            </a:extLst>
          </p:cNvPr>
          <p:cNvCxnSpPr>
            <a:cxnSpLocks/>
          </p:cNvCxnSpPr>
          <p:nvPr/>
        </p:nvCxnSpPr>
        <p:spPr>
          <a:xfrm>
            <a:off x="9641515" y="478418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99BBE09D-EFE2-B56B-93FD-48EBC12858C2}"/>
              </a:ext>
            </a:extLst>
          </p:cNvPr>
          <p:cNvCxnSpPr>
            <a:cxnSpLocks/>
          </p:cNvCxnSpPr>
          <p:nvPr/>
        </p:nvCxnSpPr>
        <p:spPr>
          <a:xfrm>
            <a:off x="9641515" y="503040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7AD181CB-9399-49E7-B348-06D624E9ACCD}"/>
              </a:ext>
            </a:extLst>
          </p:cNvPr>
          <p:cNvSpPr/>
          <p:nvPr/>
        </p:nvSpPr>
        <p:spPr>
          <a:xfrm>
            <a:off x="10138543" y="5153512"/>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i = 5</a:t>
            </a:r>
          </a:p>
        </p:txBody>
      </p:sp>
      <p:cxnSp>
        <p:nvCxnSpPr>
          <p:cNvPr id="10" name="Conector recto 9">
            <a:extLst>
              <a:ext uri="{FF2B5EF4-FFF2-40B4-BE49-F238E27FC236}">
                <a16:creationId xmlns:a16="http://schemas.microsoft.com/office/drawing/2014/main" id="{93946275-307D-11C5-5FC4-FADD25629187}"/>
              </a:ext>
            </a:extLst>
          </p:cNvPr>
          <p:cNvCxnSpPr>
            <a:cxnSpLocks/>
          </p:cNvCxnSpPr>
          <p:nvPr/>
        </p:nvCxnSpPr>
        <p:spPr>
          <a:xfrm>
            <a:off x="9641515" y="515351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7C9571CD-C84C-68EA-ECAF-B01A0E46E980}"/>
              </a:ext>
            </a:extLst>
          </p:cNvPr>
          <p:cNvCxnSpPr>
            <a:cxnSpLocks/>
          </p:cNvCxnSpPr>
          <p:nvPr/>
        </p:nvCxnSpPr>
        <p:spPr>
          <a:xfrm>
            <a:off x="9641515" y="5399733"/>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2FDCC02-8056-8DD8-4B19-246D3ABB8D54}"/>
              </a:ext>
            </a:extLst>
          </p:cNvPr>
          <p:cNvSpPr/>
          <p:nvPr/>
        </p:nvSpPr>
        <p:spPr>
          <a:xfrm>
            <a:off x="10139915" y="5522841"/>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j = 5</a:t>
            </a:r>
          </a:p>
        </p:txBody>
      </p:sp>
      <p:cxnSp>
        <p:nvCxnSpPr>
          <p:cNvPr id="13" name="Conector recto 12">
            <a:extLst>
              <a:ext uri="{FF2B5EF4-FFF2-40B4-BE49-F238E27FC236}">
                <a16:creationId xmlns:a16="http://schemas.microsoft.com/office/drawing/2014/main" id="{6C50F181-39FC-2B92-5C19-B971876DB957}"/>
              </a:ext>
            </a:extLst>
          </p:cNvPr>
          <p:cNvCxnSpPr>
            <a:cxnSpLocks/>
          </p:cNvCxnSpPr>
          <p:nvPr/>
        </p:nvCxnSpPr>
        <p:spPr>
          <a:xfrm>
            <a:off x="9642887" y="552284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6E0D5EB1-BBA8-0E2A-DA61-A2D58A274394}"/>
              </a:ext>
            </a:extLst>
          </p:cNvPr>
          <p:cNvCxnSpPr>
            <a:cxnSpLocks/>
          </p:cNvCxnSpPr>
          <p:nvPr/>
        </p:nvCxnSpPr>
        <p:spPr>
          <a:xfrm>
            <a:off x="9642887" y="576906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ángulo 14">
            <a:extLst>
              <a:ext uri="{FF2B5EF4-FFF2-40B4-BE49-F238E27FC236}">
                <a16:creationId xmlns:a16="http://schemas.microsoft.com/office/drawing/2014/main" id="{56DA92B3-59ED-AEF9-38BD-F4D29A0A8AA0}"/>
              </a:ext>
            </a:extLst>
          </p:cNvPr>
          <p:cNvSpPr/>
          <p:nvPr/>
        </p:nvSpPr>
        <p:spPr>
          <a:xfrm>
            <a:off x="10138543" y="5884377"/>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c</a:t>
            </a:r>
          </a:p>
        </p:txBody>
      </p:sp>
      <p:cxnSp>
        <p:nvCxnSpPr>
          <p:cNvPr id="33" name="Conector recto 32">
            <a:extLst>
              <a:ext uri="{FF2B5EF4-FFF2-40B4-BE49-F238E27FC236}">
                <a16:creationId xmlns:a16="http://schemas.microsoft.com/office/drawing/2014/main" id="{84CCE188-A2EA-06C9-9B95-EEA209D8CA66}"/>
              </a:ext>
            </a:extLst>
          </p:cNvPr>
          <p:cNvCxnSpPr>
            <a:cxnSpLocks/>
          </p:cNvCxnSpPr>
          <p:nvPr/>
        </p:nvCxnSpPr>
        <p:spPr>
          <a:xfrm>
            <a:off x="9659818" y="5872412"/>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CE209ADC-311C-4C4F-5B06-77AFFCDF6ADA}"/>
              </a:ext>
            </a:extLst>
          </p:cNvPr>
          <p:cNvCxnSpPr>
            <a:cxnSpLocks/>
          </p:cNvCxnSpPr>
          <p:nvPr/>
        </p:nvCxnSpPr>
        <p:spPr>
          <a:xfrm>
            <a:off x="9641515" y="6130598"/>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ángulo 55">
            <a:extLst>
              <a:ext uri="{FF2B5EF4-FFF2-40B4-BE49-F238E27FC236}">
                <a16:creationId xmlns:a16="http://schemas.microsoft.com/office/drawing/2014/main" id="{763AFD5D-F0E4-C7BF-3E21-748093712EC8}"/>
              </a:ext>
            </a:extLst>
          </p:cNvPr>
          <p:cNvSpPr/>
          <p:nvPr/>
        </p:nvSpPr>
        <p:spPr>
          <a:xfrm>
            <a:off x="10138543" y="6252630"/>
            <a:ext cx="1977246" cy="246221"/>
          </a:xfrm>
          <a:prstGeom prst="rect">
            <a:avLst/>
          </a:prstGeom>
        </p:spPr>
        <p:txBody>
          <a:bodyPr wrap="square">
            <a:spAutoFit/>
          </a:bodyPr>
          <a:lstStyle/>
          <a:p>
            <a:r>
              <a:rPr lang="es-AR" sz="1000" dirty="0">
                <a:latin typeface="Arial" panose="020B0604020202020204" pitchFamily="34" charset="0"/>
                <a:cs typeface="Arial" panose="020B0604020202020204" pitchFamily="34" charset="0"/>
              </a:rPr>
              <a:t>c</a:t>
            </a:r>
          </a:p>
        </p:txBody>
      </p:sp>
      <p:cxnSp>
        <p:nvCxnSpPr>
          <p:cNvPr id="57" name="Conector recto 56">
            <a:extLst>
              <a:ext uri="{FF2B5EF4-FFF2-40B4-BE49-F238E27FC236}">
                <a16:creationId xmlns:a16="http://schemas.microsoft.com/office/drawing/2014/main" id="{AC76FD68-B3AD-2C35-7429-226DE7DC2750}"/>
              </a:ext>
            </a:extLst>
          </p:cNvPr>
          <p:cNvCxnSpPr>
            <a:cxnSpLocks/>
          </p:cNvCxnSpPr>
          <p:nvPr/>
        </p:nvCxnSpPr>
        <p:spPr>
          <a:xfrm>
            <a:off x="9641515" y="6252630"/>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15B4C4A1-31DA-8995-3FF7-234A196B27A5}"/>
              </a:ext>
            </a:extLst>
          </p:cNvPr>
          <p:cNvCxnSpPr>
            <a:cxnSpLocks/>
          </p:cNvCxnSpPr>
          <p:nvPr/>
        </p:nvCxnSpPr>
        <p:spPr>
          <a:xfrm>
            <a:off x="9641515" y="6498851"/>
            <a:ext cx="22365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ángulo 58">
            <a:extLst>
              <a:ext uri="{FF2B5EF4-FFF2-40B4-BE49-F238E27FC236}">
                <a16:creationId xmlns:a16="http://schemas.microsoft.com/office/drawing/2014/main" id="{801102F8-359C-9E59-1735-65985342B894}"/>
              </a:ext>
            </a:extLst>
          </p:cNvPr>
          <p:cNvSpPr/>
          <p:nvPr/>
        </p:nvSpPr>
        <p:spPr>
          <a:xfrm>
            <a:off x="9447123" y="5145715"/>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1</a:t>
            </a:r>
            <a:endParaRPr lang="es-MX" sz="1000" dirty="0"/>
          </a:p>
        </p:txBody>
      </p:sp>
      <p:sp>
        <p:nvSpPr>
          <p:cNvPr id="60" name="Rectángulo 59">
            <a:extLst>
              <a:ext uri="{FF2B5EF4-FFF2-40B4-BE49-F238E27FC236}">
                <a16:creationId xmlns:a16="http://schemas.microsoft.com/office/drawing/2014/main" id="{97C58E2C-B334-2EAC-F8C3-50CD56D3AF15}"/>
              </a:ext>
            </a:extLst>
          </p:cNvPr>
          <p:cNvSpPr/>
          <p:nvPr/>
        </p:nvSpPr>
        <p:spPr>
          <a:xfrm>
            <a:off x="9447123" y="5526947"/>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2</a:t>
            </a:r>
            <a:endParaRPr lang="es-MX" sz="1000" dirty="0"/>
          </a:p>
        </p:txBody>
      </p:sp>
      <p:sp>
        <p:nvSpPr>
          <p:cNvPr id="61" name="Rectángulo 60">
            <a:extLst>
              <a:ext uri="{FF2B5EF4-FFF2-40B4-BE49-F238E27FC236}">
                <a16:creationId xmlns:a16="http://schemas.microsoft.com/office/drawing/2014/main" id="{931A36A7-F42D-C29B-236B-FD5AD1AB103A}"/>
              </a:ext>
            </a:extLst>
          </p:cNvPr>
          <p:cNvSpPr/>
          <p:nvPr/>
        </p:nvSpPr>
        <p:spPr>
          <a:xfrm>
            <a:off x="9447123" y="5872412"/>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3</a:t>
            </a:r>
            <a:endParaRPr lang="es-MX" sz="1000" dirty="0"/>
          </a:p>
        </p:txBody>
      </p:sp>
      <p:sp>
        <p:nvSpPr>
          <p:cNvPr id="62" name="Rectángulo 61">
            <a:extLst>
              <a:ext uri="{FF2B5EF4-FFF2-40B4-BE49-F238E27FC236}">
                <a16:creationId xmlns:a16="http://schemas.microsoft.com/office/drawing/2014/main" id="{30173826-07B9-4215-9DAA-4971B234B7AF}"/>
              </a:ext>
            </a:extLst>
          </p:cNvPr>
          <p:cNvSpPr/>
          <p:nvPr/>
        </p:nvSpPr>
        <p:spPr>
          <a:xfrm>
            <a:off x="9452063" y="6241166"/>
            <a:ext cx="255198" cy="246221"/>
          </a:xfrm>
          <a:prstGeom prst="rect">
            <a:avLst/>
          </a:prstGeom>
        </p:spPr>
        <p:txBody>
          <a:bodyPr wrap="none">
            <a:spAutoFit/>
          </a:bodyPr>
          <a:lstStyle/>
          <a:p>
            <a:r>
              <a:rPr lang="es-MX" sz="1000" dirty="0">
                <a:latin typeface="Arial" panose="020B0604020202020204" pitchFamily="34" charset="0"/>
                <a:cs typeface="Arial" panose="020B0604020202020204" pitchFamily="34" charset="0"/>
              </a:rPr>
              <a:t>4</a:t>
            </a:r>
            <a:endParaRPr lang="es-MX" sz="1000" dirty="0"/>
          </a:p>
        </p:txBody>
      </p:sp>
      <p:sp>
        <p:nvSpPr>
          <p:cNvPr id="63" name="Rectángulo 62">
            <a:extLst>
              <a:ext uri="{FF2B5EF4-FFF2-40B4-BE49-F238E27FC236}">
                <a16:creationId xmlns:a16="http://schemas.microsoft.com/office/drawing/2014/main" id="{409BD436-E989-E98D-29FC-0FD9BD742B7C}"/>
              </a:ext>
            </a:extLst>
          </p:cNvPr>
          <p:cNvSpPr/>
          <p:nvPr/>
        </p:nvSpPr>
        <p:spPr>
          <a:xfrm>
            <a:off x="9973394" y="4583161"/>
            <a:ext cx="2413468" cy="246221"/>
          </a:xfrm>
          <a:prstGeom prst="rect">
            <a:avLst/>
          </a:prstGeom>
        </p:spPr>
        <p:txBody>
          <a:bodyPr wrap="square">
            <a:spAutoFit/>
          </a:bodyPr>
          <a:lstStyle/>
          <a:p>
            <a:r>
              <a:rPr lang="es-AR" sz="1000" b="1" dirty="0">
                <a:solidFill>
                  <a:srgbClr val="7030A0"/>
                </a:solidFill>
                <a:latin typeface="Arial" panose="020B0604020202020204" pitchFamily="34" charset="0"/>
                <a:cs typeface="Arial" panose="020B0604020202020204" pitchFamily="34" charset="0"/>
              </a:rPr>
              <a:t>Ejemplo (última iteración)</a:t>
            </a:r>
          </a:p>
        </p:txBody>
      </p:sp>
      <p:sp>
        <p:nvSpPr>
          <p:cNvPr id="64" name="Rectángulo 63">
            <a:extLst>
              <a:ext uri="{FF2B5EF4-FFF2-40B4-BE49-F238E27FC236}">
                <a16:creationId xmlns:a16="http://schemas.microsoft.com/office/drawing/2014/main" id="{90C0CA93-535C-05E0-2174-E142F6557E64}"/>
              </a:ext>
            </a:extLst>
          </p:cNvPr>
          <p:cNvSpPr/>
          <p:nvPr/>
        </p:nvSpPr>
        <p:spPr>
          <a:xfrm>
            <a:off x="10134106" y="4792217"/>
            <a:ext cx="1977246" cy="246221"/>
          </a:xfrm>
          <a:prstGeom prst="rect">
            <a:avLst/>
          </a:prstGeom>
        </p:spPr>
        <p:txBody>
          <a:bodyPr wrap="square">
            <a:spAutoFit/>
          </a:bodyPr>
          <a:lstStyle/>
          <a:p>
            <a:r>
              <a:rPr lang="es-AR" sz="1000" b="1" dirty="0">
                <a:latin typeface="Arial" panose="020B0604020202020204" pitchFamily="34" charset="0"/>
                <a:cs typeface="Arial" panose="020B0604020202020204" pitchFamily="34" charset="0"/>
              </a:rPr>
              <a:t>a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c b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t>
            </a:r>
            <a:r>
              <a:rPr lang="es-AR" sz="1000" b="1" dirty="0" err="1">
                <a:latin typeface="Arial" panose="020B0604020202020204" pitchFamily="34" charset="0"/>
                <a:cs typeface="Arial" panose="020B0604020202020204" pitchFamily="34" charset="0"/>
              </a:rPr>
              <a:t>b</a:t>
            </a:r>
            <a:r>
              <a:rPr lang="es-AR" sz="1000" b="1" dirty="0">
                <a:latin typeface="Arial" panose="020B0604020202020204" pitchFamily="34" charset="0"/>
                <a:cs typeface="Arial" panose="020B0604020202020204" pitchFamily="34" charset="0"/>
              </a:rPr>
              <a:t> a</a:t>
            </a:r>
          </a:p>
        </p:txBody>
      </p:sp>
    </p:spTree>
    <p:extLst>
      <p:ext uri="{BB962C8B-B14F-4D97-AF65-F5344CB8AC3E}">
        <p14:creationId xmlns:p14="http://schemas.microsoft.com/office/powerpoint/2010/main" val="1851746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B0F4841-A001-4100-887B-E6285ED68B77}"/>
              </a:ext>
            </a:extLst>
          </p:cNvPr>
          <p:cNvSpPr/>
          <p:nvPr/>
        </p:nvSpPr>
        <p:spPr>
          <a:xfrm>
            <a:off x="215983" y="827004"/>
            <a:ext cx="11631459" cy="4662815"/>
          </a:xfrm>
          <a:prstGeom prst="rect">
            <a:avLst/>
          </a:prstGeom>
        </p:spPr>
        <p:txBody>
          <a:bodyPr wrap="square">
            <a:spAutoFit/>
          </a:bodyPr>
          <a:lstStyle/>
          <a:p>
            <a:pPr marL="285750" lvl="0" indent="-285750" algn="just">
              <a:buFont typeface="Arial" panose="020B0604020202020204" pitchFamily="34" charset="0"/>
              <a:buChar char="•"/>
            </a:pPr>
            <a:r>
              <a:rPr lang="es-AR" altLang="es-MX" b="1" dirty="0">
                <a:latin typeface="Arial" panose="020B0604020202020204" pitchFamily="34" charset="0"/>
                <a:ea typeface="Times New Roman" panose="02020603050405020304" pitchFamily="18" charset="0"/>
                <a:cs typeface="Arial" panose="020B0604020202020204" pitchFamily="34" charset="0"/>
              </a:rPr>
              <a:t>LOGSPACE </a:t>
            </a:r>
            <a:r>
              <a:rPr lang="es-AR" altLang="es-MX" dirty="0">
                <a:latin typeface="Arial" panose="020B0604020202020204" pitchFamily="34" charset="0"/>
                <a:ea typeface="Times New Roman" panose="02020603050405020304" pitchFamily="18" charset="0"/>
                <a:cs typeface="Arial" panose="020B0604020202020204" pitchFamily="34" charset="0"/>
              </a:rPr>
              <a:t>es la clase de los lenguajes aceptados en espacio </a:t>
            </a:r>
            <a:r>
              <a:rPr lang="es-AR" altLang="es-MX" b="1" dirty="0">
                <a:latin typeface="Arial" panose="020B0604020202020204" pitchFamily="34" charset="0"/>
                <a:ea typeface="Times New Roman" panose="02020603050405020304" pitchFamily="18" charset="0"/>
                <a:cs typeface="Arial" panose="020B0604020202020204" pitchFamily="34" charset="0"/>
              </a:rPr>
              <a:t>O(</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log</a:t>
            </a:r>
            <a:r>
              <a:rPr lang="es-ES" b="1" baseline="-25000" dirty="0">
                <a:latin typeface="Arial" panose="020B0604020202020204" pitchFamily="34" charset="0"/>
                <a:cs typeface="Arial" panose="020B0604020202020204" pitchFamily="34" charset="0"/>
              </a:rPr>
              <a:t>2</a:t>
            </a:r>
            <a:r>
              <a:rPr lang="es-AR" altLang="es-MX" b="1" dirty="0">
                <a:solidFill>
                  <a:srgbClr val="000000"/>
                </a:solidFill>
                <a:latin typeface="Arial" panose="020B0604020202020204" pitchFamily="34" charset="0"/>
                <a:ea typeface="Times New Roman" panose="02020603050405020304" pitchFamily="18" charset="0"/>
                <a:cs typeface="Arial" panose="020B0604020202020204" pitchFamily="34" charset="0"/>
              </a:rPr>
              <a:t>n)</a:t>
            </a:r>
          </a:p>
          <a:p>
            <a:pPr lvl="0" algn="just"/>
            <a:endParaRPr lang="es-AR" altLang="es-MX" sz="900" dirty="0">
              <a:latin typeface="Arial" panose="020B0604020202020204" pitchFamily="34" charset="0"/>
              <a:ea typeface="Times New Roman" panose="02020603050405020304" pitchFamily="18" charset="0"/>
              <a:cs typeface="Arial" panose="020B0604020202020204" pitchFamily="34" charset="0"/>
            </a:endParaRPr>
          </a:p>
          <a:p>
            <a:pPr marL="285750" lvl="0" indent="-285750" algn="just">
              <a:buFont typeface="Arial" panose="020B0604020202020204" pitchFamily="34" charset="0"/>
              <a:buChar char="•"/>
            </a:pPr>
            <a:r>
              <a:rPr lang="es-AR" altLang="es-MX" b="1" dirty="0">
                <a:latin typeface="Arial" panose="020B0604020202020204" pitchFamily="34" charset="0"/>
                <a:ea typeface="Times New Roman" panose="02020603050405020304" pitchFamily="18" charset="0"/>
                <a:cs typeface="Arial" panose="020B0604020202020204" pitchFamily="34" charset="0"/>
              </a:rPr>
              <a:t>PSPACE</a:t>
            </a:r>
            <a:r>
              <a:rPr lang="es-AR" altLang="es-MX" dirty="0">
                <a:latin typeface="Arial" panose="020B0604020202020204" pitchFamily="34" charset="0"/>
                <a:ea typeface="Times New Roman" panose="02020603050405020304" pitchFamily="18" charset="0"/>
                <a:cs typeface="Arial" panose="020B0604020202020204" pitchFamily="34" charset="0"/>
              </a:rPr>
              <a:t> es la clase de los lenguajes aceptados en espacio </a:t>
            </a:r>
            <a:r>
              <a:rPr lang="es-AR" altLang="es-MX" b="1" dirty="0" err="1">
                <a:latin typeface="Arial" panose="020B0604020202020204" pitchFamily="34" charset="0"/>
                <a:ea typeface="Times New Roman" panose="02020603050405020304" pitchFamily="18" charset="0"/>
                <a:cs typeface="Arial" panose="020B0604020202020204" pitchFamily="34" charset="0"/>
              </a:rPr>
              <a:t>poly</a:t>
            </a:r>
            <a:r>
              <a:rPr lang="es-AR" altLang="es-MX" b="1" dirty="0">
                <a:latin typeface="Arial" panose="020B0604020202020204" pitchFamily="34" charset="0"/>
                <a:ea typeface="Times New Roman" panose="02020603050405020304" pitchFamily="18" charset="0"/>
                <a:cs typeface="Arial" panose="020B0604020202020204" pitchFamily="34" charset="0"/>
              </a:rPr>
              <a:t>(n)</a:t>
            </a:r>
          </a:p>
          <a:p>
            <a:pPr lvl="0" algn="just"/>
            <a:endParaRPr lang="es-AR" altLang="es-MX" sz="900" dirty="0">
              <a:latin typeface="Arial" panose="020B0604020202020204" pitchFamily="34" charset="0"/>
              <a:ea typeface="Times New Roman" panose="02020603050405020304" pitchFamily="18" charset="0"/>
              <a:cs typeface="Arial" panose="020B0604020202020204" pitchFamily="34" charset="0"/>
            </a:endParaRPr>
          </a:p>
          <a:p>
            <a:pPr marL="285750" lvl="0" indent="-285750" algn="just">
              <a:buFont typeface="Arial" panose="020B0604020202020204" pitchFamily="34" charset="0"/>
              <a:buChar char="•"/>
            </a:pPr>
            <a:r>
              <a:rPr lang="es-AR" altLang="es-MX" b="1" dirty="0">
                <a:latin typeface="Arial" panose="020B0604020202020204" pitchFamily="34" charset="0"/>
                <a:ea typeface="Times New Roman" panose="02020603050405020304" pitchFamily="18" charset="0"/>
                <a:cs typeface="Arial" panose="020B0604020202020204" pitchFamily="34" charset="0"/>
              </a:rPr>
              <a:t>EXPSPACE</a:t>
            </a:r>
            <a:r>
              <a:rPr lang="es-AR" altLang="es-MX" dirty="0">
                <a:latin typeface="Arial" panose="020B0604020202020204" pitchFamily="34" charset="0"/>
                <a:ea typeface="Times New Roman" panose="02020603050405020304" pitchFamily="18" charset="0"/>
                <a:cs typeface="Arial" panose="020B0604020202020204" pitchFamily="34" charset="0"/>
              </a:rPr>
              <a:t> es la clase de los lenguajes aceptados en espacio </a:t>
            </a:r>
            <a:r>
              <a:rPr lang="es-AR" altLang="es-MX" b="1" dirty="0" err="1">
                <a:latin typeface="Arial" panose="020B0604020202020204" pitchFamily="34" charset="0"/>
                <a:ea typeface="Times New Roman" panose="02020603050405020304" pitchFamily="18" charset="0"/>
                <a:cs typeface="Arial" panose="020B0604020202020204" pitchFamily="34" charset="0"/>
              </a:rPr>
              <a:t>exp</a:t>
            </a:r>
            <a:r>
              <a:rPr lang="es-AR" altLang="es-MX" b="1" dirty="0">
                <a:latin typeface="Arial" panose="020B0604020202020204" pitchFamily="34" charset="0"/>
                <a:ea typeface="Times New Roman" panose="02020603050405020304" pitchFamily="18" charset="0"/>
                <a:cs typeface="Arial" panose="020B0604020202020204" pitchFamily="34" charset="0"/>
              </a:rPr>
              <a:t>(n) </a:t>
            </a:r>
          </a:p>
          <a:p>
            <a:pPr lvl="0" algn="just"/>
            <a:endParaRPr lang="es-AR" b="1" dirty="0">
              <a:latin typeface="Arial" panose="020B0604020202020204" pitchFamily="34" charset="0"/>
              <a:cs typeface="Arial" panose="020B0604020202020204" pitchFamily="34" charset="0"/>
              <a:sym typeface="Symbol" panose="05050102010706020507" pitchFamily="18" charset="2"/>
            </a:endParaRPr>
          </a:p>
          <a:p>
            <a:pPr algn="just"/>
            <a:endParaRPr lang="es-AR" altLang="es-MX" b="1" dirty="0">
              <a:latin typeface="Arial" panose="020B0604020202020204" pitchFamily="34" charset="0"/>
              <a:ea typeface="Times New Roman" panose="02020603050405020304" pitchFamily="18" charset="0"/>
              <a:cs typeface="Arial" panose="020B0604020202020204" pitchFamily="34" charset="0"/>
            </a:endParaRPr>
          </a:p>
          <a:p>
            <a:pPr marL="285750" indent="-285750" algn="just">
              <a:buFont typeface="Arial" panose="020B0604020202020204" pitchFamily="34" charset="0"/>
              <a:buChar char="•"/>
            </a:pPr>
            <a:r>
              <a:rPr lang="es-AR" altLang="es-MX" dirty="0">
                <a:latin typeface="Arial" panose="020B0604020202020204" pitchFamily="34" charset="0"/>
                <a:ea typeface="Times New Roman" panose="02020603050405020304" pitchFamily="18" charset="0"/>
                <a:cs typeface="Arial" panose="020B0604020202020204" pitchFamily="34" charset="0"/>
              </a:rPr>
              <a:t>Por lo dicho antes: </a:t>
            </a:r>
            <a:r>
              <a:rPr lang="es-AR" altLang="es-MX" b="1" dirty="0">
                <a:latin typeface="Arial" panose="020B0604020202020204" pitchFamily="34" charset="0"/>
                <a:ea typeface="Times New Roman" panose="02020603050405020304" pitchFamily="18" charset="0"/>
                <a:cs typeface="Arial" panose="020B0604020202020204" pitchFamily="34" charset="0"/>
              </a:rPr>
              <a:t>espacio S(n) implica tiempo O(</a:t>
            </a:r>
            <a:r>
              <a:rPr lang="es-AR" b="1" dirty="0" err="1">
                <a:latin typeface="Arial" panose="020B0604020202020204" pitchFamily="34" charset="0"/>
                <a:cs typeface="Arial" panose="020B0604020202020204" pitchFamily="34" charset="0"/>
              </a:rPr>
              <a:t>c</a:t>
            </a:r>
            <a:r>
              <a:rPr lang="es-AR" b="1" baseline="30000" dirty="0" err="1">
                <a:latin typeface="Arial" panose="020B0604020202020204" pitchFamily="34" charset="0"/>
                <a:cs typeface="Arial" panose="020B0604020202020204" pitchFamily="34" charset="0"/>
              </a:rPr>
              <a:t>S</a:t>
            </a:r>
            <a:r>
              <a:rPr lang="es-AR" b="1" baseline="30000" dirty="0">
                <a:latin typeface="Arial" panose="020B0604020202020204" pitchFamily="34" charset="0"/>
                <a:cs typeface="Arial" panose="020B0604020202020204" pitchFamily="34" charset="0"/>
              </a:rPr>
              <a:t>(n)</a:t>
            </a:r>
            <a:r>
              <a:rPr lang="es-AR" b="1" dirty="0">
                <a:latin typeface="Arial" panose="020B0604020202020204" pitchFamily="34" charset="0"/>
                <a:cs typeface="Arial" panose="020B0604020202020204" pitchFamily="34" charset="0"/>
              </a:rPr>
              <a:t>), con c constante</a:t>
            </a:r>
            <a:endParaRPr lang="es-AR" dirty="0">
              <a:latin typeface="Arial" panose="020B0604020202020204" pitchFamily="34" charset="0"/>
              <a:cs typeface="Arial" panose="020B0604020202020204" pitchFamily="34" charset="0"/>
            </a:endParaRPr>
          </a:p>
          <a:p>
            <a:pPr algn="just"/>
            <a:endParaRPr lang="es-AR" sz="900"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Así, si en particular una MT M ocupa espacio </a:t>
            </a:r>
            <a:r>
              <a:rPr lang="es-AR" altLang="es-MX" b="1" dirty="0">
                <a:solidFill>
                  <a:srgbClr val="0070C0"/>
                </a:solidFill>
                <a:latin typeface="Arial" panose="020B0604020202020204" pitchFamily="34" charset="0"/>
                <a:ea typeface="Times New Roman" panose="02020603050405020304" pitchFamily="18" charset="0"/>
                <a:cs typeface="Arial" panose="020B0604020202020204" pitchFamily="34" charset="0"/>
              </a:rPr>
              <a:t>log</a:t>
            </a:r>
            <a:r>
              <a:rPr lang="es-ES" b="1" baseline="-25000" dirty="0">
                <a:solidFill>
                  <a:srgbClr val="0070C0"/>
                </a:solidFill>
                <a:latin typeface="Arial" panose="020B0604020202020204" pitchFamily="34" charset="0"/>
                <a:cs typeface="Arial" panose="020B0604020202020204" pitchFamily="34" charset="0"/>
              </a:rPr>
              <a:t>2</a:t>
            </a:r>
            <a:r>
              <a:rPr lang="es-AR" altLang="es-MX" b="1" dirty="0">
                <a:solidFill>
                  <a:srgbClr val="0070C0"/>
                </a:solidFill>
                <a:latin typeface="Arial" panose="020B0604020202020204" pitchFamily="34" charset="0"/>
                <a:ea typeface="Times New Roman" panose="02020603050405020304" pitchFamily="18" charset="0"/>
                <a:cs typeface="Arial" panose="020B0604020202020204" pitchFamily="34" charset="0"/>
              </a:rPr>
              <a:t>n</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entonces M</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tarda tiempo </a:t>
            </a:r>
            <a:r>
              <a:rPr lang="es-AR" b="1" dirty="0">
                <a:solidFill>
                  <a:srgbClr val="FF0000"/>
                </a:solidFill>
                <a:latin typeface="Arial" panose="020B0604020202020204" pitchFamily="34" charset="0"/>
                <a:cs typeface="Arial" panose="020B0604020202020204" pitchFamily="34" charset="0"/>
              </a:rPr>
              <a:t>O(c</a:t>
            </a:r>
            <a:r>
              <a:rPr lang="es-AR" sz="2400" b="1" baseline="30000" dirty="0">
                <a:solidFill>
                  <a:srgbClr val="FF0000"/>
                </a:solidFill>
                <a:latin typeface="Arial" panose="020B0604020202020204" pitchFamily="34" charset="0"/>
                <a:cs typeface="Arial" panose="020B0604020202020204" pitchFamily="34" charset="0"/>
              </a:rPr>
              <a:t>log</a:t>
            </a:r>
            <a:r>
              <a:rPr lang="es-AR" sz="1400" b="1" baseline="30000" dirty="0">
                <a:solidFill>
                  <a:srgbClr val="FF0000"/>
                </a:solidFill>
                <a:latin typeface="Arial" panose="020B0604020202020204" pitchFamily="34" charset="0"/>
                <a:cs typeface="Arial" panose="020B0604020202020204" pitchFamily="34" charset="0"/>
              </a:rPr>
              <a:t>2</a:t>
            </a:r>
            <a:r>
              <a:rPr lang="es-AR" sz="2400" b="1" baseline="30000" dirty="0">
                <a:solidFill>
                  <a:srgbClr val="FF0000"/>
                </a:solidFill>
                <a:latin typeface="Arial" panose="020B0604020202020204" pitchFamily="34" charset="0"/>
                <a:cs typeface="Arial" panose="020B0604020202020204" pitchFamily="34" charset="0"/>
              </a:rPr>
              <a:t>n</a:t>
            </a:r>
            <a:r>
              <a:rPr lang="es-AR" b="1" dirty="0">
                <a:solidFill>
                  <a:srgbClr val="FF0000"/>
                </a:solidFill>
                <a:latin typeface="Arial" panose="020B0604020202020204" pitchFamily="34" charset="0"/>
                <a:cs typeface="Arial" panose="020B0604020202020204" pitchFamily="34" charset="0"/>
              </a:rPr>
              <a:t>)</a:t>
            </a:r>
          </a:p>
          <a:p>
            <a:pPr algn="just"/>
            <a:endParaRPr lang="es-AR" sz="900" dirty="0">
              <a:solidFill>
                <a:srgbClr val="FF0000"/>
              </a:solidFill>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     Y como </a:t>
            </a:r>
            <a:r>
              <a:rPr lang="es-AR" b="1" dirty="0">
                <a:latin typeface="Arial" panose="020B0604020202020204" pitchFamily="34" charset="0"/>
                <a:cs typeface="Arial" panose="020B0604020202020204" pitchFamily="34" charset="0"/>
              </a:rPr>
              <a:t>c</a:t>
            </a:r>
            <a:r>
              <a:rPr lang="es-AR" sz="2400" b="1" baseline="30000" dirty="0">
                <a:latin typeface="Arial" panose="020B0604020202020204" pitchFamily="34" charset="0"/>
                <a:cs typeface="Arial" panose="020B0604020202020204" pitchFamily="34" charset="0"/>
              </a:rPr>
              <a:t>log</a:t>
            </a:r>
            <a:r>
              <a:rPr lang="es-AR" sz="1400" b="1" baseline="30000" dirty="0">
                <a:latin typeface="Arial" panose="020B0604020202020204" pitchFamily="34" charset="0"/>
                <a:cs typeface="Arial" panose="020B0604020202020204" pitchFamily="34" charset="0"/>
              </a:rPr>
              <a:t>2</a:t>
            </a:r>
            <a:r>
              <a:rPr lang="es-AR" sz="2400" b="1" baseline="30000" dirty="0">
                <a:latin typeface="Arial" panose="020B0604020202020204" pitchFamily="34" charset="0"/>
                <a:cs typeface="Arial" panose="020B0604020202020204" pitchFamily="34" charset="0"/>
              </a:rPr>
              <a:t>n</a:t>
            </a:r>
            <a:r>
              <a:rPr lang="es-AR" dirty="0">
                <a:latin typeface="Arial" panose="020B0604020202020204" pitchFamily="34" charset="0"/>
                <a:cs typeface="Arial" panose="020B0604020202020204" pitchFamily="34" charset="0"/>
              </a:rPr>
              <a:t> = </a:t>
            </a:r>
            <a:r>
              <a:rPr lang="es-AR" b="1" dirty="0">
                <a:latin typeface="Arial" panose="020B0604020202020204" pitchFamily="34" charset="0"/>
                <a:cs typeface="Arial" panose="020B0604020202020204" pitchFamily="34" charset="0"/>
              </a:rPr>
              <a:t>n</a:t>
            </a:r>
            <a:r>
              <a:rPr lang="es-AR" sz="2400" b="1" baseline="30000" dirty="0">
                <a:latin typeface="Arial" panose="020B0604020202020204" pitchFamily="34" charset="0"/>
                <a:cs typeface="Arial" panose="020B0604020202020204" pitchFamily="34" charset="0"/>
              </a:rPr>
              <a:t>log</a:t>
            </a:r>
            <a:r>
              <a:rPr lang="es-AR" sz="1400" b="1" baseline="30000" dirty="0">
                <a:latin typeface="Arial" panose="020B0604020202020204" pitchFamily="34" charset="0"/>
                <a:cs typeface="Arial" panose="020B0604020202020204" pitchFamily="34" charset="0"/>
              </a:rPr>
              <a:t>2</a:t>
            </a:r>
            <a:r>
              <a:rPr lang="es-AR" sz="2400" b="1" baseline="30000" dirty="0">
                <a:latin typeface="Arial" panose="020B0604020202020204" pitchFamily="34" charset="0"/>
                <a:cs typeface="Arial" panose="020B0604020202020204" pitchFamily="34" charset="0"/>
              </a:rPr>
              <a:t>c</a:t>
            </a:r>
            <a:r>
              <a:rPr lang="es-AR" dirty="0">
                <a:latin typeface="Arial" panose="020B0604020202020204" pitchFamily="34" charset="0"/>
                <a:cs typeface="Arial" panose="020B0604020202020204" pitchFamily="34" charset="0"/>
              </a:rPr>
              <a:t> = </a:t>
            </a:r>
            <a:r>
              <a:rPr lang="es-AR" dirty="0" err="1">
                <a:latin typeface="Arial" panose="020B0604020202020204" pitchFamily="34" charset="0"/>
                <a:cs typeface="Arial" panose="020B0604020202020204" pitchFamily="34" charset="0"/>
              </a:rPr>
              <a:t>poly</a:t>
            </a:r>
            <a:r>
              <a:rPr lang="es-AR" dirty="0">
                <a:latin typeface="Arial" panose="020B0604020202020204" pitchFamily="34" charset="0"/>
                <a:cs typeface="Arial" panose="020B0604020202020204" pitchFamily="34" charset="0"/>
              </a:rPr>
              <a:t>(n), queda: </a:t>
            </a:r>
            <a:r>
              <a:rPr lang="es-AR" b="1" dirty="0">
                <a:solidFill>
                  <a:srgbClr val="0070C0"/>
                </a:solidFill>
                <a:latin typeface="Arial" panose="020B0604020202020204" pitchFamily="34" charset="0"/>
                <a:cs typeface="Arial" panose="020B0604020202020204" pitchFamily="34" charset="0"/>
              </a:rPr>
              <a:t>LOGSPACE</a:t>
            </a:r>
            <a:r>
              <a:rPr lang="es-AR" b="1" dirty="0">
                <a:latin typeface="Arial" panose="020B0604020202020204" pitchFamily="34" charset="0"/>
                <a:cs typeface="Arial" panose="020B0604020202020204" pitchFamily="34" charset="0"/>
              </a:rPr>
              <a:t> </a:t>
            </a:r>
            <a:r>
              <a:rPr lang="es-AR" b="1" dirty="0">
                <a:latin typeface="Arial" panose="020B0604020202020204" pitchFamily="34" charset="0"/>
                <a:cs typeface="Arial" panose="020B0604020202020204" pitchFamily="34" charset="0"/>
                <a:sym typeface="Symbol" panose="05050102010706020507" pitchFamily="18" charset="2"/>
              </a:rPr>
              <a:t> </a:t>
            </a:r>
            <a:r>
              <a:rPr lang="es-AR" b="1" dirty="0">
                <a:solidFill>
                  <a:srgbClr val="FF0000"/>
                </a:solidFill>
                <a:latin typeface="Arial" panose="020B0604020202020204" pitchFamily="34" charset="0"/>
                <a:cs typeface="Arial" panose="020B0604020202020204" pitchFamily="34" charset="0"/>
                <a:sym typeface="Symbol" panose="05050102010706020507" pitchFamily="18" charset="2"/>
              </a:rPr>
              <a:t>P</a:t>
            </a:r>
          </a:p>
          <a:p>
            <a:pPr algn="just"/>
            <a:endParaRPr lang="es-AR" sz="900" b="1" dirty="0">
              <a:latin typeface="Arial" panose="020B0604020202020204" pitchFamily="34" charset="0"/>
              <a:cs typeface="Arial" panose="020B0604020202020204" pitchFamily="34" charset="0"/>
              <a:sym typeface="Symbol" panose="05050102010706020507" pitchFamily="18" charset="2"/>
            </a:endParaRPr>
          </a:p>
          <a:p>
            <a:pPr algn="just"/>
            <a:r>
              <a:rPr lang="es-AR" b="1" dirty="0">
                <a:latin typeface="Arial" panose="020B0604020202020204" pitchFamily="34" charset="0"/>
                <a:cs typeface="Arial" panose="020B0604020202020204" pitchFamily="34" charset="0"/>
                <a:sym typeface="Symbol" panose="05050102010706020507" pitchFamily="18" charset="2"/>
              </a:rPr>
              <a:t>     </a:t>
            </a:r>
          </a:p>
          <a:p>
            <a:pPr algn="just"/>
            <a:r>
              <a:rPr lang="es-AR" b="1" dirty="0">
                <a:latin typeface="Arial" panose="020B0604020202020204" pitchFamily="34" charset="0"/>
                <a:cs typeface="Arial" panose="020B0604020202020204" pitchFamily="34" charset="0"/>
                <a:sym typeface="Symbol" panose="05050102010706020507" pitchFamily="18" charset="2"/>
              </a:rPr>
              <a:t>	</a:t>
            </a:r>
          </a:p>
          <a:p>
            <a:pPr algn="just"/>
            <a:r>
              <a:rPr lang="es-AR" b="1" dirty="0">
                <a:latin typeface="Arial" panose="020B0604020202020204" pitchFamily="34" charset="0"/>
                <a:cs typeface="Arial" panose="020B0604020202020204" pitchFamily="34" charset="0"/>
                <a:sym typeface="Symbol" panose="05050102010706020507" pitchFamily="18" charset="2"/>
              </a:rPr>
              <a:t>	Los problemas tratables en espacio son los que pertenecen a la clase LOGSPACE</a:t>
            </a:r>
          </a:p>
          <a:p>
            <a:pPr algn="just"/>
            <a:endParaRPr lang="es-AR" b="1" dirty="0">
              <a:latin typeface="Arial" panose="020B0604020202020204" pitchFamily="34" charset="0"/>
              <a:cs typeface="Arial" panose="020B0604020202020204" pitchFamily="34" charset="0"/>
              <a:sym typeface="Symbol" panose="05050102010706020507" pitchFamily="18" charset="2"/>
            </a:endParaRPr>
          </a:p>
          <a:p>
            <a:pPr algn="just"/>
            <a:r>
              <a:rPr lang="es-AR" b="1" dirty="0">
                <a:latin typeface="Arial" panose="020B0604020202020204" pitchFamily="34" charset="0"/>
                <a:cs typeface="Arial" panose="020B0604020202020204" pitchFamily="34" charset="0"/>
                <a:sym typeface="Symbol" panose="05050102010706020507" pitchFamily="18" charset="2"/>
              </a:rPr>
              <a:t>	Existe una clase NLOGSPACE (homóloga a la clase NP), también incluida en P. </a:t>
            </a:r>
          </a:p>
          <a:p>
            <a:pPr lvl="0" algn="just"/>
            <a:endParaRPr lang="es-AR" dirty="0">
              <a:latin typeface="Arial" panose="020B0604020202020204" pitchFamily="34" charset="0"/>
              <a:cs typeface="Arial" panose="020B0604020202020204" pitchFamily="34" charset="0"/>
              <a:sym typeface="Symbol" panose="05050102010706020507" pitchFamily="18" charset="2"/>
            </a:endParaRPr>
          </a:p>
        </p:txBody>
      </p:sp>
      <p:sp>
        <p:nvSpPr>
          <p:cNvPr id="26" name="Slide Number Placeholder 2">
            <a:extLst>
              <a:ext uri="{FF2B5EF4-FFF2-40B4-BE49-F238E27FC236}">
                <a16:creationId xmlns:a16="http://schemas.microsoft.com/office/drawing/2014/main" id="{80EA6396-F0D6-4D71-A528-F4DDAB7F015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61</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3" name="Rectángulo 2">
            <a:extLst>
              <a:ext uri="{FF2B5EF4-FFF2-40B4-BE49-F238E27FC236}">
                <a16:creationId xmlns:a16="http://schemas.microsoft.com/office/drawing/2014/main" id="{B5E6BE8E-83E9-44FB-93AC-1781C853FE17}"/>
              </a:ext>
            </a:extLst>
          </p:cNvPr>
          <p:cNvSpPr/>
          <p:nvPr/>
        </p:nvSpPr>
        <p:spPr>
          <a:xfrm>
            <a:off x="2708219" y="5630297"/>
            <a:ext cx="7640486" cy="830997"/>
          </a:xfrm>
          <a:prstGeom prst="rect">
            <a:avLst/>
          </a:prstGeom>
          <a:ln>
            <a:solidFill>
              <a:schemeClr val="tx1"/>
            </a:solidFill>
          </a:ln>
        </p:spPr>
        <p:txBody>
          <a:bodyPr wrap="square">
            <a:spAutoFit/>
          </a:bodyPr>
          <a:lstStyle/>
          <a:p>
            <a:pPr lvl="0" algn="just"/>
            <a:r>
              <a:rPr lang="es-AR" sz="1600" b="1" dirty="0">
                <a:latin typeface="Arial" panose="020B0604020202020204" pitchFamily="34" charset="0"/>
                <a:cs typeface="Arial" panose="020B0604020202020204" pitchFamily="34" charset="0"/>
                <a:sym typeface="Symbol" panose="05050102010706020507" pitchFamily="18" charset="2"/>
              </a:rPr>
              <a:t>Tiempo T(n) implica espacio T(n). </a:t>
            </a:r>
            <a:endParaRPr lang="es-AR" sz="1600" dirty="0">
              <a:solidFill>
                <a:srgbClr val="FF0000"/>
              </a:solidFill>
              <a:latin typeface="Arial" panose="020B0604020202020204" pitchFamily="34" charset="0"/>
              <a:cs typeface="Arial" panose="020B0604020202020204" pitchFamily="34" charset="0"/>
              <a:sym typeface="Symbol" panose="05050102010706020507" pitchFamily="18" charset="2"/>
            </a:endParaRPr>
          </a:p>
          <a:p>
            <a:pPr lvl="0" algn="just"/>
            <a:endParaRPr lang="es-AR" sz="800" dirty="0">
              <a:solidFill>
                <a:srgbClr val="FF0000"/>
              </a:solidFill>
              <a:latin typeface="Arial" panose="020B0604020202020204" pitchFamily="34" charset="0"/>
              <a:cs typeface="Arial" panose="020B0604020202020204" pitchFamily="34" charset="0"/>
              <a:sym typeface="Symbol" panose="05050102010706020507" pitchFamily="18" charset="2"/>
            </a:endParaRPr>
          </a:p>
          <a:p>
            <a:pPr lvl="0" algn="just"/>
            <a:r>
              <a:rPr lang="es-AR" sz="1600" b="1" dirty="0">
                <a:latin typeface="Arial" panose="020B0604020202020204" pitchFamily="34" charset="0"/>
                <a:cs typeface="Arial" panose="020B0604020202020204" pitchFamily="34" charset="0"/>
                <a:sym typeface="Symbol" panose="05050102010706020507" pitchFamily="18" charset="2"/>
              </a:rPr>
              <a:t>Espacio S(n) implica tiempo O(</a:t>
            </a:r>
            <a:r>
              <a:rPr lang="es-AR" sz="1600" b="1" dirty="0" err="1">
                <a:latin typeface="Arial" panose="020B0604020202020204" pitchFamily="34" charset="0"/>
                <a:cs typeface="Arial" panose="020B0604020202020204" pitchFamily="34" charset="0"/>
                <a:sym typeface="Symbol" panose="05050102010706020507" pitchFamily="18" charset="2"/>
              </a:rPr>
              <a:t>c</a:t>
            </a:r>
            <a:r>
              <a:rPr lang="es-AR" altLang="es-MX" sz="2400" b="1" baseline="300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S</a:t>
            </a:r>
            <a:r>
              <a:rPr lang="es-AR" altLang="es-MX" sz="2400" b="1" baseline="30000" dirty="0">
                <a:solidFill>
                  <a:srgbClr val="000000"/>
                </a:solidFill>
                <a:latin typeface="Arial" panose="020B0604020202020204" pitchFamily="34" charset="0"/>
                <a:ea typeface="Times New Roman" panose="02020603050405020304" pitchFamily="18" charset="0"/>
                <a:cs typeface="Arial" panose="020B0604020202020204" pitchFamily="34" charset="0"/>
              </a:rPr>
              <a:t>(n)</a:t>
            </a:r>
            <a:r>
              <a:rPr lang="es-AR" altLang="es-MX"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AR" altLang="es-MX" sz="1600" b="1" dirty="0">
                <a:solidFill>
                  <a:srgbClr val="000000"/>
                </a:solidFill>
                <a:latin typeface="Arial" panose="020B0604020202020204" pitchFamily="34" charset="0"/>
                <a:ea typeface="Times New Roman" panose="02020603050405020304" pitchFamily="18" charset="0"/>
                <a:cs typeface="Arial" panose="020B0604020202020204" pitchFamily="34" charset="0"/>
              </a:rPr>
              <a:t>para alguna constante c. </a:t>
            </a:r>
            <a:endParaRPr lang="es-AR" sz="1600" b="1" dirty="0">
              <a:latin typeface="Arial" panose="020B0604020202020204" pitchFamily="34" charset="0"/>
              <a:cs typeface="Arial" panose="020B0604020202020204" pitchFamily="34" charset="0"/>
              <a:sym typeface="Symbol" panose="05050102010706020507" pitchFamily="18" charset="2"/>
            </a:endParaRPr>
          </a:p>
        </p:txBody>
      </p:sp>
      <p:sp>
        <p:nvSpPr>
          <p:cNvPr id="12" name="Rectángulo 11">
            <a:extLst>
              <a:ext uri="{FF2B5EF4-FFF2-40B4-BE49-F238E27FC236}">
                <a16:creationId xmlns:a16="http://schemas.microsoft.com/office/drawing/2014/main" id="{3013D138-D0DF-3DCE-C3A3-EA7187570F67}"/>
              </a:ext>
            </a:extLst>
          </p:cNvPr>
          <p:cNvSpPr/>
          <p:nvPr/>
        </p:nvSpPr>
        <p:spPr>
          <a:xfrm>
            <a:off x="249172" y="143605"/>
            <a:ext cx="6863722" cy="523220"/>
          </a:xfrm>
          <a:prstGeom prst="rect">
            <a:avLst/>
          </a:prstGeom>
        </p:spPr>
        <p:txBody>
          <a:bodyPr wrap="square">
            <a:spAutoFit/>
          </a:bodyPr>
          <a:lstStyle/>
          <a:p>
            <a:r>
              <a:rPr lang="es-MX" sz="2800" b="1" dirty="0">
                <a:solidFill>
                  <a:srgbClr val="7030A0"/>
                </a:solidFill>
                <a:latin typeface="Arial" panose="020B0604020202020204" pitchFamily="34" charset="0"/>
                <a:cs typeface="Arial" panose="020B0604020202020204" pitchFamily="34" charset="0"/>
              </a:rPr>
              <a:t>Jerarquía espacial</a:t>
            </a:r>
          </a:p>
        </p:txBody>
      </p:sp>
    </p:spTree>
    <p:extLst>
      <p:ext uri="{BB962C8B-B14F-4D97-AF65-F5344CB8AC3E}">
        <p14:creationId xmlns:p14="http://schemas.microsoft.com/office/powerpoint/2010/main" val="36428920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2823CBE-5E8E-4CBD-A07D-6112B0E8B381}"/>
              </a:ext>
            </a:extLst>
          </p:cNvPr>
          <p:cNvSpPr/>
          <p:nvPr/>
        </p:nvSpPr>
        <p:spPr>
          <a:xfrm>
            <a:off x="267465" y="199712"/>
            <a:ext cx="11778670" cy="6755696"/>
          </a:xfrm>
          <a:prstGeom prst="rect">
            <a:avLst/>
          </a:prstGeom>
        </p:spPr>
        <p:txBody>
          <a:bodyPr wrap="square">
            <a:spAutoFit/>
          </a:bodyPr>
          <a:lstStyle/>
          <a:p>
            <a:pPr algn="just"/>
            <a:r>
              <a:rPr lang="es-ES" sz="2400" b="1" dirty="0">
                <a:latin typeface="Arial" panose="020B0604020202020204" pitchFamily="34" charset="0"/>
                <a:cs typeface="Arial" panose="020B0604020202020204" pitchFamily="34" charset="0"/>
              </a:rPr>
              <a:t>Ejemplo. El lenguaje QSAT. </a:t>
            </a:r>
          </a:p>
          <a:p>
            <a:pPr algn="just"/>
            <a:endParaRPr lang="es-MX" sz="1300"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QSAT = {φ | φ es una fórmula booleana con cuantificadores, no tiene variables libres, y es verdadera}. </a:t>
            </a:r>
          </a:p>
          <a:p>
            <a:pPr algn="just"/>
            <a:endParaRPr lang="es-E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dirty="0">
                <a:latin typeface="Arial" panose="020B0604020202020204" pitchFamily="34" charset="0"/>
                <a:cs typeface="Arial" panose="020B0604020202020204" pitchFamily="34" charset="0"/>
              </a:rPr>
              <a:t>Por ejemplo, 	φ</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 </a:t>
            </a:r>
            <a:r>
              <a:rPr lang="es-ES" dirty="0">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sym typeface="Symbol" panose="05050102010706020507" pitchFamily="18" charset="2"/>
              </a:rPr>
              <a:t>xyz</a:t>
            </a:r>
            <a:r>
              <a:rPr lang="es-ES" dirty="0">
                <a:latin typeface="Arial" panose="020B0604020202020204" pitchFamily="34" charset="0"/>
                <a:cs typeface="Arial" panose="020B0604020202020204" pitchFamily="34" charset="0"/>
                <a:sym typeface="Symbol" panose="05050102010706020507" pitchFamily="18" charset="2"/>
              </a:rPr>
              <a:t>: </a:t>
            </a:r>
            <a:r>
              <a:rPr lang="es-ES" dirty="0">
                <a:latin typeface="Arial" panose="020B0604020202020204" pitchFamily="34" charset="0"/>
                <a:cs typeface="Arial" panose="020B0604020202020204" pitchFamily="34" charset="0"/>
              </a:rPr>
              <a:t>x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y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z, es verdadera</a:t>
            </a:r>
          </a:p>
          <a:p>
            <a:pPr algn="just"/>
            <a:endParaRPr lang="es-ES" sz="900"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		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 = </a:t>
            </a:r>
            <a:r>
              <a:rPr lang="es-ES" dirty="0">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rPr>
              <a:t>x</a:t>
            </a:r>
            <a:r>
              <a:rPr lang="es-ES" dirty="0" err="1">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rPr>
              <a:t>y</a:t>
            </a:r>
            <a:r>
              <a:rPr lang="es-ES" dirty="0" err="1">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rPr>
              <a:t>z</a:t>
            </a:r>
            <a:r>
              <a:rPr lang="es-ES" dirty="0">
                <a:latin typeface="Arial" panose="020B0604020202020204" pitchFamily="34" charset="0"/>
                <a:cs typeface="Arial" panose="020B0604020202020204" pitchFamily="34" charset="0"/>
              </a:rPr>
              <a:t>: x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y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z, es falsa</a:t>
            </a:r>
          </a:p>
          <a:p>
            <a:pPr algn="just"/>
            <a:endParaRPr lang="es-ES" sz="1200" dirty="0">
              <a:latin typeface="Arial" panose="020B0604020202020204" pitchFamily="34" charset="0"/>
              <a:cs typeface="Arial" panose="020B0604020202020204" pitchFamily="34" charset="0"/>
            </a:endParaRPr>
          </a:p>
          <a:p>
            <a:pPr algn="just"/>
            <a:endParaRPr lang="es-ES" sz="12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b="1" dirty="0">
                <a:latin typeface="Arial" panose="020B0604020202020204" pitchFamily="34" charset="0"/>
                <a:cs typeface="Arial" panose="020B0604020202020204" pitchFamily="34" charset="0"/>
              </a:rPr>
              <a:t>QSAT pertenece a PSPACE. </a:t>
            </a:r>
            <a:r>
              <a:rPr lang="es-ES" dirty="0">
                <a:latin typeface="Arial" panose="020B0604020202020204" pitchFamily="34" charset="0"/>
                <a:cs typeface="Arial" panose="020B0604020202020204" pitchFamily="34" charset="0"/>
              </a:rPr>
              <a:t>La prueba se basa en la construcción de una función recursiva </a:t>
            </a:r>
            <a:r>
              <a:rPr lang="es-ES" b="1"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 La idea de la recursión es la siguiente (usamos como ejemplo la fórmula 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sym typeface="Wingdings" panose="05000000000000000000" pitchFamily="2" charset="2"/>
              </a:rPr>
              <a:t>):</a:t>
            </a:r>
            <a:endParaRPr lang="es-MX" dirty="0">
              <a:latin typeface="Arial" panose="020B0604020202020204" pitchFamily="34" charset="0"/>
              <a:cs typeface="Arial" panose="020B0604020202020204" pitchFamily="34" charset="0"/>
            </a:endParaRPr>
          </a:p>
          <a:p>
            <a:pPr algn="just"/>
            <a:endParaRPr lang="es-ES" sz="1600" dirty="0">
              <a:latin typeface="Arial" panose="020B0604020202020204" pitchFamily="34" charset="0"/>
              <a:cs typeface="Arial" panose="020B0604020202020204" pitchFamily="34" charset="0"/>
            </a:endParaRPr>
          </a:p>
          <a:p>
            <a:pPr algn="just"/>
            <a:endParaRPr lang="es-ES" sz="1600"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a:t>
            </a:r>
            <a:r>
              <a:rPr lang="es-ES" dirty="0" err="1">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rPr>
              <a:t>x|V</a:t>
            </a:r>
            <a:r>
              <a:rPr lang="es-ES"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rPr>
              <a:t>x|F</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a:t>
            </a:r>
            <a:r>
              <a:rPr lang="es-ES" dirty="0" err="1">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sym typeface="Symbol" panose="05050102010706020507" pitchFamily="18" charset="2"/>
              </a:rPr>
              <a:t></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rPr>
              <a:t>x|V</a:t>
            </a:r>
            <a:r>
              <a:rPr lang="es-ES"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dirty="0" err="1">
                <a:latin typeface="Arial" panose="020B0604020202020204" pitchFamily="34" charset="0"/>
                <a:cs typeface="Arial" panose="020B0604020202020204" pitchFamily="34" charset="0"/>
              </a:rPr>
              <a:t>x|F</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a:t>
            </a:r>
            <a:r>
              <a:rPr lang="es-ES" dirty="0">
                <a:latin typeface="Arial" panose="020B0604020202020204" pitchFamily="34" charset="0"/>
                <a:cs typeface="Arial" panose="020B0604020202020204" pitchFamily="34" charset="0"/>
                <a:sym typeface="Symbol" panose="05050102010706020507" pitchFamily="18" charset="2"/>
              </a:rPr>
              <a:t>) </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sym typeface="Symbol" panose="05050102010706020507" pitchFamily="18" charset="2"/>
              </a:rPr>
              <a:t></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r>
              <a:rPr lang="es-ES" baseline="-25000" dirty="0">
                <a:latin typeface="Arial" panose="020B0604020202020204" pitchFamily="34" charset="0"/>
                <a:cs typeface="Arial" panose="020B0604020202020204" pitchFamily="34" charset="0"/>
              </a:rPr>
              <a:t>2</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 = ¬</a:t>
            </a:r>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(φ)</a:t>
            </a:r>
            <a:endParaRPr lang="es-MX" dirty="0">
              <a:latin typeface="Arial" panose="020B0604020202020204" pitchFamily="34" charset="0"/>
              <a:cs typeface="Arial" panose="020B0604020202020204" pitchFamily="34" charset="0"/>
            </a:endParaRPr>
          </a:p>
          <a:p>
            <a:pPr lvl="0"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(V) = V</a:t>
            </a:r>
          </a:p>
          <a:p>
            <a:pPr algn="just"/>
            <a:r>
              <a:rPr lang="es-ES" dirty="0" err="1">
                <a:latin typeface="Arial" panose="020B0604020202020204" pitchFamily="34" charset="0"/>
                <a:cs typeface="Arial" panose="020B0604020202020204" pitchFamily="34" charset="0"/>
              </a:rPr>
              <a:t>Eval</a:t>
            </a:r>
            <a:r>
              <a:rPr lang="es-ES" dirty="0">
                <a:latin typeface="Arial" panose="020B0604020202020204" pitchFamily="34" charset="0"/>
                <a:cs typeface="Arial" panose="020B0604020202020204" pitchFamily="34" charset="0"/>
              </a:rPr>
              <a:t>(F) = F         </a:t>
            </a:r>
            <a:r>
              <a:rPr lang="es-ES" b="1" dirty="0">
                <a:latin typeface="Arial" panose="020B0604020202020204" pitchFamily="34" charset="0"/>
                <a:cs typeface="Arial" panose="020B0604020202020204" pitchFamily="34" charset="0"/>
              </a:rPr>
              <a:t>La MT correspondiente </a:t>
            </a:r>
            <a:r>
              <a:rPr lang="es-ES" b="1" u="sng" dirty="0">
                <a:latin typeface="Arial" panose="020B0604020202020204" pitchFamily="34" charset="0"/>
                <a:cs typeface="Arial" panose="020B0604020202020204" pitchFamily="34" charset="0"/>
              </a:rPr>
              <a:t>reutiliza</a:t>
            </a:r>
            <a:r>
              <a:rPr lang="es-ES" b="1" dirty="0">
                <a:latin typeface="Arial" panose="020B0604020202020204" pitchFamily="34" charset="0"/>
                <a:cs typeface="Arial" panose="020B0604020202020204" pitchFamily="34" charset="0"/>
              </a:rPr>
              <a:t> espacio, característica esencial en la complejidad espacial</a:t>
            </a:r>
            <a:endParaRPr lang="es-AR" b="1" dirty="0"/>
          </a:p>
          <a:p>
            <a:pPr lvl="0" algn="just"/>
            <a:endParaRPr lang="es-MX" dirty="0">
              <a:latin typeface="Arial" panose="020B0604020202020204" pitchFamily="34" charset="0"/>
              <a:cs typeface="Arial" panose="020B0604020202020204" pitchFamily="34" charset="0"/>
            </a:endParaRP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La cantidad de cuantificadores más la cantidad de conectivos de φ es a lo sumo |φ| = n.</a:t>
            </a:r>
          </a:p>
          <a:p>
            <a:pPr algn="just"/>
            <a:r>
              <a:rPr lang="es-ES" dirty="0">
                <a:latin typeface="Arial" panose="020B0604020202020204" pitchFamily="34" charset="0"/>
                <a:cs typeface="Arial" panose="020B0604020202020204" pitchFamily="34" charset="0"/>
              </a:rPr>
              <a:t>Así, tanto la profundidad de la pila como el espacio ocupado en cada instancia miden O(n). </a:t>
            </a:r>
          </a:p>
          <a:p>
            <a:pPr algn="just"/>
            <a:r>
              <a:rPr lang="es-ES" dirty="0">
                <a:latin typeface="Arial" panose="020B0604020202020204" pitchFamily="34" charset="0"/>
                <a:cs typeface="Arial" panose="020B0604020202020204" pitchFamily="34" charset="0"/>
              </a:rPr>
              <a:t>Por lo tanto, </a:t>
            </a:r>
            <a:r>
              <a:rPr lang="es-ES" b="1" dirty="0" err="1">
                <a:latin typeface="Arial" panose="020B0604020202020204" pitchFamily="34" charset="0"/>
                <a:cs typeface="Arial" panose="020B0604020202020204" pitchFamily="34" charset="0"/>
              </a:rPr>
              <a:t>Eval</a:t>
            </a:r>
            <a:r>
              <a:rPr lang="es-ES" b="1" dirty="0">
                <a:latin typeface="Arial" panose="020B0604020202020204" pitchFamily="34" charset="0"/>
                <a:cs typeface="Arial" panose="020B0604020202020204" pitchFamily="34" charset="0"/>
              </a:rPr>
              <a:t> consume espacio O(n</a:t>
            </a:r>
            <a:r>
              <a:rPr lang="es-ES" b="1" baseline="30000" dirty="0">
                <a:latin typeface="Arial" panose="020B0604020202020204" pitchFamily="34" charset="0"/>
                <a:cs typeface="Arial" panose="020B0604020202020204" pitchFamily="34" charset="0"/>
              </a:rPr>
              <a:t>2</a:t>
            </a:r>
            <a:r>
              <a:rPr lang="es-ES" b="1" dirty="0">
                <a:latin typeface="Arial" panose="020B0604020202020204" pitchFamily="34" charset="0"/>
                <a:cs typeface="Arial" panose="020B0604020202020204" pitchFamily="34" charset="0"/>
              </a:rPr>
              <a:t>).</a:t>
            </a:r>
            <a:r>
              <a:rPr lang="es-ES" dirty="0">
                <a:latin typeface="Arial" panose="020B0604020202020204" pitchFamily="34" charset="0"/>
                <a:cs typeface="Arial" panose="020B0604020202020204" pitchFamily="34" charset="0"/>
              </a:rPr>
              <a:t> </a:t>
            </a:r>
            <a:endParaRPr lang="es-MX" dirty="0">
              <a:solidFill>
                <a:srgbClr val="FF0000"/>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4259C77C-94F9-4C6D-8578-AA5CDC1D1A9F}"/>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62</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5" name="CuadroTexto 4">
            <a:extLst>
              <a:ext uri="{FF2B5EF4-FFF2-40B4-BE49-F238E27FC236}">
                <a16:creationId xmlns:a16="http://schemas.microsoft.com/office/drawing/2014/main" id="{1395138A-A928-84F8-745B-8757558335A0}"/>
              </a:ext>
            </a:extLst>
          </p:cNvPr>
          <p:cNvSpPr txBox="1"/>
          <p:nvPr/>
        </p:nvSpPr>
        <p:spPr>
          <a:xfrm>
            <a:off x="7746256" y="3019425"/>
            <a:ext cx="2152834"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err="1">
                <a:latin typeface="Arial" panose="020B0604020202020204" pitchFamily="34" charset="0"/>
                <a:cs typeface="Arial" panose="020B0604020202020204" pitchFamily="34" charset="0"/>
              </a:rPr>
              <a:t>x</a:t>
            </a:r>
            <a:r>
              <a:rPr lang="es-ES" sz="1200" dirty="0" err="1">
                <a:latin typeface="Arial" panose="020B0604020202020204" pitchFamily="34" charset="0"/>
                <a:cs typeface="Arial" panose="020B0604020202020204" pitchFamily="34" charset="0"/>
                <a:sym typeface="Symbol" panose="05050102010706020507" pitchFamily="18" charset="2"/>
              </a:rPr>
              <a:t></a:t>
            </a:r>
            <a:r>
              <a:rPr lang="es-ES" sz="1200" dirty="0" err="1">
                <a:latin typeface="Arial" panose="020B0604020202020204" pitchFamily="34" charset="0"/>
                <a:cs typeface="Arial" panose="020B0604020202020204" pitchFamily="34" charset="0"/>
              </a:rPr>
              <a:t>y</a:t>
            </a:r>
            <a:r>
              <a:rPr lang="es-ES" sz="1200" dirty="0" err="1">
                <a:latin typeface="Arial" panose="020B0604020202020204" pitchFamily="34" charset="0"/>
                <a:cs typeface="Arial" panose="020B0604020202020204" pitchFamily="34" charset="0"/>
                <a:sym typeface="Symbol" panose="05050102010706020507" pitchFamily="18" charset="2"/>
              </a:rPr>
              <a:t></a:t>
            </a:r>
            <a:r>
              <a:rPr lang="es-ES" sz="1200" dirty="0" err="1">
                <a:latin typeface="Arial" panose="020B0604020202020204" pitchFamily="34" charset="0"/>
                <a:cs typeface="Arial" panose="020B0604020202020204" pitchFamily="34" charset="0"/>
              </a:rPr>
              <a:t>z</a:t>
            </a:r>
            <a:r>
              <a:rPr lang="es-ES" sz="1200" dirty="0">
                <a:latin typeface="Arial" panose="020B0604020202020204" pitchFamily="34" charset="0"/>
                <a:cs typeface="Arial" panose="020B0604020202020204" pitchFamily="34" charset="0"/>
              </a:rPr>
              <a:t> (x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y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6" name="CuadroTexto 5">
            <a:extLst>
              <a:ext uri="{FF2B5EF4-FFF2-40B4-BE49-F238E27FC236}">
                <a16:creationId xmlns:a16="http://schemas.microsoft.com/office/drawing/2014/main" id="{4F9A86D4-8298-7758-CC39-868401BAE6E8}"/>
              </a:ext>
            </a:extLst>
          </p:cNvPr>
          <p:cNvSpPr txBox="1"/>
          <p:nvPr/>
        </p:nvSpPr>
        <p:spPr>
          <a:xfrm>
            <a:off x="5722187" y="3530075"/>
            <a:ext cx="1781193" cy="278825"/>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err="1">
                <a:latin typeface="Arial" panose="020B0604020202020204" pitchFamily="34" charset="0"/>
                <a:cs typeface="Arial" panose="020B0604020202020204" pitchFamily="34" charset="0"/>
              </a:rPr>
              <a:t>y</a:t>
            </a:r>
            <a:r>
              <a:rPr lang="es-ES" sz="1200" dirty="0" err="1">
                <a:latin typeface="Arial" panose="020B0604020202020204" pitchFamily="34" charset="0"/>
                <a:cs typeface="Arial" panose="020B0604020202020204" pitchFamily="34" charset="0"/>
                <a:sym typeface="Symbol" panose="05050102010706020507" pitchFamily="18" charset="2"/>
              </a:rPr>
              <a:t></a:t>
            </a:r>
            <a:r>
              <a:rPr lang="es-ES" sz="1200" dirty="0" err="1">
                <a:latin typeface="Arial" panose="020B0604020202020204" pitchFamily="34" charset="0"/>
                <a:cs typeface="Arial" panose="020B0604020202020204" pitchFamily="34" charset="0"/>
              </a:rPr>
              <a:t>z</a:t>
            </a:r>
            <a:r>
              <a:rPr lang="es-ES" sz="1200" dirty="0">
                <a:latin typeface="Arial" panose="020B0604020202020204" pitchFamily="34" charset="0"/>
                <a:cs typeface="Arial" panose="020B0604020202020204" pitchFamily="34" charset="0"/>
              </a:rPr>
              <a:t>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y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7" name="CuadroTexto 6">
            <a:extLst>
              <a:ext uri="{FF2B5EF4-FFF2-40B4-BE49-F238E27FC236}">
                <a16:creationId xmlns:a16="http://schemas.microsoft.com/office/drawing/2014/main" id="{61AE4288-2374-559A-DDC9-79948CA434AE}"/>
              </a:ext>
            </a:extLst>
          </p:cNvPr>
          <p:cNvSpPr txBox="1"/>
          <p:nvPr/>
        </p:nvSpPr>
        <p:spPr>
          <a:xfrm>
            <a:off x="9541150" y="3507338"/>
            <a:ext cx="1858901"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err="1">
                <a:latin typeface="Arial" panose="020B0604020202020204" pitchFamily="34" charset="0"/>
                <a:cs typeface="Arial" panose="020B0604020202020204" pitchFamily="34" charset="0"/>
              </a:rPr>
              <a:t>y</a:t>
            </a:r>
            <a:r>
              <a:rPr lang="es-ES" sz="1200" dirty="0" err="1">
                <a:latin typeface="Arial" panose="020B0604020202020204" pitchFamily="34" charset="0"/>
                <a:cs typeface="Arial" panose="020B0604020202020204" pitchFamily="34" charset="0"/>
                <a:sym typeface="Symbol" panose="05050102010706020507" pitchFamily="18" charset="2"/>
              </a:rPr>
              <a:t></a:t>
            </a:r>
            <a:r>
              <a:rPr lang="es-ES" sz="1200" dirty="0" err="1">
                <a:latin typeface="Arial" panose="020B0604020202020204" pitchFamily="34" charset="0"/>
                <a:cs typeface="Arial" panose="020B0604020202020204" pitchFamily="34" charset="0"/>
              </a:rPr>
              <a:t>z</a:t>
            </a:r>
            <a:r>
              <a:rPr lang="es-ES" sz="1200" dirty="0">
                <a:latin typeface="Arial" panose="020B0604020202020204" pitchFamily="34" charset="0"/>
                <a:cs typeface="Arial" panose="020B0604020202020204" pitchFamily="34" charset="0"/>
              </a:rPr>
              <a:t>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y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8" name="CuadroTexto 7">
            <a:extLst>
              <a:ext uri="{FF2B5EF4-FFF2-40B4-BE49-F238E27FC236}">
                <a16:creationId xmlns:a16="http://schemas.microsoft.com/office/drawing/2014/main" id="{1FDE335E-F74C-881F-A0FE-296FDDD23B67}"/>
              </a:ext>
            </a:extLst>
          </p:cNvPr>
          <p:cNvSpPr txBox="1"/>
          <p:nvPr/>
        </p:nvSpPr>
        <p:spPr>
          <a:xfrm>
            <a:off x="5008216" y="4101942"/>
            <a:ext cx="1587866" cy="278825"/>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z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9" name="CuadroTexto 8">
            <a:extLst>
              <a:ext uri="{FF2B5EF4-FFF2-40B4-BE49-F238E27FC236}">
                <a16:creationId xmlns:a16="http://schemas.microsoft.com/office/drawing/2014/main" id="{AE784298-3229-65C5-31F0-ED90D9708587}"/>
              </a:ext>
            </a:extLst>
          </p:cNvPr>
          <p:cNvSpPr txBox="1"/>
          <p:nvPr/>
        </p:nvSpPr>
        <p:spPr>
          <a:xfrm>
            <a:off x="6596082" y="4103143"/>
            <a:ext cx="1587867"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z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10" name="CuadroTexto 9">
            <a:extLst>
              <a:ext uri="{FF2B5EF4-FFF2-40B4-BE49-F238E27FC236}">
                <a16:creationId xmlns:a16="http://schemas.microsoft.com/office/drawing/2014/main" id="{8CD9269E-09BB-2845-6F77-7AFE24737B06}"/>
              </a:ext>
            </a:extLst>
          </p:cNvPr>
          <p:cNvSpPr txBox="1"/>
          <p:nvPr/>
        </p:nvSpPr>
        <p:spPr>
          <a:xfrm>
            <a:off x="8962038" y="4065131"/>
            <a:ext cx="1661152"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z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sp>
        <p:nvSpPr>
          <p:cNvPr id="11" name="CuadroTexto 10">
            <a:extLst>
              <a:ext uri="{FF2B5EF4-FFF2-40B4-BE49-F238E27FC236}">
                <a16:creationId xmlns:a16="http://schemas.microsoft.com/office/drawing/2014/main" id="{6632555F-1F3F-3857-C128-18852C469919}"/>
              </a:ext>
            </a:extLst>
          </p:cNvPr>
          <p:cNvSpPr txBox="1"/>
          <p:nvPr/>
        </p:nvSpPr>
        <p:spPr>
          <a:xfrm>
            <a:off x="10483049" y="4072279"/>
            <a:ext cx="1708951" cy="278823"/>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z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z)) </a:t>
            </a:r>
            <a:endParaRPr lang="es-AR" sz="1200" dirty="0"/>
          </a:p>
        </p:txBody>
      </p:sp>
      <p:cxnSp>
        <p:nvCxnSpPr>
          <p:cNvPr id="13" name="Conector recto 12">
            <a:extLst>
              <a:ext uri="{FF2B5EF4-FFF2-40B4-BE49-F238E27FC236}">
                <a16:creationId xmlns:a16="http://schemas.microsoft.com/office/drawing/2014/main" id="{6726FA33-ACF3-47DE-8C8A-85A1DA0197D2}"/>
              </a:ext>
            </a:extLst>
          </p:cNvPr>
          <p:cNvCxnSpPr/>
          <p:nvPr/>
        </p:nvCxnSpPr>
        <p:spPr>
          <a:xfrm>
            <a:off x="13858043" y="1908699"/>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C5956EBB-2B58-791B-E40C-862906D1A7A3}"/>
              </a:ext>
            </a:extLst>
          </p:cNvPr>
          <p:cNvCxnSpPr>
            <a:cxnSpLocks/>
          </p:cNvCxnSpPr>
          <p:nvPr/>
        </p:nvCxnSpPr>
        <p:spPr>
          <a:xfrm>
            <a:off x="7796489" y="3270991"/>
            <a:ext cx="1842723" cy="2682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272FA942-83F3-6E5F-B821-92BAEAB01AA6}"/>
              </a:ext>
            </a:extLst>
          </p:cNvPr>
          <p:cNvCxnSpPr>
            <a:cxnSpLocks/>
          </p:cNvCxnSpPr>
          <p:nvPr/>
        </p:nvCxnSpPr>
        <p:spPr>
          <a:xfrm flipH="1">
            <a:off x="5115418" y="3786060"/>
            <a:ext cx="725675" cy="315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CBE34CF5-F7CA-E287-7FE6-A26A177749C6}"/>
              </a:ext>
            </a:extLst>
          </p:cNvPr>
          <p:cNvCxnSpPr>
            <a:cxnSpLocks/>
          </p:cNvCxnSpPr>
          <p:nvPr/>
        </p:nvCxnSpPr>
        <p:spPr>
          <a:xfrm flipH="1">
            <a:off x="5838159" y="3269966"/>
            <a:ext cx="1993415" cy="2996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CuadroTexto 31">
            <a:extLst>
              <a:ext uri="{FF2B5EF4-FFF2-40B4-BE49-F238E27FC236}">
                <a16:creationId xmlns:a16="http://schemas.microsoft.com/office/drawing/2014/main" id="{767D700F-4613-0C04-F95F-EA6D9FBF5A6E}"/>
              </a:ext>
            </a:extLst>
          </p:cNvPr>
          <p:cNvSpPr txBox="1"/>
          <p:nvPr/>
        </p:nvSpPr>
        <p:spPr>
          <a:xfrm>
            <a:off x="4040752" y="4665144"/>
            <a:ext cx="1326708"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endParaRPr lang="es-AR" sz="1200" dirty="0"/>
          </a:p>
        </p:txBody>
      </p:sp>
      <p:sp>
        <p:nvSpPr>
          <p:cNvPr id="33" name="CuadroTexto 32">
            <a:extLst>
              <a:ext uri="{FF2B5EF4-FFF2-40B4-BE49-F238E27FC236}">
                <a16:creationId xmlns:a16="http://schemas.microsoft.com/office/drawing/2014/main" id="{862F0F33-C431-7731-0272-8EE2F3ADCA87}"/>
              </a:ext>
            </a:extLst>
          </p:cNvPr>
          <p:cNvSpPr txBox="1"/>
          <p:nvPr/>
        </p:nvSpPr>
        <p:spPr>
          <a:xfrm>
            <a:off x="5318304" y="4635844"/>
            <a:ext cx="1389340"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endParaRPr lang="es-AR" sz="1200" dirty="0"/>
          </a:p>
        </p:txBody>
      </p:sp>
      <p:sp>
        <p:nvSpPr>
          <p:cNvPr id="12" name="CuadroTexto 11">
            <a:extLst>
              <a:ext uri="{FF2B5EF4-FFF2-40B4-BE49-F238E27FC236}">
                <a16:creationId xmlns:a16="http://schemas.microsoft.com/office/drawing/2014/main" id="{0019CF11-1912-BC6C-75DA-ABB59FE751EE}"/>
              </a:ext>
            </a:extLst>
          </p:cNvPr>
          <p:cNvSpPr txBox="1"/>
          <p:nvPr/>
        </p:nvSpPr>
        <p:spPr>
          <a:xfrm>
            <a:off x="6581913" y="4629384"/>
            <a:ext cx="1389340"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V) </a:t>
            </a:r>
            <a:endParaRPr lang="es-AR" sz="1200" dirty="0"/>
          </a:p>
        </p:txBody>
      </p:sp>
      <p:sp>
        <p:nvSpPr>
          <p:cNvPr id="14" name="CuadroTexto 13">
            <a:extLst>
              <a:ext uri="{FF2B5EF4-FFF2-40B4-BE49-F238E27FC236}">
                <a16:creationId xmlns:a16="http://schemas.microsoft.com/office/drawing/2014/main" id="{373E6A42-91A7-B979-8056-F0240D5A30FB}"/>
              </a:ext>
            </a:extLst>
          </p:cNvPr>
          <p:cNvSpPr txBox="1"/>
          <p:nvPr/>
        </p:nvSpPr>
        <p:spPr>
          <a:xfrm>
            <a:off x="7895177" y="4622924"/>
            <a:ext cx="1389340" cy="276999"/>
          </a:xfrm>
          <a:prstGeom prst="rect">
            <a:avLst/>
          </a:prstGeom>
          <a:noFill/>
        </p:spPr>
        <p:txBody>
          <a:bodyPr wrap="square">
            <a:spAutoFit/>
          </a:bodyPr>
          <a:lstStyle/>
          <a:p>
            <a:r>
              <a:rPr lang="es-ES" sz="1200" dirty="0" err="1">
                <a:latin typeface="Arial" panose="020B0604020202020204" pitchFamily="34" charset="0"/>
                <a:cs typeface="Arial" panose="020B0604020202020204" pitchFamily="34" charset="0"/>
                <a:sym typeface="Symbol" panose="05050102010706020507" pitchFamily="18" charset="2"/>
              </a:rPr>
              <a:t>Eval</a:t>
            </a:r>
            <a:r>
              <a:rPr lang="es-ES" sz="1200" dirty="0">
                <a:latin typeface="Arial" panose="020B0604020202020204" pitchFamily="34" charset="0"/>
                <a:cs typeface="Arial" panose="020B0604020202020204" pitchFamily="34" charset="0"/>
                <a:sym typeface="Symbol" panose="05050102010706020507" pitchFamily="18" charset="2"/>
              </a:rPr>
              <a:t> (</a:t>
            </a:r>
            <a:r>
              <a:rPr lang="es-ES" sz="1200" dirty="0">
                <a:latin typeface="Arial" panose="020B0604020202020204" pitchFamily="34" charset="0"/>
                <a:cs typeface="Arial" panose="020B0604020202020204" pitchFamily="34" charset="0"/>
              </a:rPr>
              <a:t>V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r>
              <a:rPr lang="es-ES" sz="1200" dirty="0">
                <a:latin typeface="Arial" panose="020B0604020202020204" pitchFamily="34" charset="0"/>
                <a:cs typeface="Arial" panose="020B0604020202020204" pitchFamily="34" charset="0"/>
                <a:sym typeface="Symbol" panose="05050102010706020507" pitchFamily="18" charset="2"/>
              </a:rPr>
              <a:t></a:t>
            </a:r>
            <a:r>
              <a:rPr lang="es-ES" sz="1200" dirty="0">
                <a:latin typeface="Arial" panose="020B0604020202020204" pitchFamily="34" charset="0"/>
                <a:cs typeface="Arial" panose="020B0604020202020204" pitchFamily="34" charset="0"/>
              </a:rPr>
              <a:t> F) </a:t>
            </a:r>
            <a:endParaRPr lang="es-AR" sz="1200" dirty="0"/>
          </a:p>
        </p:txBody>
      </p:sp>
      <p:cxnSp>
        <p:nvCxnSpPr>
          <p:cNvPr id="37" name="Conector recto 36">
            <a:extLst>
              <a:ext uri="{FF2B5EF4-FFF2-40B4-BE49-F238E27FC236}">
                <a16:creationId xmlns:a16="http://schemas.microsoft.com/office/drawing/2014/main" id="{0B9C3D4A-E52A-542D-94D2-AA9A83045F36}"/>
              </a:ext>
            </a:extLst>
          </p:cNvPr>
          <p:cNvCxnSpPr>
            <a:cxnSpLocks/>
          </p:cNvCxnSpPr>
          <p:nvPr/>
        </p:nvCxnSpPr>
        <p:spPr>
          <a:xfrm flipH="1">
            <a:off x="9091246" y="3784337"/>
            <a:ext cx="573367" cy="3176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1CED2DC5-0EFB-EFC3-FB79-2E6428305F6F}"/>
              </a:ext>
            </a:extLst>
          </p:cNvPr>
          <p:cNvCxnSpPr>
            <a:cxnSpLocks/>
          </p:cNvCxnSpPr>
          <p:nvPr/>
        </p:nvCxnSpPr>
        <p:spPr>
          <a:xfrm>
            <a:off x="9664613" y="3781312"/>
            <a:ext cx="958577" cy="320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063B9AE3-30E1-4FCF-B348-56F031BDCEA3}"/>
              </a:ext>
            </a:extLst>
          </p:cNvPr>
          <p:cNvCxnSpPr>
            <a:cxnSpLocks/>
          </p:cNvCxnSpPr>
          <p:nvPr/>
        </p:nvCxnSpPr>
        <p:spPr>
          <a:xfrm>
            <a:off x="5850689" y="3788459"/>
            <a:ext cx="891947" cy="352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4539B9FF-D9DD-4B03-FC9C-5CF8BAD202F9}"/>
              </a:ext>
            </a:extLst>
          </p:cNvPr>
          <p:cNvCxnSpPr>
            <a:cxnSpLocks/>
          </p:cNvCxnSpPr>
          <p:nvPr/>
        </p:nvCxnSpPr>
        <p:spPr>
          <a:xfrm flipH="1">
            <a:off x="4144620" y="4367015"/>
            <a:ext cx="970798" cy="306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6EB88CD3-C5CD-5A12-E3E7-D0C1353A1529}"/>
              </a:ext>
            </a:extLst>
          </p:cNvPr>
          <p:cNvCxnSpPr>
            <a:cxnSpLocks/>
          </p:cNvCxnSpPr>
          <p:nvPr/>
        </p:nvCxnSpPr>
        <p:spPr>
          <a:xfrm>
            <a:off x="5113817" y="4380902"/>
            <a:ext cx="345383" cy="2580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88277DA6-85F1-6CE7-5B9D-8CFF7192E5BB}"/>
              </a:ext>
            </a:extLst>
          </p:cNvPr>
          <p:cNvCxnSpPr>
            <a:cxnSpLocks/>
          </p:cNvCxnSpPr>
          <p:nvPr/>
        </p:nvCxnSpPr>
        <p:spPr>
          <a:xfrm>
            <a:off x="6708823" y="4388213"/>
            <a:ext cx="0" cy="2580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3CEF8681-468A-EBAE-A464-E085843D040D}"/>
              </a:ext>
            </a:extLst>
          </p:cNvPr>
          <p:cNvCxnSpPr>
            <a:cxnSpLocks/>
          </p:cNvCxnSpPr>
          <p:nvPr/>
        </p:nvCxnSpPr>
        <p:spPr>
          <a:xfrm>
            <a:off x="6704377" y="4380142"/>
            <a:ext cx="1364254" cy="266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CuadroTexto 83">
            <a:extLst>
              <a:ext uri="{FF2B5EF4-FFF2-40B4-BE49-F238E27FC236}">
                <a16:creationId xmlns:a16="http://schemas.microsoft.com/office/drawing/2014/main" id="{1145C1E8-3144-0117-10B0-53775A2F6EAA}"/>
              </a:ext>
            </a:extLst>
          </p:cNvPr>
          <p:cNvSpPr txBox="1"/>
          <p:nvPr/>
        </p:nvSpPr>
        <p:spPr>
          <a:xfrm>
            <a:off x="9067293" y="4266965"/>
            <a:ext cx="1450641" cy="276999"/>
          </a:xfrm>
          <a:prstGeom prst="rect">
            <a:avLst/>
          </a:prstGeom>
          <a:noFill/>
        </p:spPr>
        <p:txBody>
          <a:bodyPr wrap="square">
            <a:spAutoFit/>
          </a:bodyPr>
          <a:lstStyle/>
          <a:p>
            <a:r>
              <a:rPr lang="es-ES" sz="1200" b="1" dirty="0">
                <a:latin typeface="Arial" panose="020B0604020202020204" pitchFamily="34" charset="0"/>
                <a:cs typeface="Arial" panose="020B0604020202020204" pitchFamily="34" charset="0"/>
                <a:sym typeface="Symbol" panose="05050102010706020507" pitchFamily="18" charset="2"/>
              </a:rPr>
              <a:t>……………………</a:t>
            </a:r>
            <a:endParaRPr lang="es-AR" sz="1200" b="1" dirty="0"/>
          </a:p>
        </p:txBody>
      </p:sp>
      <p:sp>
        <p:nvSpPr>
          <p:cNvPr id="86" name="CuadroTexto 85">
            <a:extLst>
              <a:ext uri="{FF2B5EF4-FFF2-40B4-BE49-F238E27FC236}">
                <a16:creationId xmlns:a16="http://schemas.microsoft.com/office/drawing/2014/main" id="{9690D943-5DFC-BBB7-A90A-68D6CE9B83AA}"/>
              </a:ext>
            </a:extLst>
          </p:cNvPr>
          <p:cNvSpPr txBox="1"/>
          <p:nvPr/>
        </p:nvSpPr>
        <p:spPr>
          <a:xfrm>
            <a:off x="10613685" y="4278038"/>
            <a:ext cx="1450641" cy="276999"/>
          </a:xfrm>
          <a:prstGeom prst="rect">
            <a:avLst/>
          </a:prstGeom>
          <a:noFill/>
        </p:spPr>
        <p:txBody>
          <a:bodyPr wrap="square">
            <a:spAutoFit/>
          </a:bodyPr>
          <a:lstStyle/>
          <a:p>
            <a:r>
              <a:rPr lang="es-ES" sz="1200" b="1" dirty="0">
                <a:latin typeface="Arial" panose="020B0604020202020204" pitchFamily="34" charset="0"/>
                <a:cs typeface="Arial" panose="020B0604020202020204" pitchFamily="34" charset="0"/>
                <a:sym typeface="Symbol" panose="05050102010706020507" pitchFamily="18" charset="2"/>
              </a:rPr>
              <a:t>……………………</a:t>
            </a:r>
            <a:endParaRPr lang="es-AR" sz="1200" b="1" dirty="0"/>
          </a:p>
        </p:txBody>
      </p:sp>
      <p:sp>
        <p:nvSpPr>
          <p:cNvPr id="16" name="CuadroTexto 15">
            <a:extLst>
              <a:ext uri="{FF2B5EF4-FFF2-40B4-BE49-F238E27FC236}">
                <a16:creationId xmlns:a16="http://schemas.microsoft.com/office/drawing/2014/main" id="{4FB853DF-BD63-3558-D338-71D64C01E33B}"/>
              </a:ext>
            </a:extLst>
          </p:cNvPr>
          <p:cNvSpPr txBox="1"/>
          <p:nvPr/>
        </p:nvSpPr>
        <p:spPr>
          <a:xfrm>
            <a:off x="2000251" y="4976659"/>
            <a:ext cx="10100746" cy="369332"/>
          </a:xfrm>
          <a:prstGeom prst="rect">
            <a:avLst/>
          </a:prstGeom>
          <a:noFill/>
        </p:spPr>
        <p:txBody>
          <a:bodyPr wrap="square">
            <a:spAutoFit/>
          </a:bodyPr>
          <a:lstStyle/>
          <a:p>
            <a:endParaRPr lang="es-AR" b="1" dirty="0"/>
          </a:p>
        </p:txBody>
      </p:sp>
    </p:spTree>
    <p:extLst>
      <p:ext uri="{BB962C8B-B14F-4D97-AF65-F5344CB8AC3E}">
        <p14:creationId xmlns:p14="http://schemas.microsoft.com/office/powerpoint/2010/main" val="11601659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0CD72D1-2BBD-45E3-A2CC-48695FB5C61C}"/>
              </a:ext>
            </a:extLst>
          </p:cNvPr>
          <p:cNvSpPr/>
          <p:nvPr/>
        </p:nvSpPr>
        <p:spPr>
          <a:xfrm>
            <a:off x="2694932" y="3941565"/>
            <a:ext cx="902811" cy="246221"/>
          </a:xfrm>
          <a:prstGeom prst="rect">
            <a:avLst/>
          </a:prstGeom>
        </p:spPr>
        <p:txBody>
          <a:bodyPr wrap="none">
            <a:spAutoFit/>
          </a:bodyPr>
          <a:lstStyle/>
          <a:p>
            <a:r>
              <a:rPr lang="es-AR" sz="1000" b="1" dirty="0">
                <a:latin typeface="Arial" panose="020B0604020202020204" pitchFamily="34" charset="0"/>
                <a:cs typeface="Arial" panose="020B0604020202020204" pitchFamily="34" charset="0"/>
              </a:rPr>
              <a:t>LOGSPACE</a:t>
            </a:r>
            <a:endParaRPr lang="es-MX" sz="1000" b="1" dirty="0"/>
          </a:p>
        </p:txBody>
      </p:sp>
      <p:sp>
        <p:nvSpPr>
          <p:cNvPr id="6" name="Rectángulo 5">
            <a:extLst>
              <a:ext uri="{FF2B5EF4-FFF2-40B4-BE49-F238E27FC236}">
                <a16:creationId xmlns:a16="http://schemas.microsoft.com/office/drawing/2014/main" id="{4778682C-8B7B-4498-97BA-C4AD58A340C8}"/>
              </a:ext>
            </a:extLst>
          </p:cNvPr>
          <p:cNvSpPr/>
          <p:nvPr/>
        </p:nvSpPr>
        <p:spPr>
          <a:xfrm>
            <a:off x="2933408" y="3433405"/>
            <a:ext cx="304892" cy="307777"/>
          </a:xfrm>
          <a:prstGeom prst="rect">
            <a:avLst/>
          </a:prstGeom>
        </p:spPr>
        <p:txBody>
          <a:bodyPr wrap="none">
            <a:spAutoFit/>
          </a:bodyPr>
          <a:lstStyle/>
          <a:p>
            <a:r>
              <a:rPr lang="es-AR" sz="1400" b="1" dirty="0">
                <a:latin typeface="Arial" panose="020B0604020202020204" pitchFamily="34" charset="0"/>
                <a:cs typeface="Arial" panose="020B0604020202020204" pitchFamily="34" charset="0"/>
              </a:rPr>
              <a:t>P</a:t>
            </a:r>
            <a:endParaRPr lang="es-MX" sz="1400" b="1" dirty="0"/>
          </a:p>
        </p:txBody>
      </p:sp>
      <p:sp>
        <p:nvSpPr>
          <p:cNvPr id="7" name="Rectángulo 6">
            <a:extLst>
              <a:ext uri="{FF2B5EF4-FFF2-40B4-BE49-F238E27FC236}">
                <a16:creationId xmlns:a16="http://schemas.microsoft.com/office/drawing/2014/main" id="{26C168C3-A9BA-4E6E-9C9A-0F1940B71C19}"/>
              </a:ext>
            </a:extLst>
          </p:cNvPr>
          <p:cNvSpPr/>
          <p:nvPr/>
        </p:nvSpPr>
        <p:spPr>
          <a:xfrm>
            <a:off x="2895116" y="2927111"/>
            <a:ext cx="468398" cy="338554"/>
          </a:xfrm>
          <a:prstGeom prst="rect">
            <a:avLst/>
          </a:prstGeom>
        </p:spPr>
        <p:txBody>
          <a:bodyPr wrap="none">
            <a:spAutoFit/>
          </a:bodyPr>
          <a:lstStyle/>
          <a:p>
            <a:r>
              <a:rPr lang="es-AR" sz="1600" b="1" dirty="0">
                <a:latin typeface="Arial" panose="020B0604020202020204" pitchFamily="34" charset="0"/>
                <a:cs typeface="Arial" panose="020B0604020202020204" pitchFamily="34" charset="0"/>
              </a:rPr>
              <a:t>NP</a:t>
            </a:r>
            <a:endParaRPr lang="es-MX" sz="1600" b="1" dirty="0"/>
          </a:p>
        </p:txBody>
      </p:sp>
      <p:sp>
        <p:nvSpPr>
          <p:cNvPr id="9" name="Rectángulo 8">
            <a:extLst>
              <a:ext uri="{FF2B5EF4-FFF2-40B4-BE49-F238E27FC236}">
                <a16:creationId xmlns:a16="http://schemas.microsoft.com/office/drawing/2014/main" id="{3204A1F5-36FA-4868-8046-056B75E90D10}"/>
              </a:ext>
            </a:extLst>
          </p:cNvPr>
          <p:cNvSpPr/>
          <p:nvPr/>
        </p:nvSpPr>
        <p:spPr>
          <a:xfrm>
            <a:off x="2588075" y="2419305"/>
            <a:ext cx="1116524" cy="369332"/>
          </a:xfrm>
          <a:prstGeom prst="rect">
            <a:avLst/>
          </a:prstGeom>
        </p:spPr>
        <p:txBody>
          <a:bodyPr wrap="none">
            <a:spAutoFit/>
          </a:bodyPr>
          <a:lstStyle/>
          <a:p>
            <a:r>
              <a:rPr lang="es-AR" b="1" dirty="0">
                <a:latin typeface="Arial" panose="020B0604020202020204" pitchFamily="34" charset="0"/>
                <a:cs typeface="Arial" panose="020B0604020202020204" pitchFamily="34" charset="0"/>
              </a:rPr>
              <a:t>PSPACE</a:t>
            </a:r>
            <a:endParaRPr lang="es-MX" b="1" dirty="0"/>
          </a:p>
        </p:txBody>
      </p:sp>
      <p:sp>
        <p:nvSpPr>
          <p:cNvPr id="11" name="Rectángulo 10">
            <a:extLst>
              <a:ext uri="{FF2B5EF4-FFF2-40B4-BE49-F238E27FC236}">
                <a16:creationId xmlns:a16="http://schemas.microsoft.com/office/drawing/2014/main" id="{EB0F4841-A001-4100-887B-E6285ED68B77}"/>
              </a:ext>
            </a:extLst>
          </p:cNvPr>
          <p:cNvSpPr/>
          <p:nvPr/>
        </p:nvSpPr>
        <p:spPr>
          <a:xfrm>
            <a:off x="5883706" y="395466"/>
            <a:ext cx="5975671" cy="6093976"/>
          </a:xfrm>
          <a:prstGeom prst="rect">
            <a:avLst/>
          </a:prstGeom>
        </p:spPr>
        <p:txBody>
          <a:bodyPr wrap="square">
            <a:spAutoFit/>
          </a:bodyPr>
          <a:lstStyle/>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QSAT está entre los lenguajes más difíciles de PSPACE. </a:t>
            </a:r>
          </a:p>
          <a:p>
            <a:pPr marL="285750" indent="-285750" algn="just">
              <a:buFont typeface="Arial" panose="020B0604020202020204" pitchFamily="34" charset="0"/>
              <a:buChar char="•"/>
            </a:pPr>
            <a:endParaRPr lang="es-AR" dirty="0">
              <a:latin typeface="Arial" panose="020B0604020202020204" pitchFamily="34" charset="0"/>
              <a:cs typeface="Arial" panose="020B0604020202020204" pitchFamily="34" charset="0"/>
              <a:sym typeface="Symbol" panose="05050102010706020507" pitchFamily="18" charset="2"/>
            </a:endParaRPr>
          </a:p>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En efecto, </a:t>
            </a:r>
            <a:r>
              <a:rPr lang="es-AR" b="1" dirty="0">
                <a:latin typeface="Arial" panose="020B0604020202020204" pitchFamily="34" charset="0"/>
                <a:cs typeface="Arial" panose="020B0604020202020204" pitchFamily="34" charset="0"/>
                <a:sym typeface="Symbol" panose="05050102010706020507" pitchFamily="18" charset="2"/>
              </a:rPr>
              <a:t>QSAT es PSPACE-completo</a:t>
            </a:r>
            <a:r>
              <a:rPr lang="es-AR" dirty="0">
                <a:latin typeface="Arial" panose="020B0604020202020204" pitchFamily="34" charset="0"/>
                <a:cs typeface="Arial" panose="020B0604020202020204" pitchFamily="34" charset="0"/>
                <a:sym typeface="Symbol" panose="05050102010706020507" pitchFamily="18" charset="2"/>
              </a:rPr>
              <a:t>, todos los lenguajes de PSPACE se reducen </a:t>
            </a:r>
            <a:r>
              <a:rPr lang="es-AR" dirty="0" err="1">
                <a:latin typeface="Arial" panose="020B0604020202020204" pitchFamily="34" charset="0"/>
                <a:cs typeface="Arial" panose="020B0604020202020204" pitchFamily="34" charset="0"/>
                <a:sym typeface="Symbol" panose="05050102010706020507" pitchFamily="18" charset="2"/>
              </a:rPr>
              <a:t>polinomialmente</a:t>
            </a:r>
            <a:r>
              <a:rPr lang="es-AR" dirty="0">
                <a:latin typeface="Arial" panose="020B0604020202020204" pitchFamily="34" charset="0"/>
                <a:cs typeface="Arial" panose="020B0604020202020204" pitchFamily="34" charset="0"/>
                <a:sym typeface="Symbol" panose="05050102010706020507" pitchFamily="18" charset="2"/>
              </a:rPr>
              <a:t> a QSAT.</a:t>
            </a:r>
          </a:p>
          <a:p>
            <a:pPr marL="285750" indent="-285750" algn="just">
              <a:buFont typeface="Arial" panose="020B0604020202020204" pitchFamily="34" charset="0"/>
              <a:buChar char="•"/>
            </a:pPr>
            <a:endParaRPr lang="es-AR" sz="3000" dirty="0">
              <a:latin typeface="Arial" panose="020B0604020202020204" pitchFamily="34" charset="0"/>
              <a:cs typeface="Arial" panose="020B0604020202020204" pitchFamily="34" charset="0"/>
              <a:sym typeface="Symbol" panose="05050102010706020507" pitchFamily="18" charset="2"/>
            </a:endParaRPr>
          </a:p>
          <a:p>
            <a:pPr marL="285750" indent="-285750" algn="just">
              <a:buFont typeface="Arial" panose="020B0604020202020204" pitchFamily="34" charset="0"/>
              <a:buChar char="•"/>
            </a:pPr>
            <a:r>
              <a:rPr lang="es-AR" dirty="0">
                <a:latin typeface="Arial" panose="020B0604020202020204" pitchFamily="34" charset="0"/>
                <a:cs typeface="Arial" panose="020B0604020202020204" pitchFamily="34" charset="0"/>
                <a:sym typeface="Symbol" panose="05050102010706020507" pitchFamily="18" charset="2"/>
              </a:rPr>
              <a:t>QSAT es una instancia de un problema más general: </a:t>
            </a:r>
            <a:r>
              <a:rPr lang="es-AR" b="1" dirty="0">
                <a:latin typeface="Arial" panose="020B0604020202020204" pitchFamily="34" charset="0"/>
                <a:cs typeface="Arial" panose="020B0604020202020204" pitchFamily="34" charset="0"/>
                <a:sym typeface="Symbol" panose="05050102010706020507" pitchFamily="18" charset="2"/>
              </a:rPr>
              <a:t>la búsqueda de una estrategia ganadora en una competencia entre dos jugadores J</a:t>
            </a:r>
            <a:r>
              <a:rPr lang="es-ES" b="1" baseline="-25000" dirty="0">
                <a:latin typeface="Arial" panose="020B0604020202020204" pitchFamily="34" charset="0"/>
                <a:cs typeface="Arial" panose="020B0604020202020204" pitchFamily="34" charset="0"/>
              </a:rPr>
              <a:t>1 </a:t>
            </a:r>
            <a:r>
              <a:rPr lang="es-ES" b="1" dirty="0">
                <a:latin typeface="Arial" panose="020B0604020202020204" pitchFamily="34" charset="0"/>
                <a:cs typeface="Arial" panose="020B0604020202020204" pitchFamily="34" charset="0"/>
              </a:rPr>
              <a:t>y J</a:t>
            </a:r>
            <a:r>
              <a:rPr lang="es-ES" b="1" baseline="-25000" dirty="0">
                <a:latin typeface="Arial" panose="020B0604020202020204" pitchFamily="34" charset="0"/>
                <a:cs typeface="Arial" panose="020B0604020202020204" pitchFamily="34" charset="0"/>
              </a:rPr>
              <a:t>2</a:t>
            </a:r>
            <a:r>
              <a:rPr lang="es-AR" b="1" dirty="0">
                <a:latin typeface="Arial" panose="020B0604020202020204" pitchFamily="34" charset="0"/>
                <a:cs typeface="Arial" panose="020B0604020202020204" pitchFamily="34" charset="0"/>
                <a:sym typeface="Symbol" panose="05050102010706020507" pitchFamily="18" charset="2"/>
              </a:rPr>
              <a:t> (ajedrez, damas, </a:t>
            </a:r>
            <a:r>
              <a:rPr lang="es-AR" b="1" dirty="0" err="1">
                <a:latin typeface="Arial" panose="020B0604020202020204" pitchFamily="34" charset="0"/>
                <a:cs typeface="Arial" panose="020B0604020202020204" pitchFamily="34" charset="0"/>
                <a:sym typeface="Symbol" panose="05050102010706020507" pitchFamily="18" charset="2"/>
              </a:rPr>
              <a:t>go</a:t>
            </a:r>
            <a:r>
              <a:rPr lang="es-AR" b="1" dirty="0">
                <a:latin typeface="Arial" panose="020B0604020202020204" pitchFamily="34" charset="0"/>
                <a:cs typeface="Arial" panose="020B0604020202020204" pitchFamily="34" charset="0"/>
                <a:sym typeface="Symbol" panose="05050102010706020507" pitchFamily="18" charset="2"/>
              </a:rPr>
              <a:t>, hexágono, geografía, etc.): </a:t>
            </a: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r>
              <a:rPr lang="es-AR" dirty="0">
                <a:latin typeface="Arial" panose="020B0604020202020204" pitchFamily="34" charset="0"/>
                <a:cs typeface="Arial" panose="020B0604020202020204" pitchFamily="34" charset="0"/>
                <a:sym typeface="Symbol" panose="05050102010706020507" pitchFamily="18" charset="2"/>
              </a:rPr>
              <a:t>     ¿Existe una jugada 1 de J</a:t>
            </a:r>
            <a:r>
              <a:rPr lang="es-ES" baseline="-25000" dirty="0">
                <a:latin typeface="Arial" panose="020B0604020202020204" pitchFamily="34" charset="0"/>
                <a:cs typeface="Arial" panose="020B0604020202020204" pitchFamily="34" charset="0"/>
              </a:rPr>
              <a:t>1</a:t>
            </a:r>
            <a:r>
              <a:rPr lang="es-AR" baseline="-25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tal que para toda jugada 1 </a:t>
            </a:r>
          </a:p>
          <a:p>
            <a:pPr algn="just"/>
            <a:r>
              <a:rPr lang="es-AR" dirty="0">
                <a:latin typeface="Arial" panose="020B0604020202020204" pitchFamily="34" charset="0"/>
                <a:cs typeface="Arial" panose="020B0604020202020204" pitchFamily="34" charset="0"/>
                <a:sym typeface="Symbol" panose="05050102010706020507" pitchFamily="18" charset="2"/>
              </a:rPr>
              <a:t>     de J</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sym typeface="Symbol" panose="05050102010706020507" pitchFamily="18" charset="2"/>
              </a:rPr>
              <a:t>existe una jugada 2 de J</a:t>
            </a:r>
            <a:r>
              <a:rPr lang="es-ES" baseline="-25000" dirty="0">
                <a:latin typeface="Arial" panose="020B0604020202020204" pitchFamily="34" charset="0"/>
                <a:cs typeface="Arial" panose="020B0604020202020204" pitchFamily="34" charset="0"/>
              </a:rPr>
              <a:t>1</a:t>
            </a:r>
            <a:r>
              <a:rPr lang="es-ES" baseline="-25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tal que para toda </a:t>
            </a:r>
          </a:p>
          <a:p>
            <a:pPr algn="just"/>
            <a:r>
              <a:rPr lang="es-AR" dirty="0">
                <a:latin typeface="Arial" panose="020B0604020202020204" pitchFamily="34" charset="0"/>
                <a:cs typeface="Arial" panose="020B0604020202020204" pitchFamily="34" charset="0"/>
                <a:sym typeface="Symbol" panose="05050102010706020507" pitchFamily="18" charset="2"/>
              </a:rPr>
              <a:t>     jugada 2 de J</a:t>
            </a:r>
            <a:r>
              <a:rPr lang="es-ES" baseline="-25000" dirty="0">
                <a:latin typeface="Arial" panose="020B0604020202020204" pitchFamily="34" charset="0"/>
                <a:cs typeface="Arial" panose="020B0604020202020204" pitchFamily="34" charset="0"/>
              </a:rPr>
              <a:t>2 </a:t>
            </a:r>
            <a:r>
              <a:rPr lang="es-AR" dirty="0">
                <a:latin typeface="Arial" panose="020B0604020202020204" pitchFamily="34" charset="0"/>
                <a:cs typeface="Arial" panose="020B0604020202020204" pitchFamily="34" charset="0"/>
                <a:sym typeface="Symbol" panose="05050102010706020507" pitchFamily="18" charset="2"/>
              </a:rPr>
              <a:t>existe una jugada 3 de J</a:t>
            </a:r>
            <a:r>
              <a:rPr lang="es-ES" baseline="-25000" dirty="0">
                <a:latin typeface="Arial" panose="020B0604020202020204" pitchFamily="34" charset="0"/>
                <a:cs typeface="Arial" panose="020B0604020202020204" pitchFamily="34" charset="0"/>
              </a:rPr>
              <a:t>1</a:t>
            </a:r>
            <a:r>
              <a:rPr lang="es-ES" baseline="-25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tal que para </a:t>
            </a:r>
          </a:p>
          <a:p>
            <a:pPr algn="just"/>
            <a:r>
              <a:rPr lang="es-AR" dirty="0">
                <a:latin typeface="Arial" panose="020B0604020202020204" pitchFamily="34" charset="0"/>
                <a:cs typeface="Arial" panose="020B0604020202020204" pitchFamily="34" charset="0"/>
                <a:sym typeface="Symbol" panose="05050102010706020507" pitchFamily="18" charset="2"/>
              </a:rPr>
              <a:t>     toda jugada 3 de J</a:t>
            </a:r>
            <a:r>
              <a:rPr lang="es-ES" baseline="-25000" dirty="0">
                <a:latin typeface="Arial" panose="020B0604020202020204" pitchFamily="34" charset="0"/>
                <a:cs typeface="Arial" panose="020B0604020202020204" pitchFamily="34" charset="0"/>
              </a:rPr>
              <a:t>2</a:t>
            </a:r>
            <a:r>
              <a:rPr lang="es-ES" baseline="-25000" dirty="0">
                <a:latin typeface="Arial" panose="020B0604020202020204" pitchFamily="34" charset="0"/>
                <a:cs typeface="Arial" panose="020B0604020202020204" pitchFamily="34" charset="0"/>
                <a:sym typeface="Symbol" panose="05050102010706020507" pitchFamily="18" charset="2"/>
              </a:rPr>
              <a:t> </a:t>
            </a:r>
            <a:r>
              <a:rPr lang="es-AR" dirty="0">
                <a:latin typeface="Arial" panose="020B0604020202020204" pitchFamily="34" charset="0"/>
                <a:cs typeface="Arial" panose="020B0604020202020204" pitchFamily="34" charset="0"/>
                <a:sym typeface="Symbol" panose="05050102010706020507" pitchFamily="18" charset="2"/>
              </a:rPr>
              <a:t>… el jugador J</a:t>
            </a:r>
            <a:r>
              <a:rPr lang="es-ES" baseline="-25000" dirty="0">
                <a:latin typeface="Arial" panose="020B0604020202020204" pitchFamily="34" charset="0"/>
                <a:cs typeface="Arial" panose="020B0604020202020204" pitchFamily="34" charset="0"/>
              </a:rPr>
              <a:t>1 </a:t>
            </a:r>
            <a:r>
              <a:rPr lang="es-AR" dirty="0">
                <a:latin typeface="Arial" panose="020B0604020202020204" pitchFamily="34" charset="0"/>
                <a:cs typeface="Arial" panose="020B0604020202020204" pitchFamily="34" charset="0"/>
                <a:sym typeface="Symbol" panose="05050102010706020507" pitchFamily="18" charset="2"/>
              </a:rPr>
              <a:t>gana?</a:t>
            </a: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r>
              <a:rPr lang="es-ES" dirty="0">
                <a:latin typeface="Arial" panose="020B0604020202020204" pitchFamily="34" charset="0"/>
                <a:ea typeface="Calibri" panose="020F0502020204030204" pitchFamily="34" charset="0"/>
                <a:cs typeface="Arial" panose="020B0604020202020204" pitchFamily="34" charset="0"/>
              </a:rPr>
              <a:t>     En el caso particular de QSAT se puede plantear que</a:t>
            </a:r>
            <a:r>
              <a:rPr lang="es-AR" dirty="0">
                <a:latin typeface="Arial" panose="020B0604020202020204" pitchFamily="34" charset="0"/>
                <a:cs typeface="Arial" panose="020B0604020202020204" pitchFamily="34" charset="0"/>
                <a:sym typeface="Symbol" panose="05050102010706020507" pitchFamily="18" charset="2"/>
              </a:rPr>
              <a:t>  </a:t>
            </a:r>
          </a:p>
          <a:p>
            <a:pPr algn="just"/>
            <a:r>
              <a:rPr lang="es-AR" dirty="0">
                <a:latin typeface="Arial" panose="020B0604020202020204" pitchFamily="34" charset="0"/>
                <a:cs typeface="Arial" panose="020B0604020202020204" pitchFamily="34" charset="0"/>
                <a:sym typeface="Symbol" panose="05050102010706020507" pitchFamily="18" charset="2"/>
              </a:rPr>
              <a:t>     </a:t>
            </a:r>
            <a:r>
              <a:rPr lang="es-ES" b="1" dirty="0">
                <a:latin typeface="Arial" panose="020B0604020202020204" pitchFamily="34" charset="0"/>
                <a:cs typeface="Arial" panose="020B0604020202020204" pitchFamily="34" charset="0"/>
                <a:sym typeface="Symbol" panose="05050102010706020507" pitchFamily="18" charset="2"/>
              </a:rPr>
              <a:t> </a:t>
            </a:r>
            <a:r>
              <a:rPr lang="es-ES" dirty="0">
                <a:latin typeface="Arial" panose="020B0604020202020204" pitchFamily="34" charset="0"/>
                <a:ea typeface="Calibri" panose="020F0502020204030204" pitchFamily="34" charset="0"/>
                <a:cs typeface="Arial" panose="020B0604020202020204" pitchFamily="34" charset="0"/>
              </a:rPr>
              <a:t>busca que</a:t>
            </a:r>
            <a:r>
              <a:rPr lang="es-ES" dirty="0">
                <a:latin typeface="Arial" panose="020B0604020202020204" pitchFamily="34" charset="0"/>
                <a:cs typeface="Arial" panose="020B0604020202020204" pitchFamily="34" charset="0"/>
              </a:rPr>
              <a:t> φ sea verdadera y </a:t>
            </a:r>
            <a:r>
              <a:rPr lang="es-ES" b="1" dirty="0">
                <a:latin typeface="Arial" panose="020B0604020202020204" pitchFamily="34" charset="0"/>
                <a:cs typeface="Arial" panose="020B0604020202020204" pitchFamily="34" charset="0"/>
                <a:sym typeface="Symbol" panose="05050102010706020507" pitchFamily="18" charset="2"/>
              </a:rPr>
              <a:t> </a:t>
            </a:r>
            <a:r>
              <a:rPr lang="es-ES" dirty="0">
                <a:latin typeface="Arial" panose="020B0604020202020204" pitchFamily="34" charset="0"/>
                <a:cs typeface="Arial" panose="020B0604020202020204" pitchFamily="34" charset="0"/>
              </a:rPr>
              <a:t>que φ sea falsa.</a:t>
            </a:r>
            <a:endParaRPr lang="es-AR" dirty="0">
              <a:latin typeface="Arial" panose="020B0604020202020204" pitchFamily="34" charset="0"/>
              <a:cs typeface="Arial" panose="020B0604020202020204" pitchFamily="34" charset="0"/>
              <a:sym typeface="Symbol" panose="05050102010706020507" pitchFamily="18" charset="2"/>
            </a:endParaRPr>
          </a:p>
          <a:p>
            <a:pPr algn="just"/>
            <a:endParaRPr lang="es-AR" dirty="0">
              <a:latin typeface="Arial" panose="020B0604020202020204" pitchFamily="34" charset="0"/>
              <a:cs typeface="Arial" panose="020B0604020202020204" pitchFamily="34" charset="0"/>
              <a:sym typeface="Symbol" panose="05050102010706020507" pitchFamily="18" charset="2"/>
            </a:endParaRPr>
          </a:p>
          <a:p>
            <a:pPr algn="just"/>
            <a:r>
              <a:rPr lang="es-ES" dirty="0">
                <a:latin typeface="Arial" panose="020B0604020202020204" pitchFamily="34" charset="0"/>
                <a:cs typeface="Arial" panose="020B0604020202020204" pitchFamily="34" charset="0"/>
              </a:rPr>
              <a:t>     </a:t>
            </a:r>
            <a:r>
              <a:rPr lang="es-ES" b="1" dirty="0">
                <a:latin typeface="Arial" panose="020B0604020202020204" pitchFamily="34" charset="0"/>
                <a:cs typeface="Arial" panose="020B0604020202020204" pitchFamily="34" charset="0"/>
              </a:rPr>
              <a:t>φ = [</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1</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2</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3</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4</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5</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6</a:t>
            </a:r>
            <a:r>
              <a:rPr lang="es-ES" b="1" dirty="0">
                <a:latin typeface="Arial" panose="020B0604020202020204" pitchFamily="34" charset="0"/>
                <a:cs typeface="Arial" panose="020B0604020202020204" pitchFamily="34" charset="0"/>
              </a:rPr>
              <a:t>…</a:t>
            </a:r>
            <a:r>
              <a:rPr lang="es-AR" b="1" dirty="0">
                <a:latin typeface="Arial" panose="020B0604020202020204" pitchFamily="34" charset="0"/>
                <a:cs typeface="Arial" panose="020B0604020202020204" pitchFamily="34" charset="0"/>
              </a:rPr>
              <a:t>: </a:t>
            </a:r>
            <a:r>
              <a:rPr lang="es-AR" sz="1800" b="1" dirty="0">
                <a:effectLst/>
                <a:latin typeface="Arial" panose="020B0604020202020204" pitchFamily="34" charset="0"/>
                <a:ea typeface="Calibri" panose="020F0502020204030204" pitchFamily="34" charset="0"/>
              </a:rPr>
              <a:t>Ψ(</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1</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2</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3</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4</a:t>
            </a:r>
            <a:r>
              <a:rPr lang="es-ES" b="1" dirty="0">
                <a:latin typeface="Arial" panose="020B0604020202020204" pitchFamily="34" charset="0"/>
                <a:cs typeface="Arial" panose="020B0604020202020204" pitchFamily="34" charset="0"/>
                <a:sym typeface="Symbol" panose="05050102010706020507" pitchFamily="18" charset="2"/>
              </a:rPr>
              <a:t>,x</a:t>
            </a:r>
            <a:r>
              <a:rPr lang="es-ES" sz="1000" b="1" dirty="0">
                <a:latin typeface="Arial" panose="020B0604020202020204" pitchFamily="34" charset="0"/>
                <a:cs typeface="Arial" panose="020B0604020202020204" pitchFamily="34" charset="0"/>
                <a:sym typeface="Symbol" panose="05050102010706020507" pitchFamily="18" charset="2"/>
              </a:rPr>
              <a:t>5</a:t>
            </a:r>
            <a:r>
              <a:rPr lang="es-ES" b="1" dirty="0">
                <a:latin typeface="Arial" panose="020B0604020202020204" pitchFamily="34" charset="0"/>
                <a:cs typeface="Arial" panose="020B0604020202020204" pitchFamily="34" charset="0"/>
                <a:sym typeface="Symbol" panose="05050102010706020507" pitchFamily="18" charset="2"/>
              </a:rPr>
              <a:t>,</a:t>
            </a:r>
            <a:r>
              <a:rPr lang="es-ES" b="1" dirty="0">
                <a:latin typeface="Arial" panose="020B0604020202020204" pitchFamily="34" charset="0"/>
                <a:cs typeface="Arial" panose="020B0604020202020204" pitchFamily="34" charset="0"/>
              </a:rPr>
              <a:t>x</a:t>
            </a:r>
            <a:r>
              <a:rPr lang="es-ES" sz="1000" b="1" dirty="0">
                <a:latin typeface="Arial" panose="020B0604020202020204" pitchFamily="34" charset="0"/>
                <a:cs typeface="Arial" panose="020B0604020202020204" pitchFamily="34" charset="0"/>
              </a:rPr>
              <a:t>6</a:t>
            </a:r>
            <a:r>
              <a:rPr lang="es-ES" b="1" dirty="0">
                <a:latin typeface="Arial" panose="020B0604020202020204" pitchFamily="34" charset="0"/>
                <a:cs typeface="Arial" panose="020B0604020202020204" pitchFamily="34" charset="0"/>
              </a:rPr>
              <a:t>,…)]</a:t>
            </a:r>
          </a:p>
        </p:txBody>
      </p:sp>
      <p:sp>
        <p:nvSpPr>
          <p:cNvPr id="13" name="Rectángulo 12">
            <a:extLst>
              <a:ext uri="{FF2B5EF4-FFF2-40B4-BE49-F238E27FC236}">
                <a16:creationId xmlns:a16="http://schemas.microsoft.com/office/drawing/2014/main" id="{C13BAC79-7D0D-42D3-A626-C7224F4FFDC0}"/>
              </a:ext>
            </a:extLst>
          </p:cNvPr>
          <p:cNvSpPr/>
          <p:nvPr/>
        </p:nvSpPr>
        <p:spPr>
          <a:xfrm>
            <a:off x="2860159" y="5529003"/>
            <a:ext cx="518604" cy="276999"/>
          </a:xfrm>
          <a:prstGeom prst="rect">
            <a:avLst/>
          </a:prstGeom>
        </p:spPr>
        <p:txBody>
          <a:bodyPr wrap="none">
            <a:spAutoFit/>
          </a:bodyPr>
          <a:lstStyle/>
          <a:p>
            <a:r>
              <a:rPr lang="es-AR" sz="1200" dirty="0">
                <a:cs typeface="Arial" panose="020B0604020202020204" pitchFamily="34" charset="0"/>
                <a:sym typeface="Symbol" panose="05050102010706020507" pitchFamily="18" charset="2"/>
              </a:rPr>
              <a:t>QSAT</a:t>
            </a:r>
            <a:endParaRPr lang="es-MX" sz="1200" dirty="0"/>
          </a:p>
        </p:txBody>
      </p:sp>
      <p:sp>
        <p:nvSpPr>
          <p:cNvPr id="8" name="Rectángulo 7">
            <a:extLst>
              <a:ext uri="{FF2B5EF4-FFF2-40B4-BE49-F238E27FC236}">
                <a16:creationId xmlns:a16="http://schemas.microsoft.com/office/drawing/2014/main" id="{18F08001-844A-4A49-849A-DC9E5CBED394}"/>
              </a:ext>
            </a:extLst>
          </p:cNvPr>
          <p:cNvSpPr/>
          <p:nvPr/>
        </p:nvSpPr>
        <p:spPr>
          <a:xfrm>
            <a:off x="2557892" y="4253447"/>
            <a:ext cx="1494303" cy="276999"/>
          </a:xfrm>
          <a:prstGeom prst="rect">
            <a:avLst/>
          </a:prstGeom>
        </p:spPr>
        <p:txBody>
          <a:bodyPr wrap="square">
            <a:spAutoFit/>
          </a:bodyPr>
          <a:lstStyle/>
          <a:p>
            <a:pPr>
              <a:tabLst>
                <a:tab pos="93663" algn="l"/>
              </a:tabLst>
            </a:pPr>
            <a:r>
              <a:rPr lang="es-MX" sz="1200" dirty="0" err="1"/>
              <a:t>PALINDROMOS</a:t>
            </a:r>
            <a:endParaRPr lang="es-MX" sz="1200" dirty="0"/>
          </a:p>
        </p:txBody>
      </p:sp>
      <p:sp>
        <p:nvSpPr>
          <p:cNvPr id="18" name="Diagrama de flujo: conector 17">
            <a:extLst>
              <a:ext uri="{FF2B5EF4-FFF2-40B4-BE49-F238E27FC236}">
                <a16:creationId xmlns:a16="http://schemas.microsoft.com/office/drawing/2014/main" id="{8D3BEBEE-4257-40B8-B04A-68B14729A2DA}"/>
              </a:ext>
            </a:extLst>
          </p:cNvPr>
          <p:cNvSpPr/>
          <p:nvPr/>
        </p:nvSpPr>
        <p:spPr>
          <a:xfrm>
            <a:off x="956363" y="1677945"/>
            <a:ext cx="4367813" cy="4493138"/>
          </a:xfrm>
          <a:prstGeom prst="flowChartConnec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Diagrama de flujo: conector 20">
            <a:extLst>
              <a:ext uri="{FF2B5EF4-FFF2-40B4-BE49-F238E27FC236}">
                <a16:creationId xmlns:a16="http://schemas.microsoft.com/office/drawing/2014/main" id="{68AC02BC-B8B8-4E04-88CD-75AB3F9F1EDE}"/>
              </a:ext>
            </a:extLst>
          </p:cNvPr>
          <p:cNvSpPr/>
          <p:nvPr/>
        </p:nvSpPr>
        <p:spPr>
          <a:xfrm>
            <a:off x="1409124" y="2371328"/>
            <a:ext cx="3391270" cy="345540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Diagrama de flujo: conector 21">
            <a:extLst>
              <a:ext uri="{FF2B5EF4-FFF2-40B4-BE49-F238E27FC236}">
                <a16:creationId xmlns:a16="http://schemas.microsoft.com/office/drawing/2014/main" id="{1AF8E260-1924-4C8F-B46B-7718E7B0DBE7}"/>
              </a:ext>
            </a:extLst>
          </p:cNvPr>
          <p:cNvSpPr/>
          <p:nvPr/>
        </p:nvSpPr>
        <p:spPr>
          <a:xfrm>
            <a:off x="1844130" y="2914650"/>
            <a:ext cx="2501084" cy="2580151"/>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Diagrama de flujo: conector 22">
            <a:extLst>
              <a:ext uri="{FF2B5EF4-FFF2-40B4-BE49-F238E27FC236}">
                <a16:creationId xmlns:a16="http://schemas.microsoft.com/office/drawing/2014/main" id="{FACF8594-FE64-4EA0-84B2-536B5FC46746}"/>
              </a:ext>
            </a:extLst>
          </p:cNvPr>
          <p:cNvSpPr/>
          <p:nvPr/>
        </p:nvSpPr>
        <p:spPr>
          <a:xfrm>
            <a:off x="2267656" y="3429000"/>
            <a:ext cx="1723319" cy="1673402"/>
          </a:xfrm>
          <a:prstGeom prst="flowChartConnector">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Diagrama de flujo: conector 24">
            <a:extLst>
              <a:ext uri="{FF2B5EF4-FFF2-40B4-BE49-F238E27FC236}">
                <a16:creationId xmlns:a16="http://schemas.microsoft.com/office/drawing/2014/main" id="{E2903B5A-1BCF-4954-B554-2C108F7A95FA}"/>
              </a:ext>
            </a:extLst>
          </p:cNvPr>
          <p:cNvSpPr/>
          <p:nvPr/>
        </p:nvSpPr>
        <p:spPr>
          <a:xfrm>
            <a:off x="2557892" y="3839026"/>
            <a:ext cx="1123141" cy="855054"/>
          </a:xfrm>
          <a:prstGeom prst="flowChartConnector">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Slide Number Placeholder 2">
            <a:extLst>
              <a:ext uri="{FF2B5EF4-FFF2-40B4-BE49-F238E27FC236}">
                <a16:creationId xmlns:a16="http://schemas.microsoft.com/office/drawing/2014/main" id="{80EA6396-F0D6-4D71-A528-F4DDAB7F015B}"/>
              </a:ext>
            </a:extLst>
          </p:cNvPr>
          <p:cNvSpPr txBox="1">
            <a:spLocks/>
          </p:cNvSpPr>
          <p:nvPr/>
        </p:nvSpPr>
        <p:spPr>
          <a:xfrm>
            <a:off x="11633426" y="6191023"/>
            <a:ext cx="753436" cy="666977"/>
          </a:xfrm>
          <a:prstGeom prst="rect">
            <a:avLst/>
          </a:prstGeom>
          <a:noFill/>
        </p:spPr>
        <p:txBody>
          <a:bodyPr wrap="square" rtlCol="0">
            <a:spAutoFit/>
          </a:bodyPr>
          <a:lstStyle>
            <a:defPPr>
              <a:defRPr lang="es-US"/>
            </a:defPPr>
            <a:lvl1pPr defTabSz="914446">
              <a:defRPr lang="uk-UA" sz="1867" b="1" smtClean="0">
                <a:solidFill>
                  <a:srgbClr val="C0C0C8"/>
                </a:solidFill>
                <a:latin typeface="Robo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92"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a:p>
            <a:pPr marL="0" marR="0" lvl="0" indent="0" algn="l" defTabSz="914492" rtl="0" eaLnBrk="1" fontAlgn="auto" latinLnBrk="0" hangingPunct="1">
              <a:lnSpc>
                <a:spcPct val="100000"/>
              </a:lnSpc>
              <a:spcBef>
                <a:spcPts val="0"/>
              </a:spcBef>
              <a:spcAft>
                <a:spcPts val="0"/>
              </a:spcAft>
              <a:buClrTx/>
              <a:buSzTx/>
              <a:buFontTx/>
              <a:buNone/>
              <a:tabLst/>
              <a:defRPr/>
            </a:pPr>
            <a:fld id="{37D409AB-2201-4E18-8A34-C31753AD9B06}" type="slidenum">
              <a:rPr kumimoji="0" lang="en-US" sz="1867" b="1" i="0" u="none" strike="noStrike" kern="1200" cap="none" spc="0" normalizeH="0" baseline="0" noProof="0" smtClean="0">
                <a:ln>
                  <a:noFill/>
                </a:ln>
                <a:solidFill>
                  <a:srgbClr val="C0C0C8"/>
                </a:solidFill>
                <a:effectLst/>
                <a:uLnTx/>
                <a:uFillTx/>
                <a:latin typeface="Roboto"/>
                <a:ea typeface="+mn-ea"/>
                <a:cs typeface="+mn-cs"/>
              </a:rPr>
              <a:pPr marL="0" marR="0" lvl="0" indent="0" algn="l" defTabSz="914492" rtl="0" eaLnBrk="1" fontAlgn="auto" latinLnBrk="0" hangingPunct="1">
                <a:lnSpc>
                  <a:spcPct val="100000"/>
                </a:lnSpc>
                <a:spcBef>
                  <a:spcPts val="0"/>
                </a:spcBef>
                <a:spcAft>
                  <a:spcPts val="0"/>
                </a:spcAft>
                <a:buClrTx/>
                <a:buSzTx/>
                <a:buFontTx/>
                <a:buNone/>
                <a:tabLst/>
                <a:defRPr/>
              </a:pPr>
              <a:t>63</a:t>
            </a:fld>
            <a:endParaRPr kumimoji="0" lang="en-US" sz="1867" b="1" i="0" u="none" strike="noStrike" kern="1200" cap="none" spc="0" normalizeH="0" baseline="0" noProof="0" dirty="0">
              <a:ln>
                <a:noFill/>
              </a:ln>
              <a:solidFill>
                <a:srgbClr val="C0C0C8"/>
              </a:solidFill>
              <a:effectLst/>
              <a:uLnTx/>
              <a:uFillTx/>
              <a:latin typeface="Roboto"/>
              <a:ea typeface="+mn-ea"/>
              <a:cs typeface="+mn-cs"/>
            </a:endParaRPr>
          </a:p>
        </p:txBody>
      </p:sp>
      <p:sp>
        <p:nvSpPr>
          <p:cNvPr id="24" name="Diagrama de flujo: conector 23">
            <a:extLst>
              <a:ext uri="{FF2B5EF4-FFF2-40B4-BE49-F238E27FC236}">
                <a16:creationId xmlns:a16="http://schemas.microsoft.com/office/drawing/2014/main" id="{2F8A4C65-718F-4684-A164-839A41B311A1}"/>
              </a:ext>
            </a:extLst>
          </p:cNvPr>
          <p:cNvSpPr/>
          <p:nvPr/>
        </p:nvSpPr>
        <p:spPr>
          <a:xfrm>
            <a:off x="526557" y="819151"/>
            <a:ext cx="5220109" cy="5762624"/>
          </a:xfrm>
          <a:prstGeom prst="flowChartConnector">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26">
            <a:extLst>
              <a:ext uri="{FF2B5EF4-FFF2-40B4-BE49-F238E27FC236}">
                <a16:creationId xmlns:a16="http://schemas.microsoft.com/office/drawing/2014/main" id="{6F4F9885-1715-4C7C-97EC-F09FD0AFD64A}"/>
              </a:ext>
            </a:extLst>
          </p:cNvPr>
          <p:cNvSpPr/>
          <p:nvPr/>
        </p:nvSpPr>
        <p:spPr>
          <a:xfrm>
            <a:off x="2769846" y="1708157"/>
            <a:ext cx="699230" cy="400110"/>
          </a:xfrm>
          <a:prstGeom prst="rect">
            <a:avLst/>
          </a:prstGeom>
        </p:spPr>
        <p:txBody>
          <a:bodyPr wrap="none">
            <a:spAutoFit/>
          </a:bodyPr>
          <a:lstStyle/>
          <a:p>
            <a:r>
              <a:rPr lang="es-AR" sz="2000" b="1" dirty="0">
                <a:latin typeface="Arial" panose="020B0604020202020204" pitchFamily="34" charset="0"/>
                <a:cs typeface="Arial" panose="020B0604020202020204" pitchFamily="34" charset="0"/>
              </a:rPr>
              <a:t>EXP</a:t>
            </a:r>
            <a:endParaRPr lang="es-MX" sz="2000" b="1" dirty="0"/>
          </a:p>
        </p:txBody>
      </p:sp>
      <p:sp>
        <p:nvSpPr>
          <p:cNvPr id="28" name="Rectángulo 27">
            <a:extLst>
              <a:ext uri="{FF2B5EF4-FFF2-40B4-BE49-F238E27FC236}">
                <a16:creationId xmlns:a16="http://schemas.microsoft.com/office/drawing/2014/main" id="{12F533B0-7D16-43FF-91FE-892125133C81}"/>
              </a:ext>
            </a:extLst>
          </p:cNvPr>
          <p:cNvSpPr/>
          <p:nvPr/>
        </p:nvSpPr>
        <p:spPr>
          <a:xfrm>
            <a:off x="2314558" y="1010557"/>
            <a:ext cx="1847483" cy="430887"/>
          </a:xfrm>
          <a:prstGeom prst="rect">
            <a:avLst/>
          </a:prstGeom>
        </p:spPr>
        <p:txBody>
          <a:bodyPr wrap="square">
            <a:spAutoFit/>
          </a:bodyPr>
          <a:lstStyle/>
          <a:p>
            <a:r>
              <a:rPr lang="es-AR" sz="2200" b="1" dirty="0">
                <a:solidFill>
                  <a:srgbClr val="0070C0"/>
                </a:solidFill>
                <a:latin typeface="Arial" panose="020B0604020202020204" pitchFamily="34" charset="0"/>
                <a:cs typeface="Arial" panose="020B0604020202020204" pitchFamily="34" charset="0"/>
              </a:rPr>
              <a:t>EXPSPACE</a:t>
            </a:r>
            <a:endParaRPr lang="es-MX" sz="2200" b="1" dirty="0">
              <a:solidFill>
                <a:srgbClr val="0070C0"/>
              </a:solidFill>
            </a:endParaRPr>
          </a:p>
        </p:txBody>
      </p:sp>
      <p:sp>
        <p:nvSpPr>
          <p:cNvPr id="12" name="Rectángulo 11">
            <a:extLst>
              <a:ext uri="{FF2B5EF4-FFF2-40B4-BE49-F238E27FC236}">
                <a16:creationId xmlns:a16="http://schemas.microsoft.com/office/drawing/2014/main" id="{D624FDCB-A7DF-F559-72FE-E305AB46207B}"/>
              </a:ext>
            </a:extLst>
          </p:cNvPr>
          <p:cNvSpPr/>
          <p:nvPr/>
        </p:nvSpPr>
        <p:spPr>
          <a:xfrm>
            <a:off x="526557" y="112499"/>
            <a:ext cx="6863722" cy="461665"/>
          </a:xfrm>
          <a:prstGeom prst="rect">
            <a:avLst/>
          </a:prstGeom>
        </p:spPr>
        <p:txBody>
          <a:bodyPr wrap="square">
            <a:spAutoFit/>
          </a:bodyPr>
          <a:lstStyle/>
          <a:p>
            <a:r>
              <a:rPr lang="es-MX" sz="2400" b="1" dirty="0">
                <a:latin typeface="Arial" panose="020B0604020202020204" pitchFamily="34" charset="0"/>
                <a:cs typeface="Arial" panose="020B0604020202020204" pitchFamily="34" charset="0"/>
              </a:rPr>
              <a:t>Jerarquía espacio-temporal</a:t>
            </a:r>
          </a:p>
        </p:txBody>
      </p:sp>
      <p:sp>
        <p:nvSpPr>
          <p:cNvPr id="2" name="Rectángulo 1">
            <a:extLst>
              <a:ext uri="{FF2B5EF4-FFF2-40B4-BE49-F238E27FC236}">
                <a16:creationId xmlns:a16="http://schemas.microsoft.com/office/drawing/2014/main" id="{E2A2CB0D-3678-2890-D710-ADA2A4B660CA}"/>
              </a:ext>
            </a:extLst>
          </p:cNvPr>
          <p:cNvSpPr/>
          <p:nvPr/>
        </p:nvSpPr>
        <p:spPr>
          <a:xfrm>
            <a:off x="2882304" y="5211185"/>
            <a:ext cx="407099" cy="276999"/>
          </a:xfrm>
          <a:prstGeom prst="rect">
            <a:avLst/>
          </a:prstGeom>
        </p:spPr>
        <p:txBody>
          <a:bodyPr wrap="none">
            <a:spAutoFit/>
          </a:bodyPr>
          <a:lstStyle/>
          <a:p>
            <a:r>
              <a:rPr lang="es-AR" sz="1200" dirty="0">
                <a:cs typeface="Arial" panose="020B0604020202020204" pitchFamily="34" charset="0"/>
                <a:sym typeface="Symbol" panose="05050102010706020507" pitchFamily="18" charset="2"/>
              </a:rPr>
              <a:t>SAT</a:t>
            </a:r>
            <a:endParaRPr lang="es-MX" sz="1200" dirty="0"/>
          </a:p>
        </p:txBody>
      </p:sp>
      <p:sp>
        <p:nvSpPr>
          <p:cNvPr id="3" name="Rectángulo 2">
            <a:extLst>
              <a:ext uri="{FF2B5EF4-FFF2-40B4-BE49-F238E27FC236}">
                <a16:creationId xmlns:a16="http://schemas.microsoft.com/office/drawing/2014/main" id="{BA32BA71-FDFF-DDE5-FDB6-3A09AD9AA0FD}"/>
              </a:ext>
            </a:extLst>
          </p:cNvPr>
          <p:cNvSpPr/>
          <p:nvPr/>
        </p:nvSpPr>
        <p:spPr>
          <a:xfrm>
            <a:off x="2826551" y="4767797"/>
            <a:ext cx="577850" cy="276999"/>
          </a:xfrm>
          <a:prstGeom prst="rect">
            <a:avLst/>
          </a:prstGeom>
        </p:spPr>
        <p:txBody>
          <a:bodyPr wrap="none">
            <a:spAutoFit/>
          </a:bodyPr>
          <a:lstStyle/>
          <a:p>
            <a:r>
              <a:rPr lang="es-AR" sz="1200" dirty="0">
                <a:cs typeface="Arial" panose="020B0604020202020204" pitchFamily="34" charset="0"/>
                <a:sym typeface="Symbol" panose="05050102010706020507" pitchFamily="18" charset="2"/>
              </a:rPr>
              <a:t>D-ACC</a:t>
            </a:r>
            <a:endParaRPr lang="es-MX" sz="1200" dirty="0"/>
          </a:p>
        </p:txBody>
      </p:sp>
      <p:cxnSp>
        <p:nvCxnSpPr>
          <p:cNvPr id="10" name="Conector recto de flecha 9">
            <a:extLst>
              <a:ext uri="{FF2B5EF4-FFF2-40B4-BE49-F238E27FC236}">
                <a16:creationId xmlns:a16="http://schemas.microsoft.com/office/drawing/2014/main" id="{38376D29-50AF-9703-A993-742E25E6E639}"/>
              </a:ext>
            </a:extLst>
          </p:cNvPr>
          <p:cNvCxnSpPr>
            <a:cxnSpLocks/>
          </p:cNvCxnSpPr>
          <p:nvPr/>
        </p:nvCxnSpPr>
        <p:spPr>
          <a:xfrm flipV="1">
            <a:off x="3374324" y="737499"/>
            <a:ext cx="2625957" cy="4918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048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2909</TotalTime>
  <Words>10079</Words>
  <Application>Microsoft Office PowerPoint</Application>
  <PresentationFormat>Panorámica</PresentationFormat>
  <Paragraphs>2026</Paragraphs>
  <Slides>63</Slides>
  <Notes>22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63</vt:i4>
      </vt:variant>
    </vt:vector>
  </HeadingPairs>
  <TitlesOfParts>
    <vt:vector size="71" baseType="lpstr">
      <vt:lpstr>Arial</vt:lpstr>
      <vt:lpstr>Calibri</vt:lpstr>
      <vt:lpstr>Calibri Light</vt:lpstr>
      <vt:lpstr>Cambria Math</vt:lpstr>
      <vt:lpstr>Courier New</vt:lpstr>
      <vt:lpstr>Roboto</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Aaa bbb    vbvvnn   vfffff aaa ddddd gggggggg</dc:title>
  <dc:creator>Ricardo Rosenfeld</dc:creator>
  <cp:lastModifiedBy>Ricardo Rosenfeld</cp:lastModifiedBy>
  <cp:revision>403</cp:revision>
  <dcterms:created xsi:type="dcterms:W3CDTF">2017-11-26T15:39:57Z</dcterms:created>
  <dcterms:modified xsi:type="dcterms:W3CDTF">2026-04-25T14:42:06Z</dcterms:modified>
</cp:coreProperties>
</file>