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420" r:id="rId2"/>
    <p:sldId id="491" r:id="rId3"/>
    <p:sldId id="497" r:id="rId4"/>
    <p:sldId id="499" r:id="rId5"/>
    <p:sldId id="498" r:id="rId6"/>
    <p:sldId id="503" r:id="rId7"/>
    <p:sldId id="452" r:id="rId8"/>
    <p:sldId id="380" r:id="rId9"/>
    <p:sldId id="501" r:id="rId10"/>
    <p:sldId id="381" r:id="rId11"/>
    <p:sldId id="454" r:id="rId12"/>
    <p:sldId id="382" r:id="rId13"/>
    <p:sldId id="455" r:id="rId14"/>
    <p:sldId id="384" r:id="rId15"/>
    <p:sldId id="413" r:id="rId16"/>
    <p:sldId id="383" r:id="rId17"/>
    <p:sldId id="471" r:id="rId18"/>
    <p:sldId id="492" r:id="rId19"/>
    <p:sldId id="493" r:id="rId20"/>
    <p:sldId id="494" r:id="rId21"/>
    <p:sldId id="461" r:id="rId22"/>
    <p:sldId id="451" r:id="rId23"/>
    <p:sldId id="504" r:id="rId24"/>
    <p:sldId id="506" r:id="rId25"/>
    <p:sldId id="371" r:id="rId26"/>
    <p:sldId id="505" r:id="rId27"/>
    <p:sldId id="375" r:id="rId28"/>
    <p:sldId id="377" r:id="rId29"/>
    <p:sldId id="385" r:id="rId30"/>
    <p:sldId id="496" r:id="rId31"/>
    <p:sldId id="495" r:id="rId32"/>
    <p:sldId id="376" r:id="rId3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ardo Rosenfeld" initials="RR" lastIdx="1" clrIdx="0">
    <p:extLst>
      <p:ext uri="{19B8F6BF-5375-455C-9EA6-DF929625EA0E}">
        <p15:presenceInfo xmlns:p15="http://schemas.microsoft.com/office/powerpoint/2012/main" userId="S::rrosenfeld@pragmaconsultores.net::60a3a891-5940-4f3e-8fcb-08ad60f8a1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93D842-FC2D-406D-8896-A3079CCEA525}" v="139" dt="2026-04-04T11:36:51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3305" autoAdjust="0"/>
  </p:normalViewPr>
  <p:slideViewPr>
    <p:cSldViewPr snapToGrid="0">
      <p:cViewPr varScale="1">
        <p:scale>
          <a:sx n="51" d="100"/>
          <a:sy n="51" d="100"/>
        </p:scale>
        <p:origin x="1564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1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Rosenfeld" userId="29ed646a-75fb-4451-a67b-85738f90665c" providerId="ADAL" clId="{56FAFB6D-07E1-49C8-800A-4AFF6024927D}"/>
    <pc:docChg chg="modSld">
      <pc:chgData name="Ricardo Rosenfeld" userId="29ed646a-75fb-4451-a67b-85738f90665c" providerId="ADAL" clId="{56FAFB6D-07E1-49C8-800A-4AFF6024927D}" dt="2026-04-04T11:40:55.684" v="455" actId="14100"/>
      <pc:docMkLst>
        <pc:docMk/>
      </pc:docMkLst>
      <pc:sldChg chg="addSp modSp mod modAnim">
        <pc:chgData name="Ricardo Rosenfeld" userId="29ed646a-75fb-4451-a67b-85738f90665c" providerId="ADAL" clId="{56FAFB6D-07E1-49C8-800A-4AFF6024927D}" dt="2026-04-04T11:36:51.699" v="411" actId="6549"/>
        <pc:sldMkLst>
          <pc:docMk/>
          <pc:sldMk cId="2276517954" sldId="383"/>
        </pc:sldMkLst>
        <pc:spChg chg="mod">
          <ac:chgData name="Ricardo Rosenfeld" userId="29ed646a-75fb-4451-a67b-85738f90665c" providerId="ADAL" clId="{56FAFB6D-07E1-49C8-800A-4AFF6024927D}" dt="2026-04-04T11:36:51.699" v="411" actId="6549"/>
          <ac:spMkLst>
            <pc:docMk/>
            <pc:sldMk cId="2276517954" sldId="383"/>
            <ac:spMk id="9" creationId="{4C756785-B7F4-9201-0B3B-D2636A3967C5}"/>
          </ac:spMkLst>
        </pc:spChg>
        <pc:spChg chg="add mod">
          <ac:chgData name="Ricardo Rosenfeld" userId="29ed646a-75fb-4451-a67b-85738f90665c" providerId="ADAL" clId="{56FAFB6D-07E1-49C8-800A-4AFF6024927D}" dt="2026-04-04T11:32:52.012" v="273" actId="1076"/>
          <ac:spMkLst>
            <pc:docMk/>
            <pc:sldMk cId="2276517954" sldId="383"/>
            <ac:spMk id="31" creationId="{7B4D02B9-3030-06BC-0819-9E724F2E5A5E}"/>
          </ac:spMkLst>
        </pc:spChg>
      </pc:sldChg>
      <pc:sldChg chg="modSp mod">
        <pc:chgData name="Ricardo Rosenfeld" userId="29ed646a-75fb-4451-a67b-85738f90665c" providerId="ADAL" clId="{56FAFB6D-07E1-49C8-800A-4AFF6024927D}" dt="2026-04-04T11:22:06.198" v="2" actId="6549"/>
        <pc:sldMkLst>
          <pc:docMk/>
          <pc:sldMk cId="1167423395" sldId="454"/>
        </pc:sldMkLst>
        <pc:spChg chg="mod">
          <ac:chgData name="Ricardo Rosenfeld" userId="29ed646a-75fb-4451-a67b-85738f90665c" providerId="ADAL" clId="{56FAFB6D-07E1-49C8-800A-4AFF6024927D}" dt="2026-04-04T11:22:06.198" v="2" actId="6549"/>
          <ac:spMkLst>
            <pc:docMk/>
            <pc:sldMk cId="1167423395" sldId="454"/>
            <ac:spMk id="2" creationId="{573D26B9-B7F6-4DAF-8292-5E66568A2A86}"/>
          </ac:spMkLst>
        </pc:spChg>
        <pc:cxnChg chg="mod">
          <ac:chgData name="Ricardo Rosenfeld" userId="29ed646a-75fb-4451-a67b-85738f90665c" providerId="ADAL" clId="{56FAFB6D-07E1-49C8-800A-4AFF6024927D}" dt="2026-04-04T11:21:27.907" v="0" actId="1076"/>
          <ac:cxnSpMkLst>
            <pc:docMk/>
            <pc:sldMk cId="1167423395" sldId="454"/>
            <ac:cxnSpMk id="64" creationId="{6837F515-C12F-4DCA-93BD-09EB9D4F7CD0}"/>
          </ac:cxnSpMkLst>
        </pc:cxnChg>
      </pc:sldChg>
      <pc:sldChg chg="modSp mod">
        <pc:chgData name="Ricardo Rosenfeld" userId="29ed646a-75fb-4451-a67b-85738f90665c" providerId="ADAL" clId="{56FAFB6D-07E1-49C8-800A-4AFF6024927D}" dt="2026-04-04T11:38:04.275" v="444" actId="6549"/>
        <pc:sldMkLst>
          <pc:docMk/>
          <pc:sldMk cId="1227711662" sldId="471"/>
        </pc:sldMkLst>
        <pc:spChg chg="mod">
          <ac:chgData name="Ricardo Rosenfeld" userId="29ed646a-75fb-4451-a67b-85738f90665c" providerId="ADAL" clId="{56FAFB6D-07E1-49C8-800A-4AFF6024927D}" dt="2026-04-04T11:38:04.275" v="444" actId="6549"/>
          <ac:spMkLst>
            <pc:docMk/>
            <pc:sldMk cId="1227711662" sldId="471"/>
            <ac:spMk id="10" creationId="{AF3F0E76-FA47-49C1-BD2B-1FADCE488AF6}"/>
          </ac:spMkLst>
        </pc:spChg>
      </pc:sldChg>
      <pc:sldChg chg="modSp mod">
        <pc:chgData name="Ricardo Rosenfeld" userId="29ed646a-75fb-4451-a67b-85738f90665c" providerId="ADAL" clId="{56FAFB6D-07E1-49C8-800A-4AFF6024927D}" dt="2026-04-04T11:40:55.684" v="455" actId="14100"/>
        <pc:sldMkLst>
          <pc:docMk/>
          <pc:sldMk cId="3418900164" sldId="492"/>
        </pc:sldMkLst>
        <pc:spChg chg="mod">
          <ac:chgData name="Ricardo Rosenfeld" userId="29ed646a-75fb-4451-a67b-85738f90665c" providerId="ADAL" clId="{56FAFB6D-07E1-49C8-800A-4AFF6024927D}" dt="2026-04-04T11:39:50.342" v="450" actId="1076"/>
          <ac:spMkLst>
            <pc:docMk/>
            <pc:sldMk cId="3418900164" sldId="492"/>
            <ac:spMk id="16" creationId="{739F827D-AC26-4E4E-A8F8-AF0FEF8A01B7}"/>
          </ac:spMkLst>
        </pc:spChg>
        <pc:spChg chg="mod">
          <ac:chgData name="Ricardo Rosenfeld" userId="29ed646a-75fb-4451-a67b-85738f90665c" providerId="ADAL" clId="{56FAFB6D-07E1-49C8-800A-4AFF6024927D}" dt="2026-04-04T11:40:30.034" v="454" actId="1076"/>
          <ac:spMkLst>
            <pc:docMk/>
            <pc:sldMk cId="3418900164" sldId="492"/>
            <ac:spMk id="72" creationId="{CCDBCB77-946D-458D-8FF3-2BEE6B3E06FB}"/>
          </ac:spMkLst>
        </pc:spChg>
        <pc:cxnChg chg="mod">
          <ac:chgData name="Ricardo Rosenfeld" userId="29ed646a-75fb-4451-a67b-85738f90665c" providerId="ADAL" clId="{56FAFB6D-07E1-49C8-800A-4AFF6024927D}" dt="2026-04-04T11:38:47.430" v="446" actId="14100"/>
          <ac:cxnSpMkLst>
            <pc:docMk/>
            <pc:sldMk cId="3418900164" sldId="492"/>
            <ac:cxnSpMk id="37" creationId="{1318CEAD-AEE3-40FF-BC43-ECA4705E1D38}"/>
          </ac:cxnSpMkLst>
        </pc:cxnChg>
        <pc:cxnChg chg="mod">
          <ac:chgData name="Ricardo Rosenfeld" userId="29ed646a-75fb-4451-a67b-85738f90665c" providerId="ADAL" clId="{56FAFB6D-07E1-49C8-800A-4AFF6024927D}" dt="2026-04-04T11:38:37.232" v="445" actId="14100"/>
          <ac:cxnSpMkLst>
            <pc:docMk/>
            <pc:sldMk cId="3418900164" sldId="492"/>
            <ac:cxnSpMk id="47" creationId="{0C2D49C3-1093-4788-94CE-AA663339B7DC}"/>
          </ac:cxnSpMkLst>
        </pc:cxnChg>
        <pc:cxnChg chg="mod">
          <ac:chgData name="Ricardo Rosenfeld" userId="29ed646a-75fb-4451-a67b-85738f90665c" providerId="ADAL" clId="{56FAFB6D-07E1-49C8-800A-4AFF6024927D}" dt="2026-04-04T11:40:55.684" v="455" actId="14100"/>
          <ac:cxnSpMkLst>
            <pc:docMk/>
            <pc:sldMk cId="3418900164" sldId="492"/>
            <ac:cxnSpMk id="60" creationId="{B6412520-491D-4262-BBB3-07CBE13C4FB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C0A43-6D99-469E-A2A4-986F5A96B2D7}" type="datetimeFigureOut">
              <a:rPr lang="es-MX" smtClean="0"/>
              <a:t>04/04/2026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435F7-D700-49C2-9B70-E2E5ADB6D1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064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2236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543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9615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6171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9FEB8-FCE0-131D-6411-BF9191C5A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C1EB87F-E7A3-97C1-3006-D6DDD6A38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4743A6-8D5E-44AE-9B88-84CE36171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BB94D9-83EB-9A50-AAB8-F78E41281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8924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7590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3788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2266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1266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0562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1752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6071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0221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0950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37648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01163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03763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60710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30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3971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CDFD8-3B47-47B7-9D98-9CB28ED50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351C29-88F1-404A-88B5-AAFB933E7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BC8192-3085-40EC-A245-5C222F32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50C20B-B4AC-430A-8313-A3F7BDC0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EC49BD-1E18-4D92-9D24-7398DB0B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067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A5222-7243-4A2A-81E0-EFD4A97B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3C6E81-EB0F-46DA-9E5A-667EA14D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4B5F33-4F19-4979-8255-DD785CEE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CF551B-D411-43D5-91E0-D1144B10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56BA24-B1EE-4DB2-AAFD-AD6642DD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414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3B8AA-8824-42FA-95BA-B9BAD6FE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287F06-1F1F-4003-BCAA-C7B601E3F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5B110-FFCF-43EE-8AF6-DE5B2842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FA215F-73F9-4C6E-B7EC-68488086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422D6C-A7D6-41A9-B84A-4E190D85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3554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FB367-926C-43A9-9CEC-6BFEFCAE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F9C402-E080-471C-8FDA-676B5D640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815C77-D3F1-4F59-98FC-1C12D5B4B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8C8DE3-9740-42F7-A75D-5AD79151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716250-9E7E-4B4A-AE00-7A405C6D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3BA5F8-1996-419B-A547-BE167DD4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4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8EFD3-DE5B-46CC-9A55-EF83087C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83A4CA-2CD6-4D12-8680-E55BE1714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C9E483-322E-42AA-BEE2-AD348AC5B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F3C280-1532-430A-A567-C1C468DBB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4D677A-924C-4D3E-B367-07331BECA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6C1839-3F71-4941-BB2A-B44CB6C3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04/04/2026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48C015-22B0-416F-BEC7-42EFB85F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FEA894-61ED-4AAB-83DF-19C01EE8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287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2AE01-3088-4313-9007-6B1AADB4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8D9A49-CAAC-4CB1-ACA6-6F6062D9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04/04/2026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9D4133-9FCA-44D8-9FB8-A4815F3F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75C298-54F6-456C-BB16-F0563630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5178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9DFC64-5151-420C-9730-DFDC83B9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04/04/2026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E318C4-3FDF-4018-950C-7C6F8C17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66FD2A-6527-4E5F-AEBF-BBA1707F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880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F2E8B-3206-4383-8645-1E3D162F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6BBE06-46BA-4FCC-8B18-70C154D44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08D200-9C17-459D-ACBF-27E79A38C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C25193-0668-4B1D-A8B6-F7470675A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19D8AA-90EA-4DD2-96E0-DD955B23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25CA9F-E879-43AA-AD1E-ACD887D0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086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79DCD-B27A-4406-864E-7743DAE4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978869-74E6-47DC-AC53-E00D971CB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1CC178-2CF6-4746-8D87-0BE4A1418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54E583-6800-4663-AEED-581E2407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04/04/2026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BADE39-CE1A-4FC8-8AD1-81EF7E96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DA765A-B094-4517-B235-3111B61D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8904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5CDAE-BB5E-4D14-AE23-9F3A1DFB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7F080C-030B-457D-B014-6848697ED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364F5B-EDB7-4A6D-A2E0-4F7F9A64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08DB3E-AF17-4955-B8AD-62C820EC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44975-9D39-4C1F-B3B4-4CCA8D25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27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F821CC-7EFE-4705-8EA8-DA07D2712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395BA9-E5AE-49B3-8968-DE994CFEE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489C8F-14CF-4605-98D3-14728A87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E19C36-9E90-4794-91ED-E9B11DB74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F57C4B-6B87-4FB3-8B36-5FD7C552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782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D14711-40D9-47D6-9B41-0B8DB28C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E733F8-BEB9-48ED-96E8-B4B2409DE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247027-680B-4EDC-9484-D8AF07737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B3A0A-650C-414D-9908-5E3669971B9E}" type="datetimeFigureOut">
              <a:rPr lang="es-MX" smtClean="0"/>
              <a:t>04/04/2026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D6DD88-B1BE-4D9D-AF16-6C219E6B7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6D8EA2-8AC1-4530-9585-CCC8E40F1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65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5B3DA613-DB81-4EF8-A4E6-961AB4ECC18D}"/>
              </a:ext>
            </a:extLst>
          </p:cNvPr>
          <p:cNvSpPr txBox="1">
            <a:spLocks/>
          </p:cNvSpPr>
          <p:nvPr/>
        </p:nvSpPr>
        <p:spPr>
          <a:xfrm>
            <a:off x="258417" y="2510734"/>
            <a:ext cx="11668539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Clase teórica 5</a:t>
            </a:r>
          </a:p>
          <a:p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Tiempo polinomial y no polinomial</a:t>
            </a:r>
            <a:endParaRPr lang="es-MX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46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DEFC08E2-7C2F-4B32-A832-D09D88B7F99D}"/>
              </a:ext>
            </a:extLst>
          </p:cNvPr>
          <p:cNvSpPr txBox="1">
            <a:spLocks/>
          </p:cNvSpPr>
          <p:nvPr/>
        </p:nvSpPr>
        <p:spPr>
          <a:xfrm>
            <a:off x="9571868" y="2313495"/>
            <a:ext cx="1903711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PROGRAMACIÓN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34846CF-79E0-4565-8F66-D2532AB3E717}"/>
              </a:ext>
            </a:extLst>
          </p:cNvPr>
          <p:cNvSpPr txBox="1">
            <a:spLocks/>
          </p:cNvSpPr>
          <p:nvPr/>
        </p:nvSpPr>
        <p:spPr>
          <a:xfrm>
            <a:off x="1538543" y="1610319"/>
            <a:ext cx="2342827" cy="335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problemas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B4DF858-D81D-40E8-9AC8-1F6707B38E66}"/>
              </a:ext>
            </a:extLst>
          </p:cNvPr>
          <p:cNvSpPr txBox="1">
            <a:spLocks/>
          </p:cNvSpPr>
          <p:nvPr/>
        </p:nvSpPr>
        <p:spPr>
          <a:xfrm>
            <a:off x="1954800" y="3741627"/>
            <a:ext cx="1531752" cy="314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63D10A8A-FA0E-4A50-8CCF-45CAD2EAAC6D}"/>
              </a:ext>
            </a:extLst>
          </p:cNvPr>
          <p:cNvSpPr txBox="1">
            <a:spLocks/>
          </p:cNvSpPr>
          <p:nvPr/>
        </p:nvSpPr>
        <p:spPr>
          <a:xfrm>
            <a:off x="1785825" y="2396184"/>
            <a:ext cx="1903711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computables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AC1A369-691F-4B21-889B-03A9642184B7}"/>
              </a:ext>
            </a:extLst>
          </p:cNvPr>
          <p:cNvSpPr txBox="1">
            <a:spLocks/>
          </p:cNvSpPr>
          <p:nvPr/>
        </p:nvSpPr>
        <p:spPr>
          <a:xfrm>
            <a:off x="8832726" y="3023444"/>
            <a:ext cx="1482025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6B8E1159-26CC-4034-B7B8-DBF4C6D960D6}"/>
              </a:ext>
            </a:extLst>
          </p:cNvPr>
          <p:cNvSpPr txBox="1">
            <a:spLocks/>
          </p:cNvSpPr>
          <p:nvPr/>
        </p:nvSpPr>
        <p:spPr>
          <a:xfrm>
            <a:off x="10478514" y="3034474"/>
            <a:ext cx="1616198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PROGRAMA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34A7B003-79AF-4319-86B9-1DFC15F2C078}"/>
              </a:ext>
            </a:extLst>
          </p:cNvPr>
          <p:cNvSpPr txBox="1">
            <a:spLocks/>
          </p:cNvSpPr>
          <p:nvPr/>
        </p:nvSpPr>
        <p:spPr>
          <a:xfrm>
            <a:off x="9565348" y="3803464"/>
            <a:ext cx="1903711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VERIFICACIÓN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14B05FC4-CCAA-41D1-BB04-1CFEDB7A8E6F}"/>
              </a:ext>
            </a:extLst>
          </p:cNvPr>
          <p:cNvSpPr txBox="1">
            <a:spLocks/>
          </p:cNvSpPr>
          <p:nvPr/>
        </p:nvSpPr>
        <p:spPr>
          <a:xfrm>
            <a:off x="1773690" y="803358"/>
            <a:ext cx="1823971" cy="76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Computabilidad</a:t>
            </a: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ED064D08-76F6-439F-B4C7-729846132ED9}"/>
              </a:ext>
            </a:extLst>
          </p:cNvPr>
          <p:cNvSpPr/>
          <p:nvPr/>
        </p:nvSpPr>
        <p:spPr>
          <a:xfrm>
            <a:off x="868678" y="1348604"/>
            <a:ext cx="3650414" cy="3782733"/>
          </a:xfrm>
          <a:prstGeom prst="flowChartConnector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FB5DABD9-24C2-4684-BA13-F8546430DEF8}"/>
              </a:ext>
            </a:extLst>
          </p:cNvPr>
          <p:cNvSpPr/>
          <p:nvPr/>
        </p:nvSpPr>
        <p:spPr>
          <a:xfrm>
            <a:off x="1477200" y="2228924"/>
            <a:ext cx="2464161" cy="27605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CD79543B-325B-4BD1-B2EB-34B25EC7506B}"/>
              </a:ext>
            </a:extLst>
          </p:cNvPr>
          <p:cNvSpPr/>
          <p:nvPr/>
        </p:nvSpPr>
        <p:spPr>
          <a:xfrm>
            <a:off x="1965287" y="2979112"/>
            <a:ext cx="1564358" cy="1859759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Diagrama de flujo: conector 34">
            <a:extLst>
              <a:ext uri="{FF2B5EF4-FFF2-40B4-BE49-F238E27FC236}">
                <a16:creationId xmlns:a16="http://schemas.microsoft.com/office/drawing/2014/main" id="{FF8C9024-7FF0-42FD-A5A6-424C3C1709B8}"/>
              </a:ext>
            </a:extLst>
          </p:cNvPr>
          <p:cNvSpPr/>
          <p:nvPr/>
        </p:nvSpPr>
        <p:spPr>
          <a:xfrm>
            <a:off x="8730193" y="1361516"/>
            <a:ext cx="3307739" cy="375782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7" name="Diagrama de flujo: conector 36">
            <a:extLst>
              <a:ext uri="{FF2B5EF4-FFF2-40B4-BE49-F238E27FC236}">
                <a16:creationId xmlns:a16="http://schemas.microsoft.com/office/drawing/2014/main" id="{C7830507-9E6D-418A-B46F-228290446FB6}"/>
              </a:ext>
            </a:extLst>
          </p:cNvPr>
          <p:cNvSpPr/>
          <p:nvPr/>
        </p:nvSpPr>
        <p:spPr>
          <a:xfrm>
            <a:off x="4853080" y="1376937"/>
            <a:ext cx="3488800" cy="3757821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Diagrama de flujo: conector 38">
            <a:extLst>
              <a:ext uri="{FF2B5EF4-FFF2-40B4-BE49-F238E27FC236}">
                <a16:creationId xmlns:a16="http://schemas.microsoft.com/office/drawing/2014/main" id="{90802000-EB08-4194-9A2D-C0698521D28D}"/>
              </a:ext>
            </a:extLst>
          </p:cNvPr>
          <p:cNvSpPr/>
          <p:nvPr/>
        </p:nvSpPr>
        <p:spPr>
          <a:xfrm>
            <a:off x="9156740" y="2861820"/>
            <a:ext cx="817216" cy="78265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0" name="Diagrama de flujo: conector 39">
            <a:extLst>
              <a:ext uri="{FF2B5EF4-FFF2-40B4-BE49-F238E27FC236}">
                <a16:creationId xmlns:a16="http://schemas.microsoft.com/office/drawing/2014/main" id="{56EFF3E2-5AE7-46A3-B24D-356BD9D22AF1}"/>
              </a:ext>
            </a:extLst>
          </p:cNvPr>
          <p:cNvSpPr/>
          <p:nvPr/>
        </p:nvSpPr>
        <p:spPr>
          <a:xfrm>
            <a:off x="10878005" y="2861820"/>
            <a:ext cx="817216" cy="78265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CB95C7E-1F6D-4499-A95F-5DD91C426013}"/>
              </a:ext>
            </a:extLst>
          </p:cNvPr>
          <p:cNvCxnSpPr>
            <a:cxnSpLocks/>
          </p:cNvCxnSpPr>
          <p:nvPr/>
        </p:nvCxnSpPr>
        <p:spPr>
          <a:xfrm>
            <a:off x="9146425" y="2695229"/>
            <a:ext cx="25575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22C3208-0999-412E-BFF8-63D185682304}"/>
              </a:ext>
            </a:extLst>
          </p:cNvPr>
          <p:cNvCxnSpPr>
            <a:cxnSpLocks/>
          </p:cNvCxnSpPr>
          <p:nvPr/>
        </p:nvCxnSpPr>
        <p:spPr>
          <a:xfrm flipV="1">
            <a:off x="2516115" y="1443255"/>
            <a:ext cx="3579885" cy="157549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6B5C373-AEFF-42CB-8618-121532DD9E78}"/>
              </a:ext>
            </a:extLst>
          </p:cNvPr>
          <p:cNvCxnSpPr>
            <a:cxnSpLocks/>
            <a:endCxn id="37" idx="4"/>
          </p:cNvCxnSpPr>
          <p:nvPr/>
        </p:nvCxnSpPr>
        <p:spPr>
          <a:xfrm>
            <a:off x="2694685" y="4851587"/>
            <a:ext cx="3902795" cy="28317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FD3E59ED-66BA-46A7-9882-D7C201C897D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9DE9D5D9-37CC-0B12-55A2-5C7BDF32A9BA}"/>
              </a:ext>
            </a:extLst>
          </p:cNvPr>
          <p:cNvSpPr txBox="1">
            <a:spLocks/>
          </p:cNvSpPr>
          <p:nvPr/>
        </p:nvSpPr>
        <p:spPr>
          <a:xfrm>
            <a:off x="5039467" y="2447158"/>
            <a:ext cx="3142407" cy="349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intratables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(sin algoritmos eficientes)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01CC5A15-846A-03B1-3032-451A72CEF091}"/>
              </a:ext>
            </a:extLst>
          </p:cNvPr>
          <p:cNvCxnSpPr>
            <a:cxnSpLocks/>
            <a:endCxn id="35" idx="0"/>
          </p:cNvCxnSpPr>
          <p:nvPr/>
        </p:nvCxnSpPr>
        <p:spPr>
          <a:xfrm flipV="1">
            <a:off x="6618915" y="1361516"/>
            <a:ext cx="3765148" cy="443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1727ECE5-CE72-159A-EF02-8DD0AEDB6C78}"/>
              </a:ext>
            </a:extLst>
          </p:cNvPr>
          <p:cNvCxnSpPr>
            <a:cxnSpLocks/>
          </p:cNvCxnSpPr>
          <p:nvPr/>
        </p:nvCxnSpPr>
        <p:spPr>
          <a:xfrm flipV="1">
            <a:off x="6552415" y="5125859"/>
            <a:ext cx="3665011" cy="1564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206587C2-069B-DF3C-3E11-9C53C8D055D9}"/>
              </a:ext>
            </a:extLst>
          </p:cNvPr>
          <p:cNvCxnSpPr>
            <a:cxnSpLocks/>
          </p:cNvCxnSpPr>
          <p:nvPr/>
        </p:nvCxnSpPr>
        <p:spPr>
          <a:xfrm rot="60000" flipV="1">
            <a:off x="4832986" y="3245452"/>
            <a:ext cx="3541866" cy="78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679818C3-178C-F2DE-734B-EAA219876F55}"/>
              </a:ext>
            </a:extLst>
          </p:cNvPr>
          <p:cNvCxnSpPr>
            <a:cxnSpLocks/>
          </p:cNvCxnSpPr>
          <p:nvPr/>
        </p:nvCxnSpPr>
        <p:spPr>
          <a:xfrm rot="10800000">
            <a:off x="9137654" y="3821948"/>
            <a:ext cx="25575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0ED7C92B-A9B1-9C59-FDA0-70A1DFC0CA8B}"/>
              </a:ext>
            </a:extLst>
          </p:cNvPr>
          <p:cNvSpPr txBox="1">
            <a:spLocks/>
          </p:cNvSpPr>
          <p:nvPr/>
        </p:nvSpPr>
        <p:spPr>
          <a:xfrm>
            <a:off x="4908205" y="3709926"/>
            <a:ext cx="3435642" cy="4024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(con algoritmos eficientes)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3281BE0-53DE-398D-4328-6367F8C34E30}"/>
              </a:ext>
            </a:extLst>
          </p:cNvPr>
          <p:cNvSpPr txBox="1">
            <a:spLocks/>
          </p:cNvSpPr>
          <p:nvPr/>
        </p:nvSpPr>
        <p:spPr>
          <a:xfrm>
            <a:off x="4448359" y="814594"/>
            <a:ext cx="4104370" cy="76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Complejidad computacional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4EEFCC4-E187-B19E-DD62-F9342691E322}"/>
              </a:ext>
            </a:extLst>
          </p:cNvPr>
          <p:cNvSpPr txBox="1">
            <a:spLocks/>
          </p:cNvSpPr>
          <p:nvPr/>
        </p:nvSpPr>
        <p:spPr>
          <a:xfrm>
            <a:off x="8108136" y="816350"/>
            <a:ext cx="4104370" cy="76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Verificación de programas</a:t>
            </a:r>
          </a:p>
        </p:txBody>
      </p:sp>
      <p:sp>
        <p:nvSpPr>
          <p:cNvPr id="14" name="Flecha: hacia abajo 13">
            <a:extLst>
              <a:ext uri="{FF2B5EF4-FFF2-40B4-BE49-F238E27FC236}">
                <a16:creationId xmlns:a16="http://schemas.microsoft.com/office/drawing/2014/main" id="{8D67896E-226F-88C1-6A7F-28794B1799CC}"/>
              </a:ext>
            </a:extLst>
          </p:cNvPr>
          <p:cNvSpPr/>
          <p:nvPr/>
        </p:nvSpPr>
        <p:spPr>
          <a:xfrm>
            <a:off x="6162453" y="580963"/>
            <a:ext cx="484632" cy="463749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C4DDE2-7D01-7FAF-E728-D2DFD7B95201}"/>
              </a:ext>
            </a:extLst>
          </p:cNvPr>
          <p:cNvSpPr txBox="1">
            <a:spLocks/>
          </p:cNvSpPr>
          <p:nvPr/>
        </p:nvSpPr>
        <p:spPr>
          <a:xfrm>
            <a:off x="203649" y="184283"/>
            <a:ext cx="11784702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Continuamos el viaje imaginario</a:t>
            </a:r>
          </a:p>
        </p:txBody>
      </p:sp>
      <p:sp>
        <p:nvSpPr>
          <p:cNvPr id="3" name="Diagrama de flujo: conector 2">
            <a:extLst>
              <a:ext uri="{FF2B5EF4-FFF2-40B4-BE49-F238E27FC236}">
                <a16:creationId xmlns:a16="http://schemas.microsoft.com/office/drawing/2014/main" id="{421D66B3-E70F-DD08-7CB6-61C0475013A5}"/>
              </a:ext>
            </a:extLst>
          </p:cNvPr>
          <p:cNvSpPr/>
          <p:nvPr/>
        </p:nvSpPr>
        <p:spPr>
          <a:xfrm>
            <a:off x="1042545" y="1375226"/>
            <a:ext cx="3307739" cy="375782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32D2A01-382F-9F25-CAE5-78EA1DDB0F5D}"/>
              </a:ext>
            </a:extLst>
          </p:cNvPr>
          <p:cNvCxnSpPr>
            <a:cxnSpLocks/>
          </p:cNvCxnSpPr>
          <p:nvPr/>
        </p:nvCxnSpPr>
        <p:spPr>
          <a:xfrm>
            <a:off x="405497" y="924349"/>
            <a:ext cx="2325125" cy="2698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62EA043-474E-4929-92E2-494FBBFB631A}"/>
              </a:ext>
            </a:extLst>
          </p:cNvPr>
          <p:cNvSpPr txBox="1"/>
          <p:nvPr/>
        </p:nvSpPr>
        <p:spPr>
          <a:xfrm>
            <a:off x="277219" y="5463562"/>
            <a:ext cx="6202240" cy="10310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Métricas de complejidad computacional más utilizadas:</a:t>
            </a:r>
          </a:p>
          <a:p>
            <a:pPr algn="just"/>
            <a:endParaRPr lang="es-A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 Tiempo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= cantidad de pasos ejecutados por una MT.</a:t>
            </a: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 Espacio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= cantidad de celdas ocupadas por una MT.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54DFDBD-6BD4-CC2B-238C-B5FC3CB38956}"/>
              </a:ext>
            </a:extLst>
          </p:cNvPr>
          <p:cNvSpPr/>
          <p:nvPr/>
        </p:nvSpPr>
        <p:spPr>
          <a:xfrm>
            <a:off x="6870898" y="5513512"/>
            <a:ext cx="3901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</a:t>
            </a:r>
            <a:endParaRPr lang="es-AR" sz="1600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1DB69096-7F5B-A3AD-4C8A-7064B4C98DE0}"/>
              </a:ext>
            </a:extLst>
          </p:cNvPr>
          <p:cNvCxnSpPr>
            <a:cxnSpLocks/>
          </p:cNvCxnSpPr>
          <p:nvPr/>
        </p:nvCxnSpPr>
        <p:spPr>
          <a:xfrm>
            <a:off x="6748381" y="5802099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B52C24C-57D1-4795-5673-D0656681FC53}"/>
              </a:ext>
            </a:extLst>
          </p:cNvPr>
          <p:cNvSpPr/>
          <p:nvPr/>
        </p:nvSpPr>
        <p:spPr>
          <a:xfrm>
            <a:off x="8475177" y="5793552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341D6BD-4BE9-4437-D4EF-16FDF86FFBC5}"/>
              </a:ext>
            </a:extLst>
          </p:cNvPr>
          <p:cNvCxnSpPr>
            <a:cxnSpLocks/>
          </p:cNvCxnSpPr>
          <p:nvPr/>
        </p:nvCxnSpPr>
        <p:spPr>
          <a:xfrm flipV="1">
            <a:off x="8077778" y="5618323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098ADC9-539D-CBBB-99D5-3EA9ACEA1766}"/>
              </a:ext>
            </a:extLst>
          </p:cNvPr>
          <p:cNvSpPr/>
          <p:nvPr/>
        </p:nvSpPr>
        <p:spPr>
          <a:xfrm>
            <a:off x="8451549" y="5440573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EBCFB8CA-20A1-BF9F-9C4F-085FFB730A98}"/>
              </a:ext>
            </a:extLst>
          </p:cNvPr>
          <p:cNvCxnSpPr>
            <a:cxnSpLocks/>
          </p:cNvCxnSpPr>
          <p:nvPr/>
        </p:nvCxnSpPr>
        <p:spPr>
          <a:xfrm>
            <a:off x="8066993" y="5814103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F682351-AD08-796E-0241-4F843B4B8E6B}"/>
              </a:ext>
            </a:extLst>
          </p:cNvPr>
          <p:cNvSpPr/>
          <p:nvPr/>
        </p:nvSpPr>
        <p:spPr>
          <a:xfrm>
            <a:off x="7364660" y="5489636"/>
            <a:ext cx="694090" cy="600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E7EDDE6-279A-9AA3-86BD-06599D532839}"/>
              </a:ext>
            </a:extLst>
          </p:cNvPr>
          <p:cNvSpPr/>
          <p:nvPr/>
        </p:nvSpPr>
        <p:spPr>
          <a:xfrm>
            <a:off x="7496420" y="5609850"/>
            <a:ext cx="531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endParaRPr lang="es-MX" sz="1600" dirty="0"/>
          </a:p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7161435-C511-A033-89DD-89A745A89164}"/>
              </a:ext>
            </a:extLst>
          </p:cNvPr>
          <p:cNvSpPr/>
          <p:nvPr/>
        </p:nvSpPr>
        <p:spPr>
          <a:xfrm>
            <a:off x="6746699" y="6257177"/>
            <a:ext cx="27228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sz="1400" dirty="0"/>
              <a:t> ejecuta x pasos desde w 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8E0C083-2197-A94E-82D9-4ABBE5133F2D}"/>
              </a:ext>
            </a:extLst>
          </p:cNvPr>
          <p:cNvSpPr/>
          <p:nvPr/>
        </p:nvSpPr>
        <p:spPr>
          <a:xfrm>
            <a:off x="9403415" y="5507401"/>
            <a:ext cx="3901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</a:t>
            </a:r>
            <a:endParaRPr lang="es-AR" sz="1600" dirty="0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A255B738-2A5B-8FC1-AC39-0E77EB0D00A8}"/>
              </a:ext>
            </a:extLst>
          </p:cNvPr>
          <p:cNvCxnSpPr>
            <a:cxnSpLocks/>
          </p:cNvCxnSpPr>
          <p:nvPr/>
        </p:nvCxnSpPr>
        <p:spPr>
          <a:xfrm>
            <a:off x="9280898" y="5795988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392DA06-6846-E280-D419-823D93236E8B}"/>
              </a:ext>
            </a:extLst>
          </p:cNvPr>
          <p:cNvSpPr/>
          <p:nvPr/>
        </p:nvSpPr>
        <p:spPr>
          <a:xfrm>
            <a:off x="11007694" y="5787441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EC4A80CC-5086-1307-D71F-B52BA9BC3534}"/>
              </a:ext>
            </a:extLst>
          </p:cNvPr>
          <p:cNvCxnSpPr>
            <a:cxnSpLocks/>
          </p:cNvCxnSpPr>
          <p:nvPr/>
        </p:nvCxnSpPr>
        <p:spPr>
          <a:xfrm flipV="1">
            <a:off x="10610295" y="5612212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9D51058-2B44-CC8F-3955-99ECC88A14B0}"/>
              </a:ext>
            </a:extLst>
          </p:cNvPr>
          <p:cNvSpPr/>
          <p:nvPr/>
        </p:nvSpPr>
        <p:spPr>
          <a:xfrm>
            <a:off x="10984066" y="5434462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196D3274-A913-08A7-B186-69636C49B3D0}"/>
              </a:ext>
            </a:extLst>
          </p:cNvPr>
          <p:cNvCxnSpPr>
            <a:cxnSpLocks/>
          </p:cNvCxnSpPr>
          <p:nvPr/>
        </p:nvCxnSpPr>
        <p:spPr>
          <a:xfrm>
            <a:off x="10599510" y="5807992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 45">
            <a:extLst>
              <a:ext uri="{FF2B5EF4-FFF2-40B4-BE49-F238E27FC236}">
                <a16:creationId xmlns:a16="http://schemas.microsoft.com/office/drawing/2014/main" id="{426D080C-F805-3FDE-126F-F73AA02F76F9}"/>
              </a:ext>
            </a:extLst>
          </p:cNvPr>
          <p:cNvSpPr/>
          <p:nvPr/>
        </p:nvSpPr>
        <p:spPr>
          <a:xfrm>
            <a:off x="9897177" y="5483525"/>
            <a:ext cx="694090" cy="600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E588B2F1-F667-C528-92FD-AE9AC99E0552}"/>
              </a:ext>
            </a:extLst>
          </p:cNvPr>
          <p:cNvSpPr/>
          <p:nvPr/>
        </p:nvSpPr>
        <p:spPr>
          <a:xfrm>
            <a:off x="10028937" y="5603739"/>
            <a:ext cx="531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endParaRPr lang="es-MX" sz="1600" dirty="0"/>
          </a:p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97756946-4AD6-3F9D-4B86-F89E7FC57881}"/>
              </a:ext>
            </a:extLst>
          </p:cNvPr>
          <p:cNvSpPr/>
          <p:nvPr/>
        </p:nvSpPr>
        <p:spPr>
          <a:xfrm>
            <a:off x="9287271" y="6259815"/>
            <a:ext cx="27228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sz="1400" dirty="0"/>
              <a:t> ocupa x celdas desde w</a:t>
            </a:r>
          </a:p>
        </p:txBody>
      </p:sp>
    </p:spTree>
    <p:extLst>
      <p:ext uri="{BB962C8B-B14F-4D97-AF65-F5344CB8AC3E}">
        <p14:creationId xmlns:p14="http://schemas.microsoft.com/office/powerpoint/2010/main" val="1965974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434846CF-79E0-4565-8F66-D2532AB3E717}"/>
              </a:ext>
            </a:extLst>
          </p:cNvPr>
          <p:cNvSpPr txBox="1">
            <a:spLocks/>
          </p:cNvSpPr>
          <p:nvPr/>
        </p:nvSpPr>
        <p:spPr>
          <a:xfrm>
            <a:off x="3184589" y="561548"/>
            <a:ext cx="2342827" cy="335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problemas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B4DF858-D81D-40E8-9AC8-1F6707B38E66}"/>
              </a:ext>
            </a:extLst>
          </p:cNvPr>
          <p:cNvSpPr txBox="1">
            <a:spLocks/>
          </p:cNvSpPr>
          <p:nvPr/>
        </p:nvSpPr>
        <p:spPr>
          <a:xfrm>
            <a:off x="3606661" y="2526701"/>
            <a:ext cx="1531752" cy="314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63D10A8A-FA0E-4A50-8CCF-45CAD2EAAC6D}"/>
              </a:ext>
            </a:extLst>
          </p:cNvPr>
          <p:cNvSpPr txBox="1">
            <a:spLocks/>
          </p:cNvSpPr>
          <p:nvPr/>
        </p:nvSpPr>
        <p:spPr>
          <a:xfrm>
            <a:off x="3447471" y="1348905"/>
            <a:ext cx="1903711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computables</a:t>
            </a: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ED064D08-76F6-439F-B4C7-729846132ED9}"/>
              </a:ext>
            </a:extLst>
          </p:cNvPr>
          <p:cNvSpPr/>
          <p:nvPr/>
        </p:nvSpPr>
        <p:spPr>
          <a:xfrm>
            <a:off x="2520539" y="133678"/>
            <a:ext cx="3650414" cy="3782733"/>
          </a:xfrm>
          <a:prstGeom prst="flowChartConnector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FB5DABD9-24C2-4684-BA13-F8546430DEF8}"/>
              </a:ext>
            </a:extLst>
          </p:cNvPr>
          <p:cNvSpPr/>
          <p:nvPr/>
        </p:nvSpPr>
        <p:spPr>
          <a:xfrm>
            <a:off x="3124719" y="1109001"/>
            <a:ext cx="2464161" cy="27605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CD79543B-325B-4BD1-B2EB-34B25EC7506B}"/>
              </a:ext>
            </a:extLst>
          </p:cNvPr>
          <p:cNvSpPr/>
          <p:nvPr/>
        </p:nvSpPr>
        <p:spPr>
          <a:xfrm>
            <a:off x="3617148" y="1764186"/>
            <a:ext cx="1564358" cy="1859759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Diagrama de flujo: conector 36">
            <a:extLst>
              <a:ext uri="{FF2B5EF4-FFF2-40B4-BE49-F238E27FC236}">
                <a16:creationId xmlns:a16="http://schemas.microsoft.com/office/drawing/2014/main" id="{C7830507-9E6D-418A-B46F-228290446FB6}"/>
              </a:ext>
            </a:extLst>
          </p:cNvPr>
          <p:cNvSpPr/>
          <p:nvPr/>
        </p:nvSpPr>
        <p:spPr>
          <a:xfrm>
            <a:off x="6504941" y="162011"/>
            <a:ext cx="3488800" cy="3757821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22C3208-0999-412E-BFF8-63D185682304}"/>
              </a:ext>
            </a:extLst>
          </p:cNvPr>
          <p:cNvCxnSpPr>
            <a:cxnSpLocks/>
          </p:cNvCxnSpPr>
          <p:nvPr/>
        </p:nvCxnSpPr>
        <p:spPr>
          <a:xfrm flipV="1">
            <a:off x="4167976" y="228329"/>
            <a:ext cx="3579885" cy="157549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6B5C373-AEFF-42CB-8618-121532DD9E78}"/>
              </a:ext>
            </a:extLst>
          </p:cNvPr>
          <p:cNvCxnSpPr>
            <a:cxnSpLocks/>
            <a:endCxn id="37" idx="4"/>
          </p:cNvCxnSpPr>
          <p:nvPr/>
        </p:nvCxnSpPr>
        <p:spPr>
          <a:xfrm>
            <a:off x="4346546" y="3636661"/>
            <a:ext cx="3902795" cy="28317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FD3E59ED-66BA-46A7-9882-D7C201C897D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9DE9D5D9-37CC-0B12-55A2-5C7BDF32A9BA}"/>
              </a:ext>
            </a:extLst>
          </p:cNvPr>
          <p:cNvSpPr txBox="1">
            <a:spLocks/>
          </p:cNvSpPr>
          <p:nvPr/>
        </p:nvSpPr>
        <p:spPr>
          <a:xfrm>
            <a:off x="6691328" y="1232232"/>
            <a:ext cx="3142407" cy="349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intratables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(sin algoritmos eficientes)</a:t>
            </a: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206587C2-069B-DF3C-3E11-9C53C8D055D9}"/>
              </a:ext>
            </a:extLst>
          </p:cNvPr>
          <p:cNvCxnSpPr>
            <a:cxnSpLocks/>
          </p:cNvCxnSpPr>
          <p:nvPr/>
        </p:nvCxnSpPr>
        <p:spPr>
          <a:xfrm rot="60000" flipV="1">
            <a:off x="6484847" y="2030526"/>
            <a:ext cx="3541866" cy="78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0ED7C92B-A9B1-9C59-FDA0-70A1DFC0CA8B}"/>
              </a:ext>
            </a:extLst>
          </p:cNvPr>
          <p:cNvSpPr txBox="1">
            <a:spLocks/>
          </p:cNvSpPr>
          <p:nvPr/>
        </p:nvSpPr>
        <p:spPr>
          <a:xfrm>
            <a:off x="6560066" y="2495000"/>
            <a:ext cx="3435642" cy="4024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(con algoritmos eficientes)</a:t>
            </a:r>
          </a:p>
        </p:txBody>
      </p:sp>
      <p:sp>
        <p:nvSpPr>
          <p:cNvPr id="3" name="Diagrama de flujo: conector 2">
            <a:extLst>
              <a:ext uri="{FF2B5EF4-FFF2-40B4-BE49-F238E27FC236}">
                <a16:creationId xmlns:a16="http://schemas.microsoft.com/office/drawing/2014/main" id="{421D66B3-E70F-DD08-7CB6-61C0475013A5}"/>
              </a:ext>
            </a:extLst>
          </p:cNvPr>
          <p:cNvSpPr/>
          <p:nvPr/>
        </p:nvSpPr>
        <p:spPr>
          <a:xfrm>
            <a:off x="2694406" y="160300"/>
            <a:ext cx="3307739" cy="375782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50" name="Título 1">
            <a:extLst>
              <a:ext uri="{FF2B5EF4-FFF2-40B4-BE49-F238E27FC236}">
                <a16:creationId xmlns:a16="http://schemas.microsoft.com/office/drawing/2014/main" id="{7B4969B4-5ECD-DE2D-5455-84D04662F7E8}"/>
              </a:ext>
            </a:extLst>
          </p:cNvPr>
          <p:cNvSpPr txBox="1">
            <a:spLocks/>
          </p:cNvSpPr>
          <p:nvPr/>
        </p:nvSpPr>
        <p:spPr>
          <a:xfrm>
            <a:off x="203649" y="184283"/>
            <a:ext cx="11784702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09917087-C496-C51C-CBAE-CEF4BBCDF9D4}"/>
              </a:ext>
            </a:extLst>
          </p:cNvPr>
          <p:cNvSpPr/>
          <p:nvPr/>
        </p:nvSpPr>
        <p:spPr>
          <a:xfrm>
            <a:off x="3518839" y="3922011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09DF9F53-BBCF-274D-6185-0DA2F93BC1D5}"/>
              </a:ext>
            </a:extLst>
          </p:cNvPr>
          <p:cNvSpPr/>
          <p:nvPr/>
        </p:nvSpPr>
        <p:spPr>
          <a:xfrm>
            <a:off x="2162046" y="5383470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s-MX" dirty="0"/>
          </a:p>
        </p:txBody>
      </p: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7276217C-BE3D-DD30-1304-B8FE78565356}"/>
              </a:ext>
            </a:extLst>
          </p:cNvPr>
          <p:cNvCxnSpPr>
            <a:cxnSpLocks/>
          </p:cNvCxnSpPr>
          <p:nvPr/>
        </p:nvCxnSpPr>
        <p:spPr>
          <a:xfrm>
            <a:off x="1859378" y="5187371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AE8C8AA4-7D7E-1A77-18A0-5402EBDC1B30}"/>
              </a:ext>
            </a:extLst>
          </p:cNvPr>
          <p:cNvCxnSpPr>
            <a:cxnSpLocks/>
          </p:cNvCxnSpPr>
          <p:nvPr/>
        </p:nvCxnSpPr>
        <p:spPr>
          <a:xfrm flipV="1">
            <a:off x="1859378" y="5585975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D59F18DE-64DA-7033-4629-CDE936E999F9}"/>
              </a:ext>
            </a:extLst>
          </p:cNvPr>
          <p:cNvCxnSpPr>
            <a:cxnSpLocks/>
          </p:cNvCxnSpPr>
          <p:nvPr/>
        </p:nvCxnSpPr>
        <p:spPr>
          <a:xfrm flipV="1">
            <a:off x="2208546" y="5187371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 55">
            <a:extLst>
              <a:ext uri="{FF2B5EF4-FFF2-40B4-BE49-F238E27FC236}">
                <a16:creationId xmlns:a16="http://schemas.microsoft.com/office/drawing/2014/main" id="{7E039CFC-C2EE-AE39-A9D0-CEBAE3C2A0F5}"/>
              </a:ext>
            </a:extLst>
          </p:cNvPr>
          <p:cNvSpPr/>
          <p:nvPr/>
        </p:nvSpPr>
        <p:spPr>
          <a:xfrm>
            <a:off x="3543479" y="491965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0EBFA24C-60B6-E0EC-5383-3420C479502B}"/>
              </a:ext>
            </a:extLst>
          </p:cNvPr>
          <p:cNvSpPr/>
          <p:nvPr/>
        </p:nvSpPr>
        <p:spPr>
          <a:xfrm>
            <a:off x="1557988" y="4256077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B7807D5A-4E48-7D3D-959C-08120332F34E}"/>
              </a:ext>
            </a:extLst>
          </p:cNvPr>
          <p:cNvCxnSpPr>
            <a:cxnSpLocks/>
          </p:cNvCxnSpPr>
          <p:nvPr/>
        </p:nvCxnSpPr>
        <p:spPr>
          <a:xfrm>
            <a:off x="426834" y="4720074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D6F160F3-85D1-392E-E1D9-77BFAB847D89}"/>
              </a:ext>
            </a:extLst>
          </p:cNvPr>
          <p:cNvCxnSpPr>
            <a:cxnSpLocks/>
          </p:cNvCxnSpPr>
          <p:nvPr/>
        </p:nvCxnSpPr>
        <p:spPr>
          <a:xfrm>
            <a:off x="2472388" y="4744137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ítulo 1">
            <a:extLst>
              <a:ext uri="{FF2B5EF4-FFF2-40B4-BE49-F238E27FC236}">
                <a16:creationId xmlns:a16="http://schemas.microsoft.com/office/drawing/2014/main" id="{3ED11415-AA6F-25BD-CC35-0DAAED3AA55F}"/>
              </a:ext>
            </a:extLst>
          </p:cNvPr>
          <p:cNvSpPr txBox="1">
            <a:spLocks/>
          </p:cNvSpPr>
          <p:nvPr/>
        </p:nvSpPr>
        <p:spPr>
          <a:xfrm>
            <a:off x="835312" y="4462723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728C9BB2-9085-2ABF-DBEB-23710A1D8784}"/>
              </a:ext>
            </a:extLst>
          </p:cNvPr>
          <p:cNvCxnSpPr>
            <a:cxnSpLocks/>
          </p:cNvCxnSpPr>
          <p:nvPr/>
        </p:nvCxnSpPr>
        <p:spPr>
          <a:xfrm flipV="1">
            <a:off x="2475297" y="4075325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ítulo 1">
            <a:extLst>
              <a:ext uri="{FF2B5EF4-FFF2-40B4-BE49-F238E27FC236}">
                <a16:creationId xmlns:a16="http://schemas.microsoft.com/office/drawing/2014/main" id="{4171CCD6-F366-B384-935D-0552D050783C}"/>
              </a:ext>
            </a:extLst>
          </p:cNvPr>
          <p:cNvSpPr txBox="1">
            <a:spLocks/>
          </p:cNvSpPr>
          <p:nvPr/>
        </p:nvSpPr>
        <p:spPr>
          <a:xfrm>
            <a:off x="1840901" y="3976137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63" name="Título 1">
            <a:extLst>
              <a:ext uri="{FF2B5EF4-FFF2-40B4-BE49-F238E27FC236}">
                <a16:creationId xmlns:a16="http://schemas.microsoft.com/office/drawing/2014/main" id="{9FC639AD-290B-793A-0448-249CA89A310B}"/>
              </a:ext>
            </a:extLst>
          </p:cNvPr>
          <p:cNvSpPr txBox="1">
            <a:spLocks/>
          </p:cNvSpPr>
          <p:nvPr/>
        </p:nvSpPr>
        <p:spPr>
          <a:xfrm>
            <a:off x="3787146" y="4436132"/>
            <a:ext cx="1924306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: decisión en la</a:t>
            </a:r>
          </a:p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lógica de predicados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F8548640-A79B-235E-33E5-CDBE9CC8CD74}"/>
              </a:ext>
            </a:extLst>
          </p:cNvPr>
          <p:cNvSpPr/>
          <p:nvPr/>
        </p:nvSpPr>
        <p:spPr>
          <a:xfrm>
            <a:off x="11387110" y="3883336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F415B551-9D90-AD7D-CC5F-45E398FC4686}"/>
              </a:ext>
            </a:extLst>
          </p:cNvPr>
          <p:cNvSpPr/>
          <p:nvPr/>
        </p:nvSpPr>
        <p:spPr>
          <a:xfrm>
            <a:off x="11443550" y="4880982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EF598A10-93EB-4B54-688D-BA5B8F58EC4D}"/>
              </a:ext>
            </a:extLst>
          </p:cNvPr>
          <p:cNvSpPr/>
          <p:nvPr/>
        </p:nvSpPr>
        <p:spPr>
          <a:xfrm>
            <a:off x="9426259" y="4217402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C0AB376D-1A06-EFDA-203C-EEC5BDC58A64}"/>
              </a:ext>
            </a:extLst>
          </p:cNvPr>
          <p:cNvCxnSpPr>
            <a:cxnSpLocks/>
          </p:cNvCxnSpPr>
          <p:nvPr/>
        </p:nvCxnSpPr>
        <p:spPr>
          <a:xfrm>
            <a:off x="8295105" y="4681399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E42928BB-869A-5EE6-0A09-2C6A9E68FF11}"/>
              </a:ext>
            </a:extLst>
          </p:cNvPr>
          <p:cNvCxnSpPr>
            <a:cxnSpLocks/>
          </p:cNvCxnSpPr>
          <p:nvPr/>
        </p:nvCxnSpPr>
        <p:spPr>
          <a:xfrm>
            <a:off x="10340659" y="4705462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ítulo 1">
            <a:extLst>
              <a:ext uri="{FF2B5EF4-FFF2-40B4-BE49-F238E27FC236}">
                <a16:creationId xmlns:a16="http://schemas.microsoft.com/office/drawing/2014/main" id="{F8F2C909-9BF1-C1C5-2081-FCB117B8889F}"/>
              </a:ext>
            </a:extLst>
          </p:cNvPr>
          <p:cNvSpPr txBox="1">
            <a:spLocks/>
          </p:cNvSpPr>
          <p:nvPr/>
        </p:nvSpPr>
        <p:spPr>
          <a:xfrm>
            <a:off x="8703583" y="4424048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FF89FE45-61DC-B6FA-3371-318E92567335}"/>
              </a:ext>
            </a:extLst>
          </p:cNvPr>
          <p:cNvCxnSpPr>
            <a:cxnSpLocks/>
          </p:cNvCxnSpPr>
          <p:nvPr/>
        </p:nvCxnSpPr>
        <p:spPr>
          <a:xfrm flipV="1">
            <a:off x="10343568" y="4036650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ítulo 1">
            <a:extLst>
              <a:ext uri="{FF2B5EF4-FFF2-40B4-BE49-F238E27FC236}">
                <a16:creationId xmlns:a16="http://schemas.microsoft.com/office/drawing/2014/main" id="{9869DCB6-CC27-6251-B812-ABECD3C73780}"/>
              </a:ext>
            </a:extLst>
          </p:cNvPr>
          <p:cNvSpPr txBox="1">
            <a:spLocks/>
          </p:cNvSpPr>
          <p:nvPr/>
        </p:nvSpPr>
        <p:spPr>
          <a:xfrm>
            <a:off x="9709172" y="3937462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76" name="Título 1">
            <a:extLst>
              <a:ext uri="{FF2B5EF4-FFF2-40B4-BE49-F238E27FC236}">
                <a16:creationId xmlns:a16="http://schemas.microsoft.com/office/drawing/2014/main" id="{FC593430-199B-7B80-B2F5-E5C371B70BC3}"/>
              </a:ext>
            </a:extLst>
          </p:cNvPr>
          <p:cNvSpPr txBox="1">
            <a:spLocks/>
          </p:cNvSpPr>
          <p:nvPr/>
        </p:nvSpPr>
        <p:spPr>
          <a:xfrm>
            <a:off x="6303136" y="4427351"/>
            <a:ext cx="2156399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: decisión en</a:t>
            </a:r>
          </a:p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los números reales</a:t>
            </a:r>
          </a:p>
        </p:txBody>
      </p: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984506CA-51F7-027D-D5F0-5115BF4C399B}"/>
              </a:ext>
            </a:extLst>
          </p:cNvPr>
          <p:cNvCxnSpPr>
            <a:cxnSpLocks/>
          </p:cNvCxnSpPr>
          <p:nvPr/>
        </p:nvCxnSpPr>
        <p:spPr>
          <a:xfrm flipH="1">
            <a:off x="2075515" y="1764186"/>
            <a:ext cx="1657485" cy="211915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C725E204-BA82-022D-55DA-A20486511BF2}"/>
              </a:ext>
            </a:extLst>
          </p:cNvPr>
          <p:cNvCxnSpPr>
            <a:cxnSpLocks/>
          </p:cNvCxnSpPr>
          <p:nvPr/>
        </p:nvCxnSpPr>
        <p:spPr>
          <a:xfrm>
            <a:off x="7104266" y="1781164"/>
            <a:ext cx="2797215" cy="211747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ítulo 1">
            <a:extLst>
              <a:ext uri="{FF2B5EF4-FFF2-40B4-BE49-F238E27FC236}">
                <a16:creationId xmlns:a16="http://schemas.microsoft.com/office/drawing/2014/main" id="{E887CCA1-CD83-59AF-5D86-26D578F9F07C}"/>
              </a:ext>
            </a:extLst>
          </p:cNvPr>
          <p:cNvSpPr txBox="1">
            <a:spLocks/>
          </p:cNvSpPr>
          <p:nvPr/>
        </p:nvSpPr>
        <p:spPr>
          <a:xfrm>
            <a:off x="4389541" y="5859365"/>
            <a:ext cx="4165313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en la práctica “se igualan”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F2779BD2-1CB0-166C-D7B0-06C9942C7A97}"/>
              </a:ext>
            </a:extLst>
          </p:cNvPr>
          <p:cNvSpPr txBox="1"/>
          <p:nvPr/>
        </p:nvSpPr>
        <p:spPr>
          <a:xfrm>
            <a:off x="3953135" y="4886992"/>
            <a:ext cx="1742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EN GENERAL INDECIDIBLE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71981FB2-140C-5F43-68BB-9D04DAF5D1E6}"/>
              </a:ext>
            </a:extLst>
          </p:cNvPr>
          <p:cNvSpPr txBox="1"/>
          <p:nvPr/>
        </p:nvSpPr>
        <p:spPr>
          <a:xfrm>
            <a:off x="5720453" y="4892862"/>
            <a:ext cx="3846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DECIDIBLE PERO EN GENERAL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 MODO MUY 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INEFICIENTE</a:t>
            </a:r>
          </a:p>
        </p:txBody>
      </p:sp>
    </p:spTree>
    <p:extLst>
      <p:ext uri="{BB962C8B-B14F-4D97-AF65-F5344CB8AC3E}">
        <p14:creationId xmlns:p14="http://schemas.microsoft.com/office/powerpoint/2010/main" val="321673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434846CF-79E0-4565-8F66-D2532AB3E717}"/>
              </a:ext>
            </a:extLst>
          </p:cNvPr>
          <p:cNvSpPr txBox="1">
            <a:spLocks/>
          </p:cNvSpPr>
          <p:nvPr/>
        </p:nvSpPr>
        <p:spPr>
          <a:xfrm>
            <a:off x="3184589" y="561548"/>
            <a:ext cx="2342827" cy="335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problemas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B4DF858-D81D-40E8-9AC8-1F6707B38E66}"/>
              </a:ext>
            </a:extLst>
          </p:cNvPr>
          <p:cNvSpPr txBox="1">
            <a:spLocks/>
          </p:cNvSpPr>
          <p:nvPr/>
        </p:nvSpPr>
        <p:spPr>
          <a:xfrm>
            <a:off x="3606661" y="2526701"/>
            <a:ext cx="1531752" cy="314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63D10A8A-FA0E-4A50-8CCF-45CAD2EAAC6D}"/>
              </a:ext>
            </a:extLst>
          </p:cNvPr>
          <p:cNvSpPr txBox="1">
            <a:spLocks/>
          </p:cNvSpPr>
          <p:nvPr/>
        </p:nvSpPr>
        <p:spPr>
          <a:xfrm>
            <a:off x="3447471" y="1348905"/>
            <a:ext cx="1903711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computables</a:t>
            </a: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ED064D08-76F6-439F-B4C7-729846132ED9}"/>
              </a:ext>
            </a:extLst>
          </p:cNvPr>
          <p:cNvSpPr/>
          <p:nvPr/>
        </p:nvSpPr>
        <p:spPr>
          <a:xfrm>
            <a:off x="2520539" y="133678"/>
            <a:ext cx="3650414" cy="3782733"/>
          </a:xfrm>
          <a:prstGeom prst="flowChartConnector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FB5DABD9-24C2-4684-BA13-F8546430DEF8}"/>
              </a:ext>
            </a:extLst>
          </p:cNvPr>
          <p:cNvSpPr/>
          <p:nvPr/>
        </p:nvSpPr>
        <p:spPr>
          <a:xfrm>
            <a:off x="3124719" y="1109001"/>
            <a:ext cx="2464161" cy="27605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CD79543B-325B-4BD1-B2EB-34B25EC7506B}"/>
              </a:ext>
            </a:extLst>
          </p:cNvPr>
          <p:cNvSpPr/>
          <p:nvPr/>
        </p:nvSpPr>
        <p:spPr>
          <a:xfrm>
            <a:off x="3617148" y="1764186"/>
            <a:ext cx="1564358" cy="1859759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Diagrama de flujo: conector 36">
            <a:extLst>
              <a:ext uri="{FF2B5EF4-FFF2-40B4-BE49-F238E27FC236}">
                <a16:creationId xmlns:a16="http://schemas.microsoft.com/office/drawing/2014/main" id="{C7830507-9E6D-418A-B46F-228290446FB6}"/>
              </a:ext>
            </a:extLst>
          </p:cNvPr>
          <p:cNvSpPr/>
          <p:nvPr/>
        </p:nvSpPr>
        <p:spPr>
          <a:xfrm>
            <a:off x="6504941" y="162011"/>
            <a:ext cx="3488800" cy="3757821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22C3208-0999-412E-BFF8-63D185682304}"/>
              </a:ext>
            </a:extLst>
          </p:cNvPr>
          <p:cNvCxnSpPr>
            <a:cxnSpLocks/>
          </p:cNvCxnSpPr>
          <p:nvPr/>
        </p:nvCxnSpPr>
        <p:spPr>
          <a:xfrm flipV="1">
            <a:off x="4167976" y="228329"/>
            <a:ext cx="3579885" cy="157549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6B5C373-AEFF-42CB-8618-121532DD9E78}"/>
              </a:ext>
            </a:extLst>
          </p:cNvPr>
          <p:cNvCxnSpPr>
            <a:cxnSpLocks/>
          </p:cNvCxnSpPr>
          <p:nvPr/>
        </p:nvCxnSpPr>
        <p:spPr>
          <a:xfrm>
            <a:off x="4310597" y="3654519"/>
            <a:ext cx="3902795" cy="28317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FD3E59ED-66BA-46A7-9882-D7C201C897D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9DE9D5D9-37CC-0B12-55A2-5C7BDF32A9BA}"/>
              </a:ext>
            </a:extLst>
          </p:cNvPr>
          <p:cNvSpPr txBox="1">
            <a:spLocks/>
          </p:cNvSpPr>
          <p:nvPr/>
        </p:nvSpPr>
        <p:spPr>
          <a:xfrm>
            <a:off x="6691328" y="1232232"/>
            <a:ext cx="3142407" cy="349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intratables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(sin algoritmos eficientes)</a:t>
            </a: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206587C2-069B-DF3C-3E11-9C53C8D055D9}"/>
              </a:ext>
            </a:extLst>
          </p:cNvPr>
          <p:cNvCxnSpPr>
            <a:cxnSpLocks/>
          </p:cNvCxnSpPr>
          <p:nvPr/>
        </p:nvCxnSpPr>
        <p:spPr>
          <a:xfrm rot="60000" flipV="1">
            <a:off x="6484847" y="2030526"/>
            <a:ext cx="3541866" cy="78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0ED7C92B-A9B1-9C59-FDA0-70A1DFC0CA8B}"/>
              </a:ext>
            </a:extLst>
          </p:cNvPr>
          <p:cNvSpPr txBox="1">
            <a:spLocks/>
          </p:cNvSpPr>
          <p:nvPr/>
        </p:nvSpPr>
        <p:spPr>
          <a:xfrm>
            <a:off x="6560066" y="2495000"/>
            <a:ext cx="3435642" cy="4024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(con algoritmos eficientes)</a:t>
            </a:r>
          </a:p>
        </p:txBody>
      </p:sp>
      <p:sp>
        <p:nvSpPr>
          <p:cNvPr id="3" name="Diagrama de flujo: conector 2">
            <a:extLst>
              <a:ext uri="{FF2B5EF4-FFF2-40B4-BE49-F238E27FC236}">
                <a16:creationId xmlns:a16="http://schemas.microsoft.com/office/drawing/2014/main" id="{421D66B3-E70F-DD08-7CB6-61C0475013A5}"/>
              </a:ext>
            </a:extLst>
          </p:cNvPr>
          <p:cNvSpPr/>
          <p:nvPr/>
        </p:nvSpPr>
        <p:spPr>
          <a:xfrm>
            <a:off x="2694406" y="160300"/>
            <a:ext cx="3307739" cy="375782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50" name="Título 1">
            <a:extLst>
              <a:ext uri="{FF2B5EF4-FFF2-40B4-BE49-F238E27FC236}">
                <a16:creationId xmlns:a16="http://schemas.microsoft.com/office/drawing/2014/main" id="{7B4969B4-5ECD-DE2D-5455-84D04662F7E8}"/>
              </a:ext>
            </a:extLst>
          </p:cNvPr>
          <p:cNvSpPr txBox="1">
            <a:spLocks/>
          </p:cNvSpPr>
          <p:nvPr/>
        </p:nvSpPr>
        <p:spPr>
          <a:xfrm>
            <a:off x="203649" y="184283"/>
            <a:ext cx="11784702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7E05D15-5F1E-B2E6-70C5-CD552C9BDD76}"/>
              </a:ext>
            </a:extLst>
          </p:cNvPr>
          <p:cNvSpPr/>
          <p:nvPr/>
        </p:nvSpPr>
        <p:spPr>
          <a:xfrm>
            <a:off x="7479031" y="4054405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EFE21B5-7DDD-1681-3FD8-1E282F55F242}"/>
              </a:ext>
            </a:extLst>
          </p:cNvPr>
          <p:cNvSpPr/>
          <p:nvPr/>
        </p:nvSpPr>
        <p:spPr>
          <a:xfrm>
            <a:off x="7556592" y="5003743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6739D80-F472-9752-C80B-0699C39254A4}"/>
              </a:ext>
            </a:extLst>
          </p:cNvPr>
          <p:cNvSpPr/>
          <p:nvPr/>
        </p:nvSpPr>
        <p:spPr>
          <a:xfrm>
            <a:off x="5518180" y="4388471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BC35E85-055F-65ED-78CC-F84740B5A855}"/>
              </a:ext>
            </a:extLst>
          </p:cNvPr>
          <p:cNvCxnSpPr>
            <a:cxnSpLocks/>
          </p:cNvCxnSpPr>
          <p:nvPr/>
        </p:nvCxnSpPr>
        <p:spPr>
          <a:xfrm>
            <a:off x="4387026" y="4852468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7D306F2-75DD-0354-F5DF-EF91BDE4D0D1}"/>
              </a:ext>
            </a:extLst>
          </p:cNvPr>
          <p:cNvCxnSpPr>
            <a:cxnSpLocks/>
          </p:cNvCxnSpPr>
          <p:nvPr/>
        </p:nvCxnSpPr>
        <p:spPr>
          <a:xfrm>
            <a:off x="6432580" y="4876531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>
            <a:extLst>
              <a:ext uri="{FF2B5EF4-FFF2-40B4-BE49-F238E27FC236}">
                <a16:creationId xmlns:a16="http://schemas.microsoft.com/office/drawing/2014/main" id="{5F2A0C14-EB93-6CA7-B9F5-507C9D0A7282}"/>
              </a:ext>
            </a:extLst>
          </p:cNvPr>
          <p:cNvSpPr txBox="1">
            <a:spLocks/>
          </p:cNvSpPr>
          <p:nvPr/>
        </p:nvSpPr>
        <p:spPr>
          <a:xfrm>
            <a:off x="4795504" y="4595117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5BBC2E7-9A6B-B9AD-A500-9A6BFEA3B647}"/>
              </a:ext>
            </a:extLst>
          </p:cNvPr>
          <p:cNvCxnSpPr>
            <a:cxnSpLocks/>
          </p:cNvCxnSpPr>
          <p:nvPr/>
        </p:nvCxnSpPr>
        <p:spPr>
          <a:xfrm flipV="1">
            <a:off x="6435489" y="4207719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ítulo 1">
            <a:extLst>
              <a:ext uri="{FF2B5EF4-FFF2-40B4-BE49-F238E27FC236}">
                <a16:creationId xmlns:a16="http://schemas.microsoft.com/office/drawing/2014/main" id="{EF7ED503-13CA-402F-971E-DFFCDCB22A8C}"/>
              </a:ext>
            </a:extLst>
          </p:cNvPr>
          <p:cNvSpPr txBox="1">
            <a:spLocks/>
          </p:cNvSpPr>
          <p:nvPr/>
        </p:nvSpPr>
        <p:spPr>
          <a:xfrm>
            <a:off x="5801093" y="4108531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658B29A-661D-1426-8E2E-CF5879165D96}"/>
              </a:ext>
            </a:extLst>
          </p:cNvPr>
          <p:cNvCxnSpPr>
            <a:cxnSpLocks/>
          </p:cNvCxnSpPr>
          <p:nvPr/>
        </p:nvCxnSpPr>
        <p:spPr>
          <a:xfrm flipH="1">
            <a:off x="5975380" y="3113113"/>
            <a:ext cx="2273953" cy="91252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ítulo 1">
            <a:extLst>
              <a:ext uri="{FF2B5EF4-FFF2-40B4-BE49-F238E27FC236}">
                <a16:creationId xmlns:a16="http://schemas.microsoft.com/office/drawing/2014/main" id="{148ED8B7-ABF4-F87A-C909-E532CAFE40AE}"/>
              </a:ext>
            </a:extLst>
          </p:cNvPr>
          <p:cNvSpPr txBox="1">
            <a:spLocks/>
          </p:cNvSpPr>
          <p:nvPr/>
        </p:nvSpPr>
        <p:spPr>
          <a:xfrm>
            <a:off x="4612490" y="5388156"/>
            <a:ext cx="2876751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MT con varias cintas</a:t>
            </a:r>
          </a:p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MX" sz="1400" u="sng" dirty="0">
                <a:latin typeface="Arial" panose="020B0604020202020204" pitchFamily="34" charset="0"/>
                <a:cs typeface="Arial" panose="020B0604020202020204" pitchFamily="34" charset="0"/>
              </a:rPr>
              <a:t>tiempo polinomial</a:t>
            </a:r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4180F51E-C48E-BBE0-06BE-EB751BEE2069}"/>
              </a:ext>
            </a:extLst>
          </p:cNvPr>
          <p:cNvSpPr txBox="1">
            <a:spLocks/>
          </p:cNvSpPr>
          <p:nvPr/>
        </p:nvSpPr>
        <p:spPr>
          <a:xfrm>
            <a:off x="3348256" y="5983113"/>
            <a:ext cx="5725786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convención aceptada universalmente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B856D27A-C976-8469-955C-1E8840858230}"/>
              </a:ext>
            </a:extLst>
          </p:cNvPr>
          <p:cNvSpPr txBox="1">
            <a:spLocks/>
          </p:cNvSpPr>
          <p:nvPr/>
        </p:nvSpPr>
        <p:spPr>
          <a:xfrm>
            <a:off x="2545872" y="4263768"/>
            <a:ext cx="1821829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operaciones aritméticas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9DB3FD76-75A3-6A5D-FD0F-3D446CBE664A}"/>
              </a:ext>
            </a:extLst>
          </p:cNvPr>
          <p:cNvSpPr txBox="1">
            <a:spLocks/>
          </p:cNvSpPr>
          <p:nvPr/>
        </p:nvSpPr>
        <p:spPr>
          <a:xfrm>
            <a:off x="2545871" y="4833191"/>
            <a:ext cx="1821829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búsqueda de un camino en un grafo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864840C1-64D7-D51C-1531-2F1724D833B9}"/>
              </a:ext>
            </a:extLst>
          </p:cNvPr>
          <p:cNvSpPr txBox="1">
            <a:spLocks/>
          </p:cNvSpPr>
          <p:nvPr/>
        </p:nvSpPr>
        <p:spPr>
          <a:xfrm>
            <a:off x="2557785" y="5391269"/>
            <a:ext cx="1821829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ordenamiento de un arreglo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77F8F914-21B8-DC8F-6C21-FEA47345B2BF}"/>
              </a:ext>
            </a:extLst>
          </p:cNvPr>
          <p:cNvSpPr txBox="1">
            <a:spLocks/>
          </p:cNvSpPr>
          <p:nvPr/>
        </p:nvSpPr>
        <p:spPr>
          <a:xfrm>
            <a:off x="8249335" y="4260655"/>
            <a:ext cx="1821829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máximo común divisor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C6912A91-76F3-E183-1098-D09675DEF74A}"/>
              </a:ext>
            </a:extLst>
          </p:cNvPr>
          <p:cNvSpPr txBox="1">
            <a:spLocks/>
          </p:cNvSpPr>
          <p:nvPr/>
        </p:nvSpPr>
        <p:spPr>
          <a:xfrm>
            <a:off x="8249333" y="4830078"/>
            <a:ext cx="2199277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búsqueda del máximo flujo en una red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EEA28897-EC68-1F80-B7A1-FD1750B99C75}"/>
              </a:ext>
            </a:extLst>
          </p:cNvPr>
          <p:cNvSpPr txBox="1">
            <a:spLocks/>
          </p:cNvSpPr>
          <p:nvPr/>
        </p:nvSpPr>
        <p:spPr>
          <a:xfrm>
            <a:off x="8261248" y="5388156"/>
            <a:ext cx="1821829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multiplicación de matrices</a:t>
            </a:r>
          </a:p>
        </p:txBody>
      </p:sp>
    </p:spTree>
    <p:extLst>
      <p:ext uri="{BB962C8B-B14F-4D97-AF65-F5344CB8AC3E}">
        <p14:creationId xmlns:p14="http://schemas.microsoft.com/office/powerpoint/2010/main" val="48026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434846CF-79E0-4565-8F66-D2532AB3E717}"/>
              </a:ext>
            </a:extLst>
          </p:cNvPr>
          <p:cNvSpPr txBox="1">
            <a:spLocks/>
          </p:cNvSpPr>
          <p:nvPr/>
        </p:nvSpPr>
        <p:spPr>
          <a:xfrm>
            <a:off x="3184589" y="561548"/>
            <a:ext cx="2342827" cy="335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problemas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B4DF858-D81D-40E8-9AC8-1F6707B38E66}"/>
              </a:ext>
            </a:extLst>
          </p:cNvPr>
          <p:cNvSpPr txBox="1">
            <a:spLocks/>
          </p:cNvSpPr>
          <p:nvPr/>
        </p:nvSpPr>
        <p:spPr>
          <a:xfrm>
            <a:off x="3606661" y="2526701"/>
            <a:ext cx="1531752" cy="314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63D10A8A-FA0E-4A50-8CCF-45CAD2EAAC6D}"/>
              </a:ext>
            </a:extLst>
          </p:cNvPr>
          <p:cNvSpPr txBox="1">
            <a:spLocks/>
          </p:cNvSpPr>
          <p:nvPr/>
        </p:nvSpPr>
        <p:spPr>
          <a:xfrm>
            <a:off x="3447471" y="1348905"/>
            <a:ext cx="1903711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computables</a:t>
            </a: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ED064D08-76F6-439F-B4C7-729846132ED9}"/>
              </a:ext>
            </a:extLst>
          </p:cNvPr>
          <p:cNvSpPr/>
          <p:nvPr/>
        </p:nvSpPr>
        <p:spPr>
          <a:xfrm>
            <a:off x="2520539" y="133678"/>
            <a:ext cx="3650414" cy="3782733"/>
          </a:xfrm>
          <a:prstGeom prst="flowChartConnector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FB5DABD9-24C2-4684-BA13-F8546430DEF8}"/>
              </a:ext>
            </a:extLst>
          </p:cNvPr>
          <p:cNvSpPr/>
          <p:nvPr/>
        </p:nvSpPr>
        <p:spPr>
          <a:xfrm>
            <a:off x="3124719" y="1109001"/>
            <a:ext cx="2464161" cy="27605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CD79543B-325B-4BD1-B2EB-34B25EC7506B}"/>
              </a:ext>
            </a:extLst>
          </p:cNvPr>
          <p:cNvSpPr/>
          <p:nvPr/>
        </p:nvSpPr>
        <p:spPr>
          <a:xfrm>
            <a:off x="3617148" y="1764186"/>
            <a:ext cx="1564358" cy="1859759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Diagrama de flujo: conector 36">
            <a:extLst>
              <a:ext uri="{FF2B5EF4-FFF2-40B4-BE49-F238E27FC236}">
                <a16:creationId xmlns:a16="http://schemas.microsoft.com/office/drawing/2014/main" id="{C7830507-9E6D-418A-B46F-228290446FB6}"/>
              </a:ext>
            </a:extLst>
          </p:cNvPr>
          <p:cNvSpPr/>
          <p:nvPr/>
        </p:nvSpPr>
        <p:spPr>
          <a:xfrm>
            <a:off x="6504941" y="162011"/>
            <a:ext cx="3488800" cy="3757821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22C3208-0999-412E-BFF8-63D185682304}"/>
              </a:ext>
            </a:extLst>
          </p:cNvPr>
          <p:cNvCxnSpPr>
            <a:cxnSpLocks/>
          </p:cNvCxnSpPr>
          <p:nvPr/>
        </p:nvCxnSpPr>
        <p:spPr>
          <a:xfrm flipV="1">
            <a:off x="4167976" y="228329"/>
            <a:ext cx="3579885" cy="157549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6B5C373-AEFF-42CB-8618-121532DD9E78}"/>
              </a:ext>
            </a:extLst>
          </p:cNvPr>
          <p:cNvCxnSpPr>
            <a:cxnSpLocks/>
          </p:cNvCxnSpPr>
          <p:nvPr/>
        </p:nvCxnSpPr>
        <p:spPr>
          <a:xfrm>
            <a:off x="4349036" y="3645238"/>
            <a:ext cx="3902795" cy="28317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FD3E59ED-66BA-46A7-9882-D7C201C897D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9DE9D5D9-37CC-0B12-55A2-5C7BDF32A9BA}"/>
              </a:ext>
            </a:extLst>
          </p:cNvPr>
          <p:cNvSpPr txBox="1">
            <a:spLocks/>
          </p:cNvSpPr>
          <p:nvPr/>
        </p:nvSpPr>
        <p:spPr>
          <a:xfrm>
            <a:off x="6691328" y="1232232"/>
            <a:ext cx="3142407" cy="349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intratables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(sin algoritmos eficientes)</a:t>
            </a: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206587C2-069B-DF3C-3E11-9C53C8D055D9}"/>
              </a:ext>
            </a:extLst>
          </p:cNvPr>
          <p:cNvCxnSpPr>
            <a:cxnSpLocks/>
          </p:cNvCxnSpPr>
          <p:nvPr/>
        </p:nvCxnSpPr>
        <p:spPr>
          <a:xfrm rot="60000" flipV="1">
            <a:off x="6484847" y="2030526"/>
            <a:ext cx="3541866" cy="78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0ED7C92B-A9B1-9C59-FDA0-70A1DFC0CA8B}"/>
              </a:ext>
            </a:extLst>
          </p:cNvPr>
          <p:cNvSpPr txBox="1">
            <a:spLocks/>
          </p:cNvSpPr>
          <p:nvPr/>
        </p:nvSpPr>
        <p:spPr>
          <a:xfrm>
            <a:off x="6560066" y="2495000"/>
            <a:ext cx="3435642" cy="4024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(con algoritmos eficientes)</a:t>
            </a:r>
          </a:p>
        </p:txBody>
      </p:sp>
      <p:sp>
        <p:nvSpPr>
          <p:cNvPr id="3" name="Diagrama de flujo: conector 2">
            <a:extLst>
              <a:ext uri="{FF2B5EF4-FFF2-40B4-BE49-F238E27FC236}">
                <a16:creationId xmlns:a16="http://schemas.microsoft.com/office/drawing/2014/main" id="{421D66B3-E70F-DD08-7CB6-61C0475013A5}"/>
              </a:ext>
            </a:extLst>
          </p:cNvPr>
          <p:cNvSpPr/>
          <p:nvPr/>
        </p:nvSpPr>
        <p:spPr>
          <a:xfrm>
            <a:off x="2694406" y="160300"/>
            <a:ext cx="3307739" cy="375782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50" name="Título 1">
            <a:extLst>
              <a:ext uri="{FF2B5EF4-FFF2-40B4-BE49-F238E27FC236}">
                <a16:creationId xmlns:a16="http://schemas.microsoft.com/office/drawing/2014/main" id="{7B4969B4-5ECD-DE2D-5455-84D04662F7E8}"/>
              </a:ext>
            </a:extLst>
          </p:cNvPr>
          <p:cNvSpPr txBox="1">
            <a:spLocks/>
          </p:cNvSpPr>
          <p:nvPr/>
        </p:nvSpPr>
        <p:spPr>
          <a:xfrm>
            <a:off x="203649" y="184283"/>
            <a:ext cx="11784702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F8548640-A79B-235E-33E5-CDBE9CC8CD74}"/>
              </a:ext>
            </a:extLst>
          </p:cNvPr>
          <p:cNvSpPr/>
          <p:nvPr/>
        </p:nvSpPr>
        <p:spPr>
          <a:xfrm>
            <a:off x="4784477" y="4276786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F415B551-9D90-AD7D-CC5F-45E398FC4686}"/>
              </a:ext>
            </a:extLst>
          </p:cNvPr>
          <p:cNvSpPr/>
          <p:nvPr/>
        </p:nvSpPr>
        <p:spPr>
          <a:xfrm>
            <a:off x="4862038" y="522612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EF598A10-93EB-4B54-688D-BA5B8F58EC4D}"/>
              </a:ext>
            </a:extLst>
          </p:cNvPr>
          <p:cNvSpPr/>
          <p:nvPr/>
        </p:nvSpPr>
        <p:spPr>
          <a:xfrm>
            <a:off x="2823626" y="4610852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C0AB376D-1A06-EFDA-203C-EEC5BDC58A64}"/>
              </a:ext>
            </a:extLst>
          </p:cNvPr>
          <p:cNvCxnSpPr>
            <a:cxnSpLocks/>
          </p:cNvCxnSpPr>
          <p:nvPr/>
        </p:nvCxnSpPr>
        <p:spPr>
          <a:xfrm>
            <a:off x="1692472" y="5074849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E42928BB-869A-5EE6-0A09-2C6A9E68FF11}"/>
              </a:ext>
            </a:extLst>
          </p:cNvPr>
          <p:cNvCxnSpPr>
            <a:cxnSpLocks/>
          </p:cNvCxnSpPr>
          <p:nvPr/>
        </p:nvCxnSpPr>
        <p:spPr>
          <a:xfrm>
            <a:off x="3738026" y="5098912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ítulo 1">
            <a:extLst>
              <a:ext uri="{FF2B5EF4-FFF2-40B4-BE49-F238E27FC236}">
                <a16:creationId xmlns:a16="http://schemas.microsoft.com/office/drawing/2014/main" id="{F8F2C909-9BF1-C1C5-2081-FCB117B8889F}"/>
              </a:ext>
            </a:extLst>
          </p:cNvPr>
          <p:cNvSpPr txBox="1">
            <a:spLocks/>
          </p:cNvSpPr>
          <p:nvPr/>
        </p:nvSpPr>
        <p:spPr>
          <a:xfrm>
            <a:off x="2100950" y="4817498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FF89FE45-61DC-B6FA-3371-318E92567335}"/>
              </a:ext>
            </a:extLst>
          </p:cNvPr>
          <p:cNvCxnSpPr>
            <a:cxnSpLocks/>
          </p:cNvCxnSpPr>
          <p:nvPr/>
        </p:nvCxnSpPr>
        <p:spPr>
          <a:xfrm flipV="1">
            <a:off x="3740935" y="4430100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ítulo 1">
            <a:extLst>
              <a:ext uri="{FF2B5EF4-FFF2-40B4-BE49-F238E27FC236}">
                <a16:creationId xmlns:a16="http://schemas.microsoft.com/office/drawing/2014/main" id="{9869DCB6-CC27-6251-B812-ABECD3C73780}"/>
              </a:ext>
            </a:extLst>
          </p:cNvPr>
          <p:cNvSpPr txBox="1">
            <a:spLocks/>
          </p:cNvSpPr>
          <p:nvPr/>
        </p:nvSpPr>
        <p:spPr>
          <a:xfrm>
            <a:off x="3106539" y="4330912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C725E204-BA82-022D-55DA-A20486511BF2}"/>
              </a:ext>
            </a:extLst>
          </p:cNvPr>
          <p:cNvCxnSpPr>
            <a:cxnSpLocks/>
            <a:endCxn id="64" idx="0"/>
          </p:cNvCxnSpPr>
          <p:nvPr/>
        </p:nvCxnSpPr>
        <p:spPr>
          <a:xfrm flipH="1">
            <a:off x="4998638" y="3104479"/>
            <a:ext cx="3286413" cy="117230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3591962-6FAD-EE01-5D35-C21A654B0586}"/>
              </a:ext>
            </a:extLst>
          </p:cNvPr>
          <p:cNvSpPr/>
          <p:nvPr/>
        </p:nvSpPr>
        <p:spPr>
          <a:xfrm>
            <a:off x="9980821" y="4232880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E036405-72C2-22C1-29A1-BD8BC4C311D5}"/>
              </a:ext>
            </a:extLst>
          </p:cNvPr>
          <p:cNvSpPr/>
          <p:nvPr/>
        </p:nvSpPr>
        <p:spPr>
          <a:xfrm>
            <a:off x="10058382" y="518221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9A00BB3-A0C0-2725-78D4-533257E031DA}"/>
              </a:ext>
            </a:extLst>
          </p:cNvPr>
          <p:cNvSpPr/>
          <p:nvPr/>
        </p:nvSpPr>
        <p:spPr>
          <a:xfrm>
            <a:off x="8019970" y="4566946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E784D9EC-E1FF-B7B0-89F7-226D3569AFC1}"/>
              </a:ext>
            </a:extLst>
          </p:cNvPr>
          <p:cNvCxnSpPr>
            <a:cxnSpLocks/>
          </p:cNvCxnSpPr>
          <p:nvPr/>
        </p:nvCxnSpPr>
        <p:spPr>
          <a:xfrm>
            <a:off x="6888816" y="5030943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FE6DAE43-565B-6C6B-C7A5-126021860DD3}"/>
              </a:ext>
            </a:extLst>
          </p:cNvPr>
          <p:cNvCxnSpPr>
            <a:cxnSpLocks/>
          </p:cNvCxnSpPr>
          <p:nvPr/>
        </p:nvCxnSpPr>
        <p:spPr>
          <a:xfrm>
            <a:off x="8934370" y="5055006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ítulo 1">
            <a:extLst>
              <a:ext uri="{FF2B5EF4-FFF2-40B4-BE49-F238E27FC236}">
                <a16:creationId xmlns:a16="http://schemas.microsoft.com/office/drawing/2014/main" id="{B88AE4C1-65C8-7B37-4CE6-3233EE830285}"/>
              </a:ext>
            </a:extLst>
          </p:cNvPr>
          <p:cNvSpPr txBox="1">
            <a:spLocks/>
          </p:cNvSpPr>
          <p:nvPr/>
        </p:nvSpPr>
        <p:spPr>
          <a:xfrm>
            <a:off x="7297294" y="4773592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DB07081-092E-46EF-089B-0B3B7CB68ACD}"/>
              </a:ext>
            </a:extLst>
          </p:cNvPr>
          <p:cNvCxnSpPr>
            <a:cxnSpLocks/>
          </p:cNvCxnSpPr>
          <p:nvPr/>
        </p:nvCxnSpPr>
        <p:spPr>
          <a:xfrm flipV="1">
            <a:off x="8937279" y="4386194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ítulo 1">
            <a:extLst>
              <a:ext uri="{FF2B5EF4-FFF2-40B4-BE49-F238E27FC236}">
                <a16:creationId xmlns:a16="http://schemas.microsoft.com/office/drawing/2014/main" id="{0E406039-581E-DBD0-B158-EBB305BBDA20}"/>
              </a:ext>
            </a:extLst>
          </p:cNvPr>
          <p:cNvSpPr txBox="1">
            <a:spLocks/>
          </p:cNvSpPr>
          <p:nvPr/>
        </p:nvSpPr>
        <p:spPr>
          <a:xfrm>
            <a:off x="8302883" y="4287006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9E8214E9-DE98-3800-E895-38E0E1083C9E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8283124" y="3112951"/>
            <a:ext cx="1911858" cy="1119929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ítulo 1">
            <a:extLst>
              <a:ext uri="{FF2B5EF4-FFF2-40B4-BE49-F238E27FC236}">
                <a16:creationId xmlns:a16="http://schemas.microsoft.com/office/drawing/2014/main" id="{148ED8B7-ABF4-F87A-C909-E532CAFE40AE}"/>
              </a:ext>
            </a:extLst>
          </p:cNvPr>
          <p:cNvSpPr txBox="1">
            <a:spLocks/>
          </p:cNvSpPr>
          <p:nvPr/>
        </p:nvSpPr>
        <p:spPr>
          <a:xfrm>
            <a:off x="1866269" y="5511678"/>
            <a:ext cx="2876751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máquina probabilística</a:t>
            </a:r>
          </a:p>
        </p:txBody>
      </p:sp>
      <p:sp>
        <p:nvSpPr>
          <p:cNvPr id="42" name="Título 1">
            <a:extLst>
              <a:ext uri="{FF2B5EF4-FFF2-40B4-BE49-F238E27FC236}">
                <a16:creationId xmlns:a16="http://schemas.microsoft.com/office/drawing/2014/main" id="{E43CB9AB-5320-A8DA-4114-300C8F451710}"/>
              </a:ext>
            </a:extLst>
          </p:cNvPr>
          <p:cNvSpPr txBox="1">
            <a:spLocks/>
          </p:cNvSpPr>
          <p:nvPr/>
        </p:nvSpPr>
        <p:spPr>
          <a:xfrm>
            <a:off x="7104070" y="5477203"/>
            <a:ext cx="2876751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máquina cuántica</a:t>
            </a:r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4180F51E-C48E-BBE0-06BE-EB751BEE2069}"/>
              </a:ext>
            </a:extLst>
          </p:cNvPr>
          <p:cNvSpPr txBox="1">
            <a:spLocks/>
          </p:cNvSpPr>
          <p:nvPr/>
        </p:nvSpPr>
        <p:spPr>
          <a:xfrm>
            <a:off x="0" y="6020937"/>
            <a:ext cx="12191999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adicionalmente: análisis en otros modelos computacionales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7D28354B-A692-6F17-A616-2619383A9042}"/>
              </a:ext>
            </a:extLst>
          </p:cNvPr>
          <p:cNvSpPr txBox="1">
            <a:spLocks/>
          </p:cNvSpPr>
          <p:nvPr/>
        </p:nvSpPr>
        <p:spPr>
          <a:xfrm>
            <a:off x="716888" y="4528338"/>
            <a:ext cx="2267081" cy="2968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igualdad de polinomios</a:t>
            </a: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8B4F83B5-ED92-E6ED-4471-E495C5B4A496}"/>
              </a:ext>
            </a:extLst>
          </p:cNvPr>
          <p:cNvSpPr txBox="1">
            <a:spLocks/>
          </p:cNvSpPr>
          <p:nvPr/>
        </p:nvSpPr>
        <p:spPr>
          <a:xfrm>
            <a:off x="6793031" y="4425054"/>
            <a:ext cx="1304053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factorización</a:t>
            </a:r>
          </a:p>
        </p:txBody>
      </p:sp>
    </p:spTree>
    <p:extLst>
      <p:ext uri="{BB962C8B-B14F-4D97-AF65-F5344CB8AC3E}">
        <p14:creationId xmlns:p14="http://schemas.microsoft.com/office/powerpoint/2010/main" val="102244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65FD6-332D-BA28-16CF-4D6D3ED00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B2F434C2-FAD2-6582-E346-880B820D6C18}"/>
              </a:ext>
            </a:extLst>
          </p:cNvPr>
          <p:cNvSpPr txBox="1">
            <a:spLocks/>
          </p:cNvSpPr>
          <p:nvPr/>
        </p:nvSpPr>
        <p:spPr>
          <a:xfrm>
            <a:off x="3184589" y="561548"/>
            <a:ext cx="2342827" cy="335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problemas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75EC9A72-76DB-CD58-9E73-AE5EF348D053}"/>
              </a:ext>
            </a:extLst>
          </p:cNvPr>
          <p:cNvSpPr txBox="1">
            <a:spLocks/>
          </p:cNvSpPr>
          <p:nvPr/>
        </p:nvSpPr>
        <p:spPr>
          <a:xfrm>
            <a:off x="3606661" y="2526701"/>
            <a:ext cx="1531752" cy="314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C28BB8E9-8E4F-C808-7900-F3D5EF847A99}"/>
              </a:ext>
            </a:extLst>
          </p:cNvPr>
          <p:cNvSpPr txBox="1">
            <a:spLocks/>
          </p:cNvSpPr>
          <p:nvPr/>
        </p:nvSpPr>
        <p:spPr>
          <a:xfrm>
            <a:off x="3447471" y="1348905"/>
            <a:ext cx="1903711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computables</a:t>
            </a: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3D5F60B0-A95B-8A90-29B0-C0F4DB04B8A5}"/>
              </a:ext>
            </a:extLst>
          </p:cNvPr>
          <p:cNvSpPr/>
          <p:nvPr/>
        </p:nvSpPr>
        <p:spPr>
          <a:xfrm>
            <a:off x="2520539" y="133678"/>
            <a:ext cx="3650414" cy="3782733"/>
          </a:xfrm>
          <a:prstGeom prst="flowChartConnector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322A2E27-9241-60FA-35E3-5023B6B111F8}"/>
              </a:ext>
            </a:extLst>
          </p:cNvPr>
          <p:cNvSpPr/>
          <p:nvPr/>
        </p:nvSpPr>
        <p:spPr>
          <a:xfrm>
            <a:off x="3124719" y="1109001"/>
            <a:ext cx="2464161" cy="27605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CAC8D401-A1EB-FDE9-F1E4-206B5E20ADD0}"/>
              </a:ext>
            </a:extLst>
          </p:cNvPr>
          <p:cNvSpPr/>
          <p:nvPr/>
        </p:nvSpPr>
        <p:spPr>
          <a:xfrm>
            <a:off x="3617148" y="1764186"/>
            <a:ext cx="1564358" cy="1859759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Diagrama de flujo: conector 36">
            <a:extLst>
              <a:ext uri="{FF2B5EF4-FFF2-40B4-BE49-F238E27FC236}">
                <a16:creationId xmlns:a16="http://schemas.microsoft.com/office/drawing/2014/main" id="{451B3394-4588-34E1-BC7F-EA4DA1056A48}"/>
              </a:ext>
            </a:extLst>
          </p:cNvPr>
          <p:cNvSpPr/>
          <p:nvPr/>
        </p:nvSpPr>
        <p:spPr>
          <a:xfrm>
            <a:off x="6504941" y="162011"/>
            <a:ext cx="3488800" cy="3757821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A75985E9-7EC7-87F8-A615-5F6DEF1B7CB5}"/>
              </a:ext>
            </a:extLst>
          </p:cNvPr>
          <p:cNvCxnSpPr>
            <a:cxnSpLocks/>
          </p:cNvCxnSpPr>
          <p:nvPr/>
        </p:nvCxnSpPr>
        <p:spPr>
          <a:xfrm flipV="1">
            <a:off x="4167976" y="228329"/>
            <a:ext cx="3579885" cy="157549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DB8C8790-7F70-4039-BFB9-D27681972D73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DE3FB3B6-07D6-A828-F1AC-2B073A8225AF}"/>
              </a:ext>
            </a:extLst>
          </p:cNvPr>
          <p:cNvSpPr txBox="1">
            <a:spLocks/>
          </p:cNvSpPr>
          <p:nvPr/>
        </p:nvSpPr>
        <p:spPr>
          <a:xfrm>
            <a:off x="6691328" y="1232232"/>
            <a:ext cx="3142407" cy="349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intratables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(sin algoritmos eficientes)</a:t>
            </a: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E0D8CF0E-098E-1ACC-986E-581F3CC7282D}"/>
              </a:ext>
            </a:extLst>
          </p:cNvPr>
          <p:cNvCxnSpPr>
            <a:cxnSpLocks/>
          </p:cNvCxnSpPr>
          <p:nvPr/>
        </p:nvCxnSpPr>
        <p:spPr>
          <a:xfrm rot="60000" flipV="1">
            <a:off x="6484847" y="2030526"/>
            <a:ext cx="3541866" cy="78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DD937107-643C-1B12-2199-E5AA3EC8622D}"/>
              </a:ext>
            </a:extLst>
          </p:cNvPr>
          <p:cNvSpPr txBox="1">
            <a:spLocks/>
          </p:cNvSpPr>
          <p:nvPr/>
        </p:nvSpPr>
        <p:spPr>
          <a:xfrm>
            <a:off x="6560066" y="2495000"/>
            <a:ext cx="3435642" cy="4024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(con algoritmos eficientes)</a:t>
            </a:r>
          </a:p>
        </p:txBody>
      </p:sp>
      <p:sp>
        <p:nvSpPr>
          <p:cNvPr id="3" name="Diagrama de flujo: conector 2">
            <a:extLst>
              <a:ext uri="{FF2B5EF4-FFF2-40B4-BE49-F238E27FC236}">
                <a16:creationId xmlns:a16="http://schemas.microsoft.com/office/drawing/2014/main" id="{7C38CCF5-275B-3C4F-4697-D043DDD5D534}"/>
              </a:ext>
            </a:extLst>
          </p:cNvPr>
          <p:cNvSpPr/>
          <p:nvPr/>
        </p:nvSpPr>
        <p:spPr>
          <a:xfrm>
            <a:off x="2694406" y="160300"/>
            <a:ext cx="3307739" cy="375782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50" name="Título 1">
            <a:extLst>
              <a:ext uri="{FF2B5EF4-FFF2-40B4-BE49-F238E27FC236}">
                <a16:creationId xmlns:a16="http://schemas.microsoft.com/office/drawing/2014/main" id="{FCACC2D1-2AA4-CAC7-8767-3A26D7561AA8}"/>
              </a:ext>
            </a:extLst>
          </p:cNvPr>
          <p:cNvSpPr txBox="1">
            <a:spLocks/>
          </p:cNvSpPr>
          <p:nvPr/>
        </p:nvSpPr>
        <p:spPr>
          <a:xfrm>
            <a:off x="203649" y="184283"/>
            <a:ext cx="11784702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5434896B-52D2-6E13-8A74-B36131224429}"/>
              </a:ext>
            </a:extLst>
          </p:cNvPr>
          <p:cNvCxnSpPr>
            <a:cxnSpLocks/>
          </p:cNvCxnSpPr>
          <p:nvPr/>
        </p:nvCxnSpPr>
        <p:spPr>
          <a:xfrm rot="360000">
            <a:off x="4348276" y="3918121"/>
            <a:ext cx="72414" cy="653387"/>
          </a:xfrm>
          <a:prstGeom prst="line">
            <a:avLst/>
          </a:prstGeom>
          <a:ln w="19050">
            <a:solidFill>
              <a:schemeClr val="accent1">
                <a:alpha val="9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78B93210-E9EC-5633-35D5-8065E946E9C8}"/>
              </a:ext>
            </a:extLst>
          </p:cNvPr>
          <p:cNvCxnSpPr>
            <a:cxnSpLocks/>
          </p:cNvCxnSpPr>
          <p:nvPr/>
        </p:nvCxnSpPr>
        <p:spPr>
          <a:xfrm rot="60000">
            <a:off x="8283301" y="3920943"/>
            <a:ext cx="26789" cy="62061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8A85C20F-7929-4707-A912-27CA724781C9}"/>
              </a:ext>
            </a:extLst>
          </p:cNvPr>
          <p:cNvCxnSpPr>
            <a:cxnSpLocks/>
          </p:cNvCxnSpPr>
          <p:nvPr/>
        </p:nvCxnSpPr>
        <p:spPr>
          <a:xfrm flipV="1">
            <a:off x="787940" y="4538328"/>
            <a:ext cx="10583694" cy="303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ítulo 1">
            <a:extLst>
              <a:ext uri="{FF2B5EF4-FFF2-40B4-BE49-F238E27FC236}">
                <a16:creationId xmlns:a16="http://schemas.microsoft.com/office/drawing/2014/main" id="{D478EA5F-2853-E5E5-E07B-F7E76EA16DC5}"/>
              </a:ext>
            </a:extLst>
          </p:cNvPr>
          <p:cNvSpPr txBox="1">
            <a:spLocks/>
          </p:cNvSpPr>
          <p:nvPr/>
        </p:nvSpPr>
        <p:spPr>
          <a:xfrm>
            <a:off x="730932" y="5509095"/>
            <a:ext cx="10734618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En ambos casos:</a:t>
            </a:r>
          </a:p>
          <a:p>
            <a:pPr algn="just"/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Análisis estructural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: enfocado no en problemas particulares sino en clases de problemas.</a:t>
            </a:r>
          </a:p>
          <a:p>
            <a:pPr algn="just"/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Objetivo: 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entender por qué algunos problemas son más difíciles que otros.</a:t>
            </a:r>
          </a:p>
          <a:p>
            <a:pPr algn="just"/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Escenario de estudio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: MT con varias cintas como modelo computacional, y pruebas por medio de la construcción de MT, la diagonalización y las reducciones. </a:t>
            </a:r>
          </a:p>
        </p:txBody>
      </p:sp>
      <p:sp>
        <p:nvSpPr>
          <p:cNvPr id="55" name="Título 1">
            <a:extLst>
              <a:ext uri="{FF2B5EF4-FFF2-40B4-BE49-F238E27FC236}">
                <a16:creationId xmlns:a16="http://schemas.microsoft.com/office/drawing/2014/main" id="{C0A65E67-577B-CD0E-DE1A-C9BEFF69892C}"/>
              </a:ext>
            </a:extLst>
          </p:cNvPr>
          <p:cNvSpPr txBox="1">
            <a:spLocks/>
          </p:cNvSpPr>
          <p:nvPr/>
        </p:nvSpPr>
        <p:spPr>
          <a:xfrm>
            <a:off x="2592380" y="3840153"/>
            <a:ext cx="1823971" cy="76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Computabilidad</a:t>
            </a:r>
          </a:p>
        </p:txBody>
      </p:sp>
      <p:sp>
        <p:nvSpPr>
          <p:cNvPr id="56" name="Título 1">
            <a:extLst>
              <a:ext uri="{FF2B5EF4-FFF2-40B4-BE49-F238E27FC236}">
                <a16:creationId xmlns:a16="http://schemas.microsoft.com/office/drawing/2014/main" id="{2F41F403-E8F8-0A03-C73E-73DB84F09DEF}"/>
              </a:ext>
            </a:extLst>
          </p:cNvPr>
          <p:cNvSpPr txBox="1">
            <a:spLocks/>
          </p:cNvSpPr>
          <p:nvPr/>
        </p:nvSpPr>
        <p:spPr>
          <a:xfrm>
            <a:off x="7685800" y="3821488"/>
            <a:ext cx="4104370" cy="76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Complejidad computacional</a:t>
            </a:r>
          </a:p>
        </p:txBody>
      </p:sp>
    </p:spTree>
    <p:extLst>
      <p:ext uri="{BB962C8B-B14F-4D97-AF65-F5344CB8AC3E}">
        <p14:creationId xmlns:p14="http://schemas.microsoft.com/office/powerpoint/2010/main" val="712766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325564" y="774307"/>
            <a:ext cx="11487208" cy="5955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MT M tarda más (hace más pasos) a medida que sus cadenas de entrada w son más grandes.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eso el tiempo de M no se mide en términos absolutos sino con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funciones temporales T(n)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que se definen en términos del tamaño |w| de w (se usa n = |w|).</a:t>
            </a:r>
          </a:p>
          <a:p>
            <a:pPr algn="just"/>
            <a:endParaRPr lang="es-A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Ejemplos de funciones temporales T(n)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algn="just"/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5n + 8,     3n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    3n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+ n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+ 25n,     etc. 	 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polinomiales o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	*** n como factor   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20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s-AR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    12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+ 10n + 5,      6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,  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etc. 	 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exponenciales o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	*** n como exponente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Otras: 2 elevado a la 2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doble exponencial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), 2 elevado a la 2 elevado a la 2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triple exponencial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), etc.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000" indent="-3420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función T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(n) es del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orden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una función T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(n), que se anota así: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 = O(T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(n)),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para todo n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 n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se cumple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 ≤ c.T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(n),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 c &gt; 0.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Por ejemplo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(ejercicio):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5n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+ 8n + 25 = O(n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n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O(n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n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O(2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n.log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 = O(n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endParaRPr lang="es-A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Usar funciones O(T(n)) por funciones T(n) permite manejar un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nivel de abstracción adecuado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(tiempo lineal, cuadrático, polinomial,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cuasipolinomial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subexponencial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exponencial, doble exponencial,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  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5BA27FD0-95DA-4883-A26B-C235059825F0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F1DF14F-60B9-0F2F-4CE7-5F442849EFA4}"/>
              </a:ext>
            </a:extLst>
          </p:cNvPr>
          <p:cNvSpPr/>
          <p:nvPr/>
        </p:nvSpPr>
        <p:spPr>
          <a:xfrm>
            <a:off x="249172" y="143605"/>
            <a:ext cx="11733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Complejidad temporal</a:t>
            </a:r>
          </a:p>
        </p:txBody>
      </p:sp>
      <p:pic>
        <p:nvPicPr>
          <p:cNvPr id="3" name="Imagen 2" descr="Gráfico&#10;&#10;Descripción generada automáticamente">
            <a:extLst>
              <a:ext uri="{FF2B5EF4-FFF2-40B4-BE49-F238E27FC236}">
                <a16:creationId xmlns:a16="http://schemas.microsoft.com/office/drawing/2014/main" id="{47E40D58-25E4-46CE-1F70-67B7974A0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172" y="4478691"/>
            <a:ext cx="1949483" cy="130197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1F7923A-9752-7500-7544-DB2751B31282}"/>
              </a:ext>
            </a:extLst>
          </p:cNvPr>
          <p:cNvSpPr/>
          <p:nvPr/>
        </p:nvSpPr>
        <p:spPr>
          <a:xfrm>
            <a:off x="5813458" y="4714101"/>
            <a:ext cx="387996" cy="384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CC0E44D-CEFA-2FF4-1A5B-EB38F0ACB581}"/>
              </a:ext>
            </a:extLst>
          </p:cNvPr>
          <p:cNvSpPr txBox="1"/>
          <p:nvPr/>
        </p:nvSpPr>
        <p:spPr>
          <a:xfrm>
            <a:off x="7317927" y="5148886"/>
            <a:ext cx="659794" cy="306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  <a:endParaRPr lang="es-AR" sz="1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4AEA32-6C0D-04E2-4775-28725982DDF1}"/>
              </a:ext>
            </a:extLst>
          </p:cNvPr>
          <p:cNvSpPr txBox="1"/>
          <p:nvPr/>
        </p:nvSpPr>
        <p:spPr>
          <a:xfrm>
            <a:off x="8451367" y="4710464"/>
            <a:ext cx="33614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(n) = O(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AR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(n)), con i &lt; j  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Cuando n tiende a infinito, 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(n) se mantiene por debajo de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AR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36B331-C588-9EA1-BAB5-7436EA880B4F}"/>
              </a:ext>
            </a:extLst>
          </p:cNvPr>
          <p:cNvSpPr txBox="1"/>
          <p:nvPr/>
        </p:nvSpPr>
        <p:spPr>
          <a:xfrm>
            <a:off x="7317927" y="4853149"/>
            <a:ext cx="659794" cy="306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  <a:endParaRPr lang="es-AR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2268F99-582B-38EB-AD2E-83FBA270535E}"/>
              </a:ext>
            </a:extLst>
          </p:cNvPr>
          <p:cNvSpPr txBox="1"/>
          <p:nvPr/>
        </p:nvSpPr>
        <p:spPr>
          <a:xfrm>
            <a:off x="7074239" y="4404359"/>
            <a:ext cx="659794" cy="306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1479140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219000" y="704053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80064" y="285431"/>
            <a:ext cx="11684069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MT M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tarda tiempo T(n),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a partir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toda entrada w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con |w| = n, M hace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 lo sumo T(n) pasos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 lenguaje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TIME(T(n))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existe una MT M que lo decide en tiempo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O(T(n)).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lvl="1" algn="just"/>
            <a:endParaRPr lang="es-AR" sz="16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lvl="1" algn="just"/>
            <a:endParaRPr lang="es-AR" sz="16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lvl="1" algn="just"/>
            <a:endParaRPr lang="es-AR" sz="16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Se considera el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tiempo máximo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(procesar cualquier cadena w consume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 lo sumo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T(|w|) pasos).</a:t>
            </a:r>
          </a:p>
          <a:p>
            <a:pPr marL="0" lvl="1" algn="just"/>
            <a:endParaRPr lang="es-AR" sz="10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8000"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Otros criterios son el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tiempo promedio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y el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tiempo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mínimo,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en general muy difíciles de calcular (a pesar de buenos avances, al día de hoy se conocen aún pocos valores de este tipo).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E5ADBB0-BCF1-4B7E-A472-32D1048A9A15}"/>
              </a:ext>
            </a:extLst>
          </p:cNvPr>
          <p:cNvSpPr/>
          <p:nvPr/>
        </p:nvSpPr>
        <p:spPr>
          <a:xfrm>
            <a:off x="4146667" y="3155298"/>
            <a:ext cx="137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TIME(T(n)) </a:t>
            </a:r>
            <a:endParaRPr lang="es-MX" b="1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662F82-9FCB-4656-B679-AFD8EDAAC2ED}"/>
              </a:ext>
            </a:extLst>
          </p:cNvPr>
          <p:cNvSpPr/>
          <p:nvPr/>
        </p:nvSpPr>
        <p:spPr>
          <a:xfrm>
            <a:off x="3956460" y="3486308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F13EB4F-1587-4348-BDE0-650FBA65805D}"/>
              </a:ext>
            </a:extLst>
          </p:cNvPr>
          <p:cNvSpPr/>
          <p:nvPr/>
        </p:nvSpPr>
        <p:spPr>
          <a:xfrm>
            <a:off x="3848632" y="4267136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8CECC0B-0107-4A00-BCF1-22C8C352C38D}"/>
              </a:ext>
            </a:extLst>
          </p:cNvPr>
          <p:cNvSpPr/>
          <p:nvPr/>
        </p:nvSpPr>
        <p:spPr>
          <a:xfrm>
            <a:off x="3748472" y="3897804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FE56EAA-3CA3-4FBE-B989-56EC20522021}"/>
              </a:ext>
            </a:extLst>
          </p:cNvPr>
          <p:cNvSpPr/>
          <p:nvPr/>
        </p:nvSpPr>
        <p:spPr>
          <a:xfrm>
            <a:off x="4585778" y="4570467"/>
            <a:ext cx="346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D302D32-82C5-4B78-BACA-32DB1612C285}"/>
              </a:ext>
            </a:extLst>
          </p:cNvPr>
          <p:cNvSpPr/>
          <p:nvPr/>
        </p:nvSpPr>
        <p:spPr>
          <a:xfrm>
            <a:off x="4311779" y="3745475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BE528425-ABD5-46A4-AC1D-7EB5C3A96251}"/>
              </a:ext>
            </a:extLst>
          </p:cNvPr>
          <p:cNvSpPr/>
          <p:nvPr/>
        </p:nvSpPr>
        <p:spPr>
          <a:xfrm>
            <a:off x="3640556" y="3098878"/>
            <a:ext cx="2287763" cy="186597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23D538E-D5D3-48B1-A4D3-73C86FC5F489}"/>
              </a:ext>
            </a:extLst>
          </p:cNvPr>
          <p:cNvSpPr/>
          <p:nvPr/>
        </p:nvSpPr>
        <p:spPr>
          <a:xfrm>
            <a:off x="4271831" y="4133313"/>
            <a:ext cx="16426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……… </a:t>
            </a:r>
            <a:endParaRPr lang="es-MX" sz="2400" b="1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439A185-417D-9F17-B700-CCCCD1A729E5}"/>
              </a:ext>
            </a:extLst>
          </p:cNvPr>
          <p:cNvSpPr/>
          <p:nvPr/>
        </p:nvSpPr>
        <p:spPr>
          <a:xfrm>
            <a:off x="5124129" y="1030157"/>
            <a:ext cx="3901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</a:t>
            </a:r>
            <a:endParaRPr lang="es-AR" sz="1600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205A4CAD-C093-2B7B-77C6-ED6ADB34FDE0}"/>
              </a:ext>
            </a:extLst>
          </p:cNvPr>
          <p:cNvCxnSpPr>
            <a:cxnSpLocks/>
          </p:cNvCxnSpPr>
          <p:nvPr/>
        </p:nvCxnSpPr>
        <p:spPr>
          <a:xfrm>
            <a:off x="5001612" y="1318744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851F35D-C9C7-A90A-010F-FAE2480C7CBD}"/>
              </a:ext>
            </a:extLst>
          </p:cNvPr>
          <p:cNvSpPr/>
          <p:nvPr/>
        </p:nvSpPr>
        <p:spPr>
          <a:xfrm>
            <a:off x="6728408" y="1310197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6FD375D9-7704-1229-5BDC-E001113A778A}"/>
              </a:ext>
            </a:extLst>
          </p:cNvPr>
          <p:cNvCxnSpPr>
            <a:cxnSpLocks/>
          </p:cNvCxnSpPr>
          <p:nvPr/>
        </p:nvCxnSpPr>
        <p:spPr>
          <a:xfrm flipV="1">
            <a:off x="6331009" y="1134968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0E786C1-A658-C9C7-34CE-638F47132069}"/>
              </a:ext>
            </a:extLst>
          </p:cNvPr>
          <p:cNvSpPr/>
          <p:nvPr/>
        </p:nvSpPr>
        <p:spPr>
          <a:xfrm>
            <a:off x="6704780" y="957218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0BACAC6-FF4B-E639-FDE6-6E85A30E574C}"/>
              </a:ext>
            </a:extLst>
          </p:cNvPr>
          <p:cNvCxnSpPr>
            <a:cxnSpLocks/>
          </p:cNvCxnSpPr>
          <p:nvPr/>
        </p:nvCxnSpPr>
        <p:spPr>
          <a:xfrm>
            <a:off x="6320224" y="1330748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8312C29-3792-83BD-217B-8A91BBC179BE}"/>
              </a:ext>
            </a:extLst>
          </p:cNvPr>
          <p:cNvSpPr/>
          <p:nvPr/>
        </p:nvSpPr>
        <p:spPr>
          <a:xfrm>
            <a:off x="5617891" y="1006281"/>
            <a:ext cx="694090" cy="600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C031E4E-2924-BFE3-5062-56C07088B0A8}"/>
              </a:ext>
            </a:extLst>
          </p:cNvPr>
          <p:cNvSpPr/>
          <p:nvPr/>
        </p:nvSpPr>
        <p:spPr>
          <a:xfrm>
            <a:off x="5749651" y="1126495"/>
            <a:ext cx="531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endParaRPr lang="es-MX" sz="1600" dirty="0"/>
          </a:p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5837CE6-8909-B452-F0C8-0544F54D3743}"/>
              </a:ext>
            </a:extLst>
          </p:cNvPr>
          <p:cNvSpPr/>
          <p:nvPr/>
        </p:nvSpPr>
        <p:spPr>
          <a:xfrm>
            <a:off x="4760663" y="1645251"/>
            <a:ext cx="27228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sz="1400" dirty="0"/>
              <a:t>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hace a lo sumo T(|w|) pasos</a:t>
            </a:r>
            <a:endParaRPr lang="es-MX" sz="1400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80488B6-E1CA-BEC2-15BF-2D09CCBC11D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9D0EC9C-24AF-3590-94BC-FE732F1ED215}"/>
              </a:ext>
            </a:extLst>
          </p:cNvPr>
          <p:cNvSpPr/>
          <p:nvPr/>
        </p:nvSpPr>
        <p:spPr>
          <a:xfrm>
            <a:off x="7299255" y="3591587"/>
            <a:ext cx="3901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</a:t>
            </a:r>
            <a:endParaRPr lang="es-AR" sz="1600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79AD737-5F60-125D-76CD-63E3D6210E8F}"/>
              </a:ext>
            </a:extLst>
          </p:cNvPr>
          <p:cNvCxnSpPr>
            <a:cxnSpLocks/>
          </p:cNvCxnSpPr>
          <p:nvPr/>
        </p:nvCxnSpPr>
        <p:spPr>
          <a:xfrm rot="-60000">
            <a:off x="7176738" y="3880174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11542E-A9D3-E046-3AC1-8C75D6181796}"/>
              </a:ext>
            </a:extLst>
          </p:cNvPr>
          <p:cNvSpPr/>
          <p:nvPr/>
        </p:nvSpPr>
        <p:spPr>
          <a:xfrm>
            <a:off x="8903534" y="3871627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C361E29C-1D68-19F2-6148-210DAA5B4297}"/>
              </a:ext>
            </a:extLst>
          </p:cNvPr>
          <p:cNvCxnSpPr>
            <a:cxnSpLocks/>
          </p:cNvCxnSpPr>
          <p:nvPr/>
        </p:nvCxnSpPr>
        <p:spPr>
          <a:xfrm flipV="1">
            <a:off x="8506135" y="3696398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AC3ABFA-627B-C147-C60C-7D6A8928B043}"/>
              </a:ext>
            </a:extLst>
          </p:cNvPr>
          <p:cNvSpPr/>
          <p:nvPr/>
        </p:nvSpPr>
        <p:spPr>
          <a:xfrm>
            <a:off x="8879906" y="3518648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31AC17F-5E15-3AE7-0B9F-2FFAF2C8C95B}"/>
              </a:ext>
            </a:extLst>
          </p:cNvPr>
          <p:cNvCxnSpPr>
            <a:cxnSpLocks/>
          </p:cNvCxnSpPr>
          <p:nvPr/>
        </p:nvCxnSpPr>
        <p:spPr>
          <a:xfrm>
            <a:off x="8495350" y="3892178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DFC1C92-8EC2-2D1B-E24A-AA3D2D643003}"/>
              </a:ext>
            </a:extLst>
          </p:cNvPr>
          <p:cNvSpPr/>
          <p:nvPr/>
        </p:nvSpPr>
        <p:spPr>
          <a:xfrm>
            <a:off x="7793017" y="3567711"/>
            <a:ext cx="694090" cy="600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147587F-9BC1-2BB2-7BF4-A468D17422F8}"/>
              </a:ext>
            </a:extLst>
          </p:cNvPr>
          <p:cNvSpPr/>
          <p:nvPr/>
        </p:nvSpPr>
        <p:spPr>
          <a:xfrm>
            <a:off x="7924777" y="3687925"/>
            <a:ext cx="5312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sz="1600" dirty="0"/>
          </a:p>
          <a:p>
            <a:endParaRPr lang="es-MX" sz="1600" dirty="0"/>
          </a:p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C2D99FA-A613-7EB8-7D76-5F902E5A1D4C}"/>
              </a:ext>
            </a:extLst>
          </p:cNvPr>
          <p:cNvSpPr/>
          <p:nvPr/>
        </p:nvSpPr>
        <p:spPr>
          <a:xfrm>
            <a:off x="6982272" y="4275608"/>
            <a:ext cx="274613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Existe una MT M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que decide 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y que para toda cadena w,</a:t>
            </a:r>
          </a:p>
          <a:p>
            <a:r>
              <a:rPr lang="es-AR" sz="1400">
                <a:latin typeface="Arial" panose="020B0604020202020204" pitchFamily="34" charset="0"/>
                <a:cs typeface="Arial" panose="020B0604020202020204" pitchFamily="34" charset="0"/>
              </a:rPr>
              <a:t>tarda O(T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(|</a:t>
            </a:r>
            <a:r>
              <a:rPr lang="es-AR" sz="1400">
                <a:latin typeface="Arial" panose="020B0604020202020204" pitchFamily="34" charset="0"/>
                <a:cs typeface="Arial" panose="020B0604020202020204" pitchFamily="34" charset="0"/>
              </a:rPr>
              <a:t>w|))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pasos.</a:t>
            </a:r>
            <a:endParaRPr lang="es-MX" sz="1400" dirty="0"/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F89BB5FD-2451-FC41-075D-C3ACDD054D7B}"/>
              </a:ext>
            </a:extLst>
          </p:cNvPr>
          <p:cNvCxnSpPr>
            <a:cxnSpLocks/>
          </p:cNvCxnSpPr>
          <p:nvPr/>
        </p:nvCxnSpPr>
        <p:spPr>
          <a:xfrm flipV="1">
            <a:off x="4933797" y="3901767"/>
            <a:ext cx="2109342" cy="819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AAA2083-FFE6-925A-DE24-6043AAE8C8F1}"/>
              </a:ext>
            </a:extLst>
          </p:cNvPr>
          <p:cNvSpPr/>
          <p:nvPr/>
        </p:nvSpPr>
        <p:spPr>
          <a:xfrm>
            <a:off x="5366357" y="3621718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8B67B5D-58F9-D741-D341-42AB90CA3B48}"/>
              </a:ext>
            </a:extLst>
          </p:cNvPr>
          <p:cNvSpPr/>
          <p:nvPr/>
        </p:nvSpPr>
        <p:spPr>
          <a:xfrm>
            <a:off x="5066076" y="3956163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s-MX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68A5FE0-0713-B699-B111-B7E783F9EF55}"/>
              </a:ext>
            </a:extLst>
          </p:cNvPr>
          <p:cNvSpPr/>
          <p:nvPr/>
        </p:nvSpPr>
        <p:spPr>
          <a:xfrm>
            <a:off x="4750997" y="3712640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86CB215-CD8C-E975-2C54-2E3D8E070748}"/>
              </a:ext>
            </a:extLst>
          </p:cNvPr>
          <p:cNvSpPr/>
          <p:nvPr/>
        </p:nvSpPr>
        <p:spPr>
          <a:xfrm>
            <a:off x="5480552" y="3904704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47459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86654" y="293252"/>
            <a:ext cx="11483814" cy="6417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Convención, respaldada por las matemáticas y la experiencia: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tiempo tratable = tiempo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  <a:p>
            <a:pPr marL="360000" lvl="1"/>
            <a:endParaRPr lang="es-AR" sz="5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1"/>
            <a:r>
              <a:rPr lang="es-AR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    n               2n               n</a:t>
            </a:r>
            <a:r>
              <a:rPr lang="es-AR" sz="1200" b="1" u="sng" baseline="30000" dirty="0">
                <a:latin typeface="Arial" panose="020B0604020202020204" pitchFamily="34" charset="0"/>
                <a:cs typeface="Arial" panose="020B0604020202020204" pitchFamily="34" charset="0"/>
              </a:rPr>
              <a:t>2                        </a:t>
            </a:r>
            <a:r>
              <a:rPr lang="es-AR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200" b="1" u="sng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lvl="1"/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 0	         0	      0	     1		</a:t>
            </a:r>
          </a:p>
          <a:p>
            <a:pPr lvl="1"/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 1	         2	      1	     2</a:t>
            </a:r>
          </a:p>
          <a:p>
            <a:pPr lvl="1"/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 2	         4                4	     4</a:t>
            </a:r>
          </a:p>
          <a:p>
            <a:pPr lvl="1"/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 3	         6                9	     8</a:t>
            </a:r>
          </a:p>
          <a:p>
            <a:pPr lvl="1"/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 4	         8	    16	   16</a:t>
            </a:r>
          </a:p>
          <a:p>
            <a:pPr lvl="1"/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 5              10	    25	   32</a:t>
            </a:r>
          </a:p>
          <a:p>
            <a:pPr lvl="1"/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 6	       12	    36	   64</a:t>
            </a:r>
          </a:p>
          <a:p>
            <a:pPr lvl="1"/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 7	       14	    49	 128</a:t>
            </a:r>
          </a:p>
          <a:p>
            <a:pPr lvl="1"/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 8	       16	    64	 256</a:t>
            </a:r>
          </a:p>
          <a:p>
            <a:pPr lvl="1"/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 9	       18	    81	 512</a:t>
            </a:r>
          </a:p>
          <a:p>
            <a:pPr lvl="1"/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10	       20	  100             1024</a:t>
            </a:r>
          </a:p>
          <a:p>
            <a:pPr lvl="1"/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-285750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Ejemplo, considerando una computadora determinada. Notar el salto abrupto en las funciones exponenciales:</a:t>
            </a: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8600">
              <a:buAutoNum type="arabicPlain" startAt="10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n 12" descr="Gráfico&#10;&#10;Descripción generada automáticamente">
            <a:extLst>
              <a:ext uri="{FF2B5EF4-FFF2-40B4-BE49-F238E27FC236}">
                <a16:creationId xmlns:a16="http://schemas.microsoft.com/office/drawing/2014/main" id="{A5332110-EE09-4A90-B777-336E37F31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866" y="785748"/>
            <a:ext cx="3728621" cy="2490186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B3B700A7-2B3B-46B5-A7DC-0AB516190AAB}"/>
              </a:ext>
            </a:extLst>
          </p:cNvPr>
          <p:cNvSpPr/>
          <p:nvPr/>
        </p:nvSpPr>
        <p:spPr>
          <a:xfrm>
            <a:off x="4141706" y="931181"/>
            <a:ext cx="328474" cy="17610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3AA433A-01CA-47CB-B721-4FB7F465F4E2}"/>
              </a:ext>
            </a:extLst>
          </p:cNvPr>
          <p:cNvSpPr/>
          <p:nvPr/>
        </p:nvSpPr>
        <p:spPr>
          <a:xfrm rot="5400000">
            <a:off x="5268728" y="1038321"/>
            <a:ext cx="373744" cy="41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7C15EE3-17CA-4D01-BD93-4B16AA6FD5C8}"/>
              </a:ext>
            </a:extLst>
          </p:cNvPr>
          <p:cNvSpPr/>
          <p:nvPr/>
        </p:nvSpPr>
        <p:spPr>
          <a:xfrm>
            <a:off x="4470180" y="1341973"/>
            <a:ext cx="770879" cy="4680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2E8A653A-E9F1-42D2-BFBE-439F7F31466F}"/>
              </a:ext>
            </a:extLst>
          </p:cNvPr>
          <p:cNvCxnSpPr>
            <a:cxnSpLocks/>
          </p:cNvCxnSpPr>
          <p:nvPr/>
        </p:nvCxnSpPr>
        <p:spPr>
          <a:xfrm>
            <a:off x="7747106" y="1230046"/>
            <a:ext cx="12499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C6625F1-56A0-4C2C-84FA-5FEF70408EF0}"/>
              </a:ext>
            </a:extLst>
          </p:cNvPr>
          <p:cNvCxnSpPr>
            <a:cxnSpLocks/>
          </p:cNvCxnSpPr>
          <p:nvPr/>
        </p:nvCxnSpPr>
        <p:spPr>
          <a:xfrm>
            <a:off x="7770161" y="1719226"/>
            <a:ext cx="12499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482B2FFB-C4DE-433D-8A56-C0CD25F39D76}"/>
              </a:ext>
            </a:extLst>
          </p:cNvPr>
          <p:cNvCxnSpPr>
            <a:cxnSpLocks/>
          </p:cNvCxnSpPr>
          <p:nvPr/>
        </p:nvCxnSpPr>
        <p:spPr>
          <a:xfrm>
            <a:off x="7809659" y="2383069"/>
            <a:ext cx="12499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1425D14-B1D9-48C5-89F3-608B8ED849A0}"/>
              </a:ext>
            </a:extLst>
          </p:cNvPr>
          <p:cNvSpPr txBox="1"/>
          <p:nvPr/>
        </p:nvSpPr>
        <p:spPr>
          <a:xfrm>
            <a:off x="8952483" y="1076157"/>
            <a:ext cx="11829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  <a:endParaRPr lang="es-AR" sz="14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9CDBA6A-0575-4D52-9339-C2FE9316851A}"/>
              </a:ext>
            </a:extLst>
          </p:cNvPr>
          <p:cNvSpPr txBox="1"/>
          <p:nvPr/>
        </p:nvSpPr>
        <p:spPr>
          <a:xfrm>
            <a:off x="8975538" y="1551846"/>
            <a:ext cx="11829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  <a:endParaRPr lang="es-AR" sz="14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2571B15-0010-46F0-8E5D-E3F331EC26D2}"/>
              </a:ext>
            </a:extLst>
          </p:cNvPr>
          <p:cNvSpPr txBox="1"/>
          <p:nvPr/>
        </p:nvSpPr>
        <p:spPr>
          <a:xfrm>
            <a:off x="9015035" y="2219067"/>
            <a:ext cx="11829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lineal</a:t>
            </a:r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D6E2274-EC3D-449D-8594-0A2CDEF8B346}"/>
              </a:ext>
            </a:extLst>
          </p:cNvPr>
          <p:cNvSpPr txBox="1"/>
          <p:nvPr/>
        </p:nvSpPr>
        <p:spPr>
          <a:xfrm>
            <a:off x="7403958" y="1076154"/>
            <a:ext cx="3662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AR" sz="14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64AFDA8-DBC8-4DC1-9718-8BB94F75AF99}"/>
              </a:ext>
            </a:extLst>
          </p:cNvPr>
          <p:cNvSpPr txBox="1"/>
          <p:nvPr/>
        </p:nvSpPr>
        <p:spPr>
          <a:xfrm>
            <a:off x="7398484" y="1564472"/>
            <a:ext cx="3728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AR" sz="14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549F370-7235-4BD3-B53F-FFC8335E6C14}"/>
              </a:ext>
            </a:extLst>
          </p:cNvPr>
          <p:cNvSpPr txBox="1"/>
          <p:nvPr/>
        </p:nvSpPr>
        <p:spPr>
          <a:xfrm>
            <a:off x="7385385" y="2233331"/>
            <a:ext cx="3847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2n </a:t>
            </a:r>
            <a:endParaRPr lang="es-AR" sz="1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052A26-E46E-4E22-5B69-90F0376ED3D2}"/>
              </a:ext>
            </a:extLst>
          </p:cNvPr>
          <p:cNvSpPr txBox="1"/>
          <p:nvPr/>
        </p:nvSpPr>
        <p:spPr>
          <a:xfrm>
            <a:off x="4175817" y="1230042"/>
            <a:ext cx="35568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Cuando n tiende a infinito,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una función exponencial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se distancia ampliamente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de una función polinomial</a:t>
            </a:r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003005AE-3693-17B4-FB31-C49F77020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660844"/>
              </p:ext>
            </p:extLst>
          </p:nvPr>
        </p:nvGraphicFramePr>
        <p:xfrm>
          <a:off x="1754258" y="3696930"/>
          <a:ext cx="8929993" cy="29416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0605">
                  <a:extLst>
                    <a:ext uri="{9D8B030D-6E8A-4147-A177-3AD203B41FA5}">
                      <a16:colId xmlns:a16="http://schemas.microsoft.com/office/drawing/2014/main" val="1583022663"/>
                    </a:ext>
                  </a:extLst>
                </a:gridCol>
                <a:gridCol w="1414898">
                  <a:extLst>
                    <a:ext uri="{9D8B030D-6E8A-4147-A177-3AD203B41FA5}">
                      <a16:colId xmlns:a16="http://schemas.microsoft.com/office/drawing/2014/main" val="3504740704"/>
                    </a:ext>
                  </a:extLst>
                </a:gridCol>
                <a:gridCol w="1414898">
                  <a:extLst>
                    <a:ext uri="{9D8B030D-6E8A-4147-A177-3AD203B41FA5}">
                      <a16:colId xmlns:a16="http://schemas.microsoft.com/office/drawing/2014/main" val="220803344"/>
                    </a:ext>
                  </a:extLst>
                </a:gridCol>
                <a:gridCol w="1414898">
                  <a:extLst>
                    <a:ext uri="{9D8B030D-6E8A-4147-A177-3AD203B41FA5}">
                      <a16:colId xmlns:a16="http://schemas.microsoft.com/office/drawing/2014/main" val="2008865187"/>
                    </a:ext>
                  </a:extLst>
                </a:gridCol>
                <a:gridCol w="1414898">
                  <a:extLst>
                    <a:ext uri="{9D8B030D-6E8A-4147-A177-3AD203B41FA5}">
                      <a16:colId xmlns:a16="http://schemas.microsoft.com/office/drawing/2014/main" val="2191054341"/>
                    </a:ext>
                  </a:extLst>
                </a:gridCol>
                <a:gridCol w="1414898">
                  <a:extLst>
                    <a:ext uri="{9D8B030D-6E8A-4147-A177-3AD203B41FA5}">
                      <a16:colId xmlns:a16="http://schemas.microsoft.com/office/drawing/2014/main" val="210084792"/>
                    </a:ext>
                  </a:extLst>
                </a:gridCol>
                <a:gridCol w="1414898">
                  <a:extLst>
                    <a:ext uri="{9D8B030D-6E8A-4147-A177-3AD203B41FA5}">
                      <a16:colId xmlns:a16="http://schemas.microsoft.com/office/drawing/2014/main" val="55000274"/>
                    </a:ext>
                  </a:extLst>
                </a:gridCol>
              </a:tblGrid>
              <a:tr h="206432"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baseline="-25000">
                          <a:effectLst/>
                        </a:rPr>
                        <a:t> 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10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20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30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40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50</a:t>
                      </a:r>
                      <a:endParaRPr lang="es-A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60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04209295"/>
                  </a:ext>
                </a:extLst>
              </a:tr>
              <a:tr h="455869"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n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0,00001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0,00002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0,00003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segundos</a:t>
                      </a:r>
                      <a:endParaRPr lang="es-A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0,00004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0,00005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0,00006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1632428"/>
                  </a:ext>
                </a:extLst>
              </a:tr>
              <a:tr h="455869"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n</a:t>
                      </a:r>
                      <a:r>
                        <a:rPr lang="es-AR" sz="1200" baseline="30000">
                          <a:effectLst/>
                        </a:rPr>
                        <a:t>2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0,0001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0,0004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segundos</a:t>
                      </a:r>
                      <a:endParaRPr lang="es-A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0,0009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0,0016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0,0025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0,0036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2893781"/>
                  </a:ext>
                </a:extLst>
              </a:tr>
              <a:tr h="455869"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n</a:t>
                      </a:r>
                      <a:r>
                        <a:rPr lang="es-AR" sz="1200" baseline="30000">
                          <a:effectLst/>
                        </a:rPr>
                        <a:t>3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0,001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0,008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0,027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0,064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segundos</a:t>
                      </a:r>
                      <a:endParaRPr lang="es-A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0,125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0,216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449809"/>
                  </a:ext>
                </a:extLst>
              </a:tr>
              <a:tr h="455869"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n</a:t>
                      </a:r>
                      <a:r>
                        <a:rPr lang="es-AR" sz="1200" baseline="30000">
                          <a:effectLst/>
                        </a:rPr>
                        <a:t>5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0,1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3,2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24,3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1,7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minutos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5,2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minutos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13,0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minutos</a:t>
                      </a:r>
                      <a:endParaRPr lang="es-A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0197488"/>
                  </a:ext>
                </a:extLst>
              </a:tr>
              <a:tr h="455869"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2</a:t>
                      </a:r>
                      <a:r>
                        <a:rPr lang="es-AR" sz="1200" baseline="30000">
                          <a:effectLst/>
                        </a:rPr>
                        <a:t>n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0,001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1,0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segundos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17,9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minutos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12,7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días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35,7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años</a:t>
                      </a:r>
                      <a:endParaRPr lang="es-A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366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siglos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8696442"/>
                  </a:ext>
                </a:extLst>
              </a:tr>
              <a:tr h="455869"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3</a:t>
                      </a:r>
                      <a:r>
                        <a:rPr lang="es-AR" sz="1200" baseline="30000">
                          <a:effectLst/>
                        </a:rPr>
                        <a:t>n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0,059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segundos</a:t>
                      </a:r>
                      <a:endParaRPr lang="es-A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58,0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minutos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6,5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años</a:t>
                      </a:r>
                      <a:endParaRPr lang="es-A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3855</a:t>
                      </a: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>
                          <a:effectLst/>
                        </a:rPr>
                        <a:t>siglos</a:t>
                      </a:r>
                      <a:endParaRPr lang="es-A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2.10</a:t>
                      </a:r>
                      <a:r>
                        <a:rPr lang="es-AR" sz="1200" baseline="30000" dirty="0">
                          <a:effectLst/>
                        </a:rPr>
                        <a:t>8</a:t>
                      </a:r>
                      <a:endParaRPr lang="es-AR" sz="1200" dirty="0">
                        <a:effectLst/>
                      </a:endParaRP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siglos</a:t>
                      </a:r>
                      <a:endParaRPr lang="es-A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1,3.10</a:t>
                      </a:r>
                      <a:r>
                        <a:rPr lang="es-AR" sz="1200" baseline="30000" dirty="0">
                          <a:effectLst/>
                        </a:rPr>
                        <a:t>13</a:t>
                      </a:r>
                      <a:endParaRPr lang="es-AR" sz="1200" dirty="0">
                        <a:effectLst/>
                      </a:endParaRPr>
                    </a:p>
                    <a:p>
                      <a:pPr marL="180340" indent="-18034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AR" sz="1200" dirty="0">
                          <a:effectLst/>
                        </a:rPr>
                        <a:t>siglos</a:t>
                      </a:r>
                      <a:endParaRPr lang="es-A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7355444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94F146E3-8C1B-E8AA-1C6B-74279B25E0C8}"/>
              </a:ext>
            </a:extLst>
          </p:cNvPr>
          <p:cNvSpPr txBox="1"/>
          <p:nvPr/>
        </p:nvSpPr>
        <p:spPr>
          <a:xfrm>
            <a:off x="6028561" y="3477346"/>
            <a:ext cx="12965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AR" altLang="es-AR" sz="1200" b="1" i="0" u="none" strike="noStrike" cap="none" normalizeH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TAMAÑO</a:t>
            </a:r>
            <a:endParaRPr lang="es-AR" sz="1200" b="1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736A2E2-8749-B050-4049-0EF134626175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E36BEC7-C296-8E0B-F309-0E31C65DA5E2}"/>
              </a:ext>
            </a:extLst>
          </p:cNvPr>
          <p:cNvSpPr txBox="1"/>
          <p:nvPr/>
        </p:nvSpPr>
        <p:spPr>
          <a:xfrm>
            <a:off x="9840709" y="1341973"/>
            <a:ext cx="216193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¿Es tratable n</a:t>
            </a:r>
            <a:r>
              <a:rPr lang="es-AR" sz="14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  <a:r>
              <a:rPr lang="es-A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r>
              <a:rPr lang="es-A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¿Es intratable 1,001</a:t>
            </a:r>
            <a:r>
              <a:rPr lang="es-AR" sz="14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r>
              <a:rPr lang="es-A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todas maneras, estos valores no se dan en la práctica</a:t>
            </a:r>
          </a:p>
        </p:txBody>
      </p:sp>
    </p:spTree>
    <p:extLst>
      <p:ext uri="{BB962C8B-B14F-4D97-AF65-F5344CB8AC3E}">
        <p14:creationId xmlns:p14="http://schemas.microsoft.com/office/powerpoint/2010/main" val="30400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F5C64FA-3AE6-4F65-AE9C-7FB5D6F46755}"/>
              </a:ext>
            </a:extLst>
          </p:cNvPr>
          <p:cNvSpPr/>
          <p:nvPr/>
        </p:nvSpPr>
        <p:spPr>
          <a:xfrm>
            <a:off x="484106" y="5579439"/>
            <a:ext cx="5037276" cy="923330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s-A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Robustez:</a:t>
            </a:r>
            <a:r>
              <a:rPr kumimoji="0" lang="es-A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 una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s-A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con K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s-A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cintas </a:t>
            </a:r>
            <a:r>
              <a:rPr kumimoji="0" lang="es-A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tarda tiempo </a:t>
            </a:r>
            <a:r>
              <a:rPr kumimoji="0" lang="es-AR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kumimoji="0" lang="es-A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(n), existe una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s-A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equivalente</a:t>
            </a:r>
          </a:p>
          <a:p>
            <a:pPr>
              <a:defRPr/>
            </a:pPr>
            <a:r>
              <a:rPr kumimoji="0" lang="es-A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 K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kumimoji="0" lang="es-MX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cintas que también tarda tiempo </a:t>
            </a:r>
            <a:r>
              <a:rPr kumimoji="0" lang="es-MX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kumimoji="0" lang="es-MX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(n). </a:t>
            </a:r>
            <a:endParaRPr kumimoji="0" lang="es-MX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6CEF29-F30C-4F16-B4F6-6B80D4A59D99}"/>
              </a:ext>
            </a:extLst>
          </p:cNvPr>
          <p:cNvSpPr/>
          <p:nvPr/>
        </p:nvSpPr>
        <p:spPr>
          <a:xfrm>
            <a:off x="2374836" y="2894233"/>
            <a:ext cx="10021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TIME(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s-ES" sz="160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es-MX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9736AEB-93E5-441B-981D-F6EFCC97127F}"/>
              </a:ext>
            </a:extLst>
          </p:cNvPr>
          <p:cNvSpPr/>
          <p:nvPr/>
        </p:nvSpPr>
        <p:spPr>
          <a:xfrm>
            <a:off x="2384669" y="1711247"/>
            <a:ext cx="10021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TIME(n</a:t>
            </a:r>
            <a:r>
              <a:rPr kumimoji="0" lang="es-E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909EB7-E21A-4E99-9289-EADF7CA2C111}"/>
              </a:ext>
            </a:extLst>
          </p:cNvPr>
          <p:cNvSpPr/>
          <p:nvPr/>
        </p:nvSpPr>
        <p:spPr>
          <a:xfrm>
            <a:off x="2678757" y="516265"/>
            <a:ext cx="5261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endParaRPr kumimoji="0" lang="es-MX" sz="4000" b="1" i="0" u="none" strike="noStrike" kern="1200" cap="none" spc="0" normalizeH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89C987D2-20DA-4A5D-99A1-B226ABF565B9}"/>
              </a:ext>
            </a:extLst>
          </p:cNvPr>
          <p:cNvSpPr/>
          <p:nvPr/>
        </p:nvSpPr>
        <p:spPr>
          <a:xfrm>
            <a:off x="1946787" y="2134826"/>
            <a:ext cx="1858297" cy="185077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38C32B55-86A8-4E92-B651-00230B9FDE92}"/>
              </a:ext>
            </a:extLst>
          </p:cNvPr>
          <p:cNvSpPr/>
          <p:nvPr/>
        </p:nvSpPr>
        <p:spPr>
          <a:xfrm>
            <a:off x="2369548" y="2613819"/>
            <a:ext cx="1050799" cy="98656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3DDD728C-A3E9-4441-A3F0-E723A0244190}"/>
              </a:ext>
            </a:extLst>
          </p:cNvPr>
          <p:cNvSpPr/>
          <p:nvPr/>
        </p:nvSpPr>
        <p:spPr>
          <a:xfrm>
            <a:off x="1435510" y="1549106"/>
            <a:ext cx="2900516" cy="284479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C7288EE-D842-4778-894E-4FC61A7C6A3E}"/>
              </a:ext>
            </a:extLst>
          </p:cNvPr>
          <p:cNvSpPr/>
          <p:nvPr/>
        </p:nvSpPr>
        <p:spPr>
          <a:xfrm>
            <a:off x="2418150" y="2264353"/>
            <a:ext cx="10021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TIME(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s-ES" sz="160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lang="es-E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1600" dirty="0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A8D7AE9E-0A15-4353-9669-6C6AF098F93C}"/>
              </a:ext>
            </a:extLst>
          </p:cNvPr>
          <p:cNvSpPr/>
          <p:nvPr/>
        </p:nvSpPr>
        <p:spPr>
          <a:xfrm>
            <a:off x="899047" y="1106555"/>
            <a:ext cx="3990698" cy="3715243"/>
          </a:xfrm>
          <a:prstGeom prst="flowChartConnector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Diagrama de flujo: conector 25">
            <a:extLst>
              <a:ext uri="{FF2B5EF4-FFF2-40B4-BE49-F238E27FC236}">
                <a16:creationId xmlns:a16="http://schemas.microsoft.com/office/drawing/2014/main" id="{7201461D-987A-43B0-8CB0-8A5D349A46A5}"/>
              </a:ext>
            </a:extLst>
          </p:cNvPr>
          <p:cNvSpPr/>
          <p:nvPr/>
        </p:nvSpPr>
        <p:spPr>
          <a:xfrm>
            <a:off x="402184" y="583335"/>
            <a:ext cx="5079253" cy="4725559"/>
          </a:xfrm>
          <a:prstGeom prst="flowChartConnector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623F403-3979-46D0-9131-6D5EEBE8D28E}"/>
              </a:ext>
            </a:extLst>
          </p:cNvPr>
          <p:cNvSpPr txBox="1"/>
          <p:nvPr/>
        </p:nvSpPr>
        <p:spPr>
          <a:xfrm>
            <a:off x="5864543" y="250359"/>
            <a:ext cx="5911699" cy="4585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Ejemplo de lenguaje en la clase P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= {w | w es un palíndromo (capicúa) con símbolos </a:t>
            </a:r>
            <a:r>
              <a:rPr lang="es-AR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b}</a:t>
            </a:r>
          </a:p>
          <a:p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Una MT muy simple que decide L, con 2 cintas, hace:</a:t>
            </a:r>
          </a:p>
          <a:p>
            <a:pPr algn="just"/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1. Copia w de la cinta 1 a la cinta 2</a:t>
            </a:r>
          </a:p>
          <a:p>
            <a:pPr algn="just"/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   Tiempo O(n)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¿por qué?</a:t>
            </a:r>
          </a:p>
          <a:p>
            <a:pPr algn="just"/>
            <a:endParaRPr lang="es-A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2. Posiciona el cabezal de la cinta 1 a la izquierda</a:t>
            </a:r>
          </a:p>
          <a:p>
            <a:pPr algn="just"/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   Tiempo O(n)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¿por qué?</a:t>
            </a:r>
          </a:p>
          <a:p>
            <a:pPr algn="just"/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3. Compara en direcciones contrarias uno a uno los símbolos  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de las 2 cintas hasta llegar a un blanco en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ámbas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   Tiempo O(n)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¿por qué?</a:t>
            </a:r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   Tiempo total: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T(n) = O(n) + O(n) + O(n) =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O(n)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2550C22-0305-472B-BC08-05AAF2B35640}"/>
              </a:ext>
            </a:extLst>
          </p:cNvPr>
          <p:cNvSpPr txBox="1"/>
          <p:nvPr/>
        </p:nvSpPr>
        <p:spPr>
          <a:xfrm>
            <a:off x="897215" y="3985600"/>
            <a:ext cx="40642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AR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Todo lenguaje de P es aceptado </a:t>
            </a:r>
          </a:p>
          <a:p>
            <a:pPr algn="ctr"/>
            <a:r>
              <a:rPr kumimoji="0" lang="es-AR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por una MT en tiempo </a:t>
            </a:r>
            <a:r>
              <a:rPr kumimoji="0" lang="es-AR" sz="20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poly</a:t>
            </a:r>
            <a:r>
              <a:rPr kumimoji="0" lang="es-AR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(n)</a:t>
            </a:r>
            <a:endParaRPr lang="es-AR" sz="2000" b="1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273AF88-66E1-4AC7-92CF-98A391D109F9}"/>
              </a:ext>
            </a:extLst>
          </p:cNvPr>
          <p:cNvSpPr/>
          <p:nvPr/>
        </p:nvSpPr>
        <p:spPr>
          <a:xfrm>
            <a:off x="6863213" y="5197669"/>
            <a:ext cx="11785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EC9F923-4302-46AC-B37B-7D1C25DA8C33}"/>
              </a:ext>
            </a:extLst>
          </p:cNvPr>
          <p:cNvCxnSpPr>
            <a:cxnSpLocks/>
          </p:cNvCxnSpPr>
          <p:nvPr/>
        </p:nvCxnSpPr>
        <p:spPr>
          <a:xfrm>
            <a:off x="6882436" y="5193616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5D3CB89D-0D54-4A6A-9698-7A743CDBC813}"/>
              </a:ext>
            </a:extLst>
          </p:cNvPr>
          <p:cNvCxnSpPr>
            <a:cxnSpLocks/>
          </p:cNvCxnSpPr>
          <p:nvPr/>
        </p:nvCxnSpPr>
        <p:spPr>
          <a:xfrm flipV="1">
            <a:off x="7750635" y="5967201"/>
            <a:ext cx="181880" cy="4984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F0B45E44-DA8D-45D2-8D87-D957BD89A7C0}"/>
              </a:ext>
            </a:extLst>
          </p:cNvPr>
          <p:cNvCxnSpPr>
            <a:cxnSpLocks/>
          </p:cNvCxnSpPr>
          <p:nvPr/>
        </p:nvCxnSpPr>
        <p:spPr>
          <a:xfrm flipV="1">
            <a:off x="7715487" y="5513296"/>
            <a:ext cx="179293" cy="9341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EFF743EE-724E-4E5F-A4E0-F13FAAA287FE}"/>
              </a:ext>
            </a:extLst>
          </p:cNvPr>
          <p:cNvCxnSpPr>
            <a:cxnSpLocks/>
          </p:cNvCxnSpPr>
          <p:nvPr/>
        </p:nvCxnSpPr>
        <p:spPr>
          <a:xfrm>
            <a:off x="6863213" y="5505446"/>
            <a:ext cx="12619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: esquinas diagonales redondeadas 59">
            <a:extLst>
              <a:ext uri="{FF2B5EF4-FFF2-40B4-BE49-F238E27FC236}">
                <a16:creationId xmlns:a16="http://schemas.microsoft.com/office/drawing/2014/main" id="{39C22F34-BEAE-49A0-AA65-08AB987A3C5B}"/>
              </a:ext>
            </a:extLst>
          </p:cNvPr>
          <p:cNvSpPr/>
          <p:nvPr/>
        </p:nvSpPr>
        <p:spPr>
          <a:xfrm>
            <a:off x="7688988" y="6465662"/>
            <a:ext cx="143588" cy="157864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CBE11268-9483-49AF-AA7D-E6AB26AD730B}"/>
              </a:ext>
            </a:extLst>
          </p:cNvPr>
          <p:cNvCxnSpPr>
            <a:cxnSpLocks/>
          </p:cNvCxnSpPr>
          <p:nvPr/>
        </p:nvCxnSpPr>
        <p:spPr>
          <a:xfrm>
            <a:off x="6882436" y="5659424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B5C13953-BB11-4078-88BB-8FB494F303BA}"/>
              </a:ext>
            </a:extLst>
          </p:cNvPr>
          <p:cNvCxnSpPr>
            <a:cxnSpLocks/>
          </p:cNvCxnSpPr>
          <p:nvPr/>
        </p:nvCxnSpPr>
        <p:spPr>
          <a:xfrm>
            <a:off x="6882436" y="5950113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ángulo 68">
            <a:extLst>
              <a:ext uri="{FF2B5EF4-FFF2-40B4-BE49-F238E27FC236}">
                <a16:creationId xmlns:a16="http://schemas.microsoft.com/office/drawing/2014/main" id="{A06E5423-4898-498D-AD7B-B841528C5B4B}"/>
              </a:ext>
            </a:extLst>
          </p:cNvPr>
          <p:cNvSpPr/>
          <p:nvPr/>
        </p:nvSpPr>
        <p:spPr>
          <a:xfrm>
            <a:off x="8419700" y="5193616"/>
            <a:ext cx="11785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7EB4C714-7BAB-4A58-94F6-1144E3515CD2}"/>
              </a:ext>
            </a:extLst>
          </p:cNvPr>
          <p:cNvCxnSpPr>
            <a:cxnSpLocks/>
          </p:cNvCxnSpPr>
          <p:nvPr/>
        </p:nvCxnSpPr>
        <p:spPr>
          <a:xfrm>
            <a:off x="8438923" y="5189563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730FB00E-99EA-481B-AC6D-926A7D28536B}"/>
              </a:ext>
            </a:extLst>
          </p:cNvPr>
          <p:cNvCxnSpPr>
            <a:cxnSpLocks/>
          </p:cNvCxnSpPr>
          <p:nvPr/>
        </p:nvCxnSpPr>
        <p:spPr>
          <a:xfrm flipV="1">
            <a:off x="9307122" y="5938031"/>
            <a:ext cx="157253" cy="523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E94385C7-7410-4C20-8276-E65FDA89C8A9}"/>
              </a:ext>
            </a:extLst>
          </p:cNvPr>
          <p:cNvCxnSpPr>
            <a:cxnSpLocks/>
          </p:cNvCxnSpPr>
          <p:nvPr/>
        </p:nvCxnSpPr>
        <p:spPr>
          <a:xfrm flipH="1" flipV="1">
            <a:off x="8583039" y="5501393"/>
            <a:ext cx="770935" cy="9602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30B9734A-7B1B-4497-921A-70F7BB3AD08B}"/>
              </a:ext>
            </a:extLst>
          </p:cNvPr>
          <p:cNvCxnSpPr>
            <a:cxnSpLocks/>
          </p:cNvCxnSpPr>
          <p:nvPr/>
        </p:nvCxnSpPr>
        <p:spPr>
          <a:xfrm>
            <a:off x="8419700" y="5501393"/>
            <a:ext cx="12619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ángulo: esquinas diagonales redondeadas 73">
            <a:extLst>
              <a:ext uri="{FF2B5EF4-FFF2-40B4-BE49-F238E27FC236}">
                <a16:creationId xmlns:a16="http://schemas.microsoft.com/office/drawing/2014/main" id="{E3F590BC-2F19-4E8D-A1EA-D295ACCEF173}"/>
              </a:ext>
            </a:extLst>
          </p:cNvPr>
          <p:cNvSpPr/>
          <p:nvPr/>
        </p:nvSpPr>
        <p:spPr>
          <a:xfrm>
            <a:off x="9245475" y="6461609"/>
            <a:ext cx="143588" cy="157864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5AB245A9-CEBC-4FF0-8DA3-912CF892A31E}"/>
              </a:ext>
            </a:extLst>
          </p:cNvPr>
          <p:cNvCxnSpPr>
            <a:cxnSpLocks/>
          </p:cNvCxnSpPr>
          <p:nvPr/>
        </p:nvCxnSpPr>
        <p:spPr>
          <a:xfrm>
            <a:off x="8438923" y="5655371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340F2892-413A-4A5B-A4BB-FDD6CA9C6918}"/>
              </a:ext>
            </a:extLst>
          </p:cNvPr>
          <p:cNvCxnSpPr>
            <a:cxnSpLocks/>
          </p:cNvCxnSpPr>
          <p:nvPr/>
        </p:nvCxnSpPr>
        <p:spPr>
          <a:xfrm>
            <a:off x="8438923" y="5946060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76">
            <a:extLst>
              <a:ext uri="{FF2B5EF4-FFF2-40B4-BE49-F238E27FC236}">
                <a16:creationId xmlns:a16="http://schemas.microsoft.com/office/drawing/2014/main" id="{87D87C28-3A03-4381-A45F-B42A3FB1D257}"/>
              </a:ext>
            </a:extLst>
          </p:cNvPr>
          <p:cNvSpPr/>
          <p:nvPr/>
        </p:nvSpPr>
        <p:spPr>
          <a:xfrm>
            <a:off x="9952906" y="5189563"/>
            <a:ext cx="11785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18F8407C-2CD0-4DA2-83AB-13A9C47C3BC4}"/>
              </a:ext>
            </a:extLst>
          </p:cNvPr>
          <p:cNvCxnSpPr>
            <a:cxnSpLocks/>
          </p:cNvCxnSpPr>
          <p:nvPr/>
        </p:nvCxnSpPr>
        <p:spPr>
          <a:xfrm>
            <a:off x="9972129" y="5185510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3C98EC10-CC7A-4932-8DA5-90355AF2B52E}"/>
              </a:ext>
            </a:extLst>
          </p:cNvPr>
          <p:cNvCxnSpPr>
            <a:cxnSpLocks/>
          </p:cNvCxnSpPr>
          <p:nvPr/>
        </p:nvCxnSpPr>
        <p:spPr>
          <a:xfrm flipH="1" flipV="1">
            <a:off x="10004468" y="5967201"/>
            <a:ext cx="835860" cy="4903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8EE7E308-7785-4461-AFA5-1BBE9C0BA1F1}"/>
              </a:ext>
            </a:extLst>
          </p:cNvPr>
          <p:cNvCxnSpPr>
            <a:cxnSpLocks/>
          </p:cNvCxnSpPr>
          <p:nvPr/>
        </p:nvCxnSpPr>
        <p:spPr>
          <a:xfrm flipV="1">
            <a:off x="10887180" y="5493288"/>
            <a:ext cx="207368" cy="9642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E0574492-2AD8-4643-AB93-4B41ACA661E5}"/>
              </a:ext>
            </a:extLst>
          </p:cNvPr>
          <p:cNvCxnSpPr>
            <a:cxnSpLocks/>
          </p:cNvCxnSpPr>
          <p:nvPr/>
        </p:nvCxnSpPr>
        <p:spPr>
          <a:xfrm>
            <a:off x="9952906" y="5497340"/>
            <a:ext cx="12619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ángulo: esquinas diagonales redondeadas 81">
            <a:extLst>
              <a:ext uri="{FF2B5EF4-FFF2-40B4-BE49-F238E27FC236}">
                <a16:creationId xmlns:a16="http://schemas.microsoft.com/office/drawing/2014/main" id="{C722F5A2-7B43-4C95-9838-32D81572F9BE}"/>
              </a:ext>
            </a:extLst>
          </p:cNvPr>
          <p:cNvSpPr/>
          <p:nvPr/>
        </p:nvSpPr>
        <p:spPr>
          <a:xfrm>
            <a:off x="10778681" y="6457556"/>
            <a:ext cx="143588" cy="157864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4F117CF2-0A42-4C12-A291-F3B0499EE245}"/>
              </a:ext>
            </a:extLst>
          </p:cNvPr>
          <p:cNvCxnSpPr>
            <a:cxnSpLocks/>
          </p:cNvCxnSpPr>
          <p:nvPr/>
        </p:nvCxnSpPr>
        <p:spPr>
          <a:xfrm>
            <a:off x="9972129" y="5651318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5279989C-517E-46B1-9DFF-CBDEB19646FB}"/>
              </a:ext>
            </a:extLst>
          </p:cNvPr>
          <p:cNvCxnSpPr>
            <a:cxnSpLocks/>
          </p:cNvCxnSpPr>
          <p:nvPr/>
        </p:nvCxnSpPr>
        <p:spPr>
          <a:xfrm>
            <a:off x="9972129" y="5942007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ángulo 96">
            <a:extLst>
              <a:ext uri="{FF2B5EF4-FFF2-40B4-BE49-F238E27FC236}">
                <a16:creationId xmlns:a16="http://schemas.microsoft.com/office/drawing/2014/main" id="{52BDF88E-0F3D-49EC-AE7E-68A91A50A6E5}"/>
              </a:ext>
            </a:extLst>
          </p:cNvPr>
          <p:cNvSpPr/>
          <p:nvPr/>
        </p:nvSpPr>
        <p:spPr>
          <a:xfrm>
            <a:off x="8438923" y="5634107"/>
            <a:ext cx="11785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EBC93C28-2ACD-41B1-B51A-B3DB52EE8D02}"/>
              </a:ext>
            </a:extLst>
          </p:cNvPr>
          <p:cNvSpPr/>
          <p:nvPr/>
        </p:nvSpPr>
        <p:spPr>
          <a:xfrm>
            <a:off x="9952906" y="5630254"/>
            <a:ext cx="11785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9584845A-D46D-4F43-8EF4-8140BBB769E1}"/>
              </a:ext>
            </a:extLst>
          </p:cNvPr>
          <p:cNvSpPr/>
          <p:nvPr/>
        </p:nvSpPr>
        <p:spPr>
          <a:xfrm>
            <a:off x="6882783" y="5651574"/>
            <a:ext cx="11785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E42EA4A2-B48C-4D7B-91C3-83AC4CBF8D19}"/>
              </a:ext>
            </a:extLst>
          </p:cNvPr>
          <p:cNvSpPr txBox="1"/>
          <p:nvPr/>
        </p:nvSpPr>
        <p:spPr>
          <a:xfrm>
            <a:off x="6717910" y="6344328"/>
            <a:ext cx="1638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Etapa 1</a:t>
            </a:r>
            <a:endParaRPr lang="es-AR" b="1" dirty="0"/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59D878F4-EED5-411F-87C8-59636530B6F9}"/>
              </a:ext>
            </a:extLst>
          </p:cNvPr>
          <p:cNvSpPr txBox="1"/>
          <p:nvPr/>
        </p:nvSpPr>
        <p:spPr>
          <a:xfrm>
            <a:off x="8251532" y="6353932"/>
            <a:ext cx="1414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Etapa 2</a:t>
            </a:r>
            <a:endParaRPr lang="es-AR" b="1" dirty="0"/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29972009-E680-45F8-B78D-3EB0D41B665D}"/>
              </a:ext>
            </a:extLst>
          </p:cNvPr>
          <p:cNvSpPr txBox="1"/>
          <p:nvPr/>
        </p:nvSpPr>
        <p:spPr>
          <a:xfrm>
            <a:off x="9781748" y="6343827"/>
            <a:ext cx="1105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Etapa 3</a:t>
            </a:r>
            <a:endParaRPr lang="es-AR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78B5336-6092-4491-21ED-822284FF7480}"/>
              </a:ext>
            </a:extLst>
          </p:cNvPr>
          <p:cNvSpPr/>
          <p:nvPr/>
        </p:nvSpPr>
        <p:spPr>
          <a:xfrm>
            <a:off x="234561" y="74730"/>
            <a:ext cx="11627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clase P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83F72945-3C9F-A4F2-6027-4BFBACB172A2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34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8" grpId="0"/>
      <p:bldP spid="60" grpId="0" animBg="1"/>
      <p:bldP spid="69" grpId="0"/>
      <p:bldP spid="74" grpId="0" animBg="1"/>
      <p:bldP spid="77" grpId="0"/>
      <p:bldP spid="82" grpId="0" animBg="1"/>
      <p:bldP spid="97" grpId="0"/>
      <p:bldP spid="98" grpId="0"/>
      <p:bldP spid="101" grpId="0"/>
      <p:bldP spid="108" grpId="0"/>
      <p:bldP spid="109" grpId="0"/>
      <p:bldP spid="1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73D26B9-B7F6-4DAF-8292-5E66568A2A86}"/>
              </a:ext>
            </a:extLst>
          </p:cNvPr>
          <p:cNvSpPr/>
          <p:nvPr/>
        </p:nvSpPr>
        <p:spPr>
          <a:xfrm>
            <a:off x="288096" y="202037"/>
            <a:ext cx="11457992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Otro ejemplo de lenguaje en la clase P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ACC = {G | G es un grafo no dirigido con m vértices y tiene un camino del vértice 1 al vértice m}</a:t>
            </a:r>
          </a:p>
          <a:p>
            <a:endParaRPr lang="es-AR" sz="1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Nota: salvo mención explícita, trabajaremos con grafos no dirigidos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Por ejemplo, sea el siguiente grafo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s-AR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	      G = (V, E), siendo V el conjunto de vértices y E el conjunto de arcos   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	      G = ({1, 2, 3, 4, 5}, {(1, 2), (1, 3), (3, 4), (3, 5)})</a:t>
            </a: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Idea general de una MT M que decide el lenguaje ACC en tiempo </a:t>
            </a:r>
            <a:r>
              <a:rPr lang="es-AR" u="sng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34129ED8-7343-4B2C-90A0-012B0190F94F}"/>
              </a:ext>
            </a:extLst>
          </p:cNvPr>
          <p:cNvSpPr/>
          <p:nvPr/>
        </p:nvSpPr>
        <p:spPr>
          <a:xfrm>
            <a:off x="790568" y="2866622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53F3D631-BFAF-449D-B11A-1129C5A94BE0}"/>
              </a:ext>
            </a:extLst>
          </p:cNvPr>
          <p:cNvSpPr/>
          <p:nvPr/>
        </p:nvSpPr>
        <p:spPr>
          <a:xfrm>
            <a:off x="1881601" y="2277355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DC960D1-AED4-43BE-B1A1-E78EFF73621F}"/>
              </a:ext>
            </a:extLst>
          </p:cNvPr>
          <p:cNvCxnSpPr>
            <a:cxnSpLocks/>
          </p:cNvCxnSpPr>
          <p:nvPr/>
        </p:nvCxnSpPr>
        <p:spPr>
          <a:xfrm flipV="1">
            <a:off x="1253938" y="3131690"/>
            <a:ext cx="919289" cy="17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8581CE72-1A02-45B3-9D6B-4E925CE249CF}"/>
              </a:ext>
            </a:extLst>
          </p:cNvPr>
          <p:cNvSpPr/>
          <p:nvPr/>
        </p:nvSpPr>
        <p:spPr>
          <a:xfrm>
            <a:off x="2181226" y="2913987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Diagrama de flujo: conector 28">
            <a:extLst>
              <a:ext uri="{FF2B5EF4-FFF2-40B4-BE49-F238E27FC236}">
                <a16:creationId xmlns:a16="http://schemas.microsoft.com/office/drawing/2014/main" id="{5CA9B1EE-D72B-4A81-9CE6-0B4D13FB3811}"/>
              </a:ext>
            </a:extLst>
          </p:cNvPr>
          <p:cNvSpPr/>
          <p:nvPr/>
        </p:nvSpPr>
        <p:spPr>
          <a:xfrm>
            <a:off x="3153856" y="2779607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Diagrama de flujo: conector 29">
            <a:extLst>
              <a:ext uri="{FF2B5EF4-FFF2-40B4-BE49-F238E27FC236}">
                <a16:creationId xmlns:a16="http://schemas.microsoft.com/office/drawing/2014/main" id="{1EF9A282-BEC9-46A6-B1CA-B7CFF98A2545}"/>
              </a:ext>
            </a:extLst>
          </p:cNvPr>
          <p:cNvSpPr/>
          <p:nvPr/>
        </p:nvSpPr>
        <p:spPr>
          <a:xfrm>
            <a:off x="3264177" y="223600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2C45C9E-D95D-4179-B92D-D0A7D46E60F9}"/>
              </a:ext>
            </a:extLst>
          </p:cNvPr>
          <p:cNvCxnSpPr>
            <a:cxnSpLocks/>
            <a:endCxn id="20" idx="3"/>
          </p:cNvCxnSpPr>
          <p:nvPr/>
        </p:nvCxnSpPr>
        <p:spPr>
          <a:xfrm flipV="1">
            <a:off x="1240361" y="2667600"/>
            <a:ext cx="708195" cy="3360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9EA256BB-15E5-49EC-9FA9-9FA17C0EF757}"/>
              </a:ext>
            </a:extLst>
          </p:cNvPr>
          <p:cNvSpPr/>
          <p:nvPr/>
        </p:nvSpPr>
        <p:spPr>
          <a:xfrm>
            <a:off x="2253373" y="2928878"/>
            <a:ext cx="312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28B14F4D-6B11-4AEB-8275-931749F0D6CE}"/>
              </a:ext>
            </a:extLst>
          </p:cNvPr>
          <p:cNvSpPr/>
          <p:nvPr/>
        </p:nvSpPr>
        <p:spPr>
          <a:xfrm>
            <a:off x="855308" y="291971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09691E56-F129-431B-8C4F-963E23233D08}"/>
              </a:ext>
            </a:extLst>
          </p:cNvPr>
          <p:cNvSpPr/>
          <p:nvPr/>
        </p:nvSpPr>
        <p:spPr>
          <a:xfrm>
            <a:off x="1969312" y="231101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09A18D42-B30A-4A8D-A7B9-F6C182B37AE3}"/>
              </a:ext>
            </a:extLst>
          </p:cNvPr>
          <p:cNvSpPr/>
          <p:nvPr/>
        </p:nvSpPr>
        <p:spPr>
          <a:xfrm>
            <a:off x="3350787" y="227351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10277E24-DF86-4F1F-B223-2B59278FF3C7}"/>
              </a:ext>
            </a:extLst>
          </p:cNvPr>
          <p:cNvSpPr/>
          <p:nvPr/>
        </p:nvSpPr>
        <p:spPr>
          <a:xfrm>
            <a:off x="3226003" y="281896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051DA065-88C4-4384-B69A-460709519957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6837F515-C12F-4DCA-93BD-09EB9D4F7CD0}"/>
              </a:ext>
            </a:extLst>
          </p:cNvPr>
          <p:cNvCxnSpPr>
            <a:cxnSpLocks/>
          </p:cNvCxnSpPr>
          <p:nvPr/>
        </p:nvCxnSpPr>
        <p:spPr>
          <a:xfrm>
            <a:off x="2283253" y="2642851"/>
            <a:ext cx="870603" cy="2933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3B2D690A-3F5A-4472-99FB-16B424F394B1}"/>
              </a:ext>
            </a:extLst>
          </p:cNvPr>
          <p:cNvCxnSpPr>
            <a:cxnSpLocks/>
          </p:cNvCxnSpPr>
          <p:nvPr/>
        </p:nvCxnSpPr>
        <p:spPr>
          <a:xfrm flipV="1">
            <a:off x="2344888" y="2458185"/>
            <a:ext cx="919289" cy="17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Diagrama de flujo: conector 70">
            <a:extLst>
              <a:ext uri="{FF2B5EF4-FFF2-40B4-BE49-F238E27FC236}">
                <a16:creationId xmlns:a16="http://schemas.microsoft.com/office/drawing/2014/main" id="{9B46808E-7361-422E-BAF6-BB207A5D3EDD}"/>
              </a:ext>
            </a:extLst>
          </p:cNvPr>
          <p:cNvSpPr/>
          <p:nvPr/>
        </p:nvSpPr>
        <p:spPr>
          <a:xfrm>
            <a:off x="862715" y="5389106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3" name="Diagrama de flujo: conector 72">
            <a:extLst>
              <a:ext uri="{FF2B5EF4-FFF2-40B4-BE49-F238E27FC236}">
                <a16:creationId xmlns:a16="http://schemas.microsoft.com/office/drawing/2014/main" id="{90B69276-410A-4B8D-B4B9-C5FDCD4AC7D6}"/>
              </a:ext>
            </a:extLst>
          </p:cNvPr>
          <p:cNvSpPr/>
          <p:nvPr/>
        </p:nvSpPr>
        <p:spPr>
          <a:xfrm>
            <a:off x="1953748" y="479983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E0AF464E-6450-49A4-B6DA-457546DD6DB3}"/>
              </a:ext>
            </a:extLst>
          </p:cNvPr>
          <p:cNvCxnSpPr>
            <a:cxnSpLocks/>
          </p:cNvCxnSpPr>
          <p:nvPr/>
        </p:nvCxnSpPr>
        <p:spPr>
          <a:xfrm flipV="1">
            <a:off x="1326085" y="5654174"/>
            <a:ext cx="919289" cy="17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Diagrama de flujo: conector 74">
            <a:extLst>
              <a:ext uri="{FF2B5EF4-FFF2-40B4-BE49-F238E27FC236}">
                <a16:creationId xmlns:a16="http://schemas.microsoft.com/office/drawing/2014/main" id="{332311AA-72E8-46AC-A9AE-15E9C9C7EFF6}"/>
              </a:ext>
            </a:extLst>
          </p:cNvPr>
          <p:cNvSpPr/>
          <p:nvPr/>
        </p:nvSpPr>
        <p:spPr>
          <a:xfrm>
            <a:off x="2253373" y="5436471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6" name="Diagrama de flujo: conector 75">
            <a:extLst>
              <a:ext uri="{FF2B5EF4-FFF2-40B4-BE49-F238E27FC236}">
                <a16:creationId xmlns:a16="http://schemas.microsoft.com/office/drawing/2014/main" id="{71599F2F-1AE6-4A02-BFC9-518855455547}"/>
              </a:ext>
            </a:extLst>
          </p:cNvPr>
          <p:cNvSpPr/>
          <p:nvPr/>
        </p:nvSpPr>
        <p:spPr>
          <a:xfrm>
            <a:off x="3226003" y="5302091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7" name="Diagrama de flujo: conector 76">
            <a:extLst>
              <a:ext uri="{FF2B5EF4-FFF2-40B4-BE49-F238E27FC236}">
                <a16:creationId xmlns:a16="http://schemas.microsoft.com/office/drawing/2014/main" id="{CA3DF551-B044-4D55-A0E9-B17539DB2932}"/>
              </a:ext>
            </a:extLst>
          </p:cNvPr>
          <p:cNvSpPr/>
          <p:nvPr/>
        </p:nvSpPr>
        <p:spPr>
          <a:xfrm>
            <a:off x="3336324" y="4758493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2A0079A6-A6A2-416B-8644-2506A7F36E30}"/>
              </a:ext>
            </a:extLst>
          </p:cNvPr>
          <p:cNvCxnSpPr>
            <a:cxnSpLocks/>
            <a:endCxn id="73" idx="3"/>
          </p:cNvCxnSpPr>
          <p:nvPr/>
        </p:nvCxnSpPr>
        <p:spPr>
          <a:xfrm flipV="1">
            <a:off x="1312508" y="5190084"/>
            <a:ext cx="708195" cy="3360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ángulo 78">
            <a:extLst>
              <a:ext uri="{FF2B5EF4-FFF2-40B4-BE49-F238E27FC236}">
                <a16:creationId xmlns:a16="http://schemas.microsoft.com/office/drawing/2014/main" id="{F2C271E6-88AB-42DD-A52F-0F4F2CE091AA}"/>
              </a:ext>
            </a:extLst>
          </p:cNvPr>
          <p:cNvSpPr/>
          <p:nvPr/>
        </p:nvSpPr>
        <p:spPr>
          <a:xfrm>
            <a:off x="2325520" y="5451362"/>
            <a:ext cx="312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1C16A83A-23E2-457C-933A-31536BC8B861}"/>
              </a:ext>
            </a:extLst>
          </p:cNvPr>
          <p:cNvSpPr/>
          <p:nvPr/>
        </p:nvSpPr>
        <p:spPr>
          <a:xfrm>
            <a:off x="927455" y="544220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B9C13804-BE16-41D5-93B8-A822F34A569F}"/>
              </a:ext>
            </a:extLst>
          </p:cNvPr>
          <p:cNvSpPr/>
          <p:nvPr/>
        </p:nvSpPr>
        <p:spPr>
          <a:xfrm>
            <a:off x="2041459" y="483349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67D25BAE-058A-4EC6-8E3C-1CF4EAC8DAE1}"/>
              </a:ext>
            </a:extLst>
          </p:cNvPr>
          <p:cNvSpPr/>
          <p:nvPr/>
        </p:nvSpPr>
        <p:spPr>
          <a:xfrm>
            <a:off x="3422934" y="47960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64EF6BE0-8AF0-4B5C-8001-CC6FDA4D0F6D}"/>
              </a:ext>
            </a:extLst>
          </p:cNvPr>
          <p:cNvSpPr/>
          <p:nvPr/>
        </p:nvSpPr>
        <p:spPr>
          <a:xfrm>
            <a:off x="3298150" y="534144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D8244762-D411-441E-B667-B7CF42FFC1B7}"/>
              </a:ext>
            </a:extLst>
          </p:cNvPr>
          <p:cNvCxnSpPr>
            <a:cxnSpLocks/>
            <a:stCxn id="73" idx="5"/>
          </p:cNvCxnSpPr>
          <p:nvPr/>
        </p:nvCxnSpPr>
        <p:spPr>
          <a:xfrm>
            <a:off x="2343993" y="5190084"/>
            <a:ext cx="870603" cy="2933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8B0A2729-D53F-44C2-A3CE-7E043413FFDB}"/>
              </a:ext>
            </a:extLst>
          </p:cNvPr>
          <p:cNvCxnSpPr>
            <a:cxnSpLocks/>
          </p:cNvCxnSpPr>
          <p:nvPr/>
        </p:nvCxnSpPr>
        <p:spPr>
          <a:xfrm flipV="1">
            <a:off x="2417035" y="4980669"/>
            <a:ext cx="919289" cy="17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D02B727-D7BD-4FBF-8270-5FF30D4406D0}"/>
              </a:ext>
            </a:extLst>
          </p:cNvPr>
          <p:cNvSpPr txBox="1"/>
          <p:nvPr/>
        </p:nvSpPr>
        <p:spPr>
          <a:xfrm>
            <a:off x="4019408" y="4757165"/>
            <a:ext cx="7900831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Método DFS (por Depth-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búsqueda en profundidad):</a:t>
            </a:r>
          </a:p>
          <a:p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el peor caso, M recorre cada arco 2 veces</a:t>
            </a:r>
          </a:p>
          <a:p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T(n) = O(|E|) = O(|G|) = O(n) pasos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Por lo tanto, ACC </a:t>
            </a:r>
            <a:r>
              <a:rPr lang="es-AR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P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3322745-DF6E-D87B-AEE5-289BF3D1F3FF}"/>
              </a:ext>
            </a:extLst>
          </p:cNvPr>
          <p:cNvSpPr/>
          <p:nvPr/>
        </p:nvSpPr>
        <p:spPr>
          <a:xfrm>
            <a:off x="9313105" y="5387061"/>
            <a:ext cx="3901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</a:t>
            </a:r>
            <a:endParaRPr lang="es-AR" sz="1600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9B79537A-5AF4-E672-1BAA-FF8DDF67B170}"/>
              </a:ext>
            </a:extLst>
          </p:cNvPr>
          <p:cNvCxnSpPr>
            <a:cxnSpLocks/>
          </p:cNvCxnSpPr>
          <p:nvPr/>
        </p:nvCxnSpPr>
        <p:spPr>
          <a:xfrm>
            <a:off x="9190588" y="5675648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B2B22D40-5EAA-1459-6AF4-E7D7D1AA66F4}"/>
              </a:ext>
            </a:extLst>
          </p:cNvPr>
          <p:cNvSpPr/>
          <p:nvPr/>
        </p:nvSpPr>
        <p:spPr>
          <a:xfrm>
            <a:off x="10917384" y="5667101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7E486C7-E121-6BA6-F349-2DC912AC45FD}"/>
              </a:ext>
            </a:extLst>
          </p:cNvPr>
          <p:cNvCxnSpPr>
            <a:cxnSpLocks/>
          </p:cNvCxnSpPr>
          <p:nvPr/>
        </p:nvCxnSpPr>
        <p:spPr>
          <a:xfrm flipV="1">
            <a:off x="10519985" y="5491872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5654424C-6595-4BB5-DEF2-695504411809}"/>
              </a:ext>
            </a:extLst>
          </p:cNvPr>
          <p:cNvSpPr/>
          <p:nvPr/>
        </p:nvSpPr>
        <p:spPr>
          <a:xfrm>
            <a:off x="10893756" y="5314122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5971F04-E498-3019-C677-E48C8E115221}"/>
              </a:ext>
            </a:extLst>
          </p:cNvPr>
          <p:cNvCxnSpPr>
            <a:cxnSpLocks/>
          </p:cNvCxnSpPr>
          <p:nvPr/>
        </p:nvCxnSpPr>
        <p:spPr>
          <a:xfrm>
            <a:off x="10509200" y="5687652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B87168AE-EEC8-3233-F5C0-520C43B4F440}"/>
              </a:ext>
            </a:extLst>
          </p:cNvPr>
          <p:cNvSpPr/>
          <p:nvPr/>
        </p:nvSpPr>
        <p:spPr>
          <a:xfrm>
            <a:off x="9806867" y="5363185"/>
            <a:ext cx="694090" cy="600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03E3D6B-120A-C659-357D-392A0EEC2B3C}"/>
              </a:ext>
            </a:extLst>
          </p:cNvPr>
          <p:cNvSpPr/>
          <p:nvPr/>
        </p:nvSpPr>
        <p:spPr>
          <a:xfrm>
            <a:off x="9938627" y="5483399"/>
            <a:ext cx="531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endParaRPr lang="es-MX" sz="1600" dirty="0"/>
          </a:p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EE44552-3A44-2188-C5CB-236C1D672404}"/>
              </a:ext>
            </a:extLst>
          </p:cNvPr>
          <p:cNvSpPr/>
          <p:nvPr/>
        </p:nvSpPr>
        <p:spPr>
          <a:xfrm>
            <a:off x="9135675" y="6038377"/>
            <a:ext cx="251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tarda tiempo O(|G|)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E0A1055-8571-4AF4-97EB-0B37A565E606}"/>
              </a:ext>
            </a:extLst>
          </p:cNvPr>
          <p:cNvCxnSpPr>
            <a:cxnSpLocks/>
          </p:cNvCxnSpPr>
          <p:nvPr/>
        </p:nvCxnSpPr>
        <p:spPr>
          <a:xfrm flipV="1">
            <a:off x="1397232" y="5185666"/>
            <a:ext cx="443882" cy="182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238C18D-D2FC-AF7C-CD25-A98167BB20D6}"/>
              </a:ext>
            </a:extLst>
          </p:cNvPr>
          <p:cNvCxnSpPr>
            <a:cxnSpLocks/>
          </p:cNvCxnSpPr>
          <p:nvPr/>
        </p:nvCxnSpPr>
        <p:spPr>
          <a:xfrm>
            <a:off x="1434449" y="5757458"/>
            <a:ext cx="671444" cy="9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533C4EF-C5FF-6D00-1D09-DBCEE1E9DB50}"/>
              </a:ext>
            </a:extLst>
          </p:cNvPr>
          <p:cNvCxnSpPr>
            <a:cxnSpLocks/>
          </p:cNvCxnSpPr>
          <p:nvPr/>
        </p:nvCxnSpPr>
        <p:spPr>
          <a:xfrm rot="120000" flipH="1">
            <a:off x="1434621" y="5856687"/>
            <a:ext cx="595214" cy="202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FDB368CE-C4E8-1888-657C-88A010CEF84D}"/>
              </a:ext>
            </a:extLst>
          </p:cNvPr>
          <p:cNvCxnSpPr>
            <a:cxnSpLocks/>
          </p:cNvCxnSpPr>
          <p:nvPr/>
        </p:nvCxnSpPr>
        <p:spPr>
          <a:xfrm>
            <a:off x="2605316" y="5114408"/>
            <a:ext cx="549596" cy="187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3CE5ADBF-93B8-1738-C82A-2B2DB628344D}"/>
              </a:ext>
            </a:extLst>
          </p:cNvPr>
          <p:cNvCxnSpPr>
            <a:cxnSpLocks/>
          </p:cNvCxnSpPr>
          <p:nvPr/>
        </p:nvCxnSpPr>
        <p:spPr>
          <a:xfrm flipH="1" flipV="1">
            <a:off x="2612000" y="5203372"/>
            <a:ext cx="489962" cy="1743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F83651C1-65FB-A767-FF6B-E8C8A5525A30}"/>
              </a:ext>
            </a:extLst>
          </p:cNvPr>
          <p:cNvCxnSpPr>
            <a:cxnSpLocks/>
          </p:cNvCxnSpPr>
          <p:nvPr/>
        </p:nvCxnSpPr>
        <p:spPr>
          <a:xfrm flipV="1">
            <a:off x="2523582" y="4880839"/>
            <a:ext cx="691014" cy="24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42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" grpId="0"/>
      <p:bldP spid="5" grpId="0"/>
      <p:bldP spid="7" grpId="0"/>
      <p:bldP spid="9" grpId="0" animBg="1"/>
      <p:bldP spid="10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1A924D58-4371-4B6D-8AED-503CB998B376}"/>
              </a:ext>
            </a:extLst>
          </p:cNvPr>
          <p:cNvSpPr/>
          <p:nvPr/>
        </p:nvSpPr>
        <p:spPr>
          <a:xfrm>
            <a:off x="2962302" y="762955"/>
            <a:ext cx="9229698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la clase de los lenguajes recursivos.</a:t>
            </a:r>
          </a:p>
          <a:p>
            <a:pPr algn="just"/>
            <a:endParaRPr lang="es-A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es la clase de los lenguajes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en tiempo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(n), es decir tiempo O(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s-ES" sz="18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</a:t>
            </a:r>
          </a:p>
          <a:p>
            <a:pPr algn="just"/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es la clase de los lenguajes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en tiempo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(n), es decir tiempo O(c</a:t>
            </a:r>
            <a:r>
              <a:rPr kumimoji="0" lang="es-ES" sz="18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poly</a:t>
            </a:r>
            <a:r>
              <a:rPr kumimoji="0" lang="es-E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(n)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).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prueba que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EXP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R. 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296C151-81B6-4F0B-9082-896A294902EA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B1D50A-B04B-441E-82D8-49983E459D20}"/>
              </a:ext>
            </a:extLst>
          </p:cNvPr>
          <p:cNvSpPr txBox="1"/>
          <p:nvPr/>
        </p:nvSpPr>
        <p:spPr>
          <a:xfrm>
            <a:off x="279782" y="3600451"/>
            <a:ext cx="11655043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Tesis Fuerte de 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Church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-Turing  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Si L es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decidible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en tiempo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(n) por un modelo computacional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físicamente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realizable,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también es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decidible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en tiempo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(n) por una MT 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(al menos hasta que las máquinas cuánticas sean una realidad).</a:t>
            </a:r>
          </a:p>
          <a:p>
            <a:pPr algn="just"/>
            <a:endParaRPr lang="es-MX" sz="15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Codificación de las cadenas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Todo símbolo se codifica con un número. Se utiliza cualquier codificación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distinta de la unaria 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(codificar números grandes en unario no es físicamente realizable, y además genera inconsistencias).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uniformar usaremos siempre la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codificación binaria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: 1, 10, 11, 100, 101, 110, 111, 1000, 1001,1010, 1011, etc.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B11C2BB-40C2-0E80-80C5-09D2097C4E67}"/>
              </a:ext>
            </a:extLst>
          </p:cNvPr>
          <p:cNvSpPr/>
          <p:nvPr/>
        </p:nvSpPr>
        <p:spPr>
          <a:xfrm>
            <a:off x="249172" y="143605"/>
            <a:ext cx="116856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 versión de la jerarquía temporal</a:t>
            </a:r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29C18B07-E8A3-74BB-BC74-C8868231F763}"/>
              </a:ext>
            </a:extLst>
          </p:cNvPr>
          <p:cNvSpPr/>
          <p:nvPr/>
        </p:nvSpPr>
        <p:spPr>
          <a:xfrm>
            <a:off x="405888" y="750407"/>
            <a:ext cx="2482955" cy="259178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Diagrama de flujo: conector 11">
            <a:extLst>
              <a:ext uri="{FF2B5EF4-FFF2-40B4-BE49-F238E27FC236}">
                <a16:creationId xmlns:a16="http://schemas.microsoft.com/office/drawing/2014/main" id="{B2581CB5-067D-0123-2064-DF70F9E2C1E8}"/>
              </a:ext>
            </a:extLst>
          </p:cNvPr>
          <p:cNvSpPr/>
          <p:nvPr/>
        </p:nvSpPr>
        <p:spPr>
          <a:xfrm>
            <a:off x="871077" y="1614941"/>
            <a:ext cx="1552575" cy="164054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6931E2C7-DB18-85BC-D56A-B3128960F70A}"/>
              </a:ext>
            </a:extLst>
          </p:cNvPr>
          <p:cNvSpPr txBox="1">
            <a:spLocks/>
          </p:cNvSpPr>
          <p:nvPr/>
        </p:nvSpPr>
        <p:spPr>
          <a:xfrm>
            <a:off x="773699" y="1749097"/>
            <a:ext cx="1747326" cy="3843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AD5C629A-6CA4-058C-BC2C-987D1626D7BF}"/>
              </a:ext>
            </a:extLst>
          </p:cNvPr>
          <p:cNvSpPr txBox="1">
            <a:spLocks/>
          </p:cNvSpPr>
          <p:nvPr/>
        </p:nvSpPr>
        <p:spPr>
          <a:xfrm>
            <a:off x="1365388" y="875915"/>
            <a:ext cx="563947" cy="6805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8D0AB92A-A35C-00E5-6A7E-AD9808B23E3B}"/>
              </a:ext>
            </a:extLst>
          </p:cNvPr>
          <p:cNvSpPr/>
          <p:nvPr/>
        </p:nvSpPr>
        <p:spPr>
          <a:xfrm>
            <a:off x="1179210" y="2180630"/>
            <a:ext cx="936307" cy="960481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48AEE139-BE21-2B8A-F97D-A1318E639E87}"/>
              </a:ext>
            </a:extLst>
          </p:cNvPr>
          <p:cNvSpPr txBox="1">
            <a:spLocks/>
          </p:cNvSpPr>
          <p:nvPr/>
        </p:nvSpPr>
        <p:spPr>
          <a:xfrm>
            <a:off x="955218" y="2503362"/>
            <a:ext cx="1420682" cy="3843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9464A48-FBA4-0BD5-318F-7A1BA47C525C}"/>
              </a:ext>
            </a:extLst>
          </p:cNvPr>
          <p:cNvSpPr txBox="1"/>
          <p:nvPr/>
        </p:nvSpPr>
        <p:spPr>
          <a:xfrm>
            <a:off x="2962302" y="5933801"/>
            <a:ext cx="5970761" cy="646331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tamaño n de un número N en binario es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O(log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N).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Por ej., N = 29 en binario es 11101 (n = 5 y log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 = 4,…).</a:t>
            </a:r>
            <a:endParaRPr lang="es-AR" sz="1800" b="1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87DCE8-5E0A-202D-261F-B887FA0FF2A9}"/>
              </a:ext>
            </a:extLst>
          </p:cNvPr>
          <p:cNvSpPr txBox="1"/>
          <p:nvPr/>
        </p:nvSpPr>
        <p:spPr>
          <a:xfrm>
            <a:off x="2962302" y="2796898"/>
            <a:ext cx="24762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b="1" dirty="0">
                <a:latin typeface="Arial" panose="020B0604020202020204" pitchFamily="34" charset="0"/>
                <a:cs typeface="Arial" panose="020B0604020202020204" pitchFamily="34" charset="0"/>
              </a:rPr>
              <a:t>LENGUAJES TRATABLES</a:t>
            </a:r>
            <a:endParaRPr lang="es-AR" sz="1200" b="1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4B356373-48CC-5F37-8FBB-8939ABFF3657}"/>
              </a:ext>
            </a:extLst>
          </p:cNvPr>
          <p:cNvCxnSpPr>
            <a:cxnSpLocks/>
          </p:cNvCxnSpPr>
          <p:nvPr/>
        </p:nvCxnSpPr>
        <p:spPr>
          <a:xfrm rot="10800000" flipH="1">
            <a:off x="1646320" y="2941522"/>
            <a:ext cx="131598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ítulo 1">
            <a:extLst>
              <a:ext uri="{FF2B5EF4-FFF2-40B4-BE49-F238E27FC236}">
                <a16:creationId xmlns:a16="http://schemas.microsoft.com/office/drawing/2014/main" id="{434846CF-79E0-4565-8F66-D2532AB3E717}"/>
              </a:ext>
            </a:extLst>
          </p:cNvPr>
          <p:cNvSpPr txBox="1">
            <a:spLocks/>
          </p:cNvSpPr>
          <p:nvPr/>
        </p:nvSpPr>
        <p:spPr>
          <a:xfrm>
            <a:off x="6238522" y="2171961"/>
            <a:ext cx="2342827" cy="335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problemas</a:t>
            </a: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0B4DF858-D81D-40E8-9AC8-1F6707B38E66}"/>
              </a:ext>
            </a:extLst>
          </p:cNvPr>
          <p:cNvSpPr txBox="1">
            <a:spLocks/>
          </p:cNvSpPr>
          <p:nvPr/>
        </p:nvSpPr>
        <p:spPr>
          <a:xfrm>
            <a:off x="6703841" y="2957834"/>
            <a:ext cx="1531752" cy="314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ítulo 1">
            <a:extLst>
              <a:ext uri="{FF2B5EF4-FFF2-40B4-BE49-F238E27FC236}">
                <a16:creationId xmlns:a16="http://schemas.microsoft.com/office/drawing/2014/main" id="{63D10A8A-FA0E-4A50-8CCF-45CAD2EAAC6D}"/>
              </a:ext>
            </a:extLst>
          </p:cNvPr>
          <p:cNvSpPr txBox="1">
            <a:spLocks/>
          </p:cNvSpPr>
          <p:nvPr/>
        </p:nvSpPr>
        <p:spPr>
          <a:xfrm>
            <a:off x="6515573" y="2547557"/>
            <a:ext cx="1903711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computables</a:t>
            </a:r>
          </a:p>
        </p:txBody>
      </p:sp>
      <p:sp>
        <p:nvSpPr>
          <p:cNvPr id="32" name="Diagrama de flujo: conector 31">
            <a:extLst>
              <a:ext uri="{FF2B5EF4-FFF2-40B4-BE49-F238E27FC236}">
                <a16:creationId xmlns:a16="http://schemas.microsoft.com/office/drawing/2014/main" id="{FB5DABD9-24C2-4684-BA13-F8546430DEF8}"/>
              </a:ext>
            </a:extLst>
          </p:cNvPr>
          <p:cNvSpPr/>
          <p:nvPr/>
        </p:nvSpPr>
        <p:spPr>
          <a:xfrm>
            <a:off x="6703842" y="2492047"/>
            <a:ext cx="1442774" cy="93412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400"/>
          </a:p>
        </p:txBody>
      </p:sp>
      <p:sp>
        <p:nvSpPr>
          <p:cNvPr id="33" name="Diagrama de flujo: conector 32">
            <a:extLst>
              <a:ext uri="{FF2B5EF4-FFF2-40B4-BE49-F238E27FC236}">
                <a16:creationId xmlns:a16="http://schemas.microsoft.com/office/drawing/2014/main" id="{CD79543B-325B-4BD1-B2EB-34B25EC7506B}"/>
              </a:ext>
            </a:extLst>
          </p:cNvPr>
          <p:cNvSpPr/>
          <p:nvPr/>
        </p:nvSpPr>
        <p:spPr>
          <a:xfrm>
            <a:off x="6911203" y="2873636"/>
            <a:ext cx="1056744" cy="449705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400"/>
          </a:p>
        </p:txBody>
      </p:sp>
      <p:sp>
        <p:nvSpPr>
          <p:cNvPr id="37" name="Diagrama de flujo: conector 36">
            <a:extLst>
              <a:ext uri="{FF2B5EF4-FFF2-40B4-BE49-F238E27FC236}">
                <a16:creationId xmlns:a16="http://schemas.microsoft.com/office/drawing/2014/main" id="{C7830507-9E6D-418A-B46F-228290446FB6}"/>
              </a:ext>
            </a:extLst>
          </p:cNvPr>
          <p:cNvSpPr/>
          <p:nvPr/>
        </p:nvSpPr>
        <p:spPr>
          <a:xfrm>
            <a:off x="8518115" y="2171961"/>
            <a:ext cx="1245609" cy="1254210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400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22C3208-0999-412E-BFF8-63D185682304}"/>
              </a:ext>
            </a:extLst>
          </p:cNvPr>
          <p:cNvCxnSpPr>
            <a:cxnSpLocks/>
          </p:cNvCxnSpPr>
          <p:nvPr/>
        </p:nvCxnSpPr>
        <p:spPr>
          <a:xfrm flipV="1">
            <a:off x="7415491" y="2124567"/>
            <a:ext cx="1687067" cy="73100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6B5C373-AEFF-42CB-8618-121532DD9E78}"/>
              </a:ext>
            </a:extLst>
          </p:cNvPr>
          <p:cNvCxnSpPr>
            <a:cxnSpLocks/>
            <a:endCxn id="35" idx="2"/>
          </p:cNvCxnSpPr>
          <p:nvPr/>
        </p:nvCxnSpPr>
        <p:spPr>
          <a:xfrm>
            <a:off x="7356282" y="3329372"/>
            <a:ext cx="1806285" cy="11679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ítulo 1">
            <a:extLst>
              <a:ext uri="{FF2B5EF4-FFF2-40B4-BE49-F238E27FC236}">
                <a16:creationId xmlns:a16="http://schemas.microsoft.com/office/drawing/2014/main" id="{9DE9D5D9-37CC-0B12-55A2-5C7BDF32A9BA}"/>
              </a:ext>
            </a:extLst>
          </p:cNvPr>
          <p:cNvSpPr txBox="1">
            <a:spLocks/>
          </p:cNvSpPr>
          <p:nvPr/>
        </p:nvSpPr>
        <p:spPr>
          <a:xfrm>
            <a:off x="8356050" y="2373053"/>
            <a:ext cx="1613034" cy="349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problemas intratables</a:t>
            </a: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206587C2-069B-DF3C-3E11-9C53C8D055D9}"/>
              </a:ext>
            </a:extLst>
          </p:cNvPr>
          <p:cNvCxnSpPr>
            <a:cxnSpLocks/>
            <a:endCxn id="37" idx="6"/>
          </p:cNvCxnSpPr>
          <p:nvPr/>
        </p:nvCxnSpPr>
        <p:spPr>
          <a:xfrm flipV="1">
            <a:off x="8518115" y="2799066"/>
            <a:ext cx="1245609" cy="5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ítulo 1">
            <a:extLst>
              <a:ext uri="{FF2B5EF4-FFF2-40B4-BE49-F238E27FC236}">
                <a16:creationId xmlns:a16="http://schemas.microsoft.com/office/drawing/2014/main" id="{0ED7C92B-A9B1-9C59-FDA0-70A1DFC0CA8B}"/>
              </a:ext>
            </a:extLst>
          </p:cNvPr>
          <p:cNvSpPr txBox="1">
            <a:spLocks/>
          </p:cNvSpPr>
          <p:nvPr/>
        </p:nvSpPr>
        <p:spPr>
          <a:xfrm>
            <a:off x="8356050" y="2904165"/>
            <a:ext cx="1613034" cy="542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problemas tratables</a:t>
            </a:r>
          </a:p>
          <a:p>
            <a:pPr algn="ctr"/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Diagrama de flujo: conector 35">
            <a:extLst>
              <a:ext uri="{FF2B5EF4-FFF2-40B4-BE49-F238E27FC236}">
                <a16:creationId xmlns:a16="http://schemas.microsoft.com/office/drawing/2014/main" id="{421D66B3-E70F-DD08-7CB6-61C0475013A5}"/>
              </a:ext>
            </a:extLst>
          </p:cNvPr>
          <p:cNvSpPr/>
          <p:nvPr/>
        </p:nvSpPr>
        <p:spPr>
          <a:xfrm>
            <a:off x="6520315" y="2171961"/>
            <a:ext cx="1810832" cy="134913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400" dirty="0"/>
          </a:p>
        </p:txBody>
      </p:sp>
      <p:sp>
        <p:nvSpPr>
          <p:cNvPr id="50" name="Diagrama de flujo: conector 49">
            <a:extLst>
              <a:ext uri="{FF2B5EF4-FFF2-40B4-BE49-F238E27FC236}">
                <a16:creationId xmlns:a16="http://schemas.microsoft.com/office/drawing/2014/main" id="{06F23A2F-CB95-858A-DFE7-A1D6BCBAB72F}"/>
              </a:ext>
            </a:extLst>
          </p:cNvPr>
          <p:cNvSpPr/>
          <p:nvPr/>
        </p:nvSpPr>
        <p:spPr>
          <a:xfrm>
            <a:off x="10075315" y="2097032"/>
            <a:ext cx="1245608" cy="1349134"/>
          </a:xfrm>
          <a:prstGeom prst="flowChartConnector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Diagrama de flujo: conector 50">
            <a:extLst>
              <a:ext uri="{FF2B5EF4-FFF2-40B4-BE49-F238E27FC236}">
                <a16:creationId xmlns:a16="http://schemas.microsoft.com/office/drawing/2014/main" id="{72765F60-315D-0F12-55B3-960626001601}"/>
              </a:ext>
            </a:extLst>
          </p:cNvPr>
          <p:cNvSpPr/>
          <p:nvPr/>
        </p:nvSpPr>
        <p:spPr>
          <a:xfrm>
            <a:off x="10269805" y="2428423"/>
            <a:ext cx="835552" cy="951484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2" name="Título 1">
            <a:extLst>
              <a:ext uri="{FF2B5EF4-FFF2-40B4-BE49-F238E27FC236}">
                <a16:creationId xmlns:a16="http://schemas.microsoft.com/office/drawing/2014/main" id="{E681EBC1-92EF-F463-A064-5AF850ABB6B5}"/>
              </a:ext>
            </a:extLst>
          </p:cNvPr>
          <p:cNvSpPr txBox="1">
            <a:spLocks/>
          </p:cNvSpPr>
          <p:nvPr/>
        </p:nvSpPr>
        <p:spPr>
          <a:xfrm>
            <a:off x="10330339" y="2435012"/>
            <a:ext cx="753436" cy="3843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</a:p>
        </p:txBody>
      </p:sp>
      <p:sp>
        <p:nvSpPr>
          <p:cNvPr id="53" name="Título 1">
            <a:extLst>
              <a:ext uri="{FF2B5EF4-FFF2-40B4-BE49-F238E27FC236}">
                <a16:creationId xmlns:a16="http://schemas.microsoft.com/office/drawing/2014/main" id="{DB24EF99-D2A7-F910-B347-869A76219126}"/>
              </a:ext>
            </a:extLst>
          </p:cNvPr>
          <p:cNvSpPr txBox="1">
            <a:spLocks/>
          </p:cNvSpPr>
          <p:nvPr/>
        </p:nvSpPr>
        <p:spPr>
          <a:xfrm>
            <a:off x="10521806" y="2124567"/>
            <a:ext cx="352627" cy="3374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54" name="Diagrama de flujo: conector 53">
            <a:extLst>
              <a:ext uri="{FF2B5EF4-FFF2-40B4-BE49-F238E27FC236}">
                <a16:creationId xmlns:a16="http://schemas.microsoft.com/office/drawing/2014/main" id="{085EFBCE-7B10-8CFC-3C6C-B9E1A05CCD9F}"/>
              </a:ext>
            </a:extLst>
          </p:cNvPr>
          <p:cNvSpPr/>
          <p:nvPr/>
        </p:nvSpPr>
        <p:spPr>
          <a:xfrm>
            <a:off x="10416145" y="2743723"/>
            <a:ext cx="563947" cy="500583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5" name="Título 1">
            <a:extLst>
              <a:ext uri="{FF2B5EF4-FFF2-40B4-BE49-F238E27FC236}">
                <a16:creationId xmlns:a16="http://schemas.microsoft.com/office/drawing/2014/main" id="{1B1F0469-42FD-7094-B558-D42AA0C85983}"/>
              </a:ext>
            </a:extLst>
          </p:cNvPr>
          <p:cNvSpPr txBox="1">
            <a:spLocks/>
          </p:cNvSpPr>
          <p:nvPr/>
        </p:nvSpPr>
        <p:spPr>
          <a:xfrm>
            <a:off x="10532947" y="2825653"/>
            <a:ext cx="348220" cy="3843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D8B2D289-CC2C-9CE4-A666-5107D346F517}"/>
              </a:ext>
            </a:extLst>
          </p:cNvPr>
          <p:cNvCxnSpPr>
            <a:cxnSpLocks/>
          </p:cNvCxnSpPr>
          <p:nvPr/>
        </p:nvCxnSpPr>
        <p:spPr>
          <a:xfrm rot="120000" flipV="1">
            <a:off x="9087841" y="2072359"/>
            <a:ext cx="1644272" cy="8486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29CEB877-08BC-3F80-C763-A5902157965D}"/>
              </a:ext>
            </a:extLst>
          </p:cNvPr>
          <p:cNvCxnSpPr>
            <a:cxnSpLocks/>
          </p:cNvCxnSpPr>
          <p:nvPr/>
        </p:nvCxnSpPr>
        <p:spPr>
          <a:xfrm rot="180000" flipV="1">
            <a:off x="9103652" y="3421205"/>
            <a:ext cx="1644272" cy="8486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6E794B23-95C5-927D-3EE8-A8EB084619EB}"/>
              </a:ext>
            </a:extLst>
          </p:cNvPr>
          <p:cNvCxnSpPr>
            <a:cxnSpLocks/>
          </p:cNvCxnSpPr>
          <p:nvPr/>
        </p:nvCxnSpPr>
        <p:spPr>
          <a:xfrm>
            <a:off x="9580980" y="3107863"/>
            <a:ext cx="98866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38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9" grpId="0"/>
      <p:bldP spid="30" grpId="0"/>
      <p:bldP spid="31" grpId="0"/>
      <p:bldP spid="32" grpId="0" animBg="1"/>
      <p:bldP spid="33" grpId="0" animBg="1"/>
      <p:bldP spid="37" grpId="0" animBg="1"/>
      <p:bldP spid="34" grpId="0"/>
      <p:bldP spid="35" grpId="0"/>
      <p:bldP spid="36" grpId="0" animBg="1"/>
      <p:bldP spid="50" grpId="0" animBg="1"/>
      <p:bldP spid="51" grpId="0" animBg="1"/>
      <p:bldP spid="52" grpId="0"/>
      <p:bldP spid="53" grpId="0"/>
      <p:bldP spid="54" grpId="0" animBg="1"/>
      <p:bldP spid="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73D26B9-B7F6-4DAF-8292-5E66568A2A86}"/>
              </a:ext>
            </a:extLst>
          </p:cNvPr>
          <p:cNvSpPr/>
          <p:nvPr/>
        </p:nvSpPr>
        <p:spPr>
          <a:xfrm>
            <a:off x="288096" y="202037"/>
            <a:ext cx="11457992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Ejemplo de lenguaje que </a:t>
            </a:r>
            <a:r>
              <a:rPr lang="es-A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no estaría</a:t>
            </a:r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 en P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SAT = {φ | φ es una fórmula booleana sin cuantificadores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m variables}</a:t>
            </a:r>
          </a:p>
          <a:p>
            <a:pPr algn="ctr"/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P.ej.:     φ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(x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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(¬x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 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con la asignación 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(V, V, V) 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    	    φ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(x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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(¬x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 no 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con ninguna asignación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MT M que decide SAT emplea una tabla de verdad 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no se conoce otro algoritmo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 P.ej., para φ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		          (x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x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 x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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(¬x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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051DA065-88C4-4384-B69A-460709519957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11C0B6F7-884B-4714-AE4F-24DC6FF9E6C3}"/>
              </a:ext>
            </a:extLst>
          </p:cNvPr>
          <p:cNvSpPr txBox="1"/>
          <p:nvPr/>
        </p:nvSpPr>
        <p:spPr>
          <a:xfrm>
            <a:off x="2829519" y="3737854"/>
            <a:ext cx="354053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V 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 V        V        V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V 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 F    </a:t>
            </a:r>
            <a:r>
              <a:rPr lang="es-AR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V        V        F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V      F      V    </a:t>
            </a:r>
            <a:r>
              <a:rPr lang="es-A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V        F        V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V      F 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V        F   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F      V 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   V   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F      V      F    </a:t>
            </a:r>
            <a:r>
              <a:rPr lang="es-AR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   V        F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F      F      V    </a:t>
            </a:r>
            <a:r>
              <a:rPr lang="es-A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   F        V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F      F 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F2F970E2-AB72-4C98-A803-360BF036C8BE}"/>
              </a:ext>
            </a:extLst>
          </p:cNvPr>
          <p:cNvSpPr txBox="1"/>
          <p:nvPr/>
        </p:nvSpPr>
        <p:spPr>
          <a:xfrm>
            <a:off x="632444" y="6095036"/>
            <a:ext cx="109271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Por lo tanto, M puede llegar a ejecutar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O(2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.|φ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 = O(2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.n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 pasos. </a:t>
            </a:r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errar corchete 2">
            <a:extLst>
              <a:ext uri="{FF2B5EF4-FFF2-40B4-BE49-F238E27FC236}">
                <a16:creationId xmlns:a16="http://schemas.microsoft.com/office/drawing/2014/main" id="{8F55CE60-8231-432A-8955-42AFA0948678}"/>
              </a:ext>
            </a:extLst>
          </p:cNvPr>
          <p:cNvSpPr/>
          <p:nvPr/>
        </p:nvSpPr>
        <p:spPr>
          <a:xfrm>
            <a:off x="6370055" y="3872916"/>
            <a:ext cx="130690" cy="1851904"/>
          </a:xfrm>
          <a:prstGeom prst="rightBracket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980D452-960C-4E27-9C32-6855D91DF506}"/>
              </a:ext>
            </a:extLst>
          </p:cNvPr>
          <p:cNvSpPr txBox="1"/>
          <p:nvPr/>
        </p:nvSpPr>
        <p:spPr>
          <a:xfrm>
            <a:off x="6625303" y="4168740"/>
            <a:ext cx="55666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posibles asignaciones (en este caso 8)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(por cada variable se prueba con los valores V y F)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evaluación de cada asignación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puede efectuar en tiempo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O(|φ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AR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74269B-FFFE-C02D-FCE7-E26E47DBFCA4}"/>
              </a:ext>
            </a:extLst>
          </p:cNvPr>
          <p:cNvSpPr txBox="1"/>
          <p:nvPr/>
        </p:nvSpPr>
        <p:spPr>
          <a:xfrm>
            <a:off x="1262743" y="948514"/>
            <a:ext cx="9154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Nota: salvo mención explícita, trabajaremos con fórmulas booleanas sin cuantificadores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10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/>
      <p:bldP spid="3" grpId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73D26B9-B7F6-4DAF-8292-5E66568A2A86}"/>
              </a:ext>
            </a:extLst>
          </p:cNvPr>
          <p:cNvSpPr/>
          <p:nvPr/>
        </p:nvSpPr>
        <p:spPr>
          <a:xfrm>
            <a:off x="288096" y="176833"/>
            <a:ext cx="11676925" cy="657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Otro ejemplo de lenguaje que </a:t>
            </a:r>
            <a:r>
              <a:rPr lang="es-A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no estaría </a:t>
            </a:r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en P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5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CH = {G | G es un grafo no dirigido con m vértices y tiene un circuito de Hamilton}</a:t>
            </a:r>
          </a:p>
          <a:p>
            <a:endParaRPr lang="es-AR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Circuito de Hamilton (</a:t>
            </a:r>
            <a:r>
              <a:rPr lang="es-AR" u="sng" dirty="0" err="1">
                <a:latin typeface="Arial" panose="020B0604020202020204" pitchFamily="34" charset="0"/>
                <a:cs typeface="Arial" panose="020B0604020202020204" pitchFamily="34" charset="0"/>
              </a:rPr>
              <a:t>CdeH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recorrido de todos los vértices de un grafo sin repetirlos, salvo el primero al final. 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s-AR" sz="3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MT M que decide CH prueba con todas las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permutaciones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vértices 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no se conoce otro algoritmo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 Por ej., en grafos con 5 vértices, hay que probar con 12345, 12354, 12435, 12453, 12534, 12543, etc.</a:t>
            </a:r>
          </a:p>
          <a:p>
            <a:pPr lvl="1" algn="just"/>
            <a:endParaRPr lang="es-A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Las permutaciones de m vértices suman m! = m.(m – 1).(m – 2).(m – 3)…2.1 =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O(m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ejemplo, en el caso de m = 5: 5.4.3.2.1 = 120.</a:t>
            </a:r>
          </a:p>
          <a:p>
            <a:pPr lvl="1" algn="just"/>
            <a:endParaRPr lang="es-AR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otro lado, chequear si una permutación C es un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CdeH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se puede hacer en tiempo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O(|G|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/>
            <a:endParaRPr lang="es-AR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definitiva, M puede llegar a ejecutar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O(m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.|G|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 = O(n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.n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 pasos.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39F827D-AC26-4E4E-A8F8-AF0FEF8A01B7}"/>
              </a:ext>
            </a:extLst>
          </p:cNvPr>
          <p:cNvSpPr/>
          <p:nvPr/>
        </p:nvSpPr>
        <p:spPr>
          <a:xfrm>
            <a:off x="3522359" y="3780426"/>
            <a:ext cx="2070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Grafo con un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CdeH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07191BDF-F53B-41DA-BABB-C9F65D4647E5}"/>
              </a:ext>
            </a:extLst>
          </p:cNvPr>
          <p:cNvSpPr/>
          <p:nvPr/>
        </p:nvSpPr>
        <p:spPr>
          <a:xfrm>
            <a:off x="2708505" y="3159171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34129ED8-7343-4B2C-90A0-012B0190F94F}"/>
              </a:ext>
            </a:extLst>
          </p:cNvPr>
          <p:cNvSpPr/>
          <p:nvPr/>
        </p:nvSpPr>
        <p:spPr>
          <a:xfrm>
            <a:off x="6783927" y="2748490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53F3D631-BFAF-449D-B11A-1129C5A94BE0}"/>
              </a:ext>
            </a:extLst>
          </p:cNvPr>
          <p:cNvSpPr/>
          <p:nvPr/>
        </p:nvSpPr>
        <p:spPr>
          <a:xfrm>
            <a:off x="7874960" y="2159223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2303C0F2-B873-4772-8414-79E9CFE0E565}"/>
              </a:ext>
            </a:extLst>
          </p:cNvPr>
          <p:cNvSpPr/>
          <p:nvPr/>
        </p:nvSpPr>
        <p:spPr>
          <a:xfrm>
            <a:off x="1878326" y="2185543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313A8E9A-D69C-4AA7-A248-50B861D8654E}"/>
              </a:ext>
            </a:extLst>
          </p:cNvPr>
          <p:cNvSpPr/>
          <p:nvPr/>
        </p:nvSpPr>
        <p:spPr>
          <a:xfrm>
            <a:off x="4205384" y="3387771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798C643A-8DFF-4F22-A9F8-8AA1AA0A90EA}"/>
              </a:ext>
            </a:extLst>
          </p:cNvPr>
          <p:cNvSpPr/>
          <p:nvPr/>
        </p:nvSpPr>
        <p:spPr>
          <a:xfrm>
            <a:off x="3570362" y="2141753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DC960D1-AED4-43BE-B1A1-E78EFF73621F}"/>
              </a:ext>
            </a:extLst>
          </p:cNvPr>
          <p:cNvCxnSpPr>
            <a:cxnSpLocks/>
            <a:stCxn id="19" idx="5"/>
            <a:endCxn id="28" idx="2"/>
          </p:cNvCxnSpPr>
          <p:nvPr/>
        </p:nvCxnSpPr>
        <p:spPr>
          <a:xfrm>
            <a:off x="7174172" y="3138735"/>
            <a:ext cx="845167" cy="3908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iagrama de flujo: conector 26">
            <a:extLst>
              <a:ext uri="{FF2B5EF4-FFF2-40B4-BE49-F238E27FC236}">
                <a16:creationId xmlns:a16="http://schemas.microsoft.com/office/drawing/2014/main" id="{48A2D422-44CD-4D56-93FC-FDE654223B2F}"/>
              </a:ext>
            </a:extLst>
          </p:cNvPr>
          <p:cNvSpPr/>
          <p:nvPr/>
        </p:nvSpPr>
        <p:spPr>
          <a:xfrm>
            <a:off x="5207356" y="257582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8581CE72-1A02-45B3-9D6B-4E925CE249CF}"/>
              </a:ext>
            </a:extLst>
          </p:cNvPr>
          <p:cNvSpPr/>
          <p:nvPr/>
        </p:nvSpPr>
        <p:spPr>
          <a:xfrm>
            <a:off x="8019339" y="3300981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Diagrama de flujo: conector 28">
            <a:extLst>
              <a:ext uri="{FF2B5EF4-FFF2-40B4-BE49-F238E27FC236}">
                <a16:creationId xmlns:a16="http://schemas.microsoft.com/office/drawing/2014/main" id="{5CA9B1EE-D72B-4A81-9CE6-0B4D13FB3811}"/>
              </a:ext>
            </a:extLst>
          </p:cNvPr>
          <p:cNvSpPr/>
          <p:nvPr/>
        </p:nvSpPr>
        <p:spPr>
          <a:xfrm>
            <a:off x="9583173" y="2993675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Diagrama de flujo: conector 29">
            <a:extLst>
              <a:ext uri="{FF2B5EF4-FFF2-40B4-BE49-F238E27FC236}">
                <a16:creationId xmlns:a16="http://schemas.microsoft.com/office/drawing/2014/main" id="{1EF9A282-BEC9-46A6-B1CA-B7CFF98A2545}"/>
              </a:ext>
            </a:extLst>
          </p:cNvPr>
          <p:cNvSpPr/>
          <p:nvPr/>
        </p:nvSpPr>
        <p:spPr>
          <a:xfrm>
            <a:off x="9087779" y="172494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AA96ACE4-28E8-43EF-897A-11432A01A4A4}"/>
              </a:ext>
            </a:extLst>
          </p:cNvPr>
          <p:cNvCxnSpPr>
            <a:endCxn id="28" idx="0"/>
          </p:cNvCxnSpPr>
          <p:nvPr/>
        </p:nvCxnSpPr>
        <p:spPr>
          <a:xfrm>
            <a:off x="8103560" y="2632621"/>
            <a:ext cx="144379" cy="6683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2C45C9E-D95D-4179-B92D-D0A7D46E60F9}"/>
              </a:ext>
            </a:extLst>
          </p:cNvPr>
          <p:cNvCxnSpPr>
            <a:cxnSpLocks/>
            <a:endCxn id="20" idx="3"/>
          </p:cNvCxnSpPr>
          <p:nvPr/>
        </p:nvCxnSpPr>
        <p:spPr>
          <a:xfrm flipV="1">
            <a:off x="7233720" y="2549468"/>
            <a:ext cx="708195" cy="3360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4F39019-5352-4A30-8A5C-DB4F8C9BCA46}"/>
              </a:ext>
            </a:extLst>
          </p:cNvPr>
          <p:cNvCxnSpPr>
            <a:endCxn id="29" idx="1"/>
          </p:cNvCxnSpPr>
          <p:nvPr/>
        </p:nvCxnSpPr>
        <p:spPr>
          <a:xfrm>
            <a:off x="8281416" y="2487467"/>
            <a:ext cx="1368712" cy="573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2C7661C7-E915-40BB-9122-F9D81AE095FB}"/>
              </a:ext>
            </a:extLst>
          </p:cNvPr>
          <p:cNvCxnSpPr>
            <a:endCxn id="23" idx="2"/>
          </p:cNvCxnSpPr>
          <p:nvPr/>
        </p:nvCxnSpPr>
        <p:spPr>
          <a:xfrm flipV="1">
            <a:off x="2314860" y="2370353"/>
            <a:ext cx="1255502" cy="450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DB315C2A-5C58-4209-866B-4DE3D88F1CEF}"/>
              </a:ext>
            </a:extLst>
          </p:cNvPr>
          <p:cNvCxnSpPr>
            <a:endCxn id="22" idx="2"/>
          </p:cNvCxnSpPr>
          <p:nvPr/>
        </p:nvCxnSpPr>
        <p:spPr>
          <a:xfrm>
            <a:off x="3165705" y="3391782"/>
            <a:ext cx="1039679" cy="224589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EF5847F8-BAD9-499D-B633-834C048BCAF0}"/>
              </a:ext>
            </a:extLst>
          </p:cNvPr>
          <p:cNvCxnSpPr>
            <a:cxnSpLocks/>
            <a:endCxn id="23" idx="3"/>
          </p:cNvCxnSpPr>
          <p:nvPr/>
        </p:nvCxnSpPr>
        <p:spPr>
          <a:xfrm flipV="1">
            <a:off x="3056957" y="2531998"/>
            <a:ext cx="580360" cy="6376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1318CEAD-AEE3-40FF-BC43-ECA4705E1D38}"/>
              </a:ext>
            </a:extLst>
          </p:cNvPr>
          <p:cNvCxnSpPr>
            <a:endCxn id="18" idx="1"/>
          </p:cNvCxnSpPr>
          <p:nvPr/>
        </p:nvCxnSpPr>
        <p:spPr>
          <a:xfrm>
            <a:off x="2251305" y="2617048"/>
            <a:ext cx="524155" cy="609078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5068870-CD3C-4C4F-A314-E87C584AD9F5}"/>
              </a:ext>
            </a:extLst>
          </p:cNvPr>
          <p:cNvCxnSpPr>
            <a:cxnSpLocks/>
          </p:cNvCxnSpPr>
          <p:nvPr/>
        </p:nvCxnSpPr>
        <p:spPr>
          <a:xfrm flipV="1">
            <a:off x="8330677" y="2017859"/>
            <a:ext cx="780824" cy="3588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E5D6F269-D12F-40B5-B699-B78455818E3D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3896394" y="2596302"/>
            <a:ext cx="537590" cy="791469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9EA256BB-15E5-49EC-9FA9-9FA17C0EF757}"/>
              </a:ext>
            </a:extLst>
          </p:cNvPr>
          <p:cNvSpPr/>
          <p:nvPr/>
        </p:nvSpPr>
        <p:spPr>
          <a:xfrm>
            <a:off x="8094918" y="3353129"/>
            <a:ext cx="312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BB191AA-4F7E-4A1D-A5A1-6785A212236C}"/>
              </a:ext>
            </a:extLst>
          </p:cNvPr>
          <p:cNvSpPr/>
          <p:nvPr/>
        </p:nvSpPr>
        <p:spPr>
          <a:xfrm>
            <a:off x="3658686" y="2184362"/>
            <a:ext cx="312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0C2D49C3-1093-4788-94CE-AA663339B7DC}"/>
              </a:ext>
            </a:extLst>
          </p:cNvPr>
          <p:cNvCxnSpPr>
            <a:cxnSpLocks/>
          </p:cNvCxnSpPr>
          <p:nvPr/>
        </p:nvCxnSpPr>
        <p:spPr>
          <a:xfrm>
            <a:off x="4009135" y="2363492"/>
            <a:ext cx="1203833" cy="389215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273C8388-825C-4C11-8590-FF1796F66ADE}"/>
              </a:ext>
            </a:extLst>
          </p:cNvPr>
          <p:cNvSpPr/>
          <p:nvPr/>
        </p:nvSpPr>
        <p:spPr>
          <a:xfrm>
            <a:off x="1938399" y="223502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E73BC61-AEAC-4E93-8B35-60BBC055B427}"/>
              </a:ext>
            </a:extLst>
          </p:cNvPr>
          <p:cNvSpPr/>
          <p:nvPr/>
        </p:nvSpPr>
        <p:spPr>
          <a:xfrm>
            <a:off x="5283794" y="261976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01924AA3-F9BC-4DA2-A2CD-8ED63289531C}"/>
              </a:ext>
            </a:extLst>
          </p:cNvPr>
          <p:cNvSpPr/>
          <p:nvPr/>
        </p:nvSpPr>
        <p:spPr>
          <a:xfrm>
            <a:off x="4289605" y="342522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97139169-43A2-4068-80BE-4119EBDA8235}"/>
              </a:ext>
            </a:extLst>
          </p:cNvPr>
          <p:cNvSpPr/>
          <p:nvPr/>
        </p:nvSpPr>
        <p:spPr>
          <a:xfrm>
            <a:off x="2777198" y="321367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855F54C2-4329-4D8C-A688-62CD4F3E1738}"/>
              </a:ext>
            </a:extLst>
          </p:cNvPr>
          <p:cNvCxnSpPr>
            <a:cxnSpLocks/>
            <a:stCxn id="21" idx="5"/>
            <a:endCxn id="22" idx="1"/>
          </p:cNvCxnSpPr>
          <p:nvPr/>
        </p:nvCxnSpPr>
        <p:spPr>
          <a:xfrm>
            <a:off x="2268571" y="2575788"/>
            <a:ext cx="2003768" cy="8789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B6412520-491D-4262-BBB3-07CBE13C4FBF}"/>
              </a:ext>
            </a:extLst>
          </p:cNvPr>
          <p:cNvCxnSpPr>
            <a:cxnSpLocks/>
          </p:cNvCxnSpPr>
          <p:nvPr/>
        </p:nvCxnSpPr>
        <p:spPr>
          <a:xfrm>
            <a:off x="2325726" y="2507945"/>
            <a:ext cx="2937312" cy="435994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ángulo 65">
            <a:extLst>
              <a:ext uri="{FF2B5EF4-FFF2-40B4-BE49-F238E27FC236}">
                <a16:creationId xmlns:a16="http://schemas.microsoft.com/office/drawing/2014/main" id="{28B14F4D-6B11-4AEB-8275-931749F0D6CE}"/>
              </a:ext>
            </a:extLst>
          </p:cNvPr>
          <p:cNvSpPr/>
          <p:nvPr/>
        </p:nvSpPr>
        <p:spPr>
          <a:xfrm>
            <a:off x="6848667" y="280158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09691E56-F129-431B-8C4F-963E23233D08}"/>
              </a:ext>
            </a:extLst>
          </p:cNvPr>
          <p:cNvSpPr/>
          <p:nvPr/>
        </p:nvSpPr>
        <p:spPr>
          <a:xfrm>
            <a:off x="7962671" y="219288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09A18D42-B30A-4A8D-A7B9-F6C182B37AE3}"/>
              </a:ext>
            </a:extLst>
          </p:cNvPr>
          <p:cNvSpPr/>
          <p:nvPr/>
        </p:nvSpPr>
        <p:spPr>
          <a:xfrm>
            <a:off x="9174389" y="176245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10277E24-DF86-4F1F-B223-2B59278FF3C7}"/>
              </a:ext>
            </a:extLst>
          </p:cNvPr>
          <p:cNvSpPr/>
          <p:nvPr/>
        </p:nvSpPr>
        <p:spPr>
          <a:xfrm>
            <a:off x="9655320" y="303302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121ACC5-70B7-42C8-AFF7-4FD1B360B60C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380195" y="2174424"/>
            <a:ext cx="431578" cy="819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ángulo 71">
            <a:extLst>
              <a:ext uri="{FF2B5EF4-FFF2-40B4-BE49-F238E27FC236}">
                <a16:creationId xmlns:a16="http://schemas.microsoft.com/office/drawing/2014/main" id="{CCDBCB77-946D-458D-8FF3-2BEE6B3E06FB}"/>
              </a:ext>
            </a:extLst>
          </p:cNvPr>
          <p:cNvSpPr/>
          <p:nvPr/>
        </p:nvSpPr>
        <p:spPr>
          <a:xfrm>
            <a:off x="7391849" y="3776795"/>
            <a:ext cx="18838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Grafo sin un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CdeH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051DA065-88C4-4384-B69A-460709519957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803DB346-6FC8-40BD-A497-D30F218FFE47}"/>
              </a:ext>
            </a:extLst>
          </p:cNvPr>
          <p:cNvSpPr/>
          <p:nvPr/>
        </p:nvSpPr>
        <p:spPr>
          <a:xfrm>
            <a:off x="744552" y="5122156"/>
            <a:ext cx="111128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53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32141F60-5FFF-463D-B251-C64B1C99DCAB}"/>
              </a:ext>
            </a:extLst>
          </p:cNvPr>
          <p:cNvSpPr/>
          <p:nvPr/>
        </p:nvSpPr>
        <p:spPr>
          <a:xfrm>
            <a:off x="224338" y="270931"/>
            <a:ext cx="11967661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 = {φ | φ es una fórmula booleana sin cuantificadores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m variables} </a:t>
            </a:r>
          </a:p>
          <a:p>
            <a:pPr algn="just"/>
            <a:endParaRPr lang="es-A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Dada una fórmula booleana φ, una MT M puede llegar a decidir si φ</a:t>
            </a:r>
            <a:r>
              <a:rPr lang="es-AR" dirty="0"/>
              <a:t> ∈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SAT en tiempo exponencial,</a:t>
            </a: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pero contando con una asignación </a:t>
            </a:r>
            <a:r>
              <a:rPr lang="es-AR" b="1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, M puede verificar si φ</a:t>
            </a:r>
            <a:r>
              <a:rPr lang="es-AR" b="1" dirty="0"/>
              <a:t> ∈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SAT en tiempo polinomial. </a:t>
            </a:r>
          </a:p>
        </p:txBody>
      </p:sp>
      <p:sp>
        <p:nvSpPr>
          <p:cNvPr id="60" name="Slide Number Placeholder 2">
            <a:extLst>
              <a:ext uri="{FF2B5EF4-FFF2-40B4-BE49-F238E27FC236}">
                <a16:creationId xmlns:a16="http://schemas.microsoft.com/office/drawing/2014/main" id="{D4778436-7A66-4E95-AE99-3AD9B970F3B2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90E2948-A5BC-552A-CD0F-212A7487E743}"/>
              </a:ext>
            </a:extLst>
          </p:cNvPr>
          <p:cNvSpPr/>
          <p:nvPr/>
        </p:nvSpPr>
        <p:spPr>
          <a:xfrm>
            <a:off x="3538609" y="2763896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EC0933E-5218-0F71-E9EB-6775B3D53A10}"/>
              </a:ext>
            </a:extLst>
          </p:cNvPr>
          <p:cNvSpPr/>
          <p:nvPr/>
        </p:nvSpPr>
        <p:spPr>
          <a:xfrm>
            <a:off x="3543958" y="2218158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DF7A46A-986D-A9EC-46BD-4FE9953B9682}"/>
              </a:ext>
            </a:extLst>
          </p:cNvPr>
          <p:cNvSpPr/>
          <p:nvPr/>
        </p:nvSpPr>
        <p:spPr>
          <a:xfrm>
            <a:off x="2625121" y="2222098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79E8E41-07A4-3052-E2BF-1A86C21232FE}"/>
              </a:ext>
            </a:extLst>
          </p:cNvPr>
          <p:cNvCxnSpPr>
            <a:cxnSpLocks/>
          </p:cNvCxnSpPr>
          <p:nvPr/>
        </p:nvCxnSpPr>
        <p:spPr>
          <a:xfrm>
            <a:off x="2042524" y="2686095"/>
            <a:ext cx="60971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8E3E2DD-5F8C-37CD-F4D6-41973E7361C8}"/>
              </a:ext>
            </a:extLst>
          </p:cNvPr>
          <p:cNvCxnSpPr>
            <a:cxnSpLocks/>
          </p:cNvCxnSpPr>
          <p:nvPr/>
        </p:nvCxnSpPr>
        <p:spPr>
          <a:xfrm>
            <a:off x="3539521" y="2710158"/>
            <a:ext cx="494478" cy="1937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6555DAE-838C-CEB4-B338-DD354A0C0F49}"/>
              </a:ext>
            </a:extLst>
          </p:cNvPr>
          <p:cNvCxnSpPr>
            <a:cxnSpLocks/>
          </p:cNvCxnSpPr>
          <p:nvPr/>
        </p:nvCxnSpPr>
        <p:spPr>
          <a:xfrm flipV="1">
            <a:off x="3542430" y="2398504"/>
            <a:ext cx="491569" cy="3077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ítulo 1">
            <a:extLst>
              <a:ext uri="{FF2B5EF4-FFF2-40B4-BE49-F238E27FC236}">
                <a16:creationId xmlns:a16="http://schemas.microsoft.com/office/drawing/2014/main" id="{ACB1480B-E5B0-2EED-2BDC-214E0E5E9968}"/>
              </a:ext>
            </a:extLst>
          </p:cNvPr>
          <p:cNvSpPr txBox="1">
            <a:spLocks/>
          </p:cNvSpPr>
          <p:nvPr/>
        </p:nvSpPr>
        <p:spPr>
          <a:xfrm>
            <a:off x="2891709" y="2481520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6331826-6E90-FBA0-9A65-048AF64206C0}"/>
              </a:ext>
            </a:extLst>
          </p:cNvPr>
          <p:cNvSpPr txBox="1"/>
          <p:nvPr/>
        </p:nvSpPr>
        <p:spPr>
          <a:xfrm>
            <a:off x="2197360" y="2372961"/>
            <a:ext cx="93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AR" sz="16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2655FCA-1656-44C5-6DEA-057F2E44E613}"/>
              </a:ext>
            </a:extLst>
          </p:cNvPr>
          <p:cNvSpPr txBox="1"/>
          <p:nvPr/>
        </p:nvSpPr>
        <p:spPr>
          <a:xfrm>
            <a:off x="590100" y="3158007"/>
            <a:ext cx="7944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(|φ|), M puede verificar si φ ∈ SAT con la ayuda de </a:t>
            </a:r>
            <a:r>
              <a:rPr lang="es-AR" sz="1600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6F6EDC-EB48-9AD2-C0E0-4BD601E3F49A}"/>
              </a:ext>
            </a:extLst>
          </p:cNvPr>
          <p:cNvSpPr/>
          <p:nvPr/>
        </p:nvSpPr>
        <p:spPr>
          <a:xfrm>
            <a:off x="334397" y="3809409"/>
            <a:ext cx="11967660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 = {G : G es un grafo no dirigido con m vértices y tiene un circuito de Hamilton} </a:t>
            </a:r>
          </a:p>
          <a:p>
            <a:pPr algn="just"/>
            <a:endParaRPr lang="es-A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Dado un grafo G = (V, E), una MT M puede llegar a decidir si G </a:t>
            </a:r>
            <a:r>
              <a:rPr lang="es-AR" dirty="0"/>
              <a:t>∈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CH en tiempo exponencial,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pero contando con una permutación C de V, M puede verificar si G </a:t>
            </a:r>
            <a:r>
              <a:rPr lang="es-AR" b="1" dirty="0"/>
              <a:t>∈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CH en tiempo polinomial.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3671BE2-BFBD-39A8-741F-B5C80E4ABD8C}"/>
              </a:ext>
            </a:extLst>
          </p:cNvPr>
          <p:cNvSpPr/>
          <p:nvPr/>
        </p:nvSpPr>
        <p:spPr>
          <a:xfrm>
            <a:off x="249172" y="143605"/>
            <a:ext cx="11685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¿Qué tienen en común los lenguajes SAT y CH? 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FFBEA23-DCFD-772C-59B8-B07F91B147E9}"/>
              </a:ext>
            </a:extLst>
          </p:cNvPr>
          <p:cNvCxnSpPr>
            <a:cxnSpLocks/>
          </p:cNvCxnSpPr>
          <p:nvPr/>
        </p:nvCxnSpPr>
        <p:spPr>
          <a:xfrm flipH="1">
            <a:off x="3072005" y="1849629"/>
            <a:ext cx="456" cy="3788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81CE7C6-A4A1-75C2-FC37-41FBBA03E1AD}"/>
              </a:ext>
            </a:extLst>
          </p:cNvPr>
          <p:cNvSpPr txBox="1"/>
          <p:nvPr/>
        </p:nvSpPr>
        <p:spPr>
          <a:xfrm>
            <a:off x="2992115" y="1841063"/>
            <a:ext cx="93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endParaRPr lang="es-AR" sz="1600" dirty="0">
              <a:latin typeface="Lucida Calligraphy" panose="03010101010101010101" pitchFamily="66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80C20FB-F39B-CE38-0406-EF546F2081F5}"/>
              </a:ext>
            </a:extLst>
          </p:cNvPr>
          <p:cNvSpPr/>
          <p:nvPr/>
        </p:nvSpPr>
        <p:spPr>
          <a:xfrm>
            <a:off x="3594852" y="575421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CEC48F8-09C7-84DF-8D08-BD8D9C78527A}"/>
              </a:ext>
            </a:extLst>
          </p:cNvPr>
          <p:cNvSpPr/>
          <p:nvPr/>
        </p:nvSpPr>
        <p:spPr>
          <a:xfrm>
            <a:off x="3600201" y="5208472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8E744E5-4E20-F989-6AA3-E10A36C563CA}"/>
              </a:ext>
            </a:extLst>
          </p:cNvPr>
          <p:cNvSpPr/>
          <p:nvPr/>
        </p:nvSpPr>
        <p:spPr>
          <a:xfrm>
            <a:off x="2681364" y="5212412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C9690655-0263-CC28-4268-BD707823387A}"/>
              </a:ext>
            </a:extLst>
          </p:cNvPr>
          <p:cNvCxnSpPr>
            <a:cxnSpLocks/>
          </p:cNvCxnSpPr>
          <p:nvPr/>
        </p:nvCxnSpPr>
        <p:spPr>
          <a:xfrm>
            <a:off x="2098767" y="5676409"/>
            <a:ext cx="60971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3E774027-E1A3-3A34-B411-527AAFBCEBB2}"/>
              </a:ext>
            </a:extLst>
          </p:cNvPr>
          <p:cNvCxnSpPr>
            <a:cxnSpLocks/>
          </p:cNvCxnSpPr>
          <p:nvPr/>
        </p:nvCxnSpPr>
        <p:spPr>
          <a:xfrm>
            <a:off x="3595764" y="5700472"/>
            <a:ext cx="494478" cy="1937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611B9E1-2336-2741-9F85-28A27197E2C5}"/>
              </a:ext>
            </a:extLst>
          </p:cNvPr>
          <p:cNvCxnSpPr>
            <a:cxnSpLocks/>
          </p:cNvCxnSpPr>
          <p:nvPr/>
        </p:nvCxnSpPr>
        <p:spPr>
          <a:xfrm flipV="1">
            <a:off x="3598673" y="5388818"/>
            <a:ext cx="491569" cy="3077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ítulo 1">
            <a:extLst>
              <a:ext uri="{FF2B5EF4-FFF2-40B4-BE49-F238E27FC236}">
                <a16:creationId xmlns:a16="http://schemas.microsoft.com/office/drawing/2014/main" id="{CD16E7EE-1B66-0EC0-0898-7FF4AF7736AC}"/>
              </a:ext>
            </a:extLst>
          </p:cNvPr>
          <p:cNvSpPr txBox="1">
            <a:spLocks/>
          </p:cNvSpPr>
          <p:nvPr/>
        </p:nvSpPr>
        <p:spPr>
          <a:xfrm>
            <a:off x="2947952" y="5471834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10F9C55-BB34-AD09-AC12-51A3E5AAD677}"/>
              </a:ext>
            </a:extLst>
          </p:cNvPr>
          <p:cNvSpPr txBox="1"/>
          <p:nvPr/>
        </p:nvSpPr>
        <p:spPr>
          <a:xfrm>
            <a:off x="2231249" y="5387681"/>
            <a:ext cx="93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s-AR" sz="16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0EAC062-6B78-2ACC-1756-38DE009DA5DE}"/>
              </a:ext>
            </a:extLst>
          </p:cNvPr>
          <p:cNvSpPr txBox="1"/>
          <p:nvPr/>
        </p:nvSpPr>
        <p:spPr>
          <a:xfrm>
            <a:off x="691963" y="6157823"/>
            <a:ext cx="77405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(|G|), M puede verificar si G ∈ CH con la ayuda de C.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2102D020-AC54-6DC2-C156-76FF82562A50}"/>
              </a:ext>
            </a:extLst>
          </p:cNvPr>
          <p:cNvCxnSpPr>
            <a:cxnSpLocks/>
          </p:cNvCxnSpPr>
          <p:nvPr/>
        </p:nvCxnSpPr>
        <p:spPr>
          <a:xfrm flipH="1">
            <a:off x="3128248" y="4839943"/>
            <a:ext cx="456" cy="3788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10DC118-F3C8-9B61-B514-038E51C9A18D}"/>
              </a:ext>
            </a:extLst>
          </p:cNvPr>
          <p:cNvSpPr txBox="1"/>
          <p:nvPr/>
        </p:nvSpPr>
        <p:spPr>
          <a:xfrm>
            <a:off x="3081847" y="4830306"/>
            <a:ext cx="93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A2FA1E3-CE5E-5F77-F6D0-B55BA01FB6D4}"/>
              </a:ext>
            </a:extLst>
          </p:cNvPr>
          <p:cNvSpPr txBox="1"/>
          <p:nvPr/>
        </p:nvSpPr>
        <p:spPr>
          <a:xfrm>
            <a:off x="4699554" y="2338203"/>
            <a:ext cx="5319285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es un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certificado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prueba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φ.</a:t>
            </a:r>
          </a:p>
          <a:p>
            <a:endParaRPr lang="es-A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 es un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verificador eficiente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del lenguaje SAT.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4F8DC5E-DE7F-5E5F-B76E-F5487840D8D3}"/>
              </a:ext>
            </a:extLst>
          </p:cNvPr>
          <p:cNvSpPr txBox="1"/>
          <p:nvPr/>
        </p:nvSpPr>
        <p:spPr>
          <a:xfrm>
            <a:off x="4773948" y="5314771"/>
            <a:ext cx="5319285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un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certificado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prueba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G.</a:t>
            </a:r>
          </a:p>
          <a:p>
            <a:endParaRPr lang="es-A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 es un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verificador eficiente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del lenguaje CH.</a:t>
            </a:r>
          </a:p>
        </p:txBody>
      </p:sp>
    </p:spTree>
    <p:extLst>
      <p:ext uri="{BB962C8B-B14F-4D97-AF65-F5344CB8AC3E}">
        <p14:creationId xmlns:p14="http://schemas.microsoft.com/office/powerpoint/2010/main" val="129377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  <p:bldP spid="32" grpId="0" animBg="1"/>
      <p:bldP spid="36" grpId="0"/>
      <p:bldP spid="37" grpId="0"/>
      <p:bldP spid="38" grpId="0"/>
      <p:bldP spid="40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0D5842D-1618-42BB-96EC-566DC6903C8F}"/>
              </a:ext>
            </a:extLst>
          </p:cNvPr>
          <p:cNvSpPr/>
          <p:nvPr/>
        </p:nvSpPr>
        <p:spPr>
          <a:xfrm>
            <a:off x="3376148" y="1201698"/>
            <a:ext cx="74732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endParaRPr lang="es-MX" sz="220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DF15832-601A-4595-8031-7293C0ADEA32}"/>
              </a:ext>
            </a:extLst>
          </p:cNvPr>
          <p:cNvSpPr/>
          <p:nvPr/>
        </p:nvSpPr>
        <p:spPr>
          <a:xfrm>
            <a:off x="5296467" y="2390184"/>
            <a:ext cx="641685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600"/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9CC7A165-EE04-4CEB-BF9B-BDDABBE494F0}"/>
              </a:ext>
            </a:extLst>
          </p:cNvPr>
          <p:cNvSpPr/>
          <p:nvPr/>
        </p:nvSpPr>
        <p:spPr>
          <a:xfrm>
            <a:off x="2683694" y="1051021"/>
            <a:ext cx="2188164" cy="305857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AF7DD23E-C3EE-473A-B9B4-BCACA35E49DD}"/>
              </a:ext>
            </a:extLst>
          </p:cNvPr>
          <p:cNvSpPr/>
          <p:nvPr/>
        </p:nvSpPr>
        <p:spPr>
          <a:xfrm>
            <a:off x="2863945" y="1740307"/>
            <a:ext cx="1775792" cy="2269963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C39ABFCA-2E67-47BA-8150-D95BE4835AF4}"/>
              </a:ext>
            </a:extLst>
          </p:cNvPr>
          <p:cNvSpPr/>
          <p:nvPr/>
        </p:nvSpPr>
        <p:spPr>
          <a:xfrm>
            <a:off x="3212082" y="2609326"/>
            <a:ext cx="1094015" cy="1318844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AB3479F3-67C8-4320-B520-E37B9EF64C4A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F50F6D-1673-B1E2-99C6-0360AFC13E0B}"/>
              </a:ext>
            </a:extLst>
          </p:cNvPr>
          <p:cNvSpPr/>
          <p:nvPr/>
        </p:nvSpPr>
        <p:spPr>
          <a:xfrm>
            <a:off x="249172" y="143605"/>
            <a:ext cx="117065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Segunda versión de la jerarquía temporal (acotada a la clase EXP)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7BE99A-5A42-7DC9-A580-6EA6850F535D}"/>
              </a:ext>
            </a:extLst>
          </p:cNvPr>
          <p:cNvSpPr txBox="1"/>
          <p:nvPr/>
        </p:nvSpPr>
        <p:spPr>
          <a:xfrm>
            <a:off x="415834" y="2842850"/>
            <a:ext cx="2202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Lenguajes </a:t>
            </a:r>
            <a:r>
              <a:rPr lang="es-A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4682E2B-CA76-FCBD-C7CD-BDC5372EDE3F}"/>
              </a:ext>
            </a:extLst>
          </p:cNvPr>
          <p:cNvSpPr txBox="1"/>
          <p:nvPr/>
        </p:nvSpPr>
        <p:spPr>
          <a:xfrm>
            <a:off x="248582" y="1890474"/>
            <a:ext cx="2339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Lenguajes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verificables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28798604-323E-A536-66C1-C36D012F0F5E}"/>
              </a:ext>
            </a:extLst>
          </p:cNvPr>
          <p:cNvCxnSpPr>
            <a:cxnSpLocks/>
          </p:cNvCxnSpPr>
          <p:nvPr/>
        </p:nvCxnSpPr>
        <p:spPr>
          <a:xfrm flipH="1">
            <a:off x="2228894" y="2274362"/>
            <a:ext cx="12701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F227497-D1BC-D3A5-C4FA-DEA2EDACF7AD}"/>
              </a:ext>
            </a:extLst>
          </p:cNvPr>
          <p:cNvCxnSpPr>
            <a:cxnSpLocks/>
          </p:cNvCxnSpPr>
          <p:nvPr/>
        </p:nvCxnSpPr>
        <p:spPr>
          <a:xfrm flipH="1">
            <a:off x="2256997" y="3227120"/>
            <a:ext cx="131598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D511E744-4771-454B-7725-0220428F38B2}"/>
              </a:ext>
            </a:extLst>
          </p:cNvPr>
          <p:cNvSpPr/>
          <p:nvPr/>
        </p:nvSpPr>
        <p:spPr>
          <a:xfrm>
            <a:off x="3572979" y="3005934"/>
            <a:ext cx="3722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22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A3950C6-6B55-A6C6-4C71-734B8825F2DA}"/>
              </a:ext>
            </a:extLst>
          </p:cNvPr>
          <p:cNvSpPr/>
          <p:nvPr/>
        </p:nvSpPr>
        <p:spPr>
          <a:xfrm>
            <a:off x="6907852" y="3324757"/>
            <a:ext cx="4122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BD47D33-B0F4-11C4-E926-9CFC815E5DA1}"/>
              </a:ext>
            </a:extLst>
          </p:cNvPr>
          <p:cNvSpPr/>
          <p:nvPr/>
        </p:nvSpPr>
        <p:spPr>
          <a:xfrm>
            <a:off x="6907852" y="2714270"/>
            <a:ext cx="3449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73EE983-9ED3-109F-B261-EDC78CEC413D}"/>
              </a:ext>
            </a:extLst>
          </p:cNvPr>
          <p:cNvSpPr/>
          <p:nvPr/>
        </p:nvSpPr>
        <p:spPr>
          <a:xfrm>
            <a:off x="5904348" y="2795371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60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25F60F88-9B10-7D41-A883-744832C6C0DB}"/>
              </a:ext>
            </a:extLst>
          </p:cNvPr>
          <p:cNvCxnSpPr>
            <a:cxnSpLocks/>
          </p:cNvCxnSpPr>
          <p:nvPr/>
        </p:nvCxnSpPr>
        <p:spPr>
          <a:xfrm>
            <a:off x="5403249" y="3259368"/>
            <a:ext cx="5010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41BEDE4-5016-8055-924E-039568FC6184}"/>
              </a:ext>
            </a:extLst>
          </p:cNvPr>
          <p:cNvCxnSpPr>
            <a:cxnSpLocks/>
          </p:cNvCxnSpPr>
          <p:nvPr/>
        </p:nvCxnSpPr>
        <p:spPr>
          <a:xfrm>
            <a:off x="6818748" y="3283431"/>
            <a:ext cx="596218" cy="1824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ítulo 1">
            <a:extLst>
              <a:ext uri="{FF2B5EF4-FFF2-40B4-BE49-F238E27FC236}">
                <a16:creationId xmlns:a16="http://schemas.microsoft.com/office/drawing/2014/main" id="{E1F811B0-2201-FE83-FBCB-0E2BCDF86A8C}"/>
              </a:ext>
            </a:extLst>
          </p:cNvPr>
          <p:cNvSpPr txBox="1">
            <a:spLocks/>
          </p:cNvSpPr>
          <p:nvPr/>
        </p:nvSpPr>
        <p:spPr>
          <a:xfrm>
            <a:off x="5454277" y="2978631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C249BAF-C3CC-C075-65D2-F35F5429FACD}"/>
              </a:ext>
            </a:extLst>
          </p:cNvPr>
          <p:cNvCxnSpPr>
            <a:cxnSpLocks/>
          </p:cNvCxnSpPr>
          <p:nvPr/>
        </p:nvCxnSpPr>
        <p:spPr>
          <a:xfrm flipV="1">
            <a:off x="6821657" y="2887712"/>
            <a:ext cx="593309" cy="3917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ítulo 1">
            <a:extLst>
              <a:ext uri="{FF2B5EF4-FFF2-40B4-BE49-F238E27FC236}">
                <a16:creationId xmlns:a16="http://schemas.microsoft.com/office/drawing/2014/main" id="{78C1775D-8BE6-6143-8012-EC6EC69C72AF}"/>
              </a:ext>
            </a:extLst>
          </p:cNvPr>
          <p:cNvSpPr txBox="1">
            <a:spLocks/>
          </p:cNvSpPr>
          <p:nvPr/>
        </p:nvSpPr>
        <p:spPr>
          <a:xfrm>
            <a:off x="6147552" y="3086629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F5E97E8-189F-CF08-8384-2575B03AB73D}"/>
              </a:ext>
            </a:extLst>
          </p:cNvPr>
          <p:cNvSpPr txBox="1"/>
          <p:nvPr/>
        </p:nvSpPr>
        <p:spPr>
          <a:xfrm>
            <a:off x="242432" y="4892338"/>
            <a:ext cx="1170713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otras palabras:</a:t>
            </a:r>
          </a:p>
          <a:p>
            <a:pPr algn="just"/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Si un problema está en P, podemos asegurar que sus soluciones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se encuentran eficientemente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Si un problema está en NP, sólo podemos asegurar que sus soluciones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se verifican eficientemente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Intuitivamente,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 ≠ NP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(encontrar una solución parece ser más difícil que verificarla). Sin embargo, al día de hoy esta relación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no ha podido ser probada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0757671-FB01-6072-D74D-381FC9B3C30E}"/>
              </a:ext>
            </a:extLst>
          </p:cNvPr>
          <p:cNvSpPr/>
          <p:nvPr/>
        </p:nvSpPr>
        <p:spPr>
          <a:xfrm>
            <a:off x="7560907" y="1272005"/>
            <a:ext cx="45468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Todo lenguaje L de NP cuenta con una MT M que en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(|w|) pasos puede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verificar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si w ∈ L,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con la ayuda de otra cadena (certificado x).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CEA856C-77D3-C891-4358-1BA7F8966535}"/>
              </a:ext>
            </a:extLst>
          </p:cNvPr>
          <p:cNvSpPr/>
          <p:nvPr/>
        </p:nvSpPr>
        <p:spPr>
          <a:xfrm>
            <a:off x="3471188" y="2058919"/>
            <a:ext cx="57579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200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EEEA0043-8B1B-8004-A0D2-9D4E8D5FDAF1}"/>
              </a:ext>
            </a:extLst>
          </p:cNvPr>
          <p:cNvCxnSpPr>
            <a:cxnSpLocks/>
          </p:cNvCxnSpPr>
          <p:nvPr/>
        </p:nvCxnSpPr>
        <p:spPr>
          <a:xfrm flipH="1">
            <a:off x="2060166" y="1425920"/>
            <a:ext cx="131598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A453C0A-E591-3683-940D-8B2FFA0AA5CE}"/>
              </a:ext>
            </a:extLst>
          </p:cNvPr>
          <p:cNvSpPr txBox="1"/>
          <p:nvPr/>
        </p:nvSpPr>
        <p:spPr>
          <a:xfrm>
            <a:off x="248582" y="1021455"/>
            <a:ext cx="2202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Lenguajes </a:t>
            </a:r>
            <a:r>
              <a:rPr lang="es-A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en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20E16CBC-39B2-7018-D500-89DBF36CAD1E}"/>
              </a:ext>
            </a:extLst>
          </p:cNvPr>
          <p:cNvCxnSpPr>
            <a:cxnSpLocks/>
          </p:cNvCxnSpPr>
          <p:nvPr/>
        </p:nvCxnSpPr>
        <p:spPr>
          <a:xfrm rot="10800000" flipH="1">
            <a:off x="3966003" y="3248366"/>
            <a:ext cx="131598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EE416E16-B231-B6B9-73E4-97A1A28954D6}"/>
              </a:ext>
            </a:extLst>
          </p:cNvPr>
          <p:cNvSpPr/>
          <p:nvPr/>
        </p:nvSpPr>
        <p:spPr>
          <a:xfrm>
            <a:off x="6955715" y="1806352"/>
            <a:ext cx="4122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51AE5EC-D392-908C-62FC-6A724D783C5B}"/>
              </a:ext>
            </a:extLst>
          </p:cNvPr>
          <p:cNvSpPr/>
          <p:nvPr/>
        </p:nvSpPr>
        <p:spPr>
          <a:xfrm>
            <a:off x="6955715" y="1195865"/>
            <a:ext cx="3449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4B974E4-7F2C-F7FB-7C60-E982DEC6AF3A}"/>
              </a:ext>
            </a:extLst>
          </p:cNvPr>
          <p:cNvSpPr/>
          <p:nvPr/>
        </p:nvSpPr>
        <p:spPr>
          <a:xfrm>
            <a:off x="5952211" y="1276966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600"/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3A1E500C-8B9C-2E71-D09A-B8EA1D9892D7}"/>
              </a:ext>
            </a:extLst>
          </p:cNvPr>
          <p:cNvCxnSpPr>
            <a:cxnSpLocks/>
          </p:cNvCxnSpPr>
          <p:nvPr/>
        </p:nvCxnSpPr>
        <p:spPr>
          <a:xfrm>
            <a:off x="5451112" y="1740963"/>
            <a:ext cx="5010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92F7A6A-F631-C677-B149-01103CD90CD1}"/>
              </a:ext>
            </a:extLst>
          </p:cNvPr>
          <p:cNvCxnSpPr>
            <a:cxnSpLocks/>
          </p:cNvCxnSpPr>
          <p:nvPr/>
        </p:nvCxnSpPr>
        <p:spPr>
          <a:xfrm>
            <a:off x="6866611" y="1765026"/>
            <a:ext cx="596218" cy="1824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ítulo 1">
            <a:extLst>
              <a:ext uri="{FF2B5EF4-FFF2-40B4-BE49-F238E27FC236}">
                <a16:creationId xmlns:a16="http://schemas.microsoft.com/office/drawing/2014/main" id="{3A9EBCB3-465C-FCCF-B2F7-43E95AEB3E48}"/>
              </a:ext>
            </a:extLst>
          </p:cNvPr>
          <p:cNvSpPr txBox="1">
            <a:spLocks/>
          </p:cNvSpPr>
          <p:nvPr/>
        </p:nvSpPr>
        <p:spPr>
          <a:xfrm>
            <a:off x="5481187" y="1470668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CD92296B-3E11-1FCB-D9D4-9D2A91AEBE57}"/>
              </a:ext>
            </a:extLst>
          </p:cNvPr>
          <p:cNvCxnSpPr>
            <a:cxnSpLocks/>
          </p:cNvCxnSpPr>
          <p:nvPr/>
        </p:nvCxnSpPr>
        <p:spPr>
          <a:xfrm flipV="1">
            <a:off x="6869520" y="1369307"/>
            <a:ext cx="593309" cy="3917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ítulo 1">
            <a:extLst>
              <a:ext uri="{FF2B5EF4-FFF2-40B4-BE49-F238E27FC236}">
                <a16:creationId xmlns:a16="http://schemas.microsoft.com/office/drawing/2014/main" id="{C1783619-BD4B-3F19-7A1E-7581CBB30665}"/>
              </a:ext>
            </a:extLst>
          </p:cNvPr>
          <p:cNvSpPr txBox="1">
            <a:spLocks/>
          </p:cNvSpPr>
          <p:nvPr/>
        </p:nvSpPr>
        <p:spPr>
          <a:xfrm>
            <a:off x="6195415" y="1568224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B557F61D-1825-4769-1B0C-B555A6A52F31}"/>
              </a:ext>
            </a:extLst>
          </p:cNvPr>
          <p:cNvCxnSpPr>
            <a:cxnSpLocks/>
          </p:cNvCxnSpPr>
          <p:nvPr/>
        </p:nvCxnSpPr>
        <p:spPr>
          <a:xfrm flipV="1">
            <a:off x="4040259" y="1699360"/>
            <a:ext cx="1287464" cy="59403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A74EE128-9014-711E-3807-719A26253304}"/>
              </a:ext>
            </a:extLst>
          </p:cNvPr>
          <p:cNvCxnSpPr>
            <a:cxnSpLocks/>
          </p:cNvCxnSpPr>
          <p:nvPr/>
        </p:nvCxnSpPr>
        <p:spPr>
          <a:xfrm rot="5400000">
            <a:off x="6135108" y="1021455"/>
            <a:ext cx="5010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ítulo 1">
            <a:extLst>
              <a:ext uri="{FF2B5EF4-FFF2-40B4-BE49-F238E27FC236}">
                <a16:creationId xmlns:a16="http://schemas.microsoft.com/office/drawing/2014/main" id="{1C7BA444-E690-B2F4-0E10-7B2949DBC180}"/>
              </a:ext>
            </a:extLst>
          </p:cNvPr>
          <p:cNvSpPr txBox="1">
            <a:spLocks/>
          </p:cNvSpPr>
          <p:nvPr/>
        </p:nvSpPr>
        <p:spPr>
          <a:xfrm>
            <a:off x="6328034" y="872279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EC82282-7716-9F44-8B6A-1AE29AF6662E}"/>
              </a:ext>
            </a:extLst>
          </p:cNvPr>
          <p:cNvSpPr txBox="1"/>
          <p:nvPr/>
        </p:nvSpPr>
        <p:spPr>
          <a:xfrm>
            <a:off x="5368939" y="2164465"/>
            <a:ext cx="34795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M tarda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(|w|)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27C246A3-13E6-E94B-4016-6213A97103A0}"/>
              </a:ext>
            </a:extLst>
          </p:cNvPr>
          <p:cNvSpPr txBox="1"/>
          <p:nvPr/>
        </p:nvSpPr>
        <p:spPr>
          <a:xfrm>
            <a:off x="5422083" y="3684943"/>
            <a:ext cx="34795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M tarda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(|w|)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42D1F5AE-503E-DAF0-B41C-6A4136CDC076}"/>
              </a:ext>
            </a:extLst>
          </p:cNvPr>
          <p:cNvSpPr txBox="1"/>
          <p:nvPr/>
        </p:nvSpPr>
        <p:spPr>
          <a:xfrm>
            <a:off x="7560907" y="2881118"/>
            <a:ext cx="43886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Todo lenguaje L de P cuenta con una MT M que en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(|w|) pasos puede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decidir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si w ∈ L.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E7845E6-6BCA-B01E-59F2-6CDA55E7C4D0}"/>
              </a:ext>
            </a:extLst>
          </p:cNvPr>
          <p:cNvSpPr txBox="1"/>
          <p:nvPr/>
        </p:nvSpPr>
        <p:spPr>
          <a:xfrm>
            <a:off x="2271778" y="4468387"/>
            <a:ext cx="3097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Ejercicio: ¿por qué P </a:t>
            </a:r>
            <a:r>
              <a:rPr lang="es-A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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NP? 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815FE64-D58E-79B6-DEEC-A16795E1CE5B}"/>
              </a:ext>
            </a:extLst>
          </p:cNvPr>
          <p:cNvSpPr txBox="1"/>
          <p:nvPr/>
        </p:nvSpPr>
        <p:spPr>
          <a:xfrm>
            <a:off x="2257705" y="4147442"/>
            <a:ext cx="3223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cumpliría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 NP  EXP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C756785-B7F4-9201-0B3B-D2636A3967C5}"/>
              </a:ext>
            </a:extLst>
          </p:cNvPr>
          <p:cNvSpPr txBox="1"/>
          <p:nvPr/>
        </p:nvSpPr>
        <p:spPr>
          <a:xfrm>
            <a:off x="8167262" y="2025965"/>
            <a:ext cx="37761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|x| 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 poly(|w|)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¿por qué?</a:t>
            </a:r>
          </a:p>
          <a:p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no, ya leerlo tarda más que </a:t>
            </a:r>
            <a:r>
              <a:rPr lang="es-AR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(|w|). </a:t>
            </a:r>
          </a:p>
          <a:p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dice que x es un </a:t>
            </a:r>
            <a:r>
              <a:rPr lang="es-AR" sz="16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certificado sucinto</a:t>
            </a:r>
            <a:endParaRPr lang="es-A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B4D02B9-3030-06BC-0819-9E724F2E5A5E}"/>
              </a:ext>
            </a:extLst>
          </p:cNvPr>
          <p:cNvSpPr txBox="1"/>
          <p:nvPr/>
        </p:nvSpPr>
        <p:spPr>
          <a:xfrm>
            <a:off x="5386231" y="4185383"/>
            <a:ext cx="6626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MT M que decide L en tiempo </a:t>
            </a:r>
            <a:r>
              <a:rPr lang="es-AR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(n) también verifica L</a:t>
            </a:r>
          </a:p>
          <a:p>
            <a:pPr algn="just"/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tiempo </a:t>
            </a:r>
            <a:r>
              <a:rPr lang="es-AR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(n) con la ayuda de un certificado x que no usa.</a:t>
            </a:r>
          </a:p>
        </p:txBody>
      </p:sp>
    </p:spTree>
    <p:extLst>
      <p:ext uri="{BB962C8B-B14F-4D97-AF65-F5344CB8AC3E}">
        <p14:creationId xmlns:p14="http://schemas.microsoft.com/office/powerpoint/2010/main" val="227651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" grpId="0"/>
      <p:bldP spid="13" grpId="0"/>
      <p:bldP spid="6" grpId="0"/>
      <p:bldP spid="34" grpId="0"/>
      <p:bldP spid="35" grpId="0"/>
      <p:bldP spid="36" grpId="0" animBg="1"/>
      <p:bldP spid="39" grpId="0"/>
      <p:bldP spid="41" grpId="0"/>
      <p:bldP spid="46" grpId="0"/>
      <p:bldP spid="47" grpId="0"/>
      <p:bldP spid="27" grpId="0"/>
      <p:bldP spid="28" grpId="0"/>
      <p:bldP spid="9" grpId="0" build="allAtOnce"/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F3F0E76-FA47-49C1-BD2B-1FADCE488AF6}"/>
              </a:ext>
            </a:extLst>
          </p:cNvPr>
          <p:cNvSpPr/>
          <p:nvPr/>
        </p:nvSpPr>
        <p:spPr>
          <a:xfrm>
            <a:off x="249172" y="780865"/>
            <a:ext cx="11638028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problema P vs NP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fue planteado hace más de 50 años.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uno de los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siete problemas del milenio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(definidos en el año 2000).</a:t>
            </a: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Quien lo resuelva recibirá un premio de USD 1 MM del Instituto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Clay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(EEUU).</a:t>
            </a:r>
          </a:p>
          <a:p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No parece que pueda resolverse en el corto plazo, con las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matemáticas existentes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Miles de lenguajes de interés están hoy día en NP – 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(lenguajes relacionados con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problemas de la lógica, grafos, aritmética, teoría de conjuntos, álgebra, combinatoria, redes,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Pareciera que la única manera de decidir los lenguajes hoy día en NP – P es por medio de la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fuerza bruta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(búsqueda exhaustiva en el espacio de todas las soluciones posibles).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el contrario, los algoritmos que deciden los lenguajes de P son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analíticos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(parten del conocimiento profundo del problema, y se han elaborado con el empleo de ingenio, creatividad, experiencia,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 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mayoría de los investigadores opina que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 ≠ NP.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minoría opina lo contrario, con el argumento de que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queda mucho por aprender de la algorítmica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(tiene asidero, ya que a lo largo de los años han habido importantes descubrimientos - primalidad en P, mejora en los tiempos del producto de matrices, camino en grafos no dirigidos en espacio logarítmico, etc. -).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En la práctica se asume P ≠ NP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y por eso a los lenguajes de interés hoy día en NP – P se los procesa con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remediaciones específicas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(cadenas de cierta longitud y/o forma, aproximaciones polinomiales,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AB3479F3-67C8-4320-B520-E37B9EF64C4A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9" name="Diagrama de flujo: conector 28">
            <a:extLst>
              <a:ext uri="{FF2B5EF4-FFF2-40B4-BE49-F238E27FC236}">
                <a16:creationId xmlns:a16="http://schemas.microsoft.com/office/drawing/2014/main" id="{A6D5E17F-0E98-FC23-3AA2-7171F6341296}"/>
              </a:ext>
            </a:extLst>
          </p:cNvPr>
          <p:cNvSpPr/>
          <p:nvPr/>
        </p:nvSpPr>
        <p:spPr>
          <a:xfrm>
            <a:off x="9563505" y="483688"/>
            <a:ext cx="1775792" cy="2269963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Diagrama de flujo: conector 29">
            <a:extLst>
              <a:ext uri="{FF2B5EF4-FFF2-40B4-BE49-F238E27FC236}">
                <a16:creationId xmlns:a16="http://schemas.microsoft.com/office/drawing/2014/main" id="{62163545-F1DF-61F7-2199-132A8F41E704}"/>
              </a:ext>
            </a:extLst>
          </p:cNvPr>
          <p:cNvSpPr/>
          <p:nvPr/>
        </p:nvSpPr>
        <p:spPr>
          <a:xfrm>
            <a:off x="9911642" y="1352707"/>
            <a:ext cx="1094015" cy="1318844"/>
          </a:xfrm>
          <a:prstGeom prst="flowChartConnector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B37B34E-78C8-04AB-19DD-3C54BCF91C47}"/>
              </a:ext>
            </a:extLst>
          </p:cNvPr>
          <p:cNvSpPr/>
          <p:nvPr/>
        </p:nvSpPr>
        <p:spPr>
          <a:xfrm>
            <a:off x="10272539" y="1749315"/>
            <a:ext cx="3722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2200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C13D148F-6FFD-ED4C-8E20-DB442422D7BE}"/>
              </a:ext>
            </a:extLst>
          </p:cNvPr>
          <p:cNvSpPr/>
          <p:nvPr/>
        </p:nvSpPr>
        <p:spPr>
          <a:xfrm>
            <a:off x="10170748" y="802300"/>
            <a:ext cx="57579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22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BC927F9-7A5E-FC09-5F16-646A1DFE71A2}"/>
              </a:ext>
            </a:extLst>
          </p:cNvPr>
          <p:cNvSpPr/>
          <p:nvPr/>
        </p:nvSpPr>
        <p:spPr>
          <a:xfrm>
            <a:off x="249172" y="143605"/>
            <a:ext cx="117065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problema P vs NP (¿P = NP o P </a:t>
            </a:r>
            <a:r>
              <a:rPr lang="es-AR" sz="2800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≠ </a:t>
            </a:r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NP?)</a:t>
            </a:r>
          </a:p>
        </p:txBody>
      </p:sp>
    </p:spTree>
    <p:extLst>
      <p:ext uri="{BB962C8B-B14F-4D97-AF65-F5344CB8AC3E}">
        <p14:creationId xmlns:p14="http://schemas.microsoft.com/office/powerpoint/2010/main" val="1227711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73D26B9-B7F6-4DAF-8292-5E66568A2A86}"/>
              </a:ext>
            </a:extLst>
          </p:cNvPr>
          <p:cNvSpPr/>
          <p:nvPr/>
        </p:nvSpPr>
        <p:spPr>
          <a:xfrm>
            <a:off x="269582" y="751962"/>
            <a:ext cx="11922418" cy="598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CE = {G | G es un grafo no dirigido con m vértices y tiene un circuito de Euler}     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Circuito de Euler (</a:t>
            </a:r>
            <a:r>
              <a:rPr lang="es-AR" u="sng" dirty="0" err="1">
                <a:latin typeface="Arial" panose="020B0604020202020204" pitchFamily="34" charset="0"/>
                <a:cs typeface="Arial" panose="020B0604020202020204" pitchFamily="34" charset="0"/>
              </a:rPr>
              <a:t>CdeE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recorrido de todos los arcos del grafo sin repetirlos, desde y hasta un mismo vértice. 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ISO = {(G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, G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 | G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y G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son grafos isomorfos}</a:t>
            </a:r>
          </a:p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Grafos isomorfos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son iguales salvo por la denominación de sus arcos.</a:t>
            </a:r>
          </a:p>
          <a:p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39F827D-AC26-4E4E-A8F8-AF0FEF8A01B7}"/>
              </a:ext>
            </a:extLst>
          </p:cNvPr>
          <p:cNvSpPr/>
          <p:nvPr/>
        </p:nvSpPr>
        <p:spPr>
          <a:xfrm>
            <a:off x="649653" y="1554073"/>
            <a:ext cx="21633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Grafo con un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CdeE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07191BDF-F53B-41DA-BABB-C9F65D4647E5}"/>
              </a:ext>
            </a:extLst>
          </p:cNvPr>
          <p:cNvSpPr/>
          <p:nvPr/>
        </p:nvSpPr>
        <p:spPr>
          <a:xfrm>
            <a:off x="2128891" y="3012437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34129ED8-7343-4B2C-90A0-012B0190F94F}"/>
              </a:ext>
            </a:extLst>
          </p:cNvPr>
          <p:cNvSpPr/>
          <p:nvPr/>
        </p:nvSpPr>
        <p:spPr>
          <a:xfrm>
            <a:off x="4503804" y="2426282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53F3D631-BFAF-449D-B11A-1129C5A94BE0}"/>
              </a:ext>
            </a:extLst>
          </p:cNvPr>
          <p:cNvSpPr/>
          <p:nvPr/>
        </p:nvSpPr>
        <p:spPr>
          <a:xfrm>
            <a:off x="5594837" y="1837015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2303C0F2-B873-4772-8414-79E9CFE0E565}"/>
              </a:ext>
            </a:extLst>
          </p:cNvPr>
          <p:cNvSpPr/>
          <p:nvPr/>
        </p:nvSpPr>
        <p:spPr>
          <a:xfrm>
            <a:off x="1855268" y="1948091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313A8E9A-D69C-4AA7-A248-50B861D8654E}"/>
              </a:ext>
            </a:extLst>
          </p:cNvPr>
          <p:cNvSpPr/>
          <p:nvPr/>
        </p:nvSpPr>
        <p:spPr>
          <a:xfrm>
            <a:off x="3668131" y="3052643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798C643A-8DFF-4F22-A9F8-8AA1AA0A90EA}"/>
              </a:ext>
            </a:extLst>
          </p:cNvPr>
          <p:cNvSpPr/>
          <p:nvPr/>
        </p:nvSpPr>
        <p:spPr>
          <a:xfrm>
            <a:off x="3439531" y="2051475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DC960D1-AED4-43BE-B1A1-E78EFF73621F}"/>
              </a:ext>
            </a:extLst>
          </p:cNvPr>
          <p:cNvCxnSpPr>
            <a:cxnSpLocks/>
            <a:stCxn id="19" idx="5"/>
          </p:cNvCxnSpPr>
          <p:nvPr/>
        </p:nvCxnSpPr>
        <p:spPr>
          <a:xfrm>
            <a:off x="4894049" y="2816527"/>
            <a:ext cx="486323" cy="188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iagrama de flujo: conector 26">
            <a:extLst>
              <a:ext uri="{FF2B5EF4-FFF2-40B4-BE49-F238E27FC236}">
                <a16:creationId xmlns:a16="http://schemas.microsoft.com/office/drawing/2014/main" id="{48A2D422-44CD-4D56-93FC-FDE654223B2F}"/>
              </a:ext>
            </a:extLst>
          </p:cNvPr>
          <p:cNvSpPr/>
          <p:nvPr/>
        </p:nvSpPr>
        <p:spPr>
          <a:xfrm>
            <a:off x="2653772" y="141623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8581CE72-1A02-45B3-9D6B-4E925CE249CF}"/>
              </a:ext>
            </a:extLst>
          </p:cNvPr>
          <p:cNvSpPr/>
          <p:nvPr/>
        </p:nvSpPr>
        <p:spPr>
          <a:xfrm>
            <a:off x="5393568" y="2818092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Diagrama de flujo: conector 28">
            <a:extLst>
              <a:ext uri="{FF2B5EF4-FFF2-40B4-BE49-F238E27FC236}">
                <a16:creationId xmlns:a16="http://schemas.microsoft.com/office/drawing/2014/main" id="{5CA9B1EE-D72B-4A81-9CE6-0B4D13FB3811}"/>
              </a:ext>
            </a:extLst>
          </p:cNvPr>
          <p:cNvSpPr/>
          <p:nvPr/>
        </p:nvSpPr>
        <p:spPr>
          <a:xfrm>
            <a:off x="6405364" y="226146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Diagrama de flujo: conector 29">
            <a:extLst>
              <a:ext uri="{FF2B5EF4-FFF2-40B4-BE49-F238E27FC236}">
                <a16:creationId xmlns:a16="http://schemas.microsoft.com/office/drawing/2014/main" id="{1EF9A282-BEC9-46A6-B1CA-B7CFF98A2545}"/>
              </a:ext>
            </a:extLst>
          </p:cNvPr>
          <p:cNvSpPr/>
          <p:nvPr/>
        </p:nvSpPr>
        <p:spPr>
          <a:xfrm>
            <a:off x="6807656" y="140273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AA96ACE4-28E8-43EF-897A-11432A01A4A4}"/>
              </a:ext>
            </a:extLst>
          </p:cNvPr>
          <p:cNvCxnSpPr>
            <a:cxnSpLocks/>
          </p:cNvCxnSpPr>
          <p:nvPr/>
        </p:nvCxnSpPr>
        <p:spPr>
          <a:xfrm flipH="1">
            <a:off x="5657527" y="2289454"/>
            <a:ext cx="196369" cy="5046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2C45C9E-D95D-4179-B92D-D0A7D46E60F9}"/>
              </a:ext>
            </a:extLst>
          </p:cNvPr>
          <p:cNvCxnSpPr/>
          <p:nvPr/>
        </p:nvCxnSpPr>
        <p:spPr>
          <a:xfrm flipV="1">
            <a:off x="4953597" y="2165259"/>
            <a:ext cx="703930" cy="398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2C7661C7-E915-40BB-9122-F9D81AE095FB}"/>
              </a:ext>
            </a:extLst>
          </p:cNvPr>
          <p:cNvCxnSpPr>
            <a:cxnSpLocks/>
            <a:endCxn id="27" idx="3"/>
          </p:cNvCxnSpPr>
          <p:nvPr/>
        </p:nvCxnSpPr>
        <p:spPr>
          <a:xfrm flipV="1">
            <a:off x="2300607" y="1806481"/>
            <a:ext cx="420120" cy="25279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DB315C2A-5C58-4209-866B-4DE3D88F1CEF}"/>
              </a:ext>
            </a:extLst>
          </p:cNvPr>
          <p:cNvCxnSpPr>
            <a:cxnSpLocks/>
          </p:cNvCxnSpPr>
          <p:nvPr/>
        </p:nvCxnSpPr>
        <p:spPr>
          <a:xfrm>
            <a:off x="2581585" y="3171893"/>
            <a:ext cx="1094560" cy="77013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EF5847F8-BAD9-499D-B633-834C048BCAF0}"/>
              </a:ext>
            </a:extLst>
          </p:cNvPr>
          <p:cNvCxnSpPr>
            <a:cxnSpLocks/>
            <a:stCxn id="57" idx="7"/>
          </p:cNvCxnSpPr>
          <p:nvPr/>
        </p:nvCxnSpPr>
        <p:spPr>
          <a:xfrm flipV="1">
            <a:off x="3101906" y="2433691"/>
            <a:ext cx="417786" cy="20863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1318CEAD-AEE3-40FF-BC43-ECA4705E1D38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2098545" y="2421999"/>
            <a:ext cx="258946" cy="590438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5068870-CD3C-4C4F-A314-E87C584AD9F5}"/>
              </a:ext>
            </a:extLst>
          </p:cNvPr>
          <p:cNvCxnSpPr>
            <a:endCxn id="30" idx="2"/>
          </p:cNvCxnSpPr>
          <p:nvPr/>
        </p:nvCxnSpPr>
        <p:spPr>
          <a:xfrm flipV="1">
            <a:off x="6049071" y="1631338"/>
            <a:ext cx="758585" cy="342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E5D6F269-D12F-40B5-B699-B78455818E3D}"/>
              </a:ext>
            </a:extLst>
          </p:cNvPr>
          <p:cNvCxnSpPr>
            <a:cxnSpLocks/>
          </p:cNvCxnSpPr>
          <p:nvPr/>
        </p:nvCxnSpPr>
        <p:spPr>
          <a:xfrm>
            <a:off x="3709851" y="2537991"/>
            <a:ext cx="132105" cy="51333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9EA256BB-15E5-49EC-9FA9-9FA17C0EF757}"/>
              </a:ext>
            </a:extLst>
          </p:cNvPr>
          <p:cNvSpPr/>
          <p:nvPr/>
        </p:nvSpPr>
        <p:spPr>
          <a:xfrm>
            <a:off x="5461315" y="2883482"/>
            <a:ext cx="312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BB191AA-4F7E-4A1D-A5A1-6785A212236C}"/>
              </a:ext>
            </a:extLst>
          </p:cNvPr>
          <p:cNvSpPr/>
          <p:nvPr/>
        </p:nvSpPr>
        <p:spPr>
          <a:xfrm>
            <a:off x="3519692" y="2095409"/>
            <a:ext cx="312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0C2D49C3-1093-4788-94CE-AA663339B7DC}"/>
              </a:ext>
            </a:extLst>
          </p:cNvPr>
          <p:cNvCxnSpPr>
            <a:cxnSpLocks/>
            <a:stCxn id="27" idx="5"/>
            <a:endCxn id="23" idx="1"/>
          </p:cNvCxnSpPr>
          <p:nvPr/>
        </p:nvCxnSpPr>
        <p:spPr>
          <a:xfrm>
            <a:off x="3044017" y="1806481"/>
            <a:ext cx="462469" cy="311949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273C8388-825C-4C11-8590-FF1796F66ADE}"/>
              </a:ext>
            </a:extLst>
          </p:cNvPr>
          <p:cNvSpPr/>
          <p:nvPr/>
        </p:nvSpPr>
        <p:spPr>
          <a:xfrm>
            <a:off x="1915341" y="199757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E73BC61-AEAC-4E93-8B35-60BBC055B427}"/>
              </a:ext>
            </a:extLst>
          </p:cNvPr>
          <p:cNvSpPr/>
          <p:nvPr/>
        </p:nvSpPr>
        <p:spPr>
          <a:xfrm>
            <a:off x="2730067" y="145802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01924AA3-F9BC-4DA2-A2CD-8ED63289531C}"/>
              </a:ext>
            </a:extLst>
          </p:cNvPr>
          <p:cNvSpPr/>
          <p:nvPr/>
        </p:nvSpPr>
        <p:spPr>
          <a:xfrm>
            <a:off x="3740278" y="309799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97139169-43A2-4068-80BE-4119EBDA8235}"/>
              </a:ext>
            </a:extLst>
          </p:cNvPr>
          <p:cNvSpPr/>
          <p:nvPr/>
        </p:nvSpPr>
        <p:spPr>
          <a:xfrm>
            <a:off x="2211532" y="303716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855F54C2-4329-4D8C-A688-62CD4F3E1738}"/>
              </a:ext>
            </a:extLst>
          </p:cNvPr>
          <p:cNvCxnSpPr>
            <a:cxnSpLocks/>
            <a:stCxn id="21" idx="5"/>
          </p:cNvCxnSpPr>
          <p:nvPr/>
        </p:nvCxnSpPr>
        <p:spPr>
          <a:xfrm>
            <a:off x="2245513" y="2338336"/>
            <a:ext cx="484554" cy="373131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B6412520-491D-4262-BBB3-07CBE13C4FBF}"/>
              </a:ext>
            </a:extLst>
          </p:cNvPr>
          <p:cNvCxnSpPr>
            <a:cxnSpLocks/>
            <a:stCxn id="21" idx="6"/>
            <a:endCxn id="23" idx="2"/>
          </p:cNvCxnSpPr>
          <p:nvPr/>
        </p:nvCxnSpPr>
        <p:spPr>
          <a:xfrm>
            <a:off x="2312468" y="2176691"/>
            <a:ext cx="1127063" cy="103384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ángulo 65">
            <a:extLst>
              <a:ext uri="{FF2B5EF4-FFF2-40B4-BE49-F238E27FC236}">
                <a16:creationId xmlns:a16="http://schemas.microsoft.com/office/drawing/2014/main" id="{28B14F4D-6B11-4AEB-8275-931749F0D6CE}"/>
              </a:ext>
            </a:extLst>
          </p:cNvPr>
          <p:cNvSpPr/>
          <p:nvPr/>
        </p:nvSpPr>
        <p:spPr>
          <a:xfrm>
            <a:off x="4568544" y="247937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09691E56-F129-431B-8C4F-963E23233D08}"/>
              </a:ext>
            </a:extLst>
          </p:cNvPr>
          <p:cNvSpPr/>
          <p:nvPr/>
        </p:nvSpPr>
        <p:spPr>
          <a:xfrm>
            <a:off x="5682548" y="187067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09A18D42-B30A-4A8D-A7B9-F6C182B37AE3}"/>
              </a:ext>
            </a:extLst>
          </p:cNvPr>
          <p:cNvSpPr/>
          <p:nvPr/>
        </p:nvSpPr>
        <p:spPr>
          <a:xfrm>
            <a:off x="6477511" y="231370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10277E24-DF86-4F1F-B223-2B59278FF3C7}"/>
              </a:ext>
            </a:extLst>
          </p:cNvPr>
          <p:cNvSpPr/>
          <p:nvPr/>
        </p:nvSpPr>
        <p:spPr>
          <a:xfrm>
            <a:off x="6903470" y="142849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F121ACC5-70B7-42C8-AFF7-4FD1B360B60C}"/>
              </a:ext>
            </a:extLst>
          </p:cNvPr>
          <p:cNvCxnSpPr>
            <a:cxnSpLocks/>
          </p:cNvCxnSpPr>
          <p:nvPr/>
        </p:nvCxnSpPr>
        <p:spPr>
          <a:xfrm flipH="1">
            <a:off x="6743523" y="1852216"/>
            <a:ext cx="356549" cy="4536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ángulo 71">
            <a:extLst>
              <a:ext uri="{FF2B5EF4-FFF2-40B4-BE49-F238E27FC236}">
                <a16:creationId xmlns:a16="http://schemas.microsoft.com/office/drawing/2014/main" id="{CCDBCB77-946D-458D-8FF3-2BEE6B3E06FB}"/>
              </a:ext>
            </a:extLst>
          </p:cNvPr>
          <p:cNvSpPr/>
          <p:nvPr/>
        </p:nvSpPr>
        <p:spPr>
          <a:xfrm>
            <a:off x="3819479" y="1540011"/>
            <a:ext cx="18838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Grafo sin un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CdeH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051DA065-88C4-4384-B69A-460709519957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803DB346-6FC8-40BD-A497-D30F218FFE47}"/>
              </a:ext>
            </a:extLst>
          </p:cNvPr>
          <p:cNvSpPr/>
          <p:nvPr/>
        </p:nvSpPr>
        <p:spPr>
          <a:xfrm>
            <a:off x="744552" y="5262100"/>
            <a:ext cx="111128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9E956F6-5D0D-5A8C-7457-EB3186F70FC9}"/>
              </a:ext>
            </a:extLst>
          </p:cNvPr>
          <p:cNvSpPr/>
          <p:nvPr/>
        </p:nvSpPr>
        <p:spPr>
          <a:xfrm>
            <a:off x="249172" y="143605"/>
            <a:ext cx="11685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Otros ejemplos clásicos de lenguajes en P y NP</a:t>
            </a:r>
          </a:p>
        </p:txBody>
      </p:sp>
      <p:sp>
        <p:nvSpPr>
          <p:cNvPr id="57" name="Diagrama de flujo: conector 56">
            <a:extLst>
              <a:ext uri="{FF2B5EF4-FFF2-40B4-BE49-F238E27FC236}">
                <a16:creationId xmlns:a16="http://schemas.microsoft.com/office/drawing/2014/main" id="{20D8D904-AD32-127F-3444-74484B7E78C5}"/>
              </a:ext>
            </a:extLst>
          </p:cNvPr>
          <p:cNvSpPr/>
          <p:nvPr/>
        </p:nvSpPr>
        <p:spPr>
          <a:xfrm>
            <a:off x="2711661" y="2575373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4C438D7-3E47-961E-EC3D-6577AD7D2DC4}"/>
              </a:ext>
            </a:extLst>
          </p:cNvPr>
          <p:cNvSpPr/>
          <p:nvPr/>
        </p:nvSpPr>
        <p:spPr>
          <a:xfrm>
            <a:off x="2794582" y="261284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1" name="Diagrama de flujo: conector 60">
            <a:extLst>
              <a:ext uri="{FF2B5EF4-FFF2-40B4-BE49-F238E27FC236}">
                <a16:creationId xmlns:a16="http://schemas.microsoft.com/office/drawing/2014/main" id="{4F9483B7-DD16-D675-ECCE-015C7B6CD2C2}"/>
              </a:ext>
            </a:extLst>
          </p:cNvPr>
          <p:cNvSpPr/>
          <p:nvPr/>
        </p:nvSpPr>
        <p:spPr>
          <a:xfrm>
            <a:off x="640285" y="5635233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Diagrama de flujo: conector 61">
            <a:extLst>
              <a:ext uri="{FF2B5EF4-FFF2-40B4-BE49-F238E27FC236}">
                <a16:creationId xmlns:a16="http://schemas.microsoft.com/office/drawing/2014/main" id="{482FF8FA-1A09-190C-56A6-29A036CEA218}"/>
              </a:ext>
            </a:extLst>
          </p:cNvPr>
          <p:cNvSpPr/>
          <p:nvPr/>
        </p:nvSpPr>
        <p:spPr>
          <a:xfrm>
            <a:off x="1731318" y="504596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F3B33D73-D7C0-D5EE-E77D-8D391E6B0F93}"/>
              </a:ext>
            </a:extLst>
          </p:cNvPr>
          <p:cNvCxnSpPr>
            <a:cxnSpLocks/>
            <a:stCxn id="61" idx="5"/>
            <a:endCxn id="64" idx="2"/>
          </p:cNvCxnSpPr>
          <p:nvPr/>
        </p:nvCxnSpPr>
        <p:spPr>
          <a:xfrm>
            <a:off x="1030530" y="6025478"/>
            <a:ext cx="845167" cy="3908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Diagrama de flujo: conector 63">
            <a:extLst>
              <a:ext uri="{FF2B5EF4-FFF2-40B4-BE49-F238E27FC236}">
                <a16:creationId xmlns:a16="http://schemas.microsoft.com/office/drawing/2014/main" id="{11975683-E090-7D96-5F9E-AAF45628D0C5}"/>
              </a:ext>
            </a:extLst>
          </p:cNvPr>
          <p:cNvSpPr/>
          <p:nvPr/>
        </p:nvSpPr>
        <p:spPr>
          <a:xfrm>
            <a:off x="1875697" y="6187724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5" name="Diagrama de flujo: conector 64">
            <a:extLst>
              <a:ext uri="{FF2B5EF4-FFF2-40B4-BE49-F238E27FC236}">
                <a16:creationId xmlns:a16="http://schemas.microsoft.com/office/drawing/2014/main" id="{DA1B4D2F-B180-4D2A-D6BA-18ED8E185C90}"/>
              </a:ext>
            </a:extLst>
          </p:cNvPr>
          <p:cNvSpPr/>
          <p:nvPr/>
        </p:nvSpPr>
        <p:spPr>
          <a:xfrm>
            <a:off x="3439531" y="588041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" name="Diagrama de flujo: conector 70">
            <a:extLst>
              <a:ext uri="{FF2B5EF4-FFF2-40B4-BE49-F238E27FC236}">
                <a16:creationId xmlns:a16="http://schemas.microsoft.com/office/drawing/2014/main" id="{DFA2E950-CF02-1C0F-9C55-1E1ADE23FBA6}"/>
              </a:ext>
            </a:extLst>
          </p:cNvPr>
          <p:cNvSpPr/>
          <p:nvPr/>
        </p:nvSpPr>
        <p:spPr>
          <a:xfrm>
            <a:off x="2944137" y="461168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3D250DAF-AD25-0A00-F072-43F527193391}"/>
              </a:ext>
            </a:extLst>
          </p:cNvPr>
          <p:cNvCxnSpPr>
            <a:endCxn id="64" idx="0"/>
          </p:cNvCxnSpPr>
          <p:nvPr/>
        </p:nvCxnSpPr>
        <p:spPr>
          <a:xfrm>
            <a:off x="1959918" y="5519364"/>
            <a:ext cx="144379" cy="6683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17FF9648-6FA2-C44C-6968-B9EA7488ED4E}"/>
              </a:ext>
            </a:extLst>
          </p:cNvPr>
          <p:cNvCxnSpPr/>
          <p:nvPr/>
        </p:nvCxnSpPr>
        <p:spPr>
          <a:xfrm flipV="1">
            <a:off x="1090078" y="5374210"/>
            <a:ext cx="703930" cy="398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22B0D1B9-C414-B184-3EE6-F0C918D5FDFC}"/>
              </a:ext>
            </a:extLst>
          </p:cNvPr>
          <p:cNvCxnSpPr>
            <a:endCxn id="65" idx="1"/>
          </p:cNvCxnSpPr>
          <p:nvPr/>
        </p:nvCxnSpPr>
        <p:spPr>
          <a:xfrm>
            <a:off x="2137774" y="5374210"/>
            <a:ext cx="1368712" cy="573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FCE1A8C3-D2EB-ABCA-6509-413368615B4A}"/>
              </a:ext>
            </a:extLst>
          </p:cNvPr>
          <p:cNvCxnSpPr>
            <a:endCxn id="71" idx="2"/>
          </p:cNvCxnSpPr>
          <p:nvPr/>
        </p:nvCxnSpPr>
        <p:spPr>
          <a:xfrm flipV="1">
            <a:off x="2185552" y="4840289"/>
            <a:ext cx="758585" cy="342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76">
            <a:extLst>
              <a:ext uri="{FF2B5EF4-FFF2-40B4-BE49-F238E27FC236}">
                <a16:creationId xmlns:a16="http://schemas.microsoft.com/office/drawing/2014/main" id="{00F1B204-9C20-8D0E-6308-FB307E7B7D8B}"/>
              </a:ext>
            </a:extLst>
          </p:cNvPr>
          <p:cNvSpPr/>
          <p:nvPr/>
        </p:nvSpPr>
        <p:spPr>
          <a:xfrm>
            <a:off x="1951276" y="6239872"/>
            <a:ext cx="312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C32EC81D-9379-3BFE-B955-31EF01912565}"/>
              </a:ext>
            </a:extLst>
          </p:cNvPr>
          <p:cNvSpPr/>
          <p:nvPr/>
        </p:nvSpPr>
        <p:spPr>
          <a:xfrm>
            <a:off x="705025" y="568832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5F73E630-6A12-FC1E-AF73-CA684A59755C}"/>
              </a:ext>
            </a:extLst>
          </p:cNvPr>
          <p:cNvSpPr/>
          <p:nvPr/>
        </p:nvSpPr>
        <p:spPr>
          <a:xfrm>
            <a:off x="1819029" y="507962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EF1A1AF9-34EF-65FB-A5E1-E570C64B7DF0}"/>
              </a:ext>
            </a:extLst>
          </p:cNvPr>
          <p:cNvSpPr/>
          <p:nvPr/>
        </p:nvSpPr>
        <p:spPr>
          <a:xfrm>
            <a:off x="3030747" y="464919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F91C4821-AB45-E244-1D6B-673D61F4F4A1}"/>
              </a:ext>
            </a:extLst>
          </p:cNvPr>
          <p:cNvSpPr/>
          <p:nvPr/>
        </p:nvSpPr>
        <p:spPr>
          <a:xfrm>
            <a:off x="3511678" y="591977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91482C97-23B2-4816-23C8-345E474CF8E2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3236553" y="5061167"/>
            <a:ext cx="431578" cy="819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Diagrama de flujo: conector 82">
            <a:extLst>
              <a:ext uri="{FF2B5EF4-FFF2-40B4-BE49-F238E27FC236}">
                <a16:creationId xmlns:a16="http://schemas.microsoft.com/office/drawing/2014/main" id="{5579544E-A3F8-EEE5-E7BC-DE8E89124834}"/>
              </a:ext>
            </a:extLst>
          </p:cNvPr>
          <p:cNvSpPr/>
          <p:nvPr/>
        </p:nvSpPr>
        <p:spPr>
          <a:xfrm>
            <a:off x="4495971" y="5605986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4" name="Diagrama de flujo: conector 83">
            <a:extLst>
              <a:ext uri="{FF2B5EF4-FFF2-40B4-BE49-F238E27FC236}">
                <a16:creationId xmlns:a16="http://schemas.microsoft.com/office/drawing/2014/main" id="{90ED3CA8-3F0F-1098-78A4-E69EBDE7652A}"/>
              </a:ext>
            </a:extLst>
          </p:cNvPr>
          <p:cNvSpPr/>
          <p:nvPr/>
        </p:nvSpPr>
        <p:spPr>
          <a:xfrm>
            <a:off x="5587004" y="501671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3D258D29-F188-A560-AACF-4D7C7494D518}"/>
              </a:ext>
            </a:extLst>
          </p:cNvPr>
          <p:cNvCxnSpPr>
            <a:cxnSpLocks/>
            <a:stCxn id="83" idx="5"/>
            <a:endCxn id="86" idx="2"/>
          </p:cNvCxnSpPr>
          <p:nvPr/>
        </p:nvCxnSpPr>
        <p:spPr>
          <a:xfrm>
            <a:off x="4886216" y="5996231"/>
            <a:ext cx="845167" cy="3908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Diagrama de flujo: conector 85">
            <a:extLst>
              <a:ext uri="{FF2B5EF4-FFF2-40B4-BE49-F238E27FC236}">
                <a16:creationId xmlns:a16="http://schemas.microsoft.com/office/drawing/2014/main" id="{43594468-5768-9E68-1D47-9DED9F80A6A3}"/>
              </a:ext>
            </a:extLst>
          </p:cNvPr>
          <p:cNvSpPr/>
          <p:nvPr/>
        </p:nvSpPr>
        <p:spPr>
          <a:xfrm>
            <a:off x="5731383" y="6158477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7" name="Diagrama de flujo: conector 86">
            <a:extLst>
              <a:ext uri="{FF2B5EF4-FFF2-40B4-BE49-F238E27FC236}">
                <a16:creationId xmlns:a16="http://schemas.microsoft.com/office/drawing/2014/main" id="{5B0ACB9A-EAC1-CBA8-F8AA-8EB4BE2A41DB}"/>
              </a:ext>
            </a:extLst>
          </p:cNvPr>
          <p:cNvSpPr/>
          <p:nvPr/>
        </p:nvSpPr>
        <p:spPr>
          <a:xfrm>
            <a:off x="7295217" y="5851171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Diagrama de flujo: conector 87">
            <a:extLst>
              <a:ext uri="{FF2B5EF4-FFF2-40B4-BE49-F238E27FC236}">
                <a16:creationId xmlns:a16="http://schemas.microsoft.com/office/drawing/2014/main" id="{E7E037AF-5E51-761A-1055-63796B4EF91C}"/>
              </a:ext>
            </a:extLst>
          </p:cNvPr>
          <p:cNvSpPr/>
          <p:nvPr/>
        </p:nvSpPr>
        <p:spPr>
          <a:xfrm>
            <a:off x="6799823" y="4582442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5AAF6FBA-5A4F-AF29-0038-300CBD72D7AE}"/>
              </a:ext>
            </a:extLst>
          </p:cNvPr>
          <p:cNvCxnSpPr>
            <a:endCxn id="86" idx="0"/>
          </p:cNvCxnSpPr>
          <p:nvPr/>
        </p:nvCxnSpPr>
        <p:spPr>
          <a:xfrm>
            <a:off x="5815604" y="5490117"/>
            <a:ext cx="144379" cy="6683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65C13EF6-A944-915F-0D1F-CDFE534ED22A}"/>
              </a:ext>
            </a:extLst>
          </p:cNvPr>
          <p:cNvCxnSpPr/>
          <p:nvPr/>
        </p:nvCxnSpPr>
        <p:spPr>
          <a:xfrm flipV="1">
            <a:off x="4945764" y="5344963"/>
            <a:ext cx="703930" cy="398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D35C0B94-AB25-3B0F-33C2-82BA36B3A6D2}"/>
              </a:ext>
            </a:extLst>
          </p:cNvPr>
          <p:cNvCxnSpPr>
            <a:endCxn id="87" idx="1"/>
          </p:cNvCxnSpPr>
          <p:nvPr/>
        </p:nvCxnSpPr>
        <p:spPr>
          <a:xfrm>
            <a:off x="5993460" y="5344963"/>
            <a:ext cx="1368712" cy="573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0B412CD8-F14F-2376-65C6-DEB1C475580E}"/>
              </a:ext>
            </a:extLst>
          </p:cNvPr>
          <p:cNvCxnSpPr>
            <a:endCxn id="88" idx="2"/>
          </p:cNvCxnSpPr>
          <p:nvPr/>
        </p:nvCxnSpPr>
        <p:spPr>
          <a:xfrm flipV="1">
            <a:off x="6041238" y="4811042"/>
            <a:ext cx="758585" cy="342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ángulo 92">
            <a:extLst>
              <a:ext uri="{FF2B5EF4-FFF2-40B4-BE49-F238E27FC236}">
                <a16:creationId xmlns:a16="http://schemas.microsoft.com/office/drawing/2014/main" id="{BA2675FB-CC0C-5A0D-ACD4-35C2A961B474}"/>
              </a:ext>
            </a:extLst>
          </p:cNvPr>
          <p:cNvSpPr/>
          <p:nvPr/>
        </p:nvSpPr>
        <p:spPr>
          <a:xfrm>
            <a:off x="5806962" y="6210625"/>
            <a:ext cx="312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8E4FAB9F-481C-6F04-6FC9-3770C035F31B}"/>
              </a:ext>
            </a:extLst>
          </p:cNvPr>
          <p:cNvSpPr/>
          <p:nvPr/>
        </p:nvSpPr>
        <p:spPr>
          <a:xfrm>
            <a:off x="4560711" y="565908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060EEC33-248A-0C87-78CE-1E74D0757722}"/>
              </a:ext>
            </a:extLst>
          </p:cNvPr>
          <p:cNvSpPr/>
          <p:nvPr/>
        </p:nvSpPr>
        <p:spPr>
          <a:xfrm>
            <a:off x="5674715" y="505037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954FC124-7441-1731-BC63-9AF0C0E61CC8}"/>
              </a:ext>
            </a:extLst>
          </p:cNvPr>
          <p:cNvSpPr/>
          <p:nvPr/>
        </p:nvSpPr>
        <p:spPr>
          <a:xfrm>
            <a:off x="6886433" y="461995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AEEEC1CE-0DDB-175A-F6A9-FCA96626E5FD}"/>
              </a:ext>
            </a:extLst>
          </p:cNvPr>
          <p:cNvSpPr/>
          <p:nvPr/>
        </p:nvSpPr>
        <p:spPr>
          <a:xfrm>
            <a:off x="7367364" y="589052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385764DF-95D0-4EB0-1446-5A71C7FF6719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7092239" y="5031920"/>
            <a:ext cx="431578" cy="819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ángulo 98">
            <a:extLst>
              <a:ext uri="{FF2B5EF4-FFF2-40B4-BE49-F238E27FC236}">
                <a16:creationId xmlns:a16="http://schemas.microsoft.com/office/drawing/2014/main" id="{CC003CDB-D262-8DE8-39F8-D0CA12EF0B3D}"/>
              </a:ext>
            </a:extLst>
          </p:cNvPr>
          <p:cNvSpPr/>
          <p:nvPr/>
        </p:nvSpPr>
        <p:spPr>
          <a:xfrm>
            <a:off x="3573247" y="5061902"/>
            <a:ext cx="21633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Grafos isomorfos</a:t>
            </a: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39BBE5EC-9C94-F597-BCD5-66B4A87D98AA}"/>
              </a:ext>
            </a:extLst>
          </p:cNvPr>
          <p:cNvSpPr txBox="1"/>
          <p:nvPr/>
        </p:nvSpPr>
        <p:spPr>
          <a:xfrm>
            <a:off x="8208687" y="1831566"/>
            <a:ext cx="3983313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El lenguaje CE está en P 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Vimos que en cambio,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el lenguaje CH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los grafos con un circuito de Hamilton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no estaría en P</a:t>
            </a: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F03B4BE7-BBFF-D524-59D7-C64533B717FB}"/>
              </a:ext>
            </a:extLst>
          </p:cNvPr>
          <p:cNvSpPr txBox="1"/>
          <p:nvPr/>
        </p:nvSpPr>
        <p:spPr>
          <a:xfrm>
            <a:off x="8230303" y="4661119"/>
            <a:ext cx="374138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El lenguaje ISO no estaría en P</a:t>
            </a:r>
          </a:p>
          <a:p>
            <a:endParaRPr lang="es-AR" sz="10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El lenguaje ISO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está en NP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</a:p>
          <a:p>
            <a:endParaRPr lang="es-AR" sz="10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Recientemente se probó que ISO se puede decidir en tiempo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cuasi polinomial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es decir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O(</a:t>
            </a:r>
            <a:r>
              <a:rPr lang="es-AR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n</a:t>
            </a:r>
            <a:r>
              <a:rPr lang="es-AR" b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s-AR" sz="9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AR" sz="1800" b="1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90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73D26B9-B7F6-4DAF-8292-5E66568A2A86}"/>
              </a:ext>
            </a:extLst>
          </p:cNvPr>
          <p:cNvSpPr/>
          <p:nvPr/>
        </p:nvSpPr>
        <p:spPr>
          <a:xfrm>
            <a:off x="298097" y="778369"/>
            <a:ext cx="11587801" cy="5755422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K-COLOR = {G | G es un grafo no dirigido con </a:t>
            </a:r>
            <a:r>
              <a:rPr lang="es-AR" b="1">
                <a:latin typeface="Arial" panose="020B0604020202020204" pitchFamily="34" charset="0"/>
                <a:cs typeface="Arial" panose="020B0604020202020204" pitchFamily="34" charset="0"/>
              </a:rPr>
              <a:t>m vértices y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sus vértices se pueden colorear con K colores sin producir vértices vecinos con el mismo color}     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K-SAT = {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 una fórmula booleana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y es una conjunción de cláusulas de K variables}     </a:t>
            </a:r>
          </a:p>
          <a:p>
            <a:pPr algn="just"/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P. ej., (x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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(¬x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∈ 3-SAT </a:t>
            </a:r>
          </a:p>
          <a:p>
            <a:pPr algn="just"/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     (x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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¬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∈ 2-SAT</a:t>
            </a:r>
          </a:p>
          <a:p>
            <a:pPr algn="just"/>
            <a:endParaRPr lang="es-A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PRIMOS = {N | N es un número primo}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Número primo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número natural mayor que 1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que es sólo divisible por 1 y por sí mismo</a:t>
            </a:r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34129ED8-7343-4B2C-90A0-012B0190F94F}"/>
              </a:ext>
            </a:extLst>
          </p:cNvPr>
          <p:cNvSpPr/>
          <p:nvPr/>
        </p:nvSpPr>
        <p:spPr>
          <a:xfrm>
            <a:off x="3538460" y="2097520"/>
            <a:ext cx="457200" cy="457200"/>
          </a:xfrm>
          <a:prstGeom prst="flowChartConnector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53F3D631-BFAF-449D-B11A-1129C5A94BE0}"/>
              </a:ext>
            </a:extLst>
          </p:cNvPr>
          <p:cNvSpPr/>
          <p:nvPr/>
        </p:nvSpPr>
        <p:spPr>
          <a:xfrm>
            <a:off x="4629493" y="1508253"/>
            <a:ext cx="457200" cy="457200"/>
          </a:xfrm>
          <a:prstGeom prst="flowChartConnector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2303C0F2-B873-4772-8414-79E9CFE0E565}"/>
              </a:ext>
            </a:extLst>
          </p:cNvPr>
          <p:cNvSpPr/>
          <p:nvPr/>
        </p:nvSpPr>
        <p:spPr>
          <a:xfrm>
            <a:off x="889744" y="2041665"/>
            <a:ext cx="457200" cy="457200"/>
          </a:xfrm>
          <a:prstGeom prst="flowChartConnector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798C643A-8DFF-4F22-A9F8-8AA1AA0A90EA}"/>
              </a:ext>
            </a:extLst>
          </p:cNvPr>
          <p:cNvSpPr/>
          <p:nvPr/>
        </p:nvSpPr>
        <p:spPr>
          <a:xfrm>
            <a:off x="2474007" y="2145049"/>
            <a:ext cx="457200" cy="457200"/>
          </a:xfrm>
          <a:prstGeom prst="flowChartConnecto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DC960D1-AED4-43BE-B1A1-E78EFF73621F}"/>
              </a:ext>
            </a:extLst>
          </p:cNvPr>
          <p:cNvCxnSpPr>
            <a:cxnSpLocks/>
            <a:stCxn id="19" idx="5"/>
          </p:cNvCxnSpPr>
          <p:nvPr/>
        </p:nvCxnSpPr>
        <p:spPr>
          <a:xfrm>
            <a:off x="3928705" y="2487765"/>
            <a:ext cx="486323" cy="188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iagrama de flujo: conector 26">
            <a:extLst>
              <a:ext uri="{FF2B5EF4-FFF2-40B4-BE49-F238E27FC236}">
                <a16:creationId xmlns:a16="http://schemas.microsoft.com/office/drawing/2014/main" id="{48A2D422-44CD-4D56-93FC-FDE654223B2F}"/>
              </a:ext>
            </a:extLst>
          </p:cNvPr>
          <p:cNvSpPr/>
          <p:nvPr/>
        </p:nvSpPr>
        <p:spPr>
          <a:xfrm>
            <a:off x="1688248" y="1509810"/>
            <a:ext cx="457200" cy="457200"/>
          </a:xfrm>
          <a:prstGeom prst="flowChartConnector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8581CE72-1A02-45B3-9D6B-4E925CE249CF}"/>
              </a:ext>
            </a:extLst>
          </p:cNvPr>
          <p:cNvSpPr/>
          <p:nvPr/>
        </p:nvSpPr>
        <p:spPr>
          <a:xfrm>
            <a:off x="4428224" y="2489330"/>
            <a:ext cx="457200" cy="457200"/>
          </a:xfrm>
          <a:prstGeom prst="flowChartConnector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2C45C9E-D95D-4179-B92D-D0A7D46E60F9}"/>
              </a:ext>
            </a:extLst>
          </p:cNvPr>
          <p:cNvCxnSpPr/>
          <p:nvPr/>
        </p:nvCxnSpPr>
        <p:spPr>
          <a:xfrm flipV="1">
            <a:off x="3988253" y="1836497"/>
            <a:ext cx="703930" cy="398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2C7661C7-E915-40BB-9122-F9D81AE095FB}"/>
              </a:ext>
            </a:extLst>
          </p:cNvPr>
          <p:cNvCxnSpPr>
            <a:cxnSpLocks/>
            <a:endCxn id="27" idx="3"/>
          </p:cNvCxnSpPr>
          <p:nvPr/>
        </p:nvCxnSpPr>
        <p:spPr>
          <a:xfrm flipV="1">
            <a:off x="1335083" y="1900055"/>
            <a:ext cx="420120" cy="25279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EF5847F8-BAD9-499D-B633-834C048BCAF0}"/>
              </a:ext>
            </a:extLst>
          </p:cNvPr>
          <p:cNvCxnSpPr>
            <a:cxnSpLocks/>
            <a:stCxn id="57" idx="7"/>
          </p:cNvCxnSpPr>
          <p:nvPr/>
        </p:nvCxnSpPr>
        <p:spPr>
          <a:xfrm flipV="1">
            <a:off x="2136382" y="2527265"/>
            <a:ext cx="417786" cy="20863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9EA256BB-15E5-49EC-9FA9-9FA17C0EF757}"/>
              </a:ext>
            </a:extLst>
          </p:cNvPr>
          <p:cNvSpPr/>
          <p:nvPr/>
        </p:nvSpPr>
        <p:spPr>
          <a:xfrm>
            <a:off x="4495971" y="2554720"/>
            <a:ext cx="312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BB191AA-4F7E-4A1D-A5A1-6785A212236C}"/>
              </a:ext>
            </a:extLst>
          </p:cNvPr>
          <p:cNvSpPr/>
          <p:nvPr/>
        </p:nvSpPr>
        <p:spPr>
          <a:xfrm>
            <a:off x="2554168" y="2188983"/>
            <a:ext cx="312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0C2D49C3-1093-4788-94CE-AA663339B7DC}"/>
              </a:ext>
            </a:extLst>
          </p:cNvPr>
          <p:cNvCxnSpPr>
            <a:cxnSpLocks/>
            <a:stCxn id="27" idx="5"/>
            <a:endCxn id="23" idx="1"/>
          </p:cNvCxnSpPr>
          <p:nvPr/>
        </p:nvCxnSpPr>
        <p:spPr>
          <a:xfrm>
            <a:off x="2078493" y="1900055"/>
            <a:ext cx="462469" cy="3119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273C8388-825C-4C11-8590-FF1796F66ADE}"/>
              </a:ext>
            </a:extLst>
          </p:cNvPr>
          <p:cNvSpPr/>
          <p:nvPr/>
        </p:nvSpPr>
        <p:spPr>
          <a:xfrm>
            <a:off x="949817" y="209115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E73BC61-AEAC-4E93-8B35-60BBC055B427}"/>
              </a:ext>
            </a:extLst>
          </p:cNvPr>
          <p:cNvSpPr/>
          <p:nvPr/>
        </p:nvSpPr>
        <p:spPr>
          <a:xfrm>
            <a:off x="1764543" y="15516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855F54C2-4329-4D8C-A688-62CD4F3E1738}"/>
              </a:ext>
            </a:extLst>
          </p:cNvPr>
          <p:cNvCxnSpPr>
            <a:cxnSpLocks/>
            <a:stCxn id="21" idx="5"/>
          </p:cNvCxnSpPr>
          <p:nvPr/>
        </p:nvCxnSpPr>
        <p:spPr>
          <a:xfrm>
            <a:off x="1279989" y="2431910"/>
            <a:ext cx="484554" cy="37313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B6412520-491D-4262-BBB3-07CBE13C4FBF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1346944" y="2305455"/>
            <a:ext cx="1127063" cy="6819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ángulo 65">
            <a:extLst>
              <a:ext uri="{FF2B5EF4-FFF2-40B4-BE49-F238E27FC236}">
                <a16:creationId xmlns:a16="http://schemas.microsoft.com/office/drawing/2014/main" id="{28B14F4D-6B11-4AEB-8275-931749F0D6CE}"/>
              </a:ext>
            </a:extLst>
          </p:cNvPr>
          <p:cNvSpPr/>
          <p:nvPr/>
        </p:nvSpPr>
        <p:spPr>
          <a:xfrm>
            <a:off x="3603200" y="215061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09691E56-F129-431B-8C4F-963E23233D08}"/>
              </a:ext>
            </a:extLst>
          </p:cNvPr>
          <p:cNvSpPr/>
          <p:nvPr/>
        </p:nvSpPr>
        <p:spPr>
          <a:xfrm>
            <a:off x="4717204" y="154191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051DA065-88C4-4384-B69A-460709519957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803DB346-6FC8-40BD-A497-D30F218FFE47}"/>
              </a:ext>
            </a:extLst>
          </p:cNvPr>
          <p:cNvSpPr/>
          <p:nvPr/>
        </p:nvSpPr>
        <p:spPr>
          <a:xfrm>
            <a:off x="744552" y="5262100"/>
            <a:ext cx="111128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9E956F6-5D0D-5A8C-7457-EB3186F70FC9}"/>
              </a:ext>
            </a:extLst>
          </p:cNvPr>
          <p:cNvSpPr/>
          <p:nvPr/>
        </p:nvSpPr>
        <p:spPr>
          <a:xfrm>
            <a:off x="249172" y="143605"/>
            <a:ext cx="11685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Otros ejemplos clásicos de lenguajes en P y NP (continuación)</a:t>
            </a:r>
          </a:p>
        </p:txBody>
      </p:sp>
      <p:sp>
        <p:nvSpPr>
          <p:cNvPr id="57" name="Diagrama de flujo: conector 56">
            <a:extLst>
              <a:ext uri="{FF2B5EF4-FFF2-40B4-BE49-F238E27FC236}">
                <a16:creationId xmlns:a16="http://schemas.microsoft.com/office/drawing/2014/main" id="{20D8D904-AD32-127F-3444-74484B7E78C5}"/>
              </a:ext>
            </a:extLst>
          </p:cNvPr>
          <p:cNvSpPr/>
          <p:nvPr/>
        </p:nvSpPr>
        <p:spPr>
          <a:xfrm>
            <a:off x="1746137" y="2668947"/>
            <a:ext cx="457200" cy="457200"/>
          </a:xfrm>
          <a:prstGeom prst="flowChartConnector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4C438D7-3E47-961E-EC3D-6577AD7D2DC4}"/>
              </a:ext>
            </a:extLst>
          </p:cNvPr>
          <p:cNvSpPr/>
          <p:nvPr/>
        </p:nvSpPr>
        <p:spPr>
          <a:xfrm>
            <a:off x="1829058" y="270641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39BBE5EC-9C94-F597-BCD5-66B4A87D98AA}"/>
              </a:ext>
            </a:extLst>
          </p:cNvPr>
          <p:cNvSpPr txBox="1"/>
          <p:nvPr/>
        </p:nvSpPr>
        <p:spPr>
          <a:xfrm>
            <a:off x="6205126" y="1467813"/>
            <a:ext cx="54283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El lenguaje K-COLOR está en NP 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K = 2,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K-COLOR está en P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K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 4 y el grafo es planar (se puede dibujar en el</a:t>
            </a:r>
          </a:p>
          <a:p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plano sin que los arcos se crucen),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siempre existe solución (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Teorema de los Cuatro Colores)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909C28-FEE7-68CE-F0A0-ECACCAD4E75C}"/>
              </a:ext>
            </a:extLst>
          </p:cNvPr>
          <p:cNvSpPr txBox="1"/>
          <p:nvPr/>
        </p:nvSpPr>
        <p:spPr>
          <a:xfrm>
            <a:off x="6205126" y="4052017"/>
            <a:ext cx="603550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El lenguaje K-SAT está en NP 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K = 2,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K-SAT está en P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K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 3, K-SAT 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no estaría en P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790BD9-3CED-16EE-31B1-56318EDB54CB}"/>
              </a:ext>
            </a:extLst>
          </p:cNvPr>
          <p:cNvSpPr txBox="1"/>
          <p:nvPr/>
        </p:nvSpPr>
        <p:spPr>
          <a:xfrm>
            <a:off x="6190418" y="5580414"/>
            <a:ext cx="58197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El lenguaje PRIMOS está en P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cambio, obtener los factores primos de un número (problema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factorización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no estaría en P</a:t>
            </a:r>
          </a:p>
        </p:txBody>
      </p:sp>
    </p:spTree>
    <p:extLst>
      <p:ext uri="{BB962C8B-B14F-4D97-AF65-F5344CB8AC3E}">
        <p14:creationId xmlns:p14="http://schemas.microsoft.com/office/powerpoint/2010/main" val="301529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335770" y="204377"/>
            <a:ext cx="11668388" cy="6478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¿Por qué el problema de los circuitos de Euler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sería más fácil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que el problema de los circuitos de Hamilton?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¿Por qué 2-COLOR y 2-SAT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están en 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mientras que 3-COLOR y 3-SAT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no estarían en 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60000" indent="-342900" algn="just">
              <a:buFont typeface="Arial" panose="020B0604020202020204" pitchFamily="34" charset="0"/>
              <a:buChar char="•"/>
            </a:pPr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¿Por qué 2-COLOR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está en 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3-COLOR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no estaría en 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y desde K = 4 K-COLOR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tiene solución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360000" algn="just"/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¿Por qué decidir si un número N es primo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sería más fácil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que encontrar los factores primos de N?</a:t>
            </a:r>
          </a:p>
          <a:p>
            <a:pPr marL="360000" algn="just"/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Etc., etc., etc.</a:t>
            </a:r>
          </a:p>
          <a:p>
            <a:pPr marL="360000" algn="just"/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 diferencia de la computabilidad, la complejidad computacional tiene hoy día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muchas preguntas abiertas.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las próximas dos clases veremos cómo se encaran dichas preguntas 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NP-completitud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modelos computacionales alternativos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jerarquías alternativas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DF02AD3-71A4-E36C-B157-92459C024E02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AF1CF4E-A520-68D3-9D8A-07ABB26749B8}"/>
              </a:ext>
            </a:extLst>
          </p:cNvPr>
          <p:cNvSpPr/>
          <p:nvPr/>
        </p:nvSpPr>
        <p:spPr>
          <a:xfrm>
            <a:off x="2088606" y="3075913"/>
            <a:ext cx="37382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Lucida Calligraphy" panose="03010101010101010101" pitchFamily="66" charset="0"/>
                <a:cs typeface="Arial" panose="020B0604020202020204" pitchFamily="34" charset="0"/>
              </a:rPr>
              <a:t>L</a:t>
            </a:r>
            <a:endParaRPr lang="es-MX" sz="2200" dirty="0">
              <a:latin typeface="Lucida Calligraphy" panose="03010101010101010101" pitchFamily="66" charset="0"/>
            </a:endParaRP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BF8C3273-2C4B-51D5-1D63-FDB6F0CEB4DB}"/>
              </a:ext>
            </a:extLst>
          </p:cNvPr>
          <p:cNvSpPr/>
          <p:nvPr/>
        </p:nvSpPr>
        <p:spPr>
          <a:xfrm>
            <a:off x="1558815" y="3006343"/>
            <a:ext cx="1536970" cy="215001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62508383-E2E5-9270-58D9-A649624ACA5F}"/>
              </a:ext>
            </a:extLst>
          </p:cNvPr>
          <p:cNvSpPr/>
          <p:nvPr/>
        </p:nvSpPr>
        <p:spPr>
          <a:xfrm>
            <a:off x="1782551" y="3563376"/>
            <a:ext cx="1089498" cy="1493648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94789FFC-4832-4821-3D91-CD34FECAA01F}"/>
              </a:ext>
            </a:extLst>
          </p:cNvPr>
          <p:cNvSpPr/>
          <p:nvPr/>
        </p:nvSpPr>
        <p:spPr>
          <a:xfrm>
            <a:off x="2053340" y="4225846"/>
            <a:ext cx="594974" cy="749078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709DA84-6B5E-9857-C712-02407A713A94}"/>
              </a:ext>
            </a:extLst>
          </p:cNvPr>
          <p:cNvSpPr/>
          <p:nvPr/>
        </p:nvSpPr>
        <p:spPr>
          <a:xfrm>
            <a:off x="2165551" y="4394129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EADD543-D052-6A5D-24AD-7A04255383D4}"/>
              </a:ext>
            </a:extLst>
          </p:cNvPr>
          <p:cNvSpPr/>
          <p:nvPr/>
        </p:nvSpPr>
        <p:spPr>
          <a:xfrm>
            <a:off x="2088606" y="3763515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5391F268-26DE-88BE-D47E-9B128DF33CF3}"/>
              </a:ext>
            </a:extLst>
          </p:cNvPr>
          <p:cNvSpPr/>
          <p:nvPr/>
        </p:nvSpPr>
        <p:spPr>
          <a:xfrm>
            <a:off x="9476117" y="314261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Diagrama de flujo: conector 40">
            <a:extLst>
              <a:ext uri="{FF2B5EF4-FFF2-40B4-BE49-F238E27FC236}">
                <a16:creationId xmlns:a16="http://schemas.microsoft.com/office/drawing/2014/main" id="{5FCC7DA9-C921-A532-81C3-F0265BAC157E}"/>
              </a:ext>
            </a:extLst>
          </p:cNvPr>
          <p:cNvSpPr/>
          <p:nvPr/>
        </p:nvSpPr>
        <p:spPr>
          <a:xfrm>
            <a:off x="9052389" y="3024890"/>
            <a:ext cx="1536970" cy="215001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Diagrama de flujo: conector 41">
            <a:extLst>
              <a:ext uri="{FF2B5EF4-FFF2-40B4-BE49-F238E27FC236}">
                <a16:creationId xmlns:a16="http://schemas.microsoft.com/office/drawing/2014/main" id="{7EC657E5-6600-0EF1-9538-D132F29F8E66}"/>
              </a:ext>
            </a:extLst>
          </p:cNvPr>
          <p:cNvSpPr/>
          <p:nvPr/>
        </p:nvSpPr>
        <p:spPr>
          <a:xfrm>
            <a:off x="9276125" y="3581923"/>
            <a:ext cx="1089498" cy="1493648"/>
          </a:xfrm>
          <a:prstGeom prst="flowChartConnector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Diagrama de flujo: conector 42">
            <a:extLst>
              <a:ext uri="{FF2B5EF4-FFF2-40B4-BE49-F238E27FC236}">
                <a16:creationId xmlns:a16="http://schemas.microsoft.com/office/drawing/2014/main" id="{470392D8-EA4E-A3D6-DCDA-45EAFF9F2299}"/>
              </a:ext>
            </a:extLst>
          </p:cNvPr>
          <p:cNvSpPr/>
          <p:nvPr/>
        </p:nvSpPr>
        <p:spPr>
          <a:xfrm>
            <a:off x="9546914" y="4244393"/>
            <a:ext cx="594974" cy="749078"/>
          </a:xfrm>
          <a:prstGeom prst="flowChartConnector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69111EA4-5678-1966-C79B-30B850F857A5}"/>
              </a:ext>
            </a:extLst>
          </p:cNvPr>
          <p:cNvSpPr/>
          <p:nvPr/>
        </p:nvSpPr>
        <p:spPr>
          <a:xfrm>
            <a:off x="9659125" y="4412676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dirty="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923FD864-8010-CDB8-6195-AD71B2AC5B30}"/>
              </a:ext>
            </a:extLst>
          </p:cNvPr>
          <p:cNvSpPr/>
          <p:nvPr/>
        </p:nvSpPr>
        <p:spPr>
          <a:xfrm>
            <a:off x="9582180" y="3782062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8C26625-55E3-CF86-8AAF-4ABA35765DBF}"/>
              </a:ext>
            </a:extLst>
          </p:cNvPr>
          <p:cNvSpPr txBox="1"/>
          <p:nvPr/>
        </p:nvSpPr>
        <p:spPr>
          <a:xfrm>
            <a:off x="8385938" y="5156354"/>
            <a:ext cx="3223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cumpliría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 NP  EXP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61E161A-1941-1BEC-5549-056726BE650E}"/>
              </a:ext>
            </a:extLst>
          </p:cNvPr>
          <p:cNvSpPr txBox="1"/>
          <p:nvPr/>
        </p:nvSpPr>
        <p:spPr>
          <a:xfrm>
            <a:off x="1044888" y="5171827"/>
            <a:ext cx="2611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cumple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R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 RE  </a:t>
            </a:r>
            <a:r>
              <a:rPr lang="es-AR" sz="2000" dirty="0">
                <a:solidFill>
                  <a:srgbClr val="000000"/>
                </a:solidFill>
                <a:effectLst/>
                <a:latin typeface="Lucida Calligraphy" panose="03010101010101010101" pitchFamily="66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s-MX" sz="2000" dirty="0">
                <a:latin typeface="Lucida Calligraphy" panose="03010101010101010101" pitchFamily="66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15A100F-6720-78A0-DA46-2A4DD02DA0FB}"/>
              </a:ext>
            </a:extLst>
          </p:cNvPr>
          <p:cNvSpPr txBox="1"/>
          <p:nvPr/>
        </p:nvSpPr>
        <p:spPr>
          <a:xfrm>
            <a:off x="4437666" y="5188402"/>
            <a:ext cx="2386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cumple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 EXP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2" name="Diagrama de flujo: conector 11">
            <a:extLst>
              <a:ext uri="{FF2B5EF4-FFF2-40B4-BE49-F238E27FC236}">
                <a16:creationId xmlns:a16="http://schemas.microsoft.com/office/drawing/2014/main" id="{F92C9C5A-9C01-B7BF-740D-880DEAA3A97B}"/>
              </a:ext>
            </a:extLst>
          </p:cNvPr>
          <p:cNvSpPr/>
          <p:nvPr/>
        </p:nvSpPr>
        <p:spPr>
          <a:xfrm>
            <a:off x="4672563" y="3051538"/>
            <a:ext cx="1536970" cy="215001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8C82FF18-D406-9ABD-0C55-0DB9492B638E}"/>
              </a:ext>
            </a:extLst>
          </p:cNvPr>
          <p:cNvSpPr/>
          <p:nvPr/>
        </p:nvSpPr>
        <p:spPr>
          <a:xfrm>
            <a:off x="5167088" y="4271041"/>
            <a:ext cx="594974" cy="749078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346D83-32BC-0A42-719E-325181FB27AB}"/>
              </a:ext>
            </a:extLst>
          </p:cNvPr>
          <p:cNvSpPr/>
          <p:nvPr/>
        </p:nvSpPr>
        <p:spPr>
          <a:xfrm>
            <a:off x="5279299" y="4439324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9B237A9-814C-5ECC-83C1-E459630E6726}"/>
              </a:ext>
            </a:extLst>
          </p:cNvPr>
          <p:cNvSpPr/>
          <p:nvPr/>
        </p:nvSpPr>
        <p:spPr>
          <a:xfrm>
            <a:off x="5115731" y="316942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8AA348D-7CC0-8928-26F1-54B5018BC62D}"/>
              </a:ext>
            </a:extLst>
          </p:cNvPr>
          <p:cNvSpPr txBox="1"/>
          <p:nvPr/>
        </p:nvSpPr>
        <p:spPr>
          <a:xfrm>
            <a:off x="2516929" y="5492097"/>
            <a:ext cx="4417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pruebas por diagonalización</a:t>
            </a:r>
            <a:endParaRPr lang="es-MX" sz="2000" dirty="0">
              <a:latin typeface="Lucida Calligraphy" panose="03010101010101010101" pitchFamily="66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657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5B3DA613-DB81-4EF8-A4E6-961AB4ECC18D}"/>
              </a:ext>
            </a:extLst>
          </p:cNvPr>
          <p:cNvSpPr txBox="1">
            <a:spLocks/>
          </p:cNvSpPr>
          <p:nvPr/>
        </p:nvSpPr>
        <p:spPr>
          <a:xfrm>
            <a:off x="2846838" y="2510734"/>
            <a:ext cx="6530427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2480000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314396" y="226886"/>
            <a:ext cx="1151066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Dinámicas</a:t>
            </a:r>
          </a:p>
          <a:p>
            <a:pPr algn="just"/>
            <a:endParaRPr lang="es-AR" sz="9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Cantidad de cambios de dirección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del cabezal de una MT (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Hennie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Consumo de recursos abstractos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(Blum).</a:t>
            </a:r>
          </a:p>
          <a:p>
            <a:pPr lvl="1"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Etc.     </a:t>
            </a:r>
          </a:p>
          <a:p>
            <a:pPr lvl="1" algn="just"/>
            <a:endParaRPr lang="es-AR" sz="3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Estáticas</a:t>
            </a:r>
          </a:p>
          <a:p>
            <a:pPr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Mínimo valor |Q|.|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Γ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una MT (Shannon).</a:t>
            </a:r>
          </a:p>
          <a:p>
            <a:pPr lvl="1"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Complejidad estructural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una MT (Chomsky): según el tipo de cintas, el tipo de movimientos, el espacio recorrido, etc. (autómatas finitos, autómatas con pila, autómatas linealmente acotados, MT generales).</a:t>
            </a:r>
          </a:p>
          <a:p>
            <a:pPr lvl="1"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</a:p>
          <a:p>
            <a:pPr lvl="1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F4C5963-25F1-4FDE-921F-1994739C2A52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3993EE8-450A-5D1A-F1DE-C9EDC484795A}"/>
              </a:ext>
            </a:extLst>
          </p:cNvPr>
          <p:cNvSpPr/>
          <p:nvPr/>
        </p:nvSpPr>
        <p:spPr>
          <a:xfrm>
            <a:off x="249172" y="143605"/>
            <a:ext cx="117065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Otras métricas de complejidad computacional</a:t>
            </a:r>
          </a:p>
        </p:txBody>
      </p:sp>
    </p:spTree>
    <p:extLst>
      <p:ext uri="{BB962C8B-B14F-4D97-AF65-F5344CB8AC3E}">
        <p14:creationId xmlns:p14="http://schemas.microsoft.com/office/powerpoint/2010/main" val="1908760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C55D-34B4-E502-3BE8-C2074DE72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02EB3F94-ABB7-5485-23F9-DD4720121D8F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C48E09D-6D7D-BDFD-A7D6-369940425F63}"/>
              </a:ext>
            </a:extLst>
          </p:cNvPr>
          <p:cNvSpPr/>
          <p:nvPr/>
        </p:nvSpPr>
        <p:spPr>
          <a:xfrm>
            <a:off x="328123" y="901148"/>
            <a:ext cx="11682021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3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probador 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(MT de poder ilimitado) tiene que convencer a un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verificador V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(MT de tiempo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(n)) que una cadena w pertenece a un lenguaje L.</a:t>
            </a: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Para ello, V y P intercambian preguntas y respuestas. Las preguntas y respuestas miden y suman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(|w|). </a:t>
            </a: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3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3" algn="just"/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L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NP, entonces existe V tal que:</a:t>
            </a:r>
          </a:p>
          <a:p>
            <a:pPr marL="0" lvl="3" algn="just"/>
            <a:endParaRPr lang="es-AR" sz="8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3" algn="just"/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Si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L, existe un P que puede convencer a V.</a:t>
            </a:r>
          </a:p>
          <a:p>
            <a:pPr marL="0" lvl="3" algn="just"/>
            <a:endParaRPr lang="es-AR" sz="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3" algn="just"/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es-AR" sz="1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∉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L, no existe ningún P que pueda convencer a V.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29928BA-5792-9230-CE3B-39681CC9ACDE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4A78CB8-D7CB-335B-51B5-AECD01A822C8}"/>
              </a:ext>
            </a:extLst>
          </p:cNvPr>
          <p:cNvSpPr/>
          <p:nvPr/>
        </p:nvSpPr>
        <p:spPr>
          <a:xfrm>
            <a:off x="249172" y="143605"/>
            <a:ext cx="117065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Definición equivalente de la clase NP (menos intuitiva)</a:t>
            </a:r>
          </a:p>
        </p:txBody>
      </p:sp>
      <p:pic>
        <p:nvPicPr>
          <p:cNvPr id="8" name="Gráfico 7" descr="Hombre con relleno sólido">
            <a:extLst>
              <a:ext uri="{FF2B5EF4-FFF2-40B4-BE49-F238E27FC236}">
                <a16:creationId xmlns:a16="http://schemas.microsoft.com/office/drawing/2014/main" id="{67BDF65C-BB0C-F4B4-5397-3F93651AC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942" y="2826763"/>
            <a:ext cx="914400" cy="914400"/>
          </a:xfrm>
          <a:prstGeom prst="rect">
            <a:avLst/>
          </a:prstGeom>
        </p:spPr>
      </p:pic>
      <p:pic>
        <p:nvPicPr>
          <p:cNvPr id="11" name="Gráfico 10" descr="Hombre contorno">
            <a:extLst>
              <a:ext uri="{FF2B5EF4-FFF2-40B4-BE49-F238E27FC236}">
                <a16:creationId xmlns:a16="http://schemas.microsoft.com/office/drawing/2014/main" id="{469548A4-A139-6495-9367-BFE31F043A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8094" y="2822970"/>
            <a:ext cx="914400" cy="9144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2909D09-B468-2154-A144-4DEB340C1656}"/>
              </a:ext>
            </a:extLst>
          </p:cNvPr>
          <p:cNvSpPr txBox="1"/>
          <p:nvPr/>
        </p:nvSpPr>
        <p:spPr>
          <a:xfrm>
            <a:off x="510044" y="3667525"/>
            <a:ext cx="1513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verificador V</a:t>
            </a:r>
            <a:endParaRPr lang="es-AR" sz="16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EF42FF8-F1DB-C6D9-7E3D-8D55F9E5EC63}"/>
              </a:ext>
            </a:extLst>
          </p:cNvPr>
          <p:cNvSpPr txBox="1"/>
          <p:nvPr/>
        </p:nvSpPr>
        <p:spPr>
          <a:xfrm>
            <a:off x="5328239" y="3652112"/>
            <a:ext cx="13518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probador P</a:t>
            </a:r>
            <a:endParaRPr lang="es-AR" sz="1600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666461CD-A42E-C945-AF12-51E4726D4376}"/>
              </a:ext>
            </a:extLst>
          </p:cNvPr>
          <p:cNvCxnSpPr>
            <a:cxnSpLocks/>
          </p:cNvCxnSpPr>
          <p:nvPr/>
        </p:nvCxnSpPr>
        <p:spPr>
          <a:xfrm>
            <a:off x="1848254" y="3342627"/>
            <a:ext cx="3494049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AFC00003-B62B-70AD-D724-5F776D2CC35D}"/>
              </a:ext>
            </a:extLst>
          </p:cNvPr>
          <p:cNvCxnSpPr>
            <a:cxnSpLocks/>
          </p:cNvCxnSpPr>
          <p:nvPr/>
        </p:nvCxnSpPr>
        <p:spPr>
          <a:xfrm rot="10800000">
            <a:off x="1822622" y="3487176"/>
            <a:ext cx="3494049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DF03D22-E6C2-A5F2-0A01-8305403A92FB}"/>
              </a:ext>
            </a:extLst>
          </p:cNvPr>
          <p:cNvCxnSpPr>
            <a:cxnSpLocks/>
          </p:cNvCxnSpPr>
          <p:nvPr/>
        </p:nvCxnSpPr>
        <p:spPr>
          <a:xfrm>
            <a:off x="1848254" y="3629288"/>
            <a:ext cx="3494049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F09CDB67-66A6-A51C-D3C1-6D239868FA4B}"/>
              </a:ext>
            </a:extLst>
          </p:cNvPr>
          <p:cNvCxnSpPr>
            <a:cxnSpLocks/>
          </p:cNvCxnSpPr>
          <p:nvPr/>
        </p:nvCxnSpPr>
        <p:spPr>
          <a:xfrm rot="10800000">
            <a:off x="1822621" y="3762851"/>
            <a:ext cx="3494049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DA9153A-1C8B-F12F-55B9-280DE3BC0E42}"/>
              </a:ext>
            </a:extLst>
          </p:cNvPr>
          <p:cNvSpPr txBox="1"/>
          <p:nvPr/>
        </p:nvSpPr>
        <p:spPr>
          <a:xfrm>
            <a:off x="1822621" y="3821389"/>
            <a:ext cx="4283084" cy="3231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AR" sz="15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5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(|w|) mensajes de tamaño </a:t>
            </a:r>
            <a:r>
              <a:rPr lang="es-AR" sz="15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5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(|w|)</a:t>
            </a:r>
            <a:endParaRPr lang="es-AR" sz="1500" dirty="0">
              <a:solidFill>
                <a:srgbClr val="C0000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3544B29-A525-4F6F-F6A0-BAF96D04C816}"/>
              </a:ext>
            </a:extLst>
          </p:cNvPr>
          <p:cNvSpPr txBox="1"/>
          <p:nvPr/>
        </p:nvSpPr>
        <p:spPr>
          <a:xfrm>
            <a:off x="6648310" y="2528634"/>
            <a:ext cx="543254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En la definición anterior de NP: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 le envía a V UN certificado.</a:t>
            </a:r>
          </a:p>
          <a:p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En la definición nueva de NP (equivalente):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P intercambia con V varios mensajes.</a:t>
            </a:r>
          </a:p>
          <a:p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equivalencia de las dos definiciones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no es intuitiva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 Por ejemplo, un maestro puede explicar un tema a sus alumnos de dos formas:</a:t>
            </a:r>
          </a:p>
          <a:p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arenBoth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respondiendo preguntas recién cuando termina la explicación, o bien:</a:t>
            </a:r>
          </a:p>
          <a:p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(2) respondiendo preguntas durante la explicación,</a:t>
            </a:r>
          </a:p>
          <a:p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y es lógico suponer que de la forma (2) los alumnos comprenderán mejor la explicación.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0452FB7-A79D-81B5-A80C-12B0FEA19A5C}"/>
              </a:ext>
            </a:extLst>
          </p:cNvPr>
          <p:cNvCxnSpPr>
            <a:cxnSpLocks/>
          </p:cNvCxnSpPr>
          <p:nvPr/>
        </p:nvCxnSpPr>
        <p:spPr>
          <a:xfrm>
            <a:off x="1815386" y="2747902"/>
            <a:ext cx="3402014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084F0BB-A061-2105-A945-617A611DC416}"/>
              </a:ext>
            </a:extLst>
          </p:cNvPr>
          <p:cNvCxnSpPr>
            <a:cxnSpLocks/>
          </p:cNvCxnSpPr>
          <p:nvPr/>
        </p:nvCxnSpPr>
        <p:spPr>
          <a:xfrm>
            <a:off x="1812768" y="2964377"/>
            <a:ext cx="3391382" cy="17643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4C49FC25-CC95-7FD5-0782-CB3667D4573D}"/>
              </a:ext>
            </a:extLst>
          </p:cNvPr>
          <p:cNvSpPr/>
          <p:nvPr/>
        </p:nvSpPr>
        <p:spPr>
          <a:xfrm>
            <a:off x="3038000" y="2678518"/>
            <a:ext cx="16190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cadena w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32F0310-E71F-F19C-AACD-44565716B283}"/>
              </a:ext>
            </a:extLst>
          </p:cNvPr>
          <p:cNvSpPr/>
          <p:nvPr/>
        </p:nvSpPr>
        <p:spPr>
          <a:xfrm>
            <a:off x="459213" y="2602181"/>
            <a:ext cx="6105074" cy="16536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2837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32141F60-5FFF-463D-B251-C64B1C99DCAB}"/>
              </a:ext>
            </a:extLst>
          </p:cNvPr>
          <p:cNvSpPr/>
          <p:nvPr/>
        </p:nvSpPr>
        <p:spPr>
          <a:xfrm>
            <a:off x="335835" y="752917"/>
            <a:ext cx="8544409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SAT = {φ | φ es una fórmula booleana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sin cuantificadores con m variables} </a:t>
            </a:r>
          </a:p>
          <a:p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SAT no estaría en P: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hay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asignaciones </a:t>
            </a:r>
            <a:r>
              <a:rPr lang="es-AR" sz="1600" dirty="0">
                <a:latin typeface="Lucida Calligraphy" panose="03010101010101010101" pitchFamily="66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para chequear.</a:t>
            </a:r>
          </a:p>
          <a:p>
            <a:endParaRPr lang="es-AR" sz="500" b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SAT está en NP: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dadas una fórmula booleana φ y una asignación </a:t>
            </a:r>
            <a:r>
              <a:rPr lang="es-AR" sz="1600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se puede verificar en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(n) si </a:t>
            </a:r>
            <a:r>
              <a:rPr lang="es-AR" sz="1600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satisface φ. </a:t>
            </a:r>
          </a:p>
          <a:p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¿SAT</a:t>
            </a:r>
            <a:r>
              <a:rPr lang="es-AR" sz="16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está en NP? ¿Cuánto mide un certificado en este caso?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lide Number Placeholder 2">
            <a:extLst>
              <a:ext uri="{FF2B5EF4-FFF2-40B4-BE49-F238E27FC236}">
                <a16:creationId xmlns:a16="http://schemas.microsoft.com/office/drawing/2014/main" id="{D4778436-7A66-4E95-AE99-3AD9B970F3B2}"/>
              </a:ext>
            </a:extLst>
          </p:cNvPr>
          <p:cNvSpPr txBox="1">
            <a:spLocks/>
          </p:cNvSpPr>
          <p:nvPr/>
        </p:nvSpPr>
        <p:spPr>
          <a:xfrm>
            <a:off x="11644109" y="61813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90E2948-A5BC-552A-CD0F-212A7487E743}"/>
              </a:ext>
            </a:extLst>
          </p:cNvPr>
          <p:cNvSpPr/>
          <p:nvPr/>
        </p:nvSpPr>
        <p:spPr>
          <a:xfrm>
            <a:off x="10601782" y="169132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EC0933E-5218-0F71-E9EB-6775B3D53A10}"/>
              </a:ext>
            </a:extLst>
          </p:cNvPr>
          <p:cNvSpPr/>
          <p:nvPr/>
        </p:nvSpPr>
        <p:spPr>
          <a:xfrm>
            <a:off x="10536898" y="705852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DF7A46A-986D-A9EC-46BD-4FE9953B9682}"/>
              </a:ext>
            </a:extLst>
          </p:cNvPr>
          <p:cNvSpPr/>
          <p:nvPr/>
        </p:nvSpPr>
        <p:spPr>
          <a:xfrm>
            <a:off x="8583907" y="1059527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79E8E41-07A4-3052-E2BF-1A86C21232FE}"/>
              </a:ext>
            </a:extLst>
          </p:cNvPr>
          <p:cNvCxnSpPr>
            <a:cxnSpLocks/>
          </p:cNvCxnSpPr>
          <p:nvPr/>
        </p:nvCxnSpPr>
        <p:spPr>
          <a:xfrm>
            <a:off x="7452753" y="1523524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8E3E2DD-5F8C-37CD-F4D6-41973E7361C8}"/>
              </a:ext>
            </a:extLst>
          </p:cNvPr>
          <p:cNvCxnSpPr>
            <a:cxnSpLocks/>
          </p:cNvCxnSpPr>
          <p:nvPr/>
        </p:nvCxnSpPr>
        <p:spPr>
          <a:xfrm>
            <a:off x="9498307" y="1547587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6555DAE-838C-CEB4-B338-DD354A0C0F49}"/>
              </a:ext>
            </a:extLst>
          </p:cNvPr>
          <p:cNvCxnSpPr>
            <a:cxnSpLocks/>
          </p:cNvCxnSpPr>
          <p:nvPr/>
        </p:nvCxnSpPr>
        <p:spPr>
          <a:xfrm flipV="1">
            <a:off x="9501216" y="878775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ítulo 1">
            <a:extLst>
              <a:ext uri="{FF2B5EF4-FFF2-40B4-BE49-F238E27FC236}">
                <a16:creationId xmlns:a16="http://schemas.microsoft.com/office/drawing/2014/main" id="{ACB1480B-E5B0-2EED-2BDC-214E0E5E9968}"/>
              </a:ext>
            </a:extLst>
          </p:cNvPr>
          <p:cNvSpPr txBox="1">
            <a:spLocks/>
          </p:cNvSpPr>
          <p:nvPr/>
        </p:nvSpPr>
        <p:spPr>
          <a:xfrm>
            <a:off x="8850495" y="1318949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6331826-6E90-FBA0-9A65-048AF64206C0}"/>
              </a:ext>
            </a:extLst>
          </p:cNvPr>
          <p:cNvSpPr txBox="1"/>
          <p:nvPr/>
        </p:nvSpPr>
        <p:spPr>
          <a:xfrm>
            <a:off x="7676317" y="1192925"/>
            <a:ext cx="93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(φ, </a:t>
            </a:r>
            <a:r>
              <a:rPr lang="es-AR" sz="1600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AR" sz="16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2655FCA-1656-44C5-6DEA-057F2E44E613}"/>
              </a:ext>
            </a:extLst>
          </p:cNvPr>
          <p:cNvSpPr txBox="1"/>
          <p:nvPr/>
        </p:nvSpPr>
        <p:spPr>
          <a:xfrm>
            <a:off x="7876500" y="1947027"/>
            <a:ext cx="34795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M tarda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(|φ|)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6F6EDC-EB48-9AD2-C0E0-4BD601E3F49A}"/>
              </a:ext>
            </a:extLst>
          </p:cNvPr>
          <p:cNvSpPr/>
          <p:nvPr/>
        </p:nvSpPr>
        <p:spPr>
          <a:xfrm>
            <a:off x="335836" y="2588737"/>
            <a:ext cx="7961992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CH = {G : G es un grafo no dirigido con m vértices y tiene un circuito de Hamilton} </a:t>
            </a:r>
          </a:p>
          <a:p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CH no estaría en P: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hay m! permutaciones C de V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para chequear.</a:t>
            </a:r>
          </a:p>
          <a:p>
            <a:endParaRPr lang="es-AR" sz="500" b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CH está en NP: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dados un grafo G y una permutación C de V,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 se puede verificar en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(n) si C es un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CdeH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de G.</a:t>
            </a:r>
            <a:endParaRPr lang="es-A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endParaRPr lang="es-AR" sz="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¿CH</a:t>
            </a:r>
            <a:r>
              <a:rPr lang="es-AR" sz="16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está en NP? ¿Cuánto mide un certificado en este caso?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4139A9D-BB5E-A4D2-4829-BD8B3D8D6057}"/>
              </a:ext>
            </a:extLst>
          </p:cNvPr>
          <p:cNvSpPr/>
          <p:nvPr/>
        </p:nvSpPr>
        <p:spPr>
          <a:xfrm>
            <a:off x="10628830" y="3539246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5B4260E-D9B4-1598-88D0-6893D7437991}"/>
              </a:ext>
            </a:extLst>
          </p:cNvPr>
          <p:cNvSpPr/>
          <p:nvPr/>
        </p:nvSpPr>
        <p:spPr>
          <a:xfrm>
            <a:off x="10563946" y="2553771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2B51F7D-C663-7272-5F60-0CD689B6D395}"/>
              </a:ext>
            </a:extLst>
          </p:cNvPr>
          <p:cNvSpPr/>
          <p:nvPr/>
        </p:nvSpPr>
        <p:spPr>
          <a:xfrm>
            <a:off x="8610955" y="2907446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BDF368C-9360-9AC6-3B3C-C7573AC9C853}"/>
              </a:ext>
            </a:extLst>
          </p:cNvPr>
          <p:cNvCxnSpPr>
            <a:cxnSpLocks/>
          </p:cNvCxnSpPr>
          <p:nvPr/>
        </p:nvCxnSpPr>
        <p:spPr>
          <a:xfrm>
            <a:off x="7479801" y="3371443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AA32FAA-C53A-6A8F-47A6-62F2474FBBB8}"/>
              </a:ext>
            </a:extLst>
          </p:cNvPr>
          <p:cNvCxnSpPr>
            <a:cxnSpLocks/>
          </p:cNvCxnSpPr>
          <p:nvPr/>
        </p:nvCxnSpPr>
        <p:spPr>
          <a:xfrm>
            <a:off x="9525355" y="3395506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AC810DFC-E5FD-CE2A-7B7E-321D2F882B19}"/>
              </a:ext>
            </a:extLst>
          </p:cNvPr>
          <p:cNvCxnSpPr>
            <a:cxnSpLocks/>
          </p:cNvCxnSpPr>
          <p:nvPr/>
        </p:nvCxnSpPr>
        <p:spPr>
          <a:xfrm flipV="1">
            <a:off x="9528264" y="2726694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ítulo 1">
            <a:extLst>
              <a:ext uri="{FF2B5EF4-FFF2-40B4-BE49-F238E27FC236}">
                <a16:creationId xmlns:a16="http://schemas.microsoft.com/office/drawing/2014/main" id="{63E8F1AE-A45E-9496-FA3E-EE82923BC7ED}"/>
              </a:ext>
            </a:extLst>
          </p:cNvPr>
          <p:cNvSpPr txBox="1">
            <a:spLocks/>
          </p:cNvSpPr>
          <p:nvPr/>
        </p:nvSpPr>
        <p:spPr>
          <a:xfrm>
            <a:off x="8880245" y="3183092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A5328DD-A4C2-4D2D-5B0C-4C6B7183C1AE}"/>
              </a:ext>
            </a:extLst>
          </p:cNvPr>
          <p:cNvSpPr txBox="1"/>
          <p:nvPr/>
        </p:nvSpPr>
        <p:spPr>
          <a:xfrm>
            <a:off x="7703365" y="3040844"/>
            <a:ext cx="93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(G, C)</a:t>
            </a:r>
            <a:endParaRPr lang="es-AR" sz="16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03AB88D-0BE7-9B56-7F1F-2D34B7E6D0FC}"/>
              </a:ext>
            </a:extLst>
          </p:cNvPr>
          <p:cNvSpPr txBox="1"/>
          <p:nvPr/>
        </p:nvSpPr>
        <p:spPr>
          <a:xfrm>
            <a:off x="7903548" y="3794946"/>
            <a:ext cx="34795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M tarda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(|G|)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C3A9801-FCAE-EA49-CAAF-37C7D40E30D9}"/>
              </a:ext>
            </a:extLst>
          </p:cNvPr>
          <p:cNvSpPr/>
          <p:nvPr/>
        </p:nvSpPr>
        <p:spPr>
          <a:xfrm>
            <a:off x="249172" y="143605"/>
            <a:ext cx="11599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Acerca de los complementos de los lenguajes de NP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70CD622-3C9C-58A1-B03A-AD0C5A77A8FD}"/>
              </a:ext>
            </a:extLst>
          </p:cNvPr>
          <p:cNvSpPr/>
          <p:nvPr/>
        </p:nvSpPr>
        <p:spPr>
          <a:xfrm>
            <a:off x="1302671" y="4975986"/>
            <a:ext cx="489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000" b="1" dirty="0"/>
              <a:t>NP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D5F4AE-3B0F-7AFF-9E52-AB72958A3BE4}"/>
              </a:ext>
            </a:extLst>
          </p:cNvPr>
          <p:cNvSpPr/>
          <p:nvPr/>
        </p:nvSpPr>
        <p:spPr>
          <a:xfrm>
            <a:off x="3255406" y="4954162"/>
            <a:ext cx="8753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000" b="1" dirty="0"/>
              <a:t>CO-NP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9903422-30FC-95C5-93CB-0C5FE466C04C}"/>
              </a:ext>
            </a:extLst>
          </p:cNvPr>
          <p:cNvSpPr/>
          <p:nvPr/>
        </p:nvSpPr>
        <p:spPr>
          <a:xfrm>
            <a:off x="897739" y="5366419"/>
            <a:ext cx="516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SAT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20CDC9D-E24F-6830-9B7C-4DC91402FC79}"/>
              </a:ext>
            </a:extLst>
          </p:cNvPr>
          <p:cNvSpPr/>
          <p:nvPr/>
        </p:nvSpPr>
        <p:spPr>
          <a:xfrm>
            <a:off x="3789579" y="5354272"/>
            <a:ext cx="6822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cs typeface="Arial" panose="020B0604020202020204" pitchFamily="34" charset="0"/>
              </a:rPr>
              <a:t>SAT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295B3094-8079-4E2B-CF88-E51BC356BC36}"/>
              </a:ext>
            </a:extLst>
          </p:cNvPr>
          <p:cNvSpPr/>
          <p:nvPr/>
        </p:nvSpPr>
        <p:spPr>
          <a:xfrm>
            <a:off x="776179" y="4868751"/>
            <a:ext cx="2681335" cy="137637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1C9828CE-6ED9-00EB-3965-7F1420DD46C0}"/>
              </a:ext>
            </a:extLst>
          </p:cNvPr>
          <p:cNvSpPr/>
          <p:nvPr/>
        </p:nvSpPr>
        <p:spPr>
          <a:xfrm>
            <a:off x="1673160" y="4868750"/>
            <a:ext cx="2798681" cy="137637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7B95C9C-432C-BA1D-B341-2D4B0F4D3EA3}"/>
              </a:ext>
            </a:extLst>
          </p:cNvPr>
          <p:cNvSpPr/>
          <p:nvPr/>
        </p:nvSpPr>
        <p:spPr>
          <a:xfrm>
            <a:off x="1279969" y="5735751"/>
            <a:ext cx="452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CH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7125A0D-0586-B7D4-A30D-CD9498C3A83A}"/>
              </a:ext>
            </a:extLst>
          </p:cNvPr>
          <p:cNvSpPr/>
          <p:nvPr/>
        </p:nvSpPr>
        <p:spPr>
          <a:xfrm>
            <a:off x="3360481" y="5755949"/>
            <a:ext cx="712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cs typeface="Arial" panose="020B0604020202020204" pitchFamily="34" charset="0"/>
              </a:rPr>
              <a:t>CH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80BC6FD-FFB3-DD2E-E18D-B58C669565CB}"/>
              </a:ext>
            </a:extLst>
          </p:cNvPr>
          <p:cNvSpPr txBox="1"/>
          <p:nvPr/>
        </p:nvSpPr>
        <p:spPr>
          <a:xfrm>
            <a:off x="4550468" y="4373690"/>
            <a:ext cx="72382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CO-NP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tiene los complementos de los lenguajes de NP.</a:t>
            </a:r>
          </a:p>
          <a:p>
            <a:pPr algn="just"/>
            <a:endParaRPr lang="es-E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La conjetura aceptada es que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NP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≠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CO-NP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 Es decir que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NP no sería cerrada con respecto al complemento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algn="just"/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En cambio,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 sí es cerrada con respecto al complemento 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(ejercicio)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lo que refuerza la conjetura P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≠ N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P.</a:t>
            </a:r>
          </a:p>
          <a:p>
            <a:pPr algn="just"/>
            <a:endParaRPr lang="es-AR" sz="8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Otra conjetura aceptada es que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  NP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⋂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CO-NP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s-A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sz="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Sobre CO-NP profundizamos en la próxima clase.</a:t>
            </a:r>
          </a:p>
        </p:txBody>
      </p:sp>
      <p:sp>
        <p:nvSpPr>
          <p:cNvPr id="38" name="Diagrama de flujo: conector 37">
            <a:extLst>
              <a:ext uri="{FF2B5EF4-FFF2-40B4-BE49-F238E27FC236}">
                <a16:creationId xmlns:a16="http://schemas.microsoft.com/office/drawing/2014/main" id="{F395A8B0-C98D-7C90-406F-0B0A03491D32}"/>
              </a:ext>
            </a:extLst>
          </p:cNvPr>
          <p:cNvSpPr/>
          <p:nvPr/>
        </p:nvSpPr>
        <p:spPr>
          <a:xfrm>
            <a:off x="1977545" y="5244472"/>
            <a:ext cx="1188652" cy="558766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470B6FD-DCE1-EABC-A873-33782D16432E}"/>
              </a:ext>
            </a:extLst>
          </p:cNvPr>
          <p:cNvSpPr/>
          <p:nvPr/>
        </p:nvSpPr>
        <p:spPr>
          <a:xfrm>
            <a:off x="2439248" y="5323494"/>
            <a:ext cx="3209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000" b="1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410711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16" grpId="0" animBg="1"/>
      <p:bldP spid="23" grpId="0" animBg="1"/>
      <p:bldP spid="33" grpId="0"/>
      <p:bldP spid="34" grpId="0"/>
      <p:bldP spid="37" grpId="0"/>
      <p:bldP spid="38" grpId="0" animBg="1"/>
      <p:bldP spid="3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328123" y="901148"/>
            <a:ext cx="1168202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Ejemplo.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Sea DIV-3 = {N | N es un número natural que tiene un divisor que termina en 3}</a:t>
            </a:r>
          </a:p>
          <a:p>
            <a:pPr marL="285750" lvl="3" indent="-285750" algn="just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MT M que decide DIV-3 divide N por 3, 13, 23, etc., hasta encontrar eventualmente un divisor de N 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no se conoce otro algoritmo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  </a:t>
            </a:r>
          </a:p>
          <a:p>
            <a:pPr marL="360000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P. ej., si N = 100, M divide N por 3, 13, 23, 33, 43, 53, 63, 73, 83, 93 (10 divisiones). </a:t>
            </a:r>
          </a:p>
          <a:p>
            <a:pPr marL="360000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 ejecuta unas N/10 iteraciones, es decir O(N). Cada división se puede hacer en tiempo polinomial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60000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lo tanto,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 ejecuta O(N) iteraciones de tiempo polinomial.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Resta expresar N en términos de n: </a:t>
            </a:r>
          </a:p>
          <a:p>
            <a:pPr marL="360000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1)   Si N se codifica en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unario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n = N. Así, M hace O(n) =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 iteraciones.</a:t>
            </a:r>
          </a:p>
          <a:p>
            <a:pPr marL="360000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02900" indent="-342900" algn="just">
              <a:buAutoNum type="arabicParenR" startAt="2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N se codifica en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binario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n = O(log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N), y por lo tanto N = O(2</a:t>
            </a:r>
            <a:r>
              <a:rPr lang="es-ES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 Así, M hace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 iteraciones.      </a:t>
            </a:r>
          </a:p>
          <a:p>
            <a:pPr marL="702900" indent="-342900" algn="just">
              <a:buAutoNum type="arabicParenR" startAt="2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02900" indent="-342900" algn="just">
              <a:buAutoNum type="arabicParenR" startAt="2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N se codifica en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cualquier otra base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M hace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 iteraciones.</a:t>
            </a:r>
          </a:p>
          <a:p>
            <a:pPr marL="702900" indent="-342900" algn="just">
              <a:buAutoNum type="arabicParenR" startAt="2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La única codificación de los números no utilizable es la unaria.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7DFA78F-025A-46E2-814C-3F5EFE5B5141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888CB8D-16E1-C1A1-CCA0-8D08CE5FCA4D}"/>
              </a:ext>
            </a:extLst>
          </p:cNvPr>
          <p:cNvSpPr/>
          <p:nvPr/>
        </p:nvSpPr>
        <p:spPr>
          <a:xfrm>
            <a:off x="249172" y="143605"/>
            <a:ext cx="117065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complejidad temporal y su relación con la codificación de las cadenas</a:t>
            </a:r>
          </a:p>
        </p:txBody>
      </p:sp>
    </p:spTree>
    <p:extLst>
      <p:ext uri="{BB962C8B-B14F-4D97-AF65-F5344CB8AC3E}">
        <p14:creationId xmlns:p14="http://schemas.microsoft.com/office/powerpoint/2010/main" val="187036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E31DD-E7E9-6675-0182-411AD622F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95A0BE49-37DC-7B3B-B749-2DA544562445}"/>
              </a:ext>
            </a:extLst>
          </p:cNvPr>
          <p:cNvSpPr txBox="1">
            <a:spLocks/>
          </p:cNvSpPr>
          <p:nvPr/>
        </p:nvSpPr>
        <p:spPr>
          <a:xfrm>
            <a:off x="2846838" y="2510734"/>
            <a:ext cx="6530427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Clase práctica 5</a:t>
            </a:r>
          </a:p>
        </p:txBody>
      </p:sp>
    </p:spTree>
    <p:extLst>
      <p:ext uri="{BB962C8B-B14F-4D97-AF65-F5344CB8AC3E}">
        <p14:creationId xmlns:p14="http://schemas.microsoft.com/office/powerpoint/2010/main" val="3605156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142846" y="847969"/>
            <a:ext cx="11861312" cy="5555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Caso general.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problema del clique no estaría en P y está en NP. El problema consiste en determinar si un grafo G tiene un clique de tamaño K. Un clique de tamaño K en un grafo G es un subgrafo completo de G con K vértices.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lenguaje que representa el problema 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CLIQUE = {(G, K) | G es un grafo que tiene un clique de tamaño K} </a:t>
            </a:r>
          </a:p>
          <a:p>
            <a:pPr algn="just"/>
            <a:endParaRPr lang="es-AR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mejor MT M conocida para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decidir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si un grafo G tiene un clique de tamaño K, consiste en recorrer uno a uno todos los conjuntos C de K vértices de V y chequear en cada caso si C determina un clique.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s-A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Existen           conjuntos C de K vértices en V, siendo m la cantidad de vértices de V. </a:t>
            </a:r>
          </a:p>
          <a:p>
            <a:pPr algn="just"/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Así, las iteraciones de la MT M suman m.(m – 1).(m – 2)…(m – K + 1) / K! = O(m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= O(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(n).</a:t>
            </a:r>
          </a:p>
          <a:p>
            <a:pPr algn="just"/>
            <a:endParaRPr lang="es-AR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 Por lo tanto, CLIQUE no estaría en P.</a:t>
            </a:r>
          </a:p>
          <a:p>
            <a:pPr algn="just"/>
            <a:endParaRPr lang="es-MX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otro lado, se puede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verificar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en tiempo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(n) si un conjunto C de K vértices define un clique de tamaño K de un grafo G: una MT M puede chequear que todos los pares de vértices de C sean arcos de G en tiempo O(|K|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.|E|) = O(|V|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.|E|) = O(|G|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= O(n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(n). </a:t>
            </a:r>
          </a:p>
          <a:p>
            <a:pPr algn="just"/>
            <a:endParaRPr lang="es-AR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Por lo tanto, CLIQUE está en NP.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 es un verificador eficiente de CLIQUE, con certificados C de tamaño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O(n).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FBA7AD9-2781-4402-A6E8-E8E2D038CB3A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237526C-4DF7-4F0B-A8F7-7DC3F14E6190}"/>
              </a:ext>
            </a:extLst>
          </p:cNvPr>
          <p:cNvSpPr txBox="1"/>
          <p:nvPr/>
        </p:nvSpPr>
        <p:spPr>
          <a:xfrm>
            <a:off x="1520907" y="3466440"/>
            <a:ext cx="441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es-A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C2CD227-4C94-A461-9892-B50F28E503E4}"/>
              </a:ext>
            </a:extLst>
          </p:cNvPr>
          <p:cNvSpPr txBox="1"/>
          <p:nvPr/>
        </p:nvSpPr>
        <p:spPr>
          <a:xfrm>
            <a:off x="1541513" y="3732319"/>
            <a:ext cx="4413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s-AR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4C699DF-AA14-1C90-1429-B733661D1F1F}"/>
              </a:ext>
            </a:extLst>
          </p:cNvPr>
          <p:cNvSpPr txBox="1"/>
          <p:nvPr/>
        </p:nvSpPr>
        <p:spPr>
          <a:xfrm>
            <a:off x="1741562" y="3368161"/>
            <a:ext cx="3297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4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E7A24F5-41E2-01C7-EFCE-42E46B807320}"/>
              </a:ext>
            </a:extLst>
          </p:cNvPr>
          <p:cNvSpPr txBox="1"/>
          <p:nvPr/>
        </p:nvSpPr>
        <p:spPr>
          <a:xfrm>
            <a:off x="1307701" y="3347598"/>
            <a:ext cx="3297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4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</p:txBody>
      </p:sp>
      <p:sp>
        <p:nvSpPr>
          <p:cNvPr id="11" name="Diagrama de flujo: conector 10">
            <a:extLst>
              <a:ext uri="{FF2B5EF4-FFF2-40B4-BE49-F238E27FC236}">
                <a16:creationId xmlns:a16="http://schemas.microsoft.com/office/drawing/2014/main" id="{6E436C5F-ED39-CD00-01E8-CFAF7320B205}"/>
              </a:ext>
            </a:extLst>
          </p:cNvPr>
          <p:cNvSpPr/>
          <p:nvPr/>
        </p:nvSpPr>
        <p:spPr>
          <a:xfrm>
            <a:off x="9657580" y="1997859"/>
            <a:ext cx="214604" cy="22121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3B2733E-6064-70B4-D0A3-E47C584FDBB1}"/>
              </a:ext>
            </a:extLst>
          </p:cNvPr>
          <p:cNvCxnSpPr>
            <a:cxnSpLocks/>
          </p:cNvCxnSpPr>
          <p:nvPr/>
        </p:nvCxnSpPr>
        <p:spPr>
          <a:xfrm>
            <a:off x="9872184" y="2152506"/>
            <a:ext cx="237109" cy="665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Diagrama de flujo: conector 39">
            <a:extLst>
              <a:ext uri="{FF2B5EF4-FFF2-40B4-BE49-F238E27FC236}">
                <a16:creationId xmlns:a16="http://schemas.microsoft.com/office/drawing/2014/main" id="{E180A053-5BD5-B15A-2872-448029B54250}"/>
              </a:ext>
            </a:extLst>
          </p:cNvPr>
          <p:cNvSpPr/>
          <p:nvPr/>
        </p:nvSpPr>
        <p:spPr>
          <a:xfrm>
            <a:off x="10109293" y="2108467"/>
            <a:ext cx="214604" cy="22121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709E7DE-6A9E-2AF5-02E5-F82F05AD2BC0}"/>
              </a:ext>
            </a:extLst>
          </p:cNvPr>
          <p:cNvCxnSpPr>
            <a:cxnSpLocks/>
            <a:stCxn id="11" idx="4"/>
          </p:cNvCxnSpPr>
          <p:nvPr/>
        </p:nvCxnSpPr>
        <p:spPr>
          <a:xfrm flipH="1">
            <a:off x="9756574" y="2219075"/>
            <a:ext cx="8308" cy="2425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Diagrama de flujo: conector 43">
            <a:extLst>
              <a:ext uri="{FF2B5EF4-FFF2-40B4-BE49-F238E27FC236}">
                <a16:creationId xmlns:a16="http://schemas.microsoft.com/office/drawing/2014/main" id="{92DD7AB0-A9F4-9AC7-C611-56E64AD2B407}"/>
              </a:ext>
            </a:extLst>
          </p:cNvPr>
          <p:cNvSpPr/>
          <p:nvPr/>
        </p:nvSpPr>
        <p:spPr>
          <a:xfrm>
            <a:off x="9657580" y="2461671"/>
            <a:ext cx="214604" cy="22121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A06F1017-4128-9063-F796-CDDBEDD26737}"/>
              </a:ext>
            </a:extLst>
          </p:cNvPr>
          <p:cNvCxnSpPr>
            <a:cxnSpLocks/>
          </p:cNvCxnSpPr>
          <p:nvPr/>
        </p:nvCxnSpPr>
        <p:spPr>
          <a:xfrm flipV="1">
            <a:off x="9456899" y="2108467"/>
            <a:ext cx="200681" cy="96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iagrama de flujo: conector 46">
            <a:extLst>
              <a:ext uri="{FF2B5EF4-FFF2-40B4-BE49-F238E27FC236}">
                <a16:creationId xmlns:a16="http://schemas.microsoft.com/office/drawing/2014/main" id="{66B54B15-2C1C-E405-3275-C70CA4488958}"/>
              </a:ext>
            </a:extLst>
          </p:cNvPr>
          <p:cNvSpPr/>
          <p:nvPr/>
        </p:nvSpPr>
        <p:spPr>
          <a:xfrm>
            <a:off x="9286177" y="2204772"/>
            <a:ext cx="214604" cy="22121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Diagrama de flujo: conector 47">
            <a:extLst>
              <a:ext uri="{FF2B5EF4-FFF2-40B4-BE49-F238E27FC236}">
                <a16:creationId xmlns:a16="http://schemas.microsoft.com/office/drawing/2014/main" id="{15116ED5-7F02-1A38-F65C-22F2B03F8029}"/>
              </a:ext>
            </a:extLst>
          </p:cNvPr>
          <p:cNvSpPr/>
          <p:nvPr/>
        </p:nvSpPr>
        <p:spPr>
          <a:xfrm>
            <a:off x="9092285" y="2572279"/>
            <a:ext cx="214604" cy="22121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04AC12F8-2D52-99A6-9C28-CED8FB6CABDC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9306889" y="2572279"/>
            <a:ext cx="350691" cy="96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06621DC6-BE18-009B-93A5-4C203D9FD6E5}"/>
              </a:ext>
            </a:extLst>
          </p:cNvPr>
          <p:cNvCxnSpPr>
            <a:cxnSpLocks/>
          </p:cNvCxnSpPr>
          <p:nvPr/>
        </p:nvCxnSpPr>
        <p:spPr>
          <a:xfrm>
            <a:off x="10215392" y="1911164"/>
            <a:ext cx="0" cy="1973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Diagrama de flujo: conector 54">
            <a:extLst>
              <a:ext uri="{FF2B5EF4-FFF2-40B4-BE49-F238E27FC236}">
                <a16:creationId xmlns:a16="http://schemas.microsoft.com/office/drawing/2014/main" id="{CC847D81-84AE-C0CC-ABC5-DFCAA394823B}"/>
              </a:ext>
            </a:extLst>
          </p:cNvPr>
          <p:cNvSpPr/>
          <p:nvPr/>
        </p:nvSpPr>
        <p:spPr>
          <a:xfrm>
            <a:off x="10102007" y="1668568"/>
            <a:ext cx="214604" cy="22121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6F169EE1-9B34-80C7-8898-311AFEA147A8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9455274" y="2399280"/>
            <a:ext cx="233734" cy="947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DCDB401-D400-96A3-7EDC-BDCD25B52C6F}"/>
              </a:ext>
            </a:extLst>
          </p:cNvPr>
          <p:cNvCxnSpPr>
            <a:cxnSpLocks/>
            <a:stCxn id="40" idx="3"/>
          </p:cNvCxnSpPr>
          <p:nvPr/>
        </p:nvCxnSpPr>
        <p:spPr>
          <a:xfrm flipH="1">
            <a:off x="9858105" y="2297287"/>
            <a:ext cx="282616" cy="184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2878CDB0-C2DD-1E5C-3E48-62F43F081D5D}"/>
              </a:ext>
            </a:extLst>
          </p:cNvPr>
          <p:cNvSpPr/>
          <p:nvPr/>
        </p:nvSpPr>
        <p:spPr>
          <a:xfrm>
            <a:off x="9164330" y="1944962"/>
            <a:ext cx="1365003" cy="769441"/>
          </a:xfrm>
          <a:prstGeom prst="ellipse">
            <a:avLst/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9450829D-172B-C2AB-1385-8587EA3DF8A0}"/>
              </a:ext>
            </a:extLst>
          </p:cNvPr>
          <p:cNvCxnSpPr>
            <a:cxnSpLocks/>
          </p:cNvCxnSpPr>
          <p:nvPr/>
        </p:nvCxnSpPr>
        <p:spPr>
          <a:xfrm flipV="1">
            <a:off x="9513847" y="2259950"/>
            <a:ext cx="608512" cy="701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adroTexto 69">
            <a:extLst>
              <a:ext uri="{FF2B5EF4-FFF2-40B4-BE49-F238E27FC236}">
                <a16:creationId xmlns:a16="http://schemas.microsoft.com/office/drawing/2014/main" id="{950F7CD3-CC7D-14DF-09E6-F098F27246D6}"/>
              </a:ext>
            </a:extLst>
          </p:cNvPr>
          <p:cNvSpPr txBox="1"/>
          <p:nvPr/>
        </p:nvSpPr>
        <p:spPr>
          <a:xfrm>
            <a:off x="10504727" y="2143243"/>
            <a:ext cx="7016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K = 4</a:t>
            </a:r>
            <a:endParaRPr lang="es-AR" sz="16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E742C2-3606-B622-3026-84FB92F34E28}"/>
              </a:ext>
            </a:extLst>
          </p:cNvPr>
          <p:cNvSpPr/>
          <p:nvPr/>
        </p:nvSpPr>
        <p:spPr>
          <a:xfrm>
            <a:off x="142847" y="142827"/>
            <a:ext cx="117065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problema del clique y su relación con las clases P y NP</a:t>
            </a:r>
          </a:p>
        </p:txBody>
      </p:sp>
    </p:spTree>
    <p:extLst>
      <p:ext uri="{BB962C8B-B14F-4D97-AF65-F5344CB8AC3E}">
        <p14:creationId xmlns:p14="http://schemas.microsoft.com/office/powerpoint/2010/main" val="395347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8397" y="1401891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148977" y="796485"/>
            <a:ext cx="1170041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Sea el problema complemento del problema del clique.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lenguaje que lo representa es: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CLIQUE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{(G, K) | G es un grafo que no tiene un clique de tamaño K}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este caso, no alcanza con certificados de K vértices. Un certificado debe incluir 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todos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los conjuntos de K vértices de V, porque se tiene que chequear que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ninguno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determine un clique de tamaño K de G.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  El certificado x tiene que incluir los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(n) conjuntos de K vértices de G.  Así,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CLIQUE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no estaría en NP.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conjetura más aceptada es que si un lenguaje está en NP, su complemento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no necesariamente está en NP.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C12B23F-CAAD-7D94-0893-3579B094E94F}"/>
              </a:ext>
            </a:extLst>
          </p:cNvPr>
          <p:cNvSpPr/>
          <p:nvPr/>
        </p:nvSpPr>
        <p:spPr>
          <a:xfrm>
            <a:off x="7823740" y="481083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59F9365-DCCE-AC45-3F07-47E45EC5076D}"/>
              </a:ext>
            </a:extLst>
          </p:cNvPr>
          <p:cNvSpPr/>
          <p:nvPr/>
        </p:nvSpPr>
        <p:spPr>
          <a:xfrm>
            <a:off x="7758856" y="3825356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8D87274-8EB8-6DB4-0FAB-7A8A6864D35C}"/>
              </a:ext>
            </a:extLst>
          </p:cNvPr>
          <p:cNvSpPr/>
          <p:nvPr/>
        </p:nvSpPr>
        <p:spPr>
          <a:xfrm>
            <a:off x="5366565" y="4057052"/>
            <a:ext cx="1353700" cy="11179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A87D6AC-D3A6-0324-9598-CD98FCECFC47}"/>
              </a:ext>
            </a:extLst>
          </p:cNvPr>
          <p:cNvCxnSpPr>
            <a:cxnSpLocks/>
          </p:cNvCxnSpPr>
          <p:nvPr/>
        </p:nvCxnSpPr>
        <p:spPr>
          <a:xfrm rot="180000">
            <a:off x="6096000" y="3314321"/>
            <a:ext cx="46847" cy="7301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20BEE0E-7C11-A43C-A517-A895F861FC1E}"/>
              </a:ext>
            </a:extLst>
          </p:cNvPr>
          <p:cNvCxnSpPr>
            <a:cxnSpLocks/>
          </p:cNvCxnSpPr>
          <p:nvPr/>
        </p:nvCxnSpPr>
        <p:spPr>
          <a:xfrm>
            <a:off x="6720265" y="4667091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648AAAF-F78E-B68B-44F1-19FE574546EB}"/>
              </a:ext>
            </a:extLst>
          </p:cNvPr>
          <p:cNvCxnSpPr>
            <a:cxnSpLocks/>
          </p:cNvCxnSpPr>
          <p:nvPr/>
        </p:nvCxnSpPr>
        <p:spPr>
          <a:xfrm flipV="1">
            <a:off x="6723174" y="3998279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1">
            <a:extLst>
              <a:ext uri="{FF2B5EF4-FFF2-40B4-BE49-F238E27FC236}">
                <a16:creationId xmlns:a16="http://schemas.microsoft.com/office/drawing/2014/main" id="{C4E10F7D-4497-D4FF-0057-98116C854589}"/>
              </a:ext>
            </a:extLst>
          </p:cNvPr>
          <p:cNvSpPr txBox="1">
            <a:spLocks/>
          </p:cNvSpPr>
          <p:nvPr/>
        </p:nvSpPr>
        <p:spPr>
          <a:xfrm>
            <a:off x="5829127" y="4490880"/>
            <a:ext cx="533746" cy="250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E4E0F8C-08E0-C543-C798-D406A386AA12}"/>
              </a:ext>
            </a:extLst>
          </p:cNvPr>
          <p:cNvSpPr txBox="1"/>
          <p:nvPr/>
        </p:nvSpPr>
        <p:spPr>
          <a:xfrm>
            <a:off x="6096000" y="3406734"/>
            <a:ext cx="2391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certificado x</a:t>
            </a:r>
            <a:endParaRPr lang="es-AR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A2D1DFB-F5F8-63DA-BEBD-117C44A050A7}"/>
              </a:ext>
            </a:extLst>
          </p:cNvPr>
          <p:cNvCxnSpPr>
            <a:cxnSpLocks/>
          </p:cNvCxnSpPr>
          <p:nvPr/>
        </p:nvCxnSpPr>
        <p:spPr>
          <a:xfrm>
            <a:off x="4253714" y="4647091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C489FC7-0BE6-EB87-5942-00FAD6164E18}"/>
              </a:ext>
            </a:extLst>
          </p:cNvPr>
          <p:cNvSpPr txBox="1"/>
          <p:nvPr/>
        </p:nvSpPr>
        <p:spPr>
          <a:xfrm>
            <a:off x="4412441" y="4283472"/>
            <a:ext cx="1020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(G, K)</a:t>
            </a:r>
            <a:endParaRPr lang="es-AR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203ACC-1AEA-F564-E956-F98557927D49}"/>
              </a:ext>
            </a:extLst>
          </p:cNvPr>
          <p:cNvSpPr/>
          <p:nvPr/>
        </p:nvSpPr>
        <p:spPr>
          <a:xfrm>
            <a:off x="142847" y="142827"/>
            <a:ext cx="117065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complemento del problema del clique no estaría en la clase NP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A26D700A-E6D8-411B-FD31-6EB7AB1C9BC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491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141F906-B359-40B4-B7C4-5F6279992A2F}"/>
              </a:ext>
            </a:extLst>
          </p:cNvPr>
          <p:cNvSpPr/>
          <p:nvPr/>
        </p:nvSpPr>
        <p:spPr>
          <a:xfrm>
            <a:off x="234895" y="236932"/>
            <a:ext cx="11946995" cy="6386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Uso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MTN (MT no determinísticas).</a:t>
            </a:r>
          </a:p>
          <a:p>
            <a:pPr algn="just"/>
            <a:endParaRPr lang="es-AR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Definición alternativa: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 ∈ NP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existe una MTN que decide L en tiempo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(n),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donde un MTN tarda tiempo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(n)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todas sus computaciones tardan tiempo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(n). </a:t>
            </a:r>
          </a:p>
          <a:p>
            <a:pPr algn="just"/>
            <a:endParaRPr lang="es-AR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ejemplo,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la siguiente MTN M decide SAT en tiempo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(n):</a:t>
            </a: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Dada una entrada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M hace:</a:t>
            </a:r>
          </a:p>
          <a:p>
            <a:pPr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1. Si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no es una fórmula correcta, rechaza: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O(n)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2. Genera no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determinísticamente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una asignación 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O(n) 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3. Acepta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satisface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φ: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O(n</a:t>
            </a:r>
            <a:r>
              <a:rPr lang="es-AR" altLang="es-MX" b="1" baseline="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altLang="es-MX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Por lo tanto, en total M hace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O(n</a:t>
            </a:r>
            <a:r>
              <a:rPr lang="es-AR" altLang="es-MX" b="1" baseline="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altLang="es-MX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pasos</a:t>
            </a: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en lugar de utilizar una MTD (MT determinística) que recibe certificados 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se utiliza MTN (MT no determinística) que directamente los genera.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AFE2289-24F4-441B-AA8D-9F8A2ECD4D00}"/>
              </a:ext>
            </a:extLst>
          </p:cNvPr>
          <p:cNvSpPr/>
          <p:nvPr/>
        </p:nvSpPr>
        <p:spPr>
          <a:xfrm>
            <a:off x="8052513" y="3607183"/>
            <a:ext cx="33914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1. Validación sintáctica de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473C5BD-BAB7-44F9-A02F-C23DB40ACEE9}"/>
              </a:ext>
            </a:extLst>
          </p:cNvPr>
          <p:cNvSpPr/>
          <p:nvPr/>
        </p:nvSpPr>
        <p:spPr>
          <a:xfrm>
            <a:off x="8664533" y="4058984"/>
            <a:ext cx="30540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2. Generación del certificado </a:t>
            </a:r>
            <a:r>
              <a:rPr lang="es-AR" sz="1600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74A6E69-EB1A-4384-A98D-1ACC6AFB6FD5}"/>
              </a:ext>
            </a:extLst>
          </p:cNvPr>
          <p:cNvSpPr/>
          <p:nvPr/>
        </p:nvSpPr>
        <p:spPr>
          <a:xfrm>
            <a:off x="9140801" y="4533214"/>
            <a:ext cx="30410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3. Verificación del certificado </a:t>
            </a:r>
            <a:r>
              <a:rPr lang="es-AR" sz="1600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327E01F-53B6-4A59-BF5C-AD8136EA336F}"/>
              </a:ext>
            </a:extLst>
          </p:cNvPr>
          <p:cNvSpPr/>
          <p:nvPr/>
        </p:nvSpPr>
        <p:spPr>
          <a:xfrm>
            <a:off x="6386691" y="5140342"/>
            <a:ext cx="51935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Todas las computaciones de M tardan tiempo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(n) 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3503A18-FD71-42C1-A93C-628E0EBB810A}"/>
              </a:ext>
            </a:extLst>
          </p:cNvPr>
          <p:cNvSpPr/>
          <p:nvPr/>
        </p:nvSpPr>
        <p:spPr>
          <a:xfrm>
            <a:off x="7357862" y="4825489"/>
            <a:ext cx="10951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MTN M </a:t>
            </a:r>
            <a:endParaRPr lang="es-MX" sz="2000" b="1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81EEAE40-FA66-4C35-87D7-E7D1C20D3BF0}"/>
              </a:ext>
            </a:extLst>
          </p:cNvPr>
          <p:cNvCxnSpPr>
            <a:cxnSpLocks/>
          </p:cNvCxnSpPr>
          <p:nvPr/>
        </p:nvCxnSpPr>
        <p:spPr>
          <a:xfrm flipH="1">
            <a:off x="6568502" y="3592323"/>
            <a:ext cx="1200490" cy="13375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C6DEE9B-771E-4D52-9766-082937B8B338}"/>
              </a:ext>
            </a:extLst>
          </p:cNvPr>
          <p:cNvCxnSpPr>
            <a:cxnSpLocks/>
          </p:cNvCxnSpPr>
          <p:nvPr/>
        </p:nvCxnSpPr>
        <p:spPr>
          <a:xfrm flipH="1">
            <a:off x="7240864" y="3592323"/>
            <a:ext cx="512176" cy="15641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241FF16-C1DB-4BEA-88BB-8166582F4661}"/>
              </a:ext>
            </a:extLst>
          </p:cNvPr>
          <p:cNvCxnSpPr>
            <a:cxnSpLocks/>
          </p:cNvCxnSpPr>
          <p:nvPr/>
        </p:nvCxnSpPr>
        <p:spPr>
          <a:xfrm>
            <a:off x="7763180" y="3619490"/>
            <a:ext cx="5812" cy="10599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49256D75-019D-4C1A-B8AB-A623C8AA7C92}"/>
              </a:ext>
            </a:extLst>
          </p:cNvPr>
          <p:cNvCxnSpPr>
            <a:cxnSpLocks/>
          </p:cNvCxnSpPr>
          <p:nvPr/>
        </p:nvCxnSpPr>
        <p:spPr>
          <a:xfrm>
            <a:off x="7755770" y="3592323"/>
            <a:ext cx="643092" cy="14151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DEBE220-D03E-46D5-BBA7-2E0493AF7AA6}"/>
              </a:ext>
            </a:extLst>
          </p:cNvPr>
          <p:cNvCxnSpPr>
            <a:cxnSpLocks/>
          </p:cNvCxnSpPr>
          <p:nvPr/>
        </p:nvCxnSpPr>
        <p:spPr>
          <a:xfrm>
            <a:off x="7755770" y="3576223"/>
            <a:ext cx="1666156" cy="14312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7164D59-8B62-4EC9-BCE3-CD9952DBC7B9}"/>
              </a:ext>
            </a:extLst>
          </p:cNvPr>
          <p:cNvCxnSpPr>
            <a:cxnSpLocks/>
          </p:cNvCxnSpPr>
          <p:nvPr/>
        </p:nvCxnSpPr>
        <p:spPr>
          <a:xfrm>
            <a:off x="7159400" y="3592323"/>
            <a:ext cx="539934" cy="68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0B834C3-DE9E-4D04-8196-D2C6E99D5108}"/>
              </a:ext>
            </a:extLst>
          </p:cNvPr>
          <p:cNvSpPr/>
          <p:nvPr/>
        </p:nvSpPr>
        <p:spPr>
          <a:xfrm>
            <a:off x="8350073" y="4425490"/>
            <a:ext cx="6686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….. </a:t>
            </a:r>
            <a:endParaRPr lang="es-MX" sz="2400" b="1" dirty="0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EBF1526-554C-4E41-A790-C4497388AF65}"/>
              </a:ext>
            </a:extLst>
          </p:cNvPr>
          <p:cNvCxnSpPr>
            <a:cxnSpLocks/>
          </p:cNvCxnSpPr>
          <p:nvPr/>
        </p:nvCxnSpPr>
        <p:spPr>
          <a:xfrm>
            <a:off x="6509280" y="4397538"/>
            <a:ext cx="2760691" cy="0"/>
          </a:xfrm>
          <a:prstGeom prst="line">
            <a:avLst/>
          </a:prstGeom>
          <a:ln w="25400" cmpd="sng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832EFACB-F06F-4FA0-BAF5-0D783ADEDD07}"/>
              </a:ext>
            </a:extLst>
          </p:cNvPr>
          <p:cNvCxnSpPr>
            <a:cxnSpLocks/>
          </p:cNvCxnSpPr>
          <p:nvPr/>
        </p:nvCxnSpPr>
        <p:spPr>
          <a:xfrm>
            <a:off x="6735390" y="3980829"/>
            <a:ext cx="2101364" cy="0"/>
          </a:xfrm>
          <a:prstGeom prst="line">
            <a:avLst/>
          </a:prstGeom>
          <a:ln w="25400" cmpd="sng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D72CDF9C-A8EB-4C52-A16F-357D5616EB24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47DC324-9B76-4105-BD39-E7839AA48E37}"/>
              </a:ext>
            </a:extLst>
          </p:cNvPr>
          <p:cNvSpPr/>
          <p:nvPr/>
        </p:nvSpPr>
        <p:spPr>
          <a:xfrm>
            <a:off x="249172" y="143605"/>
            <a:ext cx="11682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Otra manera de definir la clase NP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A199D3E-BF23-47C7-C8DC-070A408788C1}"/>
              </a:ext>
            </a:extLst>
          </p:cNvPr>
          <p:cNvSpPr txBox="1"/>
          <p:nvPr/>
        </p:nvSpPr>
        <p:spPr>
          <a:xfrm>
            <a:off x="7285800" y="3247780"/>
            <a:ext cx="600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11045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67370" y="1031143"/>
            <a:ext cx="11688348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Ejemplo 1. </a:t>
            </a:r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 lenguaje </a:t>
            </a:r>
            <a:r>
              <a:rPr lang="es-ES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2-SAT pertenece a P.    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es-AR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Prueba (idea general). </a:t>
            </a:r>
            <a:r>
              <a:rPr lang="es-AR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siguiente MT M decide 2-SAT en tiempo </a:t>
            </a:r>
            <a:r>
              <a:rPr lang="es-AR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poly</a:t>
            </a:r>
            <a:r>
              <a:rPr lang="es-AR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(n). Dada una fórmula booleana, M hace:</a:t>
            </a:r>
            <a:r>
              <a:rPr lang="es-E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s-ES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Asigna </a:t>
            </a:r>
            <a:r>
              <a:rPr lang="es-ES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arbitrariamente el valor </a:t>
            </a:r>
            <a:r>
              <a:rPr lang="es-ES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verdadero</a:t>
            </a:r>
            <a:r>
              <a:rPr lang="es-ES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 alguna variable x, y completa consistentemente todas las asignaciones que puede en todas las cláusulas.</a:t>
            </a:r>
          </a:p>
          <a:p>
            <a:pPr marL="342900" indent="-342900" algn="just">
              <a:buFont typeface="+mj-lt"/>
              <a:buAutoNum type="arabicPeriod"/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AR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 detecta </a:t>
            </a:r>
            <a:r>
              <a:rPr lang="es-AR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insatisfactibilidad</a:t>
            </a:r>
            <a:r>
              <a:rPr lang="es-AR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intenta lo mismo que en (1) pero con el valor </a:t>
            </a:r>
            <a:r>
              <a:rPr lang="es-AR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falso</a:t>
            </a:r>
            <a:r>
              <a:rPr lang="es-AR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para x.</a:t>
            </a:r>
          </a:p>
          <a:p>
            <a:pPr marL="342900" indent="-342900" algn="just">
              <a:buFont typeface="+mj-lt"/>
              <a:buAutoNum type="arabicPeriod"/>
            </a:pPr>
            <a:endParaRPr lang="es-A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AR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 vuelve a detectar </a:t>
            </a:r>
            <a:r>
              <a:rPr lang="es-AR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insatisfactibilidad</a:t>
            </a:r>
            <a:r>
              <a:rPr lang="es-AR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s-AR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rechaza</a:t>
            </a:r>
            <a:r>
              <a:rPr lang="es-AR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endParaRPr lang="es-A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AR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Elimina las cláusulas satisfechas.</a:t>
            </a:r>
          </a:p>
          <a:p>
            <a:pPr marL="342900" indent="-342900" algn="just">
              <a:buFont typeface="+mj-lt"/>
              <a:buAutoNum type="arabicPeriod"/>
            </a:pPr>
            <a:endParaRPr lang="es-A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AR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 no quedan cláusulas, </a:t>
            </a:r>
            <a:r>
              <a:rPr lang="es-AR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acepta</a:t>
            </a:r>
            <a:r>
              <a:rPr lang="es-AR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(se encontró una asignación que satisface la fórmula).</a:t>
            </a:r>
          </a:p>
          <a:p>
            <a:pPr algn="just"/>
            <a:endParaRPr lang="es-A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AR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 quedan cláusulas, vuelve a (1) para procesar la fórmula booleana reducida.</a:t>
            </a:r>
          </a:p>
          <a:p>
            <a:pPr algn="just"/>
            <a:endParaRPr lang="es-AR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AR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Notar que luego de cada iteración principal, la fórmula tiene mínimamente una cláusula menos, y que el procesamiento de la fórmula en cada iteración es de tiempo polinomial. 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889E2FF-8B83-4A51-9B97-44792091CA34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E7D70A3-9856-3ECC-12E1-464C61AF1985}"/>
              </a:ext>
            </a:extLst>
          </p:cNvPr>
          <p:cNvSpPr/>
          <p:nvPr/>
        </p:nvSpPr>
        <p:spPr>
          <a:xfrm>
            <a:off x="249172" y="143605"/>
            <a:ext cx="117065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par de ejemplos de prueba de pertenencia a la clase P</a:t>
            </a:r>
          </a:p>
        </p:txBody>
      </p:sp>
    </p:spTree>
    <p:extLst>
      <p:ext uri="{BB962C8B-B14F-4D97-AF65-F5344CB8AC3E}">
        <p14:creationId xmlns:p14="http://schemas.microsoft.com/office/powerpoint/2010/main" val="2697034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67370" y="254393"/>
            <a:ext cx="11657259" cy="6047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Ejemplo 2.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COPRIMOS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 {(N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|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son </a:t>
            </a:r>
            <a:r>
              <a:rPr lang="es-AR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coprimos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es decir que tienen como máximo común divisor el número 1} pertenece a P. </a:t>
            </a:r>
            <a:endParaRPr lang="es-A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es-AR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Prueba.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idea es construir una MT M basada en el a</a:t>
            </a:r>
            <a:r>
              <a:rPr lang="es-AR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lgoritmo de Euclides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para el cálculo del máximo común divisor. Después de una serie de divisiones y de intercambios entre los números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en algún momento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termina quedando con el valor 0 y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el máximo común divisor de los dos, a partir del cual M acepta o rechaza. </a:t>
            </a:r>
          </a:p>
          <a:p>
            <a:pPr algn="just"/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Formalmente, dada una entrada válida w, M hace: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es-AR" sz="9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Hace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s-ES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:=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mod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(la función </a:t>
            </a:r>
            <a:r>
              <a:rPr lang="es-AR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devuelve el resto de la división entre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</a:t>
            </a:r>
            <a:endParaRPr lang="es-A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Intercambia los valores de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s-A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80340"/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Si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0, acepta si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1 y rechaza si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≠ 1.</a:t>
            </a:r>
            <a:endParaRPr lang="es-A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80340"/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Si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≠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0, vuelve al bloque 1. </a:t>
            </a:r>
            <a:endParaRPr lang="es-AR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80340"/>
            <a:endParaRPr lang="es-AR" sz="9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correctitud del algoritmo se puede comprobar sin dificultad. En cuanto al tiempo de ejecución de M, es el tiempo de ejecución del conjunto de iteraciones de los bloques 1 y 2:     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s-AR" sz="9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Bloque 1: una división entre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requiere O(|(N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)|</a:t>
            </a:r>
            <a:r>
              <a:rPr lang="es-AR" sz="180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= O(n</a:t>
            </a:r>
            <a:r>
              <a:rPr lang="es-AR" sz="180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pasos.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Bloque 2: los intercambios y comparaciones de números requiere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O(|(N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)|) = O(n) pasos.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A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Después de ejecutarse el bloque 1,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se reduce a menos de la mitad (salvo la primera vez, si inicialmente es menor que 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 Así, M ejecuta a lo sumo O(log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= O(|N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|) = O(n) iteraciones, y por lo tanto, el tiempo de ejecución de M es O(n)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(O(n</a:t>
            </a:r>
            <a:r>
              <a:rPr lang="es-AR" sz="180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s-AR" sz="180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 O(n)) = O(n</a:t>
            </a:r>
            <a:r>
              <a:rPr lang="es-AR" sz="180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</a:t>
            </a:r>
            <a:endParaRPr lang="es-A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889E2FF-8B83-4A51-9B97-44792091CA34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954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73815" y="892200"/>
            <a:ext cx="1165725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enunciado del problema es el mismo que antes, pero con la diferencia de que ahora el tamaño K del clique no forma parte de las instancias del problema, es una constante.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lenguaje que representa el problema 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CLIQUE</a:t>
            </a:r>
            <a:r>
              <a:rPr lang="es-AR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= {G | G es un grafo que tiene un clique de tamaño K}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Como K no forma parte de las entradas del algoritmo descripto previamente, el problema ahora tiene resolución polinomial,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está en 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a) Hay m.(m – 1).(m – 2)…(m – K + 1) / K! = O(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= O(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conjuntos de K vértices en V para chequear.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b) Cada chequeo se puede hacer en tiempo O(n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Total: O(n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.n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 pasos. </a:t>
            </a:r>
          </a:p>
          <a:p>
            <a:pPr algn="just"/>
            <a:endParaRPr lang="es-AR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  <a:p>
            <a:pPr algn="just"/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      Nota:  podría  discutirse  de  todos  modos  </a:t>
            </a:r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si  para un K muy grande, por ejemplo 1000, el tiempo de la MT        </a:t>
            </a:r>
          </a:p>
          <a:p>
            <a:pPr algn="just"/>
            <a:r>
              <a:rPr lang="es-ES" i="1" dirty="0">
                <a:latin typeface="Arial" panose="020B0604020202020204" pitchFamily="34" charset="0"/>
                <a:cs typeface="Arial" panose="020B0604020202020204" pitchFamily="34" charset="0"/>
              </a:rPr>
              <a:t>      construida puede considerarse aceptable.</a:t>
            </a:r>
          </a:p>
          <a:p>
            <a:pPr algn="just"/>
            <a:endParaRPr lang="es-E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8889E2FF-8B83-4A51-9B97-44792091CA34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43B03AC-41C6-6809-D2FB-8665C23E602A}"/>
              </a:ext>
            </a:extLst>
          </p:cNvPr>
          <p:cNvSpPr/>
          <p:nvPr/>
        </p:nvSpPr>
        <p:spPr>
          <a:xfrm>
            <a:off x="249172" y="143605"/>
            <a:ext cx="117065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Variante del problema del clique perteneciente a la clase P</a:t>
            </a:r>
          </a:p>
        </p:txBody>
      </p:sp>
    </p:spTree>
    <p:extLst>
      <p:ext uri="{BB962C8B-B14F-4D97-AF65-F5344CB8AC3E}">
        <p14:creationId xmlns:p14="http://schemas.microsoft.com/office/powerpoint/2010/main" val="8407604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6837</TotalTime>
  <Words>5975</Words>
  <Application>Microsoft Office PowerPoint</Application>
  <PresentationFormat>Panorámica</PresentationFormat>
  <Paragraphs>1040</Paragraphs>
  <Slides>32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Lucida Calligraphy</vt:lpstr>
      <vt:lpstr>Roboto</vt:lpstr>
      <vt:lpstr>Symbol</vt:lpstr>
      <vt:lpstr>Times New Roman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 bbb    vbvvnn   vfffff aaa ddddd gggggggg</dc:title>
  <dc:creator>Ricardo Rosenfeld</dc:creator>
  <cp:lastModifiedBy>Ricardo Rosenfeld</cp:lastModifiedBy>
  <cp:revision>904</cp:revision>
  <dcterms:created xsi:type="dcterms:W3CDTF">2017-11-26T15:39:57Z</dcterms:created>
  <dcterms:modified xsi:type="dcterms:W3CDTF">2026-04-04T11:41:06Z</dcterms:modified>
</cp:coreProperties>
</file>