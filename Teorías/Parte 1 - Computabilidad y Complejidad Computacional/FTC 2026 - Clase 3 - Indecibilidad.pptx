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420" r:id="rId2"/>
    <p:sldId id="327" r:id="rId3"/>
    <p:sldId id="307" r:id="rId4"/>
    <p:sldId id="457" r:id="rId5"/>
    <p:sldId id="328" r:id="rId6"/>
    <p:sldId id="324" r:id="rId7"/>
    <p:sldId id="454" r:id="rId8"/>
    <p:sldId id="455" r:id="rId9"/>
    <p:sldId id="326" r:id="rId10"/>
    <p:sldId id="329" r:id="rId11"/>
    <p:sldId id="309" r:id="rId12"/>
    <p:sldId id="456" r:id="rId13"/>
    <p:sldId id="447" r:id="rId14"/>
    <p:sldId id="312" r:id="rId15"/>
    <p:sldId id="460" r:id="rId16"/>
    <p:sldId id="464" r:id="rId17"/>
    <p:sldId id="315" r:id="rId18"/>
    <p:sldId id="332" r:id="rId19"/>
    <p:sldId id="322" r:id="rId20"/>
    <p:sldId id="461" r:id="rId21"/>
    <p:sldId id="462" r:id="rId22"/>
    <p:sldId id="458" r:id="rId23"/>
    <p:sldId id="321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664CC-0884-4F92-864D-51C28260A5DD}" v="24" dt="2026-03-24T10:49:37.7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68" autoAdjust="0"/>
    <p:restoredTop sz="93792" autoAdjust="0"/>
  </p:normalViewPr>
  <p:slideViewPr>
    <p:cSldViewPr snapToGrid="0">
      <p:cViewPr varScale="1">
        <p:scale>
          <a:sx n="55" d="100"/>
          <a:sy n="55" d="100"/>
        </p:scale>
        <p:origin x="1556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undo custSel modSld">
      <pc:chgData name="Ricardo Rosenfeld" userId="29ed646a-75fb-4451-a67b-85738f90665c" providerId="ADAL" clId="{56FAFB6D-07E1-49C8-800A-4AFF6024927D}" dt="2026-03-24T11:29:46.725" v="142" actId="113"/>
      <pc:docMkLst>
        <pc:docMk/>
      </pc:docMkLst>
      <pc:sldChg chg="modSp mod">
        <pc:chgData name="Ricardo Rosenfeld" userId="29ed646a-75fb-4451-a67b-85738f90665c" providerId="ADAL" clId="{56FAFB6D-07E1-49C8-800A-4AFF6024927D}" dt="2026-03-24T11:16:38.730" v="141" actId="20577"/>
        <pc:sldMkLst>
          <pc:docMk/>
          <pc:sldMk cId="3872187502" sldId="315"/>
        </pc:sldMkLst>
        <pc:spChg chg="mod">
          <ac:chgData name="Ricardo Rosenfeld" userId="29ed646a-75fb-4451-a67b-85738f90665c" providerId="ADAL" clId="{56FAFB6D-07E1-49C8-800A-4AFF6024927D}" dt="2026-03-24T11:16:38.730" v="141" actId="20577"/>
          <ac:spMkLst>
            <pc:docMk/>
            <pc:sldMk cId="3872187502" sldId="315"/>
            <ac:spMk id="5" creationId="{3863484F-1DED-4AE4-AB57-28DE336C6FCB}"/>
          </ac:spMkLst>
        </pc:spChg>
        <pc:spChg chg="mod">
          <ac:chgData name="Ricardo Rosenfeld" userId="29ed646a-75fb-4451-a67b-85738f90665c" providerId="ADAL" clId="{56FAFB6D-07E1-49C8-800A-4AFF6024927D}" dt="2026-03-24T11:13:22.866" v="140" actId="1076"/>
          <ac:spMkLst>
            <pc:docMk/>
            <pc:sldMk cId="3872187502" sldId="315"/>
            <ac:spMk id="8" creationId="{F4C9EC1A-F3E8-667F-0D31-52B216951C31}"/>
          </ac:spMkLst>
        </pc:spChg>
        <pc:spChg chg="mod">
          <ac:chgData name="Ricardo Rosenfeld" userId="29ed646a-75fb-4451-a67b-85738f90665c" providerId="ADAL" clId="{56FAFB6D-07E1-49C8-800A-4AFF6024927D}" dt="2026-03-24T11:12:45.793" v="107" actId="1076"/>
          <ac:spMkLst>
            <pc:docMk/>
            <pc:sldMk cId="3872187502" sldId="315"/>
            <ac:spMk id="12" creationId="{F88DE402-FA34-5BC5-B83F-808C48D9527D}"/>
          </ac:spMkLst>
        </pc:spChg>
        <pc:spChg chg="mod">
          <ac:chgData name="Ricardo Rosenfeld" userId="29ed646a-75fb-4451-a67b-85738f90665c" providerId="ADAL" clId="{56FAFB6D-07E1-49C8-800A-4AFF6024927D}" dt="2026-03-24T11:12:45.793" v="107" actId="1076"/>
          <ac:spMkLst>
            <pc:docMk/>
            <pc:sldMk cId="3872187502" sldId="315"/>
            <ac:spMk id="17" creationId="{C3C0C3A7-7655-1AFE-FA62-1389CD8D14D9}"/>
          </ac:spMkLst>
        </pc:spChg>
        <pc:spChg chg="mod">
          <ac:chgData name="Ricardo Rosenfeld" userId="29ed646a-75fb-4451-a67b-85738f90665c" providerId="ADAL" clId="{56FAFB6D-07E1-49C8-800A-4AFF6024927D}" dt="2026-03-24T11:12:45.793" v="107" actId="1076"/>
          <ac:spMkLst>
            <pc:docMk/>
            <pc:sldMk cId="3872187502" sldId="315"/>
            <ac:spMk id="27" creationId="{58891AA7-DE2C-95E6-DB24-1D6798371611}"/>
          </ac:spMkLst>
        </pc:spChg>
        <pc:spChg chg="mod">
          <ac:chgData name="Ricardo Rosenfeld" userId="29ed646a-75fb-4451-a67b-85738f90665c" providerId="ADAL" clId="{56FAFB6D-07E1-49C8-800A-4AFF6024927D}" dt="2026-03-24T11:13:12.314" v="139" actId="1076"/>
          <ac:spMkLst>
            <pc:docMk/>
            <pc:sldMk cId="3872187502" sldId="315"/>
            <ac:spMk id="31" creationId="{FCBD0995-FE47-3D16-8585-141948993BD0}"/>
          </ac:spMkLst>
        </pc:spChg>
        <pc:spChg chg="mod">
          <ac:chgData name="Ricardo Rosenfeld" userId="29ed646a-75fb-4451-a67b-85738f90665c" providerId="ADAL" clId="{56FAFB6D-07E1-49C8-800A-4AFF6024927D}" dt="2026-03-24T11:13:12.314" v="139" actId="1076"/>
          <ac:spMkLst>
            <pc:docMk/>
            <pc:sldMk cId="3872187502" sldId="315"/>
            <ac:spMk id="32" creationId="{98328D73-7290-2327-7610-31EAF4ADDAC7}"/>
          </ac:spMkLst>
        </pc:spChg>
        <pc:spChg chg="mod">
          <ac:chgData name="Ricardo Rosenfeld" userId="29ed646a-75fb-4451-a67b-85738f90665c" providerId="ADAL" clId="{56FAFB6D-07E1-49C8-800A-4AFF6024927D}" dt="2026-03-24T11:13:12.314" v="139" actId="1076"/>
          <ac:spMkLst>
            <pc:docMk/>
            <pc:sldMk cId="3872187502" sldId="315"/>
            <ac:spMk id="33" creationId="{71D46178-4B97-6E9D-DE6A-464B1C4FADF4}"/>
          </ac:spMkLst>
        </pc:spChg>
        <pc:spChg chg="mod">
          <ac:chgData name="Ricardo Rosenfeld" userId="29ed646a-75fb-4451-a67b-85738f90665c" providerId="ADAL" clId="{56FAFB6D-07E1-49C8-800A-4AFF6024927D}" dt="2026-03-24T11:13:12.314" v="139" actId="1076"/>
          <ac:spMkLst>
            <pc:docMk/>
            <pc:sldMk cId="3872187502" sldId="315"/>
            <ac:spMk id="34" creationId="{752B4268-8C87-22DE-8A83-A98E7B32995F}"/>
          </ac:spMkLst>
        </pc:spChg>
        <pc:spChg chg="mod">
          <ac:chgData name="Ricardo Rosenfeld" userId="29ed646a-75fb-4451-a67b-85738f90665c" providerId="ADAL" clId="{56FAFB6D-07E1-49C8-800A-4AFF6024927D}" dt="2026-03-24T11:13:12.314" v="139" actId="1076"/>
          <ac:spMkLst>
            <pc:docMk/>
            <pc:sldMk cId="3872187502" sldId="315"/>
            <ac:spMk id="35" creationId="{7A6DE116-EF0B-C1DF-40C1-27AAD19202C6}"/>
          </ac:spMkLst>
        </pc:spChg>
        <pc:cxnChg chg="mod">
          <ac:chgData name="Ricardo Rosenfeld" userId="29ed646a-75fb-4451-a67b-85738f90665c" providerId="ADAL" clId="{56FAFB6D-07E1-49C8-800A-4AFF6024927D}" dt="2026-03-24T11:12:45.793" v="107" actId="1076"/>
          <ac:cxnSpMkLst>
            <pc:docMk/>
            <pc:sldMk cId="3872187502" sldId="315"/>
            <ac:cxnSpMk id="4" creationId="{A3DBC74E-6DBF-1DD3-17FC-C8088976B31A}"/>
          </ac:cxnSpMkLst>
        </pc:cxnChg>
        <pc:cxnChg chg="mod">
          <ac:chgData name="Ricardo Rosenfeld" userId="29ed646a-75fb-4451-a67b-85738f90665c" providerId="ADAL" clId="{56FAFB6D-07E1-49C8-800A-4AFF6024927D}" dt="2026-03-24T11:12:45.793" v="107" actId="1076"/>
          <ac:cxnSpMkLst>
            <pc:docMk/>
            <pc:sldMk cId="3872187502" sldId="315"/>
            <ac:cxnSpMk id="7" creationId="{3EE4DF8A-96D8-40A4-B3CC-F4DEE5636C22}"/>
          </ac:cxnSpMkLst>
        </pc:cxnChg>
        <pc:cxnChg chg="mod">
          <ac:chgData name="Ricardo Rosenfeld" userId="29ed646a-75fb-4451-a67b-85738f90665c" providerId="ADAL" clId="{56FAFB6D-07E1-49C8-800A-4AFF6024927D}" dt="2026-03-24T11:12:45.793" v="107" actId="1076"/>
          <ac:cxnSpMkLst>
            <pc:docMk/>
            <pc:sldMk cId="3872187502" sldId="315"/>
            <ac:cxnSpMk id="9" creationId="{DCAFEE76-FE65-7B52-CA52-44A14C87994D}"/>
          </ac:cxnSpMkLst>
        </pc:cxnChg>
        <pc:cxnChg chg="mod">
          <ac:chgData name="Ricardo Rosenfeld" userId="29ed646a-75fb-4451-a67b-85738f90665c" providerId="ADAL" clId="{56FAFB6D-07E1-49C8-800A-4AFF6024927D}" dt="2026-03-24T11:13:12.314" v="139" actId="1076"/>
          <ac:cxnSpMkLst>
            <pc:docMk/>
            <pc:sldMk cId="3872187502" sldId="315"/>
            <ac:cxnSpMk id="28" creationId="{38ED9C53-233E-F8CB-5709-2E323743A3CF}"/>
          </ac:cxnSpMkLst>
        </pc:cxnChg>
        <pc:cxnChg chg="mod">
          <ac:chgData name="Ricardo Rosenfeld" userId="29ed646a-75fb-4451-a67b-85738f90665c" providerId="ADAL" clId="{56FAFB6D-07E1-49C8-800A-4AFF6024927D}" dt="2026-03-24T11:13:12.314" v="139" actId="1076"/>
          <ac:cxnSpMkLst>
            <pc:docMk/>
            <pc:sldMk cId="3872187502" sldId="315"/>
            <ac:cxnSpMk id="29" creationId="{1318BD11-FE1F-AFA0-ADC7-ECB36D234DB2}"/>
          </ac:cxnSpMkLst>
        </pc:cxnChg>
        <pc:cxnChg chg="mod">
          <ac:chgData name="Ricardo Rosenfeld" userId="29ed646a-75fb-4451-a67b-85738f90665c" providerId="ADAL" clId="{56FAFB6D-07E1-49C8-800A-4AFF6024927D}" dt="2026-03-24T11:13:12.314" v="139" actId="1076"/>
          <ac:cxnSpMkLst>
            <pc:docMk/>
            <pc:sldMk cId="3872187502" sldId="315"/>
            <ac:cxnSpMk id="30" creationId="{D53CE251-D320-56AF-CA43-25D6007A624A}"/>
          </ac:cxnSpMkLst>
        </pc:cxnChg>
      </pc:sldChg>
      <pc:sldChg chg="modSp">
        <pc:chgData name="Ricardo Rosenfeld" userId="29ed646a-75fb-4451-a67b-85738f90665c" providerId="ADAL" clId="{56FAFB6D-07E1-49C8-800A-4AFF6024927D}" dt="2026-03-24T10:42:58.144" v="19" actId="20577"/>
        <pc:sldMkLst>
          <pc:docMk/>
          <pc:sldMk cId="530460320" sldId="326"/>
        </pc:sldMkLst>
        <pc:spChg chg="mod">
          <ac:chgData name="Ricardo Rosenfeld" userId="29ed646a-75fb-4451-a67b-85738f90665c" providerId="ADAL" clId="{56FAFB6D-07E1-49C8-800A-4AFF6024927D}" dt="2026-03-24T10:42:58.144" v="19" actId="20577"/>
          <ac:spMkLst>
            <pc:docMk/>
            <pc:sldMk cId="530460320" sldId="326"/>
            <ac:spMk id="4" creationId="{22F8E716-59B9-432C-8925-526D27FB9901}"/>
          </ac:spMkLst>
        </pc:spChg>
      </pc:sldChg>
      <pc:sldChg chg="addSp delSp modSp mod">
        <pc:chgData name="Ricardo Rosenfeld" userId="29ed646a-75fb-4451-a67b-85738f90665c" providerId="ADAL" clId="{56FAFB6D-07E1-49C8-800A-4AFF6024927D}" dt="2026-03-24T10:51:10.159" v="66" actId="1076"/>
        <pc:sldMkLst>
          <pc:docMk/>
          <pc:sldMk cId="2945731039" sldId="329"/>
        </pc:sldMkLst>
        <pc:spChg chg="mod">
          <ac:chgData name="Ricardo Rosenfeld" userId="29ed646a-75fb-4451-a67b-85738f90665c" providerId="ADAL" clId="{56FAFB6D-07E1-49C8-800A-4AFF6024927D}" dt="2026-03-24T10:51:10.159" v="66" actId="1076"/>
          <ac:spMkLst>
            <pc:docMk/>
            <pc:sldMk cId="2945731039" sldId="329"/>
            <ac:spMk id="3" creationId="{305DA494-3C45-2F22-3162-5C4FE03731C8}"/>
          </ac:spMkLst>
        </pc:spChg>
        <pc:spChg chg="add del mod">
          <ac:chgData name="Ricardo Rosenfeld" userId="29ed646a-75fb-4451-a67b-85738f90665c" providerId="ADAL" clId="{56FAFB6D-07E1-49C8-800A-4AFF6024927D}" dt="2026-03-24T10:47:46.753" v="46" actId="478"/>
          <ac:spMkLst>
            <pc:docMk/>
            <pc:sldMk cId="2945731039" sldId="329"/>
            <ac:spMk id="6" creationId="{99AAEBB8-02E0-579C-4D2D-A665E360A550}"/>
          </ac:spMkLst>
        </pc:spChg>
        <pc:spChg chg="add mod">
          <ac:chgData name="Ricardo Rosenfeld" userId="29ed646a-75fb-4451-a67b-85738f90665c" providerId="ADAL" clId="{56FAFB6D-07E1-49C8-800A-4AFF6024927D}" dt="2026-03-24T10:48:40.274" v="51" actId="1076"/>
          <ac:spMkLst>
            <pc:docMk/>
            <pc:sldMk cId="2945731039" sldId="329"/>
            <ac:spMk id="7" creationId="{4F88B942-6A0A-9909-485C-075B0362E393}"/>
          </ac:spMkLst>
        </pc:spChg>
        <pc:spChg chg="mod">
          <ac:chgData name="Ricardo Rosenfeld" userId="29ed646a-75fb-4451-a67b-85738f90665c" providerId="ADAL" clId="{56FAFB6D-07E1-49C8-800A-4AFF6024927D}" dt="2026-03-24T10:48:52.728" v="53" actId="20577"/>
          <ac:spMkLst>
            <pc:docMk/>
            <pc:sldMk cId="2945731039" sldId="329"/>
            <ac:spMk id="22" creationId="{4C6C845F-860F-4D4B-B699-904564123183}"/>
          </ac:spMkLst>
        </pc:spChg>
        <pc:spChg chg="mod">
          <ac:chgData name="Ricardo Rosenfeld" userId="29ed646a-75fb-4451-a67b-85738f90665c" providerId="ADAL" clId="{56FAFB6D-07E1-49C8-800A-4AFF6024927D}" dt="2026-03-24T10:48:59.052" v="54" actId="14100"/>
          <ac:spMkLst>
            <pc:docMk/>
            <pc:sldMk cId="2945731039" sldId="329"/>
            <ac:spMk id="30" creationId="{80310DE3-06CF-4269-A7B1-DD0335FD88AA}"/>
          </ac:spMkLst>
        </pc:spChg>
        <pc:spChg chg="mod">
          <ac:chgData name="Ricardo Rosenfeld" userId="29ed646a-75fb-4451-a67b-85738f90665c" providerId="ADAL" clId="{56FAFB6D-07E1-49C8-800A-4AFF6024927D}" dt="2026-03-24T10:48:30.235" v="50" actId="1076"/>
          <ac:spMkLst>
            <pc:docMk/>
            <pc:sldMk cId="2945731039" sldId="329"/>
            <ac:spMk id="41" creationId="{C5ABB40F-0835-4307-ADF9-DB0954F789BB}"/>
          </ac:spMkLst>
        </pc:spChg>
        <pc:spChg chg="mod">
          <ac:chgData name="Ricardo Rosenfeld" userId="29ed646a-75fb-4451-a67b-85738f90665c" providerId="ADAL" clId="{56FAFB6D-07E1-49C8-800A-4AFF6024927D}" dt="2026-03-24T10:48:21.058" v="49" actId="1076"/>
          <ac:spMkLst>
            <pc:docMk/>
            <pc:sldMk cId="2945731039" sldId="329"/>
            <ac:spMk id="44" creationId="{16EBCEB3-26AA-406E-97AB-E01B724A53D3}"/>
          </ac:spMkLst>
        </pc:spChg>
        <pc:spChg chg="del mod">
          <ac:chgData name="Ricardo Rosenfeld" userId="29ed646a-75fb-4451-a67b-85738f90665c" providerId="ADAL" clId="{56FAFB6D-07E1-49C8-800A-4AFF6024927D}" dt="2026-03-24T10:47:09.866" v="41" actId="478"/>
          <ac:spMkLst>
            <pc:docMk/>
            <pc:sldMk cId="2945731039" sldId="329"/>
            <ac:spMk id="45" creationId="{F70D705A-3C4C-4515-8B62-44512755D713}"/>
          </ac:spMkLst>
        </pc:spChg>
        <pc:cxnChg chg="add mod">
          <ac:chgData name="Ricardo Rosenfeld" userId="29ed646a-75fb-4451-a67b-85738f90665c" providerId="ADAL" clId="{56FAFB6D-07E1-49C8-800A-4AFF6024927D}" dt="2026-03-24T10:45:19.125" v="26" actId="1076"/>
          <ac:cxnSpMkLst>
            <pc:docMk/>
            <pc:sldMk cId="2945731039" sldId="329"/>
            <ac:cxnSpMk id="2" creationId="{F1A22C2B-F17A-C83E-D534-5046D6BE72A7}"/>
          </ac:cxnSpMkLst>
        </pc:cxnChg>
        <pc:cxnChg chg="add mod">
          <ac:chgData name="Ricardo Rosenfeld" userId="29ed646a-75fb-4451-a67b-85738f90665c" providerId="ADAL" clId="{56FAFB6D-07E1-49C8-800A-4AFF6024927D}" dt="2026-03-24T10:45:19.125" v="26" actId="1076"/>
          <ac:cxnSpMkLst>
            <pc:docMk/>
            <pc:sldMk cId="2945731039" sldId="329"/>
            <ac:cxnSpMk id="4" creationId="{A04CDB47-B7B3-614F-D614-A80574856731}"/>
          </ac:cxnSpMkLst>
        </pc:cxnChg>
        <pc:cxnChg chg="add mod">
          <ac:chgData name="Ricardo Rosenfeld" userId="29ed646a-75fb-4451-a67b-85738f90665c" providerId="ADAL" clId="{56FAFB6D-07E1-49C8-800A-4AFF6024927D}" dt="2026-03-24T10:45:19.125" v="26" actId="1076"/>
          <ac:cxnSpMkLst>
            <pc:docMk/>
            <pc:sldMk cId="2945731039" sldId="329"/>
            <ac:cxnSpMk id="5" creationId="{C92606FA-956F-4C02-52A2-C7DCA5079240}"/>
          </ac:cxnSpMkLst>
        </pc:cxnChg>
        <pc:cxnChg chg="add mod">
          <ac:chgData name="Ricardo Rosenfeld" userId="29ed646a-75fb-4451-a67b-85738f90665c" providerId="ADAL" clId="{56FAFB6D-07E1-49C8-800A-4AFF6024927D}" dt="2026-03-24T10:50:52.399" v="65" actId="14100"/>
          <ac:cxnSpMkLst>
            <pc:docMk/>
            <pc:sldMk cId="2945731039" sldId="329"/>
            <ac:cxnSpMk id="8" creationId="{863877D2-306B-E90B-BDD6-94E104A3FDFE}"/>
          </ac:cxnSpMkLst>
        </pc:cxnChg>
        <pc:cxnChg chg="mod">
          <ac:chgData name="Ricardo Rosenfeld" userId="29ed646a-75fb-4451-a67b-85738f90665c" providerId="ADAL" clId="{56FAFB6D-07E1-49C8-800A-4AFF6024927D}" dt="2026-03-24T10:49:06.924" v="55" actId="1076"/>
          <ac:cxnSpMkLst>
            <pc:docMk/>
            <pc:sldMk cId="2945731039" sldId="329"/>
            <ac:cxnSpMk id="38" creationId="{1D5B2593-ED67-41CA-BD67-A76907B72006}"/>
          </ac:cxnSpMkLst>
        </pc:cxnChg>
        <pc:cxnChg chg="mod">
          <ac:chgData name="Ricardo Rosenfeld" userId="29ed646a-75fb-4451-a67b-85738f90665c" providerId="ADAL" clId="{56FAFB6D-07E1-49C8-800A-4AFF6024927D}" dt="2026-03-24T10:49:06.924" v="55" actId="1076"/>
          <ac:cxnSpMkLst>
            <pc:docMk/>
            <pc:sldMk cId="2945731039" sldId="329"/>
            <ac:cxnSpMk id="39" creationId="{93239DDE-9ADD-4475-95EE-300FFC985B71}"/>
          </ac:cxnSpMkLst>
        </pc:cxnChg>
        <pc:cxnChg chg="mod">
          <ac:chgData name="Ricardo Rosenfeld" userId="29ed646a-75fb-4451-a67b-85738f90665c" providerId="ADAL" clId="{56FAFB6D-07E1-49C8-800A-4AFF6024927D}" dt="2026-03-24T10:49:06.924" v="55" actId="1076"/>
          <ac:cxnSpMkLst>
            <pc:docMk/>
            <pc:sldMk cId="2945731039" sldId="329"/>
            <ac:cxnSpMk id="40" creationId="{97D593B9-0C6C-48AA-B9D3-652497189791}"/>
          </ac:cxnSpMkLst>
        </pc:cxnChg>
      </pc:sldChg>
      <pc:sldChg chg="modSp mod">
        <pc:chgData name="Ricardo Rosenfeld" userId="29ed646a-75fb-4451-a67b-85738f90665c" providerId="ADAL" clId="{56FAFB6D-07E1-49C8-800A-4AFF6024927D}" dt="2026-03-24T11:29:46.725" v="142" actId="113"/>
        <pc:sldMkLst>
          <pc:docMk/>
          <pc:sldMk cId="168293280" sldId="460"/>
        </pc:sldMkLst>
        <pc:spChg chg="mod">
          <ac:chgData name="Ricardo Rosenfeld" userId="29ed646a-75fb-4451-a67b-85738f90665c" providerId="ADAL" clId="{56FAFB6D-07E1-49C8-800A-4AFF6024927D}" dt="2026-03-24T11:29:46.725" v="142" actId="113"/>
          <ac:spMkLst>
            <pc:docMk/>
            <pc:sldMk cId="168293280" sldId="460"/>
            <ac:spMk id="6" creationId="{5BBDCD0E-81EB-4B93-B42C-CD592D0DA9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837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C435F7-D700-49C2-9B70-E2E5ADB6D16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913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1962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C435F7-D700-49C2-9B70-E2E5ADB6D16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310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0507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150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530427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3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Indecibilidad</a:t>
            </a:r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46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155488" y="150356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3C22C31-D630-4455-84EC-B1C75C8E56A1}"/>
              </a:ext>
            </a:extLst>
          </p:cNvPr>
          <p:cNvSpPr/>
          <p:nvPr/>
        </p:nvSpPr>
        <p:spPr>
          <a:xfrm>
            <a:off x="266285" y="820053"/>
            <a:ext cx="11739419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Hemos presentado la jerarquía de la computabilidad: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Falta probar 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 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 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2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s-ES" sz="9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ES" sz="7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Hay lenguajes en RE – R (región 2):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hay problemas computables no </a:t>
            </a:r>
            <a:r>
              <a:rPr lang="es-ES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decidibles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ES" sz="7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Hay lenguajes en </a:t>
            </a:r>
            <a:r>
              <a:rPr lang="es-ES" sz="2200" dirty="0">
                <a:latin typeface="Lucida Calligraphy" panose="03010101010101010101" pitchFamily="66" charset="0"/>
                <a:ea typeface="Times New Roman" panose="02020603050405020304" pitchFamily="18" charset="0"/>
                <a:cs typeface="Arial" panose="020B0604020202020204" pitchFamily="34" charset="0"/>
              </a:rPr>
              <a:t>L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RE (regiones 3 y 4):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hay problemas no computables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</a:t>
            </a: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5F99B06-71C3-4A1D-8FC0-C48025382244}"/>
              </a:ext>
            </a:extLst>
          </p:cNvPr>
          <p:cNvSpPr/>
          <p:nvPr/>
        </p:nvSpPr>
        <p:spPr>
          <a:xfrm>
            <a:off x="5721145" y="1372959"/>
            <a:ext cx="4924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4000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C296052-3E5B-47E2-9A81-F5C627DA7EC1}"/>
              </a:ext>
            </a:extLst>
          </p:cNvPr>
          <p:cNvSpPr/>
          <p:nvPr/>
        </p:nvSpPr>
        <p:spPr>
          <a:xfrm>
            <a:off x="5799245" y="2207923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b="1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CA52BC8-98AF-4173-9BBF-EF323FDC10C2}"/>
              </a:ext>
            </a:extLst>
          </p:cNvPr>
          <p:cNvSpPr/>
          <p:nvPr/>
        </p:nvSpPr>
        <p:spPr>
          <a:xfrm>
            <a:off x="4909461" y="2024688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b="1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59D18FD-B0F7-46C7-83E9-653E3E6536A3}"/>
              </a:ext>
            </a:extLst>
          </p:cNvPr>
          <p:cNvSpPr/>
          <p:nvPr/>
        </p:nvSpPr>
        <p:spPr>
          <a:xfrm>
            <a:off x="6323135" y="2014985"/>
            <a:ext cx="101181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b="1" dirty="0"/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E890D166-885D-479C-A44F-50D1B721898B}"/>
              </a:ext>
            </a:extLst>
          </p:cNvPr>
          <p:cNvSpPr/>
          <p:nvPr/>
        </p:nvSpPr>
        <p:spPr>
          <a:xfrm>
            <a:off x="4120331" y="1988482"/>
            <a:ext cx="2412672" cy="151858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2BBE8454-BAA4-4F4B-8DA1-2DF558A03306}"/>
              </a:ext>
            </a:extLst>
          </p:cNvPr>
          <p:cNvSpPr/>
          <p:nvPr/>
        </p:nvSpPr>
        <p:spPr>
          <a:xfrm>
            <a:off x="5394932" y="1988482"/>
            <a:ext cx="2642060" cy="153143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Diagrama de flujo: conector 35">
            <a:extLst>
              <a:ext uri="{FF2B5EF4-FFF2-40B4-BE49-F238E27FC236}">
                <a16:creationId xmlns:a16="http://schemas.microsoft.com/office/drawing/2014/main" id="{B631F67D-A676-49D6-BA64-CC14914360C0}"/>
              </a:ext>
            </a:extLst>
          </p:cNvPr>
          <p:cNvSpPr/>
          <p:nvPr/>
        </p:nvSpPr>
        <p:spPr>
          <a:xfrm>
            <a:off x="3082702" y="1425545"/>
            <a:ext cx="5994962" cy="268411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C27774-726F-4AE8-8787-5F054A8E1FA6}"/>
              </a:ext>
            </a:extLst>
          </p:cNvPr>
          <p:cNvSpPr/>
          <p:nvPr/>
        </p:nvSpPr>
        <p:spPr>
          <a:xfrm>
            <a:off x="6362844" y="3146855"/>
            <a:ext cx="4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4C7A45-F574-48C3-AA90-32A0D813A342}"/>
              </a:ext>
            </a:extLst>
          </p:cNvPr>
          <p:cNvSpPr/>
          <p:nvPr/>
        </p:nvSpPr>
        <p:spPr>
          <a:xfrm>
            <a:off x="5233301" y="3145889"/>
            <a:ext cx="351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377AFF6-1B8C-4E59-819D-7EA6A3B1A293}"/>
              </a:ext>
            </a:extLst>
          </p:cNvPr>
          <p:cNvSpPr/>
          <p:nvPr/>
        </p:nvSpPr>
        <p:spPr>
          <a:xfrm>
            <a:off x="5659358" y="2845089"/>
            <a:ext cx="351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DC2D0C-D572-401E-B442-30F63BF0D6DF}"/>
              </a:ext>
            </a:extLst>
          </p:cNvPr>
          <p:cNvSpPr/>
          <p:nvPr/>
        </p:nvSpPr>
        <p:spPr>
          <a:xfrm>
            <a:off x="5955976" y="2861467"/>
            <a:ext cx="4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CA88F06-D578-405A-AA74-B9E43930F90D}"/>
              </a:ext>
            </a:extLst>
          </p:cNvPr>
          <p:cNvSpPr/>
          <p:nvPr/>
        </p:nvSpPr>
        <p:spPr>
          <a:xfrm>
            <a:off x="3876206" y="3404340"/>
            <a:ext cx="351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4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EB783A-740A-4B85-A4B4-565899FC3462}"/>
              </a:ext>
            </a:extLst>
          </p:cNvPr>
          <p:cNvSpPr/>
          <p:nvPr/>
        </p:nvSpPr>
        <p:spPr>
          <a:xfrm>
            <a:off x="4192629" y="3412142"/>
            <a:ext cx="4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400" dirty="0"/>
          </a:p>
        </p:txBody>
      </p:sp>
      <p:sp>
        <p:nvSpPr>
          <p:cNvPr id="31" name="Slide Number Placeholder 2">
            <a:extLst>
              <a:ext uri="{FF2B5EF4-FFF2-40B4-BE49-F238E27FC236}">
                <a16:creationId xmlns:a16="http://schemas.microsoft.com/office/drawing/2014/main" id="{61581152-E253-4E27-BE21-B963B2A4125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D438912-5565-4AC0-A26D-F509E674EEF6}"/>
              </a:ext>
            </a:extLst>
          </p:cNvPr>
          <p:cNvCxnSpPr>
            <a:cxnSpLocks/>
          </p:cNvCxnSpPr>
          <p:nvPr/>
        </p:nvCxnSpPr>
        <p:spPr>
          <a:xfrm flipH="1">
            <a:off x="2670782" y="2777256"/>
            <a:ext cx="22572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0B6805FA-70A7-4230-AA6B-28336F932B0B}"/>
              </a:ext>
            </a:extLst>
          </p:cNvPr>
          <p:cNvCxnSpPr>
            <a:cxnSpLocks/>
          </p:cNvCxnSpPr>
          <p:nvPr/>
        </p:nvCxnSpPr>
        <p:spPr>
          <a:xfrm flipV="1">
            <a:off x="6069888" y="2683008"/>
            <a:ext cx="3566876" cy="24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061BAD0-508C-49F7-9C81-E28D9B7D988F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5984552" y="3924876"/>
            <a:ext cx="3704733" cy="213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90ADC10A-D7BC-4CDB-AC18-F4C7778474EF}"/>
              </a:ext>
            </a:extLst>
          </p:cNvPr>
          <p:cNvSpPr txBox="1"/>
          <p:nvPr/>
        </p:nvSpPr>
        <p:spPr>
          <a:xfrm>
            <a:off x="9646540" y="2221343"/>
            <a:ext cx="25649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Lenguajes aceptados por MT </a:t>
            </a: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siempre paran</a:t>
            </a:r>
            <a:endParaRPr lang="es-AR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3935326-1C5B-4407-8916-412493929FEB}"/>
              </a:ext>
            </a:extLst>
          </p:cNvPr>
          <p:cNvSpPr txBox="1"/>
          <p:nvPr/>
        </p:nvSpPr>
        <p:spPr>
          <a:xfrm>
            <a:off x="9689285" y="3463211"/>
            <a:ext cx="20695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Lenguajes que no cuentan con MT </a:t>
            </a: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los acepten</a:t>
            </a:r>
            <a:endParaRPr lang="es-AR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64E3205-08DF-49B5-B638-C76E883CED90}"/>
              </a:ext>
            </a:extLst>
          </p:cNvPr>
          <p:cNvSpPr txBox="1"/>
          <p:nvPr/>
        </p:nvSpPr>
        <p:spPr>
          <a:xfrm>
            <a:off x="320140" y="2329995"/>
            <a:ext cx="2380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Lenguajes aceptados por MT que </a:t>
            </a: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siempre paran</a:t>
            </a:r>
            <a:endParaRPr lang="es-AR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C36DA0FC-C409-59DF-A317-DF5C76019185}"/>
              </a:ext>
            </a:extLst>
          </p:cNvPr>
          <p:cNvCxnSpPr>
            <a:cxnSpLocks/>
            <a:stCxn id="50" idx="1"/>
          </p:cNvCxnSpPr>
          <p:nvPr/>
        </p:nvCxnSpPr>
        <p:spPr>
          <a:xfrm flipH="1" flipV="1">
            <a:off x="7033739" y="3032131"/>
            <a:ext cx="2655546" cy="892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C925D6-841E-B667-0656-D73A1C4B0683}"/>
              </a:ext>
            </a:extLst>
          </p:cNvPr>
          <p:cNvSpPr/>
          <p:nvPr/>
        </p:nvSpPr>
        <p:spPr>
          <a:xfrm>
            <a:off x="5841235" y="250522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88E614-ECEA-E384-48C1-DA3CFFA3E0DE}"/>
              </a:ext>
            </a:extLst>
          </p:cNvPr>
          <p:cNvSpPr/>
          <p:nvPr/>
        </p:nvSpPr>
        <p:spPr>
          <a:xfrm>
            <a:off x="4884525" y="257169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5A0C695-D9DF-A5BF-5380-4FA45A050748}"/>
              </a:ext>
            </a:extLst>
          </p:cNvPr>
          <p:cNvSpPr/>
          <p:nvPr/>
        </p:nvSpPr>
        <p:spPr>
          <a:xfrm>
            <a:off x="6759703" y="2834345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F083A7B-F7AB-216A-F1C5-03990FEA1F9F}"/>
              </a:ext>
            </a:extLst>
          </p:cNvPr>
          <p:cNvSpPr/>
          <p:nvPr/>
        </p:nvSpPr>
        <p:spPr>
          <a:xfrm>
            <a:off x="5714050" y="373263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419D1A5-AA9B-F673-D0B6-937A338809FE}"/>
              </a:ext>
            </a:extLst>
          </p:cNvPr>
          <p:cNvSpPr/>
          <p:nvPr/>
        </p:nvSpPr>
        <p:spPr>
          <a:xfrm>
            <a:off x="229973" y="152941"/>
            <a:ext cx="1173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</a:t>
            </a:r>
          </a:p>
        </p:txBody>
      </p:sp>
    </p:spTree>
    <p:extLst>
      <p:ext uri="{BB962C8B-B14F-4D97-AF65-F5344CB8AC3E}">
        <p14:creationId xmlns:p14="http://schemas.microsoft.com/office/powerpoint/2010/main" val="3348913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59D83AE-B1DF-4187-A344-5120412A302C}"/>
              </a:ext>
            </a:extLst>
          </p:cNvPr>
          <p:cNvSpPr/>
          <p:nvPr/>
        </p:nvSpPr>
        <p:spPr>
          <a:xfrm>
            <a:off x="2189493" y="4302162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A890B64-7C8B-4460-A7E9-52B563DDE71E}"/>
              </a:ext>
            </a:extLst>
          </p:cNvPr>
          <p:cNvSpPr/>
          <p:nvPr/>
        </p:nvSpPr>
        <p:spPr>
          <a:xfrm>
            <a:off x="3772585" y="4311554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7B7F953-A15B-4CEC-B1AD-52FC65ED5987}"/>
              </a:ext>
            </a:extLst>
          </p:cNvPr>
          <p:cNvSpPr/>
          <p:nvPr/>
        </p:nvSpPr>
        <p:spPr>
          <a:xfrm>
            <a:off x="3019825" y="3723103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6E3E0A-EF5F-4FE1-BBCD-17C525900E08}"/>
              </a:ext>
            </a:extLst>
          </p:cNvPr>
          <p:cNvSpPr/>
          <p:nvPr/>
        </p:nvSpPr>
        <p:spPr>
          <a:xfrm>
            <a:off x="947968" y="4746079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92C71A-FC9F-4478-81CB-580ADBB61728}"/>
              </a:ext>
            </a:extLst>
          </p:cNvPr>
          <p:cNvSpPr/>
          <p:nvPr/>
        </p:nvSpPr>
        <p:spPr>
          <a:xfrm>
            <a:off x="5858123" y="4038011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16CD6E-E8BA-4C82-ADCF-3E629ABFB658}"/>
              </a:ext>
            </a:extLst>
          </p:cNvPr>
          <p:cNvSpPr/>
          <p:nvPr/>
        </p:nvSpPr>
        <p:spPr>
          <a:xfrm>
            <a:off x="1963286" y="464512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68D917E-F72C-4AC6-9CDF-6FD2E3D592BB}"/>
              </a:ext>
            </a:extLst>
          </p:cNvPr>
          <p:cNvCxnSpPr>
            <a:cxnSpLocks/>
          </p:cNvCxnSpPr>
          <p:nvPr/>
        </p:nvCxnSpPr>
        <p:spPr>
          <a:xfrm>
            <a:off x="645924" y="5074320"/>
            <a:ext cx="13068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5B1E080-7E40-45B4-9755-CA8AB700823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2872054" y="5074320"/>
            <a:ext cx="2990345" cy="7259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a de flujo: proceso 22">
            <a:extLst>
              <a:ext uri="{FF2B5EF4-FFF2-40B4-BE49-F238E27FC236}">
                <a16:creationId xmlns:a16="http://schemas.microsoft.com/office/drawing/2014/main" id="{C54245ED-AF79-4266-AFDC-6B846C87579E}"/>
              </a:ext>
            </a:extLst>
          </p:cNvPr>
          <p:cNvSpPr/>
          <p:nvPr/>
        </p:nvSpPr>
        <p:spPr>
          <a:xfrm>
            <a:off x="1460877" y="4049519"/>
            <a:ext cx="3535424" cy="199747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E6F58BE-F8F8-401F-9A7B-B2F7842C79FF}"/>
              </a:ext>
            </a:extLst>
          </p:cNvPr>
          <p:cNvSpPr/>
          <p:nvPr/>
        </p:nvSpPr>
        <p:spPr>
          <a:xfrm>
            <a:off x="3038410" y="4746079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1C7C925-E010-49B0-A62D-D416FD1BD5CE}"/>
              </a:ext>
            </a:extLst>
          </p:cNvPr>
          <p:cNvSpPr/>
          <p:nvPr/>
        </p:nvSpPr>
        <p:spPr>
          <a:xfrm>
            <a:off x="5862399" y="5615646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B4571B4B-E648-469D-A765-F7599457D28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2882102" y="5074320"/>
            <a:ext cx="664276" cy="18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29DA916-785B-431A-984C-C13D0D0A0FF7}"/>
              </a:ext>
            </a:extLst>
          </p:cNvPr>
          <p:cNvSpPr/>
          <p:nvPr/>
        </p:nvSpPr>
        <p:spPr>
          <a:xfrm>
            <a:off x="3546378" y="4635510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F1FF40A5-5C21-4E87-AF89-B3FB94520012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4460778" y="5070938"/>
            <a:ext cx="1401621" cy="7293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F70998BD-BD2F-4940-8EDE-466CA5CAFEF3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4460778" y="4333210"/>
            <a:ext cx="1427328" cy="759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DDBEA7E7-1C30-4A28-B24C-BED42685B1C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AC7B440-6B20-403E-9264-FFA2B49DAAFD}"/>
              </a:ext>
            </a:extLst>
          </p:cNvPr>
          <p:cNvSpPr txBox="1"/>
          <p:nvPr/>
        </p:nvSpPr>
        <p:spPr>
          <a:xfrm>
            <a:off x="645924" y="2605039"/>
            <a:ext cx="641224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decide el lenguaje de las cadenas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con n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es-AR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EBFB56-57B1-B62B-97E2-12E3BCC8955E}"/>
              </a:ext>
            </a:extLst>
          </p:cNvPr>
          <p:cNvSpPr/>
          <p:nvPr/>
        </p:nvSpPr>
        <p:spPr>
          <a:xfrm>
            <a:off x="4586736" y="232808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06379C-6D75-BEBF-ACD3-8605C7C2B49D}"/>
              </a:ext>
            </a:extLst>
          </p:cNvPr>
          <p:cNvSpPr/>
          <p:nvPr/>
        </p:nvSpPr>
        <p:spPr>
          <a:xfrm>
            <a:off x="4521852" y="1342613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C0BF3A7-A381-367D-D84F-F99ACE53570E}"/>
              </a:ext>
            </a:extLst>
          </p:cNvPr>
          <p:cNvSpPr/>
          <p:nvPr/>
        </p:nvSpPr>
        <p:spPr>
          <a:xfrm>
            <a:off x="2568861" y="169628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6BC83C2-9F94-07B4-034F-109208F08502}"/>
              </a:ext>
            </a:extLst>
          </p:cNvPr>
          <p:cNvCxnSpPr>
            <a:cxnSpLocks/>
          </p:cNvCxnSpPr>
          <p:nvPr/>
        </p:nvCxnSpPr>
        <p:spPr>
          <a:xfrm>
            <a:off x="1437707" y="2160285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68BD336-7030-EFFD-BFE3-C2AA80E48AD5}"/>
              </a:ext>
            </a:extLst>
          </p:cNvPr>
          <p:cNvCxnSpPr>
            <a:cxnSpLocks/>
          </p:cNvCxnSpPr>
          <p:nvPr/>
        </p:nvCxnSpPr>
        <p:spPr>
          <a:xfrm>
            <a:off x="3483261" y="2184348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F1E6BECF-71FB-4BC8-C722-3A2A2E19C60C}"/>
              </a:ext>
            </a:extLst>
          </p:cNvPr>
          <p:cNvSpPr txBox="1">
            <a:spLocks/>
          </p:cNvSpPr>
          <p:nvPr/>
        </p:nvSpPr>
        <p:spPr>
          <a:xfrm>
            <a:off x="1888869" y="1895622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2E96286-EED8-47D3-9E72-17598EF12E54}"/>
              </a:ext>
            </a:extLst>
          </p:cNvPr>
          <p:cNvCxnSpPr>
            <a:cxnSpLocks/>
          </p:cNvCxnSpPr>
          <p:nvPr/>
        </p:nvCxnSpPr>
        <p:spPr>
          <a:xfrm flipV="1">
            <a:off x="3486170" y="1515536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23E642FB-4EDA-EF86-1EAF-0CD632D3CEF1}"/>
              </a:ext>
            </a:extLst>
          </p:cNvPr>
          <p:cNvSpPr txBox="1">
            <a:spLocks/>
          </p:cNvSpPr>
          <p:nvPr/>
        </p:nvSpPr>
        <p:spPr>
          <a:xfrm>
            <a:off x="2862521" y="1415027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87FF429-4CF2-EFED-5274-3EE6567A9850}"/>
              </a:ext>
            </a:extLst>
          </p:cNvPr>
          <p:cNvSpPr txBox="1"/>
          <p:nvPr/>
        </p:nvSpPr>
        <p:spPr>
          <a:xfrm>
            <a:off x="531068" y="6044059"/>
            <a:ext cx="6641960" cy="46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decide la intersección de los lenguajes que deciden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MX" dirty="0"/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5DBE385-A213-22A7-862F-CFB895D1CE1E}"/>
              </a:ext>
            </a:extLst>
          </p:cNvPr>
          <p:cNvSpPr/>
          <p:nvPr/>
        </p:nvSpPr>
        <p:spPr>
          <a:xfrm>
            <a:off x="6712905" y="291245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E06AB05-C103-12CD-311C-AA58350A1095}"/>
              </a:ext>
            </a:extLst>
          </p:cNvPr>
          <p:cNvSpPr/>
          <p:nvPr/>
        </p:nvSpPr>
        <p:spPr>
          <a:xfrm>
            <a:off x="9022661" y="183163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A5F63499-691A-816E-CD79-57197A7258E7}"/>
              </a:ext>
            </a:extLst>
          </p:cNvPr>
          <p:cNvCxnSpPr>
            <a:cxnSpLocks/>
          </p:cNvCxnSpPr>
          <p:nvPr/>
        </p:nvCxnSpPr>
        <p:spPr>
          <a:xfrm>
            <a:off x="6558689" y="3262523"/>
            <a:ext cx="11209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agrama de flujo: proceso 38">
            <a:extLst>
              <a:ext uri="{FF2B5EF4-FFF2-40B4-BE49-F238E27FC236}">
                <a16:creationId xmlns:a16="http://schemas.microsoft.com/office/drawing/2014/main" id="{63A4D739-CE1C-3618-2048-915AE8FAF06D}"/>
              </a:ext>
            </a:extLst>
          </p:cNvPr>
          <p:cNvSpPr/>
          <p:nvPr/>
        </p:nvSpPr>
        <p:spPr>
          <a:xfrm>
            <a:off x="7170212" y="1625083"/>
            <a:ext cx="4133432" cy="357775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D34D7FDF-1FA6-48BE-FB6F-7424DB3B1B4D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7679630" y="2288831"/>
            <a:ext cx="13430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89FC03A-5EB5-440D-639D-14C4B2D2708D}"/>
              </a:ext>
            </a:extLst>
          </p:cNvPr>
          <p:cNvSpPr/>
          <p:nvPr/>
        </p:nvSpPr>
        <p:spPr>
          <a:xfrm>
            <a:off x="9015646" y="371262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1544D913-C510-DAE9-828A-C0BFCB69F141}"/>
              </a:ext>
            </a:extLst>
          </p:cNvPr>
          <p:cNvCxnSpPr>
            <a:cxnSpLocks/>
          </p:cNvCxnSpPr>
          <p:nvPr/>
        </p:nvCxnSpPr>
        <p:spPr>
          <a:xfrm>
            <a:off x="7679630" y="2288831"/>
            <a:ext cx="0" cy="1906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4F75D737-1E39-2005-9C1D-9CE279770E95}"/>
              </a:ext>
            </a:extLst>
          </p:cNvPr>
          <p:cNvCxnSpPr>
            <a:cxnSpLocks/>
          </p:cNvCxnSpPr>
          <p:nvPr/>
        </p:nvCxnSpPr>
        <p:spPr>
          <a:xfrm>
            <a:off x="7671005" y="4195585"/>
            <a:ext cx="13430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BFAD17B-137E-B624-058D-0CAEED962472}"/>
              </a:ext>
            </a:extLst>
          </p:cNvPr>
          <p:cNvSpPr/>
          <p:nvPr/>
        </p:nvSpPr>
        <p:spPr>
          <a:xfrm>
            <a:off x="9279120" y="131174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9B82924-993D-4933-175B-D7215CD9201E}"/>
              </a:ext>
            </a:extLst>
          </p:cNvPr>
          <p:cNvCxnSpPr>
            <a:cxnSpLocks/>
          </p:cNvCxnSpPr>
          <p:nvPr/>
        </p:nvCxnSpPr>
        <p:spPr>
          <a:xfrm>
            <a:off x="9937061" y="2288831"/>
            <a:ext cx="19426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1ACF6094-84C3-6B47-F944-885EB8003511}"/>
              </a:ext>
            </a:extLst>
          </p:cNvPr>
          <p:cNvSpPr/>
          <p:nvPr/>
        </p:nvSpPr>
        <p:spPr>
          <a:xfrm>
            <a:off x="11409573" y="2000794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815E647-57CB-D3D0-8640-20D0C3C21721}"/>
              </a:ext>
            </a:extLst>
          </p:cNvPr>
          <p:cNvSpPr txBox="1"/>
          <p:nvPr/>
        </p:nvSpPr>
        <p:spPr>
          <a:xfrm>
            <a:off x="10439470" y="1981912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F594D74-6484-76B1-C566-BAA744754BDC}"/>
              </a:ext>
            </a:extLst>
          </p:cNvPr>
          <p:cNvSpPr/>
          <p:nvPr/>
        </p:nvSpPr>
        <p:spPr>
          <a:xfrm>
            <a:off x="9232190" y="2079849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s-MX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17B0504-89AC-5466-132A-47271D4F38BA}"/>
              </a:ext>
            </a:extLst>
          </p:cNvPr>
          <p:cNvSpPr/>
          <p:nvPr/>
        </p:nvSpPr>
        <p:spPr>
          <a:xfrm>
            <a:off x="9285965" y="3985157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es-MX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2A30E871-31BD-4C40-39C4-6AB00A31CA71}"/>
              </a:ext>
            </a:extLst>
          </p:cNvPr>
          <p:cNvCxnSpPr>
            <a:cxnSpLocks/>
          </p:cNvCxnSpPr>
          <p:nvPr/>
        </p:nvCxnSpPr>
        <p:spPr>
          <a:xfrm>
            <a:off x="9937061" y="4169823"/>
            <a:ext cx="194264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F059137-E01E-3397-DDA6-2FFA849E8D73}"/>
              </a:ext>
            </a:extLst>
          </p:cNvPr>
          <p:cNvSpPr txBox="1"/>
          <p:nvPr/>
        </p:nvSpPr>
        <p:spPr>
          <a:xfrm>
            <a:off x="10498962" y="3839390"/>
            <a:ext cx="682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B2B6CDE-1D13-2641-CEBB-6AE18DF58397}"/>
              </a:ext>
            </a:extLst>
          </p:cNvPr>
          <p:cNvSpPr/>
          <p:nvPr/>
        </p:nvSpPr>
        <p:spPr>
          <a:xfrm>
            <a:off x="11409573" y="3850460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F9BD3B5-4F39-4173-7F8A-F7FC02155844}"/>
              </a:ext>
            </a:extLst>
          </p:cNvPr>
          <p:cNvSpPr txBox="1"/>
          <p:nvPr/>
        </p:nvSpPr>
        <p:spPr>
          <a:xfrm>
            <a:off x="7228982" y="5186984"/>
            <a:ext cx="4544793" cy="87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acepta la unión de los lenguajes que </a:t>
            </a:r>
          </a:p>
          <a:p>
            <a:pPr>
              <a:lnSpc>
                <a:spcPct val="150000"/>
              </a:lnSpc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aceptan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MX" dirty="0"/>
              <a:t>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(que pueden no parar)</a:t>
            </a:r>
            <a:endParaRPr lang="es-AR" baseline="-25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FFDB3F-592E-98ED-6F41-08C080E22507}"/>
              </a:ext>
            </a:extLst>
          </p:cNvPr>
          <p:cNvSpPr/>
          <p:nvPr/>
        </p:nvSpPr>
        <p:spPr>
          <a:xfrm>
            <a:off x="198125" y="197346"/>
            <a:ext cx="1146280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Hicimos: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Construcción de MT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probar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pertenencia a R o RE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3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156719" y="165820"/>
            <a:ext cx="11575248" cy="660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Haremos: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Uso del método de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diagonalización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probar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no pertenencia a R o RE.</a:t>
            </a:r>
          </a:p>
          <a:p>
            <a:endParaRPr lang="es-AR" sz="9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(construyendo MT no se puede probar que un </a:t>
            </a:r>
            <a:r>
              <a:rPr lang="es-AR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lenguale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pertenece a una clase de lenguajes).</a:t>
            </a:r>
            <a:endParaRPr lang="es-AR" dirty="0"/>
          </a:p>
          <a:p>
            <a:endParaRPr lang="es-A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Vamos a encontrar:</a:t>
            </a:r>
          </a:p>
          <a:p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	Un primer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RE – R, para probar 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 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RE.</a:t>
            </a:r>
          </a:p>
          <a:p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Un primer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baseline="30000" dirty="0"/>
              <a:t>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 CO-RE – R, para probar 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 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18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ello, primero tenemos que introducir la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 de Turing universal.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690017FF-5AEE-4A38-A250-2EC7E8E4091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9392F5-E669-C720-5722-3F060663BA55}"/>
              </a:ext>
            </a:extLst>
          </p:cNvPr>
          <p:cNvSpPr/>
          <p:nvPr/>
        </p:nvSpPr>
        <p:spPr>
          <a:xfrm>
            <a:off x="5944343" y="420509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D603D1-1344-DC76-537D-4660171FF3C6}"/>
              </a:ext>
            </a:extLst>
          </p:cNvPr>
          <p:cNvSpPr/>
          <p:nvPr/>
        </p:nvSpPr>
        <p:spPr>
          <a:xfrm>
            <a:off x="4771255" y="3977853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5775BC-7BA5-901B-C855-8608602D913C}"/>
              </a:ext>
            </a:extLst>
          </p:cNvPr>
          <p:cNvSpPr/>
          <p:nvPr/>
        </p:nvSpPr>
        <p:spPr>
          <a:xfrm>
            <a:off x="6700033" y="3977853"/>
            <a:ext cx="1011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b="1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896882E-460E-9219-863C-4505BC9300C6}"/>
              </a:ext>
            </a:extLst>
          </p:cNvPr>
          <p:cNvSpPr/>
          <p:nvPr/>
        </p:nvSpPr>
        <p:spPr>
          <a:xfrm>
            <a:off x="3850933" y="3899287"/>
            <a:ext cx="2763748" cy="141305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71443429-AD07-9331-33FA-602694DFB361}"/>
              </a:ext>
            </a:extLst>
          </p:cNvPr>
          <p:cNvSpPr/>
          <p:nvPr/>
        </p:nvSpPr>
        <p:spPr>
          <a:xfrm>
            <a:off x="5592013" y="3907557"/>
            <a:ext cx="2763747" cy="140478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9BBCB-77E5-D9D4-D52E-EB53868915E8}"/>
              </a:ext>
            </a:extLst>
          </p:cNvPr>
          <p:cNvSpPr/>
          <p:nvPr/>
        </p:nvSpPr>
        <p:spPr>
          <a:xfrm>
            <a:off x="6986932" y="4746503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FC5355-71FB-1F76-F538-5D861CF5E562}"/>
              </a:ext>
            </a:extLst>
          </p:cNvPr>
          <p:cNvSpPr/>
          <p:nvPr/>
        </p:nvSpPr>
        <p:spPr>
          <a:xfrm>
            <a:off x="4887620" y="4746503"/>
            <a:ext cx="3321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MX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852841-6746-859B-A62C-D58FECE00AA1}"/>
              </a:ext>
            </a:extLst>
          </p:cNvPr>
          <p:cNvSpPr/>
          <p:nvPr/>
        </p:nvSpPr>
        <p:spPr>
          <a:xfrm>
            <a:off x="5872208" y="3393078"/>
            <a:ext cx="4363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2E2DD09C-FA70-09AA-DBAF-47A331802A58}"/>
              </a:ext>
            </a:extLst>
          </p:cNvPr>
          <p:cNvSpPr/>
          <p:nvPr/>
        </p:nvSpPr>
        <p:spPr>
          <a:xfrm>
            <a:off x="3183112" y="3429000"/>
            <a:ext cx="5825775" cy="229316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57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BED12C5-451F-4B14-9C0F-53997B137781}"/>
              </a:ext>
            </a:extLst>
          </p:cNvPr>
          <p:cNvSpPr/>
          <p:nvPr/>
        </p:nvSpPr>
        <p:spPr>
          <a:xfrm>
            <a:off x="246718" y="945314"/>
            <a:ext cx="113629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Una máquina de Turing universal (MT U) es una máquina de Turing capaz de ejecutar cualquier otra (noción 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programa almacenado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Turing 1936). El esquema más general es: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55DA5BC-355B-4166-A16F-C433E1A73454}"/>
              </a:ext>
            </a:extLst>
          </p:cNvPr>
          <p:cNvSpPr/>
          <p:nvPr/>
        </p:nvSpPr>
        <p:spPr>
          <a:xfrm>
            <a:off x="1384850" y="3019103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  <a:endParaRPr lang="es-MX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248AF5-FA9A-4B13-92E4-E46996742B09}"/>
              </a:ext>
            </a:extLst>
          </p:cNvPr>
          <p:cNvSpPr/>
          <p:nvPr/>
        </p:nvSpPr>
        <p:spPr>
          <a:xfrm>
            <a:off x="3459929" y="1958605"/>
            <a:ext cx="8068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U</a:t>
            </a:r>
            <a:endParaRPr lang="es-MX" sz="2000" b="1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DF8C83-5893-4A23-A54B-2F2E8E556B02}"/>
              </a:ext>
            </a:extLst>
          </p:cNvPr>
          <p:cNvSpPr/>
          <p:nvPr/>
        </p:nvSpPr>
        <p:spPr>
          <a:xfrm>
            <a:off x="8855001" y="2452460"/>
            <a:ext cx="9973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  <a:endParaRPr lang="es-MX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08A1CD-89D4-4A46-BCAC-10CAB3F402CE}"/>
              </a:ext>
            </a:extLst>
          </p:cNvPr>
          <p:cNvSpPr/>
          <p:nvPr/>
        </p:nvSpPr>
        <p:spPr>
          <a:xfrm>
            <a:off x="7124753" y="3098294"/>
            <a:ext cx="5137484" cy="380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cinta de ejecución (una o más)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0736EBA-902E-4846-8206-A9E101FBF5BF}"/>
              </a:ext>
            </a:extLst>
          </p:cNvPr>
          <p:cNvSpPr/>
          <p:nvPr/>
        </p:nvSpPr>
        <p:spPr>
          <a:xfrm>
            <a:off x="7096756" y="2116519"/>
            <a:ext cx="22127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cinta de la entrada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497BB15-A369-4350-B485-23343122CD21}"/>
              </a:ext>
            </a:extLst>
          </p:cNvPr>
          <p:cNvSpPr/>
          <p:nvPr/>
        </p:nvSpPr>
        <p:spPr>
          <a:xfrm>
            <a:off x="-70237" y="6088832"/>
            <a:ext cx="122622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MT U recibe una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(codificada mediante una cadena &lt;M&gt;) y una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cadena w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y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ejecuta M a partir de w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24D9D5F-CE94-4661-B1F9-2334C109B5C0}"/>
              </a:ext>
            </a:extLst>
          </p:cNvPr>
          <p:cNvSpPr/>
          <p:nvPr/>
        </p:nvSpPr>
        <p:spPr>
          <a:xfrm>
            <a:off x="8219282" y="3462219"/>
            <a:ext cx="27510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ejecución de M a partir de w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6C6E767-4B46-44C9-B4FD-FFCCDDCFF330}"/>
              </a:ext>
            </a:extLst>
          </p:cNvPr>
          <p:cNvSpPr/>
          <p:nvPr/>
        </p:nvSpPr>
        <p:spPr>
          <a:xfrm>
            <a:off x="2854535" y="3019103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13B6EBA-C12A-4173-8236-5AB7629A21E6}"/>
              </a:ext>
            </a:extLst>
          </p:cNvPr>
          <p:cNvSpPr/>
          <p:nvPr/>
        </p:nvSpPr>
        <p:spPr>
          <a:xfrm>
            <a:off x="5707606" y="3651626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71DB1F6-833D-4206-BB32-8E25EF76EA88}"/>
              </a:ext>
            </a:extLst>
          </p:cNvPr>
          <p:cNvSpPr/>
          <p:nvPr/>
        </p:nvSpPr>
        <p:spPr>
          <a:xfrm>
            <a:off x="3495455" y="293770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4A2FA8E-A114-4977-8766-4190DAE8799C}"/>
              </a:ext>
            </a:extLst>
          </p:cNvPr>
          <p:cNvCxnSpPr>
            <a:cxnSpLocks/>
          </p:cNvCxnSpPr>
          <p:nvPr/>
        </p:nvCxnSpPr>
        <p:spPr>
          <a:xfrm>
            <a:off x="2634670" y="3357042"/>
            <a:ext cx="8252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6BDAC4D-482C-4AF8-84CE-0FDB14BC6B1A}"/>
              </a:ext>
            </a:extLst>
          </p:cNvPr>
          <p:cNvCxnSpPr>
            <a:cxnSpLocks/>
          </p:cNvCxnSpPr>
          <p:nvPr/>
        </p:nvCxnSpPr>
        <p:spPr>
          <a:xfrm flipV="1">
            <a:off x="4392929" y="2769310"/>
            <a:ext cx="1252027" cy="5986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3446D5F2-77D1-4288-ABD2-EE4AFB53B487}"/>
              </a:ext>
            </a:extLst>
          </p:cNvPr>
          <p:cNvSpPr/>
          <p:nvPr/>
        </p:nvSpPr>
        <p:spPr>
          <a:xfrm>
            <a:off x="2618239" y="2314782"/>
            <a:ext cx="2629421" cy="234702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4DE3657-70CE-478E-AA2F-9131E84629AA}"/>
              </a:ext>
            </a:extLst>
          </p:cNvPr>
          <p:cNvSpPr/>
          <p:nvPr/>
        </p:nvSpPr>
        <p:spPr>
          <a:xfrm>
            <a:off x="5635159" y="2583172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57845C3-C976-4F6F-89D1-2FE89767E559}"/>
              </a:ext>
            </a:extLst>
          </p:cNvPr>
          <p:cNvCxnSpPr>
            <a:cxnSpLocks/>
          </p:cNvCxnSpPr>
          <p:nvPr/>
        </p:nvCxnSpPr>
        <p:spPr>
          <a:xfrm>
            <a:off x="3737474" y="3860812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6A70DE3-7F95-4AA4-B252-1D4CB34F593A}"/>
              </a:ext>
            </a:extLst>
          </p:cNvPr>
          <p:cNvCxnSpPr>
            <a:cxnSpLocks/>
          </p:cNvCxnSpPr>
          <p:nvPr/>
        </p:nvCxnSpPr>
        <p:spPr>
          <a:xfrm flipV="1">
            <a:off x="3737474" y="4259416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FA3FC85-05A6-4BFF-8120-4013AA51F9A4}"/>
              </a:ext>
            </a:extLst>
          </p:cNvPr>
          <p:cNvCxnSpPr>
            <a:cxnSpLocks/>
          </p:cNvCxnSpPr>
          <p:nvPr/>
        </p:nvCxnSpPr>
        <p:spPr>
          <a:xfrm flipV="1">
            <a:off x="4086642" y="3860812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B6AD5BC-2249-41DD-B3D7-1710071648E3}"/>
              </a:ext>
            </a:extLst>
          </p:cNvPr>
          <p:cNvSpPr/>
          <p:nvPr/>
        </p:nvSpPr>
        <p:spPr>
          <a:xfrm>
            <a:off x="3719087" y="26055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630DA4DD-F9DE-4100-946E-487D38BD70F6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4409855" y="3394901"/>
            <a:ext cx="1326600" cy="4913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AF8A9260-BBD2-454C-ADCC-074FB5430FA4}"/>
              </a:ext>
            </a:extLst>
          </p:cNvPr>
          <p:cNvCxnSpPr>
            <a:cxnSpLocks/>
          </p:cNvCxnSpPr>
          <p:nvPr/>
        </p:nvCxnSpPr>
        <p:spPr>
          <a:xfrm rot="60000" flipV="1">
            <a:off x="1275639" y="3346091"/>
            <a:ext cx="1342600" cy="219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72DDF06-C9C7-4CFB-ABFA-7D1273A1B7E0}"/>
              </a:ext>
            </a:extLst>
          </p:cNvPr>
          <p:cNvCxnSpPr>
            <a:cxnSpLocks/>
          </p:cNvCxnSpPr>
          <p:nvPr/>
        </p:nvCxnSpPr>
        <p:spPr>
          <a:xfrm>
            <a:off x="3737474" y="466180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B2AC69B8-324D-44D1-B281-AA0BCD273246}"/>
              </a:ext>
            </a:extLst>
          </p:cNvPr>
          <p:cNvCxnSpPr>
            <a:cxnSpLocks/>
          </p:cNvCxnSpPr>
          <p:nvPr/>
        </p:nvCxnSpPr>
        <p:spPr>
          <a:xfrm flipV="1">
            <a:off x="3737474" y="506040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1B749B88-C49C-4853-A8F3-3B11E4E00D5F}"/>
              </a:ext>
            </a:extLst>
          </p:cNvPr>
          <p:cNvCxnSpPr>
            <a:cxnSpLocks/>
          </p:cNvCxnSpPr>
          <p:nvPr/>
        </p:nvCxnSpPr>
        <p:spPr>
          <a:xfrm flipV="1">
            <a:off x="4086642" y="466180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D8F3775F-D13C-496A-B7CA-5E42FF42D3EE}"/>
              </a:ext>
            </a:extLst>
          </p:cNvPr>
          <p:cNvCxnSpPr>
            <a:cxnSpLocks/>
          </p:cNvCxnSpPr>
          <p:nvPr/>
        </p:nvCxnSpPr>
        <p:spPr>
          <a:xfrm>
            <a:off x="3912058" y="4259416"/>
            <a:ext cx="0" cy="40238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CCB8FE08-39EF-4D8B-88F2-DC2670668555}"/>
              </a:ext>
            </a:extLst>
          </p:cNvPr>
          <p:cNvCxnSpPr>
            <a:cxnSpLocks/>
          </p:cNvCxnSpPr>
          <p:nvPr/>
        </p:nvCxnSpPr>
        <p:spPr>
          <a:xfrm>
            <a:off x="7981784" y="2451189"/>
            <a:ext cx="2934577" cy="155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E0D4E57E-DECF-458D-BAC0-E97428C872E4}"/>
              </a:ext>
            </a:extLst>
          </p:cNvPr>
          <p:cNvCxnSpPr>
            <a:cxnSpLocks/>
          </p:cNvCxnSpPr>
          <p:nvPr/>
        </p:nvCxnSpPr>
        <p:spPr>
          <a:xfrm>
            <a:off x="7981784" y="2800790"/>
            <a:ext cx="2934577" cy="15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06622EEC-CBEC-4F62-93CE-2CF96D0D2D7F}"/>
              </a:ext>
            </a:extLst>
          </p:cNvPr>
          <p:cNvCxnSpPr>
            <a:cxnSpLocks/>
          </p:cNvCxnSpPr>
          <p:nvPr/>
        </p:nvCxnSpPr>
        <p:spPr>
          <a:xfrm>
            <a:off x="7981784" y="3408400"/>
            <a:ext cx="2934577" cy="18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7E3B40BA-7053-4BD5-A41F-58DD6BB3AD46}"/>
              </a:ext>
            </a:extLst>
          </p:cNvPr>
          <p:cNvCxnSpPr>
            <a:cxnSpLocks/>
          </p:cNvCxnSpPr>
          <p:nvPr/>
        </p:nvCxnSpPr>
        <p:spPr>
          <a:xfrm>
            <a:off x="8035779" y="3807452"/>
            <a:ext cx="2934577" cy="15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6A0E8C5C-48A9-4C40-90AD-B66307ABBF97}"/>
              </a:ext>
            </a:extLst>
          </p:cNvPr>
          <p:cNvSpPr/>
          <p:nvPr/>
        </p:nvSpPr>
        <p:spPr>
          <a:xfrm>
            <a:off x="9309483" y="4544190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98567223-36C1-4027-9B28-5D4C8B9499B1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9429750" y="2835633"/>
            <a:ext cx="52725" cy="17085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4D2B4870-B0B5-4979-9294-BC063FEFE222}"/>
              </a:ext>
            </a:extLst>
          </p:cNvPr>
          <p:cNvCxnSpPr>
            <a:cxnSpLocks/>
            <a:stCxn id="84" idx="0"/>
          </p:cNvCxnSpPr>
          <p:nvPr/>
        </p:nvCxnSpPr>
        <p:spPr>
          <a:xfrm flipH="1" flipV="1">
            <a:off x="8691937" y="3868875"/>
            <a:ext cx="790538" cy="6753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F0799233-F60F-4018-A283-23A3EED9617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0C81F2-33E4-99AC-F8CB-A1CF07E2A600}"/>
              </a:ext>
            </a:extLst>
          </p:cNvPr>
          <p:cNvSpPr/>
          <p:nvPr/>
        </p:nvSpPr>
        <p:spPr>
          <a:xfrm>
            <a:off x="229973" y="152941"/>
            <a:ext cx="11739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 de Turing universal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C942AE-56F9-95FE-5E6A-2C21859F394E}"/>
              </a:ext>
            </a:extLst>
          </p:cNvPr>
          <p:cNvSpPr txBox="1"/>
          <p:nvPr/>
        </p:nvSpPr>
        <p:spPr>
          <a:xfrm>
            <a:off x="6838122" y="5092170"/>
            <a:ext cx="5022741" cy="5847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una sola cinta de ejecución le alcanza para ejecutar una MT con cualquier cantidad de cintas</a:t>
            </a:r>
            <a:endParaRPr lang="es-AR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0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6175701" y="238440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29973" y="801341"/>
            <a:ext cx="11831776" cy="5765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Hay varias maneras. P.ej.,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sando números en binario (cadenas de 1 y 0). Entre otras características:</a:t>
            </a:r>
          </a:p>
          <a:p>
            <a:pPr lvl="0" algn="just">
              <a:lnSpc>
                <a:spcPct val="150000"/>
              </a:lnSpc>
            </a:pPr>
            <a:endParaRPr lang="es-AR" sz="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360000" lvl="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El código del estado inicial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1,</a:t>
            </a:r>
          </a:p>
          <a:p>
            <a:pPr marL="360000" lvl="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el código del estado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lang="es-A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 2, </a:t>
            </a:r>
          </a:p>
          <a:p>
            <a:pPr marL="360000" lvl="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y el código del estado </a:t>
            </a:r>
            <a:r>
              <a:rPr lang="es-AR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</a:t>
            </a:r>
            <a:r>
              <a:rPr lang="es-A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 3.</a:t>
            </a: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00" lvl="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El código del símbolo blanco es 1.</a:t>
            </a:r>
            <a:endParaRPr lang="es-AR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00" lvl="0"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Los movimientos R, L y S se codifican con 1, 2 y 3, respectivamente.</a:t>
            </a: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0000" lvl="0" algn="just">
              <a:lnSpc>
                <a:spcPct val="150000"/>
              </a:lnSpc>
            </a:pPr>
            <a:endParaRPr lang="es-AR" sz="1000" dirty="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Si M es: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δ(q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s) = (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t, L),  δ(q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t) = (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s, L),  δ(q</a:t>
            </a:r>
            <a:r>
              <a:rPr lang="es-AR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0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B) = (</a:t>
            </a:r>
            <a:r>
              <a:rPr lang="es-A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</a:t>
            </a:r>
            <a:r>
              <a:rPr lang="es-AR" sz="1800" baseline="-25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B, S),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y el código del símbolo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 es 2 y el código del símbolo t es 3,</a:t>
            </a:r>
          </a:p>
          <a:p>
            <a:pPr algn="just">
              <a:lnSpc>
                <a:spcPct val="150000"/>
              </a:lnSpc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queda: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&lt;M&gt; =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(1,2,1,3,2),(1,3,1,2,2),(1,1,2,1,3). </a:t>
            </a:r>
            <a:endParaRPr lang="es-AR" sz="1000" dirty="0">
              <a:solidFill>
                <a:srgbClr val="0070C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lvl="0" algn="just">
              <a:lnSpc>
                <a:spcPct val="150000"/>
              </a:lnSpc>
            </a:pP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Y si la cadena w es: </a:t>
            </a:r>
            <a:r>
              <a:rPr lang="es-A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, </a:t>
            </a:r>
          </a:p>
          <a:p>
            <a:pPr lvl="0" algn="just">
              <a:lnSpc>
                <a:spcPct val="150000"/>
              </a:lnSpc>
            </a:pP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</a:rPr>
              <a:t>    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queda: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</a:rPr>
              <a:t> 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(&lt;M&gt;, w) </a:t>
            </a:r>
            <a:r>
              <a:rPr lang="es-AR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=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(1,2,1,3,2),(1,3,1,2,2),(1,1,2,1,3)#2,3</a:t>
            </a:r>
          </a:p>
          <a:p>
            <a:pPr lvl="0" algn="just">
              <a:lnSpc>
                <a:spcPct val="150000"/>
              </a:lnSpc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</a:rPr>
              <a:t>     (para simplificar la escritura, usamos w en lugar de &lt;w&gt;).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F9DB25A7-9396-4D6A-BCCD-54A4036FDAF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94EF9E-E2DC-9B7E-2094-5CD076F6FE33}"/>
              </a:ext>
            </a:extLst>
          </p:cNvPr>
          <p:cNvSpPr/>
          <p:nvPr/>
        </p:nvSpPr>
        <p:spPr>
          <a:xfrm>
            <a:off x="229973" y="152941"/>
            <a:ext cx="117085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Codificación de una máquina de Turing y una cadena de entrada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434F90-13A9-A117-6504-E26F15B06A1A}"/>
              </a:ext>
            </a:extLst>
          </p:cNvPr>
          <p:cNvSpPr/>
          <p:nvPr/>
        </p:nvSpPr>
        <p:spPr>
          <a:xfrm>
            <a:off x="9188241" y="1834367"/>
            <a:ext cx="9973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  <a:endParaRPr lang="es-MX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07AC28-9885-8C94-F07A-D00C6D7C5A00}"/>
              </a:ext>
            </a:extLst>
          </p:cNvPr>
          <p:cNvSpPr/>
          <p:nvPr/>
        </p:nvSpPr>
        <p:spPr>
          <a:xfrm>
            <a:off x="6856555" y="2253526"/>
            <a:ext cx="3083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b="1" dirty="0"/>
              <a:t>cinta de ejecución (una o más)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81C1AF-53A3-31E2-874C-8FEAC058539F}"/>
              </a:ext>
            </a:extLst>
          </p:cNvPr>
          <p:cNvSpPr/>
          <p:nvPr/>
        </p:nvSpPr>
        <p:spPr>
          <a:xfrm>
            <a:off x="6844763" y="1523697"/>
            <a:ext cx="22127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b="1" dirty="0"/>
              <a:t>cinta de la entrada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9A47A46-CAE9-9045-FBB8-B91DA805235F}"/>
              </a:ext>
            </a:extLst>
          </p:cNvPr>
          <p:cNvCxnSpPr>
            <a:cxnSpLocks/>
          </p:cNvCxnSpPr>
          <p:nvPr/>
        </p:nvCxnSpPr>
        <p:spPr>
          <a:xfrm>
            <a:off x="8350762" y="1848580"/>
            <a:ext cx="2934577" cy="155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832B001-F2C8-D10A-BEC0-E9792EB11F65}"/>
              </a:ext>
            </a:extLst>
          </p:cNvPr>
          <p:cNvCxnSpPr>
            <a:cxnSpLocks/>
          </p:cNvCxnSpPr>
          <p:nvPr/>
        </p:nvCxnSpPr>
        <p:spPr>
          <a:xfrm>
            <a:off x="8398228" y="2124425"/>
            <a:ext cx="2934577" cy="152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59FFF8A-D8FD-432D-79BE-69A53BEADF29}"/>
              </a:ext>
            </a:extLst>
          </p:cNvPr>
          <p:cNvCxnSpPr>
            <a:cxnSpLocks/>
          </p:cNvCxnSpPr>
          <p:nvPr/>
        </p:nvCxnSpPr>
        <p:spPr>
          <a:xfrm>
            <a:off x="8432844" y="2566949"/>
            <a:ext cx="2934577" cy="18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6A72E274-745C-1AD5-84D7-001E644DC91A}"/>
              </a:ext>
            </a:extLst>
          </p:cNvPr>
          <p:cNvCxnSpPr>
            <a:cxnSpLocks/>
          </p:cNvCxnSpPr>
          <p:nvPr/>
        </p:nvCxnSpPr>
        <p:spPr>
          <a:xfrm>
            <a:off x="8374493" y="2826612"/>
            <a:ext cx="2934577" cy="158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3291D56-7E50-270D-F3FC-AB981E69A43A}"/>
              </a:ext>
            </a:extLst>
          </p:cNvPr>
          <p:cNvSpPr/>
          <p:nvPr/>
        </p:nvSpPr>
        <p:spPr>
          <a:xfrm>
            <a:off x="9682770" y="3131351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5A9E7A8-441B-E249-D05F-EDD6C3A66405}"/>
              </a:ext>
            </a:extLst>
          </p:cNvPr>
          <p:cNvCxnSpPr>
            <a:cxnSpLocks/>
          </p:cNvCxnSpPr>
          <p:nvPr/>
        </p:nvCxnSpPr>
        <p:spPr>
          <a:xfrm flipH="1" flipV="1">
            <a:off x="9818050" y="2139716"/>
            <a:ext cx="47465" cy="9685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6C0AD9C-B976-96AC-23E3-7DB574181327}"/>
              </a:ext>
            </a:extLst>
          </p:cNvPr>
          <p:cNvCxnSpPr>
            <a:cxnSpLocks/>
          </p:cNvCxnSpPr>
          <p:nvPr/>
        </p:nvCxnSpPr>
        <p:spPr>
          <a:xfrm flipH="1" flipV="1">
            <a:off x="9381997" y="2870116"/>
            <a:ext cx="473764" cy="2381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51B1EB8F-077E-8F48-C2DF-3B1979971B7D}"/>
              </a:ext>
            </a:extLst>
          </p:cNvPr>
          <p:cNvSpPr/>
          <p:nvPr/>
        </p:nvSpPr>
        <p:spPr>
          <a:xfrm>
            <a:off x="7359395" y="4895458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D0A5E70-798F-DD97-362D-B8BEBF60620A}"/>
              </a:ext>
            </a:extLst>
          </p:cNvPr>
          <p:cNvSpPr/>
          <p:nvPr/>
        </p:nvSpPr>
        <p:spPr>
          <a:xfrm>
            <a:off x="8623026" y="4263663"/>
            <a:ext cx="8068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U</a:t>
            </a:r>
            <a:endParaRPr lang="es-MX" sz="2000" b="1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38E1A77-8A1F-6475-88E5-26BF15266FB1}"/>
              </a:ext>
            </a:extLst>
          </p:cNvPr>
          <p:cNvSpPr/>
          <p:nvPr/>
        </p:nvSpPr>
        <p:spPr>
          <a:xfrm>
            <a:off x="8362468" y="4895458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MX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DB4FEB8-F8B6-B5FF-C3E3-1E57BDE0C36E}"/>
              </a:ext>
            </a:extLst>
          </p:cNvPr>
          <p:cNvSpPr/>
          <p:nvPr/>
        </p:nvSpPr>
        <p:spPr>
          <a:xfrm>
            <a:off x="9808180" y="5157544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316223A-7705-F675-43E4-6F1E4B2760EC}"/>
              </a:ext>
            </a:extLst>
          </p:cNvPr>
          <p:cNvSpPr/>
          <p:nvPr/>
        </p:nvSpPr>
        <p:spPr>
          <a:xfrm>
            <a:off x="8742179" y="4911031"/>
            <a:ext cx="578440" cy="5678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FD14634-6E52-272C-FF9F-5F7C385ABD51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8390166" y="5189017"/>
            <a:ext cx="352013" cy="59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2E3D5EB-C343-103E-F06B-2F6F214FBD97}"/>
              </a:ext>
            </a:extLst>
          </p:cNvPr>
          <p:cNvCxnSpPr>
            <a:cxnSpLocks/>
          </p:cNvCxnSpPr>
          <p:nvPr/>
        </p:nvCxnSpPr>
        <p:spPr>
          <a:xfrm flipV="1">
            <a:off x="9344373" y="4911031"/>
            <a:ext cx="543782" cy="2614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a de flujo: proceso 22">
            <a:extLst>
              <a:ext uri="{FF2B5EF4-FFF2-40B4-BE49-F238E27FC236}">
                <a16:creationId xmlns:a16="http://schemas.microsoft.com/office/drawing/2014/main" id="{B85DAEA9-0123-C321-6F1F-515570E6D912}"/>
              </a:ext>
            </a:extLst>
          </p:cNvPr>
          <p:cNvSpPr/>
          <p:nvPr/>
        </p:nvSpPr>
        <p:spPr>
          <a:xfrm>
            <a:off x="8378510" y="4611932"/>
            <a:ext cx="1338407" cy="1513564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1632E8D-D6A5-7F8D-7C13-7141F5845C88}"/>
              </a:ext>
            </a:extLst>
          </p:cNvPr>
          <p:cNvSpPr/>
          <p:nvPr/>
        </p:nvSpPr>
        <p:spPr>
          <a:xfrm>
            <a:off x="9808180" y="4710792"/>
            <a:ext cx="441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B6380B34-7FEE-DABD-F45D-178D79E6F6FE}"/>
              </a:ext>
            </a:extLst>
          </p:cNvPr>
          <p:cNvCxnSpPr>
            <a:cxnSpLocks/>
          </p:cNvCxnSpPr>
          <p:nvPr/>
        </p:nvCxnSpPr>
        <p:spPr>
          <a:xfrm>
            <a:off x="8851966" y="5496113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18CAC5F-8108-CC07-19FB-EA4115A1ECB1}"/>
              </a:ext>
            </a:extLst>
          </p:cNvPr>
          <p:cNvCxnSpPr>
            <a:cxnSpLocks/>
          </p:cNvCxnSpPr>
          <p:nvPr/>
        </p:nvCxnSpPr>
        <p:spPr>
          <a:xfrm flipV="1">
            <a:off x="8851966" y="5894717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8F7D226-F95A-D45E-73E7-B96F0587DAD2}"/>
              </a:ext>
            </a:extLst>
          </p:cNvPr>
          <p:cNvCxnSpPr>
            <a:cxnSpLocks/>
          </p:cNvCxnSpPr>
          <p:nvPr/>
        </p:nvCxnSpPr>
        <p:spPr>
          <a:xfrm flipV="1">
            <a:off x="9201134" y="5496113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479C72C-F342-BC77-8F6C-5E3529A25808}"/>
              </a:ext>
            </a:extLst>
          </p:cNvPr>
          <p:cNvSpPr/>
          <p:nvPr/>
        </p:nvSpPr>
        <p:spPr>
          <a:xfrm>
            <a:off x="8838432" y="500282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dirty="0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237EBD5B-F713-81A0-13A2-13322CEC7434}"/>
              </a:ext>
            </a:extLst>
          </p:cNvPr>
          <p:cNvCxnSpPr>
            <a:cxnSpLocks/>
          </p:cNvCxnSpPr>
          <p:nvPr/>
        </p:nvCxnSpPr>
        <p:spPr>
          <a:xfrm>
            <a:off x="9298929" y="5196553"/>
            <a:ext cx="589226" cy="175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CD126D1-E666-C632-842C-52C3F75F1B03}"/>
              </a:ext>
            </a:extLst>
          </p:cNvPr>
          <p:cNvCxnSpPr>
            <a:cxnSpLocks/>
          </p:cNvCxnSpPr>
          <p:nvPr/>
        </p:nvCxnSpPr>
        <p:spPr>
          <a:xfrm>
            <a:off x="7444623" y="5183396"/>
            <a:ext cx="943989" cy="42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89C86F2-700A-B97C-0D04-CFFE1C2DC22A}"/>
              </a:ext>
            </a:extLst>
          </p:cNvPr>
          <p:cNvCxnSpPr>
            <a:cxnSpLocks/>
          </p:cNvCxnSpPr>
          <p:nvPr/>
        </p:nvCxnSpPr>
        <p:spPr>
          <a:xfrm>
            <a:off x="8851966" y="612549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FCA83F70-7845-0AED-88D6-B5514B881643}"/>
              </a:ext>
            </a:extLst>
          </p:cNvPr>
          <p:cNvCxnSpPr>
            <a:cxnSpLocks/>
          </p:cNvCxnSpPr>
          <p:nvPr/>
        </p:nvCxnSpPr>
        <p:spPr>
          <a:xfrm flipV="1">
            <a:off x="8851966" y="652409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DFCC161-8334-F5FC-0D26-C42358C409A0}"/>
              </a:ext>
            </a:extLst>
          </p:cNvPr>
          <p:cNvCxnSpPr>
            <a:cxnSpLocks/>
          </p:cNvCxnSpPr>
          <p:nvPr/>
        </p:nvCxnSpPr>
        <p:spPr>
          <a:xfrm flipV="1">
            <a:off x="9201134" y="612549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92A5FA0-5445-6656-7D84-359C37709E57}"/>
              </a:ext>
            </a:extLst>
          </p:cNvPr>
          <p:cNvCxnSpPr>
            <a:cxnSpLocks/>
          </p:cNvCxnSpPr>
          <p:nvPr/>
        </p:nvCxnSpPr>
        <p:spPr>
          <a:xfrm>
            <a:off x="9047965" y="5894717"/>
            <a:ext cx="0" cy="22133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61FDC710-ED47-0F5F-53B5-E23C17E1FA11}"/>
              </a:ext>
            </a:extLst>
          </p:cNvPr>
          <p:cNvCxnSpPr>
            <a:cxnSpLocks/>
          </p:cNvCxnSpPr>
          <p:nvPr/>
        </p:nvCxnSpPr>
        <p:spPr>
          <a:xfrm flipV="1">
            <a:off x="6515930" y="5308665"/>
            <a:ext cx="1471468" cy="62965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08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29974" y="907874"/>
            <a:ext cx="11546390" cy="5497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Codificar las máquinas de Turing permite enumerarlas, por ejemplo en el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canónico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algn="just"/>
            <a:endParaRPr lang="es-AR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1) Los códigos se ordenan de menor a mayor longitud.</a:t>
            </a:r>
          </a:p>
          <a:p>
            <a:pPr lvl="0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2) Los códigos con longitudes iguales se ordenan según el orden alfanumérico. </a:t>
            </a:r>
          </a:p>
          <a:p>
            <a:pPr lvl="0" algn="just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las primeras cadenas según el orden canónico, con ceros, unos, paréntesis y comas, son:  </a:t>
            </a:r>
          </a:p>
          <a:p>
            <a:pPr lvl="0"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λ      </a:t>
            </a: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0        1        (        )        ,</a:t>
            </a: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00      01      0(      0)      0,      10        11        1(        1)        1,        (0        (1        ((        …</a:t>
            </a:r>
          </a:p>
          <a:p>
            <a:pPr lvl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000    001    00(    00)    00,    010      011      01(      01)      01,      0(0      0(1      0((      …      etc.</a:t>
            </a:r>
          </a:p>
          <a:p>
            <a:pPr lvl="0"/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MT M obtiene la MT i-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ésima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según el orden canónico. Dado i, la MT M hace: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Hace n := 0.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Genera la siguiente cadena v según el orden canónico.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Valida que v sea el código de una MT. Si no lo es, vuelve al paso 2.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n = i, devuelve v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(v es el código de la MT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para.</a:t>
            </a:r>
          </a:p>
          <a:p>
            <a:pPr lvl="1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Si n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≠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i, hace n := n + 1 y vuelve al paso 2.</a:t>
            </a:r>
          </a:p>
          <a:p>
            <a:pPr lvl="0" algn="just">
              <a:lnSpc>
                <a:spcPct val="150000"/>
              </a:lnSpc>
            </a:pPr>
            <a:endParaRPr lang="es-AR" sz="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2677ED7-791E-434B-9495-0ABF16C1F05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1BADB43-AB6C-63EF-27BC-C0E2F4075FB3}"/>
              </a:ext>
            </a:extLst>
          </p:cNvPr>
          <p:cNvSpPr/>
          <p:nvPr/>
        </p:nvSpPr>
        <p:spPr>
          <a:xfrm>
            <a:off x="229974" y="152941"/>
            <a:ext cx="11790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Enumeración de las máquinas de Turing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3C2D0B-A378-980E-7A61-8FF1AF342606}"/>
              </a:ext>
            </a:extLst>
          </p:cNvPr>
          <p:cNvSpPr/>
          <p:nvPr/>
        </p:nvSpPr>
        <p:spPr>
          <a:xfrm>
            <a:off x="10699075" y="5910147"/>
            <a:ext cx="6270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578FAC8-D68C-825A-865E-7368BF4D05B5}"/>
              </a:ext>
            </a:extLst>
          </p:cNvPr>
          <p:cNvSpPr/>
          <p:nvPr/>
        </p:nvSpPr>
        <p:spPr>
          <a:xfrm>
            <a:off x="8988201" y="4966620"/>
            <a:ext cx="2359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s-MX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968BC2-E261-3C0A-56C5-C961555736C8}"/>
              </a:ext>
            </a:extLst>
          </p:cNvPr>
          <p:cNvSpPr/>
          <p:nvPr/>
        </p:nvSpPr>
        <p:spPr>
          <a:xfrm>
            <a:off x="9396577" y="5084669"/>
            <a:ext cx="1221693" cy="12668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8F473DF-4245-3B19-5571-59F92D33B5E7}"/>
              </a:ext>
            </a:extLst>
          </p:cNvPr>
          <p:cNvCxnSpPr>
            <a:cxnSpLocks/>
          </p:cNvCxnSpPr>
          <p:nvPr/>
        </p:nvCxnSpPr>
        <p:spPr>
          <a:xfrm>
            <a:off x="8887075" y="5247666"/>
            <a:ext cx="50928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0F18A32-7E8C-FC50-D43A-3325684D7E62}"/>
              </a:ext>
            </a:extLst>
          </p:cNvPr>
          <p:cNvSpPr/>
          <p:nvPr/>
        </p:nvSpPr>
        <p:spPr>
          <a:xfrm>
            <a:off x="9787886" y="4726191"/>
            <a:ext cx="4683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 </a:t>
            </a:r>
            <a:endParaRPr lang="es-MX" sz="20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9AD8768-6D37-A15A-E1B9-DA33D990B79F}"/>
              </a:ext>
            </a:extLst>
          </p:cNvPr>
          <p:cNvCxnSpPr>
            <a:cxnSpLocks/>
          </p:cNvCxnSpPr>
          <p:nvPr/>
        </p:nvCxnSpPr>
        <p:spPr>
          <a:xfrm flipV="1">
            <a:off x="10614653" y="6217804"/>
            <a:ext cx="805632" cy="154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1E9B2EF9-D34E-C0C4-4275-ADC87F9B0D5B}"/>
              </a:ext>
            </a:extLst>
          </p:cNvPr>
          <p:cNvSpPr/>
          <p:nvPr/>
        </p:nvSpPr>
        <p:spPr>
          <a:xfrm>
            <a:off x="9655896" y="5135897"/>
            <a:ext cx="6719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3DB0B41-69DF-8936-1B68-9DF6E7248D85}"/>
              </a:ext>
            </a:extLst>
          </p:cNvPr>
          <p:cNvSpPr/>
          <p:nvPr/>
        </p:nvSpPr>
        <p:spPr>
          <a:xfrm>
            <a:off x="9672444" y="5406522"/>
            <a:ext cx="6719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F2022A7-1212-91DA-3450-224E399649C2}"/>
              </a:ext>
            </a:extLst>
          </p:cNvPr>
          <p:cNvSpPr txBox="1"/>
          <p:nvPr/>
        </p:nvSpPr>
        <p:spPr>
          <a:xfrm>
            <a:off x="9818749" y="5891859"/>
            <a:ext cx="44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es-AR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1684981-2E2D-25F2-8F4E-EE49D7D538BF}"/>
              </a:ext>
            </a:extLst>
          </p:cNvPr>
          <p:cNvSpPr/>
          <p:nvPr/>
        </p:nvSpPr>
        <p:spPr>
          <a:xfrm>
            <a:off x="9686096" y="5686743"/>
            <a:ext cx="6719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961521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510595" y="217962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29972" y="848764"/>
            <a:ext cx="11921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880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tabla T representa el comportamiento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todas las MT M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respecto 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todas las cadenas w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694E4D9-725D-41C5-A31A-09AC0AA47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475275"/>
              </p:ext>
            </p:extLst>
          </p:nvPr>
        </p:nvGraphicFramePr>
        <p:xfrm>
          <a:off x="2729852" y="1653170"/>
          <a:ext cx="6945421" cy="24041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62629">
                  <a:extLst>
                    <a:ext uri="{9D8B030D-6E8A-4147-A177-3AD203B41FA5}">
                      <a16:colId xmlns:a16="http://schemas.microsoft.com/office/drawing/2014/main" val="1414776165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4235091392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365436837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2320782946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836629598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183423185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363770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</a:t>
                      </a:r>
                      <a:r>
                        <a:rPr lang="es-ES" sz="2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 </a:t>
                      </a:r>
                      <a:endParaRPr lang="es-MX" sz="2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3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5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530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3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4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MX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..…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799338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5BBDCD0E-81EB-4B93-B42C-CD592D0DA956}"/>
              </a:ext>
            </a:extLst>
          </p:cNvPr>
          <p:cNvSpPr/>
          <p:nvPr/>
        </p:nvSpPr>
        <p:spPr>
          <a:xfrm>
            <a:off x="1774163" y="4180391"/>
            <a:ext cx="9023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1 si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acepta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; T(M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0 si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rechaza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(los valores son de ejemplo)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B88DC0A-B1C3-434B-9CC9-437130C8D96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33012B-1BBC-4324-B75A-2B5A1A607CC6}"/>
              </a:ext>
            </a:extLst>
          </p:cNvPr>
          <p:cNvSpPr/>
          <p:nvPr/>
        </p:nvSpPr>
        <p:spPr>
          <a:xfrm>
            <a:off x="302534" y="4768326"/>
            <a:ext cx="1121890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fila 0 = (1, 0, 1, 1, 1, …)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{w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…}.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fila 1 = (1, 0, 0, 1, 0, …)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{w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…}.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fila 2 = (0, 0, 1, 0, 1, …)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= {w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…}.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lo tanto, las filas representan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todos los lenguajes aceptados por MT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es decir el conjunto: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F0BB1C-7CE4-23B0-3AE7-33629401C4C5}"/>
              </a:ext>
            </a:extLst>
          </p:cNvPr>
          <p:cNvSpPr/>
          <p:nvPr/>
        </p:nvSpPr>
        <p:spPr>
          <a:xfrm>
            <a:off x="229972" y="18419"/>
            <a:ext cx="116366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 de que 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 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 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28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solidFill>
                  <a:srgbClr val="7030A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4BBDF2-D5D1-BA31-3BFD-02B77B750E8C}"/>
              </a:ext>
            </a:extLst>
          </p:cNvPr>
          <p:cNvSpPr txBox="1"/>
          <p:nvPr/>
        </p:nvSpPr>
        <p:spPr>
          <a:xfrm>
            <a:off x="10377654" y="6107154"/>
            <a:ext cx="839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94E5328-A32C-D15C-4561-DD6571C5E3FF}"/>
              </a:ext>
            </a:extLst>
          </p:cNvPr>
          <p:cNvSpPr/>
          <p:nvPr/>
        </p:nvSpPr>
        <p:spPr>
          <a:xfrm>
            <a:off x="2166876" y="2173655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0</a:t>
            </a:r>
            <a:endParaRPr lang="es-MX" sz="14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92D8F26-1968-0364-AE1C-9B1BAC284CB3}"/>
              </a:ext>
            </a:extLst>
          </p:cNvPr>
          <p:cNvSpPr/>
          <p:nvPr/>
        </p:nvSpPr>
        <p:spPr>
          <a:xfrm>
            <a:off x="2166876" y="2498527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1</a:t>
            </a:r>
            <a:endParaRPr lang="es-MX" sz="1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1A9630A-0DF3-BD7E-AC0F-931BE5280B8A}"/>
              </a:ext>
            </a:extLst>
          </p:cNvPr>
          <p:cNvSpPr/>
          <p:nvPr/>
        </p:nvSpPr>
        <p:spPr>
          <a:xfrm>
            <a:off x="2154612" y="2806304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2</a:t>
            </a:r>
            <a:endParaRPr lang="es-MX" sz="14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B66EAC7-36D8-84A9-910B-9F745B8B168F}"/>
              </a:ext>
            </a:extLst>
          </p:cNvPr>
          <p:cNvSpPr/>
          <p:nvPr/>
        </p:nvSpPr>
        <p:spPr>
          <a:xfrm>
            <a:off x="2166877" y="3114081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3</a:t>
            </a:r>
            <a:endParaRPr lang="es-MX" sz="14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10B23C6-0543-FD4F-4724-428C915C38B7}"/>
              </a:ext>
            </a:extLst>
          </p:cNvPr>
          <p:cNvSpPr/>
          <p:nvPr/>
        </p:nvSpPr>
        <p:spPr>
          <a:xfrm>
            <a:off x="2166876" y="3456048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4</a:t>
            </a:r>
            <a:endParaRPr lang="es-MX" sz="1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B0ACD5-5C49-DDB1-EAE7-1EBA35B9053D}"/>
              </a:ext>
            </a:extLst>
          </p:cNvPr>
          <p:cNvSpPr/>
          <p:nvPr/>
        </p:nvSpPr>
        <p:spPr>
          <a:xfrm>
            <a:off x="5510595" y="1340223"/>
            <a:ext cx="18507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todas las cadenas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6601C-CD5B-6F1B-CEEE-C7077D0D9E87}"/>
              </a:ext>
            </a:extLst>
          </p:cNvPr>
          <p:cNvSpPr/>
          <p:nvPr/>
        </p:nvSpPr>
        <p:spPr>
          <a:xfrm>
            <a:off x="9675273" y="2785622"/>
            <a:ext cx="13344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todas las MT</a:t>
            </a:r>
          </a:p>
        </p:txBody>
      </p:sp>
    </p:spTree>
    <p:extLst>
      <p:ext uri="{BB962C8B-B14F-4D97-AF65-F5344CB8AC3E}">
        <p14:creationId xmlns:p14="http://schemas.microsoft.com/office/powerpoint/2010/main" val="295051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6077924" y="1704918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694E4D9-725D-41C5-A31A-09AC0AA47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768729"/>
              </p:ext>
            </p:extLst>
          </p:nvPr>
        </p:nvGraphicFramePr>
        <p:xfrm>
          <a:off x="2877679" y="745004"/>
          <a:ext cx="6945421" cy="24041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62629">
                  <a:extLst>
                    <a:ext uri="{9D8B030D-6E8A-4147-A177-3AD203B41FA5}">
                      <a16:colId xmlns:a16="http://schemas.microsoft.com/office/drawing/2014/main" val="1414776165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4235091392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365436837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2320782946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836629598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183423185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3637709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s-ES" sz="2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T </a:t>
                      </a:r>
                      <a:endParaRPr lang="es-MX" sz="2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3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5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530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3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4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MX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..…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799338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5BBDCD0E-81EB-4B93-B42C-CD592D0DA956}"/>
              </a:ext>
            </a:extLst>
          </p:cNvPr>
          <p:cNvSpPr/>
          <p:nvPr/>
        </p:nvSpPr>
        <p:spPr>
          <a:xfrm>
            <a:off x="470217" y="3373433"/>
            <a:ext cx="1145361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diagonal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(1, 0, 1, 1, 0, …)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y representa el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 = {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En el ejemplo: D = {w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…}.</a:t>
            </a:r>
          </a:p>
          <a:p>
            <a:pPr algn="just"/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la diagonal con los 1 y 0 invertidos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(0, 1, 0, 0, 1, …)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y representa el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En el ejemplo: D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{w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…}. 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AR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F58C47E-86EF-49DB-87D2-5EFA2EC09801}"/>
              </a:ext>
            </a:extLst>
          </p:cNvPr>
          <p:cNvSpPr/>
          <p:nvPr/>
        </p:nvSpPr>
        <p:spPr>
          <a:xfrm>
            <a:off x="470217" y="213510"/>
            <a:ext cx="62603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Consideremos en particular la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diagonal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la tabla T:</a:t>
            </a:r>
            <a:endParaRPr lang="es-AR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2F8E716-59B9-432C-8925-526D27FB9901}"/>
              </a:ext>
            </a:extLst>
          </p:cNvPr>
          <p:cNvSpPr/>
          <p:nvPr/>
        </p:nvSpPr>
        <p:spPr>
          <a:xfrm>
            <a:off x="472137" y="4925265"/>
            <a:ext cx="6739762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Vamos a probar:</a:t>
            </a:r>
          </a:p>
          <a:p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(1)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 está en RE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(2)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D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no está en RE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Y por lo tanto: (3)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 no está en R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¿Por qué?</a:t>
            </a:r>
          </a:p>
          <a:p>
            <a:endParaRPr lang="es-AR" sz="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Porque si D está en R,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 en R, y así también en RE.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AC445C1-ACBB-4F8B-B4D1-9357F92213D9}"/>
              </a:ext>
            </a:extLst>
          </p:cNvPr>
          <p:cNvSpPr/>
          <p:nvPr/>
        </p:nvSpPr>
        <p:spPr>
          <a:xfrm>
            <a:off x="8319883" y="539586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DE824E-FA6D-470E-9D99-3A4986AF81DA}"/>
              </a:ext>
            </a:extLst>
          </p:cNvPr>
          <p:cNvSpPr/>
          <p:nvPr/>
        </p:nvSpPr>
        <p:spPr>
          <a:xfrm>
            <a:off x="7250805" y="5349689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b="1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E95E6A1-F3D1-406C-B0D2-A525ED1F5E58}"/>
              </a:ext>
            </a:extLst>
          </p:cNvPr>
          <p:cNvSpPr/>
          <p:nvPr/>
        </p:nvSpPr>
        <p:spPr>
          <a:xfrm>
            <a:off x="9082389" y="5341481"/>
            <a:ext cx="1011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b="1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8525A8AD-CB1A-45DF-9B0B-CC3706949370}"/>
              </a:ext>
            </a:extLst>
          </p:cNvPr>
          <p:cNvSpPr/>
          <p:nvPr/>
        </p:nvSpPr>
        <p:spPr>
          <a:xfrm>
            <a:off x="6751183" y="5253141"/>
            <a:ext cx="2418666" cy="102418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05414AF3-ACD1-418D-828C-F0575280D9F4}"/>
              </a:ext>
            </a:extLst>
          </p:cNvPr>
          <p:cNvSpPr/>
          <p:nvPr/>
        </p:nvSpPr>
        <p:spPr>
          <a:xfrm>
            <a:off x="7887507" y="5207021"/>
            <a:ext cx="2289209" cy="105479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D3BA2D-177A-4502-8F7E-83C23C668E40}"/>
              </a:ext>
            </a:extLst>
          </p:cNvPr>
          <p:cNvSpPr/>
          <p:nvPr/>
        </p:nvSpPr>
        <p:spPr>
          <a:xfrm>
            <a:off x="9156769" y="5900642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6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B596CE-0300-47A8-AB6C-9D322EDF15A2}"/>
              </a:ext>
            </a:extLst>
          </p:cNvPr>
          <p:cNvSpPr/>
          <p:nvPr/>
        </p:nvSpPr>
        <p:spPr>
          <a:xfrm>
            <a:off x="7555365" y="5910150"/>
            <a:ext cx="3321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MX" sz="16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871421-E80E-3092-A826-A57C2521819F}"/>
              </a:ext>
            </a:extLst>
          </p:cNvPr>
          <p:cNvSpPr/>
          <p:nvPr/>
        </p:nvSpPr>
        <p:spPr>
          <a:xfrm>
            <a:off x="8228644" y="4737650"/>
            <a:ext cx="4363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38" name="Diagrama de flujo: conector 37">
            <a:extLst>
              <a:ext uri="{FF2B5EF4-FFF2-40B4-BE49-F238E27FC236}">
                <a16:creationId xmlns:a16="http://schemas.microsoft.com/office/drawing/2014/main" id="{C76898AC-0BFE-4A3C-E981-FA84103D6027}"/>
              </a:ext>
            </a:extLst>
          </p:cNvPr>
          <p:cNvSpPr/>
          <p:nvPr/>
        </p:nvSpPr>
        <p:spPr>
          <a:xfrm>
            <a:off x="6225532" y="4806934"/>
            <a:ext cx="4450987" cy="174121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6B2F70-7B81-2154-9224-4CA488D1C3A8}"/>
              </a:ext>
            </a:extLst>
          </p:cNvPr>
          <p:cNvSpPr/>
          <p:nvPr/>
        </p:nvSpPr>
        <p:spPr>
          <a:xfrm>
            <a:off x="2314704" y="1271446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0</a:t>
            </a:r>
            <a:endParaRPr lang="es-MX" sz="14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435D8D9-DB17-72EA-FBC2-CA8806340E5E}"/>
              </a:ext>
            </a:extLst>
          </p:cNvPr>
          <p:cNvSpPr/>
          <p:nvPr/>
        </p:nvSpPr>
        <p:spPr>
          <a:xfrm>
            <a:off x="2314704" y="1596318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1</a:t>
            </a:r>
            <a:endParaRPr lang="es-MX" sz="14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2493F7C-963B-8505-AFF1-376CF100A32C}"/>
              </a:ext>
            </a:extLst>
          </p:cNvPr>
          <p:cNvSpPr/>
          <p:nvPr/>
        </p:nvSpPr>
        <p:spPr>
          <a:xfrm>
            <a:off x="2302440" y="1904095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2</a:t>
            </a:r>
            <a:endParaRPr lang="es-MX" sz="14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9F84A0B-6281-D957-881B-2C636A2A22CD}"/>
              </a:ext>
            </a:extLst>
          </p:cNvPr>
          <p:cNvSpPr/>
          <p:nvPr/>
        </p:nvSpPr>
        <p:spPr>
          <a:xfrm>
            <a:off x="2314705" y="2211872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3</a:t>
            </a:r>
            <a:endParaRPr lang="es-MX" sz="14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5BA6C84-5312-36F4-3783-07EA67E5CB30}"/>
              </a:ext>
            </a:extLst>
          </p:cNvPr>
          <p:cNvSpPr/>
          <p:nvPr/>
        </p:nvSpPr>
        <p:spPr>
          <a:xfrm>
            <a:off x="2314704" y="2553839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4</a:t>
            </a:r>
            <a:endParaRPr lang="es-MX" sz="1400" dirty="0"/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C4C0B328-D599-1E47-7967-7E0C152988B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46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 animBg="1"/>
      <p:bldP spid="14" grpId="0" animBg="1"/>
      <p:bldP spid="16" grpId="0"/>
      <p:bldP spid="17" grpId="0"/>
      <p:bldP spid="32" grpId="0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4C6C845F-860F-4D4B-B699-904564123183}"/>
              </a:ext>
            </a:extLst>
          </p:cNvPr>
          <p:cNvSpPr/>
          <p:nvPr/>
        </p:nvSpPr>
        <p:spPr>
          <a:xfrm>
            <a:off x="405190" y="193423"/>
            <a:ext cx="11381620" cy="2746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(1)     Primero probaremos que D = {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 está en RE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siguiente MT M acepta D. Dada una entrada w, M hace:</a:t>
            </a:r>
          </a:p>
          <a:p>
            <a:pPr algn="just">
              <a:lnSpc>
                <a:spcPct val="150000"/>
              </a:lnSpc>
            </a:pPr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Encuentra i tal que w =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en el orden canónico (genera cadenas en el orden canónico hasta encontrar w).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Encuentra el código &lt;M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 de la MT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(genera códigos de MT en el orden canónico hasta llegar a &lt;M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&gt;).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Ejecuta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sobre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acepta sii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6A079DE-9E25-4A35-BB5F-8C1E4E6B6AE8}"/>
              </a:ext>
            </a:extLst>
          </p:cNvPr>
          <p:cNvSpPr/>
          <p:nvPr/>
        </p:nvSpPr>
        <p:spPr>
          <a:xfrm>
            <a:off x="2780435" y="3994864"/>
            <a:ext cx="2952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endParaRPr lang="es-MX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1FC8A0B-6E99-418C-AD2A-91557422BD6C}"/>
              </a:ext>
            </a:extLst>
          </p:cNvPr>
          <p:cNvSpPr/>
          <p:nvPr/>
        </p:nvSpPr>
        <p:spPr>
          <a:xfrm>
            <a:off x="5442945" y="2829955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s-MX" sz="20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BE870E1-E150-4C0F-BC52-E50C7E10D95A}"/>
              </a:ext>
            </a:extLst>
          </p:cNvPr>
          <p:cNvSpPr/>
          <p:nvPr/>
        </p:nvSpPr>
        <p:spPr>
          <a:xfrm>
            <a:off x="9148274" y="4505689"/>
            <a:ext cx="441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4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2F4164A-6023-4A6F-96F3-C4E115E0B3EC}"/>
              </a:ext>
            </a:extLst>
          </p:cNvPr>
          <p:cNvSpPr/>
          <p:nvPr/>
        </p:nvSpPr>
        <p:spPr>
          <a:xfrm>
            <a:off x="6929849" y="374517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7233D8AB-B54A-4A79-998A-FA3B19BA3C71}"/>
              </a:ext>
            </a:extLst>
          </p:cNvPr>
          <p:cNvCxnSpPr>
            <a:cxnSpLocks/>
          </p:cNvCxnSpPr>
          <p:nvPr/>
        </p:nvCxnSpPr>
        <p:spPr>
          <a:xfrm>
            <a:off x="2611313" y="4234247"/>
            <a:ext cx="8252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4834AA24-280F-4AB0-B33C-ED2E2E2D3EAB}"/>
              </a:ext>
            </a:extLst>
          </p:cNvPr>
          <p:cNvCxnSpPr>
            <a:cxnSpLocks/>
          </p:cNvCxnSpPr>
          <p:nvPr/>
        </p:nvCxnSpPr>
        <p:spPr>
          <a:xfrm flipV="1">
            <a:off x="7872987" y="3606554"/>
            <a:ext cx="1252027" cy="5986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iagrama de flujo: proceso 29">
            <a:extLst>
              <a:ext uri="{FF2B5EF4-FFF2-40B4-BE49-F238E27FC236}">
                <a16:creationId xmlns:a16="http://schemas.microsoft.com/office/drawing/2014/main" id="{80310DE3-06CF-4269-A7B1-DD0335FD88AA}"/>
              </a:ext>
            </a:extLst>
          </p:cNvPr>
          <p:cNvSpPr/>
          <p:nvPr/>
        </p:nvSpPr>
        <p:spPr>
          <a:xfrm>
            <a:off x="3247138" y="3181036"/>
            <a:ext cx="4882716" cy="201547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394F470-21BD-45B3-97F5-8265C39753FB}"/>
              </a:ext>
            </a:extLst>
          </p:cNvPr>
          <p:cNvSpPr/>
          <p:nvPr/>
        </p:nvSpPr>
        <p:spPr>
          <a:xfrm>
            <a:off x="9125014" y="3430367"/>
            <a:ext cx="441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4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88E6990-7DD7-4DC0-B281-0EEEA5FED6DE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7844249" y="4202378"/>
            <a:ext cx="1326600" cy="4913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D5B2593-ED67-41CA-BD67-A76907B72006}"/>
              </a:ext>
            </a:extLst>
          </p:cNvPr>
          <p:cNvCxnSpPr>
            <a:cxnSpLocks/>
          </p:cNvCxnSpPr>
          <p:nvPr/>
        </p:nvCxnSpPr>
        <p:spPr>
          <a:xfrm>
            <a:off x="5491643" y="519391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3239DDE-9ADD-4475-95EE-300FFC985B71}"/>
              </a:ext>
            </a:extLst>
          </p:cNvPr>
          <p:cNvCxnSpPr>
            <a:cxnSpLocks/>
          </p:cNvCxnSpPr>
          <p:nvPr/>
        </p:nvCxnSpPr>
        <p:spPr>
          <a:xfrm flipV="1">
            <a:off x="5491643" y="5576861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97D593B9-0C6C-48AA-B9D3-652497189791}"/>
              </a:ext>
            </a:extLst>
          </p:cNvPr>
          <p:cNvCxnSpPr>
            <a:cxnSpLocks/>
          </p:cNvCxnSpPr>
          <p:nvPr/>
        </p:nvCxnSpPr>
        <p:spPr>
          <a:xfrm flipV="1">
            <a:off x="5840811" y="519391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A037134B-1141-40D5-A045-4C9C55116332}"/>
              </a:ext>
            </a:extLst>
          </p:cNvPr>
          <p:cNvSpPr/>
          <p:nvPr/>
        </p:nvSpPr>
        <p:spPr>
          <a:xfrm>
            <a:off x="3427606" y="374517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4C002A-4148-4795-8F59-B06C588BBFFF}"/>
              </a:ext>
            </a:extLst>
          </p:cNvPr>
          <p:cNvSpPr/>
          <p:nvPr/>
        </p:nvSpPr>
        <p:spPr>
          <a:xfrm>
            <a:off x="5184678" y="3745178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DD01CB4C-FAA7-469E-A2AF-F1F6D7E8CE71}"/>
              </a:ext>
            </a:extLst>
          </p:cNvPr>
          <p:cNvCxnSpPr>
            <a:cxnSpLocks/>
          </p:cNvCxnSpPr>
          <p:nvPr/>
        </p:nvCxnSpPr>
        <p:spPr>
          <a:xfrm>
            <a:off x="4350972" y="4215808"/>
            <a:ext cx="8252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B2B2C7DC-B392-4BA6-A429-7A590B110A0F}"/>
              </a:ext>
            </a:extLst>
          </p:cNvPr>
          <p:cNvCxnSpPr>
            <a:cxnSpLocks/>
          </p:cNvCxnSpPr>
          <p:nvPr/>
        </p:nvCxnSpPr>
        <p:spPr>
          <a:xfrm>
            <a:off x="6122522" y="4215808"/>
            <a:ext cx="8252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71E8F6A-7BD6-4E72-BEE9-B66142DCDC6F}"/>
              </a:ext>
            </a:extLst>
          </p:cNvPr>
          <p:cNvSpPr txBox="1"/>
          <p:nvPr/>
        </p:nvSpPr>
        <p:spPr>
          <a:xfrm>
            <a:off x="6262429" y="3976468"/>
            <a:ext cx="894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&lt;M</a:t>
            </a:r>
            <a:r>
              <a:rPr lang="es-AR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AR" sz="12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0892365-FDAD-4896-A4E9-5399F6234957}"/>
              </a:ext>
            </a:extLst>
          </p:cNvPr>
          <p:cNvSpPr txBox="1"/>
          <p:nvPr/>
        </p:nvSpPr>
        <p:spPr>
          <a:xfrm>
            <a:off x="3532909" y="4036106"/>
            <a:ext cx="85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Etapa 1</a:t>
            </a:r>
            <a:endParaRPr lang="es-AR" sz="14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A569CA8-D577-4A98-B10D-F387D305BC60}"/>
              </a:ext>
            </a:extLst>
          </p:cNvPr>
          <p:cNvSpPr txBox="1"/>
          <p:nvPr/>
        </p:nvSpPr>
        <p:spPr>
          <a:xfrm>
            <a:off x="5278080" y="4046769"/>
            <a:ext cx="815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Etapa 2</a:t>
            </a:r>
            <a:endParaRPr lang="es-AR" sz="14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A054D67-5BAE-4A06-9D92-BAD94CEFE8FF}"/>
              </a:ext>
            </a:extLst>
          </p:cNvPr>
          <p:cNvSpPr txBox="1"/>
          <p:nvPr/>
        </p:nvSpPr>
        <p:spPr>
          <a:xfrm>
            <a:off x="7032366" y="4053511"/>
            <a:ext cx="806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  <a:endParaRPr lang="es-AR" sz="1400" dirty="0"/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0C543D41-B31B-4BB4-B621-ABC2E1A5EC0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5ABB40F-0835-4307-ADF9-DB0954F789BB}"/>
              </a:ext>
            </a:extLst>
          </p:cNvPr>
          <p:cNvSpPr txBox="1"/>
          <p:nvPr/>
        </p:nvSpPr>
        <p:spPr>
          <a:xfrm>
            <a:off x="3344359" y="3307961"/>
            <a:ext cx="1063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Obtiene i tal que w = </a:t>
            </a:r>
            <a:r>
              <a:rPr lang="es-AR" sz="12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AR" sz="12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6EBCEB3-26AA-406E-97AB-E01B724A53D3}"/>
              </a:ext>
            </a:extLst>
          </p:cNvPr>
          <p:cNvSpPr txBox="1"/>
          <p:nvPr/>
        </p:nvSpPr>
        <p:spPr>
          <a:xfrm>
            <a:off x="5096064" y="3323324"/>
            <a:ext cx="1222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Dado i obtiene</a:t>
            </a:r>
          </a:p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el código &lt;M</a:t>
            </a:r>
            <a:r>
              <a:rPr lang="es-AR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s-AR" sz="1200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17E2F6B-6F5F-4F8C-AD5B-EA0C3A713F97}"/>
              </a:ext>
            </a:extLst>
          </p:cNvPr>
          <p:cNvSpPr txBox="1"/>
          <p:nvPr/>
        </p:nvSpPr>
        <p:spPr>
          <a:xfrm>
            <a:off x="4670837" y="3985214"/>
            <a:ext cx="4106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5DA494-3C45-2F22-3162-5C4FE03731C8}"/>
              </a:ext>
            </a:extLst>
          </p:cNvPr>
          <p:cNvSpPr txBox="1"/>
          <p:nvPr/>
        </p:nvSpPr>
        <p:spPr>
          <a:xfrm>
            <a:off x="-2214" y="5987683"/>
            <a:ext cx="12191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lo tanto, se cumple D = {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AR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∈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1A22C2B-F17A-C83E-D534-5046D6BE72A7}"/>
              </a:ext>
            </a:extLst>
          </p:cNvPr>
          <p:cNvCxnSpPr>
            <a:cxnSpLocks/>
          </p:cNvCxnSpPr>
          <p:nvPr/>
        </p:nvCxnSpPr>
        <p:spPr>
          <a:xfrm>
            <a:off x="7214216" y="4670197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04CDB47-B7B3-614F-D614-A80574856731}"/>
              </a:ext>
            </a:extLst>
          </p:cNvPr>
          <p:cNvCxnSpPr>
            <a:cxnSpLocks/>
          </p:cNvCxnSpPr>
          <p:nvPr/>
        </p:nvCxnSpPr>
        <p:spPr>
          <a:xfrm flipV="1">
            <a:off x="7214216" y="5053143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C92606FA-956F-4C02-52A2-C7DCA5079240}"/>
              </a:ext>
            </a:extLst>
          </p:cNvPr>
          <p:cNvCxnSpPr>
            <a:cxnSpLocks/>
          </p:cNvCxnSpPr>
          <p:nvPr/>
        </p:nvCxnSpPr>
        <p:spPr>
          <a:xfrm flipV="1">
            <a:off x="7563384" y="4670197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F88B942-6A0A-9909-485C-075B0362E393}"/>
              </a:ext>
            </a:extLst>
          </p:cNvPr>
          <p:cNvSpPr txBox="1"/>
          <p:nvPr/>
        </p:nvSpPr>
        <p:spPr>
          <a:xfrm>
            <a:off x="6635665" y="3510522"/>
            <a:ext cx="1505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Ejecuta M</a:t>
            </a:r>
            <a:r>
              <a:rPr lang="es-AR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sobre </a:t>
            </a:r>
            <a:r>
              <a:rPr lang="es-AR" sz="12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2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200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63877D2-306B-E90B-BDD6-94E104A3FDFE}"/>
              </a:ext>
            </a:extLst>
          </p:cNvPr>
          <p:cNvCxnSpPr>
            <a:cxnSpLocks/>
          </p:cNvCxnSpPr>
          <p:nvPr/>
        </p:nvCxnSpPr>
        <p:spPr>
          <a:xfrm flipH="1">
            <a:off x="5641878" y="4849406"/>
            <a:ext cx="1572338" cy="3420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73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5973902" y="226892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BBDCD0E-81EB-4B93-B42C-CD592D0DA956}"/>
              </a:ext>
            </a:extLst>
          </p:cNvPr>
          <p:cNvSpPr/>
          <p:nvPr/>
        </p:nvSpPr>
        <p:spPr>
          <a:xfrm>
            <a:off x="381292" y="217813"/>
            <a:ext cx="11070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2)     Ahora probaremos que D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= {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b="1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} no está en RE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A49A65-4082-45E8-876B-1682E05854B5}"/>
              </a:ext>
            </a:extLst>
          </p:cNvPr>
          <p:cNvSpPr/>
          <p:nvPr/>
        </p:nvSpPr>
        <p:spPr>
          <a:xfrm>
            <a:off x="438540" y="3413793"/>
            <a:ext cx="11753460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Vimos que la diagonal con los 1 y 0 invertidos es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(0, 1, 0, 0, 1, …),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que representa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Notar que dicha diagonal invertida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 diferente de todas las filas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Es diferente de la fila 0 = (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0, 1, 1, 1,…), que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en el primer elemento.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Es diferente de la fila 1 = (1,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0, 1, 0,…), que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en el segundo elemento.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Es diferente de la fila 3 = (0, 0, 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0, 1,…), que representa el lenguaje L(M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), en el tercer elemento.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Etc.</a:t>
            </a:r>
          </a:p>
          <a:p>
            <a:pPr algn="just"/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como las filas representan todos los lenguajes de RE,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es diferente de todos los lenguajes de RE.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lo tanto, se cumple D</a:t>
            </a:r>
            <a:r>
              <a:rPr lang="es-AR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="1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lang="es-AR" sz="1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∉ RE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486B2AF-3A32-4491-AC32-787CC818A4CD}"/>
              </a:ext>
            </a:extLst>
          </p:cNvPr>
          <p:cNvSpPr/>
          <p:nvPr/>
        </p:nvSpPr>
        <p:spPr>
          <a:xfrm>
            <a:off x="2053744" y="1250604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0</a:t>
            </a:r>
            <a:endParaRPr lang="es-MX" sz="1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C03E6EB-CB69-49A5-B634-9538FF84253C}"/>
              </a:ext>
            </a:extLst>
          </p:cNvPr>
          <p:cNvSpPr/>
          <p:nvPr/>
        </p:nvSpPr>
        <p:spPr>
          <a:xfrm>
            <a:off x="2053744" y="1575476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1</a:t>
            </a:r>
            <a:endParaRPr lang="es-MX" sz="1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04573F-D9D6-400C-BB48-5BCD9470508B}"/>
              </a:ext>
            </a:extLst>
          </p:cNvPr>
          <p:cNvSpPr/>
          <p:nvPr/>
        </p:nvSpPr>
        <p:spPr>
          <a:xfrm>
            <a:off x="2041480" y="1883253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2</a:t>
            </a:r>
            <a:endParaRPr lang="es-MX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BB95A2-4764-49A7-9583-5F5649941C1C}"/>
              </a:ext>
            </a:extLst>
          </p:cNvPr>
          <p:cNvSpPr/>
          <p:nvPr/>
        </p:nvSpPr>
        <p:spPr>
          <a:xfrm>
            <a:off x="2053745" y="2191030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3</a:t>
            </a:r>
            <a:endParaRPr lang="es-MX" sz="14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6B35D39-5E13-4A27-B84B-C1A8E1FCB852}"/>
              </a:ext>
            </a:extLst>
          </p:cNvPr>
          <p:cNvSpPr/>
          <p:nvPr/>
        </p:nvSpPr>
        <p:spPr>
          <a:xfrm>
            <a:off x="2053744" y="2532997"/>
            <a:ext cx="5629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fila 4</a:t>
            </a:r>
            <a:endParaRPr lang="es-MX" sz="14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ED3D2340-3AA6-4F27-9947-7A05DAF947D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19B4518B-7414-46A3-96D6-ADB87BE94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330165"/>
              </p:ext>
            </p:extLst>
          </p:nvPr>
        </p:nvGraphicFramePr>
        <p:xfrm>
          <a:off x="2753778" y="738383"/>
          <a:ext cx="6945421" cy="24041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62629">
                  <a:extLst>
                    <a:ext uri="{9D8B030D-6E8A-4147-A177-3AD203B41FA5}">
                      <a16:colId xmlns:a16="http://schemas.microsoft.com/office/drawing/2014/main" val="1414776165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4235091392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365436837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2320782946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836629598"/>
                    </a:ext>
                  </a:extLst>
                </a:gridCol>
                <a:gridCol w="979964">
                  <a:extLst>
                    <a:ext uri="{9D8B030D-6E8A-4147-A177-3AD203B41FA5}">
                      <a16:colId xmlns:a16="http://schemas.microsoft.com/office/drawing/2014/main" val="1183423185"/>
                    </a:ext>
                  </a:extLst>
                </a:gridCol>
                <a:gridCol w="981468">
                  <a:extLst>
                    <a:ext uri="{9D8B030D-6E8A-4147-A177-3AD203B41FA5}">
                      <a16:colId xmlns:a16="http://schemas.microsoft.com/office/drawing/2014/main" val="3363770922"/>
                    </a:ext>
                  </a:extLst>
                </a:gridCol>
              </a:tblGrid>
              <a:tr h="5412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2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T</a:t>
                      </a:r>
                      <a:r>
                        <a:rPr lang="es-ES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32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3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95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530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30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ES" sz="1600" b="1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s-MX" sz="1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4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MX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.....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.....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….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..…</a:t>
                      </a:r>
                      <a:endParaRPr lang="es-MX" sz="1600" b="1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baseline="0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…..</a:t>
                      </a:r>
                      <a:endParaRPr lang="es-MX" sz="1600" b="1" baseline="0" dirty="0"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799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58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C4F8E59B-11D3-410E-ACB8-4411D6F0278B}"/>
              </a:ext>
            </a:extLst>
          </p:cNvPr>
          <p:cNvSpPr/>
          <p:nvPr/>
        </p:nvSpPr>
        <p:spPr>
          <a:xfrm>
            <a:off x="383711" y="269434"/>
            <a:ext cx="1124971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Así encontramos dos primeros lenguajes fuera de R (el lenguaje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por 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diagonalización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partir de estos primeros lenguajes se pueden encontrar otros lenguajes fuera de R y RE, con un método más sencillo, la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(lo veremos en la clase siguiente).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 diagonalización es muy útil para encontrar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primeros lenguajes en un conjunto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Consiste básicamente en encontrar un lenguaje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separador.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Por ejemplo, el lenguaje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actúa como separador entre los conjuntos RE y </a:t>
            </a:r>
            <a:r>
              <a:rPr lang="es-AR" sz="2200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(no pertenece a RE y pertenece a </a:t>
            </a:r>
            <a:r>
              <a:rPr lang="es-AR" sz="1800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s-MX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9392F5-E669-C720-5722-3F060663BA55}"/>
              </a:ext>
            </a:extLst>
          </p:cNvPr>
          <p:cNvSpPr/>
          <p:nvPr/>
        </p:nvSpPr>
        <p:spPr>
          <a:xfrm>
            <a:off x="5878508" y="183385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D603D1-1344-DC76-537D-4660171FF3C6}"/>
              </a:ext>
            </a:extLst>
          </p:cNvPr>
          <p:cNvSpPr/>
          <p:nvPr/>
        </p:nvSpPr>
        <p:spPr>
          <a:xfrm>
            <a:off x="4718747" y="1637560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75775BC-7BA5-901B-C855-8608602D913C}"/>
              </a:ext>
            </a:extLst>
          </p:cNvPr>
          <p:cNvSpPr/>
          <p:nvPr/>
        </p:nvSpPr>
        <p:spPr>
          <a:xfrm>
            <a:off x="6549005" y="1648065"/>
            <a:ext cx="1011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b="1" dirty="0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6896882E-460E-9219-863C-4505BC9300C6}"/>
              </a:ext>
            </a:extLst>
          </p:cNvPr>
          <p:cNvSpPr/>
          <p:nvPr/>
        </p:nvSpPr>
        <p:spPr>
          <a:xfrm>
            <a:off x="3753037" y="1569499"/>
            <a:ext cx="2763748" cy="141305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71443429-AD07-9331-33FA-602694DFB361}"/>
              </a:ext>
            </a:extLst>
          </p:cNvPr>
          <p:cNvSpPr/>
          <p:nvPr/>
        </p:nvSpPr>
        <p:spPr>
          <a:xfrm>
            <a:off x="5494117" y="1577769"/>
            <a:ext cx="2763747" cy="140478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049BBCB-77E5-D9D4-D52E-EB53868915E8}"/>
              </a:ext>
            </a:extLst>
          </p:cNvPr>
          <p:cNvSpPr/>
          <p:nvPr/>
        </p:nvSpPr>
        <p:spPr>
          <a:xfrm>
            <a:off x="6889036" y="2416715"/>
            <a:ext cx="4315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FC5355-71FB-1F76-F538-5D861CF5E562}"/>
              </a:ext>
            </a:extLst>
          </p:cNvPr>
          <p:cNvSpPr/>
          <p:nvPr/>
        </p:nvSpPr>
        <p:spPr>
          <a:xfrm>
            <a:off x="4789724" y="2416715"/>
            <a:ext cx="3321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MX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F852841-6746-859B-A62C-D58FECE00AA1}"/>
              </a:ext>
            </a:extLst>
          </p:cNvPr>
          <p:cNvSpPr/>
          <p:nvPr/>
        </p:nvSpPr>
        <p:spPr>
          <a:xfrm>
            <a:off x="5774312" y="1063290"/>
            <a:ext cx="4363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200" dirty="0"/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2E2DD09C-FA70-09AA-DBAF-47A331802A58}"/>
              </a:ext>
            </a:extLst>
          </p:cNvPr>
          <p:cNvSpPr/>
          <p:nvPr/>
        </p:nvSpPr>
        <p:spPr>
          <a:xfrm>
            <a:off x="3085216" y="1099212"/>
            <a:ext cx="5825775" cy="229316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ADB79A-20EE-CEAB-6CDF-FCE28CA7F28C}"/>
              </a:ext>
            </a:extLst>
          </p:cNvPr>
          <p:cNvSpPr txBox="1"/>
          <p:nvPr/>
        </p:nvSpPr>
        <p:spPr>
          <a:xfrm>
            <a:off x="6933664" y="3429000"/>
            <a:ext cx="2738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rechaza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AB95AF2-79EA-9F3C-913D-F3B7DC32BB3F}"/>
              </a:ext>
            </a:extLst>
          </p:cNvPr>
          <p:cNvSpPr txBox="1"/>
          <p:nvPr/>
        </p:nvSpPr>
        <p:spPr>
          <a:xfrm>
            <a:off x="2778234" y="3412617"/>
            <a:ext cx="251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 = {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acepta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0196C015-C3F3-7955-BE38-18B8400D66F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780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711941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4277005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BBDCD0E-81EB-4B93-B42C-CD592D0DA956}"/>
              </a:ext>
            </a:extLst>
          </p:cNvPr>
          <p:cNvSpPr/>
          <p:nvPr/>
        </p:nvSpPr>
        <p:spPr>
          <a:xfrm>
            <a:off x="319892" y="814707"/>
            <a:ext cx="11428763" cy="594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prueba por diagonalización que el conjunto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los números reales es más grande que el conjunto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 los números naturales (enteros positivos), es decir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los números reales no se pueden enumerar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Supongamos que no se cumple |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&gt; |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|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llegaremos a una contradicción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Sea, por ej., la siguiente enumeración de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todos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los números reales entre el 0 y el 1 (alcanza con considerar este intervalo): </a:t>
            </a:r>
          </a:p>
          <a:p>
            <a:pPr marL="360000"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AR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0,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287…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0,8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50…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0,13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0…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0,275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				etc.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sea el número coloreado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0,1581…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Sumando 1 a sus decimales obtenemos 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0,2692…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Veamos que este número entre el 0 y el 1 no está en la enumeración (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contradicción de acuerdo a lo que asumimos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360000" algn="just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0,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692… difiere de 0,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287… en el primer decimal.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0,2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92… difiere de 0,8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50… en el segundo decimal.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0,26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2… difiere de 0,13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0… en el tercer decimal.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91083B-21A8-4DD2-9B26-324EB184788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9865E6-37F5-A38A-FC87-D0968C54B959}"/>
              </a:ext>
            </a:extLst>
          </p:cNvPr>
          <p:cNvSpPr/>
          <p:nvPr/>
        </p:nvSpPr>
        <p:spPr>
          <a:xfrm>
            <a:off x="229974" y="152941"/>
            <a:ext cx="116421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Otro ejemplo de diagonalización</a:t>
            </a: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F2BE8E76-7090-3D9C-6896-27EF30AC36C1}"/>
              </a:ext>
            </a:extLst>
          </p:cNvPr>
          <p:cNvSpPr/>
          <p:nvPr/>
        </p:nvSpPr>
        <p:spPr>
          <a:xfrm>
            <a:off x="4385399" y="1870609"/>
            <a:ext cx="645134" cy="79433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B04BCB6B-EA12-FB97-57F6-93A8510BBFEC}"/>
              </a:ext>
            </a:extLst>
          </p:cNvPr>
          <p:cNvSpPr/>
          <p:nvPr/>
        </p:nvSpPr>
        <p:spPr>
          <a:xfrm>
            <a:off x="5414683" y="1870609"/>
            <a:ext cx="645134" cy="794338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89F0F30-FE1D-7C71-04D8-8CB0E3CA8C8F}"/>
              </a:ext>
            </a:extLst>
          </p:cNvPr>
          <p:cNvCxnSpPr>
            <a:cxnSpLocks/>
          </p:cNvCxnSpPr>
          <p:nvPr/>
        </p:nvCxnSpPr>
        <p:spPr>
          <a:xfrm>
            <a:off x="4791205" y="2044174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423FD56A-62CF-5B18-D40B-2ABB2D3F3106}"/>
              </a:ext>
            </a:extLst>
          </p:cNvPr>
          <p:cNvCxnSpPr>
            <a:cxnSpLocks/>
          </p:cNvCxnSpPr>
          <p:nvPr/>
        </p:nvCxnSpPr>
        <p:spPr>
          <a:xfrm>
            <a:off x="4791205" y="2196394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3A982674-88B8-C391-1497-330FF91BEDA7}"/>
              </a:ext>
            </a:extLst>
          </p:cNvPr>
          <p:cNvCxnSpPr>
            <a:cxnSpLocks/>
          </p:cNvCxnSpPr>
          <p:nvPr/>
        </p:nvCxnSpPr>
        <p:spPr>
          <a:xfrm>
            <a:off x="4791205" y="2353223"/>
            <a:ext cx="9144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C271446-0322-3D2D-CDBD-5CB7557E7EDC}"/>
              </a:ext>
            </a:extLst>
          </p:cNvPr>
          <p:cNvSpPr txBox="1"/>
          <p:nvPr/>
        </p:nvSpPr>
        <p:spPr>
          <a:xfrm>
            <a:off x="5486059" y="1502436"/>
            <a:ext cx="366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endParaRPr lang="es-AR" sz="20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2E06995-09BB-9090-D6DB-46D287C7B9EB}"/>
              </a:ext>
            </a:extLst>
          </p:cNvPr>
          <p:cNvSpPr txBox="1"/>
          <p:nvPr/>
        </p:nvSpPr>
        <p:spPr>
          <a:xfrm>
            <a:off x="4428433" y="1507140"/>
            <a:ext cx="413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endParaRPr lang="es-AR" sz="2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EB8E1A-B625-1277-2972-95D599C1BF28}"/>
              </a:ext>
            </a:extLst>
          </p:cNvPr>
          <p:cNvSpPr txBox="1"/>
          <p:nvPr/>
        </p:nvSpPr>
        <p:spPr>
          <a:xfrm>
            <a:off x="4569087" y="1934482"/>
            <a:ext cx="150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AR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EABD757-ECCC-E531-A579-252F9F942AE3}"/>
              </a:ext>
            </a:extLst>
          </p:cNvPr>
          <p:cNvSpPr txBox="1"/>
          <p:nvPr/>
        </p:nvSpPr>
        <p:spPr>
          <a:xfrm>
            <a:off x="6339739" y="1827062"/>
            <a:ext cx="51016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Hay más números reales que números naturales.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En símbolos: </a:t>
            </a:r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sz="1400" b="1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| &gt; |</a:t>
            </a:r>
            <a:r>
              <a:rPr lang="es-AR" sz="1400" b="1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|.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(|C| denota el tamaño o la cardinalidad del conjunto C).</a:t>
            </a:r>
            <a:endParaRPr lang="es-AR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0714B7F-5BBD-5EF6-D066-A32C1376513B}"/>
              </a:ext>
            </a:extLst>
          </p:cNvPr>
          <p:cNvSpPr txBox="1"/>
          <p:nvPr/>
        </p:nvSpPr>
        <p:spPr>
          <a:xfrm>
            <a:off x="5701343" y="1934482"/>
            <a:ext cx="150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  <a:p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BE2BD8-04D6-CCB7-C5BE-7A1ECB6BEBE7}"/>
              </a:ext>
            </a:extLst>
          </p:cNvPr>
          <p:cNvSpPr txBox="1"/>
          <p:nvPr/>
        </p:nvSpPr>
        <p:spPr>
          <a:xfrm>
            <a:off x="7544296" y="5773988"/>
            <a:ext cx="3225304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AR" sz="11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lo tanto, |</a:t>
            </a:r>
            <a:r>
              <a:rPr lang="es-AR" sz="1800" b="1" dirty="0">
                <a:solidFill>
                  <a:srgbClr val="0070C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&gt; |</a:t>
            </a:r>
            <a:r>
              <a:rPr lang="es-AR" sz="1800" b="1" dirty="0">
                <a:solidFill>
                  <a:srgbClr val="0070C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</p:spTree>
    <p:extLst>
      <p:ext uri="{BB962C8B-B14F-4D97-AF65-F5344CB8AC3E}">
        <p14:creationId xmlns:p14="http://schemas.microsoft.com/office/powerpoint/2010/main" val="261456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BBDCD0E-81EB-4B93-B42C-CD592D0DA956}"/>
              </a:ext>
            </a:extLst>
          </p:cNvPr>
          <p:cNvSpPr/>
          <p:nvPr/>
        </p:nvSpPr>
        <p:spPr>
          <a:xfrm>
            <a:off x="197842" y="733184"/>
            <a:ext cx="1189574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El conjunto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los números reales es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mucho más grande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el conjunto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de los números naturales:</a:t>
            </a: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4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y como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= |</a:t>
            </a:r>
            <a:r>
              <a:rPr lang="es-AR" sz="2000" b="1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= |RE|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(ver abajo), entonces </a:t>
            </a:r>
            <a:r>
              <a:rPr lang="es-AR" sz="2000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 mucho más grande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que RE:</a:t>
            </a: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= |RE|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porque las MT se pueden enumerar, y entonces también los lenguajes de RE se pueden enumerar.</a:t>
            </a: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= |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porque:</a:t>
            </a:r>
          </a:p>
          <a:p>
            <a:pPr algn="just"/>
            <a:endParaRPr lang="es-AR" sz="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prueba que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= |P(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)|,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siendo P(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 el conjunto de partes de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(el conjunto de todos sus subconjuntos).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 = |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</a:rPr>
              <a:t>Ʃ*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porque las cadenas de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</a:rPr>
              <a:t>Ʃ*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 pueden enumerar. Así,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|P(</a:t>
            </a:r>
            <a:r>
              <a:rPr lang="es-AR" b="1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)| = |P(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</a:rPr>
              <a:t>Ʃ*)|.</a:t>
            </a:r>
          </a:p>
          <a:p>
            <a:pPr algn="just"/>
            <a:endParaRPr lang="es-AR" sz="5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</a:rPr>
              <a:t>     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Ʃ*) = </a:t>
            </a:r>
            <a:r>
              <a:rPr lang="es-AR" b="1" dirty="0">
                <a:latin typeface="Lucida Calligraphy" panose="03010101010101010101" pitchFamily="66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porque </a:t>
            </a:r>
            <a:r>
              <a:rPr lang="es-AR" dirty="0">
                <a:latin typeface="Lucida Calligraphy" panose="03010101010101010101" pitchFamily="66" charset="0"/>
                <a:ea typeface="Calibri" panose="020F0502020204030204" pitchFamily="34" charset="0"/>
                <a:cs typeface="Arial" panose="020B0604020202020204" pitchFamily="34" charset="0"/>
              </a:rPr>
              <a:t>L </a:t>
            </a:r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 el conjunto de todos los subconjuntos de Ʃ*. Así, 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Ʃ*)| = |</a:t>
            </a:r>
            <a:r>
              <a:rPr lang="es-AR" b="1" dirty="0">
                <a:latin typeface="Lucida Calligraphy" panose="03010101010101010101" pitchFamily="66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s-AR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|.</a:t>
            </a:r>
          </a:p>
          <a:p>
            <a:pPr algn="just"/>
            <a:endParaRPr lang="es-AR" sz="5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En consecuencia: 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= |P(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)| = 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|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Ʃ*)| = |</a:t>
            </a:r>
            <a:r>
              <a:rPr lang="es-AR" b="1" dirty="0">
                <a:solidFill>
                  <a:srgbClr val="C00000"/>
                </a:solidFill>
                <a:latin typeface="Lucida Calligraphy" panose="03010101010101010101" pitchFamily="66" charset="0"/>
                <a:ea typeface="Calibri" panose="020F0502020204030204" pitchFamily="34" charset="0"/>
                <a:cs typeface="Arial" panose="020B0604020202020204" pitchFamily="34" charset="0"/>
              </a:rPr>
              <a:t>L</a:t>
            </a:r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|.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91083B-21A8-4DD2-9B26-324EB184788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1C95CD-B5FC-9A41-2045-1197B01810E8}"/>
              </a:ext>
            </a:extLst>
          </p:cNvPr>
          <p:cNvSpPr/>
          <p:nvPr/>
        </p:nvSpPr>
        <p:spPr>
          <a:xfrm>
            <a:off x="296260" y="184878"/>
            <a:ext cx="110500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¡OTRA MALA NOTICIA!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EE4D3C8A-8D45-E527-F816-132D8670E7E5}"/>
              </a:ext>
            </a:extLst>
          </p:cNvPr>
          <p:cNvSpPr/>
          <p:nvPr/>
        </p:nvSpPr>
        <p:spPr>
          <a:xfrm>
            <a:off x="5727335" y="1647761"/>
            <a:ext cx="1421296" cy="52322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8EFD5598-7655-DA38-1280-D5B226E0C009}"/>
              </a:ext>
            </a:extLst>
          </p:cNvPr>
          <p:cNvSpPr/>
          <p:nvPr/>
        </p:nvSpPr>
        <p:spPr>
          <a:xfrm>
            <a:off x="3767321" y="1239320"/>
            <a:ext cx="4423410" cy="101777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874C91B-F806-23CD-2AAE-EC27EDCA5CAA}"/>
              </a:ext>
            </a:extLst>
          </p:cNvPr>
          <p:cNvSpPr txBox="1"/>
          <p:nvPr/>
        </p:nvSpPr>
        <p:spPr>
          <a:xfrm>
            <a:off x="5011701" y="1314029"/>
            <a:ext cx="366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Lucida Calligraphy" panose="03010101010101010101" pitchFamily="66" charset="0"/>
                <a:cs typeface="Arial" panose="020B0604020202020204" pitchFamily="34" charset="0"/>
              </a:rPr>
              <a:t>R</a:t>
            </a:r>
            <a:endParaRPr lang="es-AR" sz="2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211C55F-4EE3-5ACE-6D69-70EFDD82B133}"/>
              </a:ext>
            </a:extLst>
          </p:cNvPr>
          <p:cNvSpPr txBox="1"/>
          <p:nvPr/>
        </p:nvSpPr>
        <p:spPr>
          <a:xfrm>
            <a:off x="6202638" y="1733688"/>
            <a:ext cx="413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latin typeface="Lucida Calligraphy" panose="03010101010101010101" pitchFamily="66" charset="0"/>
                <a:cs typeface="Arial" panose="020B0604020202020204" pitchFamily="34" charset="0"/>
              </a:rPr>
              <a:t>N</a:t>
            </a:r>
            <a:endParaRPr lang="es-AR" sz="2000" dirty="0"/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F8047C40-7469-3A0D-84A8-1D7608BF71A6}"/>
              </a:ext>
            </a:extLst>
          </p:cNvPr>
          <p:cNvSpPr/>
          <p:nvPr/>
        </p:nvSpPr>
        <p:spPr>
          <a:xfrm>
            <a:off x="5771184" y="3423910"/>
            <a:ext cx="1421296" cy="52322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F372F250-B53D-E8B3-804B-0C5AF222F607}"/>
              </a:ext>
            </a:extLst>
          </p:cNvPr>
          <p:cNvSpPr/>
          <p:nvPr/>
        </p:nvSpPr>
        <p:spPr>
          <a:xfrm>
            <a:off x="3811170" y="3015469"/>
            <a:ext cx="4423410" cy="101777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8B8277-7ACA-2BFB-9D4C-B79212BE862B}"/>
              </a:ext>
            </a:extLst>
          </p:cNvPr>
          <p:cNvSpPr txBox="1"/>
          <p:nvPr/>
        </p:nvSpPr>
        <p:spPr>
          <a:xfrm>
            <a:off x="5055550" y="3090178"/>
            <a:ext cx="3662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Lucida Calligraphy" panose="03010101010101010101" pitchFamily="66" charset="0"/>
                <a:cs typeface="Arial" panose="020B0604020202020204" pitchFamily="34" charset="0"/>
              </a:rPr>
              <a:t>L</a:t>
            </a:r>
            <a:endParaRPr lang="es-AR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4275B4-203B-9B10-9C29-05BA713B2B6D}"/>
              </a:ext>
            </a:extLst>
          </p:cNvPr>
          <p:cNvSpPr txBox="1"/>
          <p:nvPr/>
        </p:nvSpPr>
        <p:spPr>
          <a:xfrm>
            <a:off x="6204310" y="3476130"/>
            <a:ext cx="555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A96D6F-B0A0-27F7-BDB3-7F3C6303B539}"/>
              </a:ext>
            </a:extLst>
          </p:cNvPr>
          <p:cNvSpPr txBox="1"/>
          <p:nvPr/>
        </p:nvSpPr>
        <p:spPr>
          <a:xfrm>
            <a:off x="8371374" y="3201188"/>
            <a:ext cx="3410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 muchos más problemas</a:t>
            </a:r>
          </a:p>
          <a:p>
            <a:r>
              <a:rPr lang="es-AR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problemas computables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5729B5CF-43AE-BF10-6B26-B781353941B9}"/>
              </a:ext>
            </a:extLst>
          </p:cNvPr>
          <p:cNvCxnSpPr>
            <a:cxnSpLocks/>
          </p:cNvCxnSpPr>
          <p:nvPr/>
        </p:nvCxnSpPr>
        <p:spPr>
          <a:xfrm flipV="1">
            <a:off x="8762739" y="1516024"/>
            <a:ext cx="2758835" cy="28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E99FDA7-7D86-49F4-01CB-D29DE1023348}"/>
              </a:ext>
            </a:extLst>
          </p:cNvPr>
          <p:cNvSpPr txBox="1"/>
          <p:nvPr/>
        </p:nvSpPr>
        <p:spPr>
          <a:xfrm>
            <a:off x="8685483" y="1659712"/>
            <a:ext cx="2947943" cy="369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 .  .  .  .  .  .  .  .  .  .  .  .  .  .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5727E9-D20B-867E-C385-F854AEBFD4C2}"/>
              </a:ext>
            </a:extLst>
          </p:cNvPr>
          <p:cNvSpPr txBox="1"/>
          <p:nvPr/>
        </p:nvSpPr>
        <p:spPr>
          <a:xfrm>
            <a:off x="9832693" y="1248004"/>
            <a:ext cx="911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reales</a:t>
            </a:r>
            <a:endParaRPr lang="es-AR" sz="14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4B76AD-14F0-510E-A088-E1EF1A1C20B3}"/>
              </a:ext>
            </a:extLst>
          </p:cNvPr>
          <p:cNvSpPr txBox="1"/>
          <p:nvPr/>
        </p:nvSpPr>
        <p:spPr>
          <a:xfrm>
            <a:off x="9743240" y="1916712"/>
            <a:ext cx="1090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naturales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68293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BE663076-61C3-401B-B6E3-1DDB4688C8D6}"/>
              </a:ext>
            </a:extLst>
          </p:cNvPr>
          <p:cNvSpPr/>
          <p:nvPr/>
        </p:nvSpPr>
        <p:spPr>
          <a:xfrm>
            <a:off x="6685965" y="504143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171072" y="817230"/>
            <a:ext cx="120209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HP = {(&lt;M&gt;, w) | M para a partir de w}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está entre los lenguajes más difíciles de RE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forma de verlo es probando que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si HP fuera recursivo, entonces todo lenguaje de RE sería recursiv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o:</a:t>
            </a:r>
          </a:p>
          <a:p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MX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que decide HP y M una MT que reconoce algún lenguaje L de RE. La siguiente MT M´ decide 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es-AR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5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046F03-F105-0A9B-80E6-3AE6B12EEB81}"/>
              </a:ext>
            </a:extLst>
          </p:cNvPr>
          <p:cNvSpPr/>
          <p:nvPr/>
        </p:nvSpPr>
        <p:spPr>
          <a:xfrm>
            <a:off x="9134192" y="4521945"/>
            <a:ext cx="4667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𝔏</a:t>
            </a:r>
            <a:endParaRPr lang="es-MX" sz="3600" dirty="0"/>
          </a:p>
        </p:txBody>
      </p:sp>
      <p:sp>
        <p:nvSpPr>
          <p:cNvPr id="19" name="Diagrama de flujo: conector 18">
            <a:extLst>
              <a:ext uri="{FF2B5EF4-FFF2-40B4-BE49-F238E27FC236}">
                <a16:creationId xmlns:a16="http://schemas.microsoft.com/office/drawing/2014/main" id="{48E1F155-80E9-DB56-C5B0-E0EBCD9ED4D2}"/>
              </a:ext>
            </a:extLst>
          </p:cNvPr>
          <p:cNvSpPr/>
          <p:nvPr/>
        </p:nvSpPr>
        <p:spPr>
          <a:xfrm>
            <a:off x="7462547" y="4960127"/>
            <a:ext cx="2249584" cy="1190899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Diagrama de flujo: conector 19">
            <a:extLst>
              <a:ext uri="{FF2B5EF4-FFF2-40B4-BE49-F238E27FC236}">
                <a16:creationId xmlns:a16="http://schemas.microsoft.com/office/drawing/2014/main" id="{5806AAA9-810C-9A1C-0901-1EA9B19A5848}"/>
              </a:ext>
            </a:extLst>
          </p:cNvPr>
          <p:cNvSpPr/>
          <p:nvPr/>
        </p:nvSpPr>
        <p:spPr>
          <a:xfrm>
            <a:off x="8996374" y="4958655"/>
            <a:ext cx="2479108" cy="1140260"/>
          </a:xfrm>
          <a:prstGeom prst="flowChartConnector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ECED0E66-0483-E266-F374-EEB17CF7EBDE}"/>
              </a:ext>
            </a:extLst>
          </p:cNvPr>
          <p:cNvSpPr/>
          <p:nvPr/>
        </p:nvSpPr>
        <p:spPr>
          <a:xfrm>
            <a:off x="7292430" y="4579469"/>
            <a:ext cx="4340996" cy="1926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FDA38D3-72E5-D1E8-AADF-D26576FCD967}"/>
              </a:ext>
            </a:extLst>
          </p:cNvPr>
          <p:cNvSpPr/>
          <p:nvPr/>
        </p:nvSpPr>
        <p:spPr>
          <a:xfrm>
            <a:off x="9213068" y="532288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4DC2FB5-726F-5364-8F75-6BE8350970AB}"/>
              </a:ext>
            </a:extLst>
          </p:cNvPr>
          <p:cNvSpPr/>
          <p:nvPr/>
        </p:nvSpPr>
        <p:spPr>
          <a:xfrm>
            <a:off x="8999995" y="5141172"/>
            <a:ext cx="754312" cy="80313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8FF7D4A-A4A6-D529-0F9D-900318359E71}"/>
              </a:ext>
            </a:extLst>
          </p:cNvPr>
          <p:cNvSpPr txBox="1"/>
          <p:nvPr/>
        </p:nvSpPr>
        <p:spPr>
          <a:xfrm>
            <a:off x="7479231" y="5386299"/>
            <a:ext cx="6947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74298B0-6D4B-FEE7-902B-86C9799A1163}"/>
              </a:ext>
            </a:extLst>
          </p:cNvPr>
          <p:cNvSpPr/>
          <p:nvPr/>
        </p:nvSpPr>
        <p:spPr>
          <a:xfrm>
            <a:off x="8144658" y="5007266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</a:t>
            </a:r>
            <a:endParaRPr lang="es-MX" sz="20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F85F778-3250-40DC-C79A-635DD80D0BB2}"/>
              </a:ext>
            </a:extLst>
          </p:cNvPr>
          <p:cNvSpPr/>
          <p:nvPr/>
        </p:nvSpPr>
        <p:spPr>
          <a:xfrm>
            <a:off x="9912250" y="4974261"/>
            <a:ext cx="15632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CO-RE</a:t>
            </a:r>
            <a:endParaRPr lang="es-MX" sz="20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40392D1-9C3C-52B5-4E4B-E31DD36B7EE0}"/>
              </a:ext>
            </a:extLst>
          </p:cNvPr>
          <p:cNvSpPr/>
          <p:nvPr/>
        </p:nvSpPr>
        <p:spPr>
          <a:xfrm>
            <a:off x="9232592" y="5303265"/>
            <a:ext cx="370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sz="200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3B8B8F3-AF9C-55DC-636F-1D6B054CF51C}"/>
              </a:ext>
            </a:extLst>
          </p:cNvPr>
          <p:cNvSpPr/>
          <p:nvPr/>
        </p:nvSpPr>
        <p:spPr>
          <a:xfrm>
            <a:off x="171072" y="162186"/>
            <a:ext cx="116880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 visita al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MX" sz="28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lang="es-MX" sz="28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A14958B-12CD-6C27-007D-809BEA9FFF92}"/>
              </a:ext>
            </a:extLst>
          </p:cNvPr>
          <p:cNvSpPr txBox="1"/>
          <p:nvPr/>
        </p:nvSpPr>
        <p:spPr>
          <a:xfrm>
            <a:off x="6181536" y="2899889"/>
            <a:ext cx="5705741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primero decide si M para a partir de w.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Si M no para, M´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rechaza (M no acepta w).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Si M para, M´ ejecuta M a partir de w y responde como M.</a:t>
            </a:r>
          </a:p>
          <a:p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8609E645-5843-886E-F0A8-93D9BE1028C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322CF96-58AE-A371-0E28-8C9447B45D91}"/>
              </a:ext>
            </a:extLst>
          </p:cNvPr>
          <p:cNvSpPr txBox="1"/>
          <p:nvPr/>
        </p:nvSpPr>
        <p:spPr>
          <a:xfrm>
            <a:off x="821172" y="5188416"/>
            <a:ext cx="68190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HP está en la frontera de RE, lo más lejos posible de R.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dice que es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RE-completo,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identifica el grado de dificultad</a:t>
            </a:r>
          </a:p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 RE, representa el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problema general de la 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indecibilidad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6E0D3F1-FB57-C75F-56B1-1ED0F60C95C1}"/>
              </a:ext>
            </a:extLst>
          </p:cNvPr>
          <p:cNvSpPr/>
          <p:nvPr/>
        </p:nvSpPr>
        <p:spPr>
          <a:xfrm>
            <a:off x="2324316" y="3141736"/>
            <a:ext cx="590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lang="es-MX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6FDA306-2D37-25E5-08D2-AD7C1DE60322}"/>
              </a:ext>
            </a:extLst>
          </p:cNvPr>
          <p:cNvSpPr/>
          <p:nvPr/>
        </p:nvSpPr>
        <p:spPr>
          <a:xfrm>
            <a:off x="3986539" y="3141736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A7E347F6-D436-9331-4C74-1D7BC0FE9843}"/>
              </a:ext>
            </a:extLst>
          </p:cNvPr>
          <p:cNvSpPr/>
          <p:nvPr/>
        </p:nvSpPr>
        <p:spPr>
          <a:xfrm>
            <a:off x="3153397" y="2197685"/>
            <a:ext cx="543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M´</a:t>
            </a:r>
            <a:endParaRPr lang="es-MX" sz="2400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5147A8D7-1549-8399-C179-CAE495C460E4}"/>
              </a:ext>
            </a:extLst>
          </p:cNvPr>
          <p:cNvSpPr/>
          <p:nvPr/>
        </p:nvSpPr>
        <p:spPr>
          <a:xfrm>
            <a:off x="666717" y="3073478"/>
            <a:ext cx="9973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(&lt;M&gt;, w)</a:t>
            </a:r>
            <a:endParaRPr lang="es-MX" sz="1600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F96AFF74-061F-3327-4206-61553521806F}"/>
              </a:ext>
            </a:extLst>
          </p:cNvPr>
          <p:cNvSpPr/>
          <p:nvPr/>
        </p:nvSpPr>
        <p:spPr>
          <a:xfrm>
            <a:off x="6031057" y="2441518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05BCE66-1C13-E308-5BF5-C6BB98CBA215}"/>
              </a:ext>
            </a:extLst>
          </p:cNvPr>
          <p:cNvSpPr/>
          <p:nvPr/>
        </p:nvSpPr>
        <p:spPr>
          <a:xfrm>
            <a:off x="2131944" y="294141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E034D10-D676-B309-ADFB-A798CF4A745F}"/>
              </a:ext>
            </a:extLst>
          </p:cNvPr>
          <p:cNvCxnSpPr>
            <a:cxnSpLocks/>
          </p:cNvCxnSpPr>
          <p:nvPr/>
        </p:nvCxnSpPr>
        <p:spPr>
          <a:xfrm flipV="1">
            <a:off x="547839" y="3370611"/>
            <a:ext cx="1573586" cy="79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D5DFE2AA-EE98-AD72-7E9A-12A58AE2BC56}"/>
              </a:ext>
            </a:extLst>
          </p:cNvPr>
          <p:cNvCxnSpPr>
            <a:cxnSpLocks/>
          </p:cNvCxnSpPr>
          <p:nvPr/>
        </p:nvCxnSpPr>
        <p:spPr>
          <a:xfrm>
            <a:off x="3039314" y="3401163"/>
            <a:ext cx="2990345" cy="7106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Diagrama de flujo: proceso 55">
            <a:extLst>
              <a:ext uri="{FF2B5EF4-FFF2-40B4-BE49-F238E27FC236}">
                <a16:creationId xmlns:a16="http://schemas.microsoft.com/office/drawing/2014/main" id="{C70EF51F-D55B-B636-142B-B3DCE782E07C}"/>
              </a:ext>
            </a:extLst>
          </p:cNvPr>
          <p:cNvSpPr/>
          <p:nvPr/>
        </p:nvSpPr>
        <p:spPr>
          <a:xfrm>
            <a:off x="1629535" y="2636787"/>
            <a:ext cx="3535424" cy="1473477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C26141B1-8D9F-B55E-1478-A0CA400CB826}"/>
              </a:ext>
            </a:extLst>
          </p:cNvPr>
          <p:cNvSpPr/>
          <p:nvPr/>
        </p:nvSpPr>
        <p:spPr>
          <a:xfrm>
            <a:off x="3019905" y="3090141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endParaRPr lang="es-MX" sz="1600" dirty="0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D1D36A1-0353-26D4-6569-83121A1CDC19}"/>
              </a:ext>
            </a:extLst>
          </p:cNvPr>
          <p:cNvSpPr/>
          <p:nvPr/>
        </p:nvSpPr>
        <p:spPr>
          <a:xfrm>
            <a:off x="6097259" y="3922979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06E7A1A0-7ED9-4CC7-E24E-4EB1BF2D1695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3050760" y="3370611"/>
            <a:ext cx="664276" cy="183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596ECBA-2C9B-5764-6D84-17B484340D69}"/>
              </a:ext>
            </a:extLst>
          </p:cNvPr>
          <p:cNvSpPr/>
          <p:nvPr/>
        </p:nvSpPr>
        <p:spPr>
          <a:xfrm>
            <a:off x="3715036" y="293180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B2AF60AD-C3CA-72E4-CB0B-864C09F2D3EF}"/>
              </a:ext>
            </a:extLst>
          </p:cNvPr>
          <p:cNvCxnSpPr>
            <a:cxnSpLocks/>
          </p:cNvCxnSpPr>
          <p:nvPr/>
        </p:nvCxnSpPr>
        <p:spPr>
          <a:xfrm>
            <a:off x="4642289" y="3412047"/>
            <a:ext cx="1401621" cy="7139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D6F8471C-66B4-E330-CEF8-D664ED22B61B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4629436" y="2629501"/>
            <a:ext cx="1427328" cy="759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F296041-5DAF-3522-1FB3-C936A3DD5BE9}"/>
              </a:ext>
            </a:extLst>
          </p:cNvPr>
          <p:cNvSpPr/>
          <p:nvPr/>
        </p:nvSpPr>
        <p:spPr>
          <a:xfrm>
            <a:off x="3018143" y="3383801"/>
            <a:ext cx="4411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</a:t>
            </a:r>
            <a:endParaRPr lang="es-MX" sz="1600" dirty="0"/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EE4D39B5-36BB-2E07-CEBB-7D6C61315C1D}"/>
              </a:ext>
            </a:extLst>
          </p:cNvPr>
          <p:cNvSpPr txBox="1"/>
          <p:nvPr/>
        </p:nvSpPr>
        <p:spPr>
          <a:xfrm>
            <a:off x="3451682" y="3096252"/>
            <a:ext cx="2631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261561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863484F-1DED-4AE4-AB57-28DE336C6FCB}"/>
              </a:ext>
            </a:extLst>
          </p:cNvPr>
          <p:cNvSpPr/>
          <p:nvPr/>
        </p:nvSpPr>
        <p:spPr>
          <a:xfrm>
            <a:off x="218872" y="181097"/>
            <a:ext cx="11479258" cy="654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s-MX" sz="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Siguiendo con lo anterior, si HP estuviera en R, es decir, si existiera una MT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que decide HP, entonces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muchos enunciados matemáticos se probarían fácilmente. 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Resolución: 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- Se construye una MT M que va probando con 4, 6, 8, 10, etc., 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   y que </a:t>
            </a:r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MX" u="sng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 encuentra un par que no cumple la conjetura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- Se ejecuta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a partir de &lt;M&gt; y se acepta la conjetura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rechaza,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es decir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 no para. </a:t>
            </a:r>
          </a:p>
          <a:p>
            <a:pPr algn="just">
              <a:lnSpc>
                <a:spcPct val="150000"/>
              </a:lnSpc>
            </a:pPr>
            <a:endParaRPr lang="es-MX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>
              <a:lnSpc>
                <a:spcPct val="150000"/>
              </a:lnSpc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>
              <a:lnSpc>
                <a:spcPct val="150000"/>
              </a:lnSpc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>
              <a:lnSpc>
                <a:spcPct val="150000"/>
              </a:lnSpc>
            </a:pPr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Resolución: 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- Se construye una MT M que va probando con todas las combinaciones de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   x, y, z, n, y que </a:t>
            </a:r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s-MX" u="sng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MX" u="sng" dirty="0">
                <a:latin typeface="Arial" panose="020B0604020202020204" pitchFamily="34" charset="0"/>
                <a:cs typeface="Arial" panose="020B0604020202020204" pitchFamily="34" charset="0"/>
              </a:rPr>
              <a:t> encuentra una tupla que no cumple el teorema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6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- Se ejecuta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HP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 partir de &lt;M&gt; y se acepta el teorema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rechaza,</a:t>
            </a:r>
          </a:p>
          <a:p>
            <a:pPr marL="36000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es decir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M no para.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lide Number Placeholder 2">
            <a:extLst>
              <a:ext uri="{FF2B5EF4-FFF2-40B4-BE49-F238E27FC236}">
                <a16:creationId xmlns:a16="http://schemas.microsoft.com/office/drawing/2014/main" id="{1B197B32-591E-4F29-A601-91FBA5FD694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6BD130-08A4-C561-1B3A-EC8AC1237252}"/>
              </a:ext>
            </a:extLst>
          </p:cNvPr>
          <p:cNvSpPr txBox="1"/>
          <p:nvPr/>
        </p:nvSpPr>
        <p:spPr>
          <a:xfrm>
            <a:off x="640638" y="1159565"/>
            <a:ext cx="11057492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Conjetura de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Goldbach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(no resuelta al día de hoy)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Todo número par mayor que 2 es la suma de 2 números primos: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 = 2 + 2,    6 = 3 + 3,    8 = 3 + 5,    10 = 5 + 5,    12 = 5 + 7,    14 = 7 + 7,    …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4C9EC1A-F3E8-667F-0D31-52B216951C31}"/>
              </a:ext>
            </a:extLst>
          </p:cNvPr>
          <p:cNvSpPr txBox="1"/>
          <p:nvPr/>
        </p:nvSpPr>
        <p:spPr>
          <a:xfrm>
            <a:off x="733093" y="4124799"/>
            <a:ext cx="10965037" cy="9233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Ultimo Teorema de Fermat (resuelto por A.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Wiles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en 1995)</a:t>
            </a: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el marco de los números naturales, no existe n &gt; 2 tal que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30000" dirty="0" err="1"/>
              <a:t>n</a:t>
            </a:r>
            <a:r>
              <a:rPr lang="es-AR" baseline="30000" dirty="0"/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s-AR" baseline="30000" dirty="0" err="1"/>
              <a:t>n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s-AR" baseline="30000" dirty="0" err="1"/>
              <a:t>n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(salvo las soluciones triviales con los valores 1 y 0).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3DBC74E-6DBF-1DD3-17FC-C8088976B31A}"/>
              </a:ext>
            </a:extLst>
          </p:cNvPr>
          <p:cNvCxnSpPr>
            <a:cxnSpLocks/>
          </p:cNvCxnSpPr>
          <p:nvPr/>
        </p:nvCxnSpPr>
        <p:spPr>
          <a:xfrm>
            <a:off x="9864245" y="3269412"/>
            <a:ext cx="5234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EE4DF8A-96D8-40A4-B3CC-F4DEE5636C22}"/>
              </a:ext>
            </a:extLst>
          </p:cNvPr>
          <p:cNvCxnSpPr>
            <a:cxnSpLocks/>
          </p:cNvCxnSpPr>
          <p:nvPr/>
        </p:nvCxnSpPr>
        <p:spPr>
          <a:xfrm flipV="1">
            <a:off x="10388395" y="3019567"/>
            <a:ext cx="0" cy="2498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CAFEE76-FE65-7B52-CA52-44A14C87994D}"/>
              </a:ext>
            </a:extLst>
          </p:cNvPr>
          <p:cNvCxnSpPr>
            <a:cxnSpLocks/>
          </p:cNvCxnSpPr>
          <p:nvPr/>
        </p:nvCxnSpPr>
        <p:spPr>
          <a:xfrm flipH="1">
            <a:off x="9864245" y="3028797"/>
            <a:ext cx="52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8DE402-FA34-5BC5-B83F-808C48D9527D}"/>
              </a:ext>
            </a:extLst>
          </p:cNvPr>
          <p:cNvSpPr/>
          <p:nvPr/>
        </p:nvSpPr>
        <p:spPr>
          <a:xfrm>
            <a:off x="8950589" y="268972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C3C0C3A7-7655-1AFE-FA62-1389CD8D14D9}"/>
              </a:ext>
            </a:extLst>
          </p:cNvPr>
          <p:cNvSpPr txBox="1">
            <a:spLocks/>
          </p:cNvSpPr>
          <p:nvPr/>
        </p:nvSpPr>
        <p:spPr>
          <a:xfrm>
            <a:off x="9233502" y="2409783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8891AA7-DE2C-95E6-DB24-1D6798371611}"/>
              </a:ext>
            </a:extLst>
          </p:cNvPr>
          <p:cNvSpPr txBox="1"/>
          <p:nvPr/>
        </p:nvSpPr>
        <p:spPr>
          <a:xfrm>
            <a:off x="9864245" y="2738750"/>
            <a:ext cx="1457494" cy="338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4, 6, 8, 10, …</a:t>
            </a:r>
            <a:endParaRPr lang="es-AR" sz="1600" dirty="0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8ED9C53-233E-F8CB-5709-2E323743A3CF}"/>
              </a:ext>
            </a:extLst>
          </p:cNvPr>
          <p:cNvCxnSpPr>
            <a:cxnSpLocks/>
          </p:cNvCxnSpPr>
          <p:nvPr/>
        </p:nvCxnSpPr>
        <p:spPr>
          <a:xfrm>
            <a:off x="9971593" y="6191100"/>
            <a:ext cx="5234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318BD11-FE1F-AFA0-ADC7-ECB36D234DB2}"/>
              </a:ext>
            </a:extLst>
          </p:cNvPr>
          <p:cNvCxnSpPr>
            <a:cxnSpLocks/>
          </p:cNvCxnSpPr>
          <p:nvPr/>
        </p:nvCxnSpPr>
        <p:spPr>
          <a:xfrm flipV="1">
            <a:off x="10495743" y="5941255"/>
            <a:ext cx="0" cy="2498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D53CE251-D320-56AF-CA43-25D6007A624A}"/>
              </a:ext>
            </a:extLst>
          </p:cNvPr>
          <p:cNvCxnSpPr>
            <a:cxnSpLocks/>
          </p:cNvCxnSpPr>
          <p:nvPr/>
        </p:nvCxnSpPr>
        <p:spPr>
          <a:xfrm flipH="1">
            <a:off x="9971593" y="5950485"/>
            <a:ext cx="5241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CBD0995-FE47-3D16-8585-141948993BD0}"/>
              </a:ext>
            </a:extLst>
          </p:cNvPr>
          <p:cNvSpPr/>
          <p:nvPr/>
        </p:nvSpPr>
        <p:spPr>
          <a:xfrm>
            <a:off x="8950589" y="5611411"/>
            <a:ext cx="1021748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98328D73-7290-2327-7610-31EAF4ADDAC7}"/>
              </a:ext>
            </a:extLst>
          </p:cNvPr>
          <p:cNvSpPr txBox="1">
            <a:spLocks/>
          </p:cNvSpPr>
          <p:nvPr/>
        </p:nvSpPr>
        <p:spPr>
          <a:xfrm>
            <a:off x="9266389" y="5336852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1D46178-4B97-6E9D-DE6A-464B1C4FADF4}"/>
              </a:ext>
            </a:extLst>
          </p:cNvPr>
          <p:cNvSpPr txBox="1"/>
          <p:nvPr/>
        </p:nvSpPr>
        <p:spPr>
          <a:xfrm>
            <a:off x="10551224" y="5500182"/>
            <a:ext cx="1457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y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2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52B4268-8C87-22DE-8A83-A98E7B32995F}"/>
              </a:ext>
            </a:extLst>
          </p:cNvPr>
          <p:cNvSpPr txBox="1"/>
          <p:nvPr/>
        </p:nvSpPr>
        <p:spPr>
          <a:xfrm>
            <a:off x="10551224" y="5755759"/>
            <a:ext cx="1457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y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200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A6DE116-EF0B-C1DF-40C1-27AAD19202C6}"/>
              </a:ext>
            </a:extLst>
          </p:cNvPr>
          <p:cNvSpPr txBox="1"/>
          <p:nvPr/>
        </p:nvSpPr>
        <p:spPr>
          <a:xfrm>
            <a:off x="10561812" y="6011336"/>
            <a:ext cx="1457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y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z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………………….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3872187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9B5164B-0942-40BA-B196-D3A5094167EC}"/>
              </a:ext>
            </a:extLst>
          </p:cNvPr>
          <p:cNvSpPr/>
          <p:nvPr/>
        </p:nvSpPr>
        <p:spPr>
          <a:xfrm>
            <a:off x="269632" y="983832"/>
            <a:ext cx="11363793" cy="2995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 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Ʃ*, y HP es más </a:t>
            </a:r>
            <a:r>
              <a:rPr lang="es-A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difícil que Ʃ* </a:t>
            </a:r>
          </a:p>
          <a:p>
            <a:pPr>
              <a:lnSpc>
                <a:spcPct val="150000"/>
              </a:lnSpc>
              <a:defRPr/>
            </a:pPr>
            <a:r>
              <a:rPr lang="es-AR" dirty="0">
                <a:solidFill>
                  <a:prstClr val="black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∉ R y </a:t>
            </a:r>
            <a:r>
              <a:rPr lang="es-A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∈ R</a:t>
            </a:r>
            <a:r>
              <a:rPr lang="es-AR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defRPr/>
            </a:pPr>
            <a:endParaRPr lang="es-AR" sz="1000" dirty="0">
              <a:solidFill>
                <a:srgbClr val="FF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HP</a:t>
            </a:r>
            <a:r>
              <a:rPr kumimoji="0" lang="es-AR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Ʃ*, y </a:t>
            </a: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kumimoji="0" lang="es-AR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es más difícil que </a:t>
            </a:r>
            <a:r>
              <a:rPr lang="es-AR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 </a:t>
            </a:r>
          </a:p>
          <a:p>
            <a:pPr>
              <a:lnSpc>
                <a:spcPct val="150000"/>
              </a:lnSpc>
              <a:defRPr/>
            </a:pP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HP</a:t>
            </a:r>
            <a:r>
              <a:rPr lang="es-AR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∉ RE y </a:t>
            </a:r>
            <a:r>
              <a:rPr lang="es-A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∈ 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AR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La computabilidad de un lenguaje (o problema) tiene más que ver con su definición, su </a:t>
            </a:r>
            <a:r>
              <a:rPr kumimoji="0" lang="es-AR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contorno</a:t>
            </a: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(si </a:t>
            </a: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consideramos su representación gráfica en el plano), </a:t>
            </a:r>
            <a:r>
              <a:rPr kumimoji="0" lang="es-A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que con su </a:t>
            </a:r>
            <a:r>
              <a:rPr kumimoji="0" lang="es-AR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tamaño</a:t>
            </a:r>
            <a:r>
              <a:rPr kumimoji="0" lang="es-AR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r>
              <a:rPr kumimoji="0" lang="es-AR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FFEFC3C8-66C6-4C05-BE47-8FDFBF2C37BD}"/>
              </a:ext>
            </a:extLst>
          </p:cNvPr>
          <p:cNvSpPr/>
          <p:nvPr/>
        </p:nvSpPr>
        <p:spPr>
          <a:xfrm>
            <a:off x="6106916" y="981203"/>
            <a:ext cx="2743200" cy="1866900"/>
          </a:xfrm>
          <a:prstGeom prst="flowChartConnector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Estrella: 32 puntas 6">
            <a:extLst>
              <a:ext uri="{FF2B5EF4-FFF2-40B4-BE49-F238E27FC236}">
                <a16:creationId xmlns:a16="http://schemas.microsoft.com/office/drawing/2014/main" id="{01AAB57A-799E-48E3-8E08-D36827B919D2}"/>
              </a:ext>
            </a:extLst>
          </p:cNvPr>
          <p:cNvSpPr/>
          <p:nvPr/>
        </p:nvSpPr>
        <p:spPr>
          <a:xfrm>
            <a:off x="6464103" y="1604759"/>
            <a:ext cx="2028825" cy="1055814"/>
          </a:xfrm>
          <a:prstGeom prst="star32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724E844C-CF10-491F-8E06-36314E3624D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D3711F1-C470-4ECB-A137-165A9D636371}"/>
              </a:ext>
            </a:extLst>
          </p:cNvPr>
          <p:cNvSpPr txBox="1"/>
          <p:nvPr/>
        </p:nvSpPr>
        <p:spPr>
          <a:xfrm>
            <a:off x="6243163" y="1427968"/>
            <a:ext cx="612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kumimoji="0" lang="es-AR" sz="180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0" lang="es-MX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6A08D42-3CDB-4845-BB51-E75631B86616}"/>
              </a:ext>
            </a:extLst>
          </p:cNvPr>
          <p:cNvSpPr txBox="1"/>
          <p:nvPr/>
        </p:nvSpPr>
        <p:spPr>
          <a:xfrm>
            <a:off x="7240231" y="1948000"/>
            <a:ext cx="612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kumimoji="0" lang="es-MX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16A9A64-DE79-CF8D-25D0-4FFC1BB9EF6B}"/>
              </a:ext>
            </a:extLst>
          </p:cNvPr>
          <p:cNvSpPr/>
          <p:nvPr/>
        </p:nvSpPr>
        <p:spPr>
          <a:xfrm>
            <a:off x="269633" y="139369"/>
            <a:ext cx="116270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Relación entre la computabilidad y el tamaño de un lenguaje</a:t>
            </a:r>
            <a:endParaRPr lang="es-ES" sz="3600" b="1" dirty="0">
              <a:solidFill>
                <a:srgbClr val="7030A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B6CBF0-ED96-564D-B0F0-3C679CA40B20}"/>
              </a:ext>
            </a:extLst>
          </p:cNvPr>
          <p:cNvSpPr txBox="1"/>
          <p:nvPr/>
        </p:nvSpPr>
        <p:spPr>
          <a:xfrm>
            <a:off x="7240231" y="938321"/>
            <a:ext cx="727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AR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Ʃ*</a:t>
            </a:r>
            <a:endParaRPr kumimoji="0" lang="es-MX" sz="3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4" descr="undefined">
            <a:extLst>
              <a:ext uri="{FF2B5EF4-FFF2-40B4-BE49-F238E27FC236}">
                <a16:creationId xmlns:a16="http://schemas.microsoft.com/office/drawing/2014/main" id="{7C2F7EF3-ADAE-DF57-1558-693BA2C50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52" y="4535059"/>
            <a:ext cx="2744564" cy="205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C47D246-80ED-BC17-1D5E-5D5742D3D350}"/>
              </a:ext>
            </a:extLst>
          </p:cNvPr>
          <p:cNvSpPr txBox="1"/>
          <p:nvPr/>
        </p:nvSpPr>
        <p:spPr>
          <a:xfrm>
            <a:off x="6088175" y="4224653"/>
            <a:ext cx="3730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CONJUNTO DE MANDELBROT</a:t>
            </a:r>
            <a:endParaRPr lang="es-A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E1FBFAE-2B37-9182-6CDE-1D28A2D10C49}"/>
              </a:ext>
            </a:extLst>
          </p:cNvPr>
          <p:cNvSpPr txBox="1"/>
          <p:nvPr/>
        </p:nvSpPr>
        <p:spPr>
          <a:xfrm>
            <a:off x="269632" y="4903491"/>
            <a:ext cx="6191250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AR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ejemplo que ilustra muy bien la relación entre computabilidad y contorno es el Conjunto de Mandelbrot, perteneciente a CO-RE – R.</a:t>
            </a: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5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488400" y="1441006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638D9-4BAC-424B-9FB0-D35C68EF2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46" y="820782"/>
            <a:ext cx="1184213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Supondremos que HP = {&lt;M&gt;, w) | M para a partir de w} </a:t>
            </a:r>
            <a:r>
              <a:rPr lang="es-AR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∈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 </a:t>
            </a:r>
            <a:r>
              <a:rPr kumimoji="0" lang="es-AR" altLang="es-MX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llegaremos a una contradicción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kumimoji="0" lang="es-AR" altLang="es-MX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Sea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una MT que decide HP. Utilizando 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podemos construir la siguiente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MT C:</a:t>
            </a: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sz="2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Veamos qué sucede cuando la entrada de C es su propio código &lt;C&gt;:</a:t>
            </a: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/>
            <a:endParaRPr lang="es-MX" sz="2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Así, C no puede existir, y como se construyó a partir de </a:t>
            </a:r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tampoco </a:t>
            </a:r>
            <a:r>
              <a:rPr lang="es-AR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MX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puede existir.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Por lo tanto,</a:t>
            </a:r>
            <a:r>
              <a:rPr lang="es-A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HP ∉ R.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D75957C-90A5-F3A7-4CAC-886F5D07BE4B}"/>
              </a:ext>
            </a:extLst>
          </p:cNvPr>
          <p:cNvSpPr/>
          <p:nvPr/>
        </p:nvSpPr>
        <p:spPr>
          <a:xfrm>
            <a:off x="269634" y="139369"/>
            <a:ext cx="119223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prueba de Turing de que el lenguaje HP no es recursivo</a:t>
            </a:r>
            <a:endParaRPr lang="es-ES" sz="3600" b="1" i="1" dirty="0">
              <a:solidFill>
                <a:srgbClr val="7030A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D204C9-9CD3-EC64-EB26-460822A6BEC3}"/>
              </a:ext>
            </a:extLst>
          </p:cNvPr>
          <p:cNvSpPr/>
          <p:nvPr/>
        </p:nvSpPr>
        <p:spPr>
          <a:xfrm>
            <a:off x="3225260" y="3068635"/>
            <a:ext cx="3994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5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7FAF23-4C26-3EB9-709B-8D5C8A9DFC1C}"/>
              </a:ext>
            </a:extLst>
          </p:cNvPr>
          <p:cNvSpPr/>
          <p:nvPr/>
        </p:nvSpPr>
        <p:spPr>
          <a:xfrm>
            <a:off x="3246486" y="2671716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7FE9E3-4E5D-162D-1819-F201FBB3CFF0}"/>
              </a:ext>
            </a:extLst>
          </p:cNvPr>
          <p:cNvSpPr/>
          <p:nvPr/>
        </p:nvSpPr>
        <p:spPr>
          <a:xfrm>
            <a:off x="2360725" y="255542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4FEEECE-EAF1-24FF-E3FD-E4F73460B2B2}"/>
              </a:ext>
            </a:extLst>
          </p:cNvPr>
          <p:cNvCxnSpPr>
            <a:cxnSpLocks/>
          </p:cNvCxnSpPr>
          <p:nvPr/>
        </p:nvCxnSpPr>
        <p:spPr>
          <a:xfrm>
            <a:off x="3275125" y="3043486"/>
            <a:ext cx="458157" cy="1981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ítulo 1">
            <a:extLst>
              <a:ext uri="{FF2B5EF4-FFF2-40B4-BE49-F238E27FC236}">
                <a16:creationId xmlns:a16="http://schemas.microsoft.com/office/drawing/2014/main" id="{A7C267BE-9DD7-F165-72BA-8B5AE831495A}"/>
              </a:ext>
            </a:extLst>
          </p:cNvPr>
          <p:cNvSpPr txBox="1">
            <a:spLocks/>
          </p:cNvSpPr>
          <p:nvPr/>
        </p:nvSpPr>
        <p:spPr>
          <a:xfrm>
            <a:off x="1382746" y="2759237"/>
            <a:ext cx="1136800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(&lt;M&gt;, &lt;M&gt;)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8FB5499-2C1D-5BDC-E9A6-338F29939269}"/>
              </a:ext>
            </a:extLst>
          </p:cNvPr>
          <p:cNvCxnSpPr>
            <a:cxnSpLocks/>
          </p:cNvCxnSpPr>
          <p:nvPr/>
        </p:nvCxnSpPr>
        <p:spPr>
          <a:xfrm flipV="1">
            <a:off x="3278034" y="2774891"/>
            <a:ext cx="455248" cy="2646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79950A20-359D-3449-A58F-AAC1036BD24B}"/>
              </a:ext>
            </a:extLst>
          </p:cNvPr>
          <p:cNvSpPr txBox="1">
            <a:spLocks/>
          </p:cNvSpPr>
          <p:nvPr/>
        </p:nvSpPr>
        <p:spPr>
          <a:xfrm>
            <a:off x="2552868" y="2822743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A0D9D6B-FCF1-E905-794E-834B45A9921F}"/>
              </a:ext>
            </a:extLst>
          </p:cNvPr>
          <p:cNvSpPr/>
          <p:nvPr/>
        </p:nvSpPr>
        <p:spPr>
          <a:xfrm>
            <a:off x="1408312" y="2324972"/>
            <a:ext cx="2324972" cy="131196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55244FC-4A77-0F34-2D2D-2A8A3D919F4B}"/>
              </a:ext>
            </a:extLst>
          </p:cNvPr>
          <p:cNvCxnSpPr>
            <a:cxnSpLocks/>
          </p:cNvCxnSpPr>
          <p:nvPr/>
        </p:nvCxnSpPr>
        <p:spPr>
          <a:xfrm>
            <a:off x="3674593" y="3216017"/>
            <a:ext cx="50137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D330AE-844A-AF00-4BA6-209CB780E10E}"/>
              </a:ext>
            </a:extLst>
          </p:cNvPr>
          <p:cNvSpPr/>
          <p:nvPr/>
        </p:nvSpPr>
        <p:spPr>
          <a:xfrm>
            <a:off x="4110111" y="3040665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E09DDB2B-744F-35FE-1A35-C66004BCBCD0}"/>
              </a:ext>
            </a:extLst>
          </p:cNvPr>
          <p:cNvSpPr txBox="1">
            <a:spLocks/>
          </p:cNvSpPr>
          <p:nvPr/>
        </p:nvSpPr>
        <p:spPr>
          <a:xfrm>
            <a:off x="2419428" y="2068796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es-MX" sz="1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AF1E799-CC55-FBDC-6933-47278F50B2BD}"/>
              </a:ext>
            </a:extLst>
          </p:cNvPr>
          <p:cNvCxnSpPr>
            <a:cxnSpLocks/>
          </p:cNvCxnSpPr>
          <p:nvPr/>
        </p:nvCxnSpPr>
        <p:spPr>
          <a:xfrm>
            <a:off x="4154826" y="2585751"/>
            <a:ext cx="0" cy="3666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75252B0-2889-82BC-AC90-8D18B0292138}"/>
              </a:ext>
            </a:extLst>
          </p:cNvPr>
          <p:cNvCxnSpPr>
            <a:cxnSpLocks/>
          </p:cNvCxnSpPr>
          <p:nvPr/>
        </p:nvCxnSpPr>
        <p:spPr>
          <a:xfrm>
            <a:off x="3747113" y="2952430"/>
            <a:ext cx="4077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ECB0C80-7FF0-0F11-26D8-07BA86BCB445}"/>
              </a:ext>
            </a:extLst>
          </p:cNvPr>
          <p:cNvCxnSpPr>
            <a:cxnSpLocks/>
          </p:cNvCxnSpPr>
          <p:nvPr/>
        </p:nvCxnSpPr>
        <p:spPr>
          <a:xfrm flipH="1">
            <a:off x="3747113" y="2603915"/>
            <a:ext cx="4239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04D73AA-A7CC-1332-1AEE-13BA1FBCC7A9}"/>
              </a:ext>
            </a:extLst>
          </p:cNvPr>
          <p:cNvSpPr/>
          <p:nvPr/>
        </p:nvSpPr>
        <p:spPr>
          <a:xfrm>
            <a:off x="4120530" y="2621019"/>
            <a:ext cx="55182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 err="1"/>
              <a:t>loop</a:t>
            </a:r>
            <a:endParaRPr lang="es-MX" sz="15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BBDB70-BDEC-5F65-C0E2-41CB0BD03446}"/>
              </a:ext>
            </a:extLst>
          </p:cNvPr>
          <p:cNvSpPr txBox="1"/>
          <p:nvPr/>
        </p:nvSpPr>
        <p:spPr>
          <a:xfrm>
            <a:off x="4791728" y="2555909"/>
            <a:ext cx="62174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responde que M para desde &lt;M&gt;, C entra en </a:t>
            </a:r>
            <a:r>
              <a:rPr lang="es-AR" altLang="es-MX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</a:t>
            </a:r>
            <a:endParaRPr lang="es-AR" altLang="es-MX" sz="16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responde que M no para desde &lt;M&gt;, C para</a:t>
            </a:r>
          </a:p>
          <a:p>
            <a:pPr lvl="0" eaLnBrk="0" fontAlgn="base" hangingPunct="0"/>
            <a:r>
              <a:rPr lang="es-AR" altLang="es-MX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decir, C “le lleva la contra” a</a:t>
            </a:r>
            <a:r>
              <a:rPr lang="es-AR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lang="es-AR" altLang="es-MX" sz="1600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BF9E7D69-6D9E-8A4A-9063-511482CA2016}"/>
              </a:ext>
            </a:extLst>
          </p:cNvPr>
          <p:cNvSpPr txBox="1">
            <a:spLocks/>
          </p:cNvSpPr>
          <p:nvPr/>
        </p:nvSpPr>
        <p:spPr>
          <a:xfrm>
            <a:off x="2450982" y="4251467"/>
            <a:ext cx="592504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es-MX" sz="1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DD82C49-B151-AD98-1D80-4FECC3F0ACFB}"/>
              </a:ext>
            </a:extLst>
          </p:cNvPr>
          <p:cNvSpPr txBox="1"/>
          <p:nvPr/>
        </p:nvSpPr>
        <p:spPr>
          <a:xfrm>
            <a:off x="4791728" y="4994696"/>
            <a:ext cx="73870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responde que C para desde &lt;C&gt;, C entra en </a:t>
            </a:r>
            <a:r>
              <a:rPr lang="es-AR" altLang="es-MX" sz="16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desde &lt;C&gt; (</a:t>
            </a:r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absurdo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  <a:p>
            <a:pPr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</a:t>
            </a:r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responde que C no para desde &lt;C&gt;, C para desde &lt;C&gt; (</a:t>
            </a:r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absurdo</a:t>
            </a:r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4544C1CE-2FF6-700C-88E2-A4EFAAA9433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1169387-3967-11EF-4ED0-CD8E4DABEFE2}"/>
              </a:ext>
            </a:extLst>
          </p:cNvPr>
          <p:cNvCxnSpPr>
            <a:cxnSpLocks/>
          </p:cNvCxnSpPr>
          <p:nvPr/>
        </p:nvCxnSpPr>
        <p:spPr>
          <a:xfrm>
            <a:off x="1386438" y="3037189"/>
            <a:ext cx="9742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E5CD7AE9-6BDD-A386-2A5E-32088D3C588D}"/>
              </a:ext>
            </a:extLst>
          </p:cNvPr>
          <p:cNvCxnSpPr>
            <a:cxnSpLocks/>
          </p:cNvCxnSpPr>
          <p:nvPr/>
        </p:nvCxnSpPr>
        <p:spPr>
          <a:xfrm>
            <a:off x="778801" y="3037189"/>
            <a:ext cx="6295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ítulo 1">
            <a:extLst>
              <a:ext uri="{FF2B5EF4-FFF2-40B4-BE49-F238E27FC236}">
                <a16:creationId xmlns:a16="http://schemas.microsoft.com/office/drawing/2014/main" id="{F99EF483-BF4A-181E-405F-835A5ABF6236}"/>
              </a:ext>
            </a:extLst>
          </p:cNvPr>
          <p:cNvSpPr txBox="1">
            <a:spLocks/>
          </p:cNvSpPr>
          <p:nvPr/>
        </p:nvSpPr>
        <p:spPr>
          <a:xfrm>
            <a:off x="816812" y="2759236"/>
            <a:ext cx="544339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&lt;M&gt;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8D3C26C7-C2DA-21DC-2BD9-7586800A4A19}"/>
              </a:ext>
            </a:extLst>
          </p:cNvPr>
          <p:cNvSpPr/>
          <p:nvPr/>
        </p:nvSpPr>
        <p:spPr>
          <a:xfrm>
            <a:off x="3244899" y="5256730"/>
            <a:ext cx="3994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500" dirty="0"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0BA08835-B572-5EA6-4784-C24C24110CC7}"/>
              </a:ext>
            </a:extLst>
          </p:cNvPr>
          <p:cNvSpPr/>
          <p:nvPr/>
        </p:nvSpPr>
        <p:spPr>
          <a:xfrm>
            <a:off x="3266125" y="4859811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4E930ACA-6094-BEBA-D152-AA0D49FCF437}"/>
              </a:ext>
            </a:extLst>
          </p:cNvPr>
          <p:cNvSpPr/>
          <p:nvPr/>
        </p:nvSpPr>
        <p:spPr>
          <a:xfrm>
            <a:off x="2380364" y="474352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F18ED973-89E2-9039-087F-325F5AEEBFAD}"/>
              </a:ext>
            </a:extLst>
          </p:cNvPr>
          <p:cNvCxnSpPr>
            <a:cxnSpLocks/>
          </p:cNvCxnSpPr>
          <p:nvPr/>
        </p:nvCxnSpPr>
        <p:spPr>
          <a:xfrm>
            <a:off x="3294764" y="5231581"/>
            <a:ext cx="458157" cy="1981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ítulo 1">
            <a:extLst>
              <a:ext uri="{FF2B5EF4-FFF2-40B4-BE49-F238E27FC236}">
                <a16:creationId xmlns:a16="http://schemas.microsoft.com/office/drawing/2014/main" id="{C8840483-A246-BDCD-1535-6DDAC304C08C}"/>
              </a:ext>
            </a:extLst>
          </p:cNvPr>
          <p:cNvSpPr txBox="1">
            <a:spLocks/>
          </p:cNvSpPr>
          <p:nvPr/>
        </p:nvSpPr>
        <p:spPr>
          <a:xfrm>
            <a:off x="1402385" y="4947332"/>
            <a:ext cx="1136800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(&lt;C&gt;, &lt;C&gt;)</a:t>
            </a:r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5A14DA2E-1437-1E03-3019-32D0587186CC}"/>
              </a:ext>
            </a:extLst>
          </p:cNvPr>
          <p:cNvCxnSpPr>
            <a:cxnSpLocks/>
          </p:cNvCxnSpPr>
          <p:nvPr/>
        </p:nvCxnSpPr>
        <p:spPr>
          <a:xfrm flipV="1">
            <a:off x="3297673" y="4962986"/>
            <a:ext cx="455248" cy="2646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ítulo 1">
            <a:extLst>
              <a:ext uri="{FF2B5EF4-FFF2-40B4-BE49-F238E27FC236}">
                <a16:creationId xmlns:a16="http://schemas.microsoft.com/office/drawing/2014/main" id="{D950359D-7197-BDC1-6A7D-25D81B323B46}"/>
              </a:ext>
            </a:extLst>
          </p:cNvPr>
          <p:cNvSpPr txBox="1">
            <a:spLocks/>
          </p:cNvSpPr>
          <p:nvPr/>
        </p:nvSpPr>
        <p:spPr>
          <a:xfrm>
            <a:off x="2605417" y="5000800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4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72D1A3B9-C1D7-5C6C-658D-C0F8889FEFA7}"/>
              </a:ext>
            </a:extLst>
          </p:cNvPr>
          <p:cNvSpPr/>
          <p:nvPr/>
        </p:nvSpPr>
        <p:spPr>
          <a:xfrm>
            <a:off x="1427951" y="4513067"/>
            <a:ext cx="2324972" cy="131196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62E74849-C968-2898-BD53-B8B7810B1988}"/>
              </a:ext>
            </a:extLst>
          </p:cNvPr>
          <p:cNvCxnSpPr>
            <a:cxnSpLocks/>
          </p:cNvCxnSpPr>
          <p:nvPr/>
        </p:nvCxnSpPr>
        <p:spPr>
          <a:xfrm>
            <a:off x="3694232" y="5404112"/>
            <a:ext cx="50137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281614B1-FE09-0E6F-9BAE-7BAA22FBB6E0}"/>
              </a:ext>
            </a:extLst>
          </p:cNvPr>
          <p:cNvSpPr/>
          <p:nvPr/>
        </p:nvSpPr>
        <p:spPr>
          <a:xfrm>
            <a:off x="4129750" y="5228760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16257A53-24C9-42DD-948D-2AB5D781CF61}"/>
              </a:ext>
            </a:extLst>
          </p:cNvPr>
          <p:cNvCxnSpPr>
            <a:cxnSpLocks/>
          </p:cNvCxnSpPr>
          <p:nvPr/>
        </p:nvCxnSpPr>
        <p:spPr>
          <a:xfrm>
            <a:off x="4174465" y="4773846"/>
            <a:ext cx="0" cy="3666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581DF2DB-A9AB-A69F-E394-BB55CA49353B}"/>
              </a:ext>
            </a:extLst>
          </p:cNvPr>
          <p:cNvCxnSpPr>
            <a:cxnSpLocks/>
          </p:cNvCxnSpPr>
          <p:nvPr/>
        </p:nvCxnSpPr>
        <p:spPr>
          <a:xfrm>
            <a:off x="3766752" y="5140525"/>
            <a:ext cx="4077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302F699E-0B66-7FD1-25DB-6F3F38D8E4A8}"/>
              </a:ext>
            </a:extLst>
          </p:cNvPr>
          <p:cNvCxnSpPr>
            <a:cxnSpLocks/>
          </p:cNvCxnSpPr>
          <p:nvPr/>
        </p:nvCxnSpPr>
        <p:spPr>
          <a:xfrm flipH="1">
            <a:off x="3766752" y="4792010"/>
            <a:ext cx="4239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ángulo 95">
            <a:extLst>
              <a:ext uri="{FF2B5EF4-FFF2-40B4-BE49-F238E27FC236}">
                <a16:creationId xmlns:a16="http://schemas.microsoft.com/office/drawing/2014/main" id="{525B56F1-2A9C-025A-0D41-6B5CC1F520F1}"/>
              </a:ext>
            </a:extLst>
          </p:cNvPr>
          <p:cNvSpPr/>
          <p:nvPr/>
        </p:nvSpPr>
        <p:spPr>
          <a:xfrm>
            <a:off x="4140169" y="4809114"/>
            <a:ext cx="55182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 err="1"/>
              <a:t>loop</a:t>
            </a:r>
            <a:endParaRPr lang="es-MX" sz="1500" dirty="0"/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895BEBDD-3047-A1EC-7E8E-CB110545C2AB}"/>
              </a:ext>
            </a:extLst>
          </p:cNvPr>
          <p:cNvCxnSpPr>
            <a:cxnSpLocks/>
          </p:cNvCxnSpPr>
          <p:nvPr/>
        </p:nvCxnSpPr>
        <p:spPr>
          <a:xfrm>
            <a:off x="1406077" y="5225284"/>
            <a:ext cx="9742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16C7606A-6525-4877-1EA5-C51CB943B7B3}"/>
              </a:ext>
            </a:extLst>
          </p:cNvPr>
          <p:cNvCxnSpPr>
            <a:cxnSpLocks/>
          </p:cNvCxnSpPr>
          <p:nvPr/>
        </p:nvCxnSpPr>
        <p:spPr>
          <a:xfrm>
            <a:off x="798440" y="5225284"/>
            <a:ext cx="6295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ítulo 1">
            <a:extLst>
              <a:ext uri="{FF2B5EF4-FFF2-40B4-BE49-F238E27FC236}">
                <a16:creationId xmlns:a16="http://schemas.microsoft.com/office/drawing/2014/main" id="{DBCA01B1-00A7-83D5-E015-AA0DDB28151B}"/>
              </a:ext>
            </a:extLst>
          </p:cNvPr>
          <p:cNvSpPr txBox="1">
            <a:spLocks/>
          </p:cNvSpPr>
          <p:nvPr/>
        </p:nvSpPr>
        <p:spPr>
          <a:xfrm>
            <a:off x="836451" y="4947331"/>
            <a:ext cx="544339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&lt;C&gt;</a:t>
            </a:r>
          </a:p>
        </p:txBody>
      </p:sp>
    </p:spTree>
    <p:extLst>
      <p:ext uri="{BB962C8B-B14F-4D97-AF65-F5344CB8AC3E}">
        <p14:creationId xmlns:p14="http://schemas.microsoft.com/office/powerpoint/2010/main" val="133368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5986070" y="2230100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638D9-4BAC-424B-9FB0-D35C68EF2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93" y="266595"/>
            <a:ext cx="11793134" cy="632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 este caso, la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diagonalización se basa en una </a:t>
            </a:r>
            <a:r>
              <a:rPr lang="es-AR" altLang="es-MX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autorreferencia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sz="2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autorreferencia es muy útil para probar algunos enunciados. Por ejemplo, la </a:t>
            </a:r>
            <a:r>
              <a:rPr lang="es-AR" altLang="es-MX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indecibilidad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en la aritmética. En este caso, una fórmula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ψ expresa tanto una propiedad de la aritmética como una propiedad de los números.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buFont typeface="Arial" panose="020B0604020202020204" pitchFamily="34" charset="0"/>
              <a:buChar char="•"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caracteriza por encontrar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paradojas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(como la que vimos en la prueba de Turing). Otras clásicas son:</a:t>
            </a:r>
          </a:p>
          <a:p>
            <a:pPr marL="288000" lvl="0" eaLnBrk="0" fontAlgn="base" hangingPunct="0"/>
            <a:endParaRPr lang="es-AR" altLang="es-MX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 lvl="0" eaLnBrk="0" fontAlgn="base" hangingPunct="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Paradoja del mentiroso.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Si Juan dice: “estoy mintiendo”, entonces:	</a:t>
            </a:r>
          </a:p>
          <a:p>
            <a:pPr marL="288000" lvl="0" eaLnBrk="0" fontAlgn="base" hangingPunct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Juan miente, dice la verdad, y si en cambio dice la verdad, miente.</a:t>
            </a:r>
          </a:p>
          <a:p>
            <a:pPr lvl="0" eaLnBrk="0" fontAlgn="base" hangingPunct="0"/>
            <a:endParaRPr lang="es-AR" altLang="es-MX" sz="1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</a:p>
          <a:p>
            <a:pPr lvl="0" eaLnBrk="0" fontAlgn="base" hangingPunct="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Paradoja del barbero.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barbero de un pueblo sólo afeita a quienes no se afeitan a sí mismos.</a:t>
            </a:r>
          </a:p>
          <a:p>
            <a:pPr lvl="0" eaLnBrk="0" fontAlgn="base" hangingPunct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¿El barbero se afeita a sí mismo? Sí </a:t>
            </a:r>
            <a:r>
              <a:rPr lang="es-AR" altLang="es-MX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entonces no, y si no, entonces sí.</a:t>
            </a:r>
          </a:p>
          <a:p>
            <a:pPr lvl="0" eaLnBrk="0" fontAlgn="base" hangingPunct="0"/>
            <a:endParaRPr lang="es-AR" altLang="es-MX" sz="1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endParaRPr lang="es-AR" altLang="es-MX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eaLnBrk="0" fontAlgn="base" hangingPunct="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Paradoja de Russell.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 U el conjunto de todos los conjuntos que no son elementos de sí mismos.</a:t>
            </a:r>
          </a:p>
          <a:p>
            <a:pPr lvl="0" eaLnBrk="0" fontAlgn="base" hangingPunct="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¿El conjunto U es elemento de sí mismo? Si sí, entonces no, y si no, entonces sí.</a:t>
            </a:r>
          </a:p>
        </p:txBody>
      </p: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4544C1CE-2FF6-700C-88E2-A4EFAAA9433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A8318AF-A6B4-CB99-A41D-D5FB1AA913C0}"/>
              </a:ext>
            </a:extLst>
          </p:cNvPr>
          <p:cNvSpPr txBox="1">
            <a:spLocks/>
          </p:cNvSpPr>
          <p:nvPr/>
        </p:nvSpPr>
        <p:spPr>
          <a:xfrm>
            <a:off x="2974123" y="741649"/>
            <a:ext cx="592504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5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endParaRPr lang="es-MX" sz="15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7F86E2-417A-3987-5EAE-8DDF708354E5}"/>
              </a:ext>
            </a:extLst>
          </p:cNvPr>
          <p:cNvSpPr/>
          <p:nvPr/>
        </p:nvSpPr>
        <p:spPr>
          <a:xfrm>
            <a:off x="3768040" y="1746912"/>
            <a:ext cx="3994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5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C5E35C-F51C-DDD3-504E-545ABE39484E}"/>
              </a:ext>
            </a:extLst>
          </p:cNvPr>
          <p:cNvSpPr/>
          <p:nvPr/>
        </p:nvSpPr>
        <p:spPr>
          <a:xfrm>
            <a:off x="3789266" y="1349993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B7DC68-39C9-A03B-BF12-ACCC34FF732C}"/>
              </a:ext>
            </a:extLst>
          </p:cNvPr>
          <p:cNvSpPr/>
          <p:nvPr/>
        </p:nvSpPr>
        <p:spPr>
          <a:xfrm>
            <a:off x="2903505" y="123370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4C610E5-45FB-CAE6-51FD-36122A837537}"/>
              </a:ext>
            </a:extLst>
          </p:cNvPr>
          <p:cNvCxnSpPr>
            <a:cxnSpLocks/>
          </p:cNvCxnSpPr>
          <p:nvPr/>
        </p:nvCxnSpPr>
        <p:spPr>
          <a:xfrm>
            <a:off x="3817905" y="1721763"/>
            <a:ext cx="458157" cy="1981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ítulo 1">
            <a:extLst>
              <a:ext uri="{FF2B5EF4-FFF2-40B4-BE49-F238E27FC236}">
                <a16:creationId xmlns:a16="http://schemas.microsoft.com/office/drawing/2014/main" id="{9751D8E8-AB6C-B81C-B0A7-CE4DA125A1A9}"/>
              </a:ext>
            </a:extLst>
          </p:cNvPr>
          <p:cNvSpPr txBox="1">
            <a:spLocks/>
          </p:cNvSpPr>
          <p:nvPr/>
        </p:nvSpPr>
        <p:spPr>
          <a:xfrm>
            <a:off x="1925526" y="1437514"/>
            <a:ext cx="1136800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(&lt;C&gt;, &lt;C&gt;)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93EEA6B-60FC-C3E2-B461-0B8A4109A898}"/>
              </a:ext>
            </a:extLst>
          </p:cNvPr>
          <p:cNvCxnSpPr>
            <a:cxnSpLocks/>
          </p:cNvCxnSpPr>
          <p:nvPr/>
        </p:nvCxnSpPr>
        <p:spPr>
          <a:xfrm flipV="1">
            <a:off x="3820814" y="1453168"/>
            <a:ext cx="455248" cy="2646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ítulo 1">
            <a:extLst>
              <a:ext uri="{FF2B5EF4-FFF2-40B4-BE49-F238E27FC236}">
                <a16:creationId xmlns:a16="http://schemas.microsoft.com/office/drawing/2014/main" id="{EDD4AB7A-DD35-1A09-BC0B-8FF4E8EC0AFF}"/>
              </a:ext>
            </a:extLst>
          </p:cNvPr>
          <p:cNvSpPr txBox="1">
            <a:spLocks/>
          </p:cNvSpPr>
          <p:nvPr/>
        </p:nvSpPr>
        <p:spPr>
          <a:xfrm>
            <a:off x="3062683" y="1503119"/>
            <a:ext cx="567762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es-AR" sz="16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HP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5994C6A-B460-5FB5-9FA3-00D655C2B3A1}"/>
              </a:ext>
            </a:extLst>
          </p:cNvPr>
          <p:cNvSpPr/>
          <p:nvPr/>
        </p:nvSpPr>
        <p:spPr>
          <a:xfrm>
            <a:off x="1951092" y="1003249"/>
            <a:ext cx="2324972" cy="131196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2CAD75D-3FA2-D771-0CCA-4643D24DDE64}"/>
              </a:ext>
            </a:extLst>
          </p:cNvPr>
          <p:cNvCxnSpPr>
            <a:cxnSpLocks/>
          </p:cNvCxnSpPr>
          <p:nvPr/>
        </p:nvCxnSpPr>
        <p:spPr>
          <a:xfrm>
            <a:off x="4217373" y="1894294"/>
            <a:ext cx="50137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4CF2575-698B-B619-4528-0BAB4BFA837D}"/>
              </a:ext>
            </a:extLst>
          </p:cNvPr>
          <p:cNvSpPr/>
          <p:nvPr/>
        </p:nvSpPr>
        <p:spPr>
          <a:xfrm>
            <a:off x="4652891" y="1718942"/>
            <a:ext cx="33374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50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68D5781-0A54-0398-D0E3-819A339A19C3}"/>
              </a:ext>
            </a:extLst>
          </p:cNvPr>
          <p:cNvCxnSpPr>
            <a:cxnSpLocks/>
          </p:cNvCxnSpPr>
          <p:nvPr/>
        </p:nvCxnSpPr>
        <p:spPr>
          <a:xfrm>
            <a:off x="4697606" y="1264028"/>
            <a:ext cx="0" cy="3666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BE17CA7-9AA1-070E-1F58-1215C54C1CE9}"/>
              </a:ext>
            </a:extLst>
          </p:cNvPr>
          <p:cNvCxnSpPr>
            <a:cxnSpLocks/>
          </p:cNvCxnSpPr>
          <p:nvPr/>
        </p:nvCxnSpPr>
        <p:spPr>
          <a:xfrm>
            <a:off x="4289893" y="1630707"/>
            <a:ext cx="4077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240F3F0-24E2-6A95-E906-3DDD1AC98AE4}"/>
              </a:ext>
            </a:extLst>
          </p:cNvPr>
          <p:cNvCxnSpPr>
            <a:cxnSpLocks/>
          </p:cNvCxnSpPr>
          <p:nvPr/>
        </p:nvCxnSpPr>
        <p:spPr>
          <a:xfrm flipH="1">
            <a:off x="4289893" y="1282192"/>
            <a:ext cx="4239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71068D4-F996-297B-728E-C89BFF7788FA}"/>
              </a:ext>
            </a:extLst>
          </p:cNvPr>
          <p:cNvSpPr/>
          <p:nvPr/>
        </p:nvSpPr>
        <p:spPr>
          <a:xfrm>
            <a:off x="4663310" y="1299296"/>
            <a:ext cx="55182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500" dirty="0" err="1"/>
              <a:t>loop</a:t>
            </a:r>
            <a:endParaRPr lang="es-MX" sz="150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21FA1F17-E6FC-6209-8268-FB80FC7A7877}"/>
              </a:ext>
            </a:extLst>
          </p:cNvPr>
          <p:cNvCxnSpPr>
            <a:cxnSpLocks/>
          </p:cNvCxnSpPr>
          <p:nvPr/>
        </p:nvCxnSpPr>
        <p:spPr>
          <a:xfrm>
            <a:off x="1929218" y="1715466"/>
            <a:ext cx="97428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6F8165B5-A488-FB5C-E4B2-5AD97C082911}"/>
              </a:ext>
            </a:extLst>
          </p:cNvPr>
          <p:cNvCxnSpPr>
            <a:cxnSpLocks/>
          </p:cNvCxnSpPr>
          <p:nvPr/>
        </p:nvCxnSpPr>
        <p:spPr>
          <a:xfrm>
            <a:off x="1321581" y="1715466"/>
            <a:ext cx="62951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1">
            <a:extLst>
              <a:ext uri="{FF2B5EF4-FFF2-40B4-BE49-F238E27FC236}">
                <a16:creationId xmlns:a16="http://schemas.microsoft.com/office/drawing/2014/main" id="{566C9960-F4FC-7C85-112E-663B33B540CD}"/>
              </a:ext>
            </a:extLst>
          </p:cNvPr>
          <p:cNvSpPr txBox="1">
            <a:spLocks/>
          </p:cNvSpPr>
          <p:nvPr/>
        </p:nvSpPr>
        <p:spPr>
          <a:xfrm>
            <a:off x="1359592" y="1437513"/>
            <a:ext cx="544339" cy="3698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&lt;C&gt;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72689A3-0BB6-DEEE-F675-941B3735667D}"/>
              </a:ext>
            </a:extLst>
          </p:cNvPr>
          <p:cNvSpPr txBox="1"/>
          <p:nvPr/>
        </p:nvSpPr>
        <p:spPr>
          <a:xfrm>
            <a:off x="5661159" y="1285376"/>
            <a:ext cx="4579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/>
            <a:r>
              <a:rPr lang="es-AR" altLang="es-MX" sz="16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Dos niveles de “discurso”: </a:t>
            </a:r>
          </a:p>
          <a:p>
            <a:pPr lvl="0"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 como MT universal que ejecuta C desde &lt;C&gt;.</a:t>
            </a:r>
          </a:p>
          <a:p>
            <a:pPr lvl="0" eaLnBrk="0" fontAlgn="base" hangingPunct="0"/>
            <a:r>
              <a:rPr lang="es-AR" altLang="es-MX" sz="16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 como MT común que se ejecuta desde &lt;C&gt;.</a:t>
            </a:r>
            <a:endParaRPr lang="es-AR" altLang="es-MX" sz="1600" b="1" dirty="0">
              <a:solidFill>
                <a:srgbClr val="0070C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970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37097-6002-2DAC-F7E7-E3FB92179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23A85893-73DF-DA06-92D9-5E3D1B8DBFFE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711941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3</a:t>
            </a:r>
          </a:p>
        </p:txBody>
      </p:sp>
    </p:spTree>
    <p:extLst>
      <p:ext uri="{BB962C8B-B14F-4D97-AF65-F5344CB8AC3E}">
        <p14:creationId xmlns:p14="http://schemas.microsoft.com/office/powerpoint/2010/main" val="3776545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EABDDF1-C07D-4522-BE75-28498FED8797}"/>
              </a:ext>
            </a:extLst>
          </p:cNvPr>
          <p:cNvSpPr/>
          <p:nvPr/>
        </p:nvSpPr>
        <p:spPr>
          <a:xfrm>
            <a:off x="273979" y="755154"/>
            <a:ext cx="116440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existe una MT que pueda decidir,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para todos los pares (&lt;M&gt;, w),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si M para a partir de 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Pero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para ciertos casos particulares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el </a:t>
            </a:r>
            <a:r>
              <a:rPr lang="es-AR" i="1" dirty="0" err="1"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i="1" dirty="0" err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decidible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kumimoji="0" lang="es-AR" altLang="es-MX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s-AR" altLang="es-MX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 ejemplo es cuando una MT M ocupa un </a:t>
            </a:r>
            <a:r>
              <a:rPr kumimoji="0" lang="es-AR" altLang="es-MX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espacio acotado de celdas</a:t>
            </a:r>
            <a:r>
              <a:rPr kumimoji="0" lang="es-AR" altLang="es-MX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</a:p>
          <a:p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r>
              <a:rPr kumimoji="0" lang="es-AR" altLang="es-MX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 M una MT con una cinta,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s-AR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8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símbolos, y que recorre a lo sumo K celdas para toda entrada w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8000"/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Entonces, si M </a:t>
            </a:r>
            <a:r>
              <a:rPr lang="es-AR" altLang="es-MX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loopea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en algún momento 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repite una configuración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(posición de cabezal, estado, cinta):</a:t>
            </a: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sz="5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</a:p>
          <a:p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</a:p>
          <a:p>
            <a:pPr marL="288000"/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Así, la siguiente MT M</a:t>
            </a:r>
            <a:r>
              <a:rPr lang="es-AR" sz="18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decide si M para a partir de una cadena w:</a:t>
            </a:r>
            <a:endParaRPr lang="es-AR" altLang="es-MX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s-AR" altLang="es-MX" sz="6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800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Ejecuta M a partir de w.</a:t>
            </a:r>
          </a:p>
          <a:p>
            <a:pPr marL="288000"/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Si al cabo de N pasos M para, acepta. En caso contrario, rechaza.</a:t>
            </a:r>
            <a:endParaRPr lang="es-AR" sz="18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3B8B8F3-AF9C-55DC-636F-1D6B054CF51C}"/>
              </a:ext>
            </a:extLst>
          </p:cNvPr>
          <p:cNvSpPr/>
          <p:nvPr/>
        </p:nvSpPr>
        <p:spPr>
          <a:xfrm>
            <a:off x="229974" y="152941"/>
            <a:ext cx="116880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burlar al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MX" sz="28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(1)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8609E645-5843-886E-F0A8-93D9BE1028C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D6769F-15B6-1C7F-E51A-B440EF264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329" y="1799468"/>
            <a:ext cx="11512693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endParaRPr kumimoji="0" lang="es-AR" altLang="es-MX" b="0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0" fontAlgn="base" hangingPunct="0"/>
            <a:endParaRPr lang="es-MX" sz="1800" dirty="0"/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kumimoji="0" lang="es-AR" altLang="es-MX" b="0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kumimoji="0" lang="es-AR" altLang="es-MX" b="0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kumimoji="0" lang="es-AR" altLang="es-MX" b="0" i="0" u="none" strike="noStrike" cap="none" normalizeH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buClrTx/>
              <a:buSzTx/>
              <a:tabLst/>
            </a:pP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C2C9B2E-11FC-EF74-7420-4585F0F366B6}"/>
              </a:ext>
            </a:extLst>
          </p:cNvPr>
          <p:cNvSpPr txBox="1">
            <a:spLocks/>
          </p:cNvSpPr>
          <p:nvPr/>
        </p:nvSpPr>
        <p:spPr>
          <a:xfrm>
            <a:off x="11644763" y="7423475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D8FD1C4-B103-1B4D-D4CF-601CEDB1F01D}"/>
              </a:ext>
            </a:extLst>
          </p:cNvPr>
          <p:cNvSpPr/>
          <p:nvPr/>
        </p:nvSpPr>
        <p:spPr>
          <a:xfrm>
            <a:off x="4324948" y="4024931"/>
            <a:ext cx="252114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K posiciones del cabezal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5C7D9B9-5B17-D02E-4C46-BC8901339DB9}"/>
              </a:ext>
            </a:extLst>
          </p:cNvPr>
          <p:cNvSpPr/>
          <p:nvPr/>
        </p:nvSpPr>
        <p:spPr>
          <a:xfrm>
            <a:off x="4356502" y="4541981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71278C9-4711-746F-D0F8-86CD921F4447}"/>
              </a:ext>
            </a:extLst>
          </p:cNvPr>
          <p:cNvSpPr txBox="1">
            <a:spLocks/>
          </p:cNvSpPr>
          <p:nvPr/>
        </p:nvSpPr>
        <p:spPr>
          <a:xfrm>
            <a:off x="1513693" y="3480803"/>
            <a:ext cx="5225047" cy="462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          a         B        t         n       .…      B       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        5        c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247CE1C-C9BA-F740-4B8C-FFCD9AC44BB1}"/>
              </a:ext>
            </a:extLst>
          </p:cNvPr>
          <p:cNvSpPr/>
          <p:nvPr/>
        </p:nvSpPr>
        <p:spPr>
          <a:xfrm>
            <a:off x="1938268" y="3459353"/>
            <a:ext cx="4618809" cy="49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1024267D-BE63-8E19-78C4-6FD4543F9125}"/>
              </a:ext>
            </a:extLst>
          </p:cNvPr>
          <p:cNvCxnSpPr>
            <a:cxnSpLocks/>
          </p:cNvCxnSpPr>
          <p:nvPr/>
        </p:nvCxnSpPr>
        <p:spPr>
          <a:xfrm>
            <a:off x="2428505" y="3450475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EF1C631-31C6-9C21-F365-9ACF87A68FCE}"/>
              </a:ext>
            </a:extLst>
          </p:cNvPr>
          <p:cNvCxnSpPr>
            <a:cxnSpLocks/>
          </p:cNvCxnSpPr>
          <p:nvPr/>
        </p:nvCxnSpPr>
        <p:spPr>
          <a:xfrm>
            <a:off x="2933832" y="345935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2036831-BA65-43C4-F8B2-A6621C110C4A}"/>
              </a:ext>
            </a:extLst>
          </p:cNvPr>
          <p:cNvCxnSpPr>
            <a:cxnSpLocks/>
          </p:cNvCxnSpPr>
          <p:nvPr/>
        </p:nvCxnSpPr>
        <p:spPr>
          <a:xfrm>
            <a:off x="3451075" y="3450475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55A54A6-E1DA-1149-C90A-81306147F184}"/>
              </a:ext>
            </a:extLst>
          </p:cNvPr>
          <p:cNvCxnSpPr>
            <a:cxnSpLocks/>
          </p:cNvCxnSpPr>
          <p:nvPr/>
        </p:nvCxnSpPr>
        <p:spPr>
          <a:xfrm>
            <a:off x="3976568" y="345935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90C810F-B39F-D7FF-1853-335FAC39EA50}"/>
              </a:ext>
            </a:extLst>
          </p:cNvPr>
          <p:cNvCxnSpPr>
            <a:cxnSpLocks/>
          </p:cNvCxnSpPr>
          <p:nvPr/>
        </p:nvCxnSpPr>
        <p:spPr>
          <a:xfrm>
            <a:off x="4473873" y="345935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D9521F3-69B8-6A88-51CA-629AB7D070F2}"/>
              </a:ext>
            </a:extLst>
          </p:cNvPr>
          <p:cNvCxnSpPr>
            <a:cxnSpLocks/>
          </p:cNvCxnSpPr>
          <p:nvPr/>
        </p:nvCxnSpPr>
        <p:spPr>
          <a:xfrm>
            <a:off x="4971179" y="347875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406E7BE-EEF9-45C9-89D7-1F81DCA8F3FA}"/>
              </a:ext>
            </a:extLst>
          </p:cNvPr>
          <p:cNvCxnSpPr>
            <a:cxnSpLocks/>
          </p:cNvCxnSpPr>
          <p:nvPr/>
        </p:nvCxnSpPr>
        <p:spPr>
          <a:xfrm>
            <a:off x="5514929" y="345935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0FC6D6A-8629-5FFC-73A1-8903D1B2F5C8}"/>
              </a:ext>
            </a:extLst>
          </p:cNvPr>
          <p:cNvCxnSpPr>
            <a:cxnSpLocks/>
          </p:cNvCxnSpPr>
          <p:nvPr/>
        </p:nvCxnSpPr>
        <p:spPr>
          <a:xfrm>
            <a:off x="6029957" y="3450475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7B06A255-F87B-01B2-B073-F692E8CFC5A4}"/>
              </a:ext>
            </a:extLst>
          </p:cNvPr>
          <p:cNvSpPr/>
          <p:nvPr/>
        </p:nvSpPr>
        <p:spPr>
          <a:xfrm>
            <a:off x="4290776" y="4487036"/>
            <a:ext cx="444358" cy="46296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5F259E75-1BA6-ABD9-C463-793FDADB2FF9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4247673" y="3951681"/>
            <a:ext cx="218179" cy="5414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7F63684-F4BC-0FCA-0D0A-DB60CBEC83DE}"/>
              </a:ext>
            </a:extLst>
          </p:cNvPr>
          <p:cNvSpPr/>
          <p:nvPr/>
        </p:nvSpPr>
        <p:spPr>
          <a:xfrm>
            <a:off x="1808074" y="3151022"/>
            <a:ext cx="790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celda 1</a:t>
            </a:r>
            <a:endParaRPr lang="es-MX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8353A5C-2B45-2736-CDD2-7D2E5DE175A0}"/>
              </a:ext>
            </a:extLst>
          </p:cNvPr>
          <p:cNvSpPr txBox="1"/>
          <p:nvPr/>
        </p:nvSpPr>
        <p:spPr>
          <a:xfrm>
            <a:off x="5886419" y="3142698"/>
            <a:ext cx="1008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celda K</a:t>
            </a:r>
            <a:endParaRPr lang="es-MX" sz="14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1DDDC50-43C3-C58C-CBEC-E72EFD2B6072}"/>
              </a:ext>
            </a:extLst>
          </p:cNvPr>
          <p:cNvSpPr/>
          <p:nvPr/>
        </p:nvSpPr>
        <p:spPr>
          <a:xfrm>
            <a:off x="2956391" y="3136188"/>
            <a:ext cx="31718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6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aseline="30000" dirty="0"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contenidos de la cinta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7AD1D15-18E0-D5FA-B751-510C91853C5C}"/>
              </a:ext>
            </a:extLst>
          </p:cNvPr>
          <p:cNvSpPr/>
          <p:nvPr/>
        </p:nvSpPr>
        <p:spPr>
          <a:xfrm>
            <a:off x="4696918" y="4541981"/>
            <a:ext cx="12810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6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E3CF68-8CBA-3E30-A58B-431A69244CDB}"/>
              </a:ext>
            </a:extLst>
          </p:cNvPr>
          <p:cNvSpPr/>
          <p:nvPr/>
        </p:nvSpPr>
        <p:spPr>
          <a:xfrm>
            <a:off x="7071041" y="3501456"/>
            <a:ext cx="4483650" cy="3385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Total:</a:t>
            </a:r>
            <a:r>
              <a:rPr lang="es-AR" altLang="es-MX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N = K.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.N</a:t>
            </a:r>
            <a:r>
              <a:rPr lang="es-AR" sz="1600" b="1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600" b="1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s-AR" altLang="es-MX" sz="1600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configuraciones distintas</a:t>
            </a:r>
            <a:endParaRPr lang="es-AR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C7B8E7-E948-8A34-F8F2-2D8B6F9688C5}"/>
              </a:ext>
            </a:extLst>
          </p:cNvPr>
          <p:cNvSpPr/>
          <p:nvPr/>
        </p:nvSpPr>
        <p:spPr>
          <a:xfrm>
            <a:off x="11197956" y="5910572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107826-72C2-E7F3-C5D8-F3F21CF42E58}"/>
              </a:ext>
            </a:extLst>
          </p:cNvPr>
          <p:cNvSpPr/>
          <p:nvPr/>
        </p:nvSpPr>
        <p:spPr>
          <a:xfrm>
            <a:off x="11133072" y="4925097"/>
            <a:ext cx="364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A93CF1-97E3-CAE5-2047-1B741B69829F}"/>
              </a:ext>
            </a:extLst>
          </p:cNvPr>
          <p:cNvSpPr/>
          <p:nvPr/>
        </p:nvSpPr>
        <p:spPr>
          <a:xfrm>
            <a:off x="9180081" y="5278772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BA7F8E5-5237-446D-AF77-9DEEE247EFC5}"/>
              </a:ext>
            </a:extLst>
          </p:cNvPr>
          <p:cNvCxnSpPr>
            <a:cxnSpLocks/>
          </p:cNvCxnSpPr>
          <p:nvPr/>
        </p:nvCxnSpPr>
        <p:spPr>
          <a:xfrm>
            <a:off x="8048927" y="5742769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568BADE-2A3F-BA21-C652-618B3B6214D4}"/>
              </a:ext>
            </a:extLst>
          </p:cNvPr>
          <p:cNvCxnSpPr>
            <a:cxnSpLocks/>
          </p:cNvCxnSpPr>
          <p:nvPr/>
        </p:nvCxnSpPr>
        <p:spPr>
          <a:xfrm>
            <a:off x="10094481" y="5766832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D8036482-EFE3-CAC5-11E0-47991BE619F7}"/>
              </a:ext>
            </a:extLst>
          </p:cNvPr>
          <p:cNvSpPr txBox="1">
            <a:spLocks/>
          </p:cNvSpPr>
          <p:nvPr/>
        </p:nvSpPr>
        <p:spPr>
          <a:xfrm>
            <a:off x="8014629" y="5477645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(&lt;M&gt;, w)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92F9630-8B4A-A951-A791-CA4ED129F019}"/>
              </a:ext>
            </a:extLst>
          </p:cNvPr>
          <p:cNvCxnSpPr>
            <a:cxnSpLocks/>
          </p:cNvCxnSpPr>
          <p:nvPr/>
        </p:nvCxnSpPr>
        <p:spPr>
          <a:xfrm flipV="1">
            <a:off x="10097390" y="5098020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19B9760B-AD9C-65C1-E59C-40211AA6A19E}"/>
              </a:ext>
            </a:extLst>
          </p:cNvPr>
          <p:cNvSpPr txBox="1">
            <a:spLocks/>
          </p:cNvSpPr>
          <p:nvPr/>
        </p:nvSpPr>
        <p:spPr>
          <a:xfrm>
            <a:off x="9353399" y="5504575"/>
            <a:ext cx="657673" cy="387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HP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642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ipse 9">
            <a:extLst>
              <a:ext uri="{FF2B5EF4-FFF2-40B4-BE49-F238E27FC236}">
                <a16:creationId xmlns:a16="http://schemas.microsoft.com/office/drawing/2014/main" id="{D160338E-405C-418F-82E2-C7DE8E538B76}"/>
              </a:ext>
            </a:extLst>
          </p:cNvPr>
          <p:cNvSpPr/>
          <p:nvPr/>
        </p:nvSpPr>
        <p:spPr>
          <a:xfrm>
            <a:off x="3195373" y="901148"/>
            <a:ext cx="329705" cy="5168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E638D9-4BAC-424B-9FB0-D35C68EF2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34" y="878687"/>
            <a:ext cx="11560415" cy="521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¿Cómo detectar si una MT M acepta al menos una cadena?</a:t>
            </a:r>
          </a:p>
          <a:p>
            <a:pPr marL="360000" lvl="0" algn="just" eaLnBrk="0" fontAlgn="base" hangingPunct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 lvl="0" algn="just" eaLnBrk="0" fontAlgn="base" hangingPunct="0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Tenemos que tener cuidado en cómo construimos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 M´ que chequee si M acepta una cadena. </a:t>
            </a:r>
          </a:p>
          <a:p>
            <a:pPr marL="288000" lvl="0" algn="just" eaLnBrk="0" fontAlgn="base" hangingPunct="0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sirve que M´ ejecute M sobre la 1ra cadena, luego sobre la 2da, luego sobre la 3ra, … (según el orden canónico), porque M puede no detenerse en algunos casos.</a:t>
            </a:r>
          </a:p>
          <a:p>
            <a:pPr lvl="0" algn="just" eaLnBrk="0" fontAlgn="base" hangingPunct="0"/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 eaLnBrk="0" fontAlgn="base" hangingPunct="0"/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algn="just" eaLnBrk="0" fontAlgn="base" hangingPunct="0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   Solución: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1. Hacer i := 1.</a:t>
            </a:r>
          </a:p>
          <a:p>
            <a:pPr marL="342900" lvl="0" indent="-342900" algn="just">
              <a:buAutoNum type="arabicPeriod"/>
            </a:pPr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2. Ejecutar i pasos de M sobre todas las cadenas </a:t>
            </a: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de longitud a lo sumo i.</a:t>
            </a:r>
          </a:p>
          <a:p>
            <a:pPr lvl="0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3. Si M acepta alguna vez, aceptar.</a:t>
            </a:r>
          </a:p>
          <a:p>
            <a:pPr lvl="0" algn="just"/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4. Si no, hacer i := i + 1 y volver al paso 2.</a:t>
            </a:r>
          </a:p>
          <a:p>
            <a:pPr marL="342900" lvl="0" indent="-342900" algn="just">
              <a:buAutoNum type="arabicPeriod" startAt="4"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buAutoNum type="arabicPeriod" startAt="4"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8000"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Por ejemplo, si la primera cadena que M acepta tiene 80 símbolos y M la acepta en 120 pasos,</a:t>
            </a:r>
          </a:p>
          <a:p>
            <a:pPr marL="288000" lvl="0"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entonces en la iteración 120 la MT M´ la va a encontrar. 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B2E4141-4BBC-44DD-8A29-2EB7DF01E5A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Diagrama de flujo: proceso 5">
            <a:extLst>
              <a:ext uri="{FF2B5EF4-FFF2-40B4-BE49-F238E27FC236}">
                <a16:creationId xmlns:a16="http://schemas.microsoft.com/office/drawing/2014/main" id="{D87EF288-01A7-4E34-AB4E-777E97CC24FA}"/>
              </a:ext>
            </a:extLst>
          </p:cNvPr>
          <p:cNvSpPr/>
          <p:nvPr/>
        </p:nvSpPr>
        <p:spPr>
          <a:xfrm>
            <a:off x="6615993" y="3429000"/>
            <a:ext cx="5302029" cy="1600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CF403C-882E-46F5-9B6B-1A4A30EB19F4}"/>
              </a:ext>
            </a:extLst>
          </p:cNvPr>
          <p:cNvSpPr txBox="1"/>
          <p:nvPr/>
        </p:nvSpPr>
        <p:spPr>
          <a:xfrm>
            <a:off x="6615993" y="3478709"/>
            <a:ext cx="5302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pasos       cadenas</a:t>
            </a:r>
            <a:endParaRPr lang="es-AR" sz="16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6BE6F51-A334-49F8-8450-BF666F1D3201}"/>
              </a:ext>
            </a:extLst>
          </p:cNvPr>
          <p:cNvSpPr txBox="1"/>
          <p:nvPr/>
        </p:nvSpPr>
        <p:spPr>
          <a:xfrm>
            <a:off x="7517422" y="3866972"/>
            <a:ext cx="430866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λ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 </a:t>
            </a:r>
          </a:p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λ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</a:t>
            </a:r>
          </a:p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λ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… </a:t>
            </a:r>
          </a:p>
          <a:p>
            <a:pPr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……………………………….………………………..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5394DF-AF9F-4678-8FB2-A4FE64EFDAB7}"/>
              </a:ext>
            </a:extLst>
          </p:cNvPr>
          <p:cNvSpPr txBox="1"/>
          <p:nvPr/>
        </p:nvSpPr>
        <p:spPr>
          <a:xfrm>
            <a:off x="6801438" y="3917036"/>
            <a:ext cx="4376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lvl="0" algn="just"/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B919D20-0E28-BD6A-1820-F0EF3ADD24C0}"/>
              </a:ext>
            </a:extLst>
          </p:cNvPr>
          <p:cNvSpPr/>
          <p:nvPr/>
        </p:nvSpPr>
        <p:spPr>
          <a:xfrm>
            <a:off x="229974" y="152941"/>
            <a:ext cx="116880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burlar al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MX" sz="28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b="1" i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(2)</a:t>
            </a:r>
          </a:p>
        </p:txBody>
      </p:sp>
    </p:spTree>
    <p:extLst>
      <p:ext uri="{BB962C8B-B14F-4D97-AF65-F5344CB8AC3E}">
        <p14:creationId xmlns:p14="http://schemas.microsoft.com/office/powerpoint/2010/main" val="33292582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marL="360000" algn="just">
          <a:lnSpc>
            <a:spcPct val="150000"/>
          </a:lnSpc>
          <a:defRPr b="1" dirty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5353</TotalTime>
  <Words>3840</Words>
  <Application>Microsoft Office PowerPoint</Application>
  <PresentationFormat>Panorámica</PresentationFormat>
  <Paragraphs>813</Paragraphs>
  <Slides>23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Algerian</vt:lpstr>
      <vt:lpstr>Arial</vt:lpstr>
      <vt:lpstr>Calibri</vt:lpstr>
      <vt:lpstr>Calibri Light</vt:lpstr>
      <vt:lpstr>Cambria Math</vt:lpstr>
      <vt:lpstr>Lucida Calligraphy</vt:lpstr>
      <vt:lpstr>Roboto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686</cp:revision>
  <dcterms:created xsi:type="dcterms:W3CDTF">2017-11-26T15:39:57Z</dcterms:created>
  <dcterms:modified xsi:type="dcterms:W3CDTF">2026-03-24T11:29:57Z</dcterms:modified>
</cp:coreProperties>
</file>